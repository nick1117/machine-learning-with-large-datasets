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80"/>
  </p:notesMasterIdLst>
  <p:sldIdLst>
    <p:sldId id="421" r:id="rId2"/>
    <p:sldId id="517" r:id="rId3"/>
    <p:sldId id="551" r:id="rId4"/>
    <p:sldId id="552" r:id="rId5"/>
    <p:sldId id="528" r:id="rId6"/>
    <p:sldId id="286" r:id="rId7"/>
    <p:sldId id="553" r:id="rId8"/>
    <p:sldId id="554" r:id="rId9"/>
    <p:sldId id="555" r:id="rId10"/>
    <p:sldId id="282" r:id="rId11"/>
    <p:sldId id="284" r:id="rId12"/>
    <p:sldId id="285" r:id="rId13"/>
    <p:sldId id="524" r:id="rId14"/>
    <p:sldId id="529" r:id="rId15"/>
    <p:sldId id="340" r:id="rId16"/>
    <p:sldId id="342" r:id="rId17"/>
    <p:sldId id="526" r:id="rId18"/>
    <p:sldId id="556" r:id="rId19"/>
    <p:sldId id="527" r:id="rId20"/>
    <p:sldId id="531" r:id="rId21"/>
    <p:sldId id="530" r:id="rId22"/>
    <p:sldId id="532" r:id="rId23"/>
    <p:sldId id="289" r:id="rId24"/>
    <p:sldId id="290" r:id="rId25"/>
    <p:sldId id="295" r:id="rId26"/>
    <p:sldId id="533" r:id="rId27"/>
    <p:sldId id="550" r:id="rId28"/>
    <p:sldId id="298" r:id="rId29"/>
    <p:sldId id="299" r:id="rId30"/>
    <p:sldId id="300" r:id="rId31"/>
    <p:sldId id="301" r:id="rId32"/>
    <p:sldId id="302" r:id="rId33"/>
    <p:sldId id="303" r:id="rId34"/>
    <p:sldId id="522" r:id="rId35"/>
    <p:sldId id="505" r:id="rId36"/>
    <p:sldId id="557" r:id="rId37"/>
    <p:sldId id="559" r:id="rId38"/>
    <p:sldId id="558" r:id="rId39"/>
    <p:sldId id="308" r:id="rId40"/>
    <p:sldId id="256" r:id="rId41"/>
    <p:sldId id="589" r:id="rId42"/>
    <p:sldId id="560" r:id="rId43"/>
    <p:sldId id="561" r:id="rId44"/>
    <p:sldId id="496" r:id="rId45"/>
    <p:sldId id="565" r:id="rId46"/>
    <p:sldId id="259" r:id="rId47"/>
    <p:sldId id="579" r:id="rId48"/>
    <p:sldId id="588" r:id="rId49"/>
    <p:sldId id="590" r:id="rId50"/>
    <p:sldId id="275" r:id="rId51"/>
    <p:sldId id="276" r:id="rId52"/>
    <p:sldId id="591" r:id="rId53"/>
    <p:sldId id="279" r:id="rId54"/>
    <p:sldId id="592" r:id="rId55"/>
    <p:sldId id="581" r:id="rId56"/>
    <p:sldId id="573" r:id="rId57"/>
    <p:sldId id="574" r:id="rId58"/>
    <p:sldId id="582" r:id="rId59"/>
    <p:sldId id="575" r:id="rId60"/>
    <p:sldId id="577" r:id="rId61"/>
    <p:sldId id="576" r:id="rId62"/>
    <p:sldId id="583" r:id="rId63"/>
    <p:sldId id="567" r:id="rId64"/>
    <p:sldId id="261" r:id="rId65"/>
    <p:sldId id="570" r:id="rId66"/>
    <p:sldId id="572" r:id="rId67"/>
    <p:sldId id="584" r:id="rId68"/>
    <p:sldId id="593" r:id="rId69"/>
    <p:sldId id="585" r:id="rId70"/>
    <p:sldId id="587" r:id="rId71"/>
    <p:sldId id="586" r:id="rId72"/>
    <p:sldId id="594" r:id="rId73"/>
    <p:sldId id="265" r:id="rId74"/>
    <p:sldId id="266" r:id="rId75"/>
    <p:sldId id="267" r:id="rId76"/>
    <p:sldId id="268" r:id="rId77"/>
    <p:sldId id="269" r:id="rId78"/>
    <p:sldId id="270" r:id="rId7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00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96" autoAdjust="0"/>
    <p:restoredTop sz="82682"/>
  </p:normalViewPr>
  <p:slideViewPr>
    <p:cSldViewPr snapToGrid="0" snapToObjects="1">
      <p:cViewPr varScale="1">
        <p:scale>
          <a:sx n="74" d="100"/>
          <a:sy n="74" d="100"/>
        </p:scale>
        <p:origin x="1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5FA26F-9EDE-034D-992C-A0DC95E78550}" type="datetimeFigureOut">
              <a:rPr lang="en-US" smtClean="0"/>
              <a:t>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13DECC-3D0A-4344-8A7A-D80521E6A2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05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ebfcbf07aa_0_1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ebfcbf07aa_0_1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>
          <a:extLst>
            <a:ext uri="{FF2B5EF4-FFF2-40B4-BE49-F238E27FC236}">
              <a16:creationId xmlns:a16="http://schemas.microsoft.com/office/drawing/2014/main" id="{A254AEBF-24F2-8D77-4E7C-F702A56ED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ebfcbf07aa_0_1423:notes">
            <a:extLst>
              <a:ext uri="{FF2B5EF4-FFF2-40B4-BE49-F238E27FC236}">
                <a16:creationId xmlns:a16="http://schemas.microsoft.com/office/drawing/2014/main" id="{4FF68F4A-402E-DD0B-E014-CBC2A75F2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ebfcbf07aa_0_1423:notes">
            <a:extLst>
              <a:ext uri="{FF2B5EF4-FFF2-40B4-BE49-F238E27FC236}">
                <a16:creationId xmlns:a16="http://schemas.microsoft.com/office/drawing/2014/main" id="{6725463D-BE4B-8B06-4577-787FC6F36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000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>
          <a:extLst>
            <a:ext uri="{FF2B5EF4-FFF2-40B4-BE49-F238E27FC236}">
              <a16:creationId xmlns:a16="http://schemas.microsoft.com/office/drawing/2014/main" id="{A254AEBF-24F2-8D77-4E7C-F702A56ED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ebfcbf07aa_0_1423:notes">
            <a:extLst>
              <a:ext uri="{FF2B5EF4-FFF2-40B4-BE49-F238E27FC236}">
                <a16:creationId xmlns:a16="http://schemas.microsoft.com/office/drawing/2014/main" id="{4FF68F4A-402E-DD0B-E014-CBC2A75F25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ebfcbf07aa_0_1423:notes">
            <a:extLst>
              <a:ext uri="{FF2B5EF4-FFF2-40B4-BE49-F238E27FC236}">
                <a16:creationId xmlns:a16="http://schemas.microsoft.com/office/drawing/2014/main" id="{6725463D-BE4B-8B06-4577-787FC6F362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000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ebfcbf07aa_0_29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ebfcbf07aa_0_29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ebfcbf07aa_0_1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ebfcbf07aa_0_1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f0735bd1d6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f0735bd1d6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ebfcbf07aa_0_1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ebfcbf07aa_0_1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ebfcbf07aa_0_1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ebfcbf07aa_0_1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ebfcbf07aa_0_1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ebfcbf07aa_0_1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min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1">
          <a:extLst>
            <a:ext uri="{FF2B5EF4-FFF2-40B4-BE49-F238E27FC236}">
              <a16:creationId xmlns:a16="http://schemas.microsoft.com/office/drawing/2014/main" id="{2BD88237-A888-2C31-7D5A-9C5781D8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ebfcbf07aa_0_1505:notes">
            <a:extLst>
              <a:ext uri="{FF2B5EF4-FFF2-40B4-BE49-F238E27FC236}">
                <a16:creationId xmlns:a16="http://schemas.microsoft.com/office/drawing/2014/main" id="{698E3F8A-EFE7-7E06-DABD-1C6B9C566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ebfcbf07aa_0_1505:notes">
            <a:extLst>
              <a:ext uri="{FF2B5EF4-FFF2-40B4-BE49-F238E27FC236}">
                <a16:creationId xmlns:a16="http://schemas.microsoft.com/office/drawing/2014/main" id="{FE94FDAD-1FD1-EB7E-D81D-03D893AFDF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 min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90832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>
          <a:extLst>
            <a:ext uri="{FF2B5EF4-FFF2-40B4-BE49-F238E27FC236}">
              <a16:creationId xmlns:a16="http://schemas.microsoft.com/office/drawing/2014/main" id="{8379DBE6-A338-524C-67C1-FE8488FDD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ebfcbf07aa_0_1423:notes">
            <a:extLst>
              <a:ext uri="{FF2B5EF4-FFF2-40B4-BE49-F238E27FC236}">
                <a16:creationId xmlns:a16="http://schemas.microsoft.com/office/drawing/2014/main" id="{4E19C1BE-E346-1110-CA6B-A05FA8E189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ebfcbf07aa_0_1423:notes">
            <a:extLst>
              <a:ext uri="{FF2B5EF4-FFF2-40B4-BE49-F238E27FC236}">
                <a16:creationId xmlns:a16="http://schemas.microsoft.com/office/drawing/2014/main" id="{7F251944-F9A6-162F-DA39-5A4AC7B47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8362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relationship between terms and words</a:t>
            </a:r>
          </a:p>
          <a:p>
            <a:r>
              <a:rPr lang="en-US" dirty="0"/>
              <a:t>extrapolation to similarity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96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0A7C2EC3-AE85-DB31-8077-C7A43DDA7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ebfcbf07aa_0_1516:notes">
            <a:extLst>
              <a:ext uri="{FF2B5EF4-FFF2-40B4-BE49-F238E27FC236}">
                <a16:creationId xmlns:a16="http://schemas.microsoft.com/office/drawing/2014/main" id="{37D5472B-3ACB-6788-D883-ABBF8573C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ebfcbf07aa_0_1516:notes">
            <a:extLst>
              <a:ext uri="{FF2B5EF4-FFF2-40B4-BE49-F238E27FC236}">
                <a16:creationId xmlns:a16="http://schemas.microsoft.com/office/drawing/2014/main" id="{5C45E0FD-80F9-ED51-3C68-1DD27A8E0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quick!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4209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5BFC9F05-A8F1-960D-F256-569E64F84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ebfcbf07aa_0_1516:notes">
            <a:extLst>
              <a:ext uri="{FF2B5EF4-FFF2-40B4-BE49-F238E27FC236}">
                <a16:creationId xmlns:a16="http://schemas.microsoft.com/office/drawing/2014/main" id="{463BD81D-B923-10B2-462C-D2211A1D73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ebfcbf07aa_0_1516:notes">
            <a:extLst>
              <a:ext uri="{FF2B5EF4-FFF2-40B4-BE49-F238E27FC236}">
                <a16:creationId xmlns:a16="http://schemas.microsoft.com/office/drawing/2014/main" id="{562B8014-D835-A762-FF8D-B06A49CEB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quick!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277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3705C578-3476-49A2-7861-7DD01908B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ebfcbf07aa_0_1516:notes">
            <a:extLst>
              <a:ext uri="{FF2B5EF4-FFF2-40B4-BE49-F238E27FC236}">
                <a16:creationId xmlns:a16="http://schemas.microsoft.com/office/drawing/2014/main" id="{B48136A1-6BA6-C9D9-2034-04F8C39812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ebfcbf07aa_0_1516:notes">
            <a:extLst>
              <a:ext uri="{FF2B5EF4-FFF2-40B4-BE49-F238E27FC236}">
                <a16:creationId xmlns:a16="http://schemas.microsoft.com/office/drawing/2014/main" id="{E082CA11-1F1E-AD11-9596-C75174162B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quick!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499088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8269AB75-A932-2490-E317-F5655FAC6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ebfcbf07aa_0_1516:notes">
            <a:extLst>
              <a:ext uri="{FF2B5EF4-FFF2-40B4-BE49-F238E27FC236}">
                <a16:creationId xmlns:a16="http://schemas.microsoft.com/office/drawing/2014/main" id="{D6AB2E7F-195F-0F9D-8F23-D1B3F9099B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ebfcbf07aa_0_1516:notes">
            <a:extLst>
              <a:ext uri="{FF2B5EF4-FFF2-40B4-BE49-F238E27FC236}">
                <a16:creationId xmlns:a16="http://schemas.microsoft.com/office/drawing/2014/main" id="{2AF290E6-BF96-1453-5137-0EA995AABF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quick!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526966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1B043786-27B2-7F59-7B59-3333B92E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ebfcbf07aa_0_1516:notes">
            <a:extLst>
              <a:ext uri="{FF2B5EF4-FFF2-40B4-BE49-F238E27FC236}">
                <a16:creationId xmlns:a16="http://schemas.microsoft.com/office/drawing/2014/main" id="{79E66366-862D-58B3-5160-0116CF48D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ebfcbf07aa_0_1516:notes">
            <a:extLst>
              <a:ext uri="{FF2B5EF4-FFF2-40B4-BE49-F238E27FC236}">
                <a16:creationId xmlns:a16="http://schemas.microsoft.com/office/drawing/2014/main" id="{4EB82EB8-21FB-7E73-7920-898F2F96CF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quick!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36476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9">
          <a:extLst>
            <a:ext uri="{FF2B5EF4-FFF2-40B4-BE49-F238E27FC236}">
              <a16:creationId xmlns:a16="http://schemas.microsoft.com/office/drawing/2014/main" id="{69DAF7A1-A2B4-5143-842F-CFDAA4CF4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ebfcbf07aa_0_1516:notes">
            <a:extLst>
              <a:ext uri="{FF2B5EF4-FFF2-40B4-BE49-F238E27FC236}">
                <a16:creationId xmlns:a16="http://schemas.microsoft.com/office/drawing/2014/main" id="{67F0D576-D1B6-C1E5-E155-23DB953F02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ebfcbf07aa_0_1516:notes">
            <a:extLst>
              <a:ext uri="{FF2B5EF4-FFF2-40B4-BE49-F238E27FC236}">
                <a16:creationId xmlns:a16="http://schemas.microsoft.com/office/drawing/2014/main" id="{50E360B7-47D2-A961-A113-D33D668C9B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 quick!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86339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ebfcbf07aa_0_1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ebfcbf07aa_0_1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ebfcbf07aa_0_15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ebfcbf07aa_0_15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ebfcbf07aa_0_1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ebfcbf07aa_0_1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>
          <a:extLst>
            <a:ext uri="{FF2B5EF4-FFF2-40B4-BE49-F238E27FC236}">
              <a16:creationId xmlns:a16="http://schemas.microsoft.com/office/drawing/2014/main" id="{CF2EB0B1-FA5B-9365-1119-71A1F252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ebfcbf07aa_0_1663:notes">
            <a:extLst>
              <a:ext uri="{FF2B5EF4-FFF2-40B4-BE49-F238E27FC236}">
                <a16:creationId xmlns:a16="http://schemas.microsoft.com/office/drawing/2014/main" id="{364E780C-E3BB-B9DD-E274-86DDE7654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ebfcbf07aa_0_1663:notes">
            <a:extLst>
              <a:ext uri="{FF2B5EF4-FFF2-40B4-BE49-F238E27FC236}">
                <a16:creationId xmlns:a16="http://schemas.microsoft.com/office/drawing/2014/main" id="{7C5E4A66-E1EC-6F80-F6E1-6547E99459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56319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gebfcbf07aa_0_16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6" name="Google Shape;1096;gebfcbf07aa_0_16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some more CM sktech info - soft Bloom filter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ebfcbf07aa_0_17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ebfcbf07aa_0_17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ebfcbf07aa_0_1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ebfcbf07aa_0_1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f0735bd1d6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f0735bd1d6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ebfcbf07aa_0_1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ebfcbf07aa_0_1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todo: to add a diagram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ebfcbf07aa_0_1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ebfcbf07aa_0_1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todo: to add a diagram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>
          <a:extLst>
            <a:ext uri="{FF2B5EF4-FFF2-40B4-BE49-F238E27FC236}">
              <a16:creationId xmlns:a16="http://schemas.microsoft.com/office/drawing/2014/main" id="{24DFDCC6-51DD-5182-6F02-33B38774F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ebfcbf07aa_0_1771:notes">
            <a:extLst>
              <a:ext uri="{FF2B5EF4-FFF2-40B4-BE49-F238E27FC236}">
                <a16:creationId xmlns:a16="http://schemas.microsoft.com/office/drawing/2014/main" id="{F5F80377-552F-8347-7037-FA9A47FE53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ebfcbf07aa_0_1771:notes">
            <a:extLst>
              <a:ext uri="{FF2B5EF4-FFF2-40B4-BE49-F238E27FC236}">
                <a16:creationId xmlns:a16="http://schemas.microsoft.com/office/drawing/2014/main" id="{53A4F32A-8CC1-904F-E725-D3808D8FA1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20min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573504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>
          <a:extLst>
            <a:ext uri="{FF2B5EF4-FFF2-40B4-BE49-F238E27FC236}">
              <a16:creationId xmlns:a16="http://schemas.microsoft.com/office/drawing/2014/main" id="{1104E091-221E-F3CB-008A-24B7E4411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ebfcbf07aa_0_1771:notes">
            <a:extLst>
              <a:ext uri="{FF2B5EF4-FFF2-40B4-BE49-F238E27FC236}">
                <a16:creationId xmlns:a16="http://schemas.microsoft.com/office/drawing/2014/main" id="{095D6C5D-AF24-63D6-2174-E797861B04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ebfcbf07aa_0_1771:notes">
            <a:extLst>
              <a:ext uri="{FF2B5EF4-FFF2-40B4-BE49-F238E27FC236}">
                <a16:creationId xmlns:a16="http://schemas.microsoft.com/office/drawing/2014/main" id="{7FB1B0BC-D6D1-AE16-85FF-3A37A65F12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20min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400935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>
          <a:extLst>
            <a:ext uri="{FF2B5EF4-FFF2-40B4-BE49-F238E27FC236}">
              <a16:creationId xmlns:a16="http://schemas.microsoft.com/office/drawing/2014/main" id="{BF987153-F2EC-CE57-9927-329559430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ebfcbf07aa_0_1455:notes">
            <a:extLst>
              <a:ext uri="{FF2B5EF4-FFF2-40B4-BE49-F238E27FC236}">
                <a16:creationId xmlns:a16="http://schemas.microsoft.com/office/drawing/2014/main" id="{1A2BC06E-2024-BC42-DA0A-0600DAC61F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ebfcbf07aa_0_1455:notes">
            <a:extLst>
              <a:ext uri="{FF2B5EF4-FFF2-40B4-BE49-F238E27FC236}">
                <a16:creationId xmlns:a16="http://schemas.microsoft.com/office/drawing/2014/main" id="{E21C1D1F-AB93-C7E5-931E-6AF6BDFEEA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6392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>
          <a:extLst>
            <a:ext uri="{FF2B5EF4-FFF2-40B4-BE49-F238E27FC236}">
              <a16:creationId xmlns:a16="http://schemas.microsoft.com/office/drawing/2014/main" id="{BA7374C9-CC3F-9D7E-C086-CDAB3A444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ebfcbf07aa_0_1663:notes">
            <a:extLst>
              <a:ext uri="{FF2B5EF4-FFF2-40B4-BE49-F238E27FC236}">
                <a16:creationId xmlns:a16="http://schemas.microsoft.com/office/drawing/2014/main" id="{71E52C74-C52C-201B-1787-0A28F9815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ebfcbf07aa_0_1663:notes">
            <a:extLst>
              <a:ext uri="{FF2B5EF4-FFF2-40B4-BE49-F238E27FC236}">
                <a16:creationId xmlns:a16="http://schemas.microsoft.com/office/drawing/2014/main" id="{314C4678-01DF-94EF-FE2B-0EE0943E0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529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>
          <a:extLst>
            <a:ext uri="{FF2B5EF4-FFF2-40B4-BE49-F238E27FC236}">
              <a16:creationId xmlns:a16="http://schemas.microsoft.com/office/drawing/2014/main" id="{5166334B-2035-18B7-090D-CB15FB84B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ebfcbf07aa_0_1455:notes">
            <a:extLst>
              <a:ext uri="{FF2B5EF4-FFF2-40B4-BE49-F238E27FC236}">
                <a16:creationId xmlns:a16="http://schemas.microsoft.com/office/drawing/2014/main" id="{87D3984D-1CBD-3F1A-08EA-0C74D0E12B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ebfcbf07aa_0_1455:notes">
            <a:extLst>
              <a:ext uri="{FF2B5EF4-FFF2-40B4-BE49-F238E27FC236}">
                <a16:creationId xmlns:a16="http://schemas.microsoft.com/office/drawing/2014/main" id="{60B0B6D3-E8F1-AF4A-382C-C57BA00C61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7585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ebfcbf07aa_0_17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ebfcbf07aa_0_17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>
          <a:extLst>
            <a:ext uri="{FF2B5EF4-FFF2-40B4-BE49-F238E27FC236}">
              <a16:creationId xmlns:a16="http://schemas.microsoft.com/office/drawing/2014/main" id="{BD171784-5A63-54E7-06DF-2C8D9BD9C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ebfcbf07aa_0_1423:notes">
            <a:extLst>
              <a:ext uri="{FF2B5EF4-FFF2-40B4-BE49-F238E27FC236}">
                <a16:creationId xmlns:a16="http://schemas.microsoft.com/office/drawing/2014/main" id="{56C9723F-3625-EAA2-E121-9818725A8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ebfcbf07aa_0_1423:notes">
            <a:extLst>
              <a:ext uri="{FF2B5EF4-FFF2-40B4-BE49-F238E27FC236}">
                <a16:creationId xmlns:a16="http://schemas.microsoft.com/office/drawing/2014/main" id="{BC4E6367-9C5A-9037-82CC-51C1517B17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88956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>
          <a:extLst>
            <a:ext uri="{FF2B5EF4-FFF2-40B4-BE49-F238E27FC236}">
              <a16:creationId xmlns:a16="http://schemas.microsoft.com/office/drawing/2014/main" id="{BD76BFDA-B0FB-33BD-65B0-96677D19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ebfcbf07aa_0_1441:notes">
            <a:extLst>
              <a:ext uri="{FF2B5EF4-FFF2-40B4-BE49-F238E27FC236}">
                <a16:creationId xmlns:a16="http://schemas.microsoft.com/office/drawing/2014/main" id="{075C3A52-7EA2-F25A-2562-14FEC766C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ebfcbf07aa_0_1441:notes">
            <a:extLst>
              <a:ext uri="{FF2B5EF4-FFF2-40B4-BE49-F238E27FC236}">
                <a16:creationId xmlns:a16="http://schemas.microsoft.com/office/drawing/2014/main" id="{E76D3164-9CEB-CB43-33EF-795DB473A9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8794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AD8-6E58-0253-CD2C-CCFD01691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D4DE6-FFED-9161-DBCD-017F3BF7D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F3FE2-6FF9-7B08-1B06-11CE0EE2E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E29AA-F6E9-8BF4-C1BE-B8926BC35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CF8AD2-6882-4531-8560-2C8EEF2B5B25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4036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todo</a:t>
            </a:r>
            <a:r>
              <a:rPr lang="en-US" dirty="0"/>
              <a:t>: flip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3197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6DF9E-EDAE-30AF-B0EE-F0DB481CE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E8B14-4DA0-644F-2651-4E95C7594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37639-2D97-CC5B-9470-AB2349265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todo</a:t>
            </a:r>
            <a:r>
              <a:rPr lang="en-US" dirty="0"/>
              <a:t>: flip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16A39-BBDD-2480-0775-6B0D4527D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6705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464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s/W/w/. and add one for linear regression</a:t>
            </a:r>
          </a:p>
          <a:p>
            <a:r>
              <a:rPr lang="en-US" dirty="0"/>
              <a:t>talk about optimizations – </a:t>
            </a:r>
            <a:r>
              <a:rPr lang="en-US" dirty="0" err="1"/>
              <a:t>softmax</a:t>
            </a:r>
            <a:r>
              <a:rPr lang="en-US" dirty="0"/>
              <a:t> numerical optimization, </a:t>
            </a:r>
            <a:r>
              <a:rPr lang="en-US" dirty="0" err="1"/>
              <a:t>crossent-softmax</a:t>
            </a:r>
            <a:r>
              <a:rPr lang="en-US" dirty="0"/>
              <a:t>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2102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4D8DB-32B6-E2F2-9D10-2D900935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00FD1F-FB01-B07F-8ED2-75FD89A5C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157AA-A76F-F9B5-A351-670DD80FC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s/W/w/. and add one for linear regression</a:t>
            </a:r>
          </a:p>
          <a:p>
            <a:r>
              <a:rPr lang="en-US" dirty="0"/>
              <a:t>talk about optimizations – </a:t>
            </a:r>
            <a:r>
              <a:rPr lang="en-US" dirty="0" err="1"/>
              <a:t>softmax</a:t>
            </a:r>
            <a:r>
              <a:rPr lang="en-US" dirty="0"/>
              <a:t> numerical optimization, </a:t>
            </a:r>
            <a:r>
              <a:rPr lang="en-US" dirty="0" err="1"/>
              <a:t>crossent-softmax</a:t>
            </a:r>
            <a:r>
              <a:rPr lang="en-US" dirty="0"/>
              <a:t>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F8582-1053-1E6E-7068-0424720D0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238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3593D-A1FB-F989-BE2C-3AF924B66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F6387-520F-2E2C-B215-65337A92A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EFB5F3-0247-45F7-F3FB-BCF98451C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s/W/w/. and add one for linear regression</a:t>
            </a:r>
          </a:p>
          <a:p>
            <a:r>
              <a:rPr lang="en-US" dirty="0"/>
              <a:t>talk about optimizations – </a:t>
            </a:r>
            <a:r>
              <a:rPr lang="en-US" dirty="0" err="1"/>
              <a:t>softmax</a:t>
            </a:r>
            <a:r>
              <a:rPr lang="en-US" dirty="0"/>
              <a:t> numerical optimization, </a:t>
            </a:r>
            <a:r>
              <a:rPr lang="en-US" dirty="0" err="1"/>
              <a:t>crossent-softmax</a:t>
            </a:r>
            <a:r>
              <a:rPr lang="en-US" dirty="0"/>
              <a:t>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60B28-D872-C0A7-592C-DE6308483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6505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7733-305E-F454-89AC-5A437BDDF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C3513-92C0-4C4C-78ED-DD9DBF266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984CB-64CF-F20E-2FBE-07968DD38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TODO: s/W/w/. and add one for linear regression</a:t>
            </a:r>
          </a:p>
          <a:p>
            <a:r>
              <a:rPr lang="en-US" dirty="0"/>
              <a:t>talk about optimizations – </a:t>
            </a:r>
            <a:r>
              <a:rPr lang="en-US" dirty="0" err="1"/>
              <a:t>softmax</a:t>
            </a:r>
            <a:r>
              <a:rPr lang="en-US" dirty="0"/>
              <a:t> numerical optimization, </a:t>
            </a:r>
            <a:r>
              <a:rPr lang="en-US" dirty="0" err="1"/>
              <a:t>crossent-softmax</a:t>
            </a:r>
            <a:r>
              <a:rPr lang="en-US" dirty="0"/>
              <a:t> optimization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6B841-8382-BD8B-DA2A-3C4BFC1AE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13DECC-3D0A-4344-8A7A-D80521E6A2D1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65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94E72-BB8C-4643-8036-F914D928C77D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566258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400" y="1257300"/>
            <a:ext cx="8648700" cy="5099050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with a 1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04800" y="6445250"/>
            <a:ext cx="2133600" cy="365125"/>
          </a:xfrm>
        </p:spPr>
        <p:txBody>
          <a:bodyPr/>
          <a:lstStyle/>
          <a:p>
            <a:fld id="{EC15F7A7-E32B-364C-8C79-32157FBE7F81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45250"/>
            <a:ext cx="2895600" cy="365125"/>
          </a:xfr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83036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516187"/>
            <a:ext cx="7772400" cy="1362075"/>
          </a:xfrm>
        </p:spPr>
        <p:txBody>
          <a:bodyPr anchor="t">
            <a:normAutofit/>
          </a:bodyPr>
          <a:lstStyle>
            <a:lvl1pPr algn="ctr">
              <a:defRPr sz="32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01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2DF6F-4406-8A48-852C-2F82CC7CFB2A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34261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54EDE-255E-8F4C-BA2A-FEC2178B0AD7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931773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2177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33969"/>
            <a:ext cx="4040188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73731"/>
            <a:ext cx="4040188" cy="4551222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033969"/>
            <a:ext cx="4041775" cy="639762"/>
          </a:xfrm>
        </p:spPr>
        <p:txBody>
          <a:bodyPr anchor="b"/>
          <a:lstStyle>
            <a:lvl1pPr marL="0" indent="0" algn="ctr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73730"/>
            <a:ext cx="4041775" cy="4551223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12575-8129-AD47-86D7-AC82F2DC32C4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405026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06462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4EF22-B0D3-0C4E-BEF9-B303AB3D13E2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71211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7AE77-7813-434F-A5F7-7DDCD7DA3507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16969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15CE6-90DE-044F-B798-25256D6AE7BC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50812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E9C1E-8AAB-AA48-9496-BA6107E42596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249246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C55A1-8CDA-C446-8D19-96B46A181364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05982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A00B8-0850-2D47-A3DF-A2A2FECFB66F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3068695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ADB2C0-A13D-F346-9F00-45255C4343FE}" type="slidenum">
              <a:rPr lang="en-US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214647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40FC2F-9283-4743-A77B-FB5D444CBBA6}" type="slidenum">
              <a:rPr lang="en-US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068139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91B8F5-E910-1746-BEBE-44ADAA996042}" type="slidenum">
              <a:rPr lang="en-US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1520434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27711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6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5144"/>
            <a:ext cx="8229600" cy="4711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D4E87-6CC2-E943-B741-3FE799E5BAB4}" type="datetime1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2/11/25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91503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b="1" i="0" kern="1200">
          <a:solidFill>
            <a:srgbClr val="0070C0"/>
          </a:solidFill>
          <a:latin typeface="Calibri"/>
          <a:ea typeface="+mj-ea"/>
          <a:cs typeface="Calibr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libri"/>
          <a:ea typeface="+mn-ea"/>
          <a:cs typeface="Calibr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libri"/>
          <a:ea typeface="+mn-ea"/>
          <a:cs typeface="Calibr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Calibri"/>
          <a:ea typeface="+mn-ea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Calibri"/>
          <a:ea typeface="+mn-ea"/>
          <a:cs typeface="Calibr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"/>
          <a:ea typeface="+mn-ea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hyperlink" Target="https://justindomke.wordpress.com/" TargetMode="External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AF07-0EE8-87BE-0557-A2CF8E2D82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10-605 / 10-405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1B411-7A6C-21B1-431C-1AE6C9C76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Machine Learning from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6854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A8E3-1795-D480-C62A-3135CC2B3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97B41-278D-5D16-C603-3925F308E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the course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9204-5A66-43CA-4E42-8047F0F2F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49" y="1257300"/>
            <a:ext cx="8463151" cy="53086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Scalable computation on clusters</a:t>
            </a:r>
          </a:p>
          <a:p>
            <a:pPr lvl="1"/>
            <a:r>
              <a:rPr lang="en-US" sz="2000" dirty="0"/>
              <a:t>MapReduce, Spark and iteration, Spark workflows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Learning as optimization</a:t>
            </a:r>
          </a:p>
          <a:p>
            <a:pPr lvl="1"/>
            <a:r>
              <a:rPr lang="en-US" sz="2000" dirty="0"/>
              <a:t>gradient descent (batch, parallel, stochastic), ..</a:t>
            </a:r>
          </a:p>
          <a:p>
            <a:pPr lvl="1"/>
            <a:r>
              <a:rPr lang="en-US" sz="2000" dirty="0"/>
              <a:t>for linear regression, logistic regression, k-means clustering</a:t>
            </a:r>
          </a:p>
          <a:p>
            <a:r>
              <a:rPr lang="en-US" sz="2000" dirty="0"/>
              <a:t>“Craft” of ML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feature extraction / augmentation/ kernels</a:t>
            </a:r>
            <a:endParaRPr lang="en-US" sz="1700" dirty="0"/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regularization and sparsity, hyperparameter tuning</a:t>
            </a:r>
          </a:p>
          <a:p>
            <a:pPr lvl="1"/>
            <a:r>
              <a:rPr lang="en-US" sz="2000" b="1" dirty="0">
                <a:solidFill>
                  <a:srgbClr val="0070C0"/>
                </a:solidFill>
              </a:rPr>
              <a:t>Tool: </a:t>
            </a:r>
            <a:r>
              <a:rPr lang="en-US" sz="2000" dirty="0"/>
              <a:t>the hash trick, efficient SGD, distributed ML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Tool:  </a:t>
            </a:r>
            <a:r>
              <a:rPr lang="en-US" sz="2000" dirty="0"/>
              <a:t>Randomized algorithms</a:t>
            </a:r>
          </a:p>
          <a:p>
            <a:pPr lvl="1"/>
            <a:r>
              <a:rPr lang="en-US" sz="2000" dirty="0"/>
              <a:t>Bloom filter, Count-Min sketch, </a:t>
            </a:r>
            <a:r>
              <a:rPr lang="en-US" sz="2000" dirty="0">
                <a:sym typeface="Wingdings" pitchFamily="2" charset="2"/>
              </a:rPr>
              <a:t> locality</a:t>
            </a:r>
            <a:r>
              <a:rPr lang="en-US" sz="2000" b="1" dirty="0">
                <a:sym typeface="Wingdings" pitchFamily="2" charset="2"/>
              </a:rPr>
              <a:t> </a:t>
            </a:r>
            <a:r>
              <a:rPr lang="en-US" sz="2000" dirty="0">
                <a:sym typeface="Wingdings" pitchFamily="2" charset="2"/>
              </a:rPr>
              <a:t>sensitive hashing (LSH)</a:t>
            </a:r>
          </a:p>
          <a:p>
            <a:r>
              <a:rPr lang="en-US" sz="2000" b="1" dirty="0">
                <a:sym typeface="Wingdings" pitchFamily="2" charset="2"/>
              </a:rPr>
              <a:t>Today:</a:t>
            </a:r>
          </a:p>
          <a:p>
            <a:pPr lvl="1"/>
            <a:r>
              <a:rPr lang="en-US" sz="2000" dirty="0">
                <a:sym typeface="Wingdings" pitchFamily="2" charset="2"/>
              </a:rPr>
              <a:t>A new (complicated) Count-Min sketch application</a:t>
            </a:r>
          </a:p>
          <a:p>
            <a:pPr lvl="1"/>
            <a:r>
              <a:rPr lang="en-US" sz="2000" dirty="0">
                <a:sym typeface="Wingdings" pitchFamily="2" charset="2"/>
              </a:rPr>
              <a:t>Automatic differentiation</a:t>
            </a: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8D1BB-99F1-2961-B28B-512B020D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91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application of count-min sketches</a:t>
            </a:r>
          </a:p>
        </p:txBody>
      </p:sp>
      <p:pic>
        <p:nvPicPr>
          <p:cNvPr id="3" name="Picture 2" descr="A close-up of a card&#10;&#10;AI-generated content may be incorrect.">
            <a:extLst>
              <a:ext uri="{FF2B5EF4-FFF2-40B4-BE49-F238E27FC236}">
                <a16:creationId xmlns:a16="http://schemas.microsoft.com/office/drawing/2014/main" id="{23D05724-1D2A-3ADE-E58F-D63383C78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95" y="1651747"/>
            <a:ext cx="7772400" cy="31373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6D54DD-4701-B1AA-AD03-B44497E0A990}"/>
              </a:ext>
            </a:extLst>
          </p:cNvPr>
          <p:cNvSpPr txBox="1"/>
          <p:nvPr/>
        </p:nvSpPr>
        <p:spPr>
          <a:xfrm>
            <a:off x="6131857" y="5021587"/>
            <a:ext cx="2232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NeurIPS</a:t>
            </a:r>
            <a:r>
              <a:rPr lang="en-US" dirty="0"/>
              <a:t> 2020</a:t>
            </a:r>
          </a:p>
        </p:txBody>
      </p:sp>
    </p:spTree>
    <p:extLst>
      <p:ext uri="{BB962C8B-B14F-4D97-AF65-F5344CB8AC3E}">
        <p14:creationId xmlns:p14="http://schemas.microsoft.com/office/powerpoint/2010/main" val="134373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0"/>
          <p:cNvSpPr txBox="1"/>
          <p:nvPr/>
        </p:nvSpPr>
        <p:spPr>
          <a:xfrm>
            <a:off x="250492" y="1519350"/>
            <a:ext cx="8540400" cy="3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c = </a:t>
            </a:r>
            <a:r>
              <a:rPr lang="en" dirty="0" err="1">
                <a:latin typeface="Inconsolata"/>
                <a:ea typeface="Inconsolata"/>
                <a:cs typeface="Inconsolata"/>
                <a:sym typeface="Inconsolata"/>
              </a:rPr>
              <a:t>NeuralQueryContext</a:t>
            </a:r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() </a:t>
            </a:r>
            <a:r>
              <a:rPr lang="en" i="1" dirty="0">
                <a:latin typeface="Inconsolata"/>
                <a:ea typeface="Inconsolata"/>
                <a:cs typeface="Inconsolata"/>
                <a:sym typeface="Inconsolata"/>
              </a:rPr>
              <a:t>   --- set up a context object</a:t>
            </a:r>
            <a:endParaRPr i="1" dirty="0">
              <a:latin typeface="Inconsolata"/>
              <a:ea typeface="Inconsolata"/>
              <a:cs typeface="Inconsolata"/>
              <a:sym typeface="Inconsolata"/>
            </a:endParaRPr>
          </a:p>
          <a:p>
            <a:r>
              <a:rPr lang="en" i="1" dirty="0">
                <a:latin typeface="Inconsolata"/>
                <a:ea typeface="Inconsolata"/>
                <a:cs typeface="Inconsolata"/>
                <a:sym typeface="Inconsolata"/>
              </a:rPr>
              <a:t>…							--- declare relations, load data, </a:t>
            </a:r>
            <a:r>
              <a:rPr lang="en" i="1" dirty="0" err="1">
                <a:latin typeface="Inconsolata"/>
                <a:ea typeface="Inconsolata"/>
                <a:cs typeface="Inconsolata"/>
                <a:sym typeface="Inconsolata"/>
              </a:rPr>
              <a:t>etc</a:t>
            </a:r>
            <a:endParaRPr i="1" dirty="0">
              <a:latin typeface="Inconsolata"/>
              <a:ea typeface="Inconsolata"/>
              <a:cs typeface="Inconsolata"/>
              <a:sym typeface="Inconsolata"/>
            </a:endParaRPr>
          </a:p>
          <a:p>
            <a:endParaRPr dirty="0">
              <a:latin typeface="Inconsolata"/>
              <a:ea typeface="Inconsolata"/>
              <a:cs typeface="Inconsolata"/>
              <a:sym typeface="Inconsolata"/>
            </a:endParaRPr>
          </a:p>
          <a:p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henry8 = </a:t>
            </a:r>
            <a:r>
              <a:rPr lang="en" dirty="0" err="1">
                <a:latin typeface="Inconsolata"/>
                <a:ea typeface="Inconsolata"/>
                <a:cs typeface="Inconsolata"/>
                <a:sym typeface="Inconsolata"/>
              </a:rPr>
              <a:t>c.one</a:t>
            </a:r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(‘</a:t>
            </a:r>
            <a:r>
              <a:rPr lang="en" dirty="0" err="1">
                <a:latin typeface="Inconsolata"/>
                <a:ea typeface="Inconsolata"/>
                <a:cs typeface="Inconsolata"/>
                <a:sym typeface="Inconsolata"/>
              </a:rPr>
              <a:t>Henry_VIII</a:t>
            </a:r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 of house of Tudor’, ‘</a:t>
            </a:r>
            <a:r>
              <a:rPr lang="en" dirty="0" err="1">
                <a:latin typeface="Inconsolata"/>
                <a:ea typeface="Inconsolata"/>
                <a:cs typeface="Inconsolata"/>
                <a:sym typeface="Inconsolata"/>
              </a:rPr>
              <a:t>person_t</a:t>
            </a:r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’)</a:t>
            </a:r>
            <a:endParaRPr dirty="0">
              <a:latin typeface="Inconsolata"/>
              <a:ea typeface="Inconsolata"/>
              <a:cs typeface="Inconsolata"/>
              <a:sym typeface="Inconsolata"/>
            </a:endParaRPr>
          </a:p>
          <a:p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henry8.wife() </a:t>
            </a:r>
            <a:r>
              <a:rPr lang="en" dirty="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→ {‘Catherine of Aragorn’:1.0, ‘Anne of house of</a:t>
            </a:r>
            <a:endParaRPr dirty="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marL="914400" indent="457200"/>
            <a:r>
              <a:rPr lang="en" dirty="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     Bolyn’:1.0, </a:t>
            </a:r>
            <a:r>
              <a:rPr lang="en" i="1" dirty="0" err="1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etc</a:t>
            </a:r>
            <a:r>
              <a:rPr lang="en" dirty="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 }</a:t>
            </a:r>
            <a:endParaRPr dirty="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marL="914400" indent="457200"/>
            <a:endParaRPr lang="en-US" dirty="0">
              <a:latin typeface="Inconsolata"/>
              <a:ea typeface="Inconsolata"/>
              <a:cs typeface="Inconsolata"/>
              <a:sym typeface="Inconsolata"/>
            </a:endParaRPr>
          </a:p>
          <a:p>
            <a:pPr marL="914400" indent="457200"/>
            <a:endParaRPr dirty="0">
              <a:latin typeface="Inconsolata"/>
              <a:ea typeface="Inconsolata"/>
              <a:cs typeface="Inconsolata"/>
              <a:sym typeface="Inconsolata"/>
            </a:endParaRPr>
          </a:p>
          <a:p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(henry8.son() | henry8.daughter()).son() </a:t>
            </a:r>
            <a:r>
              <a:rPr lang="en" dirty="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→ </a:t>
            </a:r>
            <a:r>
              <a:rPr lang="en" i="1" dirty="0">
                <a:solidFill>
                  <a:srgbClr val="0000FF"/>
                </a:solidFill>
                <a:latin typeface="Inconsolata"/>
                <a:ea typeface="Inconsolata"/>
                <a:cs typeface="Inconsolata"/>
                <a:sym typeface="Inconsolata"/>
              </a:rPr>
              <a:t>grandsons of Henry VIII</a:t>
            </a:r>
            <a:endParaRPr i="1" dirty="0">
              <a:solidFill>
                <a:srgbClr val="0000FF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endParaRPr dirty="0">
              <a:latin typeface="Inconsolata"/>
              <a:ea typeface="Inconsolata"/>
              <a:cs typeface="Inconsolata"/>
              <a:sym typeface="Inconsolata"/>
            </a:endParaRPr>
          </a:p>
          <a:p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henry8.follow(r1).follow(r2) → </a:t>
            </a:r>
            <a:r>
              <a:rPr lang="en" i="1" dirty="0">
                <a:latin typeface="Inconsolata"/>
                <a:ea typeface="Inconsolata"/>
                <a:cs typeface="Inconsolata"/>
                <a:sym typeface="Inconsolata"/>
              </a:rPr>
              <a:t>follow the relation path r1.r2</a:t>
            </a:r>
            <a:endParaRPr i="1" dirty="0">
              <a:latin typeface="Inconsolata"/>
              <a:ea typeface="Inconsolata"/>
              <a:cs typeface="Inconsolata"/>
              <a:sym typeface="Inconsolata"/>
            </a:endParaRPr>
          </a:p>
          <a:p>
            <a:endParaRPr dirty="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20" name="Google Shape;720;p60"/>
          <p:cNvSpPr txBox="1">
            <a:spLocks noGrp="1"/>
          </p:cNvSpPr>
          <p:nvPr>
            <p:ph type="title"/>
          </p:nvPr>
        </p:nvSpPr>
        <p:spPr>
          <a:xfrm>
            <a:off x="321600" y="46995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NQL: a Neural Query Language</a:t>
            </a:r>
            <a:endParaRPr dirty="0"/>
          </a:p>
        </p:txBody>
      </p:sp>
      <p:sp>
        <p:nvSpPr>
          <p:cNvPr id="721" name="Google Shape;721;p60"/>
          <p:cNvSpPr txBox="1"/>
          <p:nvPr/>
        </p:nvSpPr>
        <p:spPr>
          <a:xfrm>
            <a:off x="3945678" y="3394500"/>
            <a:ext cx="5114003" cy="404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NQL expression evals to weighted set of entities </a:t>
            </a:r>
            <a:endParaRPr dirty="0"/>
          </a:p>
        </p:txBody>
      </p:sp>
      <p:sp>
        <p:nvSpPr>
          <p:cNvPr id="722" name="Google Shape;722;p60"/>
          <p:cNvSpPr txBox="1"/>
          <p:nvPr/>
        </p:nvSpPr>
        <p:spPr>
          <a:xfrm>
            <a:off x="2051946" y="4762996"/>
            <a:ext cx="6151723" cy="404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r1, r2 are weighted sets of relations </a:t>
            </a:r>
            <a:r>
              <a:rPr lang="en" sz="1300" dirty="0"/>
              <a:t>(entities of special type)</a:t>
            </a:r>
            <a:endParaRPr sz="1300" dirty="0"/>
          </a:p>
        </p:txBody>
      </p:sp>
      <p:sp>
        <p:nvSpPr>
          <p:cNvPr id="723" name="Google Shape;723;p60"/>
          <p:cNvSpPr txBox="1"/>
          <p:nvPr/>
        </p:nvSpPr>
        <p:spPr>
          <a:xfrm>
            <a:off x="3084743" y="5347021"/>
            <a:ext cx="4988150" cy="404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r1 = {‘son’:1.0, ‘daughter’:1.0}  r2={‘son’:1.0}</a:t>
            </a:r>
            <a:endParaRPr/>
          </a:p>
        </p:txBody>
      </p:sp>
      <p:sp>
        <p:nvSpPr>
          <p:cNvPr id="725" name="Google Shape;725;p6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</a:t>
            </a:fld>
            <a:endParaRPr/>
          </a:p>
        </p:txBody>
      </p:sp>
      <p:sp>
        <p:nvSpPr>
          <p:cNvPr id="2" name="Google Shape;721;p60">
            <a:extLst>
              <a:ext uri="{FF2B5EF4-FFF2-40B4-BE49-F238E27FC236}">
                <a16:creationId xmlns:a16="http://schemas.microsoft.com/office/drawing/2014/main" id="{6B6C529B-2926-B8EA-E290-62032A8FC103}"/>
              </a:ext>
            </a:extLst>
          </p:cNvPr>
          <p:cNvSpPr txBox="1"/>
          <p:nvPr/>
        </p:nvSpPr>
        <p:spPr>
          <a:xfrm>
            <a:off x="4289613" y="3005504"/>
            <a:ext cx="4770068" cy="4041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Sets of size k are encoded as “k-hot vectors”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>
          <a:extLst>
            <a:ext uri="{FF2B5EF4-FFF2-40B4-BE49-F238E27FC236}">
              <a16:creationId xmlns:a16="http://schemas.microsoft.com/office/drawing/2014/main" id="{F4DF7485-CE34-EA7F-0A0D-250D183EF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0">
            <a:extLst>
              <a:ext uri="{FF2B5EF4-FFF2-40B4-BE49-F238E27FC236}">
                <a16:creationId xmlns:a16="http://schemas.microsoft.com/office/drawing/2014/main" id="{A1A0DB16-6AE7-5297-0E9C-34280196B1C5}"/>
              </a:ext>
            </a:extLst>
          </p:cNvPr>
          <p:cNvSpPr txBox="1"/>
          <p:nvPr/>
        </p:nvSpPr>
        <p:spPr>
          <a:xfrm>
            <a:off x="301800" y="1989542"/>
            <a:ext cx="8540400" cy="102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indent="457200"/>
            <a:endParaRPr dirty="0">
              <a:latin typeface="Inconsolata"/>
              <a:ea typeface="Inconsolata"/>
              <a:cs typeface="Inconsolata"/>
              <a:sym typeface="Inconsolata"/>
            </a:endParaRPr>
          </a:p>
          <a:p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(henry8.son() | henry8.daughter()).son() </a:t>
            </a:r>
          </a:p>
          <a:p>
            <a:endParaRPr dirty="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20" name="Google Shape;720;p60">
            <a:extLst>
              <a:ext uri="{FF2B5EF4-FFF2-40B4-BE49-F238E27FC236}">
                <a16:creationId xmlns:a16="http://schemas.microsoft.com/office/drawing/2014/main" id="{1317B8CC-4EF9-864D-3CCF-33ED08D94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1600" y="46995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NQL: a Neural Query Language</a:t>
            </a:r>
            <a:endParaRPr dirty="0"/>
          </a:p>
        </p:txBody>
      </p:sp>
      <p:sp>
        <p:nvSpPr>
          <p:cNvPr id="725" name="Google Shape;725;p60">
            <a:extLst>
              <a:ext uri="{FF2B5EF4-FFF2-40B4-BE49-F238E27FC236}">
                <a16:creationId xmlns:a16="http://schemas.microsoft.com/office/drawing/2014/main" id="{4C552268-B2BA-8765-A914-AB501D5F1B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6E671-FFAA-8ED8-0D61-8D12791B9992}"/>
              </a:ext>
            </a:extLst>
          </p:cNvPr>
          <p:cNvSpPr txBox="1"/>
          <p:nvPr/>
        </p:nvSpPr>
        <p:spPr>
          <a:xfrm>
            <a:off x="766484" y="3947175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henry8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EAF63-E4C3-2422-B1B9-3A880A1B7647}"/>
              </a:ext>
            </a:extLst>
          </p:cNvPr>
          <p:cNvSpPr txBox="1"/>
          <p:nvPr/>
        </p:nvSpPr>
        <p:spPr>
          <a:xfrm>
            <a:off x="2586319" y="3244334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.son()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B1767-0EB9-1C3B-4FBF-F16B189F8F53}"/>
              </a:ext>
            </a:extLst>
          </p:cNvPr>
          <p:cNvSpPr txBox="1"/>
          <p:nvPr/>
        </p:nvSpPr>
        <p:spPr>
          <a:xfrm>
            <a:off x="2364442" y="4693478"/>
            <a:ext cx="138504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.daughter()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D05C0-E075-BB8D-5072-D77CDF7A863C}"/>
              </a:ext>
            </a:extLst>
          </p:cNvPr>
          <p:cNvSpPr txBox="1"/>
          <p:nvPr/>
        </p:nvSpPr>
        <p:spPr>
          <a:xfrm>
            <a:off x="4231342" y="3846314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union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6C953-1004-7032-77C8-43C897764EAC}"/>
              </a:ext>
            </a:extLst>
          </p:cNvPr>
          <p:cNvSpPr txBox="1"/>
          <p:nvPr/>
        </p:nvSpPr>
        <p:spPr>
          <a:xfrm>
            <a:off x="5912225" y="3846314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.son()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DF69EB-3AB7-FF3F-4C2E-421096E2FC49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1707778" y="3429000"/>
            <a:ext cx="878541" cy="702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02CC16-B5CA-B6AB-06C5-A9D21B3E584C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1707778" y="4131841"/>
            <a:ext cx="656664" cy="746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0984FE-755D-ABA9-0544-6C4CCB1AD430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3527613" y="3429000"/>
            <a:ext cx="703729" cy="601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287C9D-528A-B90A-E75B-DFE4C726587B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749489" y="4030980"/>
            <a:ext cx="481853" cy="847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5F6E3BA-35C8-D10A-55C4-EFBB828FF10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172636" y="4030980"/>
            <a:ext cx="739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D5B44C9-4FFF-469A-F609-F6FF1B462CEF}"/>
              </a:ext>
            </a:extLst>
          </p:cNvPr>
          <p:cNvSpPr txBox="1"/>
          <p:nvPr/>
        </p:nvSpPr>
        <p:spPr>
          <a:xfrm>
            <a:off x="1746998" y="5473849"/>
            <a:ext cx="2530288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y</a:t>
            </a:r>
            <a:r>
              <a:rPr lang="en-US" baseline="-25000" dirty="0" err="1"/>
              <a:t>output</a:t>
            </a:r>
            <a:r>
              <a:rPr lang="en-US" baseline="-25000" dirty="0"/>
              <a:t> = </a:t>
            </a:r>
            <a:r>
              <a:rPr lang="en-US" dirty="0" err="1"/>
              <a:t>x</a:t>
            </a:r>
            <a:r>
              <a:rPr lang="en-US" baseline="-25000" dirty="0" err="1"/>
              <a:t>input</a:t>
            </a:r>
            <a:r>
              <a:rPr lang="en-US" baseline="-25000" dirty="0"/>
              <a:t> </a:t>
            </a:r>
            <a:r>
              <a:rPr lang="en-US" dirty="0" err="1"/>
              <a:t>M</a:t>
            </a:r>
            <a:r>
              <a:rPr lang="en-US" baseline="-25000" dirty="0" err="1"/>
              <a:t>daughter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114EF7-4552-151C-667B-5AB43E940452}"/>
              </a:ext>
            </a:extLst>
          </p:cNvPr>
          <p:cNvSpPr txBox="1"/>
          <p:nvPr/>
        </p:nvSpPr>
        <p:spPr>
          <a:xfrm>
            <a:off x="4257117" y="4683426"/>
            <a:ext cx="2530288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y</a:t>
            </a:r>
            <a:r>
              <a:rPr lang="en-US" baseline="-25000" dirty="0" err="1"/>
              <a:t>output</a:t>
            </a:r>
            <a:r>
              <a:rPr lang="en-US" baseline="-25000" dirty="0"/>
              <a:t> = </a:t>
            </a:r>
            <a:r>
              <a:rPr lang="en-US" dirty="0"/>
              <a:t>x</a:t>
            </a:r>
            <a:r>
              <a:rPr lang="en-US" baseline="-25000" dirty="0"/>
              <a:t>input1 </a:t>
            </a:r>
            <a:r>
              <a:rPr lang="en-US" dirty="0"/>
              <a:t> + x</a:t>
            </a:r>
            <a:r>
              <a:rPr lang="en-US" baseline="-25000" dirty="0"/>
              <a:t>input2</a:t>
            </a:r>
            <a:r>
              <a:rPr lang="en-US" dirty="0"/>
              <a:t> 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85C92E17-6374-3C8A-97BE-EF100E5EC5F5}"/>
              </a:ext>
            </a:extLst>
          </p:cNvPr>
          <p:cNvSpPr/>
          <p:nvPr/>
        </p:nvSpPr>
        <p:spPr>
          <a:xfrm>
            <a:off x="3012142" y="5177118"/>
            <a:ext cx="161364" cy="29673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973ED102-5AA9-C4A5-C5F9-DC15AA32E743}"/>
              </a:ext>
            </a:extLst>
          </p:cNvPr>
          <p:cNvSpPr/>
          <p:nvPr/>
        </p:nvSpPr>
        <p:spPr>
          <a:xfrm>
            <a:off x="4681820" y="4276164"/>
            <a:ext cx="164727" cy="41731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9547F1-305D-CB8A-B50A-80996041185A}"/>
              </a:ext>
            </a:extLst>
          </p:cNvPr>
          <p:cNvSpPr txBox="1"/>
          <p:nvPr/>
        </p:nvSpPr>
        <p:spPr>
          <a:xfrm>
            <a:off x="430306" y="1385046"/>
            <a:ext cx="679076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NQL expressions </a:t>
            </a:r>
            <a:r>
              <a:rPr lang="en-US" dirty="0">
                <a:sym typeface="Wingdings" pitchFamily="2" charset="2"/>
              </a:rPr>
              <a:t> compositionally defined neural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95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>
          <a:extLst>
            <a:ext uri="{FF2B5EF4-FFF2-40B4-BE49-F238E27FC236}">
              <a16:creationId xmlns:a16="http://schemas.microsoft.com/office/drawing/2014/main" id="{F4DF7485-CE34-EA7F-0A0D-250D183EF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0">
            <a:extLst>
              <a:ext uri="{FF2B5EF4-FFF2-40B4-BE49-F238E27FC236}">
                <a16:creationId xmlns:a16="http://schemas.microsoft.com/office/drawing/2014/main" id="{A1A0DB16-6AE7-5297-0E9C-34280196B1C5}"/>
              </a:ext>
            </a:extLst>
          </p:cNvPr>
          <p:cNvSpPr txBox="1"/>
          <p:nvPr/>
        </p:nvSpPr>
        <p:spPr>
          <a:xfrm>
            <a:off x="301800" y="1989542"/>
            <a:ext cx="8540400" cy="102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indent="457200"/>
            <a:endParaRPr dirty="0">
              <a:latin typeface="Inconsolata"/>
              <a:ea typeface="Inconsolata"/>
              <a:cs typeface="Inconsolata"/>
              <a:sym typeface="Inconsolata"/>
            </a:endParaRPr>
          </a:p>
          <a:p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(henry8.son() | henry8.daughter()).son() </a:t>
            </a:r>
          </a:p>
          <a:p>
            <a:endParaRPr dirty="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20" name="Google Shape;720;p60">
            <a:extLst>
              <a:ext uri="{FF2B5EF4-FFF2-40B4-BE49-F238E27FC236}">
                <a16:creationId xmlns:a16="http://schemas.microsoft.com/office/drawing/2014/main" id="{1317B8CC-4EF9-864D-3CCF-33ED08D94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1600" y="46995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NQL: a Neural Query Language</a:t>
            </a:r>
            <a:endParaRPr dirty="0"/>
          </a:p>
        </p:txBody>
      </p:sp>
      <p:sp>
        <p:nvSpPr>
          <p:cNvPr id="725" name="Google Shape;725;p60">
            <a:extLst>
              <a:ext uri="{FF2B5EF4-FFF2-40B4-BE49-F238E27FC236}">
                <a16:creationId xmlns:a16="http://schemas.microsoft.com/office/drawing/2014/main" id="{4C552268-B2BA-8765-A914-AB501D5F1B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6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86E671-FFAA-8ED8-0D61-8D12791B9992}"/>
              </a:ext>
            </a:extLst>
          </p:cNvPr>
          <p:cNvSpPr txBox="1"/>
          <p:nvPr/>
        </p:nvSpPr>
        <p:spPr>
          <a:xfrm>
            <a:off x="766484" y="3947175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henry8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EAF63-E4C3-2422-B1B9-3A880A1B7647}"/>
              </a:ext>
            </a:extLst>
          </p:cNvPr>
          <p:cNvSpPr txBox="1"/>
          <p:nvPr/>
        </p:nvSpPr>
        <p:spPr>
          <a:xfrm>
            <a:off x="2586319" y="3244334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.son()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B1767-0EB9-1C3B-4FBF-F16B189F8F53}"/>
              </a:ext>
            </a:extLst>
          </p:cNvPr>
          <p:cNvSpPr txBox="1"/>
          <p:nvPr/>
        </p:nvSpPr>
        <p:spPr>
          <a:xfrm>
            <a:off x="2364442" y="4693478"/>
            <a:ext cx="138504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.daughter()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D05C0-E075-BB8D-5072-D77CDF7A863C}"/>
              </a:ext>
            </a:extLst>
          </p:cNvPr>
          <p:cNvSpPr txBox="1"/>
          <p:nvPr/>
        </p:nvSpPr>
        <p:spPr>
          <a:xfrm>
            <a:off x="4231342" y="3846314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union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56C953-1004-7032-77C8-43C897764EAC}"/>
              </a:ext>
            </a:extLst>
          </p:cNvPr>
          <p:cNvSpPr txBox="1"/>
          <p:nvPr/>
        </p:nvSpPr>
        <p:spPr>
          <a:xfrm>
            <a:off x="5912225" y="3846314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.son()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DF69EB-3AB7-FF3F-4C2E-421096E2FC49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1707778" y="3429000"/>
            <a:ext cx="878541" cy="702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02CC16-B5CA-B6AB-06C5-A9D21B3E584C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1707778" y="4131841"/>
            <a:ext cx="656664" cy="746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70984FE-755D-ABA9-0544-6C4CCB1AD430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3527613" y="3429000"/>
            <a:ext cx="703729" cy="601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287C9D-528A-B90A-E75B-DFE4C726587B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749489" y="4030980"/>
            <a:ext cx="481853" cy="847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5F6E3BA-35C8-D10A-55C4-EFBB828FF103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172636" y="4030980"/>
            <a:ext cx="739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D5B44C9-4FFF-469A-F609-F6FF1B462CEF}"/>
              </a:ext>
            </a:extLst>
          </p:cNvPr>
          <p:cNvSpPr txBox="1"/>
          <p:nvPr/>
        </p:nvSpPr>
        <p:spPr>
          <a:xfrm>
            <a:off x="1223682" y="5473849"/>
            <a:ext cx="3053604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output = f1(input, relation)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85C92E17-6374-3C8A-97BE-EF100E5EC5F5}"/>
              </a:ext>
            </a:extLst>
          </p:cNvPr>
          <p:cNvSpPr/>
          <p:nvPr/>
        </p:nvSpPr>
        <p:spPr>
          <a:xfrm>
            <a:off x="3012142" y="5177118"/>
            <a:ext cx="161364" cy="29673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973ED102-5AA9-C4A5-C5F9-DC15AA32E743}"/>
              </a:ext>
            </a:extLst>
          </p:cNvPr>
          <p:cNvSpPr/>
          <p:nvPr/>
        </p:nvSpPr>
        <p:spPr>
          <a:xfrm>
            <a:off x="4681820" y="4276164"/>
            <a:ext cx="164727" cy="41731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9547F1-305D-CB8A-B50A-80996041185A}"/>
              </a:ext>
            </a:extLst>
          </p:cNvPr>
          <p:cNvSpPr txBox="1"/>
          <p:nvPr/>
        </p:nvSpPr>
        <p:spPr>
          <a:xfrm>
            <a:off x="430306" y="1385046"/>
            <a:ext cx="679076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NQL expressions </a:t>
            </a:r>
            <a:r>
              <a:rPr lang="en-US" dirty="0">
                <a:sym typeface="Wingdings" pitchFamily="2" charset="2"/>
              </a:rPr>
              <a:t> compositionally defined neural networks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FC714-D481-AA13-1AAE-D7B03C0C245C}"/>
              </a:ext>
            </a:extLst>
          </p:cNvPr>
          <p:cNvSpPr txBox="1"/>
          <p:nvPr/>
        </p:nvSpPr>
        <p:spPr>
          <a:xfrm>
            <a:off x="4152902" y="4839600"/>
            <a:ext cx="3053604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output = f2(input2, input2)</a:t>
            </a:r>
          </a:p>
        </p:txBody>
      </p:sp>
    </p:spTree>
    <p:extLst>
      <p:ext uri="{BB962C8B-B14F-4D97-AF65-F5344CB8AC3E}">
        <p14:creationId xmlns:p14="http://schemas.microsoft.com/office/powerpoint/2010/main" val="3478018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0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2"/>
          <p:cNvSpPr txBox="1"/>
          <p:nvPr/>
        </p:nvSpPr>
        <p:spPr>
          <a:xfrm>
            <a:off x="73500" y="2130425"/>
            <a:ext cx="5722182" cy="22914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/>
              <a:t>Neural</a:t>
            </a:r>
            <a:endParaRPr/>
          </a:p>
        </p:txBody>
      </p:sp>
      <p:sp>
        <p:nvSpPr>
          <p:cNvPr id="741" name="Google Shape;741;p62"/>
          <p:cNvSpPr txBox="1"/>
          <p:nvPr/>
        </p:nvSpPr>
        <p:spPr>
          <a:xfrm>
            <a:off x="73500" y="4477325"/>
            <a:ext cx="5722182" cy="1357200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r"/>
            <a:r>
              <a:rPr lang="en"/>
              <a:t>Symbolic</a:t>
            </a:r>
            <a:endParaRPr/>
          </a:p>
        </p:txBody>
      </p:sp>
      <p:sp>
        <p:nvSpPr>
          <p:cNvPr id="742" name="Google Shape;742;p62"/>
          <p:cNvSpPr txBox="1">
            <a:spLocks noGrp="1"/>
          </p:cNvSpPr>
          <p:nvPr>
            <p:ph type="title"/>
          </p:nvPr>
        </p:nvSpPr>
        <p:spPr>
          <a:xfrm>
            <a:off x="311700" y="226510"/>
            <a:ext cx="8520600" cy="135443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Motivation:</a:t>
            </a:r>
            <a:br>
              <a:rPr lang="en" dirty="0"/>
            </a:br>
            <a:r>
              <a:rPr lang="en" sz="3200" dirty="0"/>
              <a:t>Neural QLs for QA over a KB (KBQA)</a:t>
            </a:r>
            <a:endParaRPr dirty="0"/>
          </a:p>
        </p:txBody>
      </p:sp>
      <p:sp>
        <p:nvSpPr>
          <p:cNvPr id="743" name="Google Shape;743;p62"/>
          <p:cNvSpPr txBox="1"/>
          <p:nvPr/>
        </p:nvSpPr>
        <p:spPr>
          <a:xfrm>
            <a:off x="6123375" y="2811824"/>
            <a:ext cx="2709000" cy="99369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KBQA can be a semantic parse of a question, then ….</a:t>
            </a:r>
            <a:endParaRPr dirty="0"/>
          </a:p>
        </p:txBody>
      </p:sp>
      <p:sp>
        <p:nvSpPr>
          <p:cNvPr id="744" name="Google Shape;744;p62"/>
          <p:cNvSpPr txBox="1"/>
          <p:nvPr/>
        </p:nvSpPr>
        <p:spPr>
          <a:xfrm>
            <a:off x="6123375" y="3915523"/>
            <a:ext cx="2708925" cy="1032602"/>
          </a:xfrm>
          <a:prstGeom prst="rect">
            <a:avLst/>
          </a:prstGeom>
          <a:noFill/>
          <a:ln w="3810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….access to a symbolic QL that queries the KB to get the final answer.</a:t>
            </a:r>
            <a:endParaRPr b="1"/>
          </a:p>
          <a:p>
            <a:pPr indent="457200"/>
            <a:endParaRPr/>
          </a:p>
        </p:txBody>
      </p:sp>
      <p:sp>
        <p:nvSpPr>
          <p:cNvPr id="745" name="Google Shape;745;p62"/>
          <p:cNvSpPr txBox="1"/>
          <p:nvPr/>
        </p:nvSpPr>
        <p:spPr>
          <a:xfrm>
            <a:off x="392050" y="2486600"/>
            <a:ext cx="4751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Question: “are any Google interns attending KBC2020?”</a:t>
            </a:r>
            <a:endParaRPr/>
          </a:p>
        </p:txBody>
      </p:sp>
      <p:sp>
        <p:nvSpPr>
          <p:cNvPr id="746" name="Google Shape;746;p62"/>
          <p:cNvSpPr/>
          <p:nvPr/>
        </p:nvSpPr>
        <p:spPr>
          <a:xfrm>
            <a:off x="2657650" y="32581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7" name="Google Shape;747;p62"/>
          <p:cNvSpPr/>
          <p:nvPr/>
        </p:nvSpPr>
        <p:spPr>
          <a:xfrm>
            <a:off x="624725" y="4788925"/>
            <a:ext cx="926100" cy="9675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8" name="Google Shape;748;p62"/>
          <p:cNvSpPr/>
          <p:nvPr/>
        </p:nvSpPr>
        <p:spPr>
          <a:xfrm>
            <a:off x="1654668" y="5156325"/>
            <a:ext cx="3378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49" name="Google Shape;749;p62"/>
          <p:cNvSpPr txBox="1"/>
          <p:nvPr/>
        </p:nvSpPr>
        <p:spPr>
          <a:xfrm>
            <a:off x="2196375" y="4932575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Answers</a:t>
            </a:r>
            <a:endParaRPr/>
          </a:p>
        </p:txBody>
      </p:sp>
      <p:sp>
        <p:nvSpPr>
          <p:cNvPr id="750" name="Google Shape;750;p62"/>
          <p:cNvSpPr txBox="1"/>
          <p:nvPr/>
        </p:nvSpPr>
        <p:spPr>
          <a:xfrm>
            <a:off x="692245" y="4948125"/>
            <a:ext cx="762000" cy="6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KB</a:t>
            </a:r>
            <a:endParaRPr/>
          </a:p>
        </p:txBody>
      </p:sp>
      <p:sp>
        <p:nvSpPr>
          <p:cNvPr id="751" name="Google Shape;751;p62"/>
          <p:cNvSpPr/>
          <p:nvPr/>
        </p:nvSpPr>
        <p:spPr>
          <a:xfrm>
            <a:off x="2657650" y="44773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52" name="Google Shape;752;p62"/>
          <p:cNvSpPr txBox="1"/>
          <p:nvPr/>
        </p:nvSpPr>
        <p:spPr>
          <a:xfrm>
            <a:off x="257350" y="3697275"/>
            <a:ext cx="50823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google.follow(internAt</a:t>
            </a:r>
            <a:r>
              <a:rPr lang="en" baseline="30000"/>
              <a:t>- 1</a:t>
            </a:r>
            <a:r>
              <a:rPr lang="en"/>
              <a:t>) ∩ </a:t>
            </a:r>
            <a:r>
              <a:rPr lang="en">
                <a:solidFill>
                  <a:schemeClr val="dk1"/>
                </a:solidFill>
              </a:rPr>
              <a:t>akbc2020.follow(registeredFor)</a:t>
            </a:r>
            <a:endParaRPr/>
          </a:p>
        </p:txBody>
      </p:sp>
      <p:sp>
        <p:nvSpPr>
          <p:cNvPr id="753" name="Google Shape;753;p62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7</a:t>
            </a:fld>
            <a:endParaRPr/>
          </a:p>
        </p:txBody>
      </p:sp>
      <p:sp>
        <p:nvSpPr>
          <p:cNvPr id="2" name="Google Shape;743;p62">
            <a:extLst>
              <a:ext uri="{FF2B5EF4-FFF2-40B4-BE49-F238E27FC236}">
                <a16:creationId xmlns:a16="http://schemas.microsoft.com/office/drawing/2014/main" id="{141A0299-DD8E-5AA3-0B02-660E2A814268}"/>
              </a:ext>
            </a:extLst>
          </p:cNvPr>
          <p:cNvSpPr txBox="1"/>
          <p:nvPr/>
        </p:nvSpPr>
        <p:spPr>
          <a:xfrm>
            <a:off x="6134832" y="5112478"/>
            <a:ext cx="2709000" cy="993694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Training data is pairs:</a:t>
            </a:r>
          </a:p>
          <a:p>
            <a:r>
              <a:rPr lang="en" dirty="0"/>
              <a:t>(question, </a:t>
            </a:r>
            <a:r>
              <a:rPr lang="en" dirty="0" err="1"/>
              <a:t>KBquery</a:t>
            </a:r>
            <a:r>
              <a:rPr lang="en" dirty="0"/>
              <a:t>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3"/>
          <p:cNvSpPr txBox="1"/>
          <p:nvPr/>
        </p:nvSpPr>
        <p:spPr>
          <a:xfrm>
            <a:off x="73499" y="2130425"/>
            <a:ext cx="5775971" cy="37836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/>
              <a:t>Neural</a:t>
            </a:r>
            <a:endParaRPr/>
          </a:p>
        </p:txBody>
      </p:sp>
      <p:sp>
        <p:nvSpPr>
          <p:cNvPr id="760" name="Google Shape;760;p63"/>
          <p:cNvSpPr txBox="1"/>
          <p:nvPr/>
        </p:nvSpPr>
        <p:spPr>
          <a:xfrm>
            <a:off x="392050" y="2486600"/>
            <a:ext cx="4751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Question: “are any Google interns attending VLDB2020?”</a:t>
            </a:r>
            <a:endParaRPr/>
          </a:p>
        </p:txBody>
      </p:sp>
      <p:sp>
        <p:nvSpPr>
          <p:cNvPr id="761" name="Google Shape;761;p63"/>
          <p:cNvSpPr/>
          <p:nvPr/>
        </p:nvSpPr>
        <p:spPr>
          <a:xfrm>
            <a:off x="2657650" y="32581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62" name="Google Shape;762;p63"/>
          <p:cNvSpPr txBox="1"/>
          <p:nvPr/>
        </p:nvSpPr>
        <p:spPr>
          <a:xfrm>
            <a:off x="257350" y="3697275"/>
            <a:ext cx="50823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google.follow(internAt</a:t>
            </a:r>
            <a:r>
              <a:rPr lang="en" baseline="30000"/>
              <a:t>- 1</a:t>
            </a:r>
            <a:r>
              <a:rPr lang="en"/>
              <a:t>) &amp; </a:t>
            </a:r>
            <a:r>
              <a:rPr lang="en">
                <a:solidFill>
                  <a:schemeClr val="dk1"/>
                </a:solidFill>
              </a:rPr>
              <a:t>vldb2020.follow(registeredFor)</a:t>
            </a:r>
            <a:endParaRPr/>
          </a:p>
        </p:txBody>
      </p:sp>
      <p:sp>
        <p:nvSpPr>
          <p:cNvPr id="763" name="Google Shape;763;p63"/>
          <p:cNvSpPr/>
          <p:nvPr/>
        </p:nvSpPr>
        <p:spPr>
          <a:xfrm>
            <a:off x="624725" y="4788925"/>
            <a:ext cx="926100" cy="9675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64" name="Google Shape;764;p63"/>
          <p:cNvSpPr/>
          <p:nvPr/>
        </p:nvSpPr>
        <p:spPr>
          <a:xfrm>
            <a:off x="1654668" y="5156325"/>
            <a:ext cx="3378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65" name="Google Shape;765;p63"/>
          <p:cNvSpPr txBox="1"/>
          <p:nvPr/>
        </p:nvSpPr>
        <p:spPr>
          <a:xfrm>
            <a:off x="2196375" y="4932575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Answers</a:t>
            </a:r>
            <a:endParaRPr/>
          </a:p>
        </p:txBody>
      </p:sp>
      <p:sp>
        <p:nvSpPr>
          <p:cNvPr id="766" name="Google Shape;766;p63"/>
          <p:cNvSpPr txBox="1"/>
          <p:nvPr/>
        </p:nvSpPr>
        <p:spPr>
          <a:xfrm>
            <a:off x="692245" y="4948125"/>
            <a:ext cx="762000" cy="6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KB</a:t>
            </a:r>
            <a:endParaRPr/>
          </a:p>
        </p:txBody>
      </p:sp>
      <p:sp>
        <p:nvSpPr>
          <p:cNvPr id="767" name="Google Shape;767;p63"/>
          <p:cNvSpPr/>
          <p:nvPr/>
        </p:nvSpPr>
        <p:spPr>
          <a:xfrm>
            <a:off x="2657650" y="44773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68" name="Google Shape;768;p63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8</a:t>
            </a:fld>
            <a:endParaRPr/>
          </a:p>
        </p:txBody>
      </p:sp>
      <p:sp>
        <p:nvSpPr>
          <p:cNvPr id="5" name="Google Shape;742;p62">
            <a:extLst>
              <a:ext uri="{FF2B5EF4-FFF2-40B4-BE49-F238E27FC236}">
                <a16:creationId xmlns:a16="http://schemas.microsoft.com/office/drawing/2014/main" id="{3B9EE637-4FB1-7814-0292-D23B0E2572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6510"/>
            <a:ext cx="8520600" cy="135443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Motivation:</a:t>
            </a:r>
            <a:br>
              <a:rPr lang="en" dirty="0"/>
            </a:br>
            <a:r>
              <a:rPr lang="en" sz="3200" dirty="0"/>
              <a:t>Neural QLs for QA over a KB (KBQA)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4"/>
          <p:cNvSpPr txBox="1"/>
          <p:nvPr/>
        </p:nvSpPr>
        <p:spPr>
          <a:xfrm>
            <a:off x="73499" y="2130425"/>
            <a:ext cx="5775971" cy="37836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/>
              <a:t>Neural</a:t>
            </a:r>
            <a:endParaRPr/>
          </a:p>
        </p:txBody>
      </p:sp>
      <p:sp>
        <p:nvSpPr>
          <p:cNvPr id="775" name="Google Shape;775;p64"/>
          <p:cNvSpPr txBox="1"/>
          <p:nvPr/>
        </p:nvSpPr>
        <p:spPr>
          <a:xfrm>
            <a:off x="392050" y="2486600"/>
            <a:ext cx="4751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Question: “are any Google interns attending VLDB2020?”</a:t>
            </a:r>
            <a:endParaRPr/>
          </a:p>
        </p:txBody>
      </p:sp>
      <p:sp>
        <p:nvSpPr>
          <p:cNvPr id="776" name="Google Shape;776;p64"/>
          <p:cNvSpPr/>
          <p:nvPr/>
        </p:nvSpPr>
        <p:spPr>
          <a:xfrm>
            <a:off x="2657650" y="32581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77" name="Google Shape;777;p64"/>
          <p:cNvSpPr txBox="1"/>
          <p:nvPr/>
        </p:nvSpPr>
        <p:spPr>
          <a:xfrm>
            <a:off x="257350" y="3697275"/>
            <a:ext cx="50823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google.follow(internAt</a:t>
            </a:r>
            <a:r>
              <a:rPr lang="en" baseline="30000"/>
              <a:t>- 1</a:t>
            </a:r>
            <a:r>
              <a:rPr lang="en"/>
              <a:t>) &amp; </a:t>
            </a:r>
            <a:r>
              <a:rPr lang="en">
                <a:solidFill>
                  <a:schemeClr val="dk1"/>
                </a:solidFill>
              </a:rPr>
              <a:t>vldb2020.follow(registeredFor)</a:t>
            </a:r>
            <a:endParaRPr/>
          </a:p>
        </p:txBody>
      </p:sp>
      <p:sp>
        <p:nvSpPr>
          <p:cNvPr id="778" name="Google Shape;778;p64"/>
          <p:cNvSpPr/>
          <p:nvPr/>
        </p:nvSpPr>
        <p:spPr>
          <a:xfrm>
            <a:off x="624725" y="4788925"/>
            <a:ext cx="926100" cy="9675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79" name="Google Shape;779;p64"/>
          <p:cNvSpPr/>
          <p:nvPr/>
        </p:nvSpPr>
        <p:spPr>
          <a:xfrm>
            <a:off x="1654668" y="5156325"/>
            <a:ext cx="3378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80" name="Google Shape;780;p64"/>
          <p:cNvSpPr txBox="1"/>
          <p:nvPr/>
        </p:nvSpPr>
        <p:spPr>
          <a:xfrm>
            <a:off x="692245" y="4948125"/>
            <a:ext cx="762000" cy="6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KB</a:t>
            </a:r>
            <a:endParaRPr/>
          </a:p>
        </p:txBody>
      </p:sp>
      <p:sp>
        <p:nvSpPr>
          <p:cNvPr id="781" name="Google Shape;781;p64"/>
          <p:cNvSpPr/>
          <p:nvPr/>
        </p:nvSpPr>
        <p:spPr>
          <a:xfrm>
            <a:off x="2657650" y="44773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82" name="Google Shape;782;p64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9</a:t>
            </a:fld>
            <a:endParaRPr/>
          </a:p>
        </p:txBody>
      </p:sp>
      <p:sp>
        <p:nvSpPr>
          <p:cNvPr id="783" name="Google Shape;783;p64"/>
          <p:cNvSpPr txBox="1"/>
          <p:nvPr/>
        </p:nvSpPr>
        <p:spPr>
          <a:xfrm>
            <a:off x="2196375" y="4932575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Predicted answers</a:t>
            </a:r>
            <a:endParaRPr/>
          </a:p>
        </p:txBody>
      </p:sp>
      <p:sp>
        <p:nvSpPr>
          <p:cNvPr id="784" name="Google Shape;784;p64"/>
          <p:cNvSpPr txBox="1"/>
          <p:nvPr/>
        </p:nvSpPr>
        <p:spPr>
          <a:xfrm>
            <a:off x="4454950" y="4936550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Target answers </a:t>
            </a:r>
            <a:endParaRPr/>
          </a:p>
        </p:txBody>
      </p:sp>
      <p:sp>
        <p:nvSpPr>
          <p:cNvPr id="785" name="Google Shape;785;p64"/>
          <p:cNvSpPr/>
          <p:nvPr/>
        </p:nvSpPr>
        <p:spPr>
          <a:xfrm>
            <a:off x="3490400" y="5205300"/>
            <a:ext cx="1959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86" name="Google Shape;786;p64"/>
          <p:cNvSpPr/>
          <p:nvPr/>
        </p:nvSpPr>
        <p:spPr>
          <a:xfrm rot="10800000">
            <a:off x="4176169" y="5205300"/>
            <a:ext cx="1959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87" name="Google Shape;787;p64"/>
          <p:cNvSpPr txBox="1"/>
          <p:nvPr/>
        </p:nvSpPr>
        <p:spPr>
          <a:xfrm>
            <a:off x="3652175" y="5143950"/>
            <a:ext cx="5439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/>
              <a:t>Loss</a:t>
            </a:r>
            <a:endParaRPr sz="1200"/>
          </a:p>
        </p:txBody>
      </p:sp>
      <p:sp>
        <p:nvSpPr>
          <p:cNvPr id="4" name="Google Shape;742;p62">
            <a:extLst>
              <a:ext uri="{FF2B5EF4-FFF2-40B4-BE49-F238E27FC236}">
                <a16:creationId xmlns:a16="http://schemas.microsoft.com/office/drawing/2014/main" id="{BDB1B3C8-0DDD-48FB-EF89-33E41CBB3F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6510"/>
            <a:ext cx="8520600" cy="135443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Motivation:</a:t>
            </a:r>
            <a:br>
              <a:rPr lang="en" dirty="0"/>
            </a:br>
            <a:r>
              <a:rPr lang="en" sz="3200" dirty="0"/>
              <a:t>Neural QLs for QA over a KB (KBQA)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5"/>
          <p:cNvSpPr txBox="1"/>
          <p:nvPr/>
        </p:nvSpPr>
        <p:spPr>
          <a:xfrm>
            <a:off x="73500" y="2130425"/>
            <a:ext cx="6049800" cy="3748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 dirty="0"/>
              <a:t>Neural</a:t>
            </a:r>
            <a:endParaRPr dirty="0"/>
          </a:p>
        </p:txBody>
      </p:sp>
      <p:sp>
        <p:nvSpPr>
          <p:cNvPr id="794" name="Google Shape;794;p65"/>
          <p:cNvSpPr txBox="1"/>
          <p:nvPr/>
        </p:nvSpPr>
        <p:spPr>
          <a:xfrm>
            <a:off x="6123300" y="2189400"/>
            <a:ext cx="2709000" cy="29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30200">
              <a:buSzPts val="1600"/>
              <a:buAutoNum type="arabicPeriod"/>
            </a:pPr>
            <a:r>
              <a:rPr lang="en" sz="1600" dirty="0"/>
              <a:t>Define a </a:t>
            </a:r>
            <a:r>
              <a:rPr lang="en" sz="1600" b="1" dirty="0"/>
              <a:t>template</a:t>
            </a:r>
            <a:r>
              <a:rPr lang="en" sz="1600" dirty="0"/>
              <a:t> for the structured query.</a:t>
            </a:r>
            <a:endParaRPr sz="1600" dirty="0"/>
          </a:p>
          <a:p>
            <a:pPr marL="457200" indent="-330200">
              <a:buSzPts val="1600"/>
              <a:buAutoNum type="arabicPeriod"/>
            </a:pPr>
            <a:r>
              <a:rPr lang="en" sz="1600" dirty="0"/>
              <a:t>Define </a:t>
            </a:r>
            <a:r>
              <a:rPr lang="en" sz="1600" b="1" dirty="0"/>
              <a:t>neural functions</a:t>
            </a:r>
            <a:r>
              <a:rPr lang="en" sz="1600" dirty="0"/>
              <a:t> to fill each slot in the template</a:t>
            </a:r>
            <a:endParaRPr sz="1600" dirty="0"/>
          </a:p>
          <a:p>
            <a:pPr marL="457200" indent="-330200">
              <a:buSzPts val="1600"/>
              <a:buAutoNum type="arabicPeriod"/>
            </a:pPr>
            <a:r>
              <a:rPr lang="en" sz="1600" dirty="0"/>
              <a:t>Minimize loss by gradient descent </a:t>
            </a:r>
            <a:r>
              <a:rPr lang="en" sz="1600" i="1" dirty="0"/>
              <a:t>through </a:t>
            </a:r>
            <a:r>
              <a:rPr lang="en" sz="1600" dirty="0"/>
              <a:t>the neural QL to the analysis of the question to the k-hot target answer vector</a:t>
            </a:r>
            <a:endParaRPr sz="1600" dirty="0"/>
          </a:p>
        </p:txBody>
      </p:sp>
      <p:sp>
        <p:nvSpPr>
          <p:cNvPr id="795" name="Google Shape;795;p65"/>
          <p:cNvSpPr txBox="1"/>
          <p:nvPr/>
        </p:nvSpPr>
        <p:spPr>
          <a:xfrm>
            <a:off x="392050" y="2258000"/>
            <a:ext cx="4751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q</a:t>
            </a:r>
            <a:r>
              <a:rPr lang="en" i="1"/>
              <a:t> =</a:t>
            </a:r>
            <a:r>
              <a:rPr lang="en"/>
              <a:t>  “are any Google interns attending VLDB2020?”</a:t>
            </a:r>
            <a:endParaRPr/>
          </a:p>
        </p:txBody>
      </p:sp>
      <p:sp>
        <p:nvSpPr>
          <p:cNvPr id="796" name="Google Shape;796;p65"/>
          <p:cNvSpPr/>
          <p:nvPr/>
        </p:nvSpPr>
        <p:spPr>
          <a:xfrm>
            <a:off x="2657650" y="30295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97" name="Google Shape;797;p65"/>
          <p:cNvSpPr txBox="1"/>
          <p:nvPr/>
        </p:nvSpPr>
        <p:spPr>
          <a:xfrm>
            <a:off x="257350" y="3497225"/>
            <a:ext cx="5082300" cy="86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x1 = f1(q); x2 = f2(q); r1 = f3(q); r2 = f4(q)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a = </a:t>
            </a:r>
            <a:r>
              <a:rPr lang="en" u="sng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.follow(</a:t>
            </a:r>
            <a:r>
              <a:rPr lang="en" u="sng" dirty="0">
                <a:latin typeface="Calibri" panose="020F0502020204030204" pitchFamily="34" charset="0"/>
                <a:cs typeface="Calibri" panose="020F0502020204030204" pitchFamily="34" charset="0"/>
              </a:rPr>
              <a:t>r1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) &amp;  </a:t>
            </a:r>
            <a:r>
              <a:rPr lang="en" u="sng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.follow(</a:t>
            </a:r>
            <a:r>
              <a:rPr lang="en" u="sng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r2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8" name="Google Shape;798;p65"/>
          <p:cNvSpPr/>
          <p:nvPr/>
        </p:nvSpPr>
        <p:spPr>
          <a:xfrm>
            <a:off x="624725" y="4788925"/>
            <a:ext cx="926100" cy="9675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99" name="Google Shape;799;p65"/>
          <p:cNvSpPr/>
          <p:nvPr/>
        </p:nvSpPr>
        <p:spPr>
          <a:xfrm>
            <a:off x="1654668" y="5156325"/>
            <a:ext cx="3378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0" name="Google Shape;800;p65"/>
          <p:cNvSpPr txBox="1"/>
          <p:nvPr/>
        </p:nvSpPr>
        <p:spPr>
          <a:xfrm>
            <a:off x="2196375" y="4932575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Predicted answers</a:t>
            </a:r>
            <a:endParaRPr/>
          </a:p>
        </p:txBody>
      </p:sp>
      <p:sp>
        <p:nvSpPr>
          <p:cNvPr id="801" name="Google Shape;801;p65"/>
          <p:cNvSpPr txBox="1"/>
          <p:nvPr/>
        </p:nvSpPr>
        <p:spPr>
          <a:xfrm>
            <a:off x="692245" y="4948125"/>
            <a:ext cx="762000" cy="6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KB</a:t>
            </a:r>
            <a:endParaRPr/>
          </a:p>
        </p:txBody>
      </p:sp>
      <p:sp>
        <p:nvSpPr>
          <p:cNvPr id="802" name="Google Shape;802;p65"/>
          <p:cNvSpPr/>
          <p:nvPr/>
        </p:nvSpPr>
        <p:spPr>
          <a:xfrm>
            <a:off x="2657650" y="44773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3" name="Google Shape;803;p65"/>
          <p:cNvSpPr txBox="1"/>
          <p:nvPr/>
        </p:nvSpPr>
        <p:spPr>
          <a:xfrm>
            <a:off x="4454950" y="4936550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Target answers </a:t>
            </a:r>
            <a:endParaRPr/>
          </a:p>
        </p:txBody>
      </p:sp>
      <p:sp>
        <p:nvSpPr>
          <p:cNvPr id="804" name="Google Shape;804;p65"/>
          <p:cNvSpPr/>
          <p:nvPr/>
        </p:nvSpPr>
        <p:spPr>
          <a:xfrm>
            <a:off x="3490400" y="5205300"/>
            <a:ext cx="1959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5" name="Google Shape;805;p65"/>
          <p:cNvSpPr/>
          <p:nvPr/>
        </p:nvSpPr>
        <p:spPr>
          <a:xfrm rot="10800000">
            <a:off x="4176169" y="5205300"/>
            <a:ext cx="1959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6" name="Google Shape;806;p65"/>
          <p:cNvSpPr txBox="1"/>
          <p:nvPr/>
        </p:nvSpPr>
        <p:spPr>
          <a:xfrm>
            <a:off x="3652175" y="5143950"/>
            <a:ext cx="5439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/>
              <a:t>Loss</a:t>
            </a:r>
            <a:endParaRPr sz="1200"/>
          </a:p>
        </p:txBody>
      </p:sp>
      <p:grpSp>
        <p:nvGrpSpPr>
          <p:cNvPr id="807" name="Google Shape;807;p65"/>
          <p:cNvGrpSpPr/>
          <p:nvPr/>
        </p:nvGrpSpPr>
        <p:grpSpPr>
          <a:xfrm>
            <a:off x="1084000" y="3515300"/>
            <a:ext cx="7831500" cy="1481700"/>
            <a:chOff x="1084000" y="2658050"/>
            <a:chExt cx="7831500" cy="1481700"/>
          </a:xfrm>
        </p:grpSpPr>
        <p:sp>
          <p:nvSpPr>
            <p:cNvPr id="808" name="Google Shape;808;p65"/>
            <p:cNvSpPr/>
            <p:nvPr/>
          </p:nvSpPr>
          <p:spPr>
            <a:xfrm>
              <a:off x="6601000" y="2658050"/>
              <a:ext cx="2314500" cy="1481700"/>
            </a:xfrm>
            <a:prstGeom prst="rect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cxnSp>
          <p:nvCxnSpPr>
            <p:cNvPr id="809" name="Google Shape;809;p65"/>
            <p:cNvCxnSpPr/>
            <p:nvPr/>
          </p:nvCxnSpPr>
          <p:spPr>
            <a:xfrm>
              <a:off x="1084000" y="3025450"/>
              <a:ext cx="3343200" cy="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10" name="Google Shape;810;p65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10</a:t>
            </a:fld>
            <a:endParaRPr/>
          </a:p>
        </p:txBody>
      </p:sp>
      <p:sp>
        <p:nvSpPr>
          <p:cNvPr id="5" name="Google Shape;742;p62">
            <a:extLst>
              <a:ext uri="{FF2B5EF4-FFF2-40B4-BE49-F238E27FC236}">
                <a16:creationId xmlns:a16="http://schemas.microsoft.com/office/drawing/2014/main" id="{BF8A6BC7-B4EE-9D13-7484-4985C9CE5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6510"/>
            <a:ext cx="8520600" cy="135443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Motivation:</a:t>
            </a:r>
            <a:br>
              <a:rPr lang="en" dirty="0"/>
            </a:br>
            <a:r>
              <a:rPr lang="en" sz="3200" dirty="0"/>
              <a:t>Neural QLs for QA over a KB (KBQA)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7"/>
          <p:cNvSpPr txBox="1">
            <a:spLocks noGrp="1"/>
          </p:cNvSpPr>
          <p:nvPr>
            <p:ph type="title"/>
          </p:nvPr>
        </p:nvSpPr>
        <p:spPr>
          <a:xfrm>
            <a:off x="226208" y="287149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/>
              <a:t>KBQA with NQL for </a:t>
            </a:r>
            <a:r>
              <a:rPr lang="en" dirty="0" err="1"/>
              <a:t>WebQuestionsSP</a:t>
            </a:r>
            <a:endParaRPr dirty="0"/>
          </a:p>
        </p:txBody>
      </p:sp>
      <p:sp>
        <p:nvSpPr>
          <p:cNvPr id="837" name="Google Shape;837;p67"/>
          <p:cNvSpPr txBox="1">
            <a:spLocks noGrp="1"/>
          </p:cNvSpPr>
          <p:nvPr>
            <p:ph type="body" idx="1"/>
          </p:nvPr>
        </p:nvSpPr>
        <p:spPr>
          <a:xfrm>
            <a:off x="181401" y="1743828"/>
            <a:ext cx="8520600" cy="1675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sz="2000" b="1" dirty="0"/>
              <a:t>KB</a:t>
            </a:r>
            <a:r>
              <a:rPr lang="en" sz="2000" dirty="0"/>
              <a:t>: subset of </a:t>
            </a:r>
            <a:r>
              <a:rPr lang="en" sz="2000" dirty="0" err="1"/>
              <a:t>FreeBase</a:t>
            </a:r>
            <a:r>
              <a:rPr lang="en" sz="2000" dirty="0"/>
              <a:t> with 43.7m triples, 12.9m entities, 697 relations</a:t>
            </a:r>
            <a:endParaRPr sz="2000" dirty="0"/>
          </a:p>
          <a:p>
            <a:r>
              <a:rPr lang="en" sz="2000" b="1" dirty="0"/>
              <a:t>Data</a:t>
            </a:r>
            <a:r>
              <a:rPr lang="en" sz="2000" dirty="0"/>
              <a:t>: 4737 natural language questions with entity-set answers</a:t>
            </a:r>
            <a:endParaRPr sz="2000" dirty="0"/>
          </a:p>
          <a:p>
            <a:pPr lvl="1" indent="-330200">
              <a:spcBef>
                <a:spcPts val="0"/>
              </a:spcBef>
              <a:buSzPts val="1600"/>
            </a:pPr>
            <a:r>
              <a:rPr lang="en" sz="1800" dirty="0"/>
              <a:t>Every question </a:t>
            </a:r>
            <a:r>
              <a:rPr lang="en" sz="1800" i="1" dirty="0"/>
              <a:t>q</a:t>
            </a:r>
            <a:r>
              <a:rPr lang="en" sz="1800" dirty="0"/>
              <a:t> is associated with</a:t>
            </a:r>
            <a:r>
              <a:rPr lang="en" sz="2000" dirty="0"/>
              <a:t> a set of seed entities </a:t>
            </a:r>
            <a:r>
              <a:rPr lang="en" sz="2000" i="1" dirty="0"/>
              <a:t>x</a:t>
            </a:r>
            <a:endParaRPr sz="2000" i="1" dirty="0"/>
          </a:p>
          <a:p>
            <a:pPr lvl="1" indent="-330200">
              <a:spcBef>
                <a:spcPts val="0"/>
              </a:spcBef>
              <a:buSzPts val="1600"/>
            </a:pPr>
            <a:r>
              <a:rPr lang="en" sz="2000" dirty="0"/>
              <a:t>All questions are 1- or 2- hops through the KB</a:t>
            </a:r>
            <a:endParaRPr sz="2000" dirty="0"/>
          </a:p>
          <a:p>
            <a:r>
              <a:rPr lang="en" b="1" dirty="0"/>
              <a:t>Model</a:t>
            </a:r>
            <a:r>
              <a:rPr lang="en" dirty="0"/>
              <a:t>:</a:t>
            </a:r>
            <a:endParaRPr dirty="0"/>
          </a:p>
        </p:txBody>
      </p:sp>
      <p:pic>
        <p:nvPicPr>
          <p:cNvPr id="838" name="Google Shape;83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2975" y="3551976"/>
            <a:ext cx="6697451" cy="10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67"/>
          <p:cNvSpPr txBox="1">
            <a:spLocks noGrp="1"/>
          </p:cNvSpPr>
          <p:nvPr>
            <p:ph type="body" idx="1"/>
          </p:nvPr>
        </p:nvSpPr>
        <p:spPr>
          <a:xfrm>
            <a:off x="311700" y="4589001"/>
            <a:ext cx="8520600" cy="911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r>
              <a:rPr lang="en" b="1" dirty="0"/>
              <a:t>Loss: </a:t>
            </a:r>
            <a:r>
              <a:rPr lang="en" dirty="0" err="1"/>
              <a:t>softmax</a:t>
            </a:r>
            <a:r>
              <a:rPr lang="en" dirty="0"/>
              <a:t>(</a:t>
            </a:r>
            <a:r>
              <a:rPr lang="en" i="1" dirty="0"/>
              <a:t>a)</a:t>
            </a:r>
            <a:r>
              <a:rPr lang="en" dirty="0"/>
              <a:t>’s cross-entropy with target answer set</a:t>
            </a:r>
            <a:endParaRPr dirty="0"/>
          </a:p>
          <a:p>
            <a:r>
              <a:rPr lang="en" b="1" dirty="0"/>
              <a:t>Relation functions </a:t>
            </a:r>
            <a:r>
              <a:rPr lang="en" i="1" dirty="0"/>
              <a:t>f</a:t>
            </a:r>
            <a:r>
              <a:rPr lang="en" dirty="0"/>
              <a:t>: simple neural models</a:t>
            </a:r>
            <a:endParaRPr dirty="0"/>
          </a:p>
        </p:txBody>
      </p:sp>
      <p:sp>
        <p:nvSpPr>
          <p:cNvPr id="840" name="Google Shape;840;p6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8"/>
          <p:cNvSpPr txBox="1">
            <a:spLocks noGrp="1"/>
          </p:cNvSpPr>
          <p:nvPr>
            <p:ph type="title"/>
          </p:nvPr>
        </p:nvSpPr>
        <p:spPr>
          <a:xfrm>
            <a:off x="226208" y="25201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NQL:  </a:t>
            </a:r>
            <a:r>
              <a:rPr lang="en" dirty="0" err="1"/>
              <a:t>WebQuestionsSP</a:t>
            </a:r>
            <a:r>
              <a:rPr lang="en" dirty="0"/>
              <a:t> and other KBQA tasks</a:t>
            </a:r>
            <a:endParaRPr dirty="0"/>
          </a:p>
        </p:txBody>
      </p:sp>
      <p:sp>
        <p:nvSpPr>
          <p:cNvPr id="846" name="Google Shape;846;p68"/>
          <p:cNvSpPr txBox="1"/>
          <p:nvPr/>
        </p:nvSpPr>
        <p:spPr>
          <a:xfrm>
            <a:off x="1887825" y="5311834"/>
            <a:ext cx="2748300" cy="57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400" dirty="0"/>
              <a:t>1, 2, and 3-hop questions, 10 relations, O(10k) facts</a:t>
            </a:r>
            <a:endParaRPr sz="1400" dirty="0"/>
          </a:p>
        </p:txBody>
      </p:sp>
      <p:pic>
        <p:nvPicPr>
          <p:cNvPr id="847" name="Google Shape;847;p6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1" y="2027376"/>
            <a:ext cx="7258611" cy="3302201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68"/>
          <p:cNvSpPr txBox="1"/>
          <p:nvPr/>
        </p:nvSpPr>
        <p:spPr>
          <a:xfrm>
            <a:off x="4839150" y="5311759"/>
            <a:ext cx="1848600" cy="57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400" dirty="0"/>
              <a:t>Synthetic 1..5-hop  and 1..10- hop questions</a:t>
            </a:r>
            <a:endParaRPr sz="1400" dirty="0"/>
          </a:p>
        </p:txBody>
      </p:sp>
      <p:sp>
        <p:nvSpPr>
          <p:cNvPr id="849" name="Google Shape;849;p68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12</a:t>
            </a:fld>
            <a:endParaRPr/>
          </a:p>
        </p:txBody>
      </p:sp>
      <p:sp>
        <p:nvSpPr>
          <p:cNvPr id="850" name="Google Shape;850;p68"/>
          <p:cNvSpPr txBox="1"/>
          <p:nvPr/>
        </p:nvSpPr>
        <p:spPr>
          <a:xfrm>
            <a:off x="339475" y="5267434"/>
            <a:ext cx="1433400" cy="57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400" dirty="0"/>
              <a:t>~ 700 relations, noisy text</a:t>
            </a:r>
            <a:endParaRPr sz="1400" dirty="0"/>
          </a:p>
        </p:txBody>
      </p:sp>
      <p:sp>
        <p:nvSpPr>
          <p:cNvPr id="851" name="Google Shape;851;p68"/>
          <p:cNvSpPr/>
          <p:nvPr/>
        </p:nvSpPr>
        <p:spPr>
          <a:xfrm>
            <a:off x="1356200" y="2968599"/>
            <a:ext cx="404700" cy="208384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52" name="Google Shape;852;p68"/>
          <p:cNvSpPr/>
          <p:nvPr/>
        </p:nvSpPr>
        <p:spPr>
          <a:xfrm>
            <a:off x="4839150" y="2740000"/>
            <a:ext cx="2364000" cy="316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4">
          <a:extLst>
            <a:ext uri="{FF2B5EF4-FFF2-40B4-BE49-F238E27FC236}">
              <a16:creationId xmlns:a16="http://schemas.microsoft.com/office/drawing/2014/main" id="{BAC110D0-49AF-C931-63AC-1A3EB4D2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68">
            <a:extLst>
              <a:ext uri="{FF2B5EF4-FFF2-40B4-BE49-F238E27FC236}">
                <a16:creationId xmlns:a16="http://schemas.microsoft.com/office/drawing/2014/main" id="{D35943F1-6B6C-A4AF-A2B1-32A9C7E5C5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25201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NQL:  </a:t>
            </a:r>
            <a:r>
              <a:rPr lang="en" dirty="0" err="1"/>
              <a:t>WebQuestionsSP</a:t>
            </a:r>
            <a:r>
              <a:rPr lang="en" dirty="0"/>
              <a:t> and other KBQA tasks</a:t>
            </a:r>
            <a:endParaRPr dirty="0"/>
          </a:p>
        </p:txBody>
      </p:sp>
      <p:sp>
        <p:nvSpPr>
          <p:cNvPr id="846" name="Google Shape;846;p68">
            <a:extLst>
              <a:ext uri="{FF2B5EF4-FFF2-40B4-BE49-F238E27FC236}">
                <a16:creationId xmlns:a16="http://schemas.microsoft.com/office/drawing/2014/main" id="{B84A9692-F807-6164-9F3F-6FD12DCA0964}"/>
              </a:ext>
            </a:extLst>
          </p:cNvPr>
          <p:cNvSpPr txBox="1"/>
          <p:nvPr/>
        </p:nvSpPr>
        <p:spPr>
          <a:xfrm>
            <a:off x="1887825" y="5311834"/>
            <a:ext cx="2748300" cy="57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400" dirty="0"/>
              <a:t>1, 2, and 3-hop questions, 10 relations, O(10k) facts</a:t>
            </a:r>
            <a:endParaRPr sz="1400" dirty="0"/>
          </a:p>
        </p:txBody>
      </p:sp>
      <p:pic>
        <p:nvPicPr>
          <p:cNvPr id="847" name="Google Shape;847;p68" title="Chart">
            <a:extLst>
              <a:ext uri="{FF2B5EF4-FFF2-40B4-BE49-F238E27FC236}">
                <a16:creationId xmlns:a16="http://schemas.microsoft.com/office/drawing/2014/main" id="{5727C08E-CBD9-67DB-9FC4-0CC1F40116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1" y="2027376"/>
            <a:ext cx="7258611" cy="3302201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68">
            <a:extLst>
              <a:ext uri="{FF2B5EF4-FFF2-40B4-BE49-F238E27FC236}">
                <a16:creationId xmlns:a16="http://schemas.microsoft.com/office/drawing/2014/main" id="{D1D7BF7A-69A3-22B6-A2E0-4B7F5404480E}"/>
              </a:ext>
            </a:extLst>
          </p:cNvPr>
          <p:cNvSpPr txBox="1"/>
          <p:nvPr/>
        </p:nvSpPr>
        <p:spPr>
          <a:xfrm>
            <a:off x="4839150" y="5311759"/>
            <a:ext cx="1848600" cy="57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400" dirty="0"/>
              <a:t>Synthetic 1..5-hop  and 1..10- hop questions</a:t>
            </a:r>
            <a:endParaRPr sz="1400" dirty="0"/>
          </a:p>
        </p:txBody>
      </p:sp>
      <p:sp>
        <p:nvSpPr>
          <p:cNvPr id="849" name="Google Shape;849;p68">
            <a:extLst>
              <a:ext uri="{FF2B5EF4-FFF2-40B4-BE49-F238E27FC236}">
                <a16:creationId xmlns:a16="http://schemas.microsoft.com/office/drawing/2014/main" id="{4DD657E6-0F13-81B3-7BE6-1C3FC70B07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13</a:t>
            </a:fld>
            <a:endParaRPr/>
          </a:p>
        </p:txBody>
      </p:sp>
      <p:sp>
        <p:nvSpPr>
          <p:cNvPr id="850" name="Google Shape;850;p68">
            <a:extLst>
              <a:ext uri="{FF2B5EF4-FFF2-40B4-BE49-F238E27FC236}">
                <a16:creationId xmlns:a16="http://schemas.microsoft.com/office/drawing/2014/main" id="{88204A87-155A-538C-92EC-C8AD82A6C70E}"/>
              </a:ext>
            </a:extLst>
          </p:cNvPr>
          <p:cNvSpPr txBox="1"/>
          <p:nvPr/>
        </p:nvSpPr>
        <p:spPr>
          <a:xfrm>
            <a:off x="339475" y="5267434"/>
            <a:ext cx="1433400" cy="57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400" dirty="0"/>
              <a:t>~ 700 relations, noisy text</a:t>
            </a:r>
            <a:endParaRPr sz="1400" dirty="0"/>
          </a:p>
        </p:txBody>
      </p:sp>
      <p:sp>
        <p:nvSpPr>
          <p:cNvPr id="852" name="Google Shape;852;p68">
            <a:extLst>
              <a:ext uri="{FF2B5EF4-FFF2-40B4-BE49-F238E27FC236}">
                <a16:creationId xmlns:a16="http://schemas.microsoft.com/office/drawing/2014/main" id="{8738EF37-4E6E-9C5D-1EBA-503BF0D7AA75}"/>
              </a:ext>
            </a:extLst>
          </p:cNvPr>
          <p:cNvSpPr/>
          <p:nvPr/>
        </p:nvSpPr>
        <p:spPr>
          <a:xfrm>
            <a:off x="4839150" y="2740000"/>
            <a:ext cx="2364000" cy="316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40091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>
          <a:extLst>
            <a:ext uri="{FF2B5EF4-FFF2-40B4-BE49-F238E27FC236}">
              <a16:creationId xmlns:a16="http://schemas.microsoft.com/office/drawing/2014/main" id="{ECF15071-5C8E-6A32-F6DB-54672D80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0">
            <a:extLst>
              <a:ext uri="{FF2B5EF4-FFF2-40B4-BE49-F238E27FC236}">
                <a16:creationId xmlns:a16="http://schemas.microsoft.com/office/drawing/2014/main" id="{AEB37D4A-0CEE-FAB7-1241-4BA35BD54A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1600" y="46995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Other concurrent work….</a:t>
            </a:r>
            <a:endParaRPr dirty="0"/>
          </a:p>
        </p:txBody>
      </p:sp>
      <p:sp>
        <p:nvSpPr>
          <p:cNvPr id="725" name="Google Shape;725;p60">
            <a:extLst>
              <a:ext uri="{FF2B5EF4-FFF2-40B4-BE49-F238E27FC236}">
                <a16:creationId xmlns:a16="http://schemas.microsoft.com/office/drawing/2014/main" id="{DED9A0E0-D4CD-0268-0857-97BE68514C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367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Recovering latent factors in a matrix</a:t>
            </a:r>
          </a:p>
        </p:txBody>
      </p:sp>
      <p:sp>
        <p:nvSpPr>
          <p:cNvPr id="5" name="Double Bracket 4"/>
          <p:cNvSpPr/>
          <p:nvPr/>
        </p:nvSpPr>
        <p:spPr>
          <a:xfrm>
            <a:off x="1102322" y="2415292"/>
            <a:ext cx="1093576" cy="2880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2819117" y="2403533"/>
            <a:ext cx="2304742" cy="72901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y 6"/>
          <p:cNvSpPr/>
          <p:nvPr/>
        </p:nvSpPr>
        <p:spPr>
          <a:xfrm>
            <a:off x="2307604" y="2650462"/>
            <a:ext cx="223418" cy="282198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 7"/>
          <p:cNvSpPr/>
          <p:nvPr/>
        </p:nvSpPr>
        <p:spPr>
          <a:xfrm>
            <a:off x="5325152" y="2509361"/>
            <a:ext cx="280822" cy="282202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Double Bracket 8"/>
          <p:cNvSpPr/>
          <p:nvPr/>
        </p:nvSpPr>
        <p:spPr>
          <a:xfrm>
            <a:off x="6015666" y="2415291"/>
            <a:ext cx="2544802" cy="288077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504146" y="1575624"/>
            <a:ext cx="972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dirty="0"/>
              <a:t> terms</a:t>
            </a:r>
          </a:p>
        </p:txBody>
      </p:sp>
      <p:sp>
        <p:nvSpPr>
          <p:cNvPr id="11" name="Right Brace 10"/>
          <p:cNvSpPr/>
          <p:nvPr/>
        </p:nvSpPr>
        <p:spPr>
          <a:xfrm rot="16200000">
            <a:off x="3809297" y="983161"/>
            <a:ext cx="324381" cy="230474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 rot="16200000">
            <a:off x="-508933" y="3652969"/>
            <a:ext cx="1395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</a:t>
            </a:r>
            <a:r>
              <a:rPr lang="en-US" dirty="0"/>
              <a:t>documents</a:t>
            </a:r>
          </a:p>
        </p:txBody>
      </p:sp>
      <p:sp>
        <p:nvSpPr>
          <p:cNvPr id="13" name="Right Brace 12"/>
          <p:cNvSpPr/>
          <p:nvPr/>
        </p:nvSpPr>
        <p:spPr>
          <a:xfrm rot="16200000">
            <a:off x="7172711" y="938351"/>
            <a:ext cx="352767" cy="2422747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 rot="10800000">
            <a:off x="457200" y="2415292"/>
            <a:ext cx="324382" cy="289253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901998" y="1543358"/>
            <a:ext cx="1615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doc term matrix</a:t>
            </a:r>
            <a:endParaRPr lang="en-US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222924" y="2509361"/>
          <a:ext cx="972974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xn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yn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902118" y="246708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bm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255310" y="256600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255310" y="3341807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vij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55310" y="4654902"/>
          <a:ext cx="217581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vnm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261222" y="2111144"/>
            <a:ext cx="4283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~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23859" y="5506328"/>
            <a:ext cx="373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V[</a:t>
            </a:r>
            <a:r>
              <a:rPr lang="en-US" dirty="0" err="1"/>
              <a:t>i,j</a:t>
            </a:r>
            <a:r>
              <a:rPr lang="en-US" dirty="0"/>
              <a:t>] = TFIDF score of term j in doc </a:t>
            </a:r>
            <a:r>
              <a:rPr lang="en-US" dirty="0" err="1"/>
              <a:t>i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03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1C149-38C2-1A46-A36A-C057A762E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C679-0D51-853B-13DB-8880512AE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Recovering latent structure in a relationship from a KB</a:t>
            </a:r>
          </a:p>
        </p:txBody>
      </p:sp>
      <p:sp>
        <p:nvSpPr>
          <p:cNvPr id="5" name="Double Bracket 4">
            <a:extLst>
              <a:ext uri="{FF2B5EF4-FFF2-40B4-BE49-F238E27FC236}">
                <a16:creationId xmlns:a16="http://schemas.microsoft.com/office/drawing/2014/main" id="{3E8F0BB1-E333-2D30-D1D5-CFA6F5A84EE3}"/>
              </a:ext>
            </a:extLst>
          </p:cNvPr>
          <p:cNvSpPr/>
          <p:nvPr/>
        </p:nvSpPr>
        <p:spPr>
          <a:xfrm>
            <a:off x="1102322" y="2415292"/>
            <a:ext cx="1093576" cy="2880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>
            <a:extLst>
              <a:ext uri="{FF2B5EF4-FFF2-40B4-BE49-F238E27FC236}">
                <a16:creationId xmlns:a16="http://schemas.microsoft.com/office/drawing/2014/main" id="{3C95754B-F851-C92F-5DB4-B34D1308D5AF}"/>
              </a:ext>
            </a:extLst>
          </p:cNvPr>
          <p:cNvSpPr/>
          <p:nvPr/>
        </p:nvSpPr>
        <p:spPr>
          <a:xfrm>
            <a:off x="2819117" y="2403533"/>
            <a:ext cx="2304742" cy="72901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y 6">
            <a:extLst>
              <a:ext uri="{FF2B5EF4-FFF2-40B4-BE49-F238E27FC236}">
                <a16:creationId xmlns:a16="http://schemas.microsoft.com/office/drawing/2014/main" id="{9D763C37-D8E3-C155-E573-16E3A87A2B51}"/>
              </a:ext>
            </a:extLst>
          </p:cNvPr>
          <p:cNvSpPr/>
          <p:nvPr/>
        </p:nvSpPr>
        <p:spPr>
          <a:xfrm>
            <a:off x="2307604" y="2650462"/>
            <a:ext cx="223418" cy="282198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qual 7">
            <a:extLst>
              <a:ext uri="{FF2B5EF4-FFF2-40B4-BE49-F238E27FC236}">
                <a16:creationId xmlns:a16="http://schemas.microsoft.com/office/drawing/2014/main" id="{6324E7B7-A56E-8485-2CE0-DD61B2BECE02}"/>
              </a:ext>
            </a:extLst>
          </p:cNvPr>
          <p:cNvSpPr/>
          <p:nvPr/>
        </p:nvSpPr>
        <p:spPr>
          <a:xfrm>
            <a:off x="5325152" y="2509361"/>
            <a:ext cx="280822" cy="282202"/>
          </a:xfrm>
          <a:prstGeom prst="mathEqua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Double Bracket 8">
            <a:extLst>
              <a:ext uri="{FF2B5EF4-FFF2-40B4-BE49-F238E27FC236}">
                <a16:creationId xmlns:a16="http://schemas.microsoft.com/office/drawing/2014/main" id="{6DF7A132-517D-36C9-6CDC-A242A64C3B57}"/>
              </a:ext>
            </a:extLst>
          </p:cNvPr>
          <p:cNvSpPr/>
          <p:nvPr/>
        </p:nvSpPr>
        <p:spPr>
          <a:xfrm>
            <a:off x="6015666" y="2415291"/>
            <a:ext cx="2544802" cy="288077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AFD9EA-7B18-6733-C1B9-0E46135FBA82}"/>
              </a:ext>
            </a:extLst>
          </p:cNvPr>
          <p:cNvSpPr txBox="1"/>
          <p:nvPr/>
        </p:nvSpPr>
        <p:spPr>
          <a:xfrm>
            <a:off x="3504146" y="1575624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</a:t>
            </a:r>
            <a:r>
              <a:rPr lang="en-US" dirty="0"/>
              <a:t> people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DF437C61-9C46-CA6F-D279-FB46B99C0F79}"/>
              </a:ext>
            </a:extLst>
          </p:cNvPr>
          <p:cNvSpPr/>
          <p:nvPr/>
        </p:nvSpPr>
        <p:spPr>
          <a:xfrm rot="16200000">
            <a:off x="3809297" y="983161"/>
            <a:ext cx="324381" cy="230474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59D7F6-B55E-97E2-D571-580829B1BA2E}"/>
              </a:ext>
            </a:extLst>
          </p:cNvPr>
          <p:cNvSpPr txBox="1"/>
          <p:nvPr/>
        </p:nvSpPr>
        <p:spPr>
          <a:xfrm rot="16200000">
            <a:off x="-305060" y="3652969"/>
            <a:ext cx="987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 </a:t>
            </a:r>
            <a:r>
              <a:rPr lang="en-US" dirty="0"/>
              <a:t>people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3C79CC69-C32B-CEEF-0936-6A60C1CB95CB}"/>
              </a:ext>
            </a:extLst>
          </p:cNvPr>
          <p:cNvSpPr/>
          <p:nvPr/>
        </p:nvSpPr>
        <p:spPr>
          <a:xfrm rot="16200000">
            <a:off x="7172711" y="938351"/>
            <a:ext cx="352767" cy="2422747"/>
          </a:xfrm>
          <a:prstGeom prst="rightBrace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1B4932FB-6760-3C11-D204-766FB8B4E311}"/>
              </a:ext>
            </a:extLst>
          </p:cNvPr>
          <p:cNvSpPr/>
          <p:nvPr/>
        </p:nvSpPr>
        <p:spPr>
          <a:xfrm rot="10800000">
            <a:off x="457200" y="2415292"/>
            <a:ext cx="324382" cy="2892531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B0A3A-9525-8C6D-A50F-4625C760C1FE}"/>
              </a:ext>
            </a:extLst>
          </p:cNvPr>
          <p:cNvSpPr txBox="1"/>
          <p:nvPr/>
        </p:nvSpPr>
        <p:spPr>
          <a:xfrm>
            <a:off x="6255310" y="1546449"/>
            <a:ext cx="1923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/>
              <a:t>coauthorship</a:t>
            </a:r>
            <a:r>
              <a:rPr lang="en-US" i="1" dirty="0"/>
              <a:t> matrix</a:t>
            </a:r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6DA6C95-8A2A-50C8-EA64-87BAC566DF44}"/>
              </a:ext>
            </a:extLst>
          </p:cNvPr>
          <p:cNvGraphicFramePr>
            <a:graphicFrameLocks noGrp="1"/>
          </p:cNvGraphicFramePr>
          <p:nvPr/>
        </p:nvGraphicFramePr>
        <p:xfrm>
          <a:off x="1222924" y="2509361"/>
          <a:ext cx="972974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64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x2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y2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75"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xn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yn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0A81583-9216-826A-3A60-5D06335B9E47}"/>
              </a:ext>
            </a:extLst>
          </p:cNvPr>
          <p:cNvGraphicFramePr>
            <a:graphicFrameLocks noGrp="1"/>
          </p:cNvGraphicFramePr>
          <p:nvPr/>
        </p:nvGraphicFramePr>
        <p:xfrm>
          <a:off x="2902118" y="246708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bm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CB874B9-F033-95E5-3915-01DDE670847A}"/>
              </a:ext>
            </a:extLst>
          </p:cNvPr>
          <p:cNvGraphicFramePr>
            <a:graphicFrameLocks noGrp="1"/>
          </p:cNvGraphicFramePr>
          <p:nvPr/>
        </p:nvGraphicFramePr>
        <p:xfrm>
          <a:off x="6255310" y="2566003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v11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51BD9CF-EF60-6511-DDAF-E9D96E8FC6AB}"/>
              </a:ext>
            </a:extLst>
          </p:cNvPr>
          <p:cNvGraphicFramePr>
            <a:graphicFrameLocks noGrp="1"/>
          </p:cNvGraphicFramePr>
          <p:nvPr/>
        </p:nvGraphicFramePr>
        <p:xfrm>
          <a:off x="6255310" y="3341807"/>
          <a:ext cx="207189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latin typeface="Cambria Math"/>
                          <a:cs typeface="Cambria Math"/>
                        </a:rPr>
                        <a:t>vij</a:t>
                      </a:r>
                      <a:endParaRPr lang="en-US" sz="12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BA8A2229-F59E-4D6C-B340-9CBAABA2989B}"/>
              </a:ext>
            </a:extLst>
          </p:cNvPr>
          <p:cNvGraphicFramePr>
            <a:graphicFrameLocks noGrp="1"/>
          </p:cNvGraphicFramePr>
          <p:nvPr/>
        </p:nvGraphicFramePr>
        <p:xfrm>
          <a:off x="6255310" y="4654902"/>
          <a:ext cx="2175810" cy="5665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5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4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Cambria Math"/>
                          <a:cs typeface="Cambria Math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71"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latin typeface="Cambria Math"/>
                          <a:cs typeface="Cambria Math"/>
                        </a:rPr>
                        <a:t>vnm</a:t>
                      </a:r>
                      <a:endParaRPr lang="en-US" sz="1100" dirty="0">
                        <a:latin typeface="Cambria Math"/>
                        <a:cs typeface="Cambria Math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DA0E9F68-1F1B-B91F-92E6-58801F351B98}"/>
              </a:ext>
            </a:extLst>
          </p:cNvPr>
          <p:cNvSpPr txBox="1"/>
          <p:nvPr/>
        </p:nvSpPr>
        <p:spPr>
          <a:xfrm>
            <a:off x="5261222" y="2111144"/>
            <a:ext cx="4283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~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849F97-D239-03A5-3729-BC84A5210A78}"/>
              </a:ext>
            </a:extLst>
          </p:cNvPr>
          <p:cNvSpPr txBox="1"/>
          <p:nvPr/>
        </p:nvSpPr>
        <p:spPr>
          <a:xfrm>
            <a:off x="5123859" y="5506328"/>
            <a:ext cx="3730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V[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i,j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] = (1 if coauthor(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i,j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 else 0)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32214A-65DB-82E3-979B-2B16EF0E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0E2B87A-DEDB-AD82-0DF7-114F0BDFF014}"/>
              </a:ext>
            </a:extLst>
          </p:cNvPr>
          <p:cNvGrpSpPr/>
          <p:nvPr/>
        </p:nvGrpSpPr>
        <p:grpSpPr>
          <a:xfrm>
            <a:off x="2661815" y="4836610"/>
            <a:ext cx="2342222" cy="1141249"/>
            <a:chOff x="6154488" y="1219351"/>
            <a:chExt cx="2342222" cy="1141249"/>
          </a:xfrm>
        </p:grpSpPr>
        <p:pic>
          <p:nvPicPr>
            <p:cNvPr id="4" name="Google Shape;874;p70">
              <a:extLst>
                <a:ext uri="{FF2B5EF4-FFF2-40B4-BE49-F238E27FC236}">
                  <a16:creationId xmlns:a16="http://schemas.microsoft.com/office/drawing/2014/main" id="{68534494-7400-11F0-7199-2769ED0E83C6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757963" y="1848200"/>
              <a:ext cx="512400" cy="51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875;p70">
              <a:extLst>
                <a:ext uri="{FF2B5EF4-FFF2-40B4-BE49-F238E27FC236}">
                  <a16:creationId xmlns:a16="http://schemas.microsoft.com/office/drawing/2014/main" id="{2029FABB-7B74-DE88-8D19-BC1266E2898A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648986" y="1848188"/>
              <a:ext cx="446217" cy="512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876;p70">
              <a:extLst>
                <a:ext uri="{FF2B5EF4-FFF2-40B4-BE49-F238E27FC236}">
                  <a16:creationId xmlns:a16="http://schemas.microsoft.com/office/drawing/2014/main" id="{D7F273F7-AF9A-00E0-5320-C1E53BFC191A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70364" y="1219351"/>
              <a:ext cx="757239" cy="25612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5" name="Google Shape;877;p70">
              <a:extLst>
                <a:ext uri="{FF2B5EF4-FFF2-40B4-BE49-F238E27FC236}">
                  <a16:creationId xmlns:a16="http://schemas.microsoft.com/office/drawing/2014/main" id="{A358EB66-DE0D-1547-A3F8-C6E89B7D03C3}"/>
                </a:ext>
              </a:extLst>
            </p:cNvPr>
            <p:cNvCxnSpPr>
              <a:stCxn id="18" idx="2"/>
              <a:endCxn id="16" idx="0"/>
            </p:cNvCxnSpPr>
            <p:nvPr/>
          </p:nvCxnSpPr>
          <p:spPr>
            <a:xfrm>
              <a:off x="7648982" y="1475475"/>
              <a:ext cx="223200" cy="372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878;p70">
              <a:extLst>
                <a:ext uri="{FF2B5EF4-FFF2-40B4-BE49-F238E27FC236}">
                  <a16:creationId xmlns:a16="http://schemas.microsoft.com/office/drawing/2014/main" id="{1C060821-C56B-EC2D-8F14-7FC69E0C6B09}"/>
                </a:ext>
              </a:extLst>
            </p:cNvPr>
            <p:cNvCxnSpPr>
              <a:stCxn id="16" idx="1"/>
              <a:endCxn id="4" idx="3"/>
            </p:cNvCxnSpPr>
            <p:nvPr/>
          </p:nvCxnSpPr>
          <p:spPr>
            <a:xfrm rot="10800000">
              <a:off x="7270385" y="2104388"/>
              <a:ext cx="3786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879;p70">
              <a:extLst>
                <a:ext uri="{FF2B5EF4-FFF2-40B4-BE49-F238E27FC236}">
                  <a16:creationId xmlns:a16="http://schemas.microsoft.com/office/drawing/2014/main" id="{5F7F448E-B479-4277-7A3F-251B001E86F1}"/>
                </a:ext>
              </a:extLst>
            </p:cNvPr>
            <p:cNvCxnSpPr>
              <a:cxnSpLocks/>
            </p:cNvCxnSpPr>
            <p:nvPr/>
          </p:nvCxnSpPr>
          <p:spPr>
            <a:xfrm>
              <a:off x="6881513" y="1541350"/>
              <a:ext cx="773400" cy="3432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880;p70">
              <a:extLst>
                <a:ext uri="{FF2B5EF4-FFF2-40B4-BE49-F238E27FC236}">
                  <a16:creationId xmlns:a16="http://schemas.microsoft.com/office/drawing/2014/main" id="{4EA61134-EF05-B33B-383A-81B86456D8BE}"/>
                </a:ext>
              </a:extLst>
            </p:cNvPr>
            <p:cNvCxnSpPr>
              <a:cxnSpLocks/>
            </p:cNvCxnSpPr>
            <p:nvPr/>
          </p:nvCxnSpPr>
          <p:spPr>
            <a:xfrm>
              <a:off x="6661063" y="1688300"/>
              <a:ext cx="96900" cy="3243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29" name="Google Shape;881;p70">
              <a:extLst>
                <a:ext uri="{FF2B5EF4-FFF2-40B4-BE49-F238E27FC236}">
                  <a16:creationId xmlns:a16="http://schemas.microsoft.com/office/drawing/2014/main" id="{732A8A34-DCDF-D33E-BEB6-A5B4FC54D565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69113" y="1223641"/>
              <a:ext cx="512398" cy="50453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0" name="Google Shape;882;p70">
              <a:extLst>
                <a:ext uri="{FF2B5EF4-FFF2-40B4-BE49-F238E27FC236}">
                  <a16:creationId xmlns:a16="http://schemas.microsoft.com/office/drawing/2014/main" id="{01FA5218-8481-386A-C339-68F62FCA604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118110" y="2104388"/>
              <a:ext cx="378600" cy="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883;p70">
              <a:extLst>
                <a:ext uri="{FF2B5EF4-FFF2-40B4-BE49-F238E27FC236}">
                  <a16:creationId xmlns:a16="http://schemas.microsoft.com/office/drawing/2014/main" id="{F604B5FB-57B0-AE1F-8E9D-1F92073D90B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117988" y="1333050"/>
              <a:ext cx="233100" cy="232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884;p70">
              <a:extLst>
                <a:ext uri="{FF2B5EF4-FFF2-40B4-BE49-F238E27FC236}">
                  <a16:creationId xmlns:a16="http://schemas.microsoft.com/office/drawing/2014/main" id="{A6951A31-D19C-A5A9-9F19-E8D000D6BBD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6154488" y="1231013"/>
              <a:ext cx="233100" cy="232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886;p70">
              <a:extLst>
                <a:ext uri="{FF2B5EF4-FFF2-40B4-BE49-F238E27FC236}">
                  <a16:creationId xmlns:a16="http://schemas.microsoft.com/office/drawing/2014/main" id="{EA389F2B-191E-D7C8-7913-1E339AC8F482}"/>
                </a:ext>
              </a:extLst>
            </p:cNvPr>
            <p:cNvCxnSpPr>
              <a:stCxn id="18" idx="2"/>
              <a:endCxn id="4" idx="0"/>
            </p:cNvCxnSpPr>
            <p:nvPr/>
          </p:nvCxnSpPr>
          <p:spPr>
            <a:xfrm flipH="1">
              <a:off x="7014182" y="1475475"/>
              <a:ext cx="634800" cy="3726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40" name="Google Shape;871;p70">
            <a:extLst>
              <a:ext uri="{FF2B5EF4-FFF2-40B4-BE49-F238E27FC236}">
                <a16:creationId xmlns:a16="http://schemas.microsoft.com/office/drawing/2014/main" id="{C941EAE4-E9CA-9DA7-1D26-8D225B8EB059}"/>
              </a:ext>
            </a:extLst>
          </p:cNvPr>
          <p:cNvSpPr txBox="1"/>
          <p:nvPr/>
        </p:nvSpPr>
        <p:spPr>
          <a:xfrm>
            <a:off x="2779288" y="3487381"/>
            <a:ext cx="24183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i="1" dirty="0"/>
              <a:t>coauthor(</a:t>
            </a:r>
            <a:r>
              <a:rPr lang="en" i="1" dirty="0" err="1"/>
              <a:t>wc</a:t>
            </a:r>
            <a:r>
              <a:rPr lang="en" i="1" dirty="0"/>
              <a:t>, </a:t>
            </a:r>
            <a:r>
              <a:rPr lang="en" i="1" dirty="0" err="1"/>
              <a:t>hsun</a:t>
            </a:r>
            <a:r>
              <a:rPr lang="en" i="1" dirty="0"/>
              <a:t>)</a:t>
            </a:r>
          </a:p>
          <a:p>
            <a:r>
              <a:rPr lang="en" i="1" dirty="0" err="1"/>
              <a:t>coauth</a:t>
            </a:r>
            <a:r>
              <a:rPr lang="en-US" i="1" dirty="0"/>
              <a:t>o</a:t>
            </a:r>
            <a:r>
              <a:rPr lang="en" i="1" dirty="0"/>
              <a:t>r(</a:t>
            </a:r>
            <a:r>
              <a:rPr lang="en" i="1" dirty="0" err="1"/>
              <a:t>wc,tom</a:t>
            </a:r>
            <a:endParaRPr i="1" dirty="0"/>
          </a:p>
          <a:p>
            <a:r>
              <a:rPr lang="en" i="1" dirty="0"/>
              <a:t>...</a:t>
            </a:r>
            <a:endParaRPr i="1" dirty="0"/>
          </a:p>
        </p:txBody>
      </p:sp>
    </p:spTree>
    <p:extLst>
      <p:ext uri="{BB962C8B-B14F-4D97-AF65-F5344CB8AC3E}">
        <p14:creationId xmlns:p14="http://schemas.microsoft.com/office/powerpoint/2010/main" val="4092939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>
          <a:extLst>
            <a:ext uri="{FF2B5EF4-FFF2-40B4-BE49-F238E27FC236}">
              <a16:creationId xmlns:a16="http://schemas.microsoft.com/office/drawing/2014/main" id="{C638979A-9495-6024-B6D7-A20320C30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0">
            <a:extLst>
              <a:ext uri="{FF2B5EF4-FFF2-40B4-BE49-F238E27FC236}">
                <a16:creationId xmlns:a16="http://schemas.microsoft.com/office/drawing/2014/main" id="{6407E284-B859-B977-D2D8-D30728E93E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325" y="2257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Knowledge Base completion</a:t>
            </a:r>
            <a:endParaRPr dirty="0"/>
          </a:p>
        </p:txBody>
      </p:sp>
      <p:grpSp>
        <p:nvGrpSpPr>
          <p:cNvPr id="864" name="Google Shape;864;p70">
            <a:extLst>
              <a:ext uri="{FF2B5EF4-FFF2-40B4-BE49-F238E27FC236}">
                <a16:creationId xmlns:a16="http://schemas.microsoft.com/office/drawing/2014/main" id="{0A0097FF-B89A-3C4F-097A-3B4234C115C0}"/>
              </a:ext>
            </a:extLst>
          </p:cNvPr>
          <p:cNvGrpSpPr/>
          <p:nvPr/>
        </p:nvGrpSpPr>
        <p:grpSpPr>
          <a:xfrm>
            <a:off x="1468502" y="3509204"/>
            <a:ext cx="1066830" cy="744575"/>
            <a:chOff x="1679875" y="1769850"/>
            <a:chExt cx="878700" cy="547200"/>
          </a:xfrm>
        </p:grpSpPr>
        <p:sp>
          <p:nvSpPr>
            <p:cNvPr id="865" name="Google Shape;865;p70">
              <a:extLst>
                <a:ext uri="{FF2B5EF4-FFF2-40B4-BE49-F238E27FC236}">
                  <a16:creationId xmlns:a16="http://schemas.microsoft.com/office/drawing/2014/main" id="{22B6554D-F3DC-C7E6-E79A-E0E222BBA88E}"/>
                </a:ext>
              </a:extLst>
            </p:cNvPr>
            <p:cNvSpPr/>
            <p:nvPr/>
          </p:nvSpPr>
          <p:spPr>
            <a:xfrm>
              <a:off x="1679875" y="1798950"/>
              <a:ext cx="878700" cy="4890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66" name="Google Shape;866;p70">
              <a:extLst>
                <a:ext uri="{FF2B5EF4-FFF2-40B4-BE49-F238E27FC236}">
                  <a16:creationId xmlns:a16="http://schemas.microsoft.com/office/drawing/2014/main" id="{CCE5A270-8C7F-289A-277F-F28DBC5BCEEF}"/>
                </a:ext>
              </a:extLst>
            </p:cNvPr>
            <p:cNvSpPr txBox="1"/>
            <p:nvPr/>
          </p:nvSpPr>
          <p:spPr>
            <a:xfrm>
              <a:off x="1679875" y="1769850"/>
              <a:ext cx="878700" cy="54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True</a:t>
              </a:r>
              <a:endParaRPr/>
            </a:p>
            <a:p>
              <a:pPr algn="ctr"/>
              <a:r>
                <a:rPr lang="en"/>
                <a:t>Triples</a:t>
              </a:r>
              <a:endParaRPr/>
            </a:p>
          </p:txBody>
        </p:sp>
      </p:grpSp>
      <p:sp>
        <p:nvSpPr>
          <p:cNvPr id="867" name="Google Shape;867;p70">
            <a:extLst>
              <a:ext uri="{FF2B5EF4-FFF2-40B4-BE49-F238E27FC236}">
                <a16:creationId xmlns:a16="http://schemas.microsoft.com/office/drawing/2014/main" id="{8A7C4B5A-B4E4-3A13-44E9-EEAE6ABCFC32}"/>
              </a:ext>
            </a:extLst>
          </p:cNvPr>
          <p:cNvSpPr/>
          <p:nvPr/>
        </p:nvSpPr>
        <p:spPr>
          <a:xfrm>
            <a:off x="1307321" y="3446342"/>
            <a:ext cx="3338700" cy="870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endParaRPr/>
          </a:p>
        </p:txBody>
      </p:sp>
      <p:sp>
        <p:nvSpPr>
          <p:cNvPr id="868" name="Google Shape;868;p70">
            <a:extLst>
              <a:ext uri="{FF2B5EF4-FFF2-40B4-BE49-F238E27FC236}">
                <a16:creationId xmlns:a16="http://schemas.microsoft.com/office/drawing/2014/main" id="{A7CE58DC-ECD4-6590-5B2B-A004EC76F448}"/>
              </a:ext>
            </a:extLst>
          </p:cNvPr>
          <p:cNvSpPr txBox="1"/>
          <p:nvPr/>
        </p:nvSpPr>
        <p:spPr>
          <a:xfrm>
            <a:off x="1212925" y="3382425"/>
            <a:ext cx="3338700" cy="9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/>
              <a:t>Plausible</a:t>
            </a:r>
            <a:endParaRPr/>
          </a:p>
          <a:p>
            <a:pPr algn="r"/>
            <a:r>
              <a:rPr lang="en"/>
              <a:t>Triples</a:t>
            </a:r>
            <a:endParaRPr/>
          </a:p>
        </p:txBody>
      </p:sp>
      <p:cxnSp>
        <p:nvCxnSpPr>
          <p:cNvPr id="869" name="Google Shape;869;p70">
            <a:extLst>
              <a:ext uri="{FF2B5EF4-FFF2-40B4-BE49-F238E27FC236}">
                <a16:creationId xmlns:a16="http://schemas.microsoft.com/office/drawing/2014/main" id="{E4D25753-A021-5ADF-9296-1AA84A84D820}"/>
              </a:ext>
            </a:extLst>
          </p:cNvPr>
          <p:cNvCxnSpPr/>
          <p:nvPr/>
        </p:nvCxnSpPr>
        <p:spPr>
          <a:xfrm>
            <a:off x="1440306" y="4691072"/>
            <a:ext cx="3055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0" name="Google Shape;870;p70">
            <a:extLst>
              <a:ext uri="{FF2B5EF4-FFF2-40B4-BE49-F238E27FC236}">
                <a16:creationId xmlns:a16="http://schemas.microsoft.com/office/drawing/2014/main" id="{F5A9F982-8904-1503-CBBA-AF000BBECF5F}"/>
              </a:ext>
            </a:extLst>
          </p:cNvPr>
          <p:cNvSpPr txBox="1"/>
          <p:nvPr/>
        </p:nvSpPr>
        <p:spPr>
          <a:xfrm>
            <a:off x="1670115" y="4641986"/>
            <a:ext cx="22752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i="1"/>
              <a:t>generalization</a:t>
            </a:r>
            <a:endParaRPr i="1"/>
          </a:p>
        </p:txBody>
      </p:sp>
      <p:sp>
        <p:nvSpPr>
          <p:cNvPr id="871" name="Google Shape;871;p70">
            <a:extLst>
              <a:ext uri="{FF2B5EF4-FFF2-40B4-BE49-F238E27FC236}">
                <a16:creationId xmlns:a16="http://schemas.microsoft.com/office/drawing/2014/main" id="{429EC85F-5307-3EFB-146E-B36D5957691B}"/>
              </a:ext>
            </a:extLst>
          </p:cNvPr>
          <p:cNvSpPr txBox="1"/>
          <p:nvPr/>
        </p:nvSpPr>
        <p:spPr>
          <a:xfrm>
            <a:off x="1027250" y="2507050"/>
            <a:ext cx="24183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i="1" dirty="0" err="1"/>
              <a:t>worksAt</a:t>
            </a:r>
            <a:r>
              <a:rPr lang="en" i="1" dirty="0"/>
              <a:t>(</a:t>
            </a:r>
            <a:r>
              <a:rPr lang="en" i="1" dirty="0" err="1"/>
              <a:t>wc</a:t>
            </a:r>
            <a:r>
              <a:rPr lang="en" i="1" dirty="0"/>
              <a:t>, google)</a:t>
            </a:r>
            <a:endParaRPr i="1" dirty="0"/>
          </a:p>
          <a:p>
            <a:r>
              <a:rPr lang="en" i="1" dirty="0"/>
              <a:t>coauthor(</a:t>
            </a:r>
            <a:r>
              <a:rPr lang="en" i="1" dirty="0" err="1"/>
              <a:t>wc</a:t>
            </a:r>
            <a:r>
              <a:rPr lang="en" i="1" dirty="0"/>
              <a:t>, </a:t>
            </a:r>
            <a:r>
              <a:rPr lang="en" i="1" dirty="0" err="1"/>
              <a:t>hsun</a:t>
            </a:r>
            <a:r>
              <a:rPr lang="en" i="1" dirty="0"/>
              <a:t>)</a:t>
            </a:r>
            <a:endParaRPr i="1" dirty="0"/>
          </a:p>
          <a:p>
            <a:r>
              <a:rPr lang="en" i="1" dirty="0"/>
              <a:t>...</a:t>
            </a:r>
            <a:endParaRPr i="1" dirty="0"/>
          </a:p>
        </p:txBody>
      </p:sp>
      <p:sp>
        <p:nvSpPr>
          <p:cNvPr id="872" name="Google Shape;872;p70">
            <a:extLst>
              <a:ext uri="{FF2B5EF4-FFF2-40B4-BE49-F238E27FC236}">
                <a16:creationId xmlns:a16="http://schemas.microsoft.com/office/drawing/2014/main" id="{509B6600-8A73-2292-C730-00DE18F6AA9A}"/>
              </a:ext>
            </a:extLst>
          </p:cNvPr>
          <p:cNvSpPr txBox="1"/>
          <p:nvPr/>
        </p:nvSpPr>
        <p:spPr>
          <a:xfrm>
            <a:off x="3043000" y="2574850"/>
            <a:ext cx="211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i="1">
                <a:solidFill>
                  <a:srgbClr val="666666"/>
                </a:solidFill>
              </a:rPr>
              <a:t>worksAt(hsun, google) </a:t>
            </a:r>
            <a:endParaRPr i="1">
              <a:solidFill>
                <a:srgbClr val="666666"/>
              </a:solidFill>
            </a:endParaRPr>
          </a:p>
          <a:p>
            <a:endParaRPr i="1"/>
          </a:p>
        </p:txBody>
      </p:sp>
      <p:sp>
        <p:nvSpPr>
          <p:cNvPr id="873" name="Google Shape;873;p70">
            <a:extLst>
              <a:ext uri="{FF2B5EF4-FFF2-40B4-BE49-F238E27FC236}">
                <a16:creationId xmlns:a16="http://schemas.microsoft.com/office/drawing/2014/main" id="{164A7201-20CB-7BD4-1526-11573DC16A43}"/>
              </a:ext>
            </a:extLst>
          </p:cNvPr>
          <p:cNvSpPr txBox="1"/>
          <p:nvPr/>
        </p:nvSpPr>
        <p:spPr>
          <a:xfrm>
            <a:off x="5825075" y="2902475"/>
            <a:ext cx="3055500" cy="870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KBC via KBE is a </a:t>
            </a:r>
            <a:r>
              <a:rPr lang="en" b="1" dirty="0"/>
              <a:t>neural function</a:t>
            </a:r>
            <a:endParaRPr b="1" dirty="0"/>
          </a:p>
          <a:p>
            <a:endParaRPr dirty="0"/>
          </a:p>
          <a:p>
            <a:r>
              <a:rPr lang="en" sz="1600" dirty="0"/>
              <a:t>f(</a:t>
            </a:r>
            <a:r>
              <a:rPr lang="en" sz="1600" b="1" dirty="0" err="1"/>
              <a:t>v</a:t>
            </a:r>
            <a:r>
              <a:rPr lang="en" sz="1600" baseline="-25000" dirty="0" err="1"/>
              <a:t>hsun</a:t>
            </a:r>
            <a:r>
              <a:rPr lang="en" sz="1600" dirty="0"/>
              <a:t>, </a:t>
            </a:r>
            <a:r>
              <a:rPr lang="en" sz="1600" b="1" dirty="0" err="1"/>
              <a:t>v</a:t>
            </a:r>
            <a:r>
              <a:rPr lang="en" sz="1600" baseline="-25000" dirty="0" err="1"/>
              <a:t>worksAt</a:t>
            </a:r>
            <a:r>
              <a:rPr lang="en" sz="1600" dirty="0"/>
              <a:t>, </a:t>
            </a:r>
            <a:r>
              <a:rPr lang="en" sz="1600" b="1" dirty="0" err="1"/>
              <a:t>v</a:t>
            </a:r>
            <a:r>
              <a:rPr lang="en" sz="1600" baseline="-25000" dirty="0" err="1"/>
              <a:t>google</a:t>
            </a:r>
            <a:r>
              <a:rPr lang="en" sz="1600" dirty="0"/>
              <a:t>)  = 0.85</a:t>
            </a:r>
            <a:endParaRPr sz="1600" dirty="0"/>
          </a:p>
          <a:p>
            <a:pPr>
              <a:buClr>
                <a:schemeClr val="dk1"/>
              </a:buClr>
              <a:buSzPts val="1100"/>
            </a:pPr>
            <a:endParaRPr baseline="-25000" dirty="0"/>
          </a:p>
        </p:txBody>
      </p:sp>
      <p:pic>
        <p:nvPicPr>
          <p:cNvPr id="874" name="Google Shape;874;p70">
            <a:extLst>
              <a:ext uri="{FF2B5EF4-FFF2-40B4-BE49-F238E27FC236}">
                <a16:creationId xmlns:a16="http://schemas.microsoft.com/office/drawing/2014/main" id="{32700F30-96BD-25B9-53DE-984B686948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7963" y="1848200"/>
            <a:ext cx="512400" cy="5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70">
            <a:extLst>
              <a:ext uri="{FF2B5EF4-FFF2-40B4-BE49-F238E27FC236}">
                <a16:creationId xmlns:a16="http://schemas.microsoft.com/office/drawing/2014/main" id="{69CA3DF6-A542-20B7-18ED-0E8773820CF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8986" y="1848188"/>
            <a:ext cx="446217" cy="5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0">
            <a:extLst>
              <a:ext uri="{FF2B5EF4-FFF2-40B4-BE49-F238E27FC236}">
                <a16:creationId xmlns:a16="http://schemas.microsoft.com/office/drawing/2014/main" id="{B7E18589-3A5B-13C4-908D-61A2AF7A608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0364" y="1219351"/>
            <a:ext cx="757239" cy="25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7" name="Google Shape;877;p70">
            <a:extLst>
              <a:ext uri="{FF2B5EF4-FFF2-40B4-BE49-F238E27FC236}">
                <a16:creationId xmlns:a16="http://schemas.microsoft.com/office/drawing/2014/main" id="{577FCB87-B384-8656-3340-6CFC86FFA15C}"/>
              </a:ext>
            </a:extLst>
          </p:cNvPr>
          <p:cNvCxnSpPr>
            <a:stCxn id="876" idx="2"/>
            <a:endCxn id="875" idx="0"/>
          </p:cNvCxnSpPr>
          <p:nvPr/>
        </p:nvCxnSpPr>
        <p:spPr>
          <a:xfrm>
            <a:off x="7648982" y="1475475"/>
            <a:ext cx="223200" cy="372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8" name="Google Shape;878;p70">
            <a:extLst>
              <a:ext uri="{FF2B5EF4-FFF2-40B4-BE49-F238E27FC236}">
                <a16:creationId xmlns:a16="http://schemas.microsoft.com/office/drawing/2014/main" id="{24E0A266-2326-AA20-965C-78A0F38B2C86}"/>
              </a:ext>
            </a:extLst>
          </p:cNvPr>
          <p:cNvCxnSpPr>
            <a:stCxn id="875" idx="1"/>
            <a:endCxn id="874" idx="3"/>
          </p:cNvCxnSpPr>
          <p:nvPr/>
        </p:nvCxnSpPr>
        <p:spPr>
          <a:xfrm rot="10800000">
            <a:off x="7270385" y="2104388"/>
            <a:ext cx="378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9" name="Google Shape;879;p70">
            <a:extLst>
              <a:ext uri="{FF2B5EF4-FFF2-40B4-BE49-F238E27FC236}">
                <a16:creationId xmlns:a16="http://schemas.microsoft.com/office/drawing/2014/main" id="{DF9CD156-A2CF-1F8D-7F31-F5CE2F32FE19}"/>
              </a:ext>
            </a:extLst>
          </p:cNvPr>
          <p:cNvCxnSpPr/>
          <p:nvPr/>
        </p:nvCxnSpPr>
        <p:spPr>
          <a:xfrm>
            <a:off x="6881513" y="1541350"/>
            <a:ext cx="773400" cy="343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70">
            <a:extLst>
              <a:ext uri="{FF2B5EF4-FFF2-40B4-BE49-F238E27FC236}">
                <a16:creationId xmlns:a16="http://schemas.microsoft.com/office/drawing/2014/main" id="{36794330-7010-2D17-DC2B-9FD7055C9ADB}"/>
              </a:ext>
            </a:extLst>
          </p:cNvPr>
          <p:cNvCxnSpPr/>
          <p:nvPr/>
        </p:nvCxnSpPr>
        <p:spPr>
          <a:xfrm>
            <a:off x="6661063" y="1688300"/>
            <a:ext cx="96900" cy="324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81" name="Google Shape;881;p70">
            <a:extLst>
              <a:ext uri="{FF2B5EF4-FFF2-40B4-BE49-F238E27FC236}">
                <a16:creationId xmlns:a16="http://schemas.microsoft.com/office/drawing/2014/main" id="{EE687F48-2F6E-1129-A107-AD86B41E9AC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9113" y="1223641"/>
            <a:ext cx="512398" cy="504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2" name="Google Shape;882;p70">
            <a:extLst>
              <a:ext uri="{FF2B5EF4-FFF2-40B4-BE49-F238E27FC236}">
                <a16:creationId xmlns:a16="http://schemas.microsoft.com/office/drawing/2014/main" id="{29A219BE-138A-F2FF-825D-D3F2F3F84FCA}"/>
              </a:ext>
            </a:extLst>
          </p:cNvPr>
          <p:cNvCxnSpPr/>
          <p:nvPr/>
        </p:nvCxnSpPr>
        <p:spPr>
          <a:xfrm rot="10800000">
            <a:off x="8118110" y="2104388"/>
            <a:ext cx="378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3" name="Google Shape;883;p70">
            <a:extLst>
              <a:ext uri="{FF2B5EF4-FFF2-40B4-BE49-F238E27FC236}">
                <a16:creationId xmlns:a16="http://schemas.microsoft.com/office/drawing/2014/main" id="{E3293368-B2BC-0A9A-87F6-FB531A6891C8}"/>
              </a:ext>
            </a:extLst>
          </p:cNvPr>
          <p:cNvCxnSpPr/>
          <p:nvPr/>
        </p:nvCxnSpPr>
        <p:spPr>
          <a:xfrm rot="10800000">
            <a:off x="8117988" y="1333050"/>
            <a:ext cx="233100" cy="232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4" name="Google Shape;884;p70">
            <a:extLst>
              <a:ext uri="{FF2B5EF4-FFF2-40B4-BE49-F238E27FC236}">
                <a16:creationId xmlns:a16="http://schemas.microsoft.com/office/drawing/2014/main" id="{CD95F48C-72D0-F464-0416-086C241DF72B}"/>
              </a:ext>
            </a:extLst>
          </p:cNvPr>
          <p:cNvCxnSpPr/>
          <p:nvPr/>
        </p:nvCxnSpPr>
        <p:spPr>
          <a:xfrm rot="10800000">
            <a:off x="6154488" y="1231013"/>
            <a:ext cx="233100" cy="232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5" name="Google Shape;885;p70">
            <a:extLst>
              <a:ext uri="{FF2B5EF4-FFF2-40B4-BE49-F238E27FC236}">
                <a16:creationId xmlns:a16="http://schemas.microsoft.com/office/drawing/2014/main" id="{75CEB156-AA2B-B39A-0858-992F976D8E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17</a:t>
            </a:fld>
            <a:endParaRPr/>
          </a:p>
        </p:txBody>
      </p:sp>
      <p:cxnSp>
        <p:nvCxnSpPr>
          <p:cNvPr id="886" name="Google Shape;886;p70">
            <a:extLst>
              <a:ext uri="{FF2B5EF4-FFF2-40B4-BE49-F238E27FC236}">
                <a16:creationId xmlns:a16="http://schemas.microsoft.com/office/drawing/2014/main" id="{F8E052A8-5C1E-2851-E37A-BC8AA0BB17A1}"/>
              </a:ext>
            </a:extLst>
          </p:cNvPr>
          <p:cNvCxnSpPr>
            <a:stCxn id="876" idx="2"/>
            <a:endCxn id="874" idx="0"/>
          </p:cNvCxnSpPr>
          <p:nvPr/>
        </p:nvCxnSpPr>
        <p:spPr>
          <a:xfrm flipH="1">
            <a:off x="7014182" y="1475475"/>
            <a:ext cx="634800" cy="372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3CE026D-1241-F448-34CC-465412355AFF}"/>
              </a:ext>
            </a:extLst>
          </p:cNvPr>
          <p:cNvSpPr txBox="1"/>
          <p:nvPr/>
        </p:nvSpPr>
        <p:spPr>
          <a:xfrm>
            <a:off x="416859" y="1231012"/>
            <a:ext cx="50292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~= matrix completion for relations in a KB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A15E0-1420-B133-DF7A-FCC4A70CAD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382425"/>
            <a:ext cx="5599016" cy="304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730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>
          <a:extLst>
            <a:ext uri="{FF2B5EF4-FFF2-40B4-BE49-F238E27FC236}">
              <a16:creationId xmlns:a16="http://schemas.microsoft.com/office/drawing/2014/main" id="{E849B5FE-90B1-CCFF-12EA-9E7E2FE1B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0">
            <a:extLst>
              <a:ext uri="{FF2B5EF4-FFF2-40B4-BE49-F238E27FC236}">
                <a16:creationId xmlns:a16="http://schemas.microsoft.com/office/drawing/2014/main" id="{DF7FA230-9D3D-5B3E-0416-EA60AA8B3D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325" y="2257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Knowledge Base completion</a:t>
            </a:r>
            <a:endParaRPr dirty="0"/>
          </a:p>
        </p:txBody>
      </p:sp>
      <p:grpSp>
        <p:nvGrpSpPr>
          <p:cNvPr id="864" name="Google Shape;864;p70">
            <a:extLst>
              <a:ext uri="{FF2B5EF4-FFF2-40B4-BE49-F238E27FC236}">
                <a16:creationId xmlns:a16="http://schemas.microsoft.com/office/drawing/2014/main" id="{FCBB26F5-48DB-6A0E-A676-366C0F215184}"/>
              </a:ext>
            </a:extLst>
          </p:cNvPr>
          <p:cNvGrpSpPr/>
          <p:nvPr/>
        </p:nvGrpSpPr>
        <p:grpSpPr>
          <a:xfrm>
            <a:off x="1468502" y="3509204"/>
            <a:ext cx="1066830" cy="744575"/>
            <a:chOff x="1679875" y="1769850"/>
            <a:chExt cx="878700" cy="547200"/>
          </a:xfrm>
        </p:grpSpPr>
        <p:sp>
          <p:nvSpPr>
            <p:cNvPr id="865" name="Google Shape;865;p70">
              <a:extLst>
                <a:ext uri="{FF2B5EF4-FFF2-40B4-BE49-F238E27FC236}">
                  <a16:creationId xmlns:a16="http://schemas.microsoft.com/office/drawing/2014/main" id="{BB1D5BA6-E07C-2DD8-E872-68627DE815E2}"/>
                </a:ext>
              </a:extLst>
            </p:cNvPr>
            <p:cNvSpPr/>
            <p:nvPr/>
          </p:nvSpPr>
          <p:spPr>
            <a:xfrm>
              <a:off x="1679875" y="1798950"/>
              <a:ext cx="878700" cy="4890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66" name="Google Shape;866;p70">
              <a:extLst>
                <a:ext uri="{FF2B5EF4-FFF2-40B4-BE49-F238E27FC236}">
                  <a16:creationId xmlns:a16="http://schemas.microsoft.com/office/drawing/2014/main" id="{46C2CAD3-CB30-4F5A-087C-1946A9BEE72C}"/>
                </a:ext>
              </a:extLst>
            </p:cNvPr>
            <p:cNvSpPr txBox="1"/>
            <p:nvPr/>
          </p:nvSpPr>
          <p:spPr>
            <a:xfrm>
              <a:off x="1679875" y="1769850"/>
              <a:ext cx="878700" cy="54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True</a:t>
              </a:r>
              <a:endParaRPr/>
            </a:p>
            <a:p>
              <a:pPr algn="ctr"/>
              <a:r>
                <a:rPr lang="en"/>
                <a:t>Triples</a:t>
              </a:r>
              <a:endParaRPr/>
            </a:p>
          </p:txBody>
        </p:sp>
      </p:grpSp>
      <p:sp>
        <p:nvSpPr>
          <p:cNvPr id="867" name="Google Shape;867;p70">
            <a:extLst>
              <a:ext uri="{FF2B5EF4-FFF2-40B4-BE49-F238E27FC236}">
                <a16:creationId xmlns:a16="http://schemas.microsoft.com/office/drawing/2014/main" id="{E652A958-1647-91CA-BF3B-F86D01DADA12}"/>
              </a:ext>
            </a:extLst>
          </p:cNvPr>
          <p:cNvSpPr/>
          <p:nvPr/>
        </p:nvSpPr>
        <p:spPr>
          <a:xfrm>
            <a:off x="1307321" y="3446342"/>
            <a:ext cx="3338700" cy="8703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endParaRPr/>
          </a:p>
        </p:txBody>
      </p:sp>
      <p:sp>
        <p:nvSpPr>
          <p:cNvPr id="868" name="Google Shape;868;p70">
            <a:extLst>
              <a:ext uri="{FF2B5EF4-FFF2-40B4-BE49-F238E27FC236}">
                <a16:creationId xmlns:a16="http://schemas.microsoft.com/office/drawing/2014/main" id="{97297C4C-4B7E-315F-61DE-B4DE5FE3901E}"/>
              </a:ext>
            </a:extLst>
          </p:cNvPr>
          <p:cNvSpPr txBox="1"/>
          <p:nvPr/>
        </p:nvSpPr>
        <p:spPr>
          <a:xfrm>
            <a:off x="1212925" y="3382425"/>
            <a:ext cx="3338700" cy="9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/>
              <a:t>Plausible</a:t>
            </a:r>
            <a:endParaRPr/>
          </a:p>
          <a:p>
            <a:pPr algn="r"/>
            <a:r>
              <a:rPr lang="en"/>
              <a:t>Triples</a:t>
            </a:r>
            <a:endParaRPr/>
          </a:p>
        </p:txBody>
      </p:sp>
      <p:cxnSp>
        <p:nvCxnSpPr>
          <p:cNvPr id="869" name="Google Shape;869;p70">
            <a:extLst>
              <a:ext uri="{FF2B5EF4-FFF2-40B4-BE49-F238E27FC236}">
                <a16:creationId xmlns:a16="http://schemas.microsoft.com/office/drawing/2014/main" id="{4D07BA16-DB81-BA03-CB4D-DA886F9C02BA}"/>
              </a:ext>
            </a:extLst>
          </p:cNvPr>
          <p:cNvCxnSpPr/>
          <p:nvPr/>
        </p:nvCxnSpPr>
        <p:spPr>
          <a:xfrm>
            <a:off x="1440306" y="4691072"/>
            <a:ext cx="3055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0" name="Google Shape;870;p70">
            <a:extLst>
              <a:ext uri="{FF2B5EF4-FFF2-40B4-BE49-F238E27FC236}">
                <a16:creationId xmlns:a16="http://schemas.microsoft.com/office/drawing/2014/main" id="{90E4234C-2674-03AA-5CE2-5064BD965AE2}"/>
              </a:ext>
            </a:extLst>
          </p:cNvPr>
          <p:cNvSpPr txBox="1"/>
          <p:nvPr/>
        </p:nvSpPr>
        <p:spPr>
          <a:xfrm>
            <a:off x="1670115" y="4641986"/>
            <a:ext cx="22752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i="1"/>
              <a:t>generalization</a:t>
            </a:r>
            <a:endParaRPr i="1"/>
          </a:p>
        </p:txBody>
      </p:sp>
      <p:sp>
        <p:nvSpPr>
          <p:cNvPr id="871" name="Google Shape;871;p70">
            <a:extLst>
              <a:ext uri="{FF2B5EF4-FFF2-40B4-BE49-F238E27FC236}">
                <a16:creationId xmlns:a16="http://schemas.microsoft.com/office/drawing/2014/main" id="{1F1E106F-FF35-127C-FEF6-8EEF10C5D8ED}"/>
              </a:ext>
            </a:extLst>
          </p:cNvPr>
          <p:cNvSpPr txBox="1"/>
          <p:nvPr/>
        </p:nvSpPr>
        <p:spPr>
          <a:xfrm>
            <a:off x="1027250" y="2507050"/>
            <a:ext cx="2418300" cy="7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i="1" dirty="0" err="1"/>
              <a:t>worksAt</a:t>
            </a:r>
            <a:r>
              <a:rPr lang="en" i="1" dirty="0"/>
              <a:t>(</a:t>
            </a:r>
            <a:r>
              <a:rPr lang="en" i="1" dirty="0" err="1"/>
              <a:t>wc</a:t>
            </a:r>
            <a:r>
              <a:rPr lang="en" i="1" dirty="0"/>
              <a:t>, google)</a:t>
            </a:r>
            <a:endParaRPr i="1" dirty="0"/>
          </a:p>
          <a:p>
            <a:r>
              <a:rPr lang="en" i="1" dirty="0"/>
              <a:t>coauthor(</a:t>
            </a:r>
            <a:r>
              <a:rPr lang="en" i="1" dirty="0" err="1"/>
              <a:t>wc</a:t>
            </a:r>
            <a:r>
              <a:rPr lang="en" i="1" dirty="0"/>
              <a:t>, </a:t>
            </a:r>
            <a:r>
              <a:rPr lang="en" i="1" dirty="0" err="1"/>
              <a:t>hsun</a:t>
            </a:r>
            <a:r>
              <a:rPr lang="en" i="1" dirty="0"/>
              <a:t>)</a:t>
            </a:r>
            <a:endParaRPr i="1" dirty="0"/>
          </a:p>
          <a:p>
            <a:r>
              <a:rPr lang="en" i="1" dirty="0"/>
              <a:t>...</a:t>
            </a:r>
            <a:endParaRPr i="1" dirty="0"/>
          </a:p>
        </p:txBody>
      </p:sp>
      <p:sp>
        <p:nvSpPr>
          <p:cNvPr id="872" name="Google Shape;872;p70">
            <a:extLst>
              <a:ext uri="{FF2B5EF4-FFF2-40B4-BE49-F238E27FC236}">
                <a16:creationId xmlns:a16="http://schemas.microsoft.com/office/drawing/2014/main" id="{6A321B8A-0E54-B791-3038-EC53B24D2341}"/>
              </a:ext>
            </a:extLst>
          </p:cNvPr>
          <p:cNvSpPr txBox="1"/>
          <p:nvPr/>
        </p:nvSpPr>
        <p:spPr>
          <a:xfrm>
            <a:off x="3043000" y="2574850"/>
            <a:ext cx="211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i="1">
                <a:solidFill>
                  <a:srgbClr val="666666"/>
                </a:solidFill>
              </a:rPr>
              <a:t>worksAt(hsun, google) </a:t>
            </a:r>
            <a:endParaRPr i="1">
              <a:solidFill>
                <a:srgbClr val="666666"/>
              </a:solidFill>
            </a:endParaRPr>
          </a:p>
          <a:p>
            <a:endParaRPr i="1"/>
          </a:p>
        </p:txBody>
      </p:sp>
      <p:sp>
        <p:nvSpPr>
          <p:cNvPr id="873" name="Google Shape;873;p70">
            <a:extLst>
              <a:ext uri="{FF2B5EF4-FFF2-40B4-BE49-F238E27FC236}">
                <a16:creationId xmlns:a16="http://schemas.microsoft.com/office/drawing/2014/main" id="{00732473-DA45-16AF-48E6-D71AFBD7E2FD}"/>
              </a:ext>
            </a:extLst>
          </p:cNvPr>
          <p:cNvSpPr txBox="1"/>
          <p:nvPr/>
        </p:nvSpPr>
        <p:spPr>
          <a:xfrm>
            <a:off x="5825075" y="2902475"/>
            <a:ext cx="3055500" cy="870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KBC via KBE is a </a:t>
            </a:r>
            <a:r>
              <a:rPr lang="en" b="1" dirty="0"/>
              <a:t>neural function</a:t>
            </a:r>
            <a:endParaRPr b="1" dirty="0"/>
          </a:p>
          <a:p>
            <a:endParaRPr dirty="0"/>
          </a:p>
          <a:p>
            <a:r>
              <a:rPr lang="en" sz="1600" dirty="0"/>
              <a:t>f(</a:t>
            </a:r>
            <a:r>
              <a:rPr lang="en" sz="1600" b="1" dirty="0" err="1"/>
              <a:t>v</a:t>
            </a:r>
            <a:r>
              <a:rPr lang="en" sz="1600" baseline="-25000" dirty="0" err="1"/>
              <a:t>hsun</a:t>
            </a:r>
            <a:r>
              <a:rPr lang="en" sz="1600" dirty="0"/>
              <a:t>, </a:t>
            </a:r>
            <a:r>
              <a:rPr lang="en" sz="1600" b="1" dirty="0" err="1"/>
              <a:t>v</a:t>
            </a:r>
            <a:r>
              <a:rPr lang="en" sz="1600" baseline="-25000" dirty="0" err="1"/>
              <a:t>worksAt</a:t>
            </a:r>
            <a:r>
              <a:rPr lang="en" sz="1600" dirty="0"/>
              <a:t>, </a:t>
            </a:r>
            <a:r>
              <a:rPr lang="en" sz="1600" b="1" dirty="0" err="1"/>
              <a:t>v</a:t>
            </a:r>
            <a:r>
              <a:rPr lang="en" sz="1600" baseline="-25000" dirty="0" err="1"/>
              <a:t>google</a:t>
            </a:r>
            <a:r>
              <a:rPr lang="en" sz="1600" dirty="0"/>
              <a:t>)  = 0.85</a:t>
            </a:r>
            <a:endParaRPr sz="1600" dirty="0"/>
          </a:p>
          <a:p>
            <a:pPr>
              <a:buClr>
                <a:schemeClr val="dk1"/>
              </a:buClr>
              <a:buSzPts val="1100"/>
            </a:pPr>
            <a:endParaRPr baseline="-25000" dirty="0"/>
          </a:p>
        </p:txBody>
      </p:sp>
      <p:pic>
        <p:nvPicPr>
          <p:cNvPr id="874" name="Google Shape;874;p70">
            <a:extLst>
              <a:ext uri="{FF2B5EF4-FFF2-40B4-BE49-F238E27FC236}">
                <a16:creationId xmlns:a16="http://schemas.microsoft.com/office/drawing/2014/main" id="{8642BDB0-D975-CC75-4E1D-A138DA5ABC6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7963" y="1848200"/>
            <a:ext cx="512400" cy="5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70">
            <a:extLst>
              <a:ext uri="{FF2B5EF4-FFF2-40B4-BE49-F238E27FC236}">
                <a16:creationId xmlns:a16="http://schemas.microsoft.com/office/drawing/2014/main" id="{F54D441C-EE71-13CB-E407-3D8A581598D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8986" y="1848188"/>
            <a:ext cx="446217" cy="5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0">
            <a:extLst>
              <a:ext uri="{FF2B5EF4-FFF2-40B4-BE49-F238E27FC236}">
                <a16:creationId xmlns:a16="http://schemas.microsoft.com/office/drawing/2014/main" id="{C1EF96B6-CD00-5E26-664C-C4BE138678C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0364" y="1219351"/>
            <a:ext cx="757239" cy="25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7" name="Google Shape;877;p70">
            <a:extLst>
              <a:ext uri="{FF2B5EF4-FFF2-40B4-BE49-F238E27FC236}">
                <a16:creationId xmlns:a16="http://schemas.microsoft.com/office/drawing/2014/main" id="{DAF05B3F-D368-FF5F-8206-666AA62146D1}"/>
              </a:ext>
            </a:extLst>
          </p:cNvPr>
          <p:cNvCxnSpPr>
            <a:stCxn id="876" idx="2"/>
            <a:endCxn id="875" idx="0"/>
          </p:cNvCxnSpPr>
          <p:nvPr/>
        </p:nvCxnSpPr>
        <p:spPr>
          <a:xfrm>
            <a:off x="7648982" y="1475475"/>
            <a:ext cx="223200" cy="372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8" name="Google Shape;878;p70">
            <a:extLst>
              <a:ext uri="{FF2B5EF4-FFF2-40B4-BE49-F238E27FC236}">
                <a16:creationId xmlns:a16="http://schemas.microsoft.com/office/drawing/2014/main" id="{5787A65F-8F8D-3BC3-0C89-4FC3D3FDB280}"/>
              </a:ext>
            </a:extLst>
          </p:cNvPr>
          <p:cNvCxnSpPr>
            <a:stCxn id="875" idx="1"/>
            <a:endCxn id="874" idx="3"/>
          </p:cNvCxnSpPr>
          <p:nvPr/>
        </p:nvCxnSpPr>
        <p:spPr>
          <a:xfrm rot="10800000">
            <a:off x="7270385" y="2104388"/>
            <a:ext cx="378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9" name="Google Shape;879;p70">
            <a:extLst>
              <a:ext uri="{FF2B5EF4-FFF2-40B4-BE49-F238E27FC236}">
                <a16:creationId xmlns:a16="http://schemas.microsoft.com/office/drawing/2014/main" id="{6C35BA8B-BBFF-4D32-E6C9-4192880984F0}"/>
              </a:ext>
            </a:extLst>
          </p:cNvPr>
          <p:cNvCxnSpPr/>
          <p:nvPr/>
        </p:nvCxnSpPr>
        <p:spPr>
          <a:xfrm>
            <a:off x="6881513" y="1541350"/>
            <a:ext cx="773400" cy="343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70">
            <a:extLst>
              <a:ext uri="{FF2B5EF4-FFF2-40B4-BE49-F238E27FC236}">
                <a16:creationId xmlns:a16="http://schemas.microsoft.com/office/drawing/2014/main" id="{B8C94C85-9C76-10AB-CEF6-24721E9E6725}"/>
              </a:ext>
            </a:extLst>
          </p:cNvPr>
          <p:cNvCxnSpPr/>
          <p:nvPr/>
        </p:nvCxnSpPr>
        <p:spPr>
          <a:xfrm>
            <a:off x="6661063" y="1688300"/>
            <a:ext cx="96900" cy="324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81" name="Google Shape;881;p70">
            <a:extLst>
              <a:ext uri="{FF2B5EF4-FFF2-40B4-BE49-F238E27FC236}">
                <a16:creationId xmlns:a16="http://schemas.microsoft.com/office/drawing/2014/main" id="{873FC03C-DFDB-527C-8FE2-68AD36430BBC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9113" y="1223641"/>
            <a:ext cx="512398" cy="504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2" name="Google Shape;882;p70">
            <a:extLst>
              <a:ext uri="{FF2B5EF4-FFF2-40B4-BE49-F238E27FC236}">
                <a16:creationId xmlns:a16="http://schemas.microsoft.com/office/drawing/2014/main" id="{9398E21E-792D-472A-95D6-5158FAD15152}"/>
              </a:ext>
            </a:extLst>
          </p:cNvPr>
          <p:cNvCxnSpPr/>
          <p:nvPr/>
        </p:nvCxnSpPr>
        <p:spPr>
          <a:xfrm rot="10800000">
            <a:off x="8118110" y="2104388"/>
            <a:ext cx="378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3" name="Google Shape;883;p70">
            <a:extLst>
              <a:ext uri="{FF2B5EF4-FFF2-40B4-BE49-F238E27FC236}">
                <a16:creationId xmlns:a16="http://schemas.microsoft.com/office/drawing/2014/main" id="{8A85DEAB-4FB6-67B3-C6F8-EE32435CCF9F}"/>
              </a:ext>
            </a:extLst>
          </p:cNvPr>
          <p:cNvCxnSpPr/>
          <p:nvPr/>
        </p:nvCxnSpPr>
        <p:spPr>
          <a:xfrm rot="10800000">
            <a:off x="8117988" y="1333050"/>
            <a:ext cx="233100" cy="232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4" name="Google Shape;884;p70">
            <a:extLst>
              <a:ext uri="{FF2B5EF4-FFF2-40B4-BE49-F238E27FC236}">
                <a16:creationId xmlns:a16="http://schemas.microsoft.com/office/drawing/2014/main" id="{7506A797-80A0-9978-08A1-AAE419E0370C}"/>
              </a:ext>
            </a:extLst>
          </p:cNvPr>
          <p:cNvCxnSpPr/>
          <p:nvPr/>
        </p:nvCxnSpPr>
        <p:spPr>
          <a:xfrm rot="10800000">
            <a:off x="6154488" y="1231013"/>
            <a:ext cx="233100" cy="232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5" name="Google Shape;885;p70">
            <a:extLst>
              <a:ext uri="{FF2B5EF4-FFF2-40B4-BE49-F238E27FC236}">
                <a16:creationId xmlns:a16="http://schemas.microsoft.com/office/drawing/2014/main" id="{6F6D21A6-AEC4-48D8-5E8F-E2EF36A638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18</a:t>
            </a:fld>
            <a:endParaRPr/>
          </a:p>
        </p:txBody>
      </p:sp>
      <p:cxnSp>
        <p:nvCxnSpPr>
          <p:cNvPr id="886" name="Google Shape;886;p70">
            <a:extLst>
              <a:ext uri="{FF2B5EF4-FFF2-40B4-BE49-F238E27FC236}">
                <a16:creationId xmlns:a16="http://schemas.microsoft.com/office/drawing/2014/main" id="{C9682344-A630-9EC4-5D0A-CD4C839ECB11}"/>
              </a:ext>
            </a:extLst>
          </p:cNvPr>
          <p:cNvCxnSpPr>
            <a:stCxn id="876" idx="2"/>
            <a:endCxn id="874" idx="0"/>
          </p:cNvCxnSpPr>
          <p:nvPr/>
        </p:nvCxnSpPr>
        <p:spPr>
          <a:xfrm flipH="1">
            <a:off x="7014182" y="1475475"/>
            <a:ext cx="634800" cy="372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4F1D5CC-EC3B-9547-A53D-270A1B49A87A}"/>
              </a:ext>
            </a:extLst>
          </p:cNvPr>
          <p:cNvSpPr txBox="1"/>
          <p:nvPr/>
        </p:nvSpPr>
        <p:spPr>
          <a:xfrm>
            <a:off x="416859" y="1231012"/>
            <a:ext cx="50292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~= matrix completion for relations in a KB</a:t>
            </a:r>
          </a:p>
        </p:txBody>
      </p:sp>
    </p:spTree>
    <p:extLst>
      <p:ext uri="{BB962C8B-B14F-4D97-AF65-F5344CB8AC3E}">
        <p14:creationId xmlns:p14="http://schemas.microsoft.com/office/powerpoint/2010/main" val="3675860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>
          <a:extLst>
            <a:ext uri="{FF2B5EF4-FFF2-40B4-BE49-F238E27FC236}">
              <a16:creationId xmlns:a16="http://schemas.microsoft.com/office/drawing/2014/main" id="{7F7B15A9-5951-2381-F7C8-09FB8BF7C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0">
            <a:extLst>
              <a:ext uri="{FF2B5EF4-FFF2-40B4-BE49-F238E27FC236}">
                <a16:creationId xmlns:a16="http://schemas.microsoft.com/office/drawing/2014/main" id="{CAA65758-9065-8E9C-81B8-87DD16C97C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325" y="2257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KB completion</a:t>
            </a:r>
            <a:endParaRPr dirty="0"/>
          </a:p>
        </p:txBody>
      </p:sp>
      <p:pic>
        <p:nvPicPr>
          <p:cNvPr id="874" name="Google Shape;874;p70">
            <a:extLst>
              <a:ext uri="{FF2B5EF4-FFF2-40B4-BE49-F238E27FC236}">
                <a16:creationId xmlns:a16="http://schemas.microsoft.com/office/drawing/2014/main" id="{CD5DDBF2-841F-32DD-8258-B82FF072EE0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7963" y="1848200"/>
            <a:ext cx="512400" cy="5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70">
            <a:extLst>
              <a:ext uri="{FF2B5EF4-FFF2-40B4-BE49-F238E27FC236}">
                <a16:creationId xmlns:a16="http://schemas.microsoft.com/office/drawing/2014/main" id="{0FED49AC-C263-25A4-2E93-9EEA8D8A4FC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48986" y="1848188"/>
            <a:ext cx="446217" cy="5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0">
            <a:extLst>
              <a:ext uri="{FF2B5EF4-FFF2-40B4-BE49-F238E27FC236}">
                <a16:creationId xmlns:a16="http://schemas.microsoft.com/office/drawing/2014/main" id="{FD6A8212-8343-AB5D-FA10-5F4C608B3AB7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0364" y="1219351"/>
            <a:ext cx="757239" cy="25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7" name="Google Shape;877;p70">
            <a:extLst>
              <a:ext uri="{FF2B5EF4-FFF2-40B4-BE49-F238E27FC236}">
                <a16:creationId xmlns:a16="http://schemas.microsoft.com/office/drawing/2014/main" id="{C5949B8B-55D9-60F1-A6D6-E76A3662B15F}"/>
              </a:ext>
            </a:extLst>
          </p:cNvPr>
          <p:cNvCxnSpPr>
            <a:stCxn id="876" idx="2"/>
            <a:endCxn id="875" idx="0"/>
          </p:cNvCxnSpPr>
          <p:nvPr/>
        </p:nvCxnSpPr>
        <p:spPr>
          <a:xfrm>
            <a:off x="7648982" y="1475475"/>
            <a:ext cx="223200" cy="372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8" name="Google Shape;878;p70">
            <a:extLst>
              <a:ext uri="{FF2B5EF4-FFF2-40B4-BE49-F238E27FC236}">
                <a16:creationId xmlns:a16="http://schemas.microsoft.com/office/drawing/2014/main" id="{8870349C-187B-A63F-EB8D-1C6E895D9207}"/>
              </a:ext>
            </a:extLst>
          </p:cNvPr>
          <p:cNvCxnSpPr>
            <a:stCxn id="875" idx="1"/>
            <a:endCxn id="874" idx="3"/>
          </p:cNvCxnSpPr>
          <p:nvPr/>
        </p:nvCxnSpPr>
        <p:spPr>
          <a:xfrm rot="10800000">
            <a:off x="7270385" y="2104388"/>
            <a:ext cx="378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79" name="Google Shape;879;p70">
            <a:extLst>
              <a:ext uri="{FF2B5EF4-FFF2-40B4-BE49-F238E27FC236}">
                <a16:creationId xmlns:a16="http://schemas.microsoft.com/office/drawing/2014/main" id="{F3D99B08-450C-6E2D-0D36-B8EBB7215599}"/>
              </a:ext>
            </a:extLst>
          </p:cNvPr>
          <p:cNvCxnSpPr/>
          <p:nvPr/>
        </p:nvCxnSpPr>
        <p:spPr>
          <a:xfrm>
            <a:off x="6881513" y="1541350"/>
            <a:ext cx="773400" cy="343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70">
            <a:extLst>
              <a:ext uri="{FF2B5EF4-FFF2-40B4-BE49-F238E27FC236}">
                <a16:creationId xmlns:a16="http://schemas.microsoft.com/office/drawing/2014/main" id="{46F8342E-5B46-903E-B535-C73F76604B3F}"/>
              </a:ext>
            </a:extLst>
          </p:cNvPr>
          <p:cNvCxnSpPr/>
          <p:nvPr/>
        </p:nvCxnSpPr>
        <p:spPr>
          <a:xfrm>
            <a:off x="6661063" y="1688300"/>
            <a:ext cx="96900" cy="324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81" name="Google Shape;881;p70">
            <a:extLst>
              <a:ext uri="{FF2B5EF4-FFF2-40B4-BE49-F238E27FC236}">
                <a16:creationId xmlns:a16="http://schemas.microsoft.com/office/drawing/2014/main" id="{6255101C-A8B4-5D26-4B21-F5988B017C7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9113" y="1223641"/>
            <a:ext cx="512398" cy="504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2" name="Google Shape;882;p70">
            <a:extLst>
              <a:ext uri="{FF2B5EF4-FFF2-40B4-BE49-F238E27FC236}">
                <a16:creationId xmlns:a16="http://schemas.microsoft.com/office/drawing/2014/main" id="{87665913-087D-5720-015F-ED348B4B7D09}"/>
              </a:ext>
            </a:extLst>
          </p:cNvPr>
          <p:cNvCxnSpPr/>
          <p:nvPr/>
        </p:nvCxnSpPr>
        <p:spPr>
          <a:xfrm rot="10800000">
            <a:off x="8118110" y="2104388"/>
            <a:ext cx="378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3" name="Google Shape;883;p70">
            <a:extLst>
              <a:ext uri="{FF2B5EF4-FFF2-40B4-BE49-F238E27FC236}">
                <a16:creationId xmlns:a16="http://schemas.microsoft.com/office/drawing/2014/main" id="{63D54429-0276-8934-FA70-6F7B8506EB10}"/>
              </a:ext>
            </a:extLst>
          </p:cNvPr>
          <p:cNvCxnSpPr/>
          <p:nvPr/>
        </p:nvCxnSpPr>
        <p:spPr>
          <a:xfrm rot="10800000">
            <a:off x="8117988" y="1333050"/>
            <a:ext cx="233100" cy="232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4" name="Google Shape;884;p70">
            <a:extLst>
              <a:ext uri="{FF2B5EF4-FFF2-40B4-BE49-F238E27FC236}">
                <a16:creationId xmlns:a16="http://schemas.microsoft.com/office/drawing/2014/main" id="{13F9F979-3C36-178F-4CFF-2E8E0E19FAFB}"/>
              </a:ext>
            </a:extLst>
          </p:cNvPr>
          <p:cNvCxnSpPr/>
          <p:nvPr/>
        </p:nvCxnSpPr>
        <p:spPr>
          <a:xfrm rot="10800000">
            <a:off x="6154488" y="1231013"/>
            <a:ext cx="233100" cy="232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5" name="Google Shape;885;p70">
            <a:extLst>
              <a:ext uri="{FF2B5EF4-FFF2-40B4-BE49-F238E27FC236}">
                <a16:creationId xmlns:a16="http://schemas.microsoft.com/office/drawing/2014/main" id="{977FC3DA-B943-BD9F-0079-ABDFE0AB5F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19</a:t>
            </a:fld>
            <a:endParaRPr/>
          </a:p>
        </p:txBody>
      </p:sp>
      <p:cxnSp>
        <p:nvCxnSpPr>
          <p:cNvPr id="886" name="Google Shape;886;p70">
            <a:extLst>
              <a:ext uri="{FF2B5EF4-FFF2-40B4-BE49-F238E27FC236}">
                <a16:creationId xmlns:a16="http://schemas.microsoft.com/office/drawing/2014/main" id="{10C439EB-D48A-1798-69AC-EF7B6289B13B}"/>
              </a:ext>
            </a:extLst>
          </p:cNvPr>
          <p:cNvCxnSpPr>
            <a:stCxn id="876" idx="2"/>
            <a:endCxn id="874" idx="0"/>
          </p:cNvCxnSpPr>
          <p:nvPr/>
        </p:nvCxnSpPr>
        <p:spPr>
          <a:xfrm flipH="1">
            <a:off x="7014182" y="1475475"/>
            <a:ext cx="634800" cy="372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83192D1-9735-372B-4EAA-55759C796324}"/>
              </a:ext>
            </a:extLst>
          </p:cNvPr>
          <p:cNvSpPr txBox="1"/>
          <p:nvPr/>
        </p:nvSpPr>
        <p:spPr>
          <a:xfrm>
            <a:off x="416859" y="1231012"/>
            <a:ext cx="50292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~= matrix completion for relations in a KB</a:t>
            </a:r>
          </a:p>
        </p:txBody>
      </p:sp>
      <p:pic>
        <p:nvPicPr>
          <p:cNvPr id="1026" name="Picture 2" descr="Figure 1 from Robust Subspace Segmentation with Block-Diagonal Prior |  Semantic Scholar">
            <a:extLst>
              <a:ext uri="{FF2B5EF4-FFF2-40B4-BE49-F238E27FC236}">
                <a16:creationId xmlns:a16="http://schemas.microsoft.com/office/drawing/2014/main" id="{F9DC6846-DF3B-3F5E-7F39-8CEAF5C60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769" b="18076"/>
          <a:stretch/>
        </p:blipFill>
        <p:spPr bwMode="auto">
          <a:xfrm>
            <a:off x="751541" y="3111533"/>
            <a:ext cx="2179918" cy="222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65F7B8-C498-F9E8-F647-2E7D7F364690}"/>
              </a:ext>
            </a:extLst>
          </p:cNvPr>
          <p:cNvSpPr txBox="1"/>
          <p:nvPr/>
        </p:nvSpPr>
        <p:spPr>
          <a:xfrm>
            <a:off x="416859" y="2309614"/>
            <a:ext cx="2902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co-authorship in 4 fields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3C7256E-81DF-6AE0-671B-CC33A5393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696" y="2934325"/>
            <a:ext cx="3746467" cy="3746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51E80B-315A-886E-EFB9-9A91DBE70CE4}"/>
              </a:ext>
            </a:extLst>
          </p:cNvPr>
          <p:cNvSpPr txBox="1"/>
          <p:nvPr/>
        </p:nvSpPr>
        <p:spPr>
          <a:xfrm>
            <a:off x="3415827" y="2300632"/>
            <a:ext cx="307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more realistic relationships</a:t>
            </a:r>
          </a:p>
        </p:txBody>
      </p:sp>
    </p:spTree>
    <p:extLst>
      <p:ext uri="{BB962C8B-B14F-4D97-AF65-F5344CB8AC3E}">
        <p14:creationId xmlns:p14="http://schemas.microsoft.com/office/powerpoint/2010/main" val="243017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>
          <a:extLst>
            <a:ext uri="{FF2B5EF4-FFF2-40B4-BE49-F238E27FC236}">
              <a16:creationId xmlns:a16="http://schemas.microsoft.com/office/drawing/2014/main" id="{A6B36988-3A27-D1FE-1780-9C71371F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0">
            <a:extLst>
              <a:ext uri="{FF2B5EF4-FFF2-40B4-BE49-F238E27FC236}">
                <a16:creationId xmlns:a16="http://schemas.microsoft.com/office/drawing/2014/main" id="{89255507-EBF7-2DF7-0B48-2F8C6C2E56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325" y="2257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KB queries on an </a:t>
            </a:r>
            <a:r>
              <a:rPr lang="en" dirty="0" err="1"/>
              <a:t>incomple</a:t>
            </a:r>
            <a:r>
              <a:rPr lang="en-US" dirty="0"/>
              <a:t>t</a:t>
            </a:r>
            <a:r>
              <a:rPr lang="en" dirty="0"/>
              <a:t>e KB</a:t>
            </a:r>
            <a:endParaRPr dirty="0"/>
          </a:p>
        </p:txBody>
      </p:sp>
      <p:sp>
        <p:nvSpPr>
          <p:cNvPr id="885" name="Google Shape;885;p70">
            <a:extLst>
              <a:ext uri="{FF2B5EF4-FFF2-40B4-BE49-F238E27FC236}">
                <a16:creationId xmlns:a16="http://schemas.microsoft.com/office/drawing/2014/main" id="{EE7F35F8-95A4-CE11-B7E2-CBE3CD1F1E7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20</a:t>
            </a:fld>
            <a:endParaRPr/>
          </a:p>
        </p:txBody>
      </p:sp>
      <p:pic>
        <p:nvPicPr>
          <p:cNvPr id="3" name="Picture 2" descr="A close up of a document&#10;&#10;AI-generated content may be incorrect.">
            <a:extLst>
              <a:ext uri="{FF2B5EF4-FFF2-40B4-BE49-F238E27FC236}">
                <a16:creationId xmlns:a16="http://schemas.microsoft.com/office/drawing/2014/main" id="{035797A7-FB68-5288-3759-13B104415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08" y="1689096"/>
            <a:ext cx="7772400" cy="29406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066E27-EB62-BED2-267F-C056DF3133B5}"/>
              </a:ext>
            </a:extLst>
          </p:cNvPr>
          <p:cNvSpPr txBox="1"/>
          <p:nvPr/>
        </p:nvSpPr>
        <p:spPr>
          <a:xfrm>
            <a:off x="5136204" y="4629795"/>
            <a:ext cx="237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NeurIPS</a:t>
            </a:r>
            <a:r>
              <a:rPr lang="en-US" dirty="0"/>
              <a:t> 2018</a:t>
            </a:r>
          </a:p>
        </p:txBody>
      </p:sp>
    </p:spTree>
    <p:extLst>
      <p:ext uri="{BB962C8B-B14F-4D97-AF65-F5344CB8AC3E}">
        <p14:creationId xmlns:p14="http://schemas.microsoft.com/office/powerpoint/2010/main" val="166871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>
          <a:extLst>
            <a:ext uri="{FF2B5EF4-FFF2-40B4-BE49-F238E27FC236}">
              <a16:creationId xmlns:a16="http://schemas.microsoft.com/office/drawing/2014/main" id="{45C06C2D-3197-663C-5F9B-7DCECD4C7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0">
            <a:extLst>
              <a:ext uri="{FF2B5EF4-FFF2-40B4-BE49-F238E27FC236}">
                <a16:creationId xmlns:a16="http://schemas.microsoft.com/office/drawing/2014/main" id="{AD08E9E0-908C-CFB2-0CC5-ADAE1EE34A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325" y="2257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KB queries on an </a:t>
            </a:r>
            <a:r>
              <a:rPr lang="en" dirty="0" err="1"/>
              <a:t>incomple</a:t>
            </a:r>
            <a:r>
              <a:rPr lang="en-US" dirty="0"/>
              <a:t>t</a:t>
            </a:r>
            <a:r>
              <a:rPr lang="en" dirty="0"/>
              <a:t>e KB</a:t>
            </a:r>
            <a:endParaRPr dirty="0"/>
          </a:p>
        </p:txBody>
      </p:sp>
      <p:sp>
        <p:nvSpPr>
          <p:cNvPr id="885" name="Google Shape;885;p70">
            <a:extLst>
              <a:ext uri="{FF2B5EF4-FFF2-40B4-BE49-F238E27FC236}">
                <a16:creationId xmlns:a16="http://schemas.microsoft.com/office/drawing/2014/main" id="{CF1130D1-7328-9034-2257-068FC5F752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21</a:t>
            </a:fld>
            <a:endParaRPr/>
          </a:p>
        </p:txBody>
      </p:sp>
      <p:pic>
        <p:nvPicPr>
          <p:cNvPr id="6" name="Picture 5" descr="A diagram of a drug&#10;&#10;AI-generated content may be incorrect.">
            <a:extLst>
              <a:ext uri="{FF2B5EF4-FFF2-40B4-BE49-F238E27FC236}">
                <a16:creationId xmlns:a16="http://schemas.microsoft.com/office/drawing/2014/main" id="{0A097327-6AC4-388C-30CF-DC56FA066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307" y="1265967"/>
            <a:ext cx="515620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66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2">
          <a:extLst>
            <a:ext uri="{FF2B5EF4-FFF2-40B4-BE49-F238E27FC236}">
              <a16:creationId xmlns:a16="http://schemas.microsoft.com/office/drawing/2014/main" id="{2E54D949-B9C4-ED01-E873-51AAA2E23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0">
            <a:extLst>
              <a:ext uri="{FF2B5EF4-FFF2-40B4-BE49-F238E27FC236}">
                <a16:creationId xmlns:a16="http://schemas.microsoft.com/office/drawing/2014/main" id="{5ACABFAD-88F9-8E45-85F7-B0B561E896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1325" y="2257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KB queries on an </a:t>
            </a:r>
            <a:r>
              <a:rPr lang="en" dirty="0" err="1"/>
              <a:t>incomple</a:t>
            </a:r>
            <a:r>
              <a:rPr lang="en-US" dirty="0"/>
              <a:t>t</a:t>
            </a:r>
            <a:r>
              <a:rPr lang="en" dirty="0"/>
              <a:t>e KB</a:t>
            </a:r>
            <a:endParaRPr dirty="0"/>
          </a:p>
        </p:txBody>
      </p:sp>
      <p:sp>
        <p:nvSpPr>
          <p:cNvPr id="885" name="Google Shape;885;p70">
            <a:extLst>
              <a:ext uri="{FF2B5EF4-FFF2-40B4-BE49-F238E27FC236}">
                <a16:creationId xmlns:a16="http://schemas.microsoft.com/office/drawing/2014/main" id="{673EA322-9FE2-0E1A-6C0B-EE4FF92C27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22</a:t>
            </a:fld>
            <a:endParaRPr/>
          </a:p>
        </p:txBody>
      </p:sp>
      <p:pic>
        <p:nvPicPr>
          <p:cNvPr id="3" name="Picture 2" descr="A diagram of a algorithm&#10;&#10;AI-generated content may be incorrect.">
            <a:extLst>
              <a:ext uri="{FF2B5EF4-FFF2-40B4-BE49-F238E27FC236}">
                <a16:creationId xmlns:a16="http://schemas.microsoft.com/office/drawing/2014/main" id="{D6117207-6A31-AF63-E13B-0612799D0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84429"/>
            <a:ext cx="4574079" cy="4631615"/>
          </a:xfrm>
          <a:prstGeom prst="rect">
            <a:avLst/>
          </a:prstGeom>
        </p:spPr>
      </p:pic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F5C5877-87A8-A6C1-3DC3-AD72F93A3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7" y="1342837"/>
            <a:ext cx="4546893" cy="229717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AAC0CB3-BAF4-FF2F-0F9D-3DA1B7151D0C}"/>
              </a:ext>
            </a:extLst>
          </p:cNvPr>
          <p:cNvCxnSpPr/>
          <p:nvPr/>
        </p:nvCxnSpPr>
        <p:spPr>
          <a:xfrm>
            <a:off x="4445391" y="1084429"/>
            <a:ext cx="0" cy="54429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Google Shape;930;p72">
            <a:extLst>
              <a:ext uri="{FF2B5EF4-FFF2-40B4-BE49-F238E27FC236}">
                <a16:creationId xmlns:a16="http://schemas.microsoft.com/office/drawing/2014/main" id="{D6306B84-0460-72D6-5733-900DFDC53398}"/>
              </a:ext>
            </a:extLst>
          </p:cNvPr>
          <p:cNvSpPr txBox="1"/>
          <p:nvPr/>
        </p:nvSpPr>
        <p:spPr>
          <a:xfrm>
            <a:off x="5548125" y="5821977"/>
            <a:ext cx="910800" cy="431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600" dirty="0"/>
              <a:t>GQE</a:t>
            </a:r>
            <a:endParaRPr sz="1600" dirty="0"/>
          </a:p>
        </p:txBody>
      </p:sp>
      <p:sp>
        <p:nvSpPr>
          <p:cNvPr id="10" name="Google Shape;931;p72">
            <a:extLst>
              <a:ext uri="{FF2B5EF4-FFF2-40B4-BE49-F238E27FC236}">
                <a16:creationId xmlns:a16="http://schemas.microsoft.com/office/drawing/2014/main" id="{C3E206F1-EEF0-A089-54F3-116BAA625BFA}"/>
              </a:ext>
            </a:extLst>
          </p:cNvPr>
          <p:cNvSpPr txBox="1"/>
          <p:nvPr/>
        </p:nvSpPr>
        <p:spPr>
          <a:xfrm>
            <a:off x="6774040" y="6253077"/>
            <a:ext cx="1800113" cy="430857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600" dirty="0"/>
              <a:t>Query2Box, …</a:t>
            </a:r>
            <a:endParaRPr sz="1600" dirty="0"/>
          </a:p>
        </p:txBody>
      </p:sp>
      <p:sp>
        <p:nvSpPr>
          <p:cNvPr id="11" name="Google Shape;930;p72">
            <a:extLst>
              <a:ext uri="{FF2B5EF4-FFF2-40B4-BE49-F238E27FC236}">
                <a16:creationId xmlns:a16="http://schemas.microsoft.com/office/drawing/2014/main" id="{78EE9037-3B65-729B-8688-BE2065CFD70C}"/>
              </a:ext>
            </a:extLst>
          </p:cNvPr>
          <p:cNvSpPr txBox="1"/>
          <p:nvPr/>
        </p:nvSpPr>
        <p:spPr>
          <a:xfrm>
            <a:off x="291325" y="3590369"/>
            <a:ext cx="910800" cy="431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600" dirty="0"/>
              <a:t>NQL</a:t>
            </a:r>
            <a:endParaRPr sz="1600" dirty="0"/>
          </a:p>
        </p:txBody>
      </p:sp>
      <p:sp>
        <p:nvSpPr>
          <p:cNvPr id="2" name="Right Arrow 1">
            <a:extLst>
              <a:ext uri="{FF2B5EF4-FFF2-40B4-BE49-F238E27FC236}">
                <a16:creationId xmlns:a16="http://schemas.microsoft.com/office/drawing/2014/main" id="{6E65041F-80E1-38F0-E71D-CA2771BF9CAC}"/>
              </a:ext>
            </a:extLst>
          </p:cNvPr>
          <p:cNvSpPr/>
          <p:nvPr/>
        </p:nvSpPr>
        <p:spPr>
          <a:xfrm>
            <a:off x="3869635" y="5914067"/>
            <a:ext cx="954156" cy="4311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90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8" name="Google Shape;898;p71"/>
          <p:cNvGrpSpPr/>
          <p:nvPr/>
        </p:nvGrpSpPr>
        <p:grpSpPr>
          <a:xfrm>
            <a:off x="1363066" y="2486578"/>
            <a:ext cx="1285977" cy="1955693"/>
            <a:chOff x="1679875" y="1769850"/>
            <a:chExt cx="878700" cy="547200"/>
          </a:xfrm>
        </p:grpSpPr>
        <p:sp>
          <p:nvSpPr>
            <p:cNvPr id="899" name="Google Shape;899;p71"/>
            <p:cNvSpPr/>
            <p:nvPr/>
          </p:nvSpPr>
          <p:spPr>
            <a:xfrm>
              <a:off x="1679875" y="1798950"/>
              <a:ext cx="878700" cy="4890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endParaRPr/>
            </a:p>
          </p:txBody>
        </p:sp>
        <p:sp>
          <p:nvSpPr>
            <p:cNvPr id="900" name="Google Shape;900;p71"/>
            <p:cNvSpPr txBox="1"/>
            <p:nvPr/>
          </p:nvSpPr>
          <p:spPr>
            <a:xfrm>
              <a:off x="1679875" y="1769850"/>
              <a:ext cx="878700" cy="54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" sz="1600" dirty="0"/>
                <a:t>Entailed</a:t>
              </a:r>
              <a:endParaRPr sz="1600" dirty="0"/>
            </a:p>
            <a:p>
              <a:pPr algn="ctr"/>
              <a:r>
                <a:rPr lang="en" sz="1600" dirty="0"/>
                <a:t>Triples</a:t>
              </a:r>
              <a:endParaRPr sz="1600" dirty="0"/>
            </a:p>
          </p:txBody>
        </p:sp>
      </p:grpSp>
      <p:sp>
        <p:nvSpPr>
          <p:cNvPr id="891" name="Google Shape;891;p71"/>
          <p:cNvSpPr txBox="1">
            <a:spLocks noGrp="1"/>
          </p:cNvSpPr>
          <p:nvPr>
            <p:ph type="title"/>
          </p:nvPr>
        </p:nvSpPr>
        <p:spPr>
          <a:xfrm>
            <a:off x="311700" y="184014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KB completion vs inference</a:t>
            </a:r>
            <a:endParaRPr dirty="0"/>
          </a:p>
        </p:txBody>
      </p:sp>
      <p:grpSp>
        <p:nvGrpSpPr>
          <p:cNvPr id="892" name="Google Shape;892;p71"/>
          <p:cNvGrpSpPr/>
          <p:nvPr/>
        </p:nvGrpSpPr>
        <p:grpSpPr>
          <a:xfrm>
            <a:off x="1468502" y="3509204"/>
            <a:ext cx="1066830" cy="744575"/>
            <a:chOff x="1679875" y="1769850"/>
            <a:chExt cx="878700" cy="547200"/>
          </a:xfrm>
        </p:grpSpPr>
        <p:sp>
          <p:nvSpPr>
            <p:cNvPr id="893" name="Google Shape;893;p71"/>
            <p:cNvSpPr/>
            <p:nvPr/>
          </p:nvSpPr>
          <p:spPr>
            <a:xfrm>
              <a:off x="1679875" y="1798950"/>
              <a:ext cx="878700" cy="4890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894" name="Google Shape;894;p71"/>
            <p:cNvSpPr txBox="1"/>
            <p:nvPr/>
          </p:nvSpPr>
          <p:spPr>
            <a:xfrm>
              <a:off x="1679875" y="1769850"/>
              <a:ext cx="878700" cy="54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dirty="0"/>
                <a:t>True</a:t>
              </a:r>
              <a:endParaRPr dirty="0"/>
            </a:p>
            <a:p>
              <a:pPr algn="ctr"/>
              <a:r>
                <a:rPr lang="en" dirty="0"/>
                <a:t>Triples</a:t>
              </a:r>
              <a:endParaRPr dirty="0"/>
            </a:p>
          </p:txBody>
        </p:sp>
      </p:grpSp>
      <p:sp>
        <p:nvSpPr>
          <p:cNvPr id="895" name="Google Shape;895;p71"/>
          <p:cNvSpPr txBox="1"/>
          <p:nvPr/>
        </p:nvSpPr>
        <p:spPr>
          <a:xfrm>
            <a:off x="2790725" y="3245875"/>
            <a:ext cx="2418300" cy="13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i="1"/>
              <a:t>worksAt(wc, google)</a:t>
            </a:r>
            <a:endParaRPr i="1"/>
          </a:p>
          <a:p>
            <a:r>
              <a:rPr lang="en" i="1"/>
              <a:t>reportsTo(hs, wc)</a:t>
            </a:r>
            <a:endParaRPr i="1"/>
          </a:p>
          <a:p>
            <a:r>
              <a:rPr lang="en" i="1"/>
              <a:t>...</a:t>
            </a:r>
            <a:endParaRPr i="1"/>
          </a:p>
          <a:p>
            <a:r>
              <a:rPr lang="en" i="1">
                <a:solidFill>
                  <a:srgbClr val="0000FF"/>
                </a:solidFill>
              </a:rPr>
              <a:t>reportsTo(x,y) &amp; worksAt(y,z) ⇒ worksAt(x,z)</a:t>
            </a:r>
            <a:endParaRPr i="1">
              <a:solidFill>
                <a:srgbClr val="0000FF"/>
              </a:solidFill>
            </a:endParaRPr>
          </a:p>
        </p:txBody>
      </p:sp>
      <p:sp>
        <p:nvSpPr>
          <p:cNvPr id="896" name="Google Shape;896;p71"/>
          <p:cNvSpPr txBox="1"/>
          <p:nvPr/>
        </p:nvSpPr>
        <p:spPr>
          <a:xfrm rot="-5400000">
            <a:off x="-372750" y="3337014"/>
            <a:ext cx="19464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" i="1"/>
              <a:t>logical inference</a:t>
            </a:r>
            <a:endParaRPr i="1"/>
          </a:p>
        </p:txBody>
      </p:sp>
      <p:cxnSp>
        <p:nvCxnSpPr>
          <p:cNvPr id="897" name="Google Shape;897;p71"/>
          <p:cNvCxnSpPr/>
          <p:nvPr/>
        </p:nvCxnSpPr>
        <p:spPr>
          <a:xfrm rot="10800000">
            <a:off x="930244" y="2697507"/>
            <a:ext cx="0" cy="178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1" name="Google Shape;901;p71"/>
          <p:cNvSpPr txBox="1"/>
          <p:nvPr/>
        </p:nvSpPr>
        <p:spPr>
          <a:xfrm>
            <a:off x="2814400" y="2574850"/>
            <a:ext cx="2112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b="1" i="1">
                <a:solidFill>
                  <a:srgbClr val="0000FF"/>
                </a:solidFill>
              </a:rPr>
              <a:t>worksAt(hsun, google) </a:t>
            </a:r>
            <a:endParaRPr b="1" i="1">
              <a:solidFill>
                <a:srgbClr val="0000FF"/>
              </a:solidFill>
            </a:endParaRPr>
          </a:p>
          <a:p>
            <a:endParaRPr i="1"/>
          </a:p>
        </p:txBody>
      </p:sp>
      <p:pic>
        <p:nvPicPr>
          <p:cNvPr id="902" name="Google Shape;90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8100" y="1874975"/>
            <a:ext cx="512400" cy="5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99123" y="1874963"/>
            <a:ext cx="446217" cy="51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0501" y="1246126"/>
            <a:ext cx="757239" cy="25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5" name="Google Shape;905;p71"/>
          <p:cNvCxnSpPr/>
          <p:nvPr/>
        </p:nvCxnSpPr>
        <p:spPr>
          <a:xfrm>
            <a:off x="6931650" y="1568125"/>
            <a:ext cx="773400" cy="343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6" name="Google Shape;906;p71"/>
          <p:cNvCxnSpPr/>
          <p:nvPr/>
        </p:nvCxnSpPr>
        <p:spPr>
          <a:xfrm>
            <a:off x="6711200" y="1715075"/>
            <a:ext cx="96900" cy="324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07" name="Google Shape;907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9251" y="1250416"/>
            <a:ext cx="512398" cy="5045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8" name="Google Shape;908;p71"/>
          <p:cNvCxnSpPr/>
          <p:nvPr/>
        </p:nvCxnSpPr>
        <p:spPr>
          <a:xfrm rot="10800000">
            <a:off x="8168247" y="2131163"/>
            <a:ext cx="378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9" name="Google Shape;909;p71"/>
          <p:cNvCxnSpPr/>
          <p:nvPr/>
        </p:nvCxnSpPr>
        <p:spPr>
          <a:xfrm rot="10800000">
            <a:off x="8168125" y="1359825"/>
            <a:ext cx="233100" cy="232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0" name="Google Shape;910;p71"/>
          <p:cNvCxnSpPr/>
          <p:nvPr/>
        </p:nvCxnSpPr>
        <p:spPr>
          <a:xfrm rot="10800000">
            <a:off x="6204625" y="1257788"/>
            <a:ext cx="233100" cy="232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71"/>
          <p:cNvCxnSpPr>
            <a:stCxn id="902" idx="0"/>
            <a:endCxn id="904" idx="2"/>
          </p:cNvCxnSpPr>
          <p:nvPr/>
        </p:nvCxnSpPr>
        <p:spPr>
          <a:xfrm rot="10800000" flipH="1">
            <a:off x="7064300" y="1502375"/>
            <a:ext cx="634800" cy="372600"/>
          </a:xfrm>
          <a:prstGeom prst="straightConnector1">
            <a:avLst/>
          </a:pr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2" name="Google Shape;912;p7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2"/>
          <p:cNvSpPr txBox="1">
            <a:spLocks noGrp="1"/>
          </p:cNvSpPr>
          <p:nvPr>
            <p:ph type="title"/>
          </p:nvPr>
        </p:nvSpPr>
        <p:spPr>
          <a:xfrm>
            <a:off x="311700" y="502642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Neural QLs compared to KBC</a:t>
            </a:r>
            <a:endParaRPr dirty="0"/>
          </a:p>
        </p:txBody>
      </p:sp>
      <p:grpSp>
        <p:nvGrpSpPr>
          <p:cNvPr id="918" name="Google Shape;918;p72"/>
          <p:cNvGrpSpPr/>
          <p:nvPr/>
        </p:nvGrpSpPr>
        <p:grpSpPr>
          <a:xfrm>
            <a:off x="1468502" y="3509204"/>
            <a:ext cx="1066830" cy="744575"/>
            <a:chOff x="1679875" y="1769850"/>
            <a:chExt cx="878700" cy="547200"/>
          </a:xfrm>
        </p:grpSpPr>
        <p:sp>
          <p:nvSpPr>
            <p:cNvPr id="919" name="Google Shape;919;p72"/>
            <p:cNvSpPr/>
            <p:nvPr/>
          </p:nvSpPr>
          <p:spPr>
            <a:xfrm>
              <a:off x="1679875" y="1798950"/>
              <a:ext cx="878700" cy="4890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920" name="Google Shape;920;p72"/>
            <p:cNvSpPr txBox="1"/>
            <p:nvPr/>
          </p:nvSpPr>
          <p:spPr>
            <a:xfrm>
              <a:off x="1679875" y="1769850"/>
              <a:ext cx="878700" cy="54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True</a:t>
              </a:r>
              <a:endParaRPr/>
            </a:p>
            <a:p>
              <a:pPr algn="ctr"/>
              <a:r>
                <a:rPr lang="en"/>
                <a:t>Triples </a:t>
              </a:r>
              <a:endParaRPr/>
            </a:p>
          </p:txBody>
        </p:sp>
      </p:grpSp>
      <p:sp>
        <p:nvSpPr>
          <p:cNvPr id="921" name="Google Shape;921;p72"/>
          <p:cNvSpPr txBox="1"/>
          <p:nvPr/>
        </p:nvSpPr>
        <p:spPr>
          <a:xfrm rot="-5400000">
            <a:off x="-372750" y="3337014"/>
            <a:ext cx="1946400" cy="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" i="1"/>
              <a:t>logical inference</a:t>
            </a:r>
            <a:endParaRPr i="1"/>
          </a:p>
        </p:txBody>
      </p:sp>
      <p:cxnSp>
        <p:nvCxnSpPr>
          <p:cNvPr id="922" name="Google Shape;922;p72"/>
          <p:cNvCxnSpPr/>
          <p:nvPr/>
        </p:nvCxnSpPr>
        <p:spPr>
          <a:xfrm rot="10800000">
            <a:off x="930244" y="2697507"/>
            <a:ext cx="0" cy="1786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3" name="Google Shape;923;p72"/>
          <p:cNvSpPr/>
          <p:nvPr/>
        </p:nvSpPr>
        <p:spPr>
          <a:xfrm>
            <a:off x="1329096" y="3464161"/>
            <a:ext cx="3338700" cy="1051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endParaRPr/>
          </a:p>
        </p:txBody>
      </p:sp>
      <p:sp>
        <p:nvSpPr>
          <p:cNvPr id="924" name="Google Shape;924;p72"/>
          <p:cNvSpPr txBox="1"/>
          <p:nvPr/>
        </p:nvSpPr>
        <p:spPr>
          <a:xfrm>
            <a:off x="1234700" y="3294877"/>
            <a:ext cx="3338700" cy="12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"/>
              <a:t>Plausible</a:t>
            </a:r>
            <a:endParaRPr/>
          </a:p>
          <a:p>
            <a:pPr algn="r"/>
            <a:r>
              <a:rPr lang="en"/>
              <a:t>Triples</a:t>
            </a:r>
            <a:endParaRPr/>
          </a:p>
        </p:txBody>
      </p:sp>
      <p:cxnSp>
        <p:nvCxnSpPr>
          <p:cNvPr id="925" name="Google Shape;925;p72"/>
          <p:cNvCxnSpPr/>
          <p:nvPr/>
        </p:nvCxnSpPr>
        <p:spPr>
          <a:xfrm>
            <a:off x="1462081" y="4737647"/>
            <a:ext cx="3055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6" name="Google Shape;926;p72"/>
          <p:cNvSpPr txBox="1"/>
          <p:nvPr/>
        </p:nvSpPr>
        <p:spPr>
          <a:xfrm>
            <a:off x="1691890" y="4688561"/>
            <a:ext cx="22752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i="1"/>
              <a:t>generalization</a:t>
            </a:r>
            <a:endParaRPr i="1"/>
          </a:p>
        </p:txBody>
      </p:sp>
      <p:sp>
        <p:nvSpPr>
          <p:cNvPr id="927" name="Google Shape;927;p72"/>
          <p:cNvSpPr txBox="1"/>
          <p:nvPr/>
        </p:nvSpPr>
        <p:spPr>
          <a:xfrm>
            <a:off x="5398800" y="2519799"/>
            <a:ext cx="3398250" cy="1205999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NQL focuses on getting the </a:t>
            </a:r>
            <a:r>
              <a:rPr lang="en" b="1" dirty="0"/>
              <a:t>same answers </a:t>
            </a:r>
            <a:r>
              <a:rPr lang="en" dirty="0"/>
              <a:t>as logical KR systems -- using</a:t>
            </a:r>
            <a:r>
              <a:rPr lang="en" b="1" dirty="0"/>
              <a:t> differentiable</a:t>
            </a:r>
            <a:r>
              <a:rPr lang="en" dirty="0"/>
              <a:t> methods.</a:t>
            </a:r>
            <a:endParaRPr b="1" dirty="0"/>
          </a:p>
          <a:p>
            <a:pPr indent="457200"/>
            <a:endParaRPr dirty="0"/>
          </a:p>
        </p:txBody>
      </p:sp>
      <p:sp>
        <p:nvSpPr>
          <p:cNvPr id="928" name="Google Shape;928;p72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24</a:t>
            </a:fld>
            <a:endParaRPr/>
          </a:p>
        </p:txBody>
      </p:sp>
      <p:sp>
        <p:nvSpPr>
          <p:cNvPr id="929" name="Google Shape;929;p72"/>
          <p:cNvSpPr txBox="1"/>
          <p:nvPr/>
        </p:nvSpPr>
        <p:spPr>
          <a:xfrm>
            <a:off x="5381175" y="3893261"/>
            <a:ext cx="3433500" cy="10515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GQE, Query2Box focus on </a:t>
            </a:r>
            <a:r>
              <a:rPr lang="en" b="1" dirty="0"/>
              <a:t>generalization</a:t>
            </a:r>
            <a:r>
              <a:rPr lang="en" dirty="0"/>
              <a:t> from true to </a:t>
            </a:r>
            <a:r>
              <a:rPr lang="en" b="1" dirty="0"/>
              <a:t>plausible</a:t>
            </a:r>
            <a:r>
              <a:rPr lang="en" dirty="0"/>
              <a:t> triple. </a:t>
            </a:r>
            <a:endParaRPr dirty="0"/>
          </a:p>
        </p:txBody>
      </p:sp>
      <p:sp>
        <p:nvSpPr>
          <p:cNvPr id="930" name="Google Shape;930;p72"/>
          <p:cNvSpPr txBox="1"/>
          <p:nvPr/>
        </p:nvSpPr>
        <p:spPr>
          <a:xfrm>
            <a:off x="3222000" y="2084025"/>
            <a:ext cx="910800" cy="431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600" dirty="0"/>
              <a:t>GQE</a:t>
            </a:r>
            <a:endParaRPr sz="1600" dirty="0"/>
          </a:p>
        </p:txBody>
      </p:sp>
      <p:sp>
        <p:nvSpPr>
          <p:cNvPr id="931" name="Google Shape;931;p72"/>
          <p:cNvSpPr txBox="1"/>
          <p:nvPr/>
        </p:nvSpPr>
        <p:spPr>
          <a:xfrm>
            <a:off x="3649225" y="2521775"/>
            <a:ext cx="1383300" cy="431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" sz="1600"/>
              <a:t>Query2Box</a:t>
            </a:r>
            <a:endParaRPr sz="1600"/>
          </a:p>
        </p:txBody>
      </p:sp>
      <p:sp>
        <p:nvSpPr>
          <p:cNvPr id="932" name="Google Shape;932;p72"/>
          <p:cNvSpPr txBox="1"/>
          <p:nvPr/>
        </p:nvSpPr>
        <p:spPr>
          <a:xfrm>
            <a:off x="1363065" y="2486577"/>
            <a:ext cx="1286100" cy="19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/>
              <a:t>Entailed</a:t>
            </a:r>
            <a:endParaRPr/>
          </a:p>
          <a:p>
            <a:pPr algn="ctr"/>
            <a:r>
              <a:rPr lang="en"/>
              <a:t>Triples</a:t>
            </a:r>
            <a:endParaRPr/>
          </a:p>
        </p:txBody>
      </p:sp>
      <p:grpSp>
        <p:nvGrpSpPr>
          <p:cNvPr id="933" name="Google Shape;933;p72"/>
          <p:cNvGrpSpPr/>
          <p:nvPr/>
        </p:nvGrpSpPr>
        <p:grpSpPr>
          <a:xfrm>
            <a:off x="1363066" y="2486578"/>
            <a:ext cx="1285977" cy="1955693"/>
            <a:chOff x="1679875" y="1769850"/>
            <a:chExt cx="878700" cy="547200"/>
          </a:xfrm>
        </p:grpSpPr>
        <p:sp>
          <p:nvSpPr>
            <p:cNvPr id="934" name="Google Shape;934;p72"/>
            <p:cNvSpPr/>
            <p:nvPr/>
          </p:nvSpPr>
          <p:spPr>
            <a:xfrm>
              <a:off x="1679875" y="1798950"/>
              <a:ext cx="878700" cy="4890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endParaRPr/>
            </a:p>
          </p:txBody>
        </p:sp>
        <p:sp>
          <p:nvSpPr>
            <p:cNvPr id="935" name="Google Shape;935;p72"/>
            <p:cNvSpPr txBox="1"/>
            <p:nvPr/>
          </p:nvSpPr>
          <p:spPr>
            <a:xfrm>
              <a:off x="1679875" y="1769850"/>
              <a:ext cx="878700" cy="54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"/>
                <a:t>Entailed</a:t>
              </a:r>
              <a:endParaRPr/>
            </a:p>
            <a:p>
              <a:pPr algn="ctr"/>
              <a:r>
                <a:rPr lang="en"/>
                <a:t>Triples</a:t>
              </a:r>
              <a:endParaRPr/>
            </a:p>
          </p:txBody>
        </p:sp>
      </p:grpSp>
      <p:sp>
        <p:nvSpPr>
          <p:cNvPr id="936" name="Google Shape;936;p72"/>
          <p:cNvSpPr/>
          <p:nvPr/>
        </p:nvSpPr>
        <p:spPr>
          <a:xfrm>
            <a:off x="1574132" y="2617314"/>
            <a:ext cx="961200" cy="654626"/>
          </a:xfrm>
          <a:prstGeom prst="rect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" name="Google Shape;927;p72">
            <a:extLst>
              <a:ext uri="{FF2B5EF4-FFF2-40B4-BE49-F238E27FC236}">
                <a16:creationId xmlns:a16="http://schemas.microsoft.com/office/drawing/2014/main" id="{B1D8CCE0-D930-28C2-DBD7-3A48D9E763FE}"/>
              </a:ext>
            </a:extLst>
          </p:cNvPr>
          <p:cNvSpPr txBox="1"/>
          <p:nvPr/>
        </p:nvSpPr>
        <p:spPr>
          <a:xfrm>
            <a:off x="5416425" y="1777274"/>
            <a:ext cx="3398250" cy="572700"/>
          </a:xfrm>
          <a:prstGeom prst="rect">
            <a:avLst/>
          </a:prstGeom>
          <a:noFill/>
          <a:ln w="28575" cap="flat" cmpd="sng">
            <a:solidFill>
              <a:srgbClr val="4A86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Can you do both?</a:t>
            </a:r>
            <a:endParaRPr b="1" dirty="0"/>
          </a:p>
          <a:p>
            <a:pPr indent="457200"/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7"/>
          <p:cNvSpPr txBox="1">
            <a:spLocks noGrp="1"/>
          </p:cNvSpPr>
          <p:nvPr>
            <p:ph type="title"/>
          </p:nvPr>
        </p:nvSpPr>
        <p:spPr>
          <a:xfrm>
            <a:off x="375212" y="321909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Neural QLs compared to KB embeddings</a:t>
            </a:r>
            <a:endParaRPr dirty="0"/>
          </a:p>
        </p:txBody>
      </p:sp>
      <p:grpSp>
        <p:nvGrpSpPr>
          <p:cNvPr id="1010" name="Google Shape;1010;p77"/>
          <p:cNvGrpSpPr/>
          <p:nvPr/>
        </p:nvGrpSpPr>
        <p:grpSpPr>
          <a:xfrm>
            <a:off x="693109" y="1941987"/>
            <a:ext cx="8221488" cy="3962197"/>
            <a:chOff x="790050" y="1060178"/>
            <a:chExt cx="8221488" cy="3962197"/>
          </a:xfrm>
        </p:grpSpPr>
        <p:pic>
          <p:nvPicPr>
            <p:cNvPr id="1011" name="Google Shape;1011;p77"/>
            <p:cNvPicPr preferRelativeResize="0"/>
            <p:nvPr/>
          </p:nvPicPr>
          <p:blipFill rotWithShape="1">
            <a:blip r:embed="rId3">
              <a:alphaModFix/>
            </a:blip>
            <a:srcRect t="-11389" b="11389"/>
            <a:stretch/>
          </p:blipFill>
          <p:spPr>
            <a:xfrm>
              <a:off x="2385100" y="3907075"/>
              <a:ext cx="6458649" cy="9408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012" name="Google Shape;1012;p77"/>
            <p:cNvSpPr txBox="1"/>
            <p:nvPr/>
          </p:nvSpPr>
          <p:spPr>
            <a:xfrm>
              <a:off x="5137638" y="1060178"/>
              <a:ext cx="3873900" cy="105150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400" dirty="0"/>
                <a:t>NQL uses a sparse </a:t>
              </a:r>
              <a:r>
                <a:rPr lang="en" sz="1400" b="1" dirty="0"/>
                <a:t>localist</a:t>
              </a:r>
              <a:r>
                <a:rPr lang="en" sz="1400" dirty="0"/>
                <a:t> representation:</a:t>
              </a:r>
              <a:r>
                <a:rPr lang="en" sz="1400" i="1" dirty="0"/>
                <a:t> r</a:t>
              </a:r>
              <a:r>
                <a:rPr lang="en" sz="1400" i="1" baseline="-25000" dirty="0"/>
                <a:t>1/1</a:t>
              </a:r>
              <a:r>
                <a:rPr lang="en" sz="1400" dirty="0"/>
                <a:t> makes ~700 </a:t>
              </a:r>
              <a:r>
                <a:rPr lang="en" sz="1400" b="1" dirty="0"/>
                <a:t>independent</a:t>
              </a:r>
              <a:r>
                <a:rPr lang="en" sz="1400" dirty="0"/>
                <a:t> predictions as to what relations to include.  So learning </a:t>
              </a:r>
              <a:r>
                <a:rPr lang="en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" sz="1400" i="1" baseline="-25000" dirty="0">
                  <a:latin typeface="Calibri" panose="020F0502020204030204" pitchFamily="34" charset="0"/>
                  <a:cs typeface="Calibri" panose="020F0502020204030204" pitchFamily="34" charset="0"/>
                </a:rPr>
                <a:t>1/1</a:t>
              </a:r>
              <a:r>
                <a:rPr lang="en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 = f</a:t>
              </a:r>
              <a:r>
                <a:rPr lang="en" sz="1400" i="1" baseline="-25000" dirty="0">
                  <a:latin typeface="Calibri" panose="020F0502020204030204" pitchFamily="34" charset="0"/>
                  <a:cs typeface="Calibri" panose="020F0502020204030204" pitchFamily="34" charset="0"/>
                </a:rPr>
                <a:t>1/1</a:t>
              </a:r>
              <a:r>
                <a:rPr lang="en" sz="1400" i="1" dirty="0">
                  <a:latin typeface="Calibri" panose="020F0502020204030204" pitchFamily="34" charset="0"/>
                  <a:cs typeface="Calibri" panose="020F0502020204030204" pitchFamily="34" charset="0"/>
                </a:rPr>
                <a:t>(q) </a:t>
              </a:r>
              <a:r>
                <a:rPr lang="en" sz="1400" dirty="0"/>
                <a:t>is </a:t>
              </a:r>
              <a:r>
                <a:rPr lang="en" sz="1400" b="1" dirty="0"/>
                <a:t>difficult.</a:t>
              </a:r>
              <a:r>
                <a:rPr lang="en" sz="1400" dirty="0"/>
                <a:t> </a:t>
              </a:r>
              <a:endParaRPr sz="1400" dirty="0"/>
            </a:p>
            <a:p>
              <a:endParaRPr dirty="0"/>
            </a:p>
          </p:txBody>
        </p:sp>
        <p:pic>
          <p:nvPicPr>
            <p:cNvPr id="1013" name="Google Shape;1013;p77" title="Chart"/>
            <p:cNvPicPr preferRelativeResize="0"/>
            <p:nvPr/>
          </p:nvPicPr>
          <p:blipFill rotWithShape="1">
            <a:blip r:embed="rId4">
              <a:alphaModFix/>
            </a:blip>
            <a:srcRect l="2814" t="41058" r="79248"/>
            <a:stretch/>
          </p:blipFill>
          <p:spPr>
            <a:xfrm>
              <a:off x="790050" y="3075975"/>
              <a:ext cx="1301999" cy="1946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4" name="Google Shape;1014;p77"/>
            <p:cNvSpPr/>
            <p:nvPr/>
          </p:nvSpPr>
          <p:spPr>
            <a:xfrm>
              <a:off x="1159800" y="2980650"/>
              <a:ext cx="1277100" cy="1277100"/>
            </a:xfrm>
            <a:prstGeom prst="ellipse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015" name="Google Shape;1015;p77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25</a:t>
            </a:fld>
            <a:endParaRPr/>
          </a:p>
        </p:txBody>
      </p:sp>
      <p:grpSp>
        <p:nvGrpSpPr>
          <p:cNvPr id="1016" name="Google Shape;1016;p77"/>
          <p:cNvGrpSpPr/>
          <p:nvPr/>
        </p:nvGrpSpPr>
        <p:grpSpPr>
          <a:xfrm>
            <a:off x="907159" y="2109132"/>
            <a:ext cx="1432800" cy="1206000"/>
            <a:chOff x="1318775" y="1340100"/>
            <a:chExt cx="1432800" cy="1206000"/>
          </a:xfrm>
        </p:grpSpPr>
        <p:sp>
          <p:nvSpPr>
            <p:cNvPr id="1017" name="Google Shape;1017;p77"/>
            <p:cNvSpPr/>
            <p:nvPr/>
          </p:nvSpPr>
          <p:spPr>
            <a:xfrm>
              <a:off x="1318775" y="1340100"/>
              <a:ext cx="1432800" cy="1206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18" name="Google Shape;1018;p77"/>
            <p:cNvSpPr txBox="1"/>
            <p:nvPr/>
          </p:nvSpPr>
          <p:spPr>
            <a:xfrm>
              <a:off x="1905550" y="1416300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1</a:t>
              </a:r>
              <a:endParaRPr baseline="-25000"/>
            </a:p>
          </p:txBody>
        </p:sp>
        <p:sp>
          <p:nvSpPr>
            <p:cNvPr id="1019" name="Google Shape;1019;p77"/>
            <p:cNvSpPr txBox="1"/>
            <p:nvPr/>
          </p:nvSpPr>
          <p:spPr>
            <a:xfrm>
              <a:off x="1451650" y="1752400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2</a:t>
              </a:r>
              <a:endParaRPr baseline="-25000"/>
            </a:p>
          </p:txBody>
        </p:sp>
        <p:sp>
          <p:nvSpPr>
            <p:cNvPr id="1020" name="Google Shape;1020;p77"/>
            <p:cNvSpPr txBox="1"/>
            <p:nvPr/>
          </p:nvSpPr>
          <p:spPr>
            <a:xfrm>
              <a:off x="1905550" y="204437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3</a:t>
              </a:r>
              <a:endParaRPr baseline="-25000"/>
            </a:p>
          </p:txBody>
        </p:sp>
        <p:sp>
          <p:nvSpPr>
            <p:cNvPr id="1021" name="Google Shape;1021;p77"/>
            <p:cNvSpPr txBox="1"/>
            <p:nvPr/>
          </p:nvSpPr>
          <p:spPr>
            <a:xfrm>
              <a:off x="1711050" y="158587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4</a:t>
              </a:r>
              <a:endParaRPr baseline="-25000"/>
            </a:p>
          </p:txBody>
        </p:sp>
        <p:sp>
          <p:nvSpPr>
            <p:cNvPr id="1022" name="Google Shape;1022;p77"/>
            <p:cNvSpPr txBox="1"/>
            <p:nvPr/>
          </p:nvSpPr>
          <p:spPr>
            <a:xfrm>
              <a:off x="2017025" y="190087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q</a:t>
              </a:r>
              <a:endParaRPr baseline="-25000"/>
            </a:p>
          </p:txBody>
        </p:sp>
      </p:grpSp>
      <p:grpSp>
        <p:nvGrpSpPr>
          <p:cNvPr id="1023" name="Google Shape;1023;p77"/>
          <p:cNvGrpSpPr/>
          <p:nvPr/>
        </p:nvGrpSpPr>
        <p:grpSpPr>
          <a:xfrm>
            <a:off x="3382173" y="1892256"/>
            <a:ext cx="1508999" cy="1208375"/>
            <a:chOff x="3107751" y="1323250"/>
            <a:chExt cx="1508999" cy="1208375"/>
          </a:xfrm>
        </p:grpSpPr>
        <p:sp>
          <p:nvSpPr>
            <p:cNvPr id="1024" name="Google Shape;1024;p77"/>
            <p:cNvSpPr/>
            <p:nvPr/>
          </p:nvSpPr>
          <p:spPr>
            <a:xfrm>
              <a:off x="3183950" y="1323250"/>
              <a:ext cx="1432800" cy="1206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25" name="Google Shape;1025;p77"/>
            <p:cNvSpPr txBox="1"/>
            <p:nvPr/>
          </p:nvSpPr>
          <p:spPr>
            <a:xfrm>
              <a:off x="3107751" y="2110125"/>
              <a:ext cx="14328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dirty="0"/>
                <a:t>x</a:t>
              </a:r>
              <a:r>
                <a:rPr lang="en" baseline="-25000" dirty="0"/>
                <a:t>1</a:t>
              </a:r>
              <a:r>
                <a:rPr lang="en" dirty="0"/>
                <a:t> x</a:t>
              </a:r>
              <a:r>
                <a:rPr lang="en" baseline="-25000" dirty="0"/>
                <a:t>2  </a:t>
              </a:r>
              <a:r>
                <a:rPr lang="en" dirty="0"/>
                <a:t>x</a:t>
              </a:r>
              <a:r>
                <a:rPr lang="en" baseline="-25000" dirty="0"/>
                <a:t>3</a:t>
              </a:r>
              <a:r>
                <a:rPr lang="en" dirty="0"/>
                <a:t> x</a:t>
              </a:r>
              <a:r>
                <a:rPr lang="en" baseline="-25000" dirty="0"/>
                <a:t>4</a:t>
              </a:r>
              <a:endParaRPr baseline="-25000" dirty="0"/>
            </a:p>
          </p:txBody>
        </p:sp>
        <p:cxnSp>
          <p:nvCxnSpPr>
            <p:cNvPr id="1026" name="Google Shape;1026;p77"/>
            <p:cNvCxnSpPr/>
            <p:nvPr/>
          </p:nvCxnSpPr>
          <p:spPr>
            <a:xfrm rot="10800000">
              <a:off x="3484500" y="2030400"/>
              <a:ext cx="0" cy="15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27" name="Google Shape;1027;p77"/>
            <p:cNvCxnSpPr/>
            <p:nvPr/>
          </p:nvCxnSpPr>
          <p:spPr>
            <a:xfrm rot="10800000">
              <a:off x="3900351" y="1429725"/>
              <a:ext cx="0" cy="756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28" name="Google Shape;1028;p77"/>
            <p:cNvCxnSpPr/>
            <p:nvPr/>
          </p:nvCxnSpPr>
          <p:spPr>
            <a:xfrm rot="10800000">
              <a:off x="4072076" y="1831150"/>
              <a:ext cx="0" cy="342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29" name="Google Shape;1029;p77"/>
            <p:cNvCxnSpPr/>
            <p:nvPr/>
          </p:nvCxnSpPr>
          <p:spPr>
            <a:xfrm rot="10800000">
              <a:off x="3713100" y="1966500"/>
              <a:ext cx="0" cy="215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30" name="Google Shape;1030;p77"/>
          <p:cNvSpPr txBox="1"/>
          <p:nvPr/>
        </p:nvSpPr>
        <p:spPr>
          <a:xfrm>
            <a:off x="373500" y="3762051"/>
            <a:ext cx="6531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1600" b="1" dirty="0">
                <a:solidFill>
                  <a:srgbClr val="0000FF"/>
                </a:solidFill>
              </a:rPr>
              <a:t>NQL</a:t>
            </a:r>
            <a:endParaRPr sz="1600" b="1" dirty="0">
              <a:solidFill>
                <a:srgbClr val="0000FF"/>
              </a:solidFill>
            </a:endParaRPr>
          </a:p>
        </p:txBody>
      </p:sp>
      <p:sp>
        <p:nvSpPr>
          <p:cNvPr id="1031" name="Google Shape;1031;p77"/>
          <p:cNvSpPr txBox="1"/>
          <p:nvPr/>
        </p:nvSpPr>
        <p:spPr>
          <a:xfrm>
            <a:off x="2278500" y="3762051"/>
            <a:ext cx="8292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1400" b="1" dirty="0">
                <a:solidFill>
                  <a:srgbClr val="1D8E3E"/>
                </a:solidFill>
              </a:rPr>
              <a:t>SOTA</a:t>
            </a:r>
            <a:endParaRPr sz="1400" b="1" dirty="0">
              <a:solidFill>
                <a:srgbClr val="1D8E3E"/>
              </a:solidFill>
            </a:endParaRPr>
          </a:p>
        </p:txBody>
      </p:sp>
      <p:sp>
        <p:nvSpPr>
          <p:cNvPr id="2" name="Google Shape;1012;p77">
            <a:extLst>
              <a:ext uri="{FF2B5EF4-FFF2-40B4-BE49-F238E27FC236}">
                <a16:creationId xmlns:a16="http://schemas.microsoft.com/office/drawing/2014/main" id="{2444A7F4-2AC9-A71E-9F89-3061455B2EAE}"/>
              </a:ext>
            </a:extLst>
          </p:cNvPr>
          <p:cNvSpPr txBox="1"/>
          <p:nvPr/>
        </p:nvSpPr>
        <p:spPr>
          <a:xfrm>
            <a:off x="2339959" y="3250657"/>
            <a:ext cx="3219844" cy="451423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Embeddings require fewer predictions</a:t>
            </a:r>
            <a:endParaRPr sz="1400" dirty="0"/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>
          <a:extLst>
            <a:ext uri="{FF2B5EF4-FFF2-40B4-BE49-F238E27FC236}">
              <a16:creationId xmlns:a16="http://schemas.microsoft.com/office/drawing/2014/main" id="{5382B96D-F107-6DC9-400A-E654382CD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7">
            <a:extLst>
              <a:ext uri="{FF2B5EF4-FFF2-40B4-BE49-F238E27FC236}">
                <a16:creationId xmlns:a16="http://schemas.microsoft.com/office/drawing/2014/main" id="{53B9FFB2-B4FD-51E1-2F52-C9A3E74C54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5212" y="321909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Neural QLs compared to KB embeddings</a:t>
            </a:r>
            <a:endParaRPr dirty="0"/>
          </a:p>
        </p:txBody>
      </p:sp>
      <p:sp>
        <p:nvSpPr>
          <p:cNvPr id="1015" name="Google Shape;1015;p77">
            <a:extLst>
              <a:ext uri="{FF2B5EF4-FFF2-40B4-BE49-F238E27FC236}">
                <a16:creationId xmlns:a16="http://schemas.microsoft.com/office/drawing/2014/main" id="{3EA66A9D-CABA-30F9-C3FB-F8B1149425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26</a:t>
            </a:fld>
            <a:endParaRPr/>
          </a:p>
        </p:txBody>
      </p:sp>
      <p:grpSp>
        <p:nvGrpSpPr>
          <p:cNvPr id="1016" name="Google Shape;1016;p77">
            <a:extLst>
              <a:ext uri="{FF2B5EF4-FFF2-40B4-BE49-F238E27FC236}">
                <a16:creationId xmlns:a16="http://schemas.microsoft.com/office/drawing/2014/main" id="{4166F909-9098-E16E-BAEB-B7AB54C43E12}"/>
              </a:ext>
            </a:extLst>
          </p:cNvPr>
          <p:cNvGrpSpPr/>
          <p:nvPr/>
        </p:nvGrpSpPr>
        <p:grpSpPr>
          <a:xfrm>
            <a:off x="907159" y="2109132"/>
            <a:ext cx="1432800" cy="1206000"/>
            <a:chOff x="1318775" y="1340100"/>
            <a:chExt cx="1432800" cy="1206000"/>
          </a:xfrm>
        </p:grpSpPr>
        <p:sp>
          <p:nvSpPr>
            <p:cNvPr id="1017" name="Google Shape;1017;p77">
              <a:extLst>
                <a:ext uri="{FF2B5EF4-FFF2-40B4-BE49-F238E27FC236}">
                  <a16:creationId xmlns:a16="http://schemas.microsoft.com/office/drawing/2014/main" id="{92491B5A-AD0D-C92D-E9B8-34158BEA2F30}"/>
                </a:ext>
              </a:extLst>
            </p:cNvPr>
            <p:cNvSpPr/>
            <p:nvPr/>
          </p:nvSpPr>
          <p:spPr>
            <a:xfrm>
              <a:off x="1318775" y="1340100"/>
              <a:ext cx="1432800" cy="1206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18" name="Google Shape;1018;p77">
              <a:extLst>
                <a:ext uri="{FF2B5EF4-FFF2-40B4-BE49-F238E27FC236}">
                  <a16:creationId xmlns:a16="http://schemas.microsoft.com/office/drawing/2014/main" id="{DB475CEA-C939-5725-5FA0-25789B156D57}"/>
                </a:ext>
              </a:extLst>
            </p:cNvPr>
            <p:cNvSpPr txBox="1"/>
            <p:nvPr/>
          </p:nvSpPr>
          <p:spPr>
            <a:xfrm>
              <a:off x="1905550" y="1416300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1</a:t>
              </a:r>
              <a:endParaRPr baseline="-25000"/>
            </a:p>
          </p:txBody>
        </p:sp>
        <p:sp>
          <p:nvSpPr>
            <p:cNvPr id="1019" name="Google Shape;1019;p77">
              <a:extLst>
                <a:ext uri="{FF2B5EF4-FFF2-40B4-BE49-F238E27FC236}">
                  <a16:creationId xmlns:a16="http://schemas.microsoft.com/office/drawing/2014/main" id="{0F0CEEA7-B6A3-A878-F358-80A218188D10}"/>
                </a:ext>
              </a:extLst>
            </p:cNvPr>
            <p:cNvSpPr txBox="1"/>
            <p:nvPr/>
          </p:nvSpPr>
          <p:spPr>
            <a:xfrm>
              <a:off x="1451650" y="1752400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2</a:t>
              </a:r>
              <a:endParaRPr baseline="-25000"/>
            </a:p>
          </p:txBody>
        </p:sp>
        <p:sp>
          <p:nvSpPr>
            <p:cNvPr id="1020" name="Google Shape;1020;p77">
              <a:extLst>
                <a:ext uri="{FF2B5EF4-FFF2-40B4-BE49-F238E27FC236}">
                  <a16:creationId xmlns:a16="http://schemas.microsoft.com/office/drawing/2014/main" id="{2EADC02D-4A63-503C-8496-8B26DE9575B3}"/>
                </a:ext>
              </a:extLst>
            </p:cNvPr>
            <p:cNvSpPr txBox="1"/>
            <p:nvPr/>
          </p:nvSpPr>
          <p:spPr>
            <a:xfrm>
              <a:off x="1905550" y="204437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3</a:t>
              </a:r>
              <a:endParaRPr baseline="-25000"/>
            </a:p>
          </p:txBody>
        </p:sp>
        <p:sp>
          <p:nvSpPr>
            <p:cNvPr id="1021" name="Google Shape;1021;p77">
              <a:extLst>
                <a:ext uri="{FF2B5EF4-FFF2-40B4-BE49-F238E27FC236}">
                  <a16:creationId xmlns:a16="http://schemas.microsoft.com/office/drawing/2014/main" id="{95D4AE64-9826-4A3A-2A33-531E80F2B96E}"/>
                </a:ext>
              </a:extLst>
            </p:cNvPr>
            <p:cNvSpPr txBox="1"/>
            <p:nvPr/>
          </p:nvSpPr>
          <p:spPr>
            <a:xfrm>
              <a:off x="1711050" y="158587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4</a:t>
              </a:r>
              <a:endParaRPr baseline="-25000"/>
            </a:p>
          </p:txBody>
        </p:sp>
        <p:sp>
          <p:nvSpPr>
            <p:cNvPr id="1022" name="Google Shape;1022;p77">
              <a:extLst>
                <a:ext uri="{FF2B5EF4-FFF2-40B4-BE49-F238E27FC236}">
                  <a16:creationId xmlns:a16="http://schemas.microsoft.com/office/drawing/2014/main" id="{EE88A183-F15B-9D3B-638E-11D078C339CF}"/>
                </a:ext>
              </a:extLst>
            </p:cNvPr>
            <p:cNvSpPr txBox="1"/>
            <p:nvPr/>
          </p:nvSpPr>
          <p:spPr>
            <a:xfrm>
              <a:off x="2017025" y="190087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q</a:t>
              </a:r>
              <a:endParaRPr baseline="-25000"/>
            </a:p>
          </p:txBody>
        </p:sp>
      </p:grpSp>
      <p:sp>
        <p:nvSpPr>
          <p:cNvPr id="2" name="Google Shape;1012;p77">
            <a:extLst>
              <a:ext uri="{FF2B5EF4-FFF2-40B4-BE49-F238E27FC236}">
                <a16:creationId xmlns:a16="http://schemas.microsoft.com/office/drawing/2014/main" id="{30F34EAD-9009-E825-3915-86DB1509D324}"/>
              </a:ext>
            </a:extLst>
          </p:cNvPr>
          <p:cNvSpPr txBox="1"/>
          <p:nvPr/>
        </p:nvSpPr>
        <p:spPr>
          <a:xfrm>
            <a:off x="2339959" y="3250657"/>
            <a:ext cx="3219844" cy="572700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Embeddings require fewer predictions and </a:t>
            </a:r>
            <a:r>
              <a:rPr lang="en-US" sz="1400" b="1" dirty="0"/>
              <a:t>generalize</a:t>
            </a:r>
            <a:r>
              <a:rPr lang="en-US" sz="1400" dirty="0"/>
              <a:t> well</a:t>
            </a:r>
            <a:endParaRPr sz="1400" dirty="0"/>
          </a:p>
          <a:p>
            <a:endParaRPr dirty="0"/>
          </a:p>
        </p:txBody>
      </p:sp>
      <p:sp>
        <p:nvSpPr>
          <p:cNvPr id="3" name="Google Shape;1012;p77">
            <a:extLst>
              <a:ext uri="{FF2B5EF4-FFF2-40B4-BE49-F238E27FC236}">
                <a16:creationId xmlns:a16="http://schemas.microsoft.com/office/drawing/2014/main" id="{79725D22-3CFC-7EEE-411D-EBC2257A238B}"/>
              </a:ext>
            </a:extLst>
          </p:cNvPr>
          <p:cNvSpPr txBox="1"/>
          <p:nvPr/>
        </p:nvSpPr>
        <p:spPr>
          <a:xfrm>
            <a:off x="2452017" y="3981281"/>
            <a:ext cx="3219844" cy="572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… but don’t </a:t>
            </a:r>
            <a:r>
              <a:rPr lang="en-US" sz="1400" b="1" dirty="0"/>
              <a:t>memorize</a:t>
            </a:r>
            <a:r>
              <a:rPr lang="en-US" sz="1400" dirty="0"/>
              <a:t> the </a:t>
            </a:r>
            <a:r>
              <a:rPr lang="en-US" sz="1400" b="1" dirty="0"/>
              <a:t>details</a:t>
            </a:r>
            <a:r>
              <a:rPr lang="en-US" sz="1400" dirty="0"/>
              <a:t> of a relationship</a:t>
            </a:r>
            <a:endParaRPr sz="1400" dirty="0"/>
          </a:p>
          <a:p>
            <a:endParaRPr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3174F8D-D122-9C82-E0F5-95184852A8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2" t="24511" r="11756" b="9628"/>
          <a:stretch/>
        </p:blipFill>
        <p:spPr bwMode="auto">
          <a:xfrm>
            <a:off x="6212542" y="2396082"/>
            <a:ext cx="2400817" cy="246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05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A59DC-3C81-38F5-E554-0C4C02B64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CM Sketches  Are Also Neural Networks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1F67DB-61DE-34A0-5BAF-87431819D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0" y="1668393"/>
            <a:ext cx="7891670" cy="415270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4AEC1CA-6208-DC22-6B73-6539AB986A8A}"/>
              </a:ext>
            </a:extLst>
          </p:cNvPr>
          <p:cNvCxnSpPr>
            <a:cxnSpLocks/>
          </p:cNvCxnSpPr>
          <p:nvPr/>
        </p:nvCxnSpPr>
        <p:spPr>
          <a:xfrm flipH="1" flipV="1">
            <a:off x="2227006" y="4306529"/>
            <a:ext cx="1637071" cy="796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E91D9B-A175-6110-F1EB-3C7FAFA47209}"/>
              </a:ext>
            </a:extLst>
          </p:cNvPr>
          <p:cNvCxnSpPr>
            <a:cxnSpLocks/>
          </p:cNvCxnSpPr>
          <p:nvPr/>
        </p:nvCxnSpPr>
        <p:spPr>
          <a:xfrm flipH="1">
            <a:off x="4163961" y="4306529"/>
            <a:ext cx="2708787" cy="796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428F41-4132-3D8E-89D1-C31B97B1AC4D}"/>
              </a:ext>
            </a:extLst>
          </p:cNvPr>
          <p:cNvCxnSpPr>
            <a:cxnSpLocks/>
          </p:cNvCxnSpPr>
          <p:nvPr/>
        </p:nvCxnSpPr>
        <p:spPr>
          <a:xfrm flipH="1">
            <a:off x="4041058" y="4306529"/>
            <a:ext cx="427703" cy="7703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92FD61-78BA-3ED8-0216-20BADFA3BB97}"/>
              </a:ext>
            </a:extLst>
          </p:cNvPr>
          <p:cNvCxnSpPr>
            <a:cxnSpLocks/>
          </p:cNvCxnSpPr>
          <p:nvPr/>
        </p:nvCxnSpPr>
        <p:spPr>
          <a:xfrm flipH="1">
            <a:off x="2024531" y="3390008"/>
            <a:ext cx="1205366" cy="6229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D6B5DC3-D5C4-B8F9-E5DB-F2F8A7CD42C0}"/>
              </a:ext>
            </a:extLst>
          </p:cNvPr>
          <p:cNvCxnSpPr>
            <a:cxnSpLocks/>
          </p:cNvCxnSpPr>
          <p:nvPr/>
        </p:nvCxnSpPr>
        <p:spPr>
          <a:xfrm flipH="1" flipV="1">
            <a:off x="3442371" y="3429000"/>
            <a:ext cx="3641624" cy="6338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F66AF2F-233A-A90F-5071-29213B19B1BE}"/>
              </a:ext>
            </a:extLst>
          </p:cNvPr>
          <p:cNvCxnSpPr>
            <a:cxnSpLocks/>
          </p:cNvCxnSpPr>
          <p:nvPr/>
        </p:nvCxnSpPr>
        <p:spPr>
          <a:xfrm flipH="1" flipV="1">
            <a:off x="3442371" y="3429000"/>
            <a:ext cx="1026390" cy="6803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4245FD9-D0ED-5F34-2F4D-D1A820C5C5DA}"/>
              </a:ext>
            </a:extLst>
          </p:cNvPr>
          <p:cNvSpPr txBox="1"/>
          <p:nvPr/>
        </p:nvSpPr>
        <p:spPr>
          <a:xfrm>
            <a:off x="6484301" y="3358544"/>
            <a:ext cx="2802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 approx. “min”)</a:t>
            </a:r>
          </a:p>
        </p:txBody>
      </p:sp>
    </p:spTree>
    <p:extLst>
      <p:ext uri="{BB962C8B-B14F-4D97-AF65-F5344CB8AC3E}">
        <p14:creationId xmlns:p14="http://schemas.microsoft.com/office/powerpoint/2010/main" val="3602912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80"/>
          <p:cNvSpPr txBox="1">
            <a:spLocks noGrp="1"/>
          </p:cNvSpPr>
          <p:nvPr>
            <p:ph type="title"/>
          </p:nvPr>
        </p:nvSpPr>
        <p:spPr>
          <a:xfrm>
            <a:off x="500558" y="211353"/>
            <a:ext cx="4455470" cy="14657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sz="4000" dirty="0" err="1"/>
              <a:t>EmQL</a:t>
            </a:r>
            <a:r>
              <a:rPr lang="en" sz="4000" dirty="0"/>
              <a:t>: centroid-sketch sets </a:t>
            </a:r>
            <a:endParaRPr sz="4000" dirty="0"/>
          </a:p>
        </p:txBody>
      </p:sp>
      <p:sp>
        <p:nvSpPr>
          <p:cNvPr id="1099" name="Google Shape;1099;p80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53118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Set X is </a:t>
            </a:r>
            <a:r>
              <a:rPr lang="en" sz="2000" b="1" u="sng" dirty="0">
                <a:latin typeface="Google Sans"/>
                <a:ea typeface="Google Sans"/>
                <a:cs typeface="Google Sans"/>
                <a:sym typeface="Google Sans"/>
              </a:rPr>
              <a:t>encoded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by  pair (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)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is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centroid of the elements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in embedding space - assume </a:t>
            </a:r>
            <a:r>
              <a:rPr lang="en" sz="2000" i="1" dirty="0">
                <a:latin typeface="Google Sans"/>
                <a:ea typeface="Google Sans"/>
                <a:cs typeface="Google Sans"/>
                <a:sym typeface="Google Sans"/>
              </a:rPr>
              <a:t>m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elements of set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is a count-min sketch of X</a:t>
            </a:r>
            <a:endParaRPr sz="2000" baseline="-25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lvl="1" indent="-342900">
              <a:spcAft>
                <a:spcPts val="1600"/>
              </a:spcAft>
              <a:buSzPts val="1800"/>
              <a:buFont typeface="Google Sans"/>
              <a:buChar char="○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CM sketch is accessed with differentiable operations, doesn’t need a sparse matrix, and can be small… if you don’t query it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too often</a:t>
            </a:r>
            <a:endParaRPr sz="2000" b="1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00" name="Google Shape;1100;p80"/>
          <p:cNvSpPr txBox="1">
            <a:spLocks noGrp="1"/>
          </p:cNvSpPr>
          <p:nvPr>
            <p:ph type="body" idx="1"/>
          </p:nvPr>
        </p:nvSpPr>
        <p:spPr>
          <a:xfrm>
            <a:off x="5623350" y="1951175"/>
            <a:ext cx="3520800" cy="3807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To </a:t>
            </a:r>
            <a:r>
              <a:rPr lang="en" sz="2000" b="1" u="sng" dirty="0">
                <a:latin typeface="Google Sans"/>
                <a:ea typeface="Google Sans"/>
                <a:cs typeface="Google Sans"/>
                <a:sym typeface="Google Sans"/>
              </a:rPr>
              <a:t>decode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X from  (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):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Get top-k entities i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1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,...,</a:t>
            </a:r>
            <a:r>
              <a:rPr lang="en" sz="2000" dirty="0" err="1"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k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using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as a query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lvl="1">
              <a:buFont typeface="Google Sans"/>
              <a:buChar char="○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If |X| &lt;= n, let k=10*n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Score  entity </a:t>
            </a:r>
            <a:r>
              <a:rPr lang="en" sz="2000" dirty="0" err="1"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j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as CM(</a:t>
            </a:r>
            <a:r>
              <a:rPr lang="en" sz="2000" dirty="0" err="1"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j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) 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spcAft>
                <a:spcPts val="1600"/>
              </a:spcAft>
              <a:buFont typeface="Google Sans"/>
              <a:buChar char="●"/>
            </a:pPr>
            <a:r>
              <a:rPr lang="en" sz="2000" dirty="0">
                <a:highlight>
                  <a:srgbClr val="FFFF00"/>
                </a:highlight>
                <a:latin typeface="Google Sans"/>
                <a:ea typeface="Google Sans"/>
                <a:cs typeface="Google Sans"/>
                <a:sym typeface="Google Sans"/>
              </a:rPr>
              <a:t>We </a:t>
            </a:r>
            <a:r>
              <a:rPr lang="en" sz="2000" b="1" dirty="0">
                <a:highlight>
                  <a:srgbClr val="FFFF00"/>
                </a:highlight>
                <a:latin typeface="Google Sans"/>
                <a:ea typeface="Google Sans"/>
                <a:cs typeface="Google Sans"/>
                <a:sym typeface="Google Sans"/>
              </a:rPr>
              <a:t>only query the sketch </a:t>
            </a:r>
            <a:r>
              <a:rPr lang="en" sz="2000" dirty="0">
                <a:highlight>
                  <a:srgbClr val="FFFF00"/>
                </a:highlight>
                <a:latin typeface="Google Sans"/>
                <a:ea typeface="Google Sans"/>
                <a:cs typeface="Google Sans"/>
                <a:sym typeface="Google Sans"/>
              </a:rPr>
              <a:t>10n times so we don’t need a very large sketch</a:t>
            </a:r>
            <a:endParaRPr sz="2000" dirty="0">
              <a:highlight>
                <a:srgbClr val="FFFF00"/>
              </a:highlight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01" name="Google Shape;1101;p80"/>
          <p:cNvSpPr/>
          <p:nvPr/>
        </p:nvSpPr>
        <p:spPr>
          <a:xfrm rot="-1850648">
            <a:off x="3697225" y="1617269"/>
            <a:ext cx="1749547" cy="33715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02" name="Google Shape;1102;p80"/>
          <p:cNvSpPr txBox="1"/>
          <p:nvPr/>
        </p:nvSpPr>
        <p:spPr>
          <a:xfrm>
            <a:off x="5169900" y="558025"/>
            <a:ext cx="3974100" cy="823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>
                <a:latin typeface="Google Sans"/>
                <a:ea typeface="Google Sans"/>
                <a:cs typeface="Google Sans"/>
                <a:sym typeface="Google Sans"/>
              </a:rPr>
              <a:t>The centroid defines a “fine-grained type” for elements of X</a:t>
            </a:r>
            <a:endParaRPr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03" name="Google Shape;1103;p8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81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53118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Set X is </a:t>
            </a:r>
            <a:r>
              <a:rPr lang="en" sz="2000" b="1" u="sng" dirty="0">
                <a:latin typeface="Google Sans"/>
                <a:ea typeface="Google Sans"/>
                <a:cs typeface="Google Sans"/>
                <a:sym typeface="Google Sans"/>
              </a:rPr>
              <a:t>encoded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by  pair (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)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is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centroid of the elements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in embedding space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is a count-min sketch for k-hot vector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endParaRPr sz="2000" baseline="-25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0" name="Google Shape;1110;p81"/>
          <p:cNvSpPr txBox="1">
            <a:spLocks noGrp="1"/>
          </p:cNvSpPr>
          <p:nvPr>
            <p:ph type="body" idx="1"/>
          </p:nvPr>
        </p:nvSpPr>
        <p:spPr>
          <a:xfrm>
            <a:off x="5623350" y="1951175"/>
            <a:ext cx="3520800" cy="3807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To </a:t>
            </a:r>
            <a:r>
              <a:rPr lang="en" sz="2000" b="1" u="sng" dirty="0">
                <a:latin typeface="Google Sans"/>
                <a:ea typeface="Google Sans"/>
                <a:cs typeface="Google Sans"/>
                <a:sym typeface="Google Sans"/>
              </a:rPr>
              <a:t>predict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X=(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):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Let the neural model produce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(a point in embedding space)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lvl="1" indent="-342900">
              <a:buSzPts val="1800"/>
              <a:buFont typeface="Google Sans"/>
              <a:buChar char="○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E.g., 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 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= f(q)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Let the sketch be vacuous: CM(</a:t>
            </a:r>
            <a:r>
              <a:rPr lang="en" sz="2000" dirty="0" err="1">
                <a:latin typeface="Google Sans"/>
                <a:ea typeface="Google Sans"/>
                <a:cs typeface="Google Sans"/>
                <a:sym typeface="Google Sans"/>
              </a:rPr>
              <a:t>i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)  =1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Now you predict an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embedded representation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, not an entity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id</a:t>
            </a:r>
            <a:endParaRPr sz="2000" b="1" baseline="-250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1" name="Google Shape;1111;p81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29</a:t>
            </a:fld>
            <a:endParaRPr/>
          </a:p>
        </p:txBody>
      </p:sp>
      <p:sp>
        <p:nvSpPr>
          <p:cNvPr id="4" name="Google Shape;1098;p80">
            <a:extLst>
              <a:ext uri="{FF2B5EF4-FFF2-40B4-BE49-F238E27FC236}">
                <a16:creationId xmlns:a16="http://schemas.microsoft.com/office/drawing/2014/main" id="{9514FA8D-7290-ED8B-3388-BC54207029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8" y="211353"/>
            <a:ext cx="4455470" cy="14657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sz="4000" dirty="0" err="1"/>
              <a:t>EmQL</a:t>
            </a:r>
            <a:r>
              <a:rPr lang="en" sz="4000" dirty="0"/>
              <a:t>: centroid-sketch sets </a:t>
            </a:r>
            <a:endParaRPr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2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5817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Count-min sketches are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awesome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! Because if 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is a count-min sketch for k-hot vector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endParaRPr sz="2000" baseline="-25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>
                <a:latin typeface="Google Sans"/>
                <a:ea typeface="Google Sans"/>
                <a:cs typeface="Google Sans"/>
                <a:sym typeface="Google Sans"/>
              </a:rPr>
              <a:t>y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is a count-min sketch for k-hot vector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y</a:t>
            </a:r>
            <a:endParaRPr sz="2000" baseline="-25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Then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+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>
                <a:latin typeface="Google Sans"/>
                <a:ea typeface="Google Sans"/>
                <a:cs typeface="Google Sans"/>
                <a:sym typeface="Google Sans"/>
              </a:rPr>
              <a:t>y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is a sketch for union vector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+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y</a:t>
            </a:r>
            <a:endParaRPr sz="2000" dirty="0"/>
          </a:p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*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>
                <a:latin typeface="Google Sans"/>
                <a:ea typeface="Google Sans"/>
                <a:cs typeface="Google Sans"/>
                <a:sym typeface="Google Sans"/>
              </a:rPr>
              <a:t>y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is a sketch for intersection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*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y</a:t>
            </a:r>
            <a:endParaRPr sz="2000" baseline="-250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19" name="Google Shape;1119;p82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30</a:t>
            </a:fld>
            <a:endParaRPr/>
          </a:p>
        </p:txBody>
      </p:sp>
      <p:sp>
        <p:nvSpPr>
          <p:cNvPr id="4" name="Google Shape;1098;p80">
            <a:extLst>
              <a:ext uri="{FF2B5EF4-FFF2-40B4-BE49-F238E27FC236}">
                <a16:creationId xmlns:a16="http://schemas.microsoft.com/office/drawing/2014/main" id="{E586C350-76D0-ED60-6E1A-8D2502A90B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8" y="211353"/>
            <a:ext cx="4455470" cy="14657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sz="4000" dirty="0" err="1"/>
              <a:t>EmQL</a:t>
            </a:r>
            <a:r>
              <a:rPr lang="en" sz="4000" dirty="0"/>
              <a:t>: centroid-sketch sets </a:t>
            </a:r>
            <a:endParaRPr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3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5817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Google Sans"/>
                <a:ea typeface="Google Sans"/>
                <a:cs typeface="Google Sans"/>
                <a:sym typeface="Google Sans"/>
              </a:rPr>
              <a:t>Recall: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is a count-min sketch for k-hot vector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endParaRPr sz="2000" baseline="-25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>
                <a:latin typeface="Google Sans"/>
                <a:ea typeface="Google Sans"/>
                <a:cs typeface="Google Sans"/>
                <a:sym typeface="Google Sans"/>
              </a:rPr>
              <a:t>y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is a count-min sketch for k-hot vector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y</a:t>
            </a:r>
            <a:endParaRPr sz="2000" baseline="-25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Then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+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>
                <a:latin typeface="Google Sans"/>
                <a:ea typeface="Google Sans"/>
                <a:cs typeface="Google Sans"/>
                <a:sym typeface="Google Sans"/>
              </a:rPr>
              <a:t>y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is a sketch for union vector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+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y</a:t>
            </a:r>
            <a:endParaRPr sz="2000" dirty="0"/>
          </a:p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*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>
                <a:latin typeface="Google Sans"/>
                <a:ea typeface="Google Sans"/>
                <a:cs typeface="Google Sans"/>
                <a:sym typeface="Google Sans"/>
              </a:rPr>
              <a:t>y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is a sketch for intersection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*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v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y</a:t>
            </a:r>
            <a:endParaRPr sz="2000" baseline="-250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6" name="Google Shape;1126;p83"/>
          <p:cNvSpPr txBox="1">
            <a:spLocks noGrp="1"/>
          </p:cNvSpPr>
          <p:nvPr>
            <p:ph type="body" idx="1"/>
          </p:nvPr>
        </p:nvSpPr>
        <p:spPr>
          <a:xfrm>
            <a:off x="5517950" y="1964550"/>
            <a:ext cx="3626100" cy="3807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To compute </a:t>
            </a:r>
            <a:r>
              <a:rPr lang="en" sz="2000" b="1" u="sng" dirty="0">
                <a:latin typeface="Google Sans"/>
                <a:ea typeface="Google Sans"/>
                <a:cs typeface="Google Sans"/>
                <a:sym typeface="Google Sans"/>
              </a:rPr>
              <a:t>union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of X = (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) and  Y = (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Y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Y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) 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  <a:buFont typeface="Google Sans"/>
              <a:buChar char="●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Average the centroids 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buFont typeface="Google Sans"/>
              <a:buChar char="●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Union the sketches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+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="1" baseline="-25000" dirty="0">
                <a:latin typeface="Google Sans"/>
                <a:ea typeface="Google Sans"/>
                <a:cs typeface="Google Sans"/>
                <a:sym typeface="Google Sans"/>
              </a:rPr>
              <a:t>y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Similar for intersection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This works well for combining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sets of similar “fine-grained types”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…. and really who care about other cases?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7" name="Google Shape;1127;p83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31</a:t>
            </a:fld>
            <a:endParaRPr/>
          </a:p>
        </p:txBody>
      </p:sp>
      <p:sp>
        <p:nvSpPr>
          <p:cNvPr id="4" name="Google Shape;1098;p80">
            <a:extLst>
              <a:ext uri="{FF2B5EF4-FFF2-40B4-BE49-F238E27FC236}">
                <a16:creationId xmlns:a16="http://schemas.microsoft.com/office/drawing/2014/main" id="{23E4FB86-A891-AA36-B41A-4A06AFD33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8" y="211353"/>
            <a:ext cx="4455470" cy="14657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sz="4000" dirty="0" err="1"/>
              <a:t>EmQL</a:t>
            </a:r>
            <a:r>
              <a:rPr lang="en" sz="4000" dirty="0"/>
              <a:t>: centroid-sketch sets </a:t>
            </a:r>
            <a:endParaRPr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4"/>
          <p:cNvSpPr txBox="1">
            <a:spLocks noGrp="1"/>
          </p:cNvSpPr>
          <p:nvPr>
            <p:ph type="body" idx="1"/>
          </p:nvPr>
        </p:nvSpPr>
        <p:spPr>
          <a:xfrm>
            <a:off x="311700" y="2009725"/>
            <a:ext cx="8705400" cy="38322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0" indent="0"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Implementing </a:t>
            </a:r>
            <a:r>
              <a:rPr lang="en" sz="2000" dirty="0" err="1">
                <a:latin typeface="Google Sans"/>
                <a:ea typeface="Google Sans"/>
                <a:cs typeface="Google Sans"/>
                <a:sym typeface="Google Sans"/>
              </a:rPr>
              <a:t>X.follow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(R) in </a:t>
            </a:r>
            <a:r>
              <a:rPr lang="en" sz="2000" dirty="0" err="1">
                <a:latin typeface="Google Sans"/>
                <a:ea typeface="Google Sans"/>
                <a:cs typeface="Google Sans"/>
                <a:sym typeface="Google Sans"/>
              </a:rPr>
              <a:t>EmQL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Bef>
                <a:spcPts val="1600"/>
              </a:spcBef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Build a KB of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embedded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triples: </a:t>
            </a:r>
            <a:r>
              <a:rPr lang="en" sz="2000" i="1" dirty="0">
                <a:latin typeface="Google Sans"/>
                <a:ea typeface="Google Sans"/>
                <a:cs typeface="Google Sans"/>
                <a:sym typeface="Google Sans"/>
              </a:rPr>
              <a:t>r(</a:t>
            </a:r>
            <a:r>
              <a:rPr lang="en" sz="2000" i="1" dirty="0" err="1">
                <a:latin typeface="Google Sans"/>
                <a:ea typeface="Google Sans"/>
                <a:cs typeface="Google Sans"/>
                <a:sym typeface="Google Sans"/>
              </a:rPr>
              <a:t>x,y</a:t>
            </a:r>
            <a:r>
              <a:rPr lang="en" sz="2000" i="1" dirty="0">
                <a:latin typeface="Google Sans"/>
                <a:ea typeface="Google Sans"/>
                <a:cs typeface="Google Sans"/>
                <a:sym typeface="Google Sans"/>
              </a:rPr>
              <a:t>)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is encoded as [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r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;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lang="en" sz="2000" baseline="-25000" dirty="0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; 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e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y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]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Find the top-k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triples in the KB from the query [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R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;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a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; 0]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lvl="1" indent="-342900">
              <a:spcBef>
                <a:spcPts val="0"/>
              </a:spcBef>
              <a:buClr>
                <a:srgbClr val="888888"/>
              </a:buClr>
              <a:buSzPts val="1800"/>
              <a:buFont typeface="Google Sans"/>
              <a:buChar char="○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This is can be fast (more later!)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lvl="1" indent="-342900">
              <a:spcBef>
                <a:spcPts val="0"/>
              </a:spcBef>
              <a:buClr>
                <a:srgbClr val="888888"/>
              </a:buClr>
              <a:buSzPts val="1800"/>
            </a:pPr>
            <a:r>
              <a:rPr lang="en" sz="2000" dirty="0"/>
              <a:t>These should have the right relation and subject</a:t>
            </a:r>
            <a:endParaRPr sz="2000" dirty="0"/>
          </a:p>
          <a:p>
            <a:pPr>
              <a:buFont typeface="Google Sans"/>
              <a:buChar char="●"/>
            </a:pP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Rescore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those triples using the sketches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X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 and </a:t>
            </a:r>
            <a:r>
              <a:rPr lang="en" sz="2000" b="1" dirty="0" err="1">
                <a:latin typeface="Google Sans"/>
                <a:ea typeface="Google Sans"/>
                <a:cs typeface="Google Sans"/>
                <a:sym typeface="Google Sans"/>
              </a:rPr>
              <a:t>b</a:t>
            </a:r>
            <a:r>
              <a:rPr lang="en" sz="2000" baseline="-25000" dirty="0" err="1">
                <a:latin typeface="Google Sans"/>
                <a:ea typeface="Google Sans"/>
                <a:cs typeface="Google Sans"/>
                <a:sym typeface="Google Sans"/>
              </a:rPr>
              <a:t>R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lvl="1" indent="-342900">
              <a:spcBef>
                <a:spcPts val="0"/>
              </a:spcBef>
              <a:buClr>
                <a:srgbClr val="888888"/>
              </a:buClr>
              <a:buSzPts val="1800"/>
              <a:buFont typeface="Google Sans"/>
              <a:buChar char="○"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These </a:t>
            </a:r>
            <a:r>
              <a:rPr lang="en" sz="2000" i="1" dirty="0">
                <a:latin typeface="Google Sans"/>
                <a:ea typeface="Google Sans"/>
                <a:cs typeface="Google Sans"/>
                <a:sym typeface="Google Sans"/>
              </a:rPr>
              <a:t>definitely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have </a:t>
            </a:r>
            <a:r>
              <a:rPr lang="en" sz="2000" dirty="0"/>
              <a:t>the right relation and subject</a:t>
            </a:r>
            <a:endParaRPr sz="2000" dirty="0"/>
          </a:p>
          <a:p>
            <a:pPr>
              <a:buFont typeface="Google Sans"/>
              <a:buChar char="●"/>
            </a:pP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Extract the objects 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from those triples and </a:t>
            </a:r>
            <a:r>
              <a:rPr lang="en" sz="2000" b="1" dirty="0">
                <a:latin typeface="Google Sans"/>
                <a:ea typeface="Google Sans"/>
                <a:cs typeface="Google Sans"/>
                <a:sym typeface="Google Sans"/>
              </a:rPr>
              <a:t>convert</a:t>
            </a: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 to centroid-sketch format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indent="0">
              <a:spcBef>
                <a:spcPts val="1600"/>
              </a:spcBef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This is fast (one top-k query) and faithful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 dirty="0">
                <a:latin typeface="Google Sans"/>
                <a:ea typeface="Google Sans"/>
                <a:cs typeface="Google Sans"/>
                <a:sym typeface="Google Sans"/>
              </a:rPr>
              <a:t>Prior approaches used geometric operations on sets</a:t>
            </a:r>
            <a:endParaRPr sz="20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34" name="Google Shape;1134;p84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32</a:t>
            </a:fld>
            <a:endParaRPr/>
          </a:p>
        </p:txBody>
      </p:sp>
      <p:sp>
        <p:nvSpPr>
          <p:cNvPr id="4" name="Google Shape;1098;p80">
            <a:extLst>
              <a:ext uri="{FF2B5EF4-FFF2-40B4-BE49-F238E27FC236}">
                <a16:creationId xmlns:a16="http://schemas.microsoft.com/office/drawing/2014/main" id="{370C5677-33AA-582E-89AB-4AD3422CF6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8" y="211353"/>
            <a:ext cx="7971900" cy="1465721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sz="3200" dirty="0" err="1"/>
              <a:t>EmQL</a:t>
            </a:r>
            <a:r>
              <a:rPr lang="en" sz="3200" dirty="0"/>
              <a:t>: centroid-sketch sets and triples of embeddings as relations </a:t>
            </a:r>
            <a:endParaRPr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85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33</a:t>
            </a:fld>
            <a:endParaRPr/>
          </a:p>
        </p:txBody>
      </p:sp>
      <p:sp>
        <p:nvSpPr>
          <p:cNvPr id="1140" name="Google Shape;1140;p85"/>
          <p:cNvSpPr txBox="1"/>
          <p:nvPr/>
        </p:nvSpPr>
        <p:spPr>
          <a:xfrm>
            <a:off x="873375" y="3405175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x</a:t>
            </a:r>
            <a:r>
              <a:rPr lang="en" baseline="-25000"/>
              <a:t>1</a:t>
            </a:r>
            <a:endParaRPr baseline="-25000"/>
          </a:p>
        </p:txBody>
      </p:sp>
      <p:sp>
        <p:nvSpPr>
          <p:cNvPr id="1141" name="Google Shape;1141;p85"/>
          <p:cNvSpPr txBox="1"/>
          <p:nvPr/>
        </p:nvSpPr>
        <p:spPr>
          <a:xfrm>
            <a:off x="419475" y="3741275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x</a:t>
            </a:r>
            <a:r>
              <a:rPr lang="en" baseline="-25000"/>
              <a:t>2</a:t>
            </a:r>
            <a:endParaRPr baseline="-25000"/>
          </a:p>
        </p:txBody>
      </p:sp>
      <p:sp>
        <p:nvSpPr>
          <p:cNvPr id="1142" name="Google Shape;1142;p85"/>
          <p:cNvSpPr txBox="1"/>
          <p:nvPr/>
        </p:nvSpPr>
        <p:spPr>
          <a:xfrm>
            <a:off x="830150" y="4088175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x</a:t>
            </a:r>
            <a:r>
              <a:rPr lang="en" baseline="-25000"/>
              <a:t>3</a:t>
            </a:r>
            <a:endParaRPr baseline="-25000"/>
          </a:p>
        </p:txBody>
      </p:sp>
      <p:sp>
        <p:nvSpPr>
          <p:cNvPr id="1143" name="Google Shape;1143;p85"/>
          <p:cNvSpPr txBox="1"/>
          <p:nvPr/>
        </p:nvSpPr>
        <p:spPr>
          <a:xfrm>
            <a:off x="830150" y="3826675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x</a:t>
            </a:r>
            <a:r>
              <a:rPr lang="en" baseline="-25000"/>
              <a:t>4</a:t>
            </a:r>
            <a:endParaRPr baseline="-25000"/>
          </a:p>
        </p:txBody>
      </p:sp>
      <p:cxnSp>
        <p:nvCxnSpPr>
          <p:cNvPr id="1144" name="Google Shape;1144;p85"/>
          <p:cNvCxnSpPr/>
          <p:nvPr/>
        </p:nvCxnSpPr>
        <p:spPr>
          <a:xfrm rot="10800000" flipH="1">
            <a:off x="1251075" y="3415825"/>
            <a:ext cx="1318200" cy="200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5" name="Google Shape;1145;p85"/>
          <p:cNvCxnSpPr/>
          <p:nvPr/>
        </p:nvCxnSpPr>
        <p:spPr>
          <a:xfrm rot="10800000" flipH="1">
            <a:off x="1187900" y="3851975"/>
            <a:ext cx="1318200" cy="200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6" name="Google Shape;1146;p85"/>
          <p:cNvCxnSpPr/>
          <p:nvPr/>
        </p:nvCxnSpPr>
        <p:spPr>
          <a:xfrm rot="10800000" flipH="1">
            <a:off x="1187900" y="4088175"/>
            <a:ext cx="1318200" cy="200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7" name="Google Shape;1147;p85"/>
          <p:cNvCxnSpPr/>
          <p:nvPr/>
        </p:nvCxnSpPr>
        <p:spPr>
          <a:xfrm rot="10800000" flipH="1">
            <a:off x="778425" y="3752000"/>
            <a:ext cx="1318200" cy="200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48" name="Google Shape;1148;p85"/>
          <p:cNvSpPr txBox="1"/>
          <p:nvPr/>
        </p:nvSpPr>
        <p:spPr>
          <a:xfrm>
            <a:off x="2487650" y="3126375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i="1"/>
              <a:t>y’</a:t>
            </a:r>
            <a:r>
              <a:rPr lang="en" sz="1200" i="1" baseline="-25000"/>
              <a:t>1</a:t>
            </a:r>
            <a:endParaRPr sz="1200" i="1" baseline="-25000"/>
          </a:p>
        </p:txBody>
      </p:sp>
      <p:sp>
        <p:nvSpPr>
          <p:cNvPr id="1149" name="Google Shape;1149;p85"/>
          <p:cNvSpPr txBox="1"/>
          <p:nvPr/>
        </p:nvSpPr>
        <p:spPr>
          <a:xfrm>
            <a:off x="2033750" y="3462475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i="1"/>
              <a:t>y’</a:t>
            </a:r>
            <a:r>
              <a:rPr lang="en" sz="1200" i="1" baseline="-25000"/>
              <a:t>2</a:t>
            </a:r>
            <a:endParaRPr sz="1200" i="1" baseline="-25000"/>
          </a:p>
        </p:txBody>
      </p:sp>
      <p:sp>
        <p:nvSpPr>
          <p:cNvPr id="1150" name="Google Shape;1150;p85"/>
          <p:cNvSpPr txBox="1"/>
          <p:nvPr/>
        </p:nvSpPr>
        <p:spPr>
          <a:xfrm>
            <a:off x="2444425" y="3809375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i="1"/>
              <a:t>y’</a:t>
            </a:r>
            <a:r>
              <a:rPr lang="en" sz="1200" i="1" baseline="-25000"/>
              <a:t>3</a:t>
            </a:r>
            <a:endParaRPr sz="1200" i="1" baseline="-25000"/>
          </a:p>
        </p:txBody>
      </p:sp>
      <p:sp>
        <p:nvSpPr>
          <p:cNvPr id="1151" name="Google Shape;1151;p85"/>
          <p:cNvSpPr txBox="1"/>
          <p:nvPr/>
        </p:nvSpPr>
        <p:spPr>
          <a:xfrm>
            <a:off x="2444425" y="3547875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sz="1200" i="1"/>
              <a:t>y’</a:t>
            </a:r>
            <a:r>
              <a:rPr lang="en" sz="1200" i="1" baseline="-25000"/>
              <a:t>4</a:t>
            </a:r>
            <a:endParaRPr sz="1200" i="1" baseline="-25000"/>
          </a:p>
        </p:txBody>
      </p:sp>
      <p:sp>
        <p:nvSpPr>
          <p:cNvPr id="1152" name="Google Shape;1152;p85"/>
          <p:cNvSpPr/>
          <p:nvPr/>
        </p:nvSpPr>
        <p:spPr>
          <a:xfrm>
            <a:off x="702225" y="3935775"/>
            <a:ext cx="740400" cy="615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53" name="Google Shape;1153;p85"/>
          <p:cNvSpPr/>
          <p:nvPr/>
        </p:nvSpPr>
        <p:spPr>
          <a:xfrm>
            <a:off x="2283968" y="3603550"/>
            <a:ext cx="661200" cy="615000"/>
          </a:xfrm>
          <a:prstGeom prst="ellipse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54" name="Google Shape;1154;p85"/>
          <p:cNvSpPr txBox="1"/>
          <p:nvPr/>
        </p:nvSpPr>
        <p:spPr>
          <a:xfrm>
            <a:off x="5858450" y="3137688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x</a:t>
            </a:r>
            <a:r>
              <a:rPr lang="en" baseline="-25000"/>
              <a:t>1</a:t>
            </a:r>
            <a:endParaRPr baseline="-25000"/>
          </a:p>
        </p:txBody>
      </p:sp>
      <p:sp>
        <p:nvSpPr>
          <p:cNvPr id="1155" name="Google Shape;1155;p85"/>
          <p:cNvSpPr txBox="1"/>
          <p:nvPr/>
        </p:nvSpPr>
        <p:spPr>
          <a:xfrm>
            <a:off x="5404550" y="3626188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x</a:t>
            </a:r>
            <a:r>
              <a:rPr lang="en" baseline="-25000"/>
              <a:t>2</a:t>
            </a:r>
            <a:endParaRPr baseline="-25000"/>
          </a:p>
        </p:txBody>
      </p:sp>
      <p:sp>
        <p:nvSpPr>
          <p:cNvPr id="1156" name="Google Shape;1156;p85"/>
          <p:cNvSpPr txBox="1"/>
          <p:nvPr/>
        </p:nvSpPr>
        <p:spPr>
          <a:xfrm>
            <a:off x="5815225" y="3973088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x</a:t>
            </a:r>
            <a:r>
              <a:rPr lang="en" baseline="-25000"/>
              <a:t>3</a:t>
            </a:r>
            <a:endParaRPr baseline="-25000"/>
          </a:p>
        </p:txBody>
      </p:sp>
      <p:sp>
        <p:nvSpPr>
          <p:cNvPr id="1157" name="Google Shape;1157;p85"/>
          <p:cNvSpPr txBox="1"/>
          <p:nvPr/>
        </p:nvSpPr>
        <p:spPr>
          <a:xfrm>
            <a:off x="5815225" y="3711588"/>
            <a:ext cx="4539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x</a:t>
            </a:r>
            <a:r>
              <a:rPr lang="en" baseline="-25000"/>
              <a:t>4</a:t>
            </a:r>
            <a:endParaRPr baseline="-25000"/>
          </a:p>
        </p:txBody>
      </p:sp>
      <p:cxnSp>
        <p:nvCxnSpPr>
          <p:cNvPr id="1158" name="Google Shape;1158;p85"/>
          <p:cNvCxnSpPr/>
          <p:nvPr/>
        </p:nvCxnSpPr>
        <p:spPr>
          <a:xfrm>
            <a:off x="6236150" y="3500838"/>
            <a:ext cx="1681500" cy="500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9" name="Google Shape;1159;p85"/>
          <p:cNvCxnSpPr>
            <a:endCxn id="1160" idx="1"/>
          </p:cNvCxnSpPr>
          <p:nvPr/>
        </p:nvCxnSpPr>
        <p:spPr>
          <a:xfrm rot="10800000" flipH="1">
            <a:off x="6173100" y="3144775"/>
            <a:ext cx="1649400" cy="792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1" name="Google Shape;1161;p85"/>
          <p:cNvCxnSpPr>
            <a:endCxn id="1162" idx="1"/>
          </p:cNvCxnSpPr>
          <p:nvPr/>
        </p:nvCxnSpPr>
        <p:spPr>
          <a:xfrm rot="10800000" flipH="1">
            <a:off x="6173075" y="3787563"/>
            <a:ext cx="1831200" cy="3855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3" name="Google Shape;1163;p85"/>
          <p:cNvCxnSpPr>
            <a:endCxn id="1164" idx="1"/>
          </p:cNvCxnSpPr>
          <p:nvPr/>
        </p:nvCxnSpPr>
        <p:spPr>
          <a:xfrm rot="10800000" flipH="1">
            <a:off x="5763475" y="3443675"/>
            <a:ext cx="2016300" cy="393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A02CADEB-81ED-A72A-9D26-A761E6B7DC49}"/>
              </a:ext>
            </a:extLst>
          </p:cNvPr>
          <p:cNvGrpSpPr/>
          <p:nvPr/>
        </p:nvGrpSpPr>
        <p:grpSpPr>
          <a:xfrm>
            <a:off x="7779775" y="2934025"/>
            <a:ext cx="678400" cy="1281163"/>
            <a:chOff x="7779775" y="2934025"/>
            <a:chExt cx="678400" cy="1281163"/>
          </a:xfrm>
        </p:grpSpPr>
        <p:sp>
          <p:nvSpPr>
            <p:cNvPr id="1165" name="Google Shape;1165;p85"/>
            <p:cNvSpPr txBox="1"/>
            <p:nvPr/>
          </p:nvSpPr>
          <p:spPr>
            <a:xfrm>
              <a:off x="7822500" y="3793688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y</a:t>
              </a:r>
              <a:r>
                <a:rPr lang="en" baseline="-25000"/>
                <a:t>1</a:t>
              </a:r>
              <a:endParaRPr baseline="-25000"/>
            </a:p>
          </p:txBody>
        </p:sp>
        <p:sp>
          <p:nvSpPr>
            <p:cNvPr id="1162" name="Google Shape;1162;p85"/>
            <p:cNvSpPr txBox="1"/>
            <p:nvPr/>
          </p:nvSpPr>
          <p:spPr>
            <a:xfrm>
              <a:off x="8004275" y="3576813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y</a:t>
              </a:r>
              <a:r>
                <a:rPr lang="en" baseline="-25000"/>
                <a:t>3</a:t>
              </a:r>
              <a:endParaRPr baseline="-25000"/>
            </a:p>
          </p:txBody>
        </p:sp>
        <p:sp>
          <p:nvSpPr>
            <p:cNvPr id="1164" name="Google Shape;1164;p85"/>
            <p:cNvSpPr txBox="1"/>
            <p:nvPr/>
          </p:nvSpPr>
          <p:spPr>
            <a:xfrm>
              <a:off x="7779775" y="323292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y</a:t>
              </a:r>
              <a:r>
                <a:rPr lang="en" baseline="-25000"/>
                <a:t>2</a:t>
              </a:r>
              <a:endParaRPr baseline="-25000"/>
            </a:p>
          </p:txBody>
        </p:sp>
        <p:sp>
          <p:nvSpPr>
            <p:cNvPr id="1160" name="Google Shape;1160;p85"/>
            <p:cNvSpPr txBox="1"/>
            <p:nvPr/>
          </p:nvSpPr>
          <p:spPr>
            <a:xfrm>
              <a:off x="7822500" y="293402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y</a:t>
              </a:r>
              <a:r>
                <a:rPr lang="en" baseline="-25000"/>
                <a:t>4</a:t>
              </a:r>
              <a:endParaRPr baseline="-25000"/>
            </a:p>
          </p:txBody>
        </p:sp>
      </p:grpSp>
      <p:sp>
        <p:nvSpPr>
          <p:cNvPr id="1166" name="Google Shape;1166;p85"/>
          <p:cNvSpPr/>
          <p:nvPr/>
        </p:nvSpPr>
        <p:spPr>
          <a:xfrm>
            <a:off x="5721925" y="3799075"/>
            <a:ext cx="740400" cy="615000"/>
          </a:xfrm>
          <a:prstGeom prst="ellipse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67" name="Google Shape;1167;p85"/>
          <p:cNvSpPr/>
          <p:nvPr/>
        </p:nvSpPr>
        <p:spPr>
          <a:xfrm>
            <a:off x="7599275" y="2935625"/>
            <a:ext cx="1111500" cy="1016100"/>
          </a:xfrm>
          <a:prstGeom prst="ellipse">
            <a:avLst/>
          </a:prstGeom>
          <a:noFill/>
          <a:ln w="952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1168" name="Google Shape;1168;p85"/>
          <p:cNvGraphicFramePr/>
          <p:nvPr/>
        </p:nvGraphicFramePr>
        <p:xfrm>
          <a:off x="4209550" y="2844325"/>
          <a:ext cx="1111500" cy="2285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3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x</a:t>
                      </a:r>
                      <a:r>
                        <a:rPr lang="en" sz="1800" baseline="-25000"/>
                        <a:t>1</a:t>
                      </a:r>
                      <a:endParaRPr sz="1800" baseline="-250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y</a:t>
                      </a:r>
                      <a:r>
                        <a:rPr lang="en" sz="1800" baseline="-25000"/>
                        <a:t>1</a:t>
                      </a:r>
                      <a:endParaRPr sz="1800" baseline="-25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3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...</a:t>
                      </a:r>
                      <a:endParaRPr sz="1800" baseline="-250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...</a:t>
                      </a:r>
                      <a:endParaRPr sz="1800" baseline="-25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3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x</a:t>
                      </a:r>
                      <a:r>
                        <a:rPr lang="en" sz="1800" baseline="-25000"/>
                        <a:t>3</a:t>
                      </a:r>
                      <a:endParaRPr sz="1800" baseline="-25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y</a:t>
                      </a:r>
                      <a:r>
                        <a:rPr lang="en" sz="1800" baseline="-25000"/>
                        <a:t>3</a:t>
                      </a:r>
                      <a:endParaRPr sz="1800" baseline="-25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3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x</a:t>
                      </a:r>
                      <a:r>
                        <a:rPr lang="en" sz="1800" baseline="-25000"/>
                        <a:t>4</a:t>
                      </a:r>
                      <a:endParaRPr sz="1800" baseline="-25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y</a:t>
                      </a:r>
                      <a:r>
                        <a:rPr lang="en" sz="1800" baseline="-25000"/>
                        <a:t>4</a:t>
                      </a:r>
                      <a:endParaRPr sz="1800" baseline="-250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39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...</a:t>
                      </a:r>
                      <a:endParaRPr sz="180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dirty="0"/>
                        <a:t>...</a:t>
                      </a:r>
                      <a:endParaRPr sz="1800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169" name="Google Shape;1169;p85"/>
          <p:cNvCxnSpPr/>
          <p:nvPr/>
        </p:nvCxnSpPr>
        <p:spPr>
          <a:xfrm>
            <a:off x="3635300" y="870200"/>
            <a:ext cx="0" cy="5146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6" grpId="0" animBg="1"/>
      <p:bldP spid="116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>
          <a:extLst>
            <a:ext uri="{FF2B5EF4-FFF2-40B4-BE49-F238E27FC236}">
              <a16:creationId xmlns:a16="http://schemas.microsoft.com/office/drawing/2014/main" id="{00D058B7-2F2E-25EF-7A0D-9C15005D1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86">
            <a:extLst>
              <a:ext uri="{FF2B5EF4-FFF2-40B4-BE49-F238E27FC236}">
                <a16:creationId xmlns:a16="http://schemas.microsoft.com/office/drawing/2014/main" id="{BB6E3E48-0512-C655-77F5-A390FAD18E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37123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 err="1"/>
              <a:t>EmQL</a:t>
            </a:r>
            <a:r>
              <a:rPr lang="en" dirty="0"/>
              <a:t> Results</a:t>
            </a:r>
            <a:endParaRPr dirty="0"/>
          </a:p>
        </p:txBody>
      </p:sp>
      <p:sp>
        <p:nvSpPr>
          <p:cNvPr id="1176" name="Google Shape;1176;p86">
            <a:extLst>
              <a:ext uri="{FF2B5EF4-FFF2-40B4-BE49-F238E27FC236}">
                <a16:creationId xmlns:a16="http://schemas.microsoft.com/office/drawing/2014/main" id="{929FCE5C-EC3A-DFFC-7696-72AFCCB62A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34</a:t>
            </a:fld>
            <a:endParaRPr/>
          </a:p>
        </p:txBody>
      </p:sp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6D850EB6-90B8-1524-5DCA-3FF00C21DE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89"/>
          <a:stretch/>
        </p:blipFill>
        <p:spPr>
          <a:xfrm>
            <a:off x="140482" y="1706341"/>
            <a:ext cx="8873561" cy="1722659"/>
          </a:xfrm>
          <a:prstGeom prst="rect">
            <a:avLst/>
          </a:prstGeom>
        </p:spPr>
      </p:pic>
      <p:pic>
        <p:nvPicPr>
          <p:cNvPr id="7" name="Picture 6" descr="A diagram of different types of circles&#10;&#10;AI-generated content may be incorrect.">
            <a:extLst>
              <a:ext uri="{FF2B5EF4-FFF2-40B4-BE49-F238E27FC236}">
                <a16:creationId xmlns:a16="http://schemas.microsoft.com/office/drawing/2014/main" id="{A441F802-B365-4E56-C864-1C60F9025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45" y="5151659"/>
            <a:ext cx="7117567" cy="159945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53FAE53-A0B8-9FBC-152A-ACA335F51C1F}"/>
              </a:ext>
            </a:extLst>
          </p:cNvPr>
          <p:cNvSpPr/>
          <p:nvPr/>
        </p:nvSpPr>
        <p:spPr>
          <a:xfrm>
            <a:off x="2603715" y="1706341"/>
            <a:ext cx="2696705" cy="5719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41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>
          <a:extLst>
            <a:ext uri="{FF2B5EF4-FFF2-40B4-BE49-F238E27FC236}">
              <a16:creationId xmlns:a16="http://schemas.microsoft.com/office/drawing/2014/main" id="{E931F668-D433-7F84-7139-5A4F6938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86">
            <a:extLst>
              <a:ext uri="{FF2B5EF4-FFF2-40B4-BE49-F238E27FC236}">
                <a16:creationId xmlns:a16="http://schemas.microsoft.com/office/drawing/2014/main" id="{5E7669FB-2050-9E44-9BAD-D8EC1B7D3D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6208" y="371233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/>
            <a:r>
              <a:rPr lang="en" dirty="0" err="1"/>
              <a:t>EmQL</a:t>
            </a:r>
            <a:r>
              <a:rPr lang="en" dirty="0"/>
              <a:t> Results</a:t>
            </a:r>
            <a:endParaRPr dirty="0"/>
          </a:p>
        </p:txBody>
      </p:sp>
      <p:sp>
        <p:nvSpPr>
          <p:cNvPr id="1176" name="Google Shape;1176;p86">
            <a:extLst>
              <a:ext uri="{FF2B5EF4-FFF2-40B4-BE49-F238E27FC236}">
                <a16:creationId xmlns:a16="http://schemas.microsoft.com/office/drawing/2014/main" id="{193B1AB6-A51F-4435-0F66-94CACF07DE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35</a:t>
            </a:fld>
            <a:endParaRPr/>
          </a:p>
        </p:txBody>
      </p:sp>
      <p:pic>
        <p:nvPicPr>
          <p:cNvPr id="5" name="Picture 4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32717FF8-7566-2455-8BD4-31B8CFD1D5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747"/>
          <a:stretch/>
        </p:blipFill>
        <p:spPr>
          <a:xfrm>
            <a:off x="140482" y="1706341"/>
            <a:ext cx="8873561" cy="2873409"/>
          </a:xfrm>
          <a:prstGeom prst="rect">
            <a:avLst/>
          </a:prstGeom>
        </p:spPr>
      </p:pic>
      <p:pic>
        <p:nvPicPr>
          <p:cNvPr id="7" name="Picture 6" descr="A diagram of different types of circles&#10;&#10;AI-generated content may be incorrect.">
            <a:extLst>
              <a:ext uri="{FF2B5EF4-FFF2-40B4-BE49-F238E27FC236}">
                <a16:creationId xmlns:a16="http://schemas.microsoft.com/office/drawing/2014/main" id="{6F0F727E-81BE-A4C7-E431-B57B4DB56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45" y="5151659"/>
            <a:ext cx="7117567" cy="159945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E513F9B5-3DAC-F953-8B4F-23BF94DE1C18}"/>
              </a:ext>
            </a:extLst>
          </p:cNvPr>
          <p:cNvSpPr/>
          <p:nvPr/>
        </p:nvSpPr>
        <p:spPr>
          <a:xfrm>
            <a:off x="2603715" y="1706341"/>
            <a:ext cx="2696705" cy="5719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6D8C4F6-ED51-FDE4-4A01-65E8C1435095}"/>
              </a:ext>
            </a:extLst>
          </p:cNvPr>
          <p:cNvSpPr/>
          <p:nvPr/>
        </p:nvSpPr>
        <p:spPr>
          <a:xfrm>
            <a:off x="2736675" y="3152441"/>
            <a:ext cx="2696705" cy="5719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238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>
          <a:extLst>
            <a:ext uri="{FF2B5EF4-FFF2-40B4-BE49-F238E27FC236}">
              <a16:creationId xmlns:a16="http://schemas.microsoft.com/office/drawing/2014/main" id="{50473B76-BE8F-E58E-C0FA-733625028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5">
            <a:extLst>
              <a:ext uri="{FF2B5EF4-FFF2-40B4-BE49-F238E27FC236}">
                <a16:creationId xmlns:a16="http://schemas.microsoft.com/office/drawing/2014/main" id="{3658DD74-7D82-015D-B41B-9059569C728F}"/>
              </a:ext>
            </a:extLst>
          </p:cNvPr>
          <p:cNvSpPr txBox="1"/>
          <p:nvPr/>
        </p:nvSpPr>
        <p:spPr>
          <a:xfrm>
            <a:off x="73500" y="2130425"/>
            <a:ext cx="6049800" cy="3748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 dirty="0"/>
              <a:t>Neural</a:t>
            </a:r>
            <a:endParaRPr dirty="0"/>
          </a:p>
        </p:txBody>
      </p:sp>
      <p:sp>
        <p:nvSpPr>
          <p:cNvPr id="794" name="Google Shape;794;p65">
            <a:extLst>
              <a:ext uri="{FF2B5EF4-FFF2-40B4-BE49-F238E27FC236}">
                <a16:creationId xmlns:a16="http://schemas.microsoft.com/office/drawing/2014/main" id="{E36039D7-8094-316B-4025-E37F7E66F2BC}"/>
              </a:ext>
            </a:extLst>
          </p:cNvPr>
          <p:cNvSpPr txBox="1"/>
          <p:nvPr/>
        </p:nvSpPr>
        <p:spPr>
          <a:xfrm>
            <a:off x="6123300" y="2189400"/>
            <a:ext cx="2709000" cy="29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30200">
              <a:buSzPts val="1600"/>
              <a:buAutoNum type="arabicPeriod"/>
            </a:pPr>
            <a:r>
              <a:rPr lang="en" sz="1600" dirty="0"/>
              <a:t>Define a </a:t>
            </a:r>
            <a:r>
              <a:rPr lang="en" sz="1600" b="1" dirty="0"/>
              <a:t>template</a:t>
            </a:r>
            <a:r>
              <a:rPr lang="en" sz="1600" dirty="0"/>
              <a:t> for the structured query.</a:t>
            </a:r>
            <a:endParaRPr sz="1600" dirty="0"/>
          </a:p>
          <a:p>
            <a:pPr marL="457200" indent="-330200">
              <a:buSzPts val="1600"/>
              <a:buAutoNum type="arabicPeriod"/>
            </a:pPr>
            <a:r>
              <a:rPr lang="en" sz="1600" dirty="0"/>
              <a:t>Define </a:t>
            </a:r>
            <a:r>
              <a:rPr lang="en" sz="1600" b="1" dirty="0"/>
              <a:t>neural functions</a:t>
            </a:r>
            <a:r>
              <a:rPr lang="en" sz="1600" dirty="0"/>
              <a:t> to fill each slot in the template</a:t>
            </a:r>
            <a:endParaRPr sz="1600" dirty="0"/>
          </a:p>
          <a:p>
            <a:pPr marL="457200" indent="-330200">
              <a:buSzPts val="1600"/>
              <a:buAutoNum type="arabicPeriod"/>
            </a:pPr>
            <a:r>
              <a:rPr lang="en" sz="1600" dirty="0"/>
              <a:t>Minimize loss by gradient descent </a:t>
            </a:r>
            <a:r>
              <a:rPr lang="en" sz="1600" i="1" dirty="0"/>
              <a:t>through </a:t>
            </a:r>
            <a:r>
              <a:rPr lang="en" sz="1600" dirty="0"/>
              <a:t>the neural QL to the analysis of the question to the k-hot target answer vector</a:t>
            </a:r>
            <a:endParaRPr sz="1600" dirty="0"/>
          </a:p>
        </p:txBody>
      </p:sp>
      <p:sp>
        <p:nvSpPr>
          <p:cNvPr id="795" name="Google Shape;795;p65">
            <a:extLst>
              <a:ext uri="{FF2B5EF4-FFF2-40B4-BE49-F238E27FC236}">
                <a16:creationId xmlns:a16="http://schemas.microsoft.com/office/drawing/2014/main" id="{20B2202F-3E2F-7C8E-6C36-42C12807B251}"/>
              </a:ext>
            </a:extLst>
          </p:cNvPr>
          <p:cNvSpPr txBox="1"/>
          <p:nvPr/>
        </p:nvSpPr>
        <p:spPr>
          <a:xfrm>
            <a:off x="392050" y="2258000"/>
            <a:ext cx="4751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q</a:t>
            </a:r>
            <a:r>
              <a:rPr lang="en" i="1"/>
              <a:t> =</a:t>
            </a:r>
            <a:r>
              <a:rPr lang="en"/>
              <a:t>  “are any Google interns attending VLDB2020?”</a:t>
            </a:r>
            <a:endParaRPr/>
          </a:p>
        </p:txBody>
      </p:sp>
      <p:sp>
        <p:nvSpPr>
          <p:cNvPr id="796" name="Google Shape;796;p65">
            <a:extLst>
              <a:ext uri="{FF2B5EF4-FFF2-40B4-BE49-F238E27FC236}">
                <a16:creationId xmlns:a16="http://schemas.microsoft.com/office/drawing/2014/main" id="{F05BA2CC-2857-97E9-08FC-74482B7ABB95}"/>
              </a:ext>
            </a:extLst>
          </p:cNvPr>
          <p:cNvSpPr/>
          <p:nvPr/>
        </p:nvSpPr>
        <p:spPr>
          <a:xfrm>
            <a:off x="2657650" y="30295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97" name="Google Shape;797;p65">
            <a:extLst>
              <a:ext uri="{FF2B5EF4-FFF2-40B4-BE49-F238E27FC236}">
                <a16:creationId xmlns:a16="http://schemas.microsoft.com/office/drawing/2014/main" id="{6B748014-A5F3-65FC-E1D4-F8D86180CE9F}"/>
              </a:ext>
            </a:extLst>
          </p:cNvPr>
          <p:cNvSpPr txBox="1"/>
          <p:nvPr/>
        </p:nvSpPr>
        <p:spPr>
          <a:xfrm>
            <a:off x="257350" y="3497225"/>
            <a:ext cx="5082300" cy="86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x1 = f1(q); x2 = f2(q); r1 = f3(q); r2 = f4(q)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a = </a:t>
            </a:r>
            <a:r>
              <a:rPr lang="en" u="sng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.follow(</a:t>
            </a:r>
            <a:r>
              <a:rPr lang="en" u="sng" dirty="0">
                <a:latin typeface="Calibri" panose="020F0502020204030204" pitchFamily="34" charset="0"/>
                <a:cs typeface="Calibri" panose="020F0502020204030204" pitchFamily="34" charset="0"/>
              </a:rPr>
              <a:t>r1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) &amp;  </a:t>
            </a:r>
            <a:r>
              <a:rPr lang="en" u="sng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.follow(</a:t>
            </a:r>
            <a:r>
              <a:rPr lang="en" u="sng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r2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8" name="Google Shape;798;p65">
            <a:extLst>
              <a:ext uri="{FF2B5EF4-FFF2-40B4-BE49-F238E27FC236}">
                <a16:creationId xmlns:a16="http://schemas.microsoft.com/office/drawing/2014/main" id="{C4F8794F-6781-24C9-1E69-8381750786F8}"/>
              </a:ext>
            </a:extLst>
          </p:cNvPr>
          <p:cNvSpPr/>
          <p:nvPr/>
        </p:nvSpPr>
        <p:spPr>
          <a:xfrm>
            <a:off x="624725" y="4788925"/>
            <a:ext cx="926100" cy="9675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99" name="Google Shape;799;p65">
            <a:extLst>
              <a:ext uri="{FF2B5EF4-FFF2-40B4-BE49-F238E27FC236}">
                <a16:creationId xmlns:a16="http://schemas.microsoft.com/office/drawing/2014/main" id="{F4EC70B0-9C38-6A32-B958-9302A88C4991}"/>
              </a:ext>
            </a:extLst>
          </p:cNvPr>
          <p:cNvSpPr/>
          <p:nvPr/>
        </p:nvSpPr>
        <p:spPr>
          <a:xfrm>
            <a:off x="1654668" y="5156325"/>
            <a:ext cx="3378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0" name="Google Shape;800;p65">
            <a:extLst>
              <a:ext uri="{FF2B5EF4-FFF2-40B4-BE49-F238E27FC236}">
                <a16:creationId xmlns:a16="http://schemas.microsoft.com/office/drawing/2014/main" id="{5AA467F1-9D36-C1C0-A701-FC42D296A0FA}"/>
              </a:ext>
            </a:extLst>
          </p:cNvPr>
          <p:cNvSpPr txBox="1"/>
          <p:nvPr/>
        </p:nvSpPr>
        <p:spPr>
          <a:xfrm>
            <a:off x="2196375" y="4932575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Predicted answers</a:t>
            </a:r>
            <a:endParaRPr/>
          </a:p>
        </p:txBody>
      </p:sp>
      <p:sp>
        <p:nvSpPr>
          <p:cNvPr id="801" name="Google Shape;801;p65">
            <a:extLst>
              <a:ext uri="{FF2B5EF4-FFF2-40B4-BE49-F238E27FC236}">
                <a16:creationId xmlns:a16="http://schemas.microsoft.com/office/drawing/2014/main" id="{C0A5479D-F10A-D6AB-3785-77BAB817C95A}"/>
              </a:ext>
            </a:extLst>
          </p:cNvPr>
          <p:cNvSpPr txBox="1"/>
          <p:nvPr/>
        </p:nvSpPr>
        <p:spPr>
          <a:xfrm>
            <a:off x="692245" y="4948125"/>
            <a:ext cx="762000" cy="6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KB</a:t>
            </a:r>
            <a:endParaRPr/>
          </a:p>
        </p:txBody>
      </p:sp>
      <p:sp>
        <p:nvSpPr>
          <p:cNvPr id="802" name="Google Shape;802;p65">
            <a:extLst>
              <a:ext uri="{FF2B5EF4-FFF2-40B4-BE49-F238E27FC236}">
                <a16:creationId xmlns:a16="http://schemas.microsoft.com/office/drawing/2014/main" id="{1FC1479C-1956-F22D-81EC-1021DAF06D1D}"/>
              </a:ext>
            </a:extLst>
          </p:cNvPr>
          <p:cNvSpPr/>
          <p:nvPr/>
        </p:nvSpPr>
        <p:spPr>
          <a:xfrm>
            <a:off x="2657650" y="44773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3" name="Google Shape;803;p65">
            <a:extLst>
              <a:ext uri="{FF2B5EF4-FFF2-40B4-BE49-F238E27FC236}">
                <a16:creationId xmlns:a16="http://schemas.microsoft.com/office/drawing/2014/main" id="{67ECC555-C832-0A1E-CDCD-5CB4C341A28F}"/>
              </a:ext>
            </a:extLst>
          </p:cNvPr>
          <p:cNvSpPr txBox="1"/>
          <p:nvPr/>
        </p:nvSpPr>
        <p:spPr>
          <a:xfrm>
            <a:off x="4454950" y="4936550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Target answers </a:t>
            </a:r>
            <a:endParaRPr/>
          </a:p>
        </p:txBody>
      </p:sp>
      <p:sp>
        <p:nvSpPr>
          <p:cNvPr id="804" name="Google Shape;804;p65">
            <a:extLst>
              <a:ext uri="{FF2B5EF4-FFF2-40B4-BE49-F238E27FC236}">
                <a16:creationId xmlns:a16="http://schemas.microsoft.com/office/drawing/2014/main" id="{83AF810A-75AA-BF83-EA44-71EE9B020543}"/>
              </a:ext>
            </a:extLst>
          </p:cNvPr>
          <p:cNvSpPr/>
          <p:nvPr/>
        </p:nvSpPr>
        <p:spPr>
          <a:xfrm>
            <a:off x="3490400" y="5205300"/>
            <a:ext cx="1959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5" name="Google Shape;805;p65">
            <a:extLst>
              <a:ext uri="{FF2B5EF4-FFF2-40B4-BE49-F238E27FC236}">
                <a16:creationId xmlns:a16="http://schemas.microsoft.com/office/drawing/2014/main" id="{FF08C6E5-6FCE-7AAA-DE9F-32431538FC3F}"/>
              </a:ext>
            </a:extLst>
          </p:cNvPr>
          <p:cNvSpPr/>
          <p:nvPr/>
        </p:nvSpPr>
        <p:spPr>
          <a:xfrm rot="10800000">
            <a:off x="4176169" y="5205300"/>
            <a:ext cx="1959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6" name="Google Shape;806;p65">
            <a:extLst>
              <a:ext uri="{FF2B5EF4-FFF2-40B4-BE49-F238E27FC236}">
                <a16:creationId xmlns:a16="http://schemas.microsoft.com/office/drawing/2014/main" id="{A0C79185-97C9-CA73-59A6-2EF2CEB673DC}"/>
              </a:ext>
            </a:extLst>
          </p:cNvPr>
          <p:cNvSpPr txBox="1"/>
          <p:nvPr/>
        </p:nvSpPr>
        <p:spPr>
          <a:xfrm>
            <a:off x="3652175" y="5143950"/>
            <a:ext cx="5439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/>
              <a:t>Loss</a:t>
            </a:r>
            <a:endParaRPr sz="1200"/>
          </a:p>
        </p:txBody>
      </p:sp>
      <p:sp>
        <p:nvSpPr>
          <p:cNvPr id="810" name="Google Shape;810;p65">
            <a:extLst>
              <a:ext uri="{FF2B5EF4-FFF2-40B4-BE49-F238E27FC236}">
                <a16:creationId xmlns:a16="http://schemas.microsoft.com/office/drawing/2014/main" id="{10BFA044-1B85-5C21-B23F-B52C6841F5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36</a:t>
            </a:fld>
            <a:endParaRPr/>
          </a:p>
        </p:txBody>
      </p:sp>
      <p:sp>
        <p:nvSpPr>
          <p:cNvPr id="5" name="Google Shape;742;p62">
            <a:extLst>
              <a:ext uri="{FF2B5EF4-FFF2-40B4-BE49-F238E27FC236}">
                <a16:creationId xmlns:a16="http://schemas.microsoft.com/office/drawing/2014/main" id="{C3571D00-E347-A14A-BCE9-9B9F6C6F37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6510"/>
            <a:ext cx="8520600" cy="135443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Motivation:</a:t>
            </a:r>
            <a:br>
              <a:rPr lang="en" dirty="0"/>
            </a:br>
            <a:r>
              <a:rPr lang="en" sz="3200" dirty="0"/>
              <a:t>Neural QLs for QA over a KB (KBQA)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5710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>
          <a:extLst>
            <a:ext uri="{FF2B5EF4-FFF2-40B4-BE49-F238E27FC236}">
              <a16:creationId xmlns:a16="http://schemas.microsoft.com/office/drawing/2014/main" id="{B22664D0-8279-976B-CDAC-C9EF6E38A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7">
            <a:extLst>
              <a:ext uri="{FF2B5EF4-FFF2-40B4-BE49-F238E27FC236}">
                <a16:creationId xmlns:a16="http://schemas.microsoft.com/office/drawing/2014/main" id="{2B2BED81-3B99-25F8-13C5-96CF3425B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5212" y="321909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Neural QLs compared to KB embeddings</a:t>
            </a:r>
            <a:endParaRPr dirty="0"/>
          </a:p>
        </p:txBody>
      </p:sp>
      <p:sp>
        <p:nvSpPr>
          <p:cNvPr id="1015" name="Google Shape;1015;p77">
            <a:extLst>
              <a:ext uri="{FF2B5EF4-FFF2-40B4-BE49-F238E27FC236}">
                <a16:creationId xmlns:a16="http://schemas.microsoft.com/office/drawing/2014/main" id="{9B3CF4E9-6BB7-2250-7787-3DDFFD03BF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37</a:t>
            </a:fld>
            <a:endParaRPr/>
          </a:p>
        </p:txBody>
      </p:sp>
      <p:grpSp>
        <p:nvGrpSpPr>
          <p:cNvPr id="1016" name="Google Shape;1016;p77">
            <a:extLst>
              <a:ext uri="{FF2B5EF4-FFF2-40B4-BE49-F238E27FC236}">
                <a16:creationId xmlns:a16="http://schemas.microsoft.com/office/drawing/2014/main" id="{08415588-EC4B-7143-7DEF-07B8C62959C0}"/>
              </a:ext>
            </a:extLst>
          </p:cNvPr>
          <p:cNvGrpSpPr/>
          <p:nvPr/>
        </p:nvGrpSpPr>
        <p:grpSpPr>
          <a:xfrm>
            <a:off x="907159" y="2109132"/>
            <a:ext cx="1432800" cy="1206000"/>
            <a:chOff x="1318775" y="1340100"/>
            <a:chExt cx="1432800" cy="1206000"/>
          </a:xfrm>
        </p:grpSpPr>
        <p:sp>
          <p:nvSpPr>
            <p:cNvPr id="1017" name="Google Shape;1017;p77">
              <a:extLst>
                <a:ext uri="{FF2B5EF4-FFF2-40B4-BE49-F238E27FC236}">
                  <a16:creationId xmlns:a16="http://schemas.microsoft.com/office/drawing/2014/main" id="{59B17EC7-588D-93F1-43CE-1708E7C72DF4}"/>
                </a:ext>
              </a:extLst>
            </p:cNvPr>
            <p:cNvSpPr/>
            <p:nvPr/>
          </p:nvSpPr>
          <p:spPr>
            <a:xfrm>
              <a:off x="1318775" y="1340100"/>
              <a:ext cx="1432800" cy="12060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18" name="Google Shape;1018;p77">
              <a:extLst>
                <a:ext uri="{FF2B5EF4-FFF2-40B4-BE49-F238E27FC236}">
                  <a16:creationId xmlns:a16="http://schemas.microsoft.com/office/drawing/2014/main" id="{9197E372-0D0C-77A3-99D4-9274407A34B1}"/>
                </a:ext>
              </a:extLst>
            </p:cNvPr>
            <p:cNvSpPr txBox="1"/>
            <p:nvPr/>
          </p:nvSpPr>
          <p:spPr>
            <a:xfrm>
              <a:off x="1905550" y="1416300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1</a:t>
              </a:r>
              <a:endParaRPr baseline="-25000"/>
            </a:p>
          </p:txBody>
        </p:sp>
        <p:sp>
          <p:nvSpPr>
            <p:cNvPr id="1019" name="Google Shape;1019;p77">
              <a:extLst>
                <a:ext uri="{FF2B5EF4-FFF2-40B4-BE49-F238E27FC236}">
                  <a16:creationId xmlns:a16="http://schemas.microsoft.com/office/drawing/2014/main" id="{609D04BB-D9EF-92CE-6B2F-465ADD5182E7}"/>
                </a:ext>
              </a:extLst>
            </p:cNvPr>
            <p:cNvSpPr txBox="1"/>
            <p:nvPr/>
          </p:nvSpPr>
          <p:spPr>
            <a:xfrm>
              <a:off x="1451650" y="1752400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2</a:t>
              </a:r>
              <a:endParaRPr baseline="-25000"/>
            </a:p>
          </p:txBody>
        </p:sp>
        <p:sp>
          <p:nvSpPr>
            <p:cNvPr id="1020" name="Google Shape;1020;p77">
              <a:extLst>
                <a:ext uri="{FF2B5EF4-FFF2-40B4-BE49-F238E27FC236}">
                  <a16:creationId xmlns:a16="http://schemas.microsoft.com/office/drawing/2014/main" id="{F65AC214-AEEF-157C-B816-42AE413C82C9}"/>
                </a:ext>
              </a:extLst>
            </p:cNvPr>
            <p:cNvSpPr txBox="1"/>
            <p:nvPr/>
          </p:nvSpPr>
          <p:spPr>
            <a:xfrm>
              <a:off x="1905550" y="204437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3</a:t>
              </a:r>
              <a:endParaRPr baseline="-25000"/>
            </a:p>
          </p:txBody>
        </p:sp>
        <p:sp>
          <p:nvSpPr>
            <p:cNvPr id="1021" name="Google Shape;1021;p77">
              <a:extLst>
                <a:ext uri="{FF2B5EF4-FFF2-40B4-BE49-F238E27FC236}">
                  <a16:creationId xmlns:a16="http://schemas.microsoft.com/office/drawing/2014/main" id="{75433993-7233-3720-FB1E-375A128E94BC}"/>
                </a:ext>
              </a:extLst>
            </p:cNvPr>
            <p:cNvSpPr txBox="1"/>
            <p:nvPr/>
          </p:nvSpPr>
          <p:spPr>
            <a:xfrm>
              <a:off x="1711050" y="158587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x</a:t>
              </a:r>
              <a:r>
                <a:rPr lang="en" baseline="-25000"/>
                <a:t>4</a:t>
              </a:r>
              <a:endParaRPr baseline="-25000"/>
            </a:p>
          </p:txBody>
        </p:sp>
        <p:sp>
          <p:nvSpPr>
            <p:cNvPr id="1022" name="Google Shape;1022;p77">
              <a:extLst>
                <a:ext uri="{FF2B5EF4-FFF2-40B4-BE49-F238E27FC236}">
                  <a16:creationId xmlns:a16="http://schemas.microsoft.com/office/drawing/2014/main" id="{DBF92026-0C00-D3FA-763D-4D94C431B6E3}"/>
                </a:ext>
              </a:extLst>
            </p:cNvPr>
            <p:cNvSpPr txBox="1"/>
            <p:nvPr/>
          </p:nvSpPr>
          <p:spPr>
            <a:xfrm>
              <a:off x="2017025" y="1900875"/>
              <a:ext cx="453900" cy="42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/>
                <a:t>q</a:t>
              </a:r>
              <a:endParaRPr baseline="-25000"/>
            </a:p>
          </p:txBody>
        </p:sp>
      </p:grpSp>
      <p:sp>
        <p:nvSpPr>
          <p:cNvPr id="2" name="Google Shape;1012;p77">
            <a:extLst>
              <a:ext uri="{FF2B5EF4-FFF2-40B4-BE49-F238E27FC236}">
                <a16:creationId xmlns:a16="http://schemas.microsoft.com/office/drawing/2014/main" id="{91F1AE85-3FFA-2057-0DD0-BA1474498996}"/>
              </a:ext>
            </a:extLst>
          </p:cNvPr>
          <p:cNvSpPr txBox="1"/>
          <p:nvPr/>
        </p:nvSpPr>
        <p:spPr>
          <a:xfrm>
            <a:off x="2339959" y="3250657"/>
            <a:ext cx="3219844" cy="572700"/>
          </a:xfrm>
          <a:prstGeom prst="rect">
            <a:avLst/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Embeddings require fewer predictions and </a:t>
            </a:r>
            <a:r>
              <a:rPr lang="en-US" sz="1400" b="1" dirty="0"/>
              <a:t>generalize</a:t>
            </a:r>
            <a:r>
              <a:rPr lang="en-US" sz="1400" dirty="0"/>
              <a:t> well</a:t>
            </a:r>
            <a:endParaRPr sz="1400" dirty="0"/>
          </a:p>
          <a:p>
            <a:endParaRPr dirty="0"/>
          </a:p>
        </p:txBody>
      </p:sp>
      <p:sp>
        <p:nvSpPr>
          <p:cNvPr id="3" name="Google Shape;1012;p77">
            <a:extLst>
              <a:ext uri="{FF2B5EF4-FFF2-40B4-BE49-F238E27FC236}">
                <a16:creationId xmlns:a16="http://schemas.microsoft.com/office/drawing/2014/main" id="{CE896360-09D2-D28A-2B27-95BBE057EE80}"/>
              </a:ext>
            </a:extLst>
          </p:cNvPr>
          <p:cNvSpPr txBox="1"/>
          <p:nvPr/>
        </p:nvSpPr>
        <p:spPr>
          <a:xfrm>
            <a:off x="2452017" y="3981281"/>
            <a:ext cx="3219844" cy="572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dirty="0"/>
              <a:t>… but don’t </a:t>
            </a:r>
            <a:r>
              <a:rPr lang="en-US" sz="1400" b="1" dirty="0"/>
              <a:t>memorize</a:t>
            </a:r>
            <a:r>
              <a:rPr lang="en-US" sz="1400" dirty="0"/>
              <a:t> the </a:t>
            </a:r>
            <a:r>
              <a:rPr lang="en-US" sz="1400" b="1" dirty="0"/>
              <a:t>details</a:t>
            </a:r>
            <a:r>
              <a:rPr lang="en-US" sz="1400" dirty="0"/>
              <a:t> of a relationship</a:t>
            </a:r>
            <a:endParaRPr sz="1400" dirty="0"/>
          </a:p>
          <a:p>
            <a:endParaRPr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1A9CAB3-0EE1-5463-AC45-9D375F5AAB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62" t="24511" r="11756" b="9628"/>
          <a:stretch/>
        </p:blipFill>
        <p:spPr bwMode="auto">
          <a:xfrm>
            <a:off x="6212542" y="2396082"/>
            <a:ext cx="2400817" cy="246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85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>
          <a:extLst>
            <a:ext uri="{FF2B5EF4-FFF2-40B4-BE49-F238E27FC236}">
              <a16:creationId xmlns:a16="http://schemas.microsoft.com/office/drawing/2014/main" id="{787FC260-9C90-F4DC-3A2C-AC2A89BBA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5">
            <a:extLst>
              <a:ext uri="{FF2B5EF4-FFF2-40B4-BE49-F238E27FC236}">
                <a16:creationId xmlns:a16="http://schemas.microsoft.com/office/drawing/2014/main" id="{938713A2-232E-FC3E-03C8-97B5B0082C7D}"/>
              </a:ext>
            </a:extLst>
          </p:cNvPr>
          <p:cNvSpPr txBox="1"/>
          <p:nvPr/>
        </p:nvSpPr>
        <p:spPr>
          <a:xfrm>
            <a:off x="73500" y="2130425"/>
            <a:ext cx="6049800" cy="37485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 dirty="0"/>
              <a:t>Neural</a:t>
            </a:r>
            <a:endParaRPr dirty="0"/>
          </a:p>
        </p:txBody>
      </p:sp>
      <p:sp>
        <p:nvSpPr>
          <p:cNvPr id="794" name="Google Shape;794;p65">
            <a:extLst>
              <a:ext uri="{FF2B5EF4-FFF2-40B4-BE49-F238E27FC236}">
                <a16:creationId xmlns:a16="http://schemas.microsoft.com/office/drawing/2014/main" id="{4A8C7F2B-D099-D396-8E78-BBC7200B9B24}"/>
              </a:ext>
            </a:extLst>
          </p:cNvPr>
          <p:cNvSpPr txBox="1"/>
          <p:nvPr/>
        </p:nvSpPr>
        <p:spPr>
          <a:xfrm>
            <a:off x="6123300" y="2189400"/>
            <a:ext cx="2709000" cy="29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indent="-330200">
              <a:buSzPts val="1600"/>
              <a:buAutoNum type="arabicPeriod"/>
            </a:pPr>
            <a:r>
              <a:rPr lang="en" sz="1600" dirty="0"/>
              <a:t>Define a </a:t>
            </a:r>
            <a:r>
              <a:rPr lang="en" sz="1600" b="1" dirty="0"/>
              <a:t>template</a:t>
            </a:r>
            <a:r>
              <a:rPr lang="en" sz="1600" dirty="0"/>
              <a:t> for the structured query.</a:t>
            </a:r>
            <a:endParaRPr sz="1600" dirty="0"/>
          </a:p>
          <a:p>
            <a:pPr marL="457200" indent="-330200">
              <a:buSzPts val="1600"/>
              <a:buAutoNum type="arabicPeriod"/>
            </a:pPr>
            <a:r>
              <a:rPr lang="en" sz="1600" dirty="0"/>
              <a:t>Define </a:t>
            </a:r>
            <a:r>
              <a:rPr lang="en" sz="1600" b="1" dirty="0"/>
              <a:t>neural functions</a:t>
            </a:r>
            <a:r>
              <a:rPr lang="en" sz="1600" dirty="0"/>
              <a:t> to fill each slot in the template</a:t>
            </a:r>
            <a:endParaRPr sz="1600" dirty="0"/>
          </a:p>
          <a:p>
            <a:pPr marL="457200" indent="-330200">
              <a:buSzPts val="1600"/>
              <a:buAutoNum type="arabicPeriod"/>
            </a:pPr>
            <a:r>
              <a:rPr lang="en" sz="1600" dirty="0"/>
              <a:t>Minimize loss by gradient descent </a:t>
            </a:r>
            <a:r>
              <a:rPr lang="en" sz="1600" i="1" dirty="0"/>
              <a:t>through </a:t>
            </a:r>
            <a:r>
              <a:rPr lang="en" sz="1600" dirty="0"/>
              <a:t>the neural QL to the analysis of the question to the k-hot target answer vector</a:t>
            </a:r>
            <a:endParaRPr sz="1600" dirty="0"/>
          </a:p>
        </p:txBody>
      </p:sp>
      <p:sp>
        <p:nvSpPr>
          <p:cNvPr id="795" name="Google Shape;795;p65">
            <a:extLst>
              <a:ext uri="{FF2B5EF4-FFF2-40B4-BE49-F238E27FC236}">
                <a16:creationId xmlns:a16="http://schemas.microsoft.com/office/drawing/2014/main" id="{C72F2270-C05E-C620-D0F9-AD7D468BCBD4}"/>
              </a:ext>
            </a:extLst>
          </p:cNvPr>
          <p:cNvSpPr txBox="1"/>
          <p:nvPr/>
        </p:nvSpPr>
        <p:spPr>
          <a:xfrm>
            <a:off x="392050" y="2258000"/>
            <a:ext cx="4751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q</a:t>
            </a:r>
            <a:r>
              <a:rPr lang="en" i="1"/>
              <a:t> =</a:t>
            </a:r>
            <a:r>
              <a:rPr lang="en"/>
              <a:t>  “are any Google interns attending VLDB2020?”</a:t>
            </a:r>
            <a:endParaRPr/>
          </a:p>
        </p:txBody>
      </p:sp>
      <p:sp>
        <p:nvSpPr>
          <p:cNvPr id="796" name="Google Shape;796;p65">
            <a:extLst>
              <a:ext uri="{FF2B5EF4-FFF2-40B4-BE49-F238E27FC236}">
                <a16:creationId xmlns:a16="http://schemas.microsoft.com/office/drawing/2014/main" id="{8946D067-CDDB-E776-5B4D-B1FF313D6344}"/>
              </a:ext>
            </a:extLst>
          </p:cNvPr>
          <p:cNvSpPr/>
          <p:nvPr/>
        </p:nvSpPr>
        <p:spPr>
          <a:xfrm>
            <a:off x="2657650" y="30295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97" name="Google Shape;797;p65">
            <a:extLst>
              <a:ext uri="{FF2B5EF4-FFF2-40B4-BE49-F238E27FC236}">
                <a16:creationId xmlns:a16="http://schemas.microsoft.com/office/drawing/2014/main" id="{E39EA12A-3976-ADFB-2290-E02D1414AD93}"/>
              </a:ext>
            </a:extLst>
          </p:cNvPr>
          <p:cNvSpPr txBox="1"/>
          <p:nvPr/>
        </p:nvSpPr>
        <p:spPr>
          <a:xfrm>
            <a:off x="257350" y="3497225"/>
            <a:ext cx="5082300" cy="86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x1 = f1(q); x2 = f2(q); r1 = f3(q); r2 = f4(q)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a = </a:t>
            </a:r>
            <a:r>
              <a:rPr lang="en" u="sng" dirty="0">
                <a:latin typeface="Calibri" panose="020F0502020204030204" pitchFamily="34" charset="0"/>
                <a:cs typeface="Calibri" panose="020F0502020204030204" pitchFamily="34" charset="0"/>
              </a:rPr>
              <a:t>x1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.follow(</a:t>
            </a:r>
            <a:r>
              <a:rPr lang="en" u="sng" dirty="0">
                <a:latin typeface="Calibri" panose="020F0502020204030204" pitchFamily="34" charset="0"/>
                <a:cs typeface="Calibri" panose="020F0502020204030204" pitchFamily="34" charset="0"/>
              </a:rPr>
              <a:t>r1</a:t>
            </a:r>
            <a:r>
              <a:rPr lang="en" dirty="0">
                <a:latin typeface="Calibri" panose="020F0502020204030204" pitchFamily="34" charset="0"/>
                <a:cs typeface="Calibri" panose="020F0502020204030204" pitchFamily="34" charset="0"/>
              </a:rPr>
              <a:t>) &amp;  </a:t>
            </a:r>
            <a:r>
              <a:rPr lang="en" u="sng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x2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.follow(</a:t>
            </a:r>
            <a:r>
              <a:rPr lang="en" u="sng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r2</a:t>
            </a:r>
            <a:r>
              <a:rPr lang="en" dirty="0">
                <a:solidFill>
                  <a:schemeClr val="dk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8" name="Google Shape;798;p65">
            <a:extLst>
              <a:ext uri="{FF2B5EF4-FFF2-40B4-BE49-F238E27FC236}">
                <a16:creationId xmlns:a16="http://schemas.microsoft.com/office/drawing/2014/main" id="{B34A9302-7DBD-56C5-702C-0E2E05DF0FF8}"/>
              </a:ext>
            </a:extLst>
          </p:cNvPr>
          <p:cNvSpPr/>
          <p:nvPr/>
        </p:nvSpPr>
        <p:spPr>
          <a:xfrm>
            <a:off x="624725" y="4788925"/>
            <a:ext cx="926100" cy="9675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99" name="Google Shape;799;p65">
            <a:extLst>
              <a:ext uri="{FF2B5EF4-FFF2-40B4-BE49-F238E27FC236}">
                <a16:creationId xmlns:a16="http://schemas.microsoft.com/office/drawing/2014/main" id="{26A599C9-1A69-EAB4-7FB6-98DFF6C4AD7A}"/>
              </a:ext>
            </a:extLst>
          </p:cNvPr>
          <p:cNvSpPr/>
          <p:nvPr/>
        </p:nvSpPr>
        <p:spPr>
          <a:xfrm>
            <a:off x="1654668" y="5156325"/>
            <a:ext cx="3378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0" name="Google Shape;800;p65">
            <a:extLst>
              <a:ext uri="{FF2B5EF4-FFF2-40B4-BE49-F238E27FC236}">
                <a16:creationId xmlns:a16="http://schemas.microsoft.com/office/drawing/2014/main" id="{329895BA-82F0-AFDA-5D02-422CA8BE32A0}"/>
              </a:ext>
            </a:extLst>
          </p:cNvPr>
          <p:cNvSpPr txBox="1"/>
          <p:nvPr/>
        </p:nvSpPr>
        <p:spPr>
          <a:xfrm>
            <a:off x="2196375" y="4932575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Predicted answers</a:t>
            </a:r>
            <a:endParaRPr/>
          </a:p>
        </p:txBody>
      </p:sp>
      <p:sp>
        <p:nvSpPr>
          <p:cNvPr id="801" name="Google Shape;801;p65">
            <a:extLst>
              <a:ext uri="{FF2B5EF4-FFF2-40B4-BE49-F238E27FC236}">
                <a16:creationId xmlns:a16="http://schemas.microsoft.com/office/drawing/2014/main" id="{E6E6224E-9BDA-4B10-2E06-C6E8C760F121}"/>
              </a:ext>
            </a:extLst>
          </p:cNvPr>
          <p:cNvSpPr txBox="1"/>
          <p:nvPr/>
        </p:nvSpPr>
        <p:spPr>
          <a:xfrm>
            <a:off x="692245" y="4948125"/>
            <a:ext cx="762000" cy="6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KB</a:t>
            </a:r>
            <a:endParaRPr/>
          </a:p>
        </p:txBody>
      </p:sp>
      <p:sp>
        <p:nvSpPr>
          <p:cNvPr id="802" name="Google Shape;802;p65">
            <a:extLst>
              <a:ext uri="{FF2B5EF4-FFF2-40B4-BE49-F238E27FC236}">
                <a16:creationId xmlns:a16="http://schemas.microsoft.com/office/drawing/2014/main" id="{A0C52291-1183-B348-9DEC-F9BEF9BADE99}"/>
              </a:ext>
            </a:extLst>
          </p:cNvPr>
          <p:cNvSpPr/>
          <p:nvPr/>
        </p:nvSpPr>
        <p:spPr>
          <a:xfrm>
            <a:off x="2657650" y="44773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3" name="Google Shape;803;p65">
            <a:extLst>
              <a:ext uri="{FF2B5EF4-FFF2-40B4-BE49-F238E27FC236}">
                <a16:creationId xmlns:a16="http://schemas.microsoft.com/office/drawing/2014/main" id="{FCFA1A6F-B75D-3257-B90D-A3994F0EA968}"/>
              </a:ext>
            </a:extLst>
          </p:cNvPr>
          <p:cNvSpPr txBox="1"/>
          <p:nvPr/>
        </p:nvSpPr>
        <p:spPr>
          <a:xfrm>
            <a:off x="4454950" y="4936550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Target answers </a:t>
            </a:r>
            <a:endParaRPr/>
          </a:p>
        </p:txBody>
      </p:sp>
      <p:sp>
        <p:nvSpPr>
          <p:cNvPr id="804" name="Google Shape;804;p65">
            <a:extLst>
              <a:ext uri="{FF2B5EF4-FFF2-40B4-BE49-F238E27FC236}">
                <a16:creationId xmlns:a16="http://schemas.microsoft.com/office/drawing/2014/main" id="{BB61C14F-13C5-E499-D1F4-184A55AB79B6}"/>
              </a:ext>
            </a:extLst>
          </p:cNvPr>
          <p:cNvSpPr/>
          <p:nvPr/>
        </p:nvSpPr>
        <p:spPr>
          <a:xfrm>
            <a:off x="3490400" y="5205300"/>
            <a:ext cx="1959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5" name="Google Shape;805;p65">
            <a:extLst>
              <a:ext uri="{FF2B5EF4-FFF2-40B4-BE49-F238E27FC236}">
                <a16:creationId xmlns:a16="http://schemas.microsoft.com/office/drawing/2014/main" id="{69AB7DB1-A4CC-8345-7887-AA71E00C5F09}"/>
              </a:ext>
            </a:extLst>
          </p:cNvPr>
          <p:cNvSpPr/>
          <p:nvPr/>
        </p:nvSpPr>
        <p:spPr>
          <a:xfrm rot="10800000">
            <a:off x="4176169" y="5205300"/>
            <a:ext cx="1959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06" name="Google Shape;806;p65">
            <a:extLst>
              <a:ext uri="{FF2B5EF4-FFF2-40B4-BE49-F238E27FC236}">
                <a16:creationId xmlns:a16="http://schemas.microsoft.com/office/drawing/2014/main" id="{FB6A1916-2F86-DD96-B798-A2DA815D6496}"/>
              </a:ext>
            </a:extLst>
          </p:cNvPr>
          <p:cNvSpPr txBox="1"/>
          <p:nvPr/>
        </p:nvSpPr>
        <p:spPr>
          <a:xfrm>
            <a:off x="3652175" y="5143950"/>
            <a:ext cx="543900" cy="3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 sz="1200"/>
              <a:t>Loss</a:t>
            </a:r>
            <a:endParaRPr sz="1200"/>
          </a:p>
        </p:txBody>
      </p:sp>
      <p:sp>
        <p:nvSpPr>
          <p:cNvPr id="810" name="Google Shape;810;p65">
            <a:extLst>
              <a:ext uri="{FF2B5EF4-FFF2-40B4-BE49-F238E27FC236}">
                <a16:creationId xmlns:a16="http://schemas.microsoft.com/office/drawing/2014/main" id="{3673334F-E914-2D5E-A854-B89E7C1C5B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38</a:t>
            </a:fld>
            <a:endParaRPr/>
          </a:p>
        </p:txBody>
      </p:sp>
      <p:sp>
        <p:nvSpPr>
          <p:cNvPr id="5" name="Google Shape;742;p62">
            <a:extLst>
              <a:ext uri="{FF2B5EF4-FFF2-40B4-BE49-F238E27FC236}">
                <a16:creationId xmlns:a16="http://schemas.microsoft.com/office/drawing/2014/main" id="{7F132352-C5B1-8C8D-AC2E-054F71FB60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6510"/>
            <a:ext cx="8520600" cy="135443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/>
              <a:t>Motivation:</a:t>
            </a:r>
            <a:br>
              <a:rPr lang="en" dirty="0"/>
            </a:br>
            <a:r>
              <a:rPr lang="en" sz="3200" dirty="0"/>
              <a:t>Neural QLs for QA over a KB (KBQA)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DEB8E8-5B46-4DA8-BF76-FD3C025A11AC}"/>
              </a:ext>
            </a:extLst>
          </p:cNvPr>
          <p:cNvSpPr txBox="1"/>
          <p:nvPr/>
        </p:nvSpPr>
        <p:spPr>
          <a:xfrm>
            <a:off x="257350" y="6071218"/>
            <a:ext cx="782647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unfaithful execution of a query looks like noise to the KBQA learner</a:t>
            </a:r>
          </a:p>
        </p:txBody>
      </p:sp>
    </p:spTree>
    <p:extLst>
      <p:ext uri="{BB962C8B-B14F-4D97-AF65-F5344CB8AC3E}">
        <p14:creationId xmlns:p14="http://schemas.microsoft.com/office/powerpoint/2010/main" val="20371630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2" name="Google Shape;1212;p9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26" y="2021125"/>
            <a:ext cx="5813025" cy="3594374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90"/>
          <p:cNvSpPr txBox="1">
            <a:spLocks noGrp="1"/>
          </p:cNvSpPr>
          <p:nvPr>
            <p:ph type="title"/>
          </p:nvPr>
        </p:nvSpPr>
        <p:spPr>
          <a:xfrm>
            <a:off x="635726" y="52325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dirty="0" err="1"/>
              <a:t>EmQL</a:t>
            </a:r>
            <a:r>
              <a:rPr lang="en" dirty="0"/>
              <a:t> for KBQA</a:t>
            </a:r>
            <a:endParaRPr dirty="0"/>
          </a:p>
        </p:txBody>
      </p:sp>
      <p:sp>
        <p:nvSpPr>
          <p:cNvPr id="1214" name="Google Shape;1214;p90"/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39</a:t>
            </a:fld>
            <a:endParaRPr/>
          </a:p>
        </p:txBody>
      </p:sp>
      <p:pic>
        <p:nvPicPr>
          <p:cNvPr id="1215" name="Google Shape;1215;p90" title="Chart"/>
          <p:cNvPicPr preferRelativeResize="0"/>
          <p:nvPr/>
        </p:nvPicPr>
        <p:blipFill rotWithShape="1">
          <a:blip r:embed="rId4">
            <a:alphaModFix/>
          </a:blip>
          <a:srcRect l="21063" t="11863" r="14640"/>
          <a:stretch/>
        </p:blipFill>
        <p:spPr>
          <a:xfrm>
            <a:off x="3475900" y="2162487"/>
            <a:ext cx="3298899" cy="331165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216" name="Google Shape;1216;p90"/>
          <p:cNvGrpSpPr/>
          <p:nvPr/>
        </p:nvGrpSpPr>
        <p:grpSpPr>
          <a:xfrm>
            <a:off x="6513150" y="3845700"/>
            <a:ext cx="1959300" cy="796800"/>
            <a:chOff x="6714500" y="1319850"/>
            <a:chExt cx="1959300" cy="796800"/>
          </a:xfrm>
        </p:grpSpPr>
        <p:sp>
          <p:nvSpPr>
            <p:cNvPr id="1217" name="Google Shape;1217;p90"/>
            <p:cNvSpPr/>
            <p:nvPr/>
          </p:nvSpPr>
          <p:spPr>
            <a:xfrm>
              <a:off x="6714500" y="1672650"/>
              <a:ext cx="731400" cy="209100"/>
            </a:xfrm>
            <a:prstGeom prst="leftArrow">
              <a:avLst>
                <a:gd name="adj1" fmla="val 50000"/>
                <a:gd name="adj2" fmla="val 50000"/>
              </a:avLst>
            </a:prstGeom>
            <a:solidFill>
              <a:srgbClr val="FCE5C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18" name="Google Shape;1218;p90"/>
            <p:cNvSpPr txBox="1"/>
            <p:nvPr/>
          </p:nvSpPr>
          <p:spPr>
            <a:xfrm>
              <a:off x="7445900" y="1319850"/>
              <a:ext cx="1227900" cy="7968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r>
                <a:rPr lang="en" sz="1400" dirty="0"/>
                <a:t>Add one rare template to NQL model</a:t>
              </a:r>
              <a:endParaRPr sz="1400" dirty="0"/>
            </a:p>
          </p:txBody>
        </p:sp>
      </p:grpSp>
      <p:sp>
        <p:nvSpPr>
          <p:cNvPr id="1219" name="Google Shape;1219;p90"/>
          <p:cNvSpPr/>
          <p:nvPr/>
        </p:nvSpPr>
        <p:spPr>
          <a:xfrm>
            <a:off x="1516600" y="2833277"/>
            <a:ext cx="1959300" cy="243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Automatic Differentiation and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D67566-1C70-F64B-AF85-AA83547E170B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40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751860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7CF4-1B90-6F80-04D2-CC735BDD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25965902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>
          <a:extLst>
            <a:ext uri="{FF2B5EF4-FFF2-40B4-BE49-F238E27FC236}">
              <a16:creationId xmlns:a16="http://schemas.microsoft.com/office/drawing/2014/main" id="{41E32A9B-BB5B-E650-C36F-52AE0317D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0">
            <a:extLst>
              <a:ext uri="{FF2B5EF4-FFF2-40B4-BE49-F238E27FC236}">
                <a16:creationId xmlns:a16="http://schemas.microsoft.com/office/drawing/2014/main" id="{014F3309-1CC5-33F8-750B-AD4AD9A4DBDB}"/>
              </a:ext>
            </a:extLst>
          </p:cNvPr>
          <p:cNvSpPr txBox="1"/>
          <p:nvPr/>
        </p:nvSpPr>
        <p:spPr>
          <a:xfrm>
            <a:off x="301800" y="1989542"/>
            <a:ext cx="8540400" cy="102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indent="457200"/>
            <a:endParaRPr dirty="0">
              <a:latin typeface="Inconsolata"/>
              <a:ea typeface="Inconsolata"/>
              <a:cs typeface="Inconsolata"/>
              <a:sym typeface="Inconsolata"/>
            </a:endParaRPr>
          </a:p>
          <a:p>
            <a:r>
              <a:rPr lang="en" dirty="0">
                <a:latin typeface="Inconsolata"/>
                <a:ea typeface="Inconsolata"/>
                <a:cs typeface="Inconsolata"/>
                <a:sym typeface="Inconsolata"/>
              </a:rPr>
              <a:t>(henry8.son() | henry8.daughter()).son() </a:t>
            </a:r>
          </a:p>
          <a:p>
            <a:endParaRPr dirty="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720" name="Google Shape;720;p60">
            <a:extLst>
              <a:ext uri="{FF2B5EF4-FFF2-40B4-BE49-F238E27FC236}">
                <a16:creationId xmlns:a16="http://schemas.microsoft.com/office/drawing/2014/main" id="{5A850FE1-A625-B158-72D0-DA6AC144B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1600" y="46995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sz="3200" dirty="0"/>
              <a:t>NQL/</a:t>
            </a:r>
            <a:r>
              <a:rPr lang="en" sz="3200" dirty="0" err="1"/>
              <a:t>EmQL</a:t>
            </a:r>
            <a:r>
              <a:rPr lang="en" sz="3200" dirty="0"/>
              <a:t>/GQE all lead to </a:t>
            </a:r>
            <a:r>
              <a:rPr lang="en" sz="3200" u="sng" dirty="0"/>
              <a:t>complex</a:t>
            </a:r>
            <a:r>
              <a:rPr lang="en" sz="3200" dirty="0"/>
              <a:t> networks</a:t>
            </a:r>
            <a:endParaRPr sz="3200" dirty="0"/>
          </a:p>
        </p:txBody>
      </p:sp>
      <p:sp>
        <p:nvSpPr>
          <p:cNvPr id="725" name="Google Shape;725;p60">
            <a:extLst>
              <a:ext uri="{FF2B5EF4-FFF2-40B4-BE49-F238E27FC236}">
                <a16:creationId xmlns:a16="http://schemas.microsoft.com/office/drawing/2014/main" id="{B9F75B40-EBBE-5969-6646-F4BCDDBA7C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42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C8E247-C017-7267-A70A-0DA71796BF16}"/>
              </a:ext>
            </a:extLst>
          </p:cNvPr>
          <p:cNvSpPr txBox="1"/>
          <p:nvPr/>
        </p:nvSpPr>
        <p:spPr>
          <a:xfrm>
            <a:off x="766484" y="3947175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henry8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6FFB33-0982-444D-631A-E8D7760D6A25}"/>
              </a:ext>
            </a:extLst>
          </p:cNvPr>
          <p:cNvSpPr txBox="1"/>
          <p:nvPr/>
        </p:nvSpPr>
        <p:spPr>
          <a:xfrm>
            <a:off x="2586319" y="3244334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.son()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46A30-859C-F193-E797-9898E0F41676}"/>
              </a:ext>
            </a:extLst>
          </p:cNvPr>
          <p:cNvSpPr txBox="1"/>
          <p:nvPr/>
        </p:nvSpPr>
        <p:spPr>
          <a:xfrm>
            <a:off x="2364442" y="4693478"/>
            <a:ext cx="1385047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.daughter()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84290-AC73-8F39-1B18-7B83912A4A21}"/>
              </a:ext>
            </a:extLst>
          </p:cNvPr>
          <p:cNvSpPr txBox="1"/>
          <p:nvPr/>
        </p:nvSpPr>
        <p:spPr>
          <a:xfrm>
            <a:off x="4231342" y="3846314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union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5A651-00D2-5EF2-4813-4596021CCC6C}"/>
              </a:ext>
            </a:extLst>
          </p:cNvPr>
          <p:cNvSpPr txBox="1"/>
          <p:nvPr/>
        </p:nvSpPr>
        <p:spPr>
          <a:xfrm>
            <a:off x="5912225" y="3846314"/>
            <a:ext cx="941294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.son()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9B7B73C-5EF4-A67F-DDD4-A46AE1D65528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1707778" y="3429000"/>
            <a:ext cx="878541" cy="7028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323020-056A-E3F2-0B64-93FBD2E269F2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1707778" y="4131841"/>
            <a:ext cx="656664" cy="746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FC0319-EB83-2B11-6709-F05A7798AE45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3527613" y="3429000"/>
            <a:ext cx="703729" cy="601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FFF24E-6620-D9E5-D025-E49518681196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749489" y="4030980"/>
            <a:ext cx="481853" cy="847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3DBE637-34A1-44EB-CE10-546E0AB50AE1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172636" y="4030980"/>
            <a:ext cx="7395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B6C07F-E505-3A2F-46D3-94E97D8BDBEB}"/>
              </a:ext>
            </a:extLst>
          </p:cNvPr>
          <p:cNvSpPr txBox="1"/>
          <p:nvPr/>
        </p:nvSpPr>
        <p:spPr>
          <a:xfrm>
            <a:off x="1223682" y="5473849"/>
            <a:ext cx="3053604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output = f1(input, relation)</a:t>
            </a:r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2452621B-AE0E-7CFE-2F5F-915B646B1A36}"/>
              </a:ext>
            </a:extLst>
          </p:cNvPr>
          <p:cNvSpPr/>
          <p:nvPr/>
        </p:nvSpPr>
        <p:spPr>
          <a:xfrm>
            <a:off x="3012142" y="5177118"/>
            <a:ext cx="161364" cy="29673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5C7DABB3-C567-E09F-E2DD-06618F2C7FF5}"/>
              </a:ext>
            </a:extLst>
          </p:cNvPr>
          <p:cNvSpPr/>
          <p:nvPr/>
        </p:nvSpPr>
        <p:spPr>
          <a:xfrm>
            <a:off x="4681820" y="4276164"/>
            <a:ext cx="164727" cy="41731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767B0B-BE7E-B1F8-9D85-EBF5A653B698}"/>
              </a:ext>
            </a:extLst>
          </p:cNvPr>
          <p:cNvSpPr txBox="1"/>
          <p:nvPr/>
        </p:nvSpPr>
        <p:spPr>
          <a:xfrm>
            <a:off x="415741" y="1717660"/>
            <a:ext cx="679076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NQL expressions </a:t>
            </a:r>
            <a:r>
              <a:rPr lang="en-US" dirty="0">
                <a:sym typeface="Wingdings" pitchFamily="2" charset="2"/>
              </a:rPr>
              <a:t> compositionally defined neural networks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048FA4-2497-DD37-9285-5B2BF0E31F3C}"/>
              </a:ext>
            </a:extLst>
          </p:cNvPr>
          <p:cNvSpPr txBox="1"/>
          <p:nvPr/>
        </p:nvSpPr>
        <p:spPr>
          <a:xfrm>
            <a:off x="4152902" y="4839600"/>
            <a:ext cx="3053604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output = f2(input2, input2)</a:t>
            </a:r>
          </a:p>
        </p:txBody>
      </p:sp>
    </p:spTree>
    <p:extLst>
      <p:ext uri="{BB962C8B-B14F-4D97-AF65-F5344CB8AC3E}">
        <p14:creationId xmlns:p14="http://schemas.microsoft.com/office/powerpoint/2010/main" val="26930975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>
          <a:extLst>
            <a:ext uri="{FF2B5EF4-FFF2-40B4-BE49-F238E27FC236}">
              <a16:creationId xmlns:a16="http://schemas.microsoft.com/office/drawing/2014/main" id="{A5872983-0BF3-1165-CD52-2C7E3A02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63">
            <a:extLst>
              <a:ext uri="{FF2B5EF4-FFF2-40B4-BE49-F238E27FC236}">
                <a16:creationId xmlns:a16="http://schemas.microsoft.com/office/drawing/2014/main" id="{B89EA1A4-620B-D194-56E3-6C6A33B7044B}"/>
              </a:ext>
            </a:extLst>
          </p:cNvPr>
          <p:cNvSpPr txBox="1"/>
          <p:nvPr/>
        </p:nvSpPr>
        <p:spPr>
          <a:xfrm>
            <a:off x="73499" y="2130425"/>
            <a:ext cx="5775971" cy="3783600"/>
          </a:xfrm>
          <a:prstGeom prst="rect">
            <a:avLst/>
          </a:prstGeom>
          <a:noFill/>
          <a:ln w="38100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r"/>
            <a:r>
              <a:rPr lang="en"/>
              <a:t>Neural</a:t>
            </a:r>
            <a:endParaRPr/>
          </a:p>
        </p:txBody>
      </p:sp>
      <p:sp>
        <p:nvSpPr>
          <p:cNvPr id="760" name="Google Shape;760;p63">
            <a:extLst>
              <a:ext uri="{FF2B5EF4-FFF2-40B4-BE49-F238E27FC236}">
                <a16:creationId xmlns:a16="http://schemas.microsoft.com/office/drawing/2014/main" id="{84233335-E2D6-90DC-092E-5C52A8E6BAE0}"/>
              </a:ext>
            </a:extLst>
          </p:cNvPr>
          <p:cNvSpPr txBox="1"/>
          <p:nvPr/>
        </p:nvSpPr>
        <p:spPr>
          <a:xfrm>
            <a:off x="392050" y="2486600"/>
            <a:ext cx="4751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Question: “are any Google interns attending VLDB2020?”</a:t>
            </a:r>
            <a:endParaRPr/>
          </a:p>
        </p:txBody>
      </p:sp>
      <p:sp>
        <p:nvSpPr>
          <p:cNvPr id="761" name="Google Shape;761;p63">
            <a:extLst>
              <a:ext uri="{FF2B5EF4-FFF2-40B4-BE49-F238E27FC236}">
                <a16:creationId xmlns:a16="http://schemas.microsoft.com/office/drawing/2014/main" id="{A1752F4A-5658-0246-EFFF-6431943B9D77}"/>
              </a:ext>
            </a:extLst>
          </p:cNvPr>
          <p:cNvSpPr/>
          <p:nvPr/>
        </p:nvSpPr>
        <p:spPr>
          <a:xfrm>
            <a:off x="2657650" y="32581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62" name="Google Shape;762;p63">
            <a:extLst>
              <a:ext uri="{FF2B5EF4-FFF2-40B4-BE49-F238E27FC236}">
                <a16:creationId xmlns:a16="http://schemas.microsoft.com/office/drawing/2014/main" id="{50F13E53-9332-416D-D86B-4606DA610324}"/>
              </a:ext>
            </a:extLst>
          </p:cNvPr>
          <p:cNvSpPr txBox="1"/>
          <p:nvPr/>
        </p:nvSpPr>
        <p:spPr>
          <a:xfrm>
            <a:off x="257350" y="3697275"/>
            <a:ext cx="50823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google.follow(internAt</a:t>
            </a:r>
            <a:r>
              <a:rPr lang="en" baseline="30000"/>
              <a:t>- 1</a:t>
            </a:r>
            <a:r>
              <a:rPr lang="en"/>
              <a:t>) &amp; </a:t>
            </a:r>
            <a:r>
              <a:rPr lang="en">
                <a:solidFill>
                  <a:schemeClr val="dk1"/>
                </a:solidFill>
              </a:rPr>
              <a:t>vldb2020.follow(registeredFor)</a:t>
            </a:r>
            <a:endParaRPr/>
          </a:p>
        </p:txBody>
      </p:sp>
      <p:sp>
        <p:nvSpPr>
          <p:cNvPr id="763" name="Google Shape;763;p63">
            <a:extLst>
              <a:ext uri="{FF2B5EF4-FFF2-40B4-BE49-F238E27FC236}">
                <a16:creationId xmlns:a16="http://schemas.microsoft.com/office/drawing/2014/main" id="{911B6C29-9C75-DEAE-6B30-0FC4812E6DA1}"/>
              </a:ext>
            </a:extLst>
          </p:cNvPr>
          <p:cNvSpPr/>
          <p:nvPr/>
        </p:nvSpPr>
        <p:spPr>
          <a:xfrm>
            <a:off x="624725" y="4788925"/>
            <a:ext cx="926100" cy="967500"/>
          </a:xfrm>
          <a:prstGeom prst="can">
            <a:avLst>
              <a:gd name="adj" fmla="val 25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64" name="Google Shape;764;p63">
            <a:extLst>
              <a:ext uri="{FF2B5EF4-FFF2-40B4-BE49-F238E27FC236}">
                <a16:creationId xmlns:a16="http://schemas.microsoft.com/office/drawing/2014/main" id="{F1C04861-E765-2E7C-6823-5F80C8F4D5EF}"/>
              </a:ext>
            </a:extLst>
          </p:cNvPr>
          <p:cNvSpPr/>
          <p:nvPr/>
        </p:nvSpPr>
        <p:spPr>
          <a:xfrm>
            <a:off x="1654668" y="5156325"/>
            <a:ext cx="337800" cy="244800"/>
          </a:xfrm>
          <a:prstGeom prst="right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65" name="Google Shape;765;p63">
            <a:extLst>
              <a:ext uri="{FF2B5EF4-FFF2-40B4-BE49-F238E27FC236}">
                <a16:creationId xmlns:a16="http://schemas.microsoft.com/office/drawing/2014/main" id="{4B3AAA46-7F38-0475-0804-D89982A0F400}"/>
              </a:ext>
            </a:extLst>
          </p:cNvPr>
          <p:cNvSpPr txBox="1"/>
          <p:nvPr/>
        </p:nvSpPr>
        <p:spPr>
          <a:xfrm>
            <a:off x="2196375" y="4932575"/>
            <a:ext cx="1175700" cy="661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Answers</a:t>
            </a:r>
            <a:endParaRPr/>
          </a:p>
        </p:txBody>
      </p:sp>
      <p:sp>
        <p:nvSpPr>
          <p:cNvPr id="766" name="Google Shape;766;p63">
            <a:extLst>
              <a:ext uri="{FF2B5EF4-FFF2-40B4-BE49-F238E27FC236}">
                <a16:creationId xmlns:a16="http://schemas.microsoft.com/office/drawing/2014/main" id="{A4CDEFFB-441A-37EC-2218-A17FC5963890}"/>
              </a:ext>
            </a:extLst>
          </p:cNvPr>
          <p:cNvSpPr txBox="1"/>
          <p:nvPr/>
        </p:nvSpPr>
        <p:spPr>
          <a:xfrm>
            <a:off x="692245" y="4948125"/>
            <a:ext cx="762000" cy="66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/>
              <a:t>KB</a:t>
            </a:r>
            <a:endParaRPr/>
          </a:p>
        </p:txBody>
      </p:sp>
      <p:sp>
        <p:nvSpPr>
          <p:cNvPr id="767" name="Google Shape;767;p63">
            <a:extLst>
              <a:ext uri="{FF2B5EF4-FFF2-40B4-BE49-F238E27FC236}">
                <a16:creationId xmlns:a16="http://schemas.microsoft.com/office/drawing/2014/main" id="{13AAF9F2-8AED-B638-0DEA-AD1576B2B2A3}"/>
              </a:ext>
            </a:extLst>
          </p:cNvPr>
          <p:cNvSpPr/>
          <p:nvPr/>
        </p:nvSpPr>
        <p:spPr>
          <a:xfrm>
            <a:off x="2657650" y="4477325"/>
            <a:ext cx="195900" cy="367500"/>
          </a:xfrm>
          <a:prstGeom prst="downArrow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68" name="Google Shape;768;p63">
            <a:extLst>
              <a:ext uri="{FF2B5EF4-FFF2-40B4-BE49-F238E27FC236}">
                <a16:creationId xmlns:a16="http://schemas.microsoft.com/office/drawing/2014/main" id="{BDAC02BE-F35F-DCB4-00E4-83BFE61A76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5520467"/>
            <a:ext cx="548700" cy="393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43</a:t>
            </a:fld>
            <a:endParaRPr/>
          </a:p>
        </p:txBody>
      </p:sp>
      <p:sp>
        <p:nvSpPr>
          <p:cNvPr id="5" name="Google Shape;742;p62">
            <a:extLst>
              <a:ext uri="{FF2B5EF4-FFF2-40B4-BE49-F238E27FC236}">
                <a16:creationId xmlns:a16="http://schemas.microsoft.com/office/drawing/2014/main" id="{05618047-F69B-DDFB-8EEB-DB6043C6A0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26510"/>
            <a:ext cx="8520600" cy="135443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algn="l">
              <a:spcBef>
                <a:spcPts val="0"/>
              </a:spcBef>
            </a:pPr>
            <a:r>
              <a:rPr lang="en" sz="3200" dirty="0"/>
              <a:t>NLP analysis chained with NQL/</a:t>
            </a:r>
            <a:r>
              <a:rPr lang="en" sz="3200" dirty="0" err="1"/>
              <a:t>EmQL</a:t>
            </a:r>
            <a:r>
              <a:rPr lang="en" sz="3200" dirty="0"/>
              <a:t>/GQE is a really complex network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420952-5C67-E46C-F5EE-5277B2949C37}"/>
              </a:ext>
            </a:extLst>
          </p:cNvPr>
          <p:cNvSpPr txBox="1"/>
          <p:nvPr/>
        </p:nvSpPr>
        <p:spPr>
          <a:xfrm>
            <a:off x="6446751" y="3163960"/>
            <a:ext cx="2484509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But we don’t want to manually to the math to optimize this!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5D9A3C-6AF9-1A79-1935-ED4999E303E0}"/>
              </a:ext>
            </a:extLst>
          </p:cNvPr>
          <p:cNvSpPr txBox="1"/>
          <p:nvPr/>
        </p:nvSpPr>
        <p:spPr>
          <a:xfrm>
            <a:off x="6168021" y="1356633"/>
            <a:ext cx="2484509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being able to put together different modules like this is super useful…</a:t>
            </a:r>
          </a:p>
        </p:txBody>
      </p:sp>
    </p:spTree>
    <p:extLst>
      <p:ext uri="{BB962C8B-B14F-4D97-AF65-F5344CB8AC3E}">
        <p14:creationId xmlns:p14="http://schemas.microsoft.com/office/powerpoint/2010/main" val="3899975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3BA72-18E9-DC66-3865-55818BCF6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27984-D24C-87D7-2BCC-681D08F90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Recap: Spark Transformations vs Actions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AB9D4-E9EB-6DD9-6C56-04844BB54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0349E-56B8-2694-3CF9-F7388563A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096962"/>
            <a:ext cx="8648700" cy="5468937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For large data it’s important to have an </a:t>
            </a:r>
            <a:r>
              <a:rPr lang="en-US" i="1" dirty="0"/>
              <a:t>explicit</a:t>
            </a:r>
            <a:r>
              <a:rPr lang="en-US" dirty="0"/>
              <a:t> representation of the “code” you want to run</a:t>
            </a:r>
          </a:p>
          <a:p>
            <a:pPr lvl="1"/>
            <a:r>
              <a:rPr lang="en-US" dirty="0"/>
              <a:t>For optimization</a:t>
            </a:r>
          </a:p>
          <a:p>
            <a:pPr lvl="1"/>
            <a:r>
              <a:rPr lang="en-US" dirty="0"/>
              <a:t>For distribution to workers</a:t>
            </a:r>
          </a:p>
          <a:p>
            <a:pPr lvl="1"/>
            <a:r>
              <a:rPr lang="en-US" dirty="0"/>
              <a:t>For recovery from errors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b="1" dirty="0"/>
              <a:t>Spark’s transformations are like “code”</a:t>
            </a:r>
          </a:p>
          <a:p>
            <a:r>
              <a:rPr lang="en-US" dirty="0"/>
              <a:t>This happens over and over in different contexts</a:t>
            </a:r>
          </a:p>
          <a:p>
            <a:pPr lvl="1"/>
            <a:r>
              <a:rPr lang="en-US" dirty="0" err="1"/>
              <a:t>Tensorflow</a:t>
            </a:r>
            <a:r>
              <a:rPr lang="en-US" dirty="0"/>
              <a:t> and </a:t>
            </a:r>
            <a:r>
              <a:rPr lang="en-US" dirty="0" err="1"/>
              <a:t>PyTorch</a:t>
            </a:r>
            <a:r>
              <a:rPr lang="en-US" dirty="0"/>
              <a:t> have “computation graphs”</a:t>
            </a:r>
          </a:p>
          <a:p>
            <a:pPr lvl="1"/>
            <a:r>
              <a:rPr lang="en-US" dirty="0"/>
              <a:t>Databases have query languages and query optimizers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Language-like packages in Python are not different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E0098-C4D8-0B36-E13B-622EE1EF4581}"/>
              </a:ext>
            </a:extLst>
          </p:cNvPr>
          <p:cNvSpPr txBox="1"/>
          <p:nvPr/>
        </p:nvSpPr>
        <p:spPr>
          <a:xfrm>
            <a:off x="228600" y="5726896"/>
            <a:ext cx="8029713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We will use the same trick to make gradient computation complex, arbitrary functions easy</a:t>
            </a:r>
          </a:p>
        </p:txBody>
      </p:sp>
    </p:spTree>
    <p:extLst>
      <p:ext uri="{BB962C8B-B14F-4D97-AF65-F5344CB8AC3E}">
        <p14:creationId xmlns:p14="http://schemas.microsoft.com/office/powerpoint/2010/main" val="310712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F1842-8C9D-303B-73E0-0F9EEDFF2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differentiation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1D654-3AF3-2569-047E-C8AD73146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main idea: for a function </a:t>
            </a:r>
            <a:r>
              <a:rPr lang="en-US" i="1" dirty="0"/>
              <a:t>f</a:t>
            </a:r>
            <a:endParaRPr lang="en-US" dirty="0"/>
          </a:p>
          <a:p>
            <a:pPr lvl="1"/>
            <a:r>
              <a:rPr lang="en-US" dirty="0"/>
              <a:t>Build a “computation” graph for each </a:t>
            </a:r>
            <a:r>
              <a:rPr lang="en-US" i="1" dirty="0"/>
              <a:t>f</a:t>
            </a:r>
          </a:p>
          <a:p>
            <a:pPr lvl="1"/>
            <a:r>
              <a:rPr lang="en-US" dirty="0"/>
              <a:t>Nodes in the graph are real numbers</a:t>
            </a:r>
          </a:p>
          <a:p>
            <a:pPr lvl="2"/>
            <a:r>
              <a:rPr lang="en-US" dirty="0"/>
              <a:t>floats, vectors of floats, matrices, tensors, ….</a:t>
            </a:r>
          </a:p>
          <a:p>
            <a:pPr lvl="1"/>
            <a:r>
              <a:rPr lang="en-US" dirty="0"/>
              <a:t>Automatically derive derivatives from the graph</a:t>
            </a:r>
          </a:p>
          <a:p>
            <a:r>
              <a:rPr lang="en-US" dirty="0" err="1"/>
              <a:t>Autodiff</a:t>
            </a:r>
            <a:r>
              <a:rPr lang="en-US" dirty="0"/>
              <a:t> is part of many ML platforms, along with</a:t>
            </a:r>
          </a:p>
          <a:p>
            <a:pPr lvl="1"/>
            <a:r>
              <a:rPr lang="en-US" dirty="0"/>
              <a:t>Gradient-based optimizers (e.g., Adam, …)</a:t>
            </a:r>
          </a:p>
          <a:p>
            <a:pPr lvl="1"/>
            <a:r>
              <a:rPr lang="en-US" dirty="0"/>
              <a:t>GPU-based accelerators</a:t>
            </a:r>
          </a:p>
          <a:p>
            <a:pPr lvl="1"/>
            <a:r>
              <a:rPr lang="en-US" dirty="0"/>
              <a:t>Libraries of ML models and model components</a:t>
            </a:r>
          </a:p>
          <a:p>
            <a:pPr lvl="1"/>
            <a:r>
              <a:rPr lang="en-US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04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F5950D-533C-D1C5-67EC-0A12CCADA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Autodiff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46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5" name="Picture 4" descr="Screen Shot 2016-11-01 at 1.10.1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8" y="1925651"/>
            <a:ext cx="3937000" cy="711200"/>
          </a:xfrm>
          <a:prstGeom prst="rect">
            <a:avLst/>
          </a:prstGeom>
        </p:spPr>
      </p:pic>
      <p:pic>
        <p:nvPicPr>
          <p:cNvPr id="6" name="Picture 5" descr="Screen Shot 2016-11-01 at 1.10.2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00" y="1570051"/>
            <a:ext cx="3238500" cy="172720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443828" y="2240611"/>
            <a:ext cx="558800" cy="284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creen Shot 2016-11-01 at 1.10.59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00" y="3133248"/>
            <a:ext cx="7518400" cy="27813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139006" y="1324441"/>
            <a:ext cx="2903415" cy="187491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724129" y="925449"/>
            <a:ext cx="1733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err="1"/>
              <a:t>Wengert</a:t>
            </a:r>
            <a:r>
              <a:rPr lang="en-US" sz="2400" i="1" dirty="0"/>
              <a:t> list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586604-712B-44E9-EB1A-DDFE0AEB3390}"/>
              </a:ext>
            </a:extLst>
          </p:cNvPr>
          <p:cNvCxnSpPr/>
          <p:nvPr/>
        </p:nvCxnSpPr>
        <p:spPr>
          <a:xfrm flipH="1">
            <a:off x="501318" y="3315411"/>
            <a:ext cx="5722374" cy="189639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0763BCA-6E26-C708-3A83-17DBEAFF6A7B}"/>
              </a:ext>
            </a:extLst>
          </p:cNvPr>
          <p:cNvSpPr txBox="1"/>
          <p:nvPr/>
        </p:nvSpPr>
        <p:spPr>
          <a:xfrm>
            <a:off x="5137357" y="4030714"/>
            <a:ext cx="32385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Flattened version of computation graph</a:t>
            </a:r>
          </a:p>
        </p:txBody>
      </p:sp>
    </p:spTree>
    <p:extLst>
      <p:ext uri="{BB962C8B-B14F-4D97-AF65-F5344CB8AC3E}">
        <p14:creationId xmlns:p14="http://schemas.microsoft.com/office/powerpoint/2010/main" val="202721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9" grpId="0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A3AFE-1345-EB4A-81F4-3B4AB9D5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E8FE06-4E2B-042B-75A3-2A1BFC046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Autodiff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926B8-7A80-57AB-4D4D-D6B709D7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47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5" name="Picture 4" descr="Screen Shot 2016-11-01 at 1.10.18 PM.png">
            <a:extLst>
              <a:ext uri="{FF2B5EF4-FFF2-40B4-BE49-F238E27FC236}">
                <a16:creationId xmlns:a16="http://schemas.microsoft.com/office/drawing/2014/main" id="{94B2AF2E-216E-077A-2317-210926F21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8" y="1925651"/>
            <a:ext cx="3937000" cy="711200"/>
          </a:xfrm>
          <a:prstGeom prst="rect">
            <a:avLst/>
          </a:prstGeom>
        </p:spPr>
      </p:pic>
      <p:pic>
        <p:nvPicPr>
          <p:cNvPr id="6" name="Picture 5" descr="Screen Shot 2016-11-01 at 1.10.27 PM.png">
            <a:extLst>
              <a:ext uri="{FF2B5EF4-FFF2-40B4-BE49-F238E27FC236}">
                <a16:creationId xmlns:a16="http://schemas.microsoft.com/office/drawing/2014/main" id="{7EF7AC56-2800-D3D8-0EFA-7A6B15E014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00" y="1570051"/>
            <a:ext cx="3238500" cy="172720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BA6BFF8C-78F8-5B4B-2944-360BB861A3AB}"/>
              </a:ext>
            </a:extLst>
          </p:cNvPr>
          <p:cNvSpPr/>
          <p:nvPr/>
        </p:nvSpPr>
        <p:spPr>
          <a:xfrm>
            <a:off x="4443828" y="2240611"/>
            <a:ext cx="558800" cy="284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95DF94-E4AD-83B7-A9C9-F8D5BFC14B45}"/>
              </a:ext>
            </a:extLst>
          </p:cNvPr>
          <p:cNvSpPr/>
          <p:nvPr/>
        </p:nvSpPr>
        <p:spPr>
          <a:xfrm>
            <a:off x="5139006" y="1324441"/>
            <a:ext cx="2903415" cy="187491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79CA8A-BCCF-E192-3217-0416D2485F8A}"/>
              </a:ext>
            </a:extLst>
          </p:cNvPr>
          <p:cNvSpPr txBox="1"/>
          <p:nvPr/>
        </p:nvSpPr>
        <p:spPr>
          <a:xfrm>
            <a:off x="1270199" y="4013505"/>
            <a:ext cx="101722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x1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BE25B1-8BCD-FB72-07C8-C903AB028617}"/>
              </a:ext>
            </a:extLst>
          </p:cNvPr>
          <p:cNvSpPr txBox="1"/>
          <p:nvPr/>
        </p:nvSpPr>
        <p:spPr>
          <a:xfrm>
            <a:off x="1270199" y="5151152"/>
            <a:ext cx="89791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x2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7DE19E-EBF3-02A1-EEA4-98A349F19583}"/>
              </a:ext>
            </a:extLst>
          </p:cNvPr>
          <p:cNvSpPr txBox="1"/>
          <p:nvPr/>
        </p:nvSpPr>
        <p:spPr>
          <a:xfrm>
            <a:off x="2732757" y="4151712"/>
            <a:ext cx="65987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add</a:t>
            </a:r>
            <a:endParaRPr lang="en-US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4EE196-8CE0-A00F-2DCC-B22AE65CCCFD}"/>
              </a:ext>
            </a:extLst>
          </p:cNvPr>
          <p:cNvSpPr txBox="1"/>
          <p:nvPr/>
        </p:nvSpPr>
        <p:spPr>
          <a:xfrm>
            <a:off x="3730491" y="4521044"/>
            <a:ext cx="65987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add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0DEC6D-29CD-A4DD-8A87-01D618D42DBD}"/>
              </a:ext>
            </a:extLst>
          </p:cNvPr>
          <p:cNvSpPr txBox="1"/>
          <p:nvPr/>
        </p:nvSpPr>
        <p:spPr>
          <a:xfrm>
            <a:off x="4724989" y="4521044"/>
            <a:ext cx="102337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square</a:t>
            </a:r>
            <a:endParaRPr lang="en-US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1927F24-F747-29B1-9F18-16F4CB52C79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2303590" y="4230146"/>
            <a:ext cx="429167" cy="106232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AE32CC1-237F-55D6-6B1C-3EAD134F5DAE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2168114" y="4802585"/>
            <a:ext cx="1562377" cy="53323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E81E3C0-FFC9-9898-E65C-2D54E74A5575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392635" y="4336378"/>
            <a:ext cx="397511" cy="231126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226BCA-B923-8A48-E845-B2167C4E7A29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4390369" y="4705710"/>
            <a:ext cx="334620" cy="0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1FBD4071-2614-B585-5578-5DE28D7FB2FA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34492" y="4073615"/>
            <a:ext cx="138206" cy="84957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8DA8340-1C5C-817F-8D0A-4BB882135D41}"/>
              </a:ext>
            </a:extLst>
          </p:cNvPr>
          <p:cNvSpPr txBox="1"/>
          <p:nvPr/>
        </p:nvSpPr>
        <p:spPr>
          <a:xfrm>
            <a:off x="6109149" y="4528248"/>
            <a:ext cx="9631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</a:t>
            </a:r>
            <a:endParaRPr lang="en-US" sz="24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ACB7211-41F2-6F1F-082B-486924A008B0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5748363" y="4705710"/>
            <a:ext cx="334620" cy="7204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5846C6D-F391-3BDE-B859-892B45B756AF}"/>
              </a:ext>
            </a:extLst>
          </p:cNvPr>
          <p:cNvSpPr txBox="1"/>
          <p:nvPr/>
        </p:nvSpPr>
        <p:spPr>
          <a:xfrm>
            <a:off x="4803921" y="3355551"/>
            <a:ext cx="32385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Flattened version of computation graph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F4056-A2C5-AEBE-62BB-8ADBB9C1F5B3}"/>
              </a:ext>
            </a:extLst>
          </p:cNvPr>
          <p:cNvSpPr txBox="1"/>
          <p:nvPr/>
        </p:nvSpPr>
        <p:spPr>
          <a:xfrm>
            <a:off x="3730491" y="5351504"/>
            <a:ext cx="47509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Autodiff</a:t>
            </a:r>
            <a:r>
              <a:rPr lang="en-US" sz="2400" dirty="0"/>
              <a:t> on </a:t>
            </a:r>
            <a:r>
              <a:rPr lang="en-US" sz="2400" dirty="0" err="1"/>
              <a:t>Wengert</a:t>
            </a:r>
            <a:r>
              <a:rPr lang="en-US" sz="2400" dirty="0"/>
              <a:t> lists (“tape” of operations) is straightforward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2C5A63-6CC9-6E99-82F7-6B3E579384B1}"/>
              </a:ext>
            </a:extLst>
          </p:cNvPr>
          <p:cNvSpPr txBox="1"/>
          <p:nvPr/>
        </p:nvSpPr>
        <p:spPr>
          <a:xfrm>
            <a:off x="4007364" y="6223725"/>
            <a:ext cx="475090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but also somehow confusing?</a:t>
            </a:r>
          </a:p>
        </p:txBody>
      </p:sp>
    </p:spTree>
    <p:extLst>
      <p:ext uri="{BB962C8B-B14F-4D97-AF65-F5344CB8AC3E}">
        <p14:creationId xmlns:p14="http://schemas.microsoft.com/office/powerpoint/2010/main" val="78764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E830-B187-8E5B-071D-51AC4AFA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Autodiff</a:t>
            </a:r>
            <a:r>
              <a:rPr lang="en-US" dirty="0"/>
              <a:t>: Simple or Confusing?</a:t>
            </a:r>
          </a:p>
        </p:txBody>
      </p:sp>
    </p:spTree>
    <p:extLst>
      <p:ext uri="{BB962C8B-B14F-4D97-AF65-F5344CB8AC3E}">
        <p14:creationId xmlns:p14="http://schemas.microsoft.com/office/powerpoint/2010/main" val="40197370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BB394-0A57-FAC9-B856-3BF3404C9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4F177F-1033-516B-8CA5-D3E1DE38C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Autodiff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6B15A-16C5-6A48-7155-F2DE5C0B2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49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5" name="Picture 4" descr="Screen Shot 2016-11-01 at 1.10.18 PM.png">
            <a:extLst>
              <a:ext uri="{FF2B5EF4-FFF2-40B4-BE49-F238E27FC236}">
                <a16:creationId xmlns:a16="http://schemas.microsoft.com/office/drawing/2014/main" id="{F7AAD6AB-D65E-0A2E-DD74-547B29E42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8" y="1925651"/>
            <a:ext cx="3937000" cy="711200"/>
          </a:xfrm>
          <a:prstGeom prst="rect">
            <a:avLst/>
          </a:prstGeom>
        </p:spPr>
      </p:pic>
      <p:pic>
        <p:nvPicPr>
          <p:cNvPr id="8" name="Picture 7" descr="Screen Shot 2016-11-01 at 1.10.59 PM.png">
            <a:extLst>
              <a:ext uri="{FF2B5EF4-FFF2-40B4-BE49-F238E27FC236}">
                <a16:creationId xmlns:a16="http://schemas.microsoft.com/office/drawing/2014/main" id="{429EB98E-F02E-4B2D-847E-86C64A6CE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15" y="2830500"/>
            <a:ext cx="7518400" cy="278130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FC3622-7933-A40F-BC44-661FB81893B7}"/>
              </a:ext>
            </a:extLst>
          </p:cNvPr>
          <p:cNvCxnSpPr/>
          <p:nvPr/>
        </p:nvCxnSpPr>
        <p:spPr>
          <a:xfrm flipH="1">
            <a:off x="568833" y="3012663"/>
            <a:ext cx="5722374" cy="189639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FC2F559-799A-5203-671A-373EDA7CAB61}"/>
              </a:ext>
            </a:extLst>
          </p:cNvPr>
          <p:cNvSpPr txBox="1"/>
          <p:nvPr/>
        </p:nvSpPr>
        <p:spPr>
          <a:xfrm>
            <a:off x="4614637" y="3902380"/>
            <a:ext cx="3960529" cy="132343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We don’t want a </a:t>
            </a:r>
            <a:r>
              <a:rPr lang="en-US" sz="2000" b="1" dirty="0"/>
              <a:t>symbolic form</a:t>
            </a:r>
            <a:r>
              <a:rPr lang="en-US" sz="2000" dirty="0"/>
              <a:t> for the derivative – we want an </a:t>
            </a:r>
            <a:r>
              <a:rPr lang="en-US" sz="2000" b="1" dirty="0"/>
              <a:t>algorithm </a:t>
            </a:r>
            <a:r>
              <a:rPr lang="en-US" sz="2000" dirty="0"/>
              <a:t>to compute it at a given </a:t>
            </a:r>
            <a:r>
              <a:rPr lang="en-US" sz="2000" b="1" dirty="0"/>
              <a:t>point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D9E2EB-32F3-5670-E476-853A4F2A9D5B}"/>
              </a:ext>
            </a:extLst>
          </p:cNvPr>
          <p:cNvSpPr txBox="1"/>
          <p:nvPr/>
        </p:nvSpPr>
        <p:spPr>
          <a:xfrm>
            <a:off x="3659471" y="5358131"/>
            <a:ext cx="3960529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We do want to collect </a:t>
            </a:r>
            <a:r>
              <a:rPr lang="en-US" sz="2000" b="1" dirty="0"/>
              <a:t>all </a:t>
            </a:r>
            <a:r>
              <a:rPr lang="en-US" sz="2000" dirty="0"/>
              <a:t>the partial gradients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DDBC75-98A5-7885-497D-2E3E242C8EF4}"/>
              </a:ext>
            </a:extLst>
          </p:cNvPr>
          <p:cNvSpPr txBox="1"/>
          <p:nvPr/>
        </p:nvSpPr>
        <p:spPr>
          <a:xfrm>
            <a:off x="3936324" y="6030678"/>
            <a:ext cx="3960529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…at least the ones for </a:t>
            </a:r>
            <a:r>
              <a:rPr lang="en-US" sz="2000" b="1" dirty="0"/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137655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case: a chain of functions</a:t>
            </a:r>
          </a:p>
        </p:txBody>
      </p:sp>
      <p:pic>
        <p:nvPicPr>
          <p:cNvPr id="3" name="Picture 2" descr="Screen Shot 2016-10-17 at 11.16.1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20390"/>
            <a:ext cx="3018810" cy="2062029"/>
          </a:xfrm>
          <a:prstGeom prst="rect">
            <a:avLst/>
          </a:prstGeom>
        </p:spPr>
      </p:pic>
      <p:pic>
        <p:nvPicPr>
          <p:cNvPr id="4" name="Picture 3" descr="Screen Shot 2016-10-17 at 11.16.23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407" y="2320390"/>
            <a:ext cx="4926876" cy="2962265"/>
          </a:xfrm>
          <a:prstGeom prst="rect">
            <a:avLst/>
          </a:prstGeom>
        </p:spPr>
      </p:pic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50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1008185"/>
            <a:ext cx="248138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High school: </a:t>
            </a:r>
            <a:r>
              <a:rPr lang="en-US" i="1" dirty="0"/>
              <a:t>symbolic differentiation</a:t>
            </a:r>
            <a:r>
              <a:rPr lang="en-US" dirty="0"/>
              <a:t>, compute a symbolic form of the </a:t>
            </a:r>
            <a:r>
              <a:rPr lang="en-US" dirty="0" err="1"/>
              <a:t>deriv</a:t>
            </a:r>
            <a:r>
              <a:rPr lang="en-US" dirty="0"/>
              <a:t> of</a:t>
            </a:r>
            <a:r>
              <a:rPr lang="en-US" i="1" dirty="0"/>
              <a:t> 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5754" y="963657"/>
            <a:ext cx="248138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Now: </a:t>
            </a:r>
            <a:r>
              <a:rPr lang="en-US" i="1" dirty="0"/>
              <a:t>automatic differentiation</a:t>
            </a:r>
            <a:r>
              <a:rPr lang="en-US" dirty="0"/>
              <a:t>, find an </a:t>
            </a:r>
            <a:r>
              <a:rPr lang="en-US" b="1" dirty="0"/>
              <a:t>algorithm</a:t>
            </a:r>
            <a:r>
              <a:rPr lang="en-US" dirty="0"/>
              <a:t> to compute </a:t>
            </a:r>
            <a:r>
              <a:rPr lang="en-US" i="1" dirty="0"/>
              <a:t>f’(a)</a:t>
            </a:r>
            <a:r>
              <a:rPr lang="en-US" dirty="0"/>
              <a:t> at any point </a:t>
            </a:r>
            <a:r>
              <a:rPr lang="en-US" i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1321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Differentiating a </a:t>
            </a:r>
            <a:r>
              <a:rPr lang="en-US" dirty="0" err="1"/>
              <a:t>Wengert</a:t>
            </a:r>
            <a:r>
              <a:rPr lang="en-US" dirty="0"/>
              <a:t> list: a simple case</a:t>
            </a:r>
          </a:p>
        </p:txBody>
      </p:sp>
      <p:pic>
        <p:nvPicPr>
          <p:cNvPr id="3" name="Picture 2" descr="Screen Shot 2016-10-17 at 11.16.1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961764"/>
            <a:ext cx="2808265" cy="1918214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1283858" y="5596658"/>
            <a:ext cx="3983285" cy="889728"/>
            <a:chOff x="1283858" y="5596658"/>
            <a:chExt cx="3983285" cy="889728"/>
          </a:xfrm>
        </p:grpSpPr>
        <p:sp>
          <p:nvSpPr>
            <p:cNvPr id="5" name="TextBox 4"/>
            <p:cNvSpPr txBox="1"/>
            <p:nvPr/>
          </p:nvSpPr>
          <p:spPr>
            <a:xfrm>
              <a:off x="1283858" y="5596658"/>
              <a:ext cx="176202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Notation:</a:t>
              </a:r>
            </a:p>
          </p:txBody>
        </p:sp>
        <p:pic>
          <p:nvPicPr>
            <p:cNvPr id="6" name="Picture 5" descr="Screen Shot 2016-10-17 at 11.19.38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0458" y="5654734"/>
              <a:ext cx="813021" cy="709546"/>
            </a:xfrm>
            <a:prstGeom prst="rect">
              <a:avLst/>
            </a:prstGeom>
          </p:spPr>
        </p:pic>
        <p:pic>
          <p:nvPicPr>
            <p:cNvPr id="7" name="Picture 6" descr="Screen Shot 2016-10-17 at 11.19.42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9772" y="5596658"/>
              <a:ext cx="747371" cy="889728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217659" y="5844652"/>
              <a:ext cx="410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/>
                </a:rPr>
                <a:t></a:t>
              </a:r>
              <a:endParaRPr lang="en-US" dirty="0"/>
            </a:p>
          </p:txBody>
        </p:sp>
      </p:grpSp>
      <p:pic>
        <p:nvPicPr>
          <p:cNvPr id="10" name="Picture 9" descr="Screen Shot 2016-10-17 at 12.47.02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458" y="1901559"/>
            <a:ext cx="5673055" cy="19784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41693" y="5435317"/>
            <a:ext cx="333617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/>
              <a:t>a</a:t>
            </a:r>
            <a:r>
              <a:rPr lang="en-US" sz="3200" i="1" baseline="-25000" dirty="0"/>
              <a:t>i</a:t>
            </a:r>
            <a:r>
              <a:rPr lang="en-US" sz="3200" i="1" dirty="0"/>
              <a:t> is the </a:t>
            </a:r>
            <a:r>
              <a:rPr lang="en-US" sz="3200" i="1" dirty="0" err="1"/>
              <a:t>i-th</a:t>
            </a:r>
            <a:r>
              <a:rPr lang="en-US" sz="3200" i="1" dirty="0"/>
              <a:t> output</a:t>
            </a:r>
          </a:p>
          <a:p>
            <a:r>
              <a:rPr lang="en-US" sz="3200" i="1" dirty="0"/>
              <a:t>on input 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51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75754" y="963657"/>
            <a:ext cx="248138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Now: </a:t>
            </a:r>
            <a:r>
              <a:rPr lang="en-US" i="1" dirty="0"/>
              <a:t>automatic differentiation</a:t>
            </a:r>
            <a:r>
              <a:rPr lang="en-US" dirty="0"/>
              <a:t>, find an algorithm to compute </a:t>
            </a:r>
            <a:r>
              <a:rPr lang="en-US" i="1" dirty="0"/>
              <a:t>f’(a)</a:t>
            </a:r>
            <a:r>
              <a:rPr lang="en-US" dirty="0"/>
              <a:t> at any point </a:t>
            </a:r>
            <a:r>
              <a:rPr lang="en-US" i="1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3841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26130-7F75-2929-3091-A4E7A3594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Screen Shot 2016-10-17 at 11.16.18 AM.png">
            <a:extLst>
              <a:ext uri="{FF2B5EF4-FFF2-40B4-BE49-F238E27FC236}">
                <a16:creationId xmlns:a16="http://schemas.microsoft.com/office/drawing/2014/main" id="{33BE782B-D203-FD3C-1462-0B4E78B76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84" y="2343582"/>
            <a:ext cx="3018810" cy="20620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D5C484-6CE7-2207-707A-674113289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Differentiating a </a:t>
            </a:r>
            <a:r>
              <a:rPr lang="en-US" dirty="0" err="1"/>
              <a:t>Wengert</a:t>
            </a:r>
            <a:r>
              <a:rPr lang="en-US" dirty="0"/>
              <a:t> list: a simple case</a:t>
            </a:r>
          </a:p>
        </p:txBody>
      </p:sp>
      <p:pic>
        <p:nvPicPr>
          <p:cNvPr id="4" name="Picture 3" descr="Screen Shot 2016-10-17 at 11.16.23 AM.png">
            <a:extLst>
              <a:ext uri="{FF2B5EF4-FFF2-40B4-BE49-F238E27FC236}">
                <a16:creationId xmlns:a16="http://schemas.microsoft.com/office/drawing/2014/main" id="{4AD08925-EAFE-DCF6-0597-9781CAC57D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496"/>
          <a:stretch/>
        </p:blipFill>
        <p:spPr>
          <a:xfrm>
            <a:off x="4104407" y="2320391"/>
            <a:ext cx="4926876" cy="90362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C920A9B-AD75-02AC-D1F5-5946DA2A6C7B}"/>
              </a:ext>
            </a:extLst>
          </p:cNvPr>
          <p:cNvGrpSpPr/>
          <p:nvPr/>
        </p:nvGrpSpPr>
        <p:grpSpPr>
          <a:xfrm>
            <a:off x="1283859" y="5752294"/>
            <a:ext cx="3288141" cy="734803"/>
            <a:chOff x="1283858" y="5596658"/>
            <a:chExt cx="3983285" cy="88972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DC12D8A-73C8-06EC-0E80-CE1748AE57EA}"/>
                </a:ext>
              </a:extLst>
            </p:cNvPr>
            <p:cNvSpPr txBox="1"/>
            <p:nvPr/>
          </p:nvSpPr>
          <p:spPr>
            <a:xfrm>
              <a:off x="1283858" y="5596658"/>
              <a:ext cx="1526716" cy="4844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Notation:</a:t>
              </a:r>
            </a:p>
          </p:txBody>
        </p:sp>
        <p:pic>
          <p:nvPicPr>
            <p:cNvPr id="6" name="Picture 5" descr="Screen Shot 2016-10-17 at 11.19.38 AM.png">
              <a:extLst>
                <a:ext uri="{FF2B5EF4-FFF2-40B4-BE49-F238E27FC236}">
                  <a16:creationId xmlns:a16="http://schemas.microsoft.com/office/drawing/2014/main" id="{8BD73086-F694-3C28-C85C-7A7347798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0458" y="5654734"/>
              <a:ext cx="813021" cy="709546"/>
            </a:xfrm>
            <a:prstGeom prst="rect">
              <a:avLst/>
            </a:prstGeom>
          </p:spPr>
        </p:pic>
        <p:pic>
          <p:nvPicPr>
            <p:cNvPr id="7" name="Picture 6" descr="Screen Shot 2016-10-17 at 11.19.42 AM.png">
              <a:extLst>
                <a:ext uri="{FF2B5EF4-FFF2-40B4-BE49-F238E27FC236}">
                  <a16:creationId xmlns:a16="http://schemas.microsoft.com/office/drawing/2014/main" id="{5E1D598B-4535-0184-0B78-B390C9D32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19772" y="5596658"/>
              <a:ext cx="747371" cy="88972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60BC37E-7629-F859-2EB5-2C124F74EF13}"/>
                </a:ext>
              </a:extLst>
            </p:cNvPr>
            <p:cNvSpPr txBox="1"/>
            <p:nvPr/>
          </p:nvSpPr>
          <p:spPr>
            <a:xfrm>
              <a:off x="4217659" y="5844652"/>
              <a:ext cx="410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ym typeface="Wingdings"/>
                </a:rPr>
                <a:t></a:t>
              </a:r>
              <a:endParaRPr lang="en-US" dirty="0"/>
            </a:p>
          </p:txBody>
        </p:sp>
      </p:grpSp>
      <p:sp>
        <p:nvSpPr>
          <p:cNvPr id="11" name="Down Arrow 10">
            <a:extLst>
              <a:ext uri="{FF2B5EF4-FFF2-40B4-BE49-F238E27FC236}">
                <a16:creationId xmlns:a16="http://schemas.microsoft.com/office/drawing/2014/main" id="{C9E5673E-5AE7-E5CC-0AA9-5442E56EF0D4}"/>
              </a:ext>
            </a:extLst>
          </p:cNvPr>
          <p:cNvSpPr/>
          <p:nvPr/>
        </p:nvSpPr>
        <p:spPr>
          <a:xfrm>
            <a:off x="6028551" y="3653230"/>
            <a:ext cx="488424" cy="72918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BF8AD7-749B-A01C-AB57-460489685695}"/>
              </a:ext>
            </a:extLst>
          </p:cNvPr>
          <p:cNvSpPr txBox="1"/>
          <p:nvPr/>
        </p:nvSpPr>
        <p:spPr>
          <a:xfrm>
            <a:off x="3992435" y="4202305"/>
            <a:ext cx="1274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for all a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ED9A050-94AD-FC2F-330F-887BC3AA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52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DF721C-AE08-E37A-7E23-17E87389ABF3}"/>
              </a:ext>
            </a:extLst>
          </p:cNvPr>
          <p:cNvSpPr txBox="1"/>
          <p:nvPr/>
        </p:nvSpPr>
        <p:spPr>
          <a:xfrm>
            <a:off x="10596880" y="5144852"/>
            <a:ext cx="77680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m-1,0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4C303E-3386-3064-140D-558A3C9096F1}"/>
              </a:ext>
            </a:extLst>
          </p:cNvPr>
          <p:cNvSpPr txBox="1"/>
          <p:nvPr/>
        </p:nvSpPr>
        <p:spPr>
          <a:xfrm>
            <a:off x="6205415" y="1543255"/>
            <a:ext cx="2481385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did </a:t>
            </a:r>
            <a:r>
              <a:rPr lang="en-US" dirty="0" err="1"/>
              <a:t>Liebnitz</a:t>
            </a:r>
            <a:r>
              <a:rPr lang="en-US" dirty="0"/>
              <a:t> mean with this?</a:t>
            </a:r>
            <a:endParaRPr lang="en-US" i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CA6599-1464-5802-87DF-CEDE81DCD00F}"/>
              </a:ext>
            </a:extLst>
          </p:cNvPr>
          <p:cNvSpPr txBox="1"/>
          <p:nvPr/>
        </p:nvSpPr>
        <p:spPr>
          <a:xfrm>
            <a:off x="4742182" y="5948617"/>
            <a:ext cx="31943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/>
              <a:t>a</a:t>
            </a:r>
            <a:r>
              <a:rPr lang="en-US" sz="2000" i="1" baseline="-25000" dirty="0" err="1"/>
              <a:t>i</a:t>
            </a:r>
            <a:r>
              <a:rPr lang="en-US" sz="2000" i="1" dirty="0"/>
              <a:t> is the </a:t>
            </a:r>
            <a:r>
              <a:rPr lang="en-US" sz="2000" i="1" dirty="0" err="1"/>
              <a:t>i-th</a:t>
            </a:r>
            <a:r>
              <a:rPr lang="en-US" sz="2000" i="1" dirty="0"/>
              <a:t> </a:t>
            </a:r>
            <a:r>
              <a:rPr lang="en-US" sz="2000" i="1" dirty="0" err="1"/>
              <a:t>ouput</a:t>
            </a:r>
            <a:endParaRPr lang="en-US" sz="2000" i="1" dirty="0"/>
          </a:p>
          <a:p>
            <a:r>
              <a:rPr lang="en-US" sz="2000" i="1" dirty="0"/>
              <a:t>on input a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F3D76F-D585-24BF-099F-E2F601F01264}"/>
                  </a:ext>
                </a:extLst>
              </p:cNvPr>
              <p:cNvSpPr txBox="1"/>
              <p:nvPr/>
            </p:nvSpPr>
            <p:spPr>
              <a:xfrm>
                <a:off x="307925" y="4589812"/>
                <a:ext cx="3190169" cy="978281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=… 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5F3D76F-D585-24BF-099F-E2F601F01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25" y="4589812"/>
                <a:ext cx="3190169" cy="9782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8D44B0-C0DF-5F22-14D1-6C3695684857}"/>
                  </a:ext>
                </a:extLst>
              </p:cNvPr>
              <p:cNvSpPr txBox="1"/>
              <p:nvPr/>
            </p:nvSpPr>
            <p:spPr>
              <a:xfrm>
                <a:off x="4394727" y="4769969"/>
                <a:ext cx="4244495" cy="409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8D44B0-C0DF-5F22-14D1-6C36956848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27" y="4769969"/>
                <a:ext cx="4244495" cy="409664"/>
              </a:xfrm>
              <a:prstGeom prst="rect">
                <a:avLst/>
              </a:prstGeom>
              <a:blipFill>
                <a:blip r:embed="rId7"/>
                <a:stretch>
                  <a:fillRect l="-1493" r="-1791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D060BC-482D-FEA3-9341-E8437DCE7AE5}"/>
                  </a:ext>
                </a:extLst>
              </p:cNvPr>
              <p:cNvSpPr txBox="1"/>
              <p:nvPr/>
            </p:nvSpPr>
            <p:spPr>
              <a:xfrm>
                <a:off x="4104407" y="5243250"/>
                <a:ext cx="4688078" cy="38555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−1,0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7D060BC-482D-FEA3-9341-E8437DCE7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407" y="5243250"/>
                <a:ext cx="4688078" cy="38555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967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 animBg="1"/>
      <p:bldP spid="25" grpId="0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Differentiating a </a:t>
            </a:r>
            <a:r>
              <a:rPr lang="en-US" dirty="0" err="1"/>
              <a:t>Wengert</a:t>
            </a:r>
            <a:r>
              <a:rPr lang="en-US" dirty="0"/>
              <a:t> list: a simple case</a:t>
            </a:r>
          </a:p>
        </p:txBody>
      </p:sp>
      <p:sp>
        <p:nvSpPr>
          <p:cNvPr id="11" name="Down Arrow 10"/>
          <p:cNvSpPr/>
          <p:nvPr/>
        </p:nvSpPr>
        <p:spPr>
          <a:xfrm rot="2017857">
            <a:off x="6516975" y="2929592"/>
            <a:ext cx="488424" cy="72918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081215" y="3209791"/>
            <a:ext cx="12747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/>
              <a:t>for all a</a:t>
            </a:r>
          </a:p>
        </p:txBody>
      </p:sp>
      <p:pic>
        <p:nvPicPr>
          <p:cNvPr id="13" name="Picture 12" descr="Screen Shot 2016-10-17 at 11.27.3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920" y="1572662"/>
            <a:ext cx="4876800" cy="1282700"/>
          </a:xfrm>
          <a:prstGeom prst="rect">
            <a:avLst/>
          </a:prstGeom>
        </p:spPr>
      </p:pic>
      <p:pic>
        <p:nvPicPr>
          <p:cNvPr id="14" name="Picture 13" descr="Screen Shot 2016-10-17 at 11.27.39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9165" y="3733011"/>
            <a:ext cx="7404100" cy="647700"/>
          </a:xfrm>
          <a:prstGeom prst="rect">
            <a:avLst/>
          </a:prstGeom>
        </p:spPr>
      </p:pic>
      <p:pic>
        <p:nvPicPr>
          <p:cNvPr id="4" name="Picture 3" descr="Screen Shot 2016-10-17 at 11.30.12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27562"/>
            <a:ext cx="9144000" cy="547077"/>
          </a:xfrm>
          <a:prstGeom prst="rect">
            <a:avLst/>
          </a:prstGeom>
        </p:spPr>
      </p:pic>
      <p:sp>
        <p:nvSpPr>
          <p:cNvPr id="15" name="Down Arrow 14"/>
          <p:cNvSpPr/>
          <p:nvPr/>
        </p:nvSpPr>
        <p:spPr>
          <a:xfrm rot="2017857">
            <a:off x="5820606" y="4346318"/>
            <a:ext cx="488424" cy="729189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04830" y="4453111"/>
            <a:ext cx="4148893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reverse-mode compute order</a:t>
            </a:r>
          </a:p>
        </p:txBody>
      </p:sp>
      <p:pic>
        <p:nvPicPr>
          <p:cNvPr id="16" name="Picture 15" descr="Screen Shot 2016-10-17 at 11.32.17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473" y="5674639"/>
            <a:ext cx="4368800" cy="660400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53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CA5303-B58B-8BFB-46BF-07D48AE2452C}"/>
              </a:ext>
            </a:extLst>
          </p:cNvPr>
          <p:cNvSpPr txBox="1"/>
          <p:nvPr/>
        </p:nvSpPr>
        <p:spPr>
          <a:xfrm>
            <a:off x="233746" y="5784662"/>
            <a:ext cx="2031325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dirty="0"/>
              <a:t>need to track: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4FC77F-79AF-CC52-833E-D3B290D16550}"/>
                  </a:ext>
                </a:extLst>
              </p:cNvPr>
              <p:cNvSpPr txBox="1"/>
              <p:nvPr/>
            </p:nvSpPr>
            <p:spPr>
              <a:xfrm>
                <a:off x="6988158" y="5796524"/>
                <a:ext cx="1795107" cy="449803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are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key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34FC77F-79AF-CC52-833E-D3B290D165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8158" y="5796524"/>
                <a:ext cx="1795107" cy="4498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696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0" grpId="0" animBg="1"/>
      <p:bldP spid="5" grpId="0" animBg="1"/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17ED3-07D9-9EDF-0404-27B17280D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09119-8B8A-2D06-8345-26419DBD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Autodiff</a:t>
            </a:r>
            <a:r>
              <a:rPr lang="en-US" dirty="0"/>
              <a:t>: Breaking It Down</a:t>
            </a:r>
          </a:p>
        </p:txBody>
      </p:sp>
    </p:spTree>
    <p:extLst>
      <p:ext uri="{BB962C8B-B14F-4D97-AF65-F5344CB8AC3E}">
        <p14:creationId xmlns:p14="http://schemas.microsoft.com/office/powerpoint/2010/main" val="20156557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64ABD-1074-D5A9-DBB4-0842B3EE0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FF26B1-F544-92A4-AA1B-F7FE59C8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Autodiff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81A94-62A2-903C-13B2-D22C4D09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55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5" name="Picture 4" descr="Screen Shot 2016-11-01 at 1.10.18 PM.png">
            <a:extLst>
              <a:ext uri="{FF2B5EF4-FFF2-40B4-BE49-F238E27FC236}">
                <a16:creationId xmlns:a16="http://schemas.microsoft.com/office/drawing/2014/main" id="{DDA4037C-EAF3-F43B-C367-8769ACE032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668" y="1925651"/>
            <a:ext cx="3937000" cy="711200"/>
          </a:xfrm>
          <a:prstGeom prst="rect">
            <a:avLst/>
          </a:prstGeom>
        </p:spPr>
      </p:pic>
      <p:pic>
        <p:nvPicPr>
          <p:cNvPr id="6" name="Picture 5" descr="Screen Shot 2016-11-01 at 1.10.27 PM.png">
            <a:extLst>
              <a:ext uri="{FF2B5EF4-FFF2-40B4-BE49-F238E27FC236}">
                <a16:creationId xmlns:a16="http://schemas.microsoft.com/office/drawing/2014/main" id="{CBE42A89-DD3E-CC3C-7267-72E4244303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300" y="1570051"/>
            <a:ext cx="3238500" cy="172720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EB842755-9F89-330E-7E9D-4F505CC0AFAF}"/>
              </a:ext>
            </a:extLst>
          </p:cNvPr>
          <p:cNvSpPr/>
          <p:nvPr/>
        </p:nvSpPr>
        <p:spPr>
          <a:xfrm>
            <a:off x="4443828" y="2240611"/>
            <a:ext cx="558800" cy="284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4842BA-2617-0E8F-B34E-04B432798EBA}"/>
              </a:ext>
            </a:extLst>
          </p:cNvPr>
          <p:cNvSpPr/>
          <p:nvPr/>
        </p:nvSpPr>
        <p:spPr>
          <a:xfrm>
            <a:off x="5139006" y="1324441"/>
            <a:ext cx="2903415" cy="1874911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43397E-6713-B2E8-AFE5-659CD84F98FF}"/>
              </a:ext>
            </a:extLst>
          </p:cNvPr>
          <p:cNvSpPr txBox="1"/>
          <p:nvPr/>
        </p:nvSpPr>
        <p:spPr>
          <a:xfrm>
            <a:off x="701934" y="3999683"/>
            <a:ext cx="1017222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x1=2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1B96A1-0CE5-3D29-6749-EBD16CEF3381}"/>
              </a:ext>
            </a:extLst>
          </p:cNvPr>
          <p:cNvSpPr txBox="1"/>
          <p:nvPr/>
        </p:nvSpPr>
        <p:spPr>
          <a:xfrm>
            <a:off x="880894" y="5238943"/>
            <a:ext cx="89791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x2=3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93E920-C7B5-B33D-5058-9EBC02EDC262}"/>
              </a:ext>
            </a:extLst>
          </p:cNvPr>
          <p:cNvSpPr txBox="1"/>
          <p:nvPr/>
        </p:nvSpPr>
        <p:spPr>
          <a:xfrm>
            <a:off x="2446317" y="4151712"/>
            <a:ext cx="89486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add=4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3284E0-D730-72E7-BDEB-9B0DF1E3E639}"/>
              </a:ext>
            </a:extLst>
          </p:cNvPr>
          <p:cNvSpPr txBox="1"/>
          <p:nvPr/>
        </p:nvSpPr>
        <p:spPr>
          <a:xfrm>
            <a:off x="3644010" y="4536767"/>
            <a:ext cx="869554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add=7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6DC736-984B-9C7F-C10D-642FC05894CE}"/>
              </a:ext>
            </a:extLst>
          </p:cNvPr>
          <p:cNvSpPr txBox="1"/>
          <p:nvPr/>
        </p:nvSpPr>
        <p:spPr>
          <a:xfrm>
            <a:off x="4724988" y="4521044"/>
            <a:ext cx="147299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square=49</a:t>
            </a:r>
            <a:endParaRPr lang="en-US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F33ECE-4B26-EA33-C24A-7B5B822B109D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1719156" y="4184349"/>
            <a:ext cx="727161" cy="152029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C2DD981-4D35-D376-3C78-1A679837CD4C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1778809" y="4721433"/>
            <a:ext cx="1865201" cy="702176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4B11F03-4E80-28D6-406F-FC13D40C7AE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341186" y="4336378"/>
            <a:ext cx="277509" cy="231126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2BE0F00-BEA5-0952-5F32-78201649FC4C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4513564" y="4705710"/>
            <a:ext cx="211424" cy="1572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28C6D2C6-7093-DAE6-4962-A171D4F8D05B}"/>
              </a:ext>
            </a:extLst>
          </p:cNvPr>
          <p:cNvCxnSpPr>
            <a:cxnSpLocks/>
            <a:stCxn id="10" idx="2"/>
          </p:cNvCxnSpPr>
          <p:nvPr/>
        </p:nvCxnSpPr>
        <p:spPr>
          <a:xfrm rot="16200000" flipH="1">
            <a:off x="1775352" y="3804208"/>
            <a:ext cx="106158" cy="12357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A8FD748-63AB-B2B6-9017-810FEB56A13B}"/>
              </a:ext>
            </a:extLst>
          </p:cNvPr>
          <p:cNvSpPr txBox="1"/>
          <p:nvPr/>
        </p:nvSpPr>
        <p:spPr>
          <a:xfrm>
            <a:off x="6559550" y="4544235"/>
            <a:ext cx="9631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f=49</a:t>
            </a:r>
            <a:endParaRPr lang="en-US" sz="24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0D34524-852E-544E-F053-0CB35B93F631}"/>
              </a:ext>
            </a:extLst>
          </p:cNvPr>
          <p:cNvCxnSpPr>
            <a:cxnSpLocks/>
          </p:cNvCxnSpPr>
          <p:nvPr/>
        </p:nvCxnSpPr>
        <p:spPr>
          <a:xfrm>
            <a:off x="6211455" y="4705710"/>
            <a:ext cx="334620" cy="7204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B7DC015-07AF-A1B6-45F1-1F42D3CA42A7}"/>
              </a:ext>
            </a:extLst>
          </p:cNvPr>
          <p:cNvSpPr txBox="1"/>
          <p:nvPr/>
        </p:nvSpPr>
        <p:spPr>
          <a:xfrm>
            <a:off x="4803921" y="3355551"/>
            <a:ext cx="32385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Flattened version of computation graph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E9BAE-DB8D-4DD1-0CCD-DBBA4FA28E00}"/>
              </a:ext>
            </a:extLst>
          </p:cNvPr>
          <p:cNvSpPr txBox="1"/>
          <p:nvPr/>
        </p:nvSpPr>
        <p:spPr>
          <a:xfrm>
            <a:off x="480291" y="1059632"/>
            <a:ext cx="372341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We can compute the value of </a:t>
            </a:r>
            <a:r>
              <a:rPr lang="en-US" i="1" dirty="0"/>
              <a:t>f </a:t>
            </a:r>
            <a:r>
              <a:rPr lang="en-US" dirty="0"/>
              <a:t>at a given point, like (x1,x2)=(2,3)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019775-F043-9674-C84A-9695F25AE439}"/>
              </a:ext>
            </a:extLst>
          </p:cNvPr>
          <p:cNvSpPr txBox="1"/>
          <p:nvPr/>
        </p:nvSpPr>
        <p:spPr>
          <a:xfrm>
            <a:off x="457200" y="2815129"/>
            <a:ext cx="335313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Want an </a:t>
            </a:r>
            <a:r>
              <a:rPr lang="en-US" b="1" dirty="0"/>
              <a:t>algorithm </a:t>
            </a:r>
            <a:r>
              <a:rPr lang="en-US" dirty="0"/>
              <a:t>to compute partial derivatives at given points</a:t>
            </a:r>
          </a:p>
        </p:txBody>
      </p:sp>
      <p:pic>
        <p:nvPicPr>
          <p:cNvPr id="37" name="Picture 36" descr="Screen Shot 2016-11-01 at 1.10.59 PM.png">
            <a:extLst>
              <a:ext uri="{FF2B5EF4-FFF2-40B4-BE49-F238E27FC236}">
                <a16:creationId xmlns:a16="http://schemas.microsoft.com/office/drawing/2014/main" id="{F4AA294E-35A6-DE30-0888-A5E47A4260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21" t="26354" r="42418" b="11087"/>
          <a:stretch/>
        </p:blipFill>
        <p:spPr>
          <a:xfrm>
            <a:off x="4157596" y="5271254"/>
            <a:ext cx="2607773" cy="126627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C839BBEC-C6F7-115E-07F7-CFFAE18B04CD}"/>
              </a:ext>
            </a:extLst>
          </p:cNvPr>
          <p:cNvSpPr txBox="1"/>
          <p:nvPr/>
        </p:nvSpPr>
        <p:spPr>
          <a:xfrm>
            <a:off x="1" y="4567966"/>
            <a:ext cx="1868194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g1(2,3)=28</a:t>
            </a:r>
            <a:endParaRPr lang="en-US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80E15D-AC62-7EF0-2E69-32940DE824AC}"/>
              </a:ext>
            </a:extLst>
          </p:cNvPr>
          <p:cNvSpPr txBox="1"/>
          <p:nvPr/>
        </p:nvSpPr>
        <p:spPr>
          <a:xfrm>
            <a:off x="1" y="5766805"/>
            <a:ext cx="1868194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g2(2,3)=14</a:t>
            </a:r>
            <a:endParaRPr lang="en-US" sz="2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4F7006-C193-7CCC-8AE7-A8F96E114075}"/>
              </a:ext>
            </a:extLst>
          </p:cNvPr>
          <p:cNvSpPr txBox="1"/>
          <p:nvPr/>
        </p:nvSpPr>
        <p:spPr>
          <a:xfrm>
            <a:off x="2920180" y="5348274"/>
            <a:ext cx="1358317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g1(x1,x2) =</a:t>
            </a:r>
            <a:endParaRPr lang="en-US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2D7B51-0CD2-6C53-0CC4-FADC85EF9597}"/>
              </a:ext>
            </a:extLst>
          </p:cNvPr>
          <p:cNvSpPr txBox="1"/>
          <p:nvPr/>
        </p:nvSpPr>
        <p:spPr>
          <a:xfrm>
            <a:off x="2948351" y="6037251"/>
            <a:ext cx="1358317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g2(x1,x2) =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7CC3B-A4A5-A80C-4F23-447F2E2418B4}"/>
              </a:ext>
            </a:extLst>
          </p:cNvPr>
          <p:cNvSpPr txBox="1"/>
          <p:nvPr/>
        </p:nvSpPr>
        <p:spPr>
          <a:xfrm>
            <a:off x="6765369" y="5167666"/>
            <a:ext cx="2246532" cy="120032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Annotate/traverse the compute graph so we compute g1(x1,x2), g2(x1,x2)</a:t>
            </a:r>
          </a:p>
        </p:txBody>
      </p:sp>
    </p:spTree>
    <p:extLst>
      <p:ext uri="{BB962C8B-B14F-4D97-AF65-F5344CB8AC3E}">
        <p14:creationId xmlns:p14="http://schemas.microsoft.com/office/powerpoint/2010/main" val="1728015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2" grpId="0" animBg="1"/>
      <p:bldP spid="38" grpId="0" animBg="1"/>
      <p:bldP spid="39" grpId="0" animBg="1"/>
      <p:bldP spid="40" grpId="0" animBg="1"/>
      <p:bldP spid="41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736FC-77EB-950F-C852-58D336C6A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403DD0-685C-2C37-2D01-AD589A20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Wengert</a:t>
            </a:r>
            <a:r>
              <a:rPr lang="en-US" dirty="0"/>
              <a:t> lists: forward (eval)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25E89-F5EF-6BA6-01EC-9166A392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56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5" name="Picture 4" descr="Screen Shot 2016-11-01 at 1.10.18 PM.png">
            <a:extLst>
              <a:ext uri="{FF2B5EF4-FFF2-40B4-BE49-F238E27FC236}">
                <a16:creationId xmlns:a16="http://schemas.microsoft.com/office/drawing/2014/main" id="{247D6641-258E-0C3E-A64E-1B81A549D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731" y="1797031"/>
            <a:ext cx="3937000" cy="63662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BA77545D-9DBE-1B51-F055-E324C2400FEB}"/>
              </a:ext>
            </a:extLst>
          </p:cNvPr>
          <p:cNvSpPr/>
          <p:nvPr/>
        </p:nvSpPr>
        <p:spPr>
          <a:xfrm>
            <a:off x="4344084" y="2007248"/>
            <a:ext cx="558800" cy="2546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7360320-01F4-5B5F-88F7-6C70D3D87F57}"/>
              </a:ext>
            </a:extLst>
          </p:cNvPr>
          <p:cNvGrpSpPr/>
          <p:nvPr/>
        </p:nvGrpSpPr>
        <p:grpSpPr>
          <a:xfrm>
            <a:off x="4940300" y="1324441"/>
            <a:ext cx="3238500" cy="1972810"/>
            <a:chOff x="4940300" y="1324441"/>
            <a:chExt cx="3238500" cy="1972810"/>
          </a:xfrm>
        </p:grpSpPr>
        <p:pic>
          <p:nvPicPr>
            <p:cNvPr id="6" name="Picture 5" descr="Screen Shot 2016-11-01 at 1.10.27 PM.png">
              <a:extLst>
                <a:ext uri="{FF2B5EF4-FFF2-40B4-BE49-F238E27FC236}">
                  <a16:creationId xmlns:a16="http://schemas.microsoft.com/office/drawing/2014/main" id="{4AEF318E-37C2-A80B-0B39-34FE1BB7CB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0300" y="1570051"/>
              <a:ext cx="3238500" cy="172720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3CE3E08-07DA-15EF-AE59-AE7EE8351685}"/>
                </a:ext>
              </a:extLst>
            </p:cNvPr>
            <p:cNvSpPr/>
            <p:nvPr/>
          </p:nvSpPr>
          <p:spPr>
            <a:xfrm>
              <a:off x="5139006" y="1324441"/>
              <a:ext cx="2903415" cy="1874911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A close-up of a number&#10;&#10;AI-generated content may be incorrect.">
            <a:extLst>
              <a:ext uri="{FF2B5EF4-FFF2-40B4-BE49-F238E27FC236}">
                <a16:creationId xmlns:a16="http://schemas.microsoft.com/office/drawing/2014/main" id="{F5C068C1-19C2-E2CB-A258-8439ABB6B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4731" y="3664799"/>
            <a:ext cx="4442383" cy="1274172"/>
          </a:xfrm>
          <a:prstGeom prst="rect">
            <a:avLst/>
          </a:prstGeom>
        </p:spPr>
      </p:pic>
      <p:pic>
        <p:nvPicPr>
          <p:cNvPr id="19" name="Picture 1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96996C2-D77F-2B74-FD5E-369F122764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078" y="4981829"/>
            <a:ext cx="5514244" cy="115460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E152263-6570-4CA2-B729-6C77636762EB}"/>
              </a:ext>
            </a:extLst>
          </p:cNvPr>
          <p:cNvSpPr txBox="1"/>
          <p:nvPr/>
        </p:nvSpPr>
        <p:spPr>
          <a:xfrm>
            <a:off x="553750" y="3917638"/>
            <a:ext cx="3790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Possible Python data structure: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45AB5D-E3C6-3FB9-C9C9-22B44A11B817}"/>
              </a:ext>
            </a:extLst>
          </p:cNvPr>
          <p:cNvSpPr txBox="1"/>
          <p:nvPr/>
        </p:nvSpPr>
        <p:spPr>
          <a:xfrm>
            <a:off x="553750" y="5123749"/>
            <a:ext cx="2956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Plus the definitions:</a:t>
            </a:r>
          </a:p>
        </p:txBody>
      </p:sp>
    </p:spTree>
    <p:extLst>
      <p:ext uri="{BB962C8B-B14F-4D97-AF65-F5344CB8AC3E}">
        <p14:creationId xmlns:p14="http://schemas.microsoft.com/office/powerpoint/2010/main" val="11762362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EC58A-D858-C0C5-25FE-7A195390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BAC899-545F-93D9-E2B8-8EBFE61A6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Wengert</a:t>
            </a:r>
            <a:r>
              <a:rPr lang="en-US" dirty="0"/>
              <a:t> lists: forward (eval)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6D2BA-A59E-7618-6AEA-D8D102E2D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57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15" name="Picture 14" descr="A close-up of a number&#10;&#10;AI-generated content may be incorrect.">
            <a:extLst>
              <a:ext uri="{FF2B5EF4-FFF2-40B4-BE49-F238E27FC236}">
                <a16:creationId xmlns:a16="http://schemas.microsoft.com/office/drawing/2014/main" id="{3E59C60D-4E37-54A1-9B49-366BF2EC4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099" y="1181100"/>
            <a:ext cx="4442383" cy="1274172"/>
          </a:xfrm>
          <a:prstGeom prst="rect">
            <a:avLst/>
          </a:prstGeom>
        </p:spPr>
      </p:pic>
      <p:pic>
        <p:nvPicPr>
          <p:cNvPr id="19" name="Picture 1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C368CEA-C066-C238-9D7B-E551F2F2A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099" y="2455272"/>
            <a:ext cx="4997468" cy="104640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EA227D7-D514-9ABE-EFB5-3C562044B77F}"/>
              </a:ext>
            </a:extLst>
          </p:cNvPr>
          <p:cNvSpPr txBox="1"/>
          <p:nvPr/>
        </p:nvSpPr>
        <p:spPr>
          <a:xfrm>
            <a:off x="252995" y="2597192"/>
            <a:ext cx="2956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Plus the definitions:</a:t>
            </a:r>
          </a:p>
        </p:txBody>
      </p:sp>
      <p:pic>
        <p:nvPicPr>
          <p:cNvPr id="8" name="Picture 7" descr="Screen Shot 2016-11-01 at 1.10.18 PM.png">
            <a:extLst>
              <a:ext uri="{FF2B5EF4-FFF2-40B4-BE49-F238E27FC236}">
                <a16:creationId xmlns:a16="http://schemas.microsoft.com/office/drawing/2014/main" id="{438D6EBD-C343-3B2D-FD3A-6E8A024ED9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95" y="1272089"/>
            <a:ext cx="3112397" cy="503280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00787D30-CFD7-0378-2503-5DB5B2FC7C70}"/>
              </a:ext>
            </a:extLst>
          </p:cNvPr>
          <p:cNvSpPr/>
          <p:nvPr/>
        </p:nvSpPr>
        <p:spPr>
          <a:xfrm>
            <a:off x="3453299" y="1471885"/>
            <a:ext cx="558800" cy="2546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BEF60-345A-F338-9218-15C9E5598C42}"/>
              </a:ext>
            </a:extLst>
          </p:cNvPr>
          <p:cNvSpPr txBox="1"/>
          <p:nvPr/>
        </p:nvSpPr>
        <p:spPr>
          <a:xfrm>
            <a:off x="252995" y="3496885"/>
            <a:ext cx="2956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input values: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C278AB-B729-2081-7359-1BC1FFDC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466" y="3326755"/>
            <a:ext cx="4632334" cy="746533"/>
          </a:xfrm>
          <a:prstGeom prst="rect">
            <a:avLst/>
          </a:prstGeom>
        </p:spPr>
      </p:pic>
      <p:pic>
        <p:nvPicPr>
          <p:cNvPr id="22" name="Picture 2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945F6D8-772C-DBD4-00E0-DE1043D0E98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9155"/>
          <a:stretch/>
        </p:blipFill>
        <p:spPr>
          <a:xfrm>
            <a:off x="478758" y="4020468"/>
            <a:ext cx="7839332" cy="233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67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44B02B-63C7-6B0E-716B-290FB8246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18EE-C392-EE3E-49F4-DEE36A490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Wengert</a:t>
            </a:r>
            <a:r>
              <a:rPr lang="en-US" dirty="0"/>
              <a:t> lists: backward (gradients)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69460-2950-ED7E-EA64-92D79AD20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078" y="1404374"/>
            <a:ext cx="4830299" cy="5099050"/>
          </a:xfrm>
        </p:spPr>
        <p:txBody>
          <a:bodyPr/>
          <a:lstStyle/>
          <a:p>
            <a:r>
              <a:rPr lang="en-US" sz="2400" dirty="0"/>
              <a:t>Step 0: a function of </a:t>
            </a:r>
            <a:r>
              <a:rPr lang="en-US" sz="2400" i="1" dirty="0"/>
              <a:t>n </a:t>
            </a:r>
            <a:r>
              <a:rPr lang="en-US" sz="2400" dirty="0"/>
              <a:t>variables, coded as a series of assignments</a:t>
            </a:r>
          </a:p>
          <a:p>
            <a:r>
              <a:rPr lang="en-US" sz="2400" dirty="0"/>
              <a:t>Step 1: evaluate each variable</a:t>
            </a:r>
          </a:p>
          <a:p>
            <a:r>
              <a:rPr lang="en-US" sz="2400" dirty="0"/>
              <a:t>Step 2: back propagate by going thru the list in reverse order, starting with…</a:t>
            </a:r>
          </a:p>
          <a:p>
            <a:endParaRPr lang="en-US" sz="2400" dirty="0"/>
          </a:p>
          <a:p>
            <a:r>
              <a:rPr lang="en-US" sz="2400" dirty="0"/>
              <a:t>…and using the chain rule  </a:t>
            </a:r>
          </a:p>
          <a:p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D219154-566E-6FC6-E4B6-3FDDEAA09A11}"/>
              </a:ext>
            </a:extLst>
          </p:cNvPr>
          <p:cNvGrpSpPr/>
          <p:nvPr/>
        </p:nvGrpSpPr>
        <p:grpSpPr>
          <a:xfrm>
            <a:off x="5751870" y="1021323"/>
            <a:ext cx="3098683" cy="1047627"/>
            <a:chOff x="5751870" y="1021323"/>
            <a:chExt cx="3098683" cy="104762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C79E3CF-ECC7-6E9D-B7E9-96CEB378D2B5}"/>
                </a:ext>
              </a:extLst>
            </p:cNvPr>
            <p:cNvGrpSpPr/>
            <p:nvPr/>
          </p:nvGrpSpPr>
          <p:grpSpPr>
            <a:xfrm>
              <a:off x="6318746" y="1021323"/>
              <a:ext cx="2531807" cy="1047627"/>
              <a:chOff x="1827161" y="3577710"/>
              <a:chExt cx="2900516" cy="128672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C5CBB13F-C2A2-E176-FC6D-1CE4004E78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53303" y="3990667"/>
                <a:ext cx="1662061" cy="324771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F39500E-4D47-B74E-C366-69165B6B86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3303" y="3602292"/>
                <a:ext cx="2235200" cy="304800"/>
              </a:xfrm>
              <a:prstGeom prst="rect">
                <a:avLst/>
              </a:prstGeom>
            </p:spPr>
          </p:pic>
          <p:pic>
            <p:nvPicPr>
              <p:cNvPr id="10" name="Picture 9" descr="Screen Shot 2016-04-08 at 5.30.06 PM.png">
                <a:extLst>
                  <a:ext uri="{FF2B5EF4-FFF2-40B4-BE49-F238E27FC236}">
                    <a16:creationId xmlns:a16="http://schemas.microsoft.com/office/drawing/2014/main" id="{7674F865-3459-B1A9-2CB3-6A4EADF203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44124" y="4315438"/>
                <a:ext cx="1439811" cy="548993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07A6D46-A5FB-50E9-4A03-0245D76B4F8E}"/>
                  </a:ext>
                </a:extLst>
              </p:cNvPr>
              <p:cNvSpPr/>
              <p:nvPr/>
            </p:nvSpPr>
            <p:spPr>
              <a:xfrm>
                <a:off x="1827161" y="3577710"/>
                <a:ext cx="2900516" cy="1262139"/>
              </a:xfrm>
              <a:prstGeom prst="rect">
                <a:avLst/>
              </a:prstGeom>
              <a:noFill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  <a:latin typeface="Book Antiqua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7D3A81C-81A3-DF90-DC66-342A730E2AB7}"/>
                </a:ext>
              </a:extLst>
            </p:cNvPr>
            <p:cNvSpPr txBox="1"/>
            <p:nvPr/>
          </p:nvSpPr>
          <p:spPr>
            <a:xfrm>
              <a:off x="5751870" y="1073764"/>
              <a:ext cx="5390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Book Antiqua"/>
                </a:rPr>
                <a:t>e.g.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5B72FC28-B61D-8811-FB9E-DB48637926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868" y="4873879"/>
            <a:ext cx="2563966" cy="76181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D384C2A-C522-09FE-22D7-B3ACA7278AD7}"/>
              </a:ext>
            </a:extLst>
          </p:cNvPr>
          <p:cNvSpPr txBox="1"/>
          <p:nvPr/>
        </p:nvSpPr>
        <p:spPr>
          <a:xfrm>
            <a:off x="3836248" y="1001337"/>
            <a:ext cx="155683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sz="2000" dirty="0" err="1">
                <a:solidFill>
                  <a:prstClr val="black"/>
                </a:solidFill>
                <a:latin typeface="Book Antiqua"/>
              </a:rPr>
              <a:t>Wengert</a:t>
            </a:r>
            <a:r>
              <a:rPr lang="en-US" sz="2000" dirty="0">
                <a:solidFill>
                  <a:prstClr val="black"/>
                </a:solidFill>
                <a:latin typeface="Book Antiqua"/>
              </a:rPr>
              <a:t> list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9525105-7CB5-3CD1-6D7C-B57AFF8CFC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8193" y="3491562"/>
            <a:ext cx="1052373" cy="62148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C192A57-4CCC-4224-3D65-336679DA8147}"/>
              </a:ext>
            </a:extLst>
          </p:cNvPr>
          <p:cNvGrpSpPr/>
          <p:nvPr/>
        </p:nvGrpSpPr>
        <p:grpSpPr>
          <a:xfrm>
            <a:off x="5011377" y="2154534"/>
            <a:ext cx="4132623" cy="2392885"/>
            <a:chOff x="5011377" y="2154534"/>
            <a:chExt cx="4132623" cy="2392885"/>
          </a:xfrm>
        </p:grpSpPr>
        <p:pic>
          <p:nvPicPr>
            <p:cNvPr id="7" name="Picture 6" descr="Screen Shot 2016-04-08 at 5.28.51 PM.png">
              <a:extLst>
                <a:ext uri="{FF2B5EF4-FFF2-40B4-BE49-F238E27FC236}">
                  <a16:creationId xmlns:a16="http://schemas.microsoft.com/office/drawing/2014/main" id="{28DC240F-7C70-E393-A73C-64B413E710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9288"/>
            <a:stretch/>
          </p:blipFill>
          <p:spPr>
            <a:xfrm>
              <a:off x="5011378" y="2888758"/>
              <a:ext cx="4132622" cy="52549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8BF4BFD-2175-C398-8C2A-CD399FD27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18903" y="4093144"/>
              <a:ext cx="360516" cy="184880"/>
            </a:xfrm>
            <a:prstGeom prst="rect">
              <a:avLst/>
            </a:prstGeom>
          </p:spPr>
        </p:pic>
        <p:pic>
          <p:nvPicPr>
            <p:cNvPr id="14" name="Picture 13" descr="Screen Shot 2016-04-08 at 5.28.51 PM.png">
              <a:extLst>
                <a:ext uri="{FF2B5EF4-FFF2-40B4-BE49-F238E27FC236}">
                  <a16:creationId xmlns:a16="http://schemas.microsoft.com/office/drawing/2014/main" id="{68597F33-74A7-EE9C-6513-D3B524199A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830" b="10127"/>
            <a:stretch/>
          </p:blipFill>
          <p:spPr>
            <a:xfrm>
              <a:off x="5011377" y="3382705"/>
              <a:ext cx="4132622" cy="56535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C92ACFC-30F3-F009-20BE-F2191ABABD8E}"/>
                </a:ext>
              </a:extLst>
            </p:cNvPr>
            <p:cNvSpPr txBox="1"/>
            <p:nvPr/>
          </p:nvSpPr>
          <p:spPr>
            <a:xfrm>
              <a:off x="5316092" y="3950969"/>
              <a:ext cx="9028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Book Antiqua"/>
                </a:rPr>
                <a:t>return</a:t>
              </a:r>
              <a:endParaRPr lang="en-US" dirty="0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2EC53-C2B0-3DAB-BEFD-273B06767F9F}"/>
                </a:ext>
              </a:extLst>
            </p:cNvPr>
            <p:cNvSpPr/>
            <p:nvPr/>
          </p:nvSpPr>
          <p:spPr>
            <a:xfrm>
              <a:off x="5219289" y="2531806"/>
              <a:ext cx="3433097" cy="2015613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Book Antiqu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12A7B2C-9EB2-1AA6-0884-4124371E44F3}"/>
                </a:ext>
              </a:extLst>
            </p:cNvPr>
            <p:cNvSpPr txBox="1"/>
            <p:nvPr/>
          </p:nvSpPr>
          <p:spPr>
            <a:xfrm>
              <a:off x="5219289" y="2554644"/>
              <a:ext cx="9738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Book Antiqua"/>
                </a:rPr>
                <a:t>inputs:</a:t>
              </a:r>
              <a:endParaRPr lang="en-US" dirty="0">
                <a:solidFill>
                  <a:prstClr val="black"/>
                </a:solidFill>
                <a:latin typeface="Book Antiqua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DE02B56-E9A4-B271-FB04-9008763E7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18903" y="2679624"/>
              <a:ext cx="1900903" cy="251927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E2FC9F4-9D2C-F4A5-223C-8BCF7EB11889}"/>
                </a:ext>
              </a:extLst>
            </p:cNvPr>
            <p:cNvSpPr txBox="1"/>
            <p:nvPr/>
          </p:nvSpPr>
          <p:spPr>
            <a:xfrm>
              <a:off x="5219289" y="2154534"/>
              <a:ext cx="1922797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marL="0" lvl="1"/>
              <a:r>
                <a:rPr lang="en-US" sz="2000" dirty="0">
                  <a:solidFill>
                    <a:prstClr val="black"/>
                  </a:solidFill>
                  <a:latin typeface="Book Antiqua"/>
                </a:rPr>
                <a:t>Step 1: forward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1AD5584-EF77-6E2E-6964-4030951595B3}"/>
              </a:ext>
            </a:extLst>
          </p:cNvPr>
          <p:cNvGrpSpPr/>
          <p:nvPr/>
        </p:nvGrpSpPr>
        <p:grpSpPr>
          <a:xfrm>
            <a:off x="4317866" y="4351079"/>
            <a:ext cx="4523105" cy="2416791"/>
            <a:chOff x="4317866" y="4351079"/>
            <a:chExt cx="4523105" cy="2416791"/>
          </a:xfrm>
        </p:grpSpPr>
        <p:pic>
          <p:nvPicPr>
            <p:cNvPr id="22" name="Picture 21" descr="Screen Shot 2016-04-08 at 5.35.00 PM.png">
              <a:extLst>
                <a:ext uri="{FF2B5EF4-FFF2-40B4-BE49-F238E27FC236}">
                  <a16:creationId xmlns:a16="http://schemas.microsoft.com/office/drawing/2014/main" id="{CEDDEB07-1B06-B86C-C929-4C8CDBE71D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309"/>
            <a:stretch/>
          </p:blipFill>
          <p:spPr>
            <a:xfrm>
              <a:off x="4317866" y="4711290"/>
              <a:ext cx="4523105" cy="205658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096BAE-9D41-7F6B-8295-80BFB1508912}"/>
                </a:ext>
              </a:extLst>
            </p:cNvPr>
            <p:cNvSpPr txBox="1"/>
            <p:nvPr/>
          </p:nvSpPr>
          <p:spPr>
            <a:xfrm>
              <a:off x="4317866" y="4351079"/>
              <a:ext cx="2127505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marL="0" lvl="1"/>
              <a:r>
                <a:rPr lang="en-US" sz="2000" dirty="0">
                  <a:solidFill>
                    <a:prstClr val="black"/>
                  </a:solidFill>
                  <a:latin typeface="Book Antiqua"/>
                </a:rPr>
                <a:t>Step 2: backward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23B8699-34EB-B670-EA83-9DA8E14A59C7}"/>
              </a:ext>
            </a:extLst>
          </p:cNvPr>
          <p:cNvSpPr txBox="1"/>
          <p:nvPr/>
        </p:nvSpPr>
        <p:spPr>
          <a:xfrm>
            <a:off x="5056710" y="0"/>
            <a:ext cx="4087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Book Antiqua"/>
                <a:hlinkClick r:id="rId11"/>
              </a:rPr>
              <a:t>https://justindomke.wordpress.com/</a:t>
            </a:r>
            <a:endParaRPr lang="en-US" dirty="0">
              <a:solidFill>
                <a:prstClr val="black"/>
              </a:solidFill>
              <a:latin typeface="Book Antiqua"/>
            </a:endParaRPr>
          </a:p>
          <a:p>
            <a:endParaRPr lang="en-US" dirty="0">
              <a:solidFill>
                <a:prstClr val="black"/>
              </a:solidFill>
              <a:latin typeface="Book Antiqua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65FDB9A-840B-5CE1-80EE-414C9BACE231}"/>
              </a:ext>
            </a:extLst>
          </p:cNvPr>
          <p:cNvGrpSpPr/>
          <p:nvPr/>
        </p:nvGrpSpPr>
        <p:grpSpPr>
          <a:xfrm>
            <a:off x="7363987" y="3886841"/>
            <a:ext cx="1795817" cy="1796861"/>
            <a:chOff x="7363987" y="3886841"/>
            <a:chExt cx="1795817" cy="179686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6D2FB65-BB98-3479-8A1A-C60BDAA54F89}"/>
                </a:ext>
              </a:extLst>
            </p:cNvPr>
            <p:cNvSpPr txBox="1"/>
            <p:nvPr/>
          </p:nvSpPr>
          <p:spPr>
            <a:xfrm>
              <a:off x="7363987" y="4216805"/>
              <a:ext cx="1795817" cy="707886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Book Antiqua"/>
                </a:rPr>
                <a:t>evaluated at (x1,…,</a:t>
              </a:r>
              <a:r>
                <a:rPr lang="en-US" sz="2000" dirty="0" err="1">
                  <a:solidFill>
                    <a:prstClr val="black"/>
                  </a:solidFill>
                  <a:latin typeface="Book Antiqua"/>
                </a:rPr>
                <a:t>xn</a:t>
              </a:r>
              <a:r>
                <a:rPr lang="en-US" sz="2000" dirty="0">
                  <a:solidFill>
                    <a:prstClr val="black"/>
                  </a:solidFill>
                  <a:latin typeface="Book Antiqua"/>
                </a:rPr>
                <a:t>)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7B5801B-3AD6-738D-DBC1-E83DF0E81910}"/>
                </a:ext>
              </a:extLst>
            </p:cNvPr>
            <p:cNvCxnSpPr>
              <a:cxnSpLocks/>
              <a:stCxn id="18" idx="0"/>
            </p:cNvCxnSpPr>
            <p:nvPr/>
          </p:nvCxnSpPr>
          <p:spPr>
            <a:xfrm flipH="1" flipV="1">
              <a:off x="7394510" y="3886841"/>
              <a:ext cx="867386" cy="329964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049F27A-78E8-FAF7-C69F-13E71A633CD0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>
              <a:off x="7848119" y="4924691"/>
              <a:ext cx="413777" cy="759011"/>
            </a:xfrm>
            <a:prstGeom prst="straightConnector1">
              <a:avLst/>
            </a:prstGeom>
            <a:ln>
              <a:solidFill>
                <a:srgbClr val="00B05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021CBF6-77DB-4589-6EB9-2FF37EFB8793}"/>
              </a:ext>
            </a:extLst>
          </p:cNvPr>
          <p:cNvSpPr txBox="1"/>
          <p:nvPr/>
        </p:nvSpPr>
        <p:spPr>
          <a:xfrm>
            <a:off x="2629914" y="6001682"/>
            <a:ext cx="1984752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US" sz="2000" dirty="0">
                <a:solidFill>
                  <a:prstClr val="black"/>
                </a:solidFill>
                <a:latin typeface="Book Antiqua"/>
              </a:rPr>
              <a:t>Computed in previous step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742719E-E15B-CEC5-877C-FDB84F607633}"/>
              </a:ext>
            </a:extLst>
          </p:cNvPr>
          <p:cNvCxnSpPr/>
          <p:nvPr/>
        </p:nvCxnSpPr>
        <p:spPr>
          <a:xfrm flipV="1">
            <a:off x="4614666" y="6122877"/>
            <a:ext cx="2280190" cy="24189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383234C-2F14-27A0-8A84-A2A6C969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58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834CC5B-5C3A-D5B1-A03D-501BA8A01A9A}"/>
              </a:ext>
            </a:extLst>
          </p:cNvPr>
          <p:cNvGrpSpPr/>
          <p:nvPr/>
        </p:nvGrpSpPr>
        <p:grpSpPr>
          <a:xfrm>
            <a:off x="604684" y="4652988"/>
            <a:ext cx="2784286" cy="1119748"/>
            <a:chOff x="604684" y="4652988"/>
            <a:chExt cx="2784286" cy="1119748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D18E64A-A3FB-C671-45CD-C5E1B774419A}"/>
                </a:ext>
              </a:extLst>
            </p:cNvPr>
            <p:cNvSpPr/>
            <p:nvPr/>
          </p:nvSpPr>
          <p:spPr>
            <a:xfrm>
              <a:off x="604684" y="4678134"/>
              <a:ext cx="648929" cy="1061446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540C7DA-2BB9-6D9F-C89E-4631343FC700}"/>
                </a:ext>
              </a:extLst>
            </p:cNvPr>
            <p:cNvSpPr/>
            <p:nvPr/>
          </p:nvSpPr>
          <p:spPr>
            <a:xfrm>
              <a:off x="2222978" y="4711290"/>
              <a:ext cx="648929" cy="1061446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A4150A7-0510-95B1-6E13-7FD9992C45DB}"/>
                </a:ext>
              </a:extLst>
            </p:cNvPr>
            <p:cNvSpPr/>
            <p:nvPr/>
          </p:nvSpPr>
          <p:spPr>
            <a:xfrm>
              <a:off x="2892441" y="4652988"/>
              <a:ext cx="496529" cy="1061446"/>
            </a:xfrm>
            <a:prstGeom prst="ellipse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2827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C0ECF-3B3A-32AB-1F1E-D3A16FDD3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5CF8A9-96A5-31DD-5A74-9801AEC1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Wengert</a:t>
            </a:r>
            <a:r>
              <a:rPr lang="en-US" dirty="0"/>
              <a:t> lists: backward (gradients)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0116B-FA62-757F-5C84-F6F328AB2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59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15" name="Picture 14" descr="A close-up of a number&#10;&#10;AI-generated content may be incorrect.">
            <a:extLst>
              <a:ext uri="{FF2B5EF4-FFF2-40B4-BE49-F238E27FC236}">
                <a16:creationId xmlns:a16="http://schemas.microsoft.com/office/drawing/2014/main" id="{B1202738-A676-E0AB-DF02-E5144BEB6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099" y="1181100"/>
            <a:ext cx="4442383" cy="1274172"/>
          </a:xfrm>
          <a:prstGeom prst="rect">
            <a:avLst/>
          </a:prstGeom>
        </p:spPr>
      </p:pic>
      <p:pic>
        <p:nvPicPr>
          <p:cNvPr id="19" name="Picture 1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A7B2C16-3370-498E-DBCA-5AA1C7A5BB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099" y="2455272"/>
            <a:ext cx="4997468" cy="104640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5A9CE8D-7B8F-E00B-8E18-F36EB977902A}"/>
              </a:ext>
            </a:extLst>
          </p:cNvPr>
          <p:cNvSpPr txBox="1"/>
          <p:nvPr/>
        </p:nvSpPr>
        <p:spPr>
          <a:xfrm>
            <a:off x="252995" y="2597192"/>
            <a:ext cx="2956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Plus the definitions:</a:t>
            </a:r>
          </a:p>
        </p:txBody>
      </p:sp>
      <p:pic>
        <p:nvPicPr>
          <p:cNvPr id="8" name="Picture 7" descr="Screen Shot 2016-11-01 at 1.10.18 PM.png">
            <a:extLst>
              <a:ext uri="{FF2B5EF4-FFF2-40B4-BE49-F238E27FC236}">
                <a16:creationId xmlns:a16="http://schemas.microsoft.com/office/drawing/2014/main" id="{2BB2596F-09A5-9EEA-A9F5-818DA7AE9C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95" y="1272089"/>
            <a:ext cx="3112397" cy="503280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9C4AEAF7-A2FC-5952-2074-7B138C26629E}"/>
              </a:ext>
            </a:extLst>
          </p:cNvPr>
          <p:cNvSpPr/>
          <p:nvPr/>
        </p:nvSpPr>
        <p:spPr>
          <a:xfrm>
            <a:off x="3453299" y="1471885"/>
            <a:ext cx="558800" cy="2546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3A97B1-20D0-51A7-8B86-8E47DFC2D976}"/>
              </a:ext>
            </a:extLst>
          </p:cNvPr>
          <p:cNvSpPr txBox="1"/>
          <p:nvPr/>
        </p:nvSpPr>
        <p:spPr>
          <a:xfrm>
            <a:off x="252995" y="3496885"/>
            <a:ext cx="2956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and input values: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24B7C36-A107-084E-7F9E-E053762606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466" y="3326755"/>
            <a:ext cx="4632334" cy="746533"/>
          </a:xfrm>
          <a:prstGeom prst="rect">
            <a:avLst/>
          </a:prstGeom>
        </p:spPr>
      </p:pic>
      <p:pic>
        <p:nvPicPr>
          <p:cNvPr id="22" name="Picture 2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AB6AE62-956D-8F98-0517-BA7970FB8EE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9155"/>
          <a:stretch/>
        </p:blipFill>
        <p:spPr>
          <a:xfrm>
            <a:off x="478758" y="4020468"/>
            <a:ext cx="7839332" cy="233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400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00A0-5C7F-35AC-2727-8BBCF5A41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613F6D0-CC84-FA77-A079-E14D5519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Wengert</a:t>
            </a:r>
            <a:r>
              <a:rPr lang="en-US" dirty="0"/>
              <a:t> lists: backward (gradients)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C3D5C-BA35-43EA-48E9-F17C762D3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60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15" name="Picture 14" descr="A close-up of a number&#10;&#10;AI-generated content may be incorrect.">
            <a:extLst>
              <a:ext uri="{FF2B5EF4-FFF2-40B4-BE49-F238E27FC236}">
                <a16:creationId xmlns:a16="http://schemas.microsoft.com/office/drawing/2014/main" id="{29541B36-B7E5-7672-1FCD-3DFCED5ED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099" y="1181100"/>
            <a:ext cx="4442383" cy="1274172"/>
          </a:xfrm>
          <a:prstGeom prst="rect">
            <a:avLst/>
          </a:prstGeom>
        </p:spPr>
      </p:pic>
      <p:pic>
        <p:nvPicPr>
          <p:cNvPr id="8" name="Picture 7" descr="Screen Shot 2016-11-01 at 1.10.18 PM.png">
            <a:extLst>
              <a:ext uri="{FF2B5EF4-FFF2-40B4-BE49-F238E27FC236}">
                <a16:creationId xmlns:a16="http://schemas.microsoft.com/office/drawing/2014/main" id="{C24422E3-CEA6-90A4-15E2-9A230B98CD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95" y="1272089"/>
            <a:ext cx="3112397" cy="503280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9DB70641-DC3A-7003-E166-23591624D757}"/>
              </a:ext>
            </a:extLst>
          </p:cNvPr>
          <p:cNvSpPr/>
          <p:nvPr/>
        </p:nvSpPr>
        <p:spPr>
          <a:xfrm>
            <a:off x="3453299" y="1471885"/>
            <a:ext cx="558800" cy="2546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0DB7B84-DD62-BE2D-6E2A-4EEF3B8B7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942" y="5386115"/>
            <a:ext cx="5430960" cy="816913"/>
          </a:xfrm>
          <a:prstGeom prst="rect">
            <a:avLst/>
          </a:prstGeom>
        </p:spPr>
      </p:pic>
      <p:pic>
        <p:nvPicPr>
          <p:cNvPr id="12" name="Picture 1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C5AC8E4-D7C1-D1EC-9B56-1D5C58D0EA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637"/>
          <a:stretch/>
        </p:blipFill>
        <p:spPr>
          <a:xfrm>
            <a:off x="1771170" y="2678509"/>
            <a:ext cx="6915630" cy="1274172"/>
          </a:xfrm>
          <a:prstGeom prst="rect">
            <a:avLst/>
          </a:prstGeom>
        </p:spPr>
      </p:pic>
      <p:pic>
        <p:nvPicPr>
          <p:cNvPr id="18" name="Picture 17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426CDF3E-6602-0B59-75B0-D217AF88E0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42" y="4552328"/>
            <a:ext cx="6335026" cy="90702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12DC25A-C215-0A1E-CA0A-38E301BEDB5B}"/>
              </a:ext>
            </a:extLst>
          </p:cNvPr>
          <p:cNvSpPr txBox="1"/>
          <p:nvPr/>
        </p:nvSpPr>
        <p:spPr>
          <a:xfrm>
            <a:off x="292987" y="1952027"/>
            <a:ext cx="3486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the partial derivatives of each function </a:t>
            </a:r>
            <a:r>
              <a:rPr lang="en-US" dirty="0" err="1"/>
              <a:t>wrt</a:t>
            </a:r>
            <a:r>
              <a:rPr lang="en-US" dirty="0"/>
              <a:t>. each input: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7A17C6-9833-2B62-02F6-5F807AB4FF10}"/>
              </a:ext>
            </a:extLst>
          </p:cNvPr>
          <p:cNvSpPr txBox="1"/>
          <p:nvPr/>
        </p:nvSpPr>
        <p:spPr>
          <a:xfrm>
            <a:off x="245792" y="4018628"/>
            <a:ext cx="5987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Now “backpropagate errors (loss)” to each variable.  We want:</a:t>
            </a:r>
          </a:p>
        </p:txBody>
      </p:sp>
    </p:spTree>
    <p:extLst>
      <p:ext uri="{BB962C8B-B14F-4D97-AF65-F5344CB8AC3E}">
        <p14:creationId xmlns:p14="http://schemas.microsoft.com/office/powerpoint/2010/main" val="9041367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A85F9-ACA4-72D2-8612-152CC663F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85E70E-1D16-3353-1453-714FA25ED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Wengert</a:t>
            </a:r>
            <a:r>
              <a:rPr lang="en-US" dirty="0"/>
              <a:t> lists: backward (gradients)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CF3E4-5282-5920-55E7-E6E5D4E65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61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15" name="Picture 14" descr="A close-up of a number&#10;&#10;AI-generated content may be incorrect.">
            <a:extLst>
              <a:ext uri="{FF2B5EF4-FFF2-40B4-BE49-F238E27FC236}">
                <a16:creationId xmlns:a16="http://schemas.microsoft.com/office/drawing/2014/main" id="{D3F7392C-78AD-3703-A964-CBE8AC284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099" y="1181100"/>
            <a:ext cx="4442383" cy="1274172"/>
          </a:xfrm>
          <a:prstGeom prst="rect">
            <a:avLst/>
          </a:prstGeom>
        </p:spPr>
      </p:pic>
      <p:pic>
        <p:nvPicPr>
          <p:cNvPr id="8" name="Picture 7" descr="Screen Shot 2016-11-01 at 1.10.18 PM.png">
            <a:extLst>
              <a:ext uri="{FF2B5EF4-FFF2-40B4-BE49-F238E27FC236}">
                <a16:creationId xmlns:a16="http://schemas.microsoft.com/office/drawing/2014/main" id="{BE6BEF3C-5675-8016-5E9A-CE381AC72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95" y="1272089"/>
            <a:ext cx="3112397" cy="503280"/>
          </a:xfrm>
          <a:prstGeom prst="rect">
            <a:avLst/>
          </a:prstGeom>
        </p:spPr>
      </p:pic>
      <p:sp>
        <p:nvSpPr>
          <p:cNvPr id="9" name="Right Arrow 8">
            <a:extLst>
              <a:ext uri="{FF2B5EF4-FFF2-40B4-BE49-F238E27FC236}">
                <a16:creationId xmlns:a16="http://schemas.microsoft.com/office/drawing/2014/main" id="{CD8E4D96-51AA-36DE-B361-FEFEA73C4A8D}"/>
              </a:ext>
            </a:extLst>
          </p:cNvPr>
          <p:cNvSpPr/>
          <p:nvPr/>
        </p:nvSpPr>
        <p:spPr>
          <a:xfrm>
            <a:off x="3453299" y="1471885"/>
            <a:ext cx="558800" cy="25464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C5E7A5C-DFDA-D2B9-EEE3-4105DD33DD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637" b="40091"/>
          <a:stretch/>
        </p:blipFill>
        <p:spPr>
          <a:xfrm>
            <a:off x="1771170" y="2678509"/>
            <a:ext cx="6915630" cy="646331"/>
          </a:xfrm>
          <a:prstGeom prst="rect">
            <a:avLst/>
          </a:prstGeom>
        </p:spPr>
      </p:pic>
      <p:pic>
        <p:nvPicPr>
          <p:cNvPr id="14" name="Picture 13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B8592F4-69C8-45E8-EC04-8BAF82C37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898" y="3355042"/>
            <a:ext cx="8467213" cy="232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847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C7FD3-C8F5-AAF9-46C9-94BA84235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0084598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CED50-B083-E388-705A-2E74A1D3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01 at 1.11.25 PM.png">
            <a:extLst>
              <a:ext uri="{FF2B5EF4-FFF2-40B4-BE49-F238E27FC236}">
                <a16:creationId xmlns:a16="http://schemas.microsoft.com/office/drawing/2014/main" id="{F76FFDD9-C965-B204-E34A-DCCA62F31B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276" b="46469"/>
          <a:stretch/>
        </p:blipFill>
        <p:spPr>
          <a:xfrm>
            <a:off x="-16309" y="1795767"/>
            <a:ext cx="9160309" cy="464567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A5E80-0D04-48D0-EB2F-7BF895184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63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5" name="Picture 4" descr="Screen Shot 2016-11-01 at 1.10.18 PM.png">
            <a:extLst>
              <a:ext uri="{FF2B5EF4-FFF2-40B4-BE49-F238E27FC236}">
                <a16:creationId xmlns:a16="http://schemas.microsoft.com/office/drawing/2014/main" id="{052D4121-7E29-D13E-A38C-27D31AF31B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" y="386080"/>
            <a:ext cx="3937000" cy="711200"/>
          </a:xfrm>
          <a:prstGeom prst="rect">
            <a:avLst/>
          </a:prstGeom>
        </p:spPr>
      </p:pic>
      <p:pic>
        <p:nvPicPr>
          <p:cNvPr id="6" name="Picture 5" descr="Screen Shot 2016-11-01 at 1.10.27 PM.png">
            <a:extLst>
              <a:ext uri="{FF2B5EF4-FFF2-40B4-BE49-F238E27FC236}">
                <a16:creationId xmlns:a16="http://schemas.microsoft.com/office/drawing/2014/main" id="{82F6CD1D-452D-3089-83D3-B51CD48F46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190" y="68567"/>
            <a:ext cx="3238500" cy="172720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80E84FF5-813F-A04C-4779-EFD8717C31D3}"/>
              </a:ext>
            </a:extLst>
          </p:cNvPr>
          <p:cNvSpPr/>
          <p:nvPr/>
        </p:nvSpPr>
        <p:spPr>
          <a:xfrm>
            <a:off x="4363720" y="619760"/>
            <a:ext cx="558800" cy="284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6193A7-9483-4B5E-1AB1-71DE7F9BBF3B}"/>
              </a:ext>
            </a:extLst>
          </p:cNvPr>
          <p:cNvCxnSpPr>
            <a:cxnSpLocks/>
          </p:cNvCxnSpPr>
          <p:nvPr/>
        </p:nvCxnSpPr>
        <p:spPr>
          <a:xfrm flipH="1">
            <a:off x="2484783" y="1426435"/>
            <a:ext cx="2763078" cy="13980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69ACC20-6113-995C-4734-9F5A687BCCED}"/>
              </a:ext>
            </a:extLst>
          </p:cNvPr>
          <p:cNvSpPr txBox="1"/>
          <p:nvPr/>
        </p:nvSpPr>
        <p:spPr>
          <a:xfrm>
            <a:off x="4582160" y="644144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19C9A290-B44C-E0A2-3ED6-4B3FE12EE90A}"/>
              </a:ext>
            </a:extLst>
          </p:cNvPr>
          <p:cNvSpPr/>
          <p:nvPr/>
        </p:nvSpPr>
        <p:spPr>
          <a:xfrm rot="10800000">
            <a:off x="8314690" y="218661"/>
            <a:ext cx="372110" cy="1356139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A7231B6-F61A-EF82-C596-A51E68ED0CB2}"/>
              </a:ext>
            </a:extLst>
          </p:cNvPr>
          <p:cNvCxnSpPr>
            <a:cxnSpLocks/>
          </p:cNvCxnSpPr>
          <p:nvPr/>
        </p:nvCxnSpPr>
        <p:spPr>
          <a:xfrm>
            <a:off x="1205948" y="3268487"/>
            <a:ext cx="0" cy="4288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ABDFE86-D62B-06F5-2DD2-FEB19C7F6B27}"/>
              </a:ext>
            </a:extLst>
          </p:cNvPr>
          <p:cNvSpPr txBox="1"/>
          <p:nvPr/>
        </p:nvSpPr>
        <p:spPr>
          <a:xfrm>
            <a:off x="3538772" y="2174734"/>
            <a:ext cx="1649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chain rule +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B7A321-7F83-0529-3BA1-AF9E70CEC91A}"/>
              </a:ext>
            </a:extLst>
          </p:cNvPr>
          <p:cNvSpPr txBox="1"/>
          <p:nvPr/>
        </p:nvSpPr>
        <p:spPr>
          <a:xfrm>
            <a:off x="1407712" y="3268487"/>
            <a:ext cx="3164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derivative of “square(.)”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2CA954D-C957-81FA-B3B0-D75D6344525D}"/>
              </a:ext>
            </a:extLst>
          </p:cNvPr>
          <p:cNvCxnSpPr>
            <a:cxnSpLocks/>
          </p:cNvCxnSpPr>
          <p:nvPr/>
        </p:nvCxnSpPr>
        <p:spPr>
          <a:xfrm flipH="1" flipV="1">
            <a:off x="4055165" y="3522967"/>
            <a:ext cx="2107096" cy="510554"/>
          </a:xfrm>
          <a:prstGeom prst="straightConnector1">
            <a:avLst/>
          </a:prstGeom>
          <a:ln>
            <a:prstDash val="dash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29BE38F-4EA9-17C0-FA22-60DB02DADDC7}"/>
              </a:ext>
            </a:extLst>
          </p:cNvPr>
          <p:cNvSpPr txBox="1"/>
          <p:nvPr/>
        </p:nvSpPr>
        <p:spPr>
          <a:xfrm>
            <a:off x="3866322" y="3858785"/>
            <a:ext cx="19462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need to know derivative of every function </a:t>
            </a:r>
            <a:r>
              <a:rPr lang="en-US" dirty="0" err="1"/>
              <a:t>wrt</a:t>
            </a:r>
            <a:r>
              <a:rPr lang="en-US" dirty="0"/>
              <a:t> every parameter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A6BCE9-3562-78F6-5C47-DAEED28872E6}"/>
              </a:ext>
            </a:extLst>
          </p:cNvPr>
          <p:cNvCxnSpPr>
            <a:cxnSpLocks/>
          </p:cNvCxnSpPr>
          <p:nvPr/>
        </p:nvCxnSpPr>
        <p:spPr>
          <a:xfrm>
            <a:off x="2067339" y="4333461"/>
            <a:ext cx="165321" cy="2639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9DD2D40-E016-8FDD-277E-1E24704BA32D}"/>
              </a:ext>
            </a:extLst>
          </p:cNvPr>
          <p:cNvCxnSpPr>
            <a:cxnSpLocks/>
          </p:cNvCxnSpPr>
          <p:nvPr/>
        </p:nvCxnSpPr>
        <p:spPr>
          <a:xfrm>
            <a:off x="2484783" y="5198742"/>
            <a:ext cx="302662" cy="4941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D296578-CC06-07B5-7B95-EB99A030E5A5}"/>
              </a:ext>
            </a:extLst>
          </p:cNvPr>
          <p:cNvSpPr txBox="1"/>
          <p:nvPr/>
        </p:nvSpPr>
        <p:spPr>
          <a:xfrm>
            <a:off x="2650862" y="5140010"/>
            <a:ext cx="1649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chain rule +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583AA5-CA3E-74A7-1182-66A84093D257}"/>
              </a:ext>
            </a:extLst>
          </p:cNvPr>
          <p:cNvCxnSpPr>
            <a:cxnSpLocks/>
          </p:cNvCxnSpPr>
          <p:nvPr/>
        </p:nvCxnSpPr>
        <p:spPr>
          <a:xfrm flipH="1" flipV="1">
            <a:off x="4022642" y="5310876"/>
            <a:ext cx="2107096" cy="510554"/>
          </a:xfrm>
          <a:prstGeom prst="straightConnector1">
            <a:avLst/>
          </a:prstGeom>
          <a:ln>
            <a:prstDash val="dash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C7515FC-F948-7480-870E-3C507DCED25E}"/>
              </a:ext>
            </a:extLst>
          </p:cNvPr>
          <p:cNvCxnSpPr>
            <a:cxnSpLocks/>
          </p:cNvCxnSpPr>
          <p:nvPr/>
        </p:nvCxnSpPr>
        <p:spPr>
          <a:xfrm flipH="1" flipV="1">
            <a:off x="4922520" y="2415777"/>
            <a:ext cx="1207218" cy="382769"/>
          </a:xfrm>
          <a:prstGeom prst="straightConnector1">
            <a:avLst/>
          </a:prstGeom>
          <a:ln>
            <a:prstDash val="dash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74DB679-0A0B-866C-30F0-0293D3CF209F}"/>
              </a:ext>
            </a:extLst>
          </p:cNvPr>
          <p:cNvCxnSpPr>
            <a:cxnSpLocks/>
          </p:cNvCxnSpPr>
          <p:nvPr/>
        </p:nvCxnSpPr>
        <p:spPr>
          <a:xfrm flipH="1">
            <a:off x="2713382" y="1011312"/>
            <a:ext cx="3637722" cy="36292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19C9BC3-9C21-54B8-EF11-21B3223CA22C}"/>
              </a:ext>
            </a:extLst>
          </p:cNvPr>
          <p:cNvCxnSpPr>
            <a:cxnSpLocks/>
          </p:cNvCxnSpPr>
          <p:nvPr/>
        </p:nvCxnSpPr>
        <p:spPr>
          <a:xfrm flipH="1" flipV="1">
            <a:off x="2787445" y="4895078"/>
            <a:ext cx="3342293" cy="160643"/>
          </a:xfrm>
          <a:prstGeom prst="straightConnector1">
            <a:avLst/>
          </a:prstGeom>
          <a:ln>
            <a:prstDash val="dashDot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85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3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6-11-01 at 1.11.2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" y="1282609"/>
            <a:ext cx="8493760" cy="5575391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64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5" name="Picture 4" descr="Screen Shot 2016-11-01 at 1.10.1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" y="386080"/>
            <a:ext cx="3937000" cy="711200"/>
          </a:xfrm>
          <a:prstGeom prst="rect">
            <a:avLst/>
          </a:prstGeom>
        </p:spPr>
      </p:pic>
      <p:pic>
        <p:nvPicPr>
          <p:cNvPr id="6" name="Picture 5" descr="Screen Shot 2016-11-01 at 1.10.27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190" y="68567"/>
            <a:ext cx="3238500" cy="172720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4363720" y="619760"/>
            <a:ext cx="558800" cy="2844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2992120" y="4609199"/>
            <a:ext cx="812800" cy="101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957320" y="5259439"/>
            <a:ext cx="812800" cy="101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499360" y="5496560"/>
            <a:ext cx="0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20240" y="4836160"/>
            <a:ext cx="812800" cy="101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2377440" y="5496560"/>
            <a:ext cx="1320800" cy="101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E265928-4843-C3F1-7ACE-E4B660471B31}"/>
              </a:ext>
            </a:extLst>
          </p:cNvPr>
          <p:cNvCxnSpPr/>
          <p:nvPr/>
        </p:nvCxnSpPr>
        <p:spPr>
          <a:xfrm>
            <a:off x="264160" y="4321277"/>
            <a:ext cx="8614369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own Arrow 10">
            <a:extLst>
              <a:ext uri="{FF2B5EF4-FFF2-40B4-BE49-F238E27FC236}">
                <a16:creationId xmlns:a16="http://schemas.microsoft.com/office/drawing/2014/main" id="{5480D012-03DF-0BB2-923C-B2B4EDE4D06A}"/>
              </a:ext>
            </a:extLst>
          </p:cNvPr>
          <p:cNvSpPr/>
          <p:nvPr/>
        </p:nvSpPr>
        <p:spPr>
          <a:xfrm rot="10800000">
            <a:off x="8314690" y="218661"/>
            <a:ext cx="372110" cy="1356139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6F96E-5E8A-C174-1EFA-C32EDF791523}"/>
              </a:ext>
            </a:extLst>
          </p:cNvPr>
          <p:cNvSpPr txBox="1"/>
          <p:nvPr/>
        </p:nvSpPr>
        <p:spPr>
          <a:xfrm>
            <a:off x="6247518" y="6219825"/>
            <a:ext cx="2631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(for us, not </a:t>
            </a:r>
            <a:r>
              <a:rPr lang="en-US" dirty="0" err="1"/>
              <a:t>autodiff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322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97E5D-D4C5-7E7D-BE14-A11D816B6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5F7123-BEDD-C49F-6DA5-D6E4DD7EF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Regression as a </a:t>
            </a:r>
            <a:r>
              <a:rPr lang="en-US" dirty="0" err="1"/>
              <a:t>Wengert</a:t>
            </a:r>
            <a:r>
              <a:rPr lang="en-US" dirty="0"/>
              <a:t>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C4D51-58F9-74E7-E118-E9A28404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65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0A1B27-8C65-A823-132D-0D47BF16C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220" y="1826671"/>
            <a:ext cx="5245100" cy="1308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8841BA-9CFF-990D-794F-3772C000B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3703727"/>
            <a:ext cx="3848100" cy="2514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524643-9FBD-5FCC-6828-EA9FCA74ECAA}"/>
              </a:ext>
            </a:extLst>
          </p:cNvPr>
          <p:cNvSpPr txBox="1"/>
          <p:nvPr/>
        </p:nvSpPr>
        <p:spPr>
          <a:xfrm>
            <a:off x="457199" y="1348668"/>
            <a:ext cx="8462513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err="1"/>
              <a:t>Autodiff</a:t>
            </a:r>
            <a:r>
              <a:rPr lang="en-US" sz="2400" dirty="0"/>
              <a:t> with linear algebra operations is much more useful</a:t>
            </a:r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8C27EF75-5963-B53B-0DE1-1F8C40CC26EB}"/>
              </a:ext>
            </a:extLst>
          </p:cNvPr>
          <p:cNvSpPr/>
          <p:nvPr/>
        </p:nvSpPr>
        <p:spPr>
          <a:xfrm>
            <a:off x="4390428" y="3047356"/>
            <a:ext cx="604684" cy="67645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5494A7-A69E-CE95-4750-73C509A91ED3}"/>
              </a:ext>
            </a:extLst>
          </p:cNvPr>
          <p:cNvSpPr txBox="1"/>
          <p:nvPr/>
        </p:nvSpPr>
        <p:spPr>
          <a:xfrm>
            <a:off x="457199" y="5189666"/>
            <a:ext cx="676523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Also a little more confusing…</a:t>
            </a:r>
          </a:p>
          <a:p>
            <a:endParaRPr lang="en-US" sz="2400" dirty="0"/>
          </a:p>
          <a:p>
            <a:r>
              <a:rPr lang="en-US" sz="2400" dirty="0" err="1"/>
              <a:t>d</a:t>
            </a:r>
            <a:r>
              <a:rPr lang="en-US" sz="2400" i="1" dirty="0" err="1"/>
              <a:t>f</a:t>
            </a:r>
            <a:r>
              <a:rPr lang="en-US" sz="2400" dirty="0"/>
              <a:t>/</a:t>
            </a:r>
            <a:r>
              <a:rPr lang="en-US" sz="2400" dirty="0" err="1"/>
              <a:t>d</a:t>
            </a:r>
            <a:r>
              <a:rPr lang="en-US" sz="2400" b="1" dirty="0" err="1"/>
              <a:t>w</a:t>
            </a:r>
            <a:r>
              <a:rPr lang="en-US" sz="2400" dirty="0"/>
              <a:t> is a vector &lt;</a:t>
            </a:r>
            <a:r>
              <a:rPr lang="en-US" sz="2400" dirty="0" err="1"/>
              <a:t>d</a:t>
            </a:r>
            <a:r>
              <a:rPr lang="en-US" sz="2400" i="1" dirty="0" err="1"/>
              <a:t>f</a:t>
            </a:r>
            <a:r>
              <a:rPr lang="en-US" sz="2400" dirty="0"/>
              <a:t>/d</a:t>
            </a:r>
            <a:r>
              <a:rPr lang="en-US" sz="2400" i="1" dirty="0"/>
              <a:t>w</a:t>
            </a:r>
            <a:r>
              <a:rPr lang="en-US" sz="2400" i="1" baseline="-25000" dirty="0"/>
              <a:t>1</a:t>
            </a:r>
            <a:r>
              <a:rPr lang="en-US" sz="2400" dirty="0"/>
              <a:t>, … </a:t>
            </a:r>
            <a:r>
              <a:rPr lang="en-US" sz="2400" dirty="0" err="1"/>
              <a:t>d</a:t>
            </a:r>
            <a:r>
              <a:rPr lang="en-US" sz="2400" i="1" dirty="0" err="1"/>
              <a:t>f</a:t>
            </a:r>
            <a:r>
              <a:rPr lang="en-US" sz="2400" dirty="0"/>
              <a:t>/</a:t>
            </a:r>
            <a:r>
              <a:rPr lang="en-US" sz="2400" dirty="0" err="1"/>
              <a:t>d</a:t>
            </a:r>
            <a:r>
              <a:rPr lang="en-US" sz="2400" i="1" dirty="0" err="1"/>
              <a:t>w</a:t>
            </a:r>
            <a:r>
              <a:rPr lang="en-US" sz="2400" i="1" baseline="-25000" dirty="0" err="1"/>
              <a:t>n</a:t>
            </a:r>
            <a:r>
              <a:rPr lang="en-US" sz="24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97755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EF666-877F-625A-E424-566A235E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174E152-F1ED-3E05-C0E3-9254D41AE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06" y="4782164"/>
            <a:ext cx="7772400" cy="165317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E20B3A5-FBBB-3292-6CF8-B188475F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as a </a:t>
            </a:r>
            <a:r>
              <a:rPr lang="en-US" dirty="0" err="1"/>
              <a:t>Wengert</a:t>
            </a:r>
            <a:r>
              <a:rPr lang="en-US" dirty="0"/>
              <a:t>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44009-2710-5662-B2EC-03A83306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66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54286356-8254-95B1-B22E-50E9104A530D}"/>
              </a:ext>
            </a:extLst>
          </p:cNvPr>
          <p:cNvSpPr/>
          <p:nvPr/>
        </p:nvSpPr>
        <p:spPr>
          <a:xfrm>
            <a:off x="7433187" y="2479346"/>
            <a:ext cx="1393977" cy="1004572"/>
          </a:xfrm>
          <a:prstGeom prst="wedgeEllipseCallout">
            <a:avLst>
              <a:gd name="adj1" fmla="val -94632"/>
              <a:gd name="adj2" fmla="val 21292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Like logistic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5A07DC-4BAF-14F4-6D08-F46277659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20" y="1083804"/>
            <a:ext cx="7419555" cy="1222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AB5FF7-82CE-FA75-B099-2C8322193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7490" y="2635456"/>
            <a:ext cx="3397010" cy="1916473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5" name="Down Arrow 14">
            <a:extLst>
              <a:ext uri="{FF2B5EF4-FFF2-40B4-BE49-F238E27FC236}">
                <a16:creationId xmlns:a16="http://schemas.microsoft.com/office/drawing/2014/main" id="{942BD8B8-0DC6-9ED8-72BF-AB1F109C4589}"/>
              </a:ext>
            </a:extLst>
          </p:cNvPr>
          <p:cNvSpPr/>
          <p:nvPr/>
        </p:nvSpPr>
        <p:spPr>
          <a:xfrm>
            <a:off x="4085861" y="2064554"/>
            <a:ext cx="520645" cy="48303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8C007E-A012-CF50-ED0E-92445FF2F2FD}"/>
              </a:ext>
            </a:extLst>
          </p:cNvPr>
          <p:cNvSpPr txBox="1"/>
          <p:nvPr/>
        </p:nvSpPr>
        <p:spPr>
          <a:xfrm>
            <a:off x="526212" y="4857421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where:</a:t>
            </a:r>
          </a:p>
        </p:txBody>
      </p:sp>
    </p:spTree>
    <p:extLst>
      <p:ext uri="{BB962C8B-B14F-4D97-AF65-F5344CB8AC3E}">
        <p14:creationId xmlns:p14="http://schemas.microsoft.com/office/powerpoint/2010/main" val="186737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B6606-56C4-7A10-D848-451430464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5A9B68-11F1-DB61-8F21-888DECF3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as a </a:t>
            </a:r>
            <a:r>
              <a:rPr lang="en-US" dirty="0" err="1"/>
              <a:t>Wengert</a:t>
            </a:r>
            <a:r>
              <a:rPr lang="en-US" dirty="0"/>
              <a:t>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E0406-59CE-8CDB-9390-A92542E4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67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1772A3-4167-4B6D-341E-819CE2199BC4}"/>
              </a:ext>
            </a:extLst>
          </p:cNvPr>
          <p:cNvSpPr txBox="1"/>
          <p:nvPr/>
        </p:nvSpPr>
        <p:spPr>
          <a:xfrm>
            <a:off x="1039485" y="1400414"/>
            <a:ext cx="745322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loss = </a:t>
            </a:r>
            <a:r>
              <a:rPr lang="en-US" sz="2400" dirty="0" err="1"/>
              <a:t>crossEntropy</a:t>
            </a:r>
            <a:r>
              <a:rPr lang="en-US" sz="2400" dirty="0"/>
              <a:t>(</a:t>
            </a:r>
            <a:r>
              <a:rPr lang="en-US" sz="2400" dirty="0" err="1"/>
              <a:t>softmax</a:t>
            </a:r>
            <a:r>
              <a:rPr lang="en-US" sz="2400" dirty="0"/>
              <a:t>(</a:t>
            </a:r>
            <a:r>
              <a:rPr lang="en-US" sz="2400" b="1" dirty="0"/>
              <a:t>z), y</a:t>
            </a:r>
            <a:r>
              <a:rPr lang="en-US" sz="2400" dirty="0"/>
              <a:t>) is widely used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8DD1B9-E0DF-73C5-66C2-883D44FC1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372" y="2115548"/>
            <a:ext cx="8628891" cy="18353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A1EA68-FB26-E450-9469-DBEA5554E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80" y="4263579"/>
            <a:ext cx="7772400" cy="2360996"/>
          </a:xfrm>
          <a:prstGeom prst="rect">
            <a:avLst/>
          </a:prstGeom>
          <a:ln w="38100">
            <a:solidFill>
              <a:schemeClr val="tx2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45AF21-F24A-CF9D-87EC-3C2EAF988D35}"/>
              </a:ext>
            </a:extLst>
          </p:cNvPr>
          <p:cNvSpPr txBox="1"/>
          <p:nvPr/>
        </p:nvSpPr>
        <p:spPr>
          <a:xfrm>
            <a:off x="806569" y="3935846"/>
            <a:ext cx="745322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but it’s important to use this version</a:t>
            </a:r>
          </a:p>
        </p:txBody>
      </p:sp>
    </p:spTree>
    <p:extLst>
      <p:ext uri="{BB962C8B-B14F-4D97-AF65-F5344CB8AC3E}">
        <p14:creationId xmlns:p14="http://schemas.microsoft.com/office/powerpoint/2010/main" val="71929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EC510-6479-AB54-A1C2-E1D3E9AC0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B1BB3B-1B90-9F7B-48B8-98524208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as a </a:t>
            </a:r>
            <a:r>
              <a:rPr lang="en-US" dirty="0" err="1"/>
              <a:t>Wengert</a:t>
            </a:r>
            <a:r>
              <a:rPr lang="en-US" dirty="0"/>
              <a:t>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387F2-4E50-86F2-7BC8-9A1A7DCF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68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14ADD-C1AB-D0AF-E101-8612927C9F14}"/>
              </a:ext>
            </a:extLst>
          </p:cNvPr>
          <p:cNvSpPr txBox="1"/>
          <p:nvPr/>
        </p:nvSpPr>
        <p:spPr>
          <a:xfrm>
            <a:off x="1039485" y="1400414"/>
            <a:ext cx="745322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loss = </a:t>
            </a:r>
            <a:r>
              <a:rPr lang="en-US" sz="2400" dirty="0" err="1"/>
              <a:t>crossEntropy</a:t>
            </a:r>
            <a:r>
              <a:rPr lang="en-US" sz="2400" dirty="0"/>
              <a:t>(</a:t>
            </a:r>
            <a:r>
              <a:rPr lang="en-US" sz="2400" dirty="0" err="1"/>
              <a:t>softmax</a:t>
            </a:r>
            <a:r>
              <a:rPr lang="en-US" sz="2400" dirty="0"/>
              <a:t>(</a:t>
            </a:r>
            <a:r>
              <a:rPr lang="en-US" sz="2400" b="1" dirty="0"/>
              <a:t>z), y</a:t>
            </a:r>
            <a:r>
              <a:rPr lang="en-US" sz="2400" dirty="0"/>
              <a:t>) is widely used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531C29-C34D-8CE9-0C21-490A8B786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372" y="2115548"/>
            <a:ext cx="8628891" cy="18353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38C6BE-48D7-5A16-1283-8A73350E8F13}"/>
              </a:ext>
            </a:extLst>
          </p:cNvPr>
          <p:cNvSpPr txBox="1"/>
          <p:nvPr/>
        </p:nvSpPr>
        <p:spPr>
          <a:xfrm>
            <a:off x="806569" y="3935846"/>
            <a:ext cx="7453221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Also if </a:t>
            </a:r>
            <a:r>
              <a:rPr lang="en-US" sz="2400" b="1" dirty="0"/>
              <a:t>p </a:t>
            </a:r>
            <a:r>
              <a:rPr lang="en-US" sz="2400" dirty="0"/>
              <a:t>is the output of the </a:t>
            </a:r>
            <a:r>
              <a:rPr lang="en-US" sz="2400" dirty="0" err="1"/>
              <a:t>softmax</a:t>
            </a:r>
            <a:r>
              <a:rPr lang="en-US" sz="2400" dirty="0"/>
              <a:t>, there is a </a:t>
            </a:r>
            <a:r>
              <a:rPr lang="en-US" sz="2400" b="1" dirty="0"/>
              <a:t>simple</a:t>
            </a:r>
            <a:r>
              <a:rPr lang="en-US" sz="2400" dirty="0"/>
              <a:t> form of d </a:t>
            </a:r>
            <a:r>
              <a:rPr lang="en-US" sz="2400" i="1" dirty="0"/>
              <a:t>loss </a:t>
            </a:r>
            <a:r>
              <a:rPr lang="en-US" sz="2400" dirty="0"/>
              <a:t>/ d </a:t>
            </a:r>
            <a:r>
              <a:rPr lang="en-US" sz="2400" b="1" dirty="0"/>
              <a:t>z</a:t>
            </a:r>
            <a:endParaRPr lang="en-US" sz="2400" dirty="0"/>
          </a:p>
          <a:p>
            <a:endParaRPr lang="en-US" sz="2400" dirty="0"/>
          </a:p>
          <a:p>
            <a:pPr algn="ctr"/>
            <a:r>
              <a:rPr lang="en-US" sz="2400" dirty="0"/>
              <a:t>d </a:t>
            </a:r>
            <a:r>
              <a:rPr lang="en-US" sz="2400" i="1" dirty="0"/>
              <a:t>loss </a:t>
            </a:r>
            <a:r>
              <a:rPr lang="en-US" sz="2400" dirty="0"/>
              <a:t>/ d </a:t>
            </a:r>
            <a:r>
              <a:rPr lang="en-US" sz="2400" b="1" dirty="0"/>
              <a:t>z</a:t>
            </a:r>
            <a:r>
              <a:rPr lang="en-US" sz="2400" dirty="0"/>
              <a:t>  =  </a:t>
            </a:r>
            <a:r>
              <a:rPr lang="en-US" sz="2400" b="1" dirty="0"/>
              <a:t>p - 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2708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BF51-3479-EC63-6032-260270EF9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58A06A-E895-183B-6EDC-165E9E4A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 as a </a:t>
            </a:r>
            <a:r>
              <a:rPr lang="en-US" dirty="0" err="1"/>
              <a:t>Wengert</a:t>
            </a:r>
            <a:r>
              <a:rPr lang="en-US" dirty="0"/>
              <a:t> list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7640-DC33-5742-BE56-9C33E688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69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95FD9-FDAF-7E06-7FCA-943F9C9EE0FC}"/>
              </a:ext>
            </a:extLst>
          </p:cNvPr>
          <p:cNvSpPr txBox="1"/>
          <p:nvPr/>
        </p:nvSpPr>
        <p:spPr>
          <a:xfrm>
            <a:off x="815866" y="1884224"/>
            <a:ext cx="745322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How can you take advantage of this?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15C2C-1408-093E-2E83-C892E89EC739}"/>
              </a:ext>
            </a:extLst>
          </p:cNvPr>
          <p:cNvSpPr txBox="1"/>
          <p:nvPr/>
        </p:nvSpPr>
        <p:spPr>
          <a:xfrm>
            <a:off x="845389" y="2546261"/>
            <a:ext cx="7453221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(1) write a special </a:t>
            </a:r>
            <a:r>
              <a:rPr lang="en-US" sz="2400" dirty="0" err="1"/>
              <a:t>crossEntropyOfSoftmax</a:t>
            </a:r>
            <a:r>
              <a:rPr lang="en-US" sz="2400" dirty="0"/>
              <a:t>(</a:t>
            </a:r>
            <a:r>
              <a:rPr lang="en-US" sz="2400" b="1" dirty="0"/>
              <a:t>z, y</a:t>
            </a:r>
            <a:r>
              <a:rPr lang="en-US" sz="2400" dirty="0"/>
              <a:t>) function in your library of functions.</a:t>
            </a:r>
          </a:p>
          <a:p>
            <a:pPr algn="ctr"/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torch.nn.CrossEntropyLoss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9F593E-C30B-E8F3-50DA-0968BB55E8B6}"/>
              </a:ext>
            </a:extLst>
          </p:cNvPr>
          <p:cNvSpPr txBox="1"/>
          <p:nvPr/>
        </p:nvSpPr>
        <p:spPr>
          <a:xfrm>
            <a:off x="815866" y="3867487"/>
            <a:ext cx="745322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(2) optimize the “generated code”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98E3F-B349-845C-22F1-246A1AC0E262}"/>
              </a:ext>
            </a:extLst>
          </p:cNvPr>
          <p:cNvSpPr txBox="1"/>
          <p:nvPr/>
        </p:nvSpPr>
        <p:spPr>
          <a:xfrm>
            <a:off x="815866" y="4589804"/>
            <a:ext cx="745322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Most systems do a lot of both</a:t>
            </a:r>
            <a:endParaRPr 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70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5C6C0-B0F4-45CB-87EC-57CD09FDD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98FCB4-94F4-266B-7BF3-44DEA7E3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</a:t>
            </a:r>
            <a:r>
              <a:rPr lang="en-US" dirty="0" err="1"/>
              <a:t>Wengert</a:t>
            </a:r>
            <a:r>
              <a:rPr lang="en-US" dirty="0"/>
              <a:t> lists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407B26-72D1-B279-E002-E858C1831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ML frameworks sort-of conceal the computation graph</a:t>
            </a:r>
          </a:p>
          <a:p>
            <a:pPr lvl="1"/>
            <a:r>
              <a:rPr lang="en-US" dirty="0"/>
              <a:t>Torch, </a:t>
            </a:r>
            <a:r>
              <a:rPr lang="en-US" dirty="0" err="1"/>
              <a:t>PyTorch</a:t>
            </a:r>
            <a:r>
              <a:rPr lang="en-US" dirty="0"/>
              <a:t>, TensorFlow2 let you build a graph on-the-fly as you evaluate expressions</a:t>
            </a:r>
          </a:p>
          <a:p>
            <a:r>
              <a:rPr lang="en-US" dirty="0"/>
              <a:t>It’s still there and still important to understand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CF7AA-AED2-FE88-B8BA-32DB352A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70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5790721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F07C2-E893-1A05-B767-0E7CF1E5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30D1BF-E615-C614-1CFD-F3EB5EE1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 on </a:t>
            </a:r>
            <a:r>
              <a:rPr lang="en-US" dirty="0" err="1"/>
              <a:t>Wengert</a:t>
            </a:r>
            <a:r>
              <a:rPr lang="en-US" dirty="0"/>
              <a:t> lists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068B32-6E8B-E99C-57AB-6ECE04663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do reverse-mode backprop without them</a:t>
            </a:r>
          </a:p>
          <a:p>
            <a:pPr lvl="1"/>
            <a:r>
              <a:rPr lang="en-US" dirty="0"/>
              <a:t>Accumulate gradients on-the-fly by traversing the computation graph</a:t>
            </a:r>
          </a:p>
          <a:p>
            <a:r>
              <a:rPr lang="en-US" dirty="0"/>
              <a:t>They are helpful conceptually (I think)</a:t>
            </a:r>
          </a:p>
          <a:p>
            <a:r>
              <a:rPr lang="en-US" dirty="0"/>
              <a:t>Sometimes a </a:t>
            </a:r>
            <a:r>
              <a:rPr lang="en-US" dirty="0" err="1"/>
              <a:t>Wengert</a:t>
            </a:r>
            <a:r>
              <a:rPr lang="en-US" dirty="0"/>
              <a:t> list is called a “tape”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36A98-C9E0-298E-DD36-E15ED82F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71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2571096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2BBCB-9B5C-4E29-E236-E2425592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09B297-19EC-4F69-F4B7-2584E7A78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Optional </a:t>
            </a:r>
            <a:r>
              <a:rPr lang="en-US" dirty="0" err="1"/>
              <a:t>walkthrus</a:t>
            </a:r>
            <a:r>
              <a:rPr lang="en-US" dirty="0"/>
              <a:t> of </a:t>
            </a:r>
            <a:r>
              <a:rPr lang="en-US" dirty="0" err="1"/>
              <a:t>autodiff</a:t>
            </a:r>
            <a:r>
              <a:rPr lang="en-US" dirty="0"/>
              <a:t> for 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38444-E3A8-747B-4B2A-5CF7EE6C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72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FC520D-C97E-5B41-7774-77430CE46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67674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2-layer neural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60" y="3503428"/>
            <a:ext cx="426930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add*(Z1a,B1)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add*(Z2a,B2)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(Z2b)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46517" y="5792003"/>
            <a:ext cx="424478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125415" y="6088751"/>
            <a:ext cx="567871" cy="3536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8669" y="6362194"/>
            <a:ext cx="509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Book Antiqua"/>
              </a:rPr>
              <a:t>Target Y;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examples;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K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outs;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D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feats,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H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hidden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 </a:t>
            </a:r>
            <a:endParaRPr lang="en-US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645022" y="3143618"/>
            <a:ext cx="3699577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X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 N*D,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W1 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D*H,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B1 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1*H,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W2 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H*K, 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3700" y="3814113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Z1a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2923" y="4151179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Z1b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57383" y="4488245"/>
            <a:ext cx="124541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A1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3700" y="4836514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Z2a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96100" y="5173580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Z2b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48500" y="5449873"/>
            <a:ext cx="121983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A2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00900" y="5786939"/>
            <a:ext cx="107661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P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5901" y="6124005"/>
            <a:ext cx="142883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C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a scalar</a:t>
            </a:r>
            <a:endParaRPr lang="en-US" i="1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73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Double Bracket 4"/>
          <p:cNvSpPr/>
          <p:nvPr/>
        </p:nvSpPr>
        <p:spPr>
          <a:xfrm>
            <a:off x="42084" y="1437699"/>
            <a:ext cx="559699" cy="63304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34" name="Double Bracket 33"/>
          <p:cNvSpPr/>
          <p:nvPr/>
        </p:nvSpPr>
        <p:spPr>
          <a:xfrm>
            <a:off x="682519" y="1433324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35" name="Double Bracket 34"/>
          <p:cNvSpPr/>
          <p:nvPr/>
        </p:nvSpPr>
        <p:spPr>
          <a:xfrm>
            <a:off x="1624854" y="143332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Z1A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1784" y="2276668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mul</a:t>
            </a:r>
            <a:endParaRPr lang="en-US" sz="1200" dirty="0"/>
          </a:p>
        </p:txBody>
      </p:sp>
      <p:cxnSp>
        <p:nvCxnSpPr>
          <p:cNvPr id="26" name="Straight Arrow Connector 25"/>
          <p:cNvCxnSpPr>
            <a:endCxn id="22" idx="1"/>
          </p:cNvCxnSpPr>
          <p:nvPr/>
        </p:nvCxnSpPr>
        <p:spPr>
          <a:xfrm>
            <a:off x="300892" y="2112136"/>
            <a:ext cx="300892" cy="317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2" idx="0"/>
          </p:cNvCxnSpPr>
          <p:nvPr/>
        </p:nvCxnSpPr>
        <p:spPr>
          <a:xfrm flipH="1">
            <a:off x="850586" y="1915388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3"/>
          </p:cNvCxnSpPr>
          <p:nvPr/>
        </p:nvCxnSpPr>
        <p:spPr>
          <a:xfrm flipV="1">
            <a:off x="1099388" y="2040563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uble Bracket 49"/>
          <p:cNvSpPr/>
          <p:nvPr/>
        </p:nvSpPr>
        <p:spPr>
          <a:xfrm>
            <a:off x="2429602" y="1433324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B1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2337889" y="2317150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1977292" y="2112136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51" idx="0"/>
          </p:cNvCxnSpPr>
          <p:nvPr/>
        </p:nvCxnSpPr>
        <p:spPr>
          <a:xfrm flipH="1">
            <a:off x="2634329" y="1695607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ouble Bracket 51"/>
          <p:cNvSpPr/>
          <p:nvPr/>
        </p:nvSpPr>
        <p:spPr>
          <a:xfrm>
            <a:off x="3234350" y="145368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Z1B</a:t>
            </a:r>
            <a:endParaRPr lang="en-US" dirty="0"/>
          </a:p>
        </p:txBody>
      </p:sp>
      <p:cxnSp>
        <p:nvCxnSpPr>
          <p:cNvPr id="39" name="Straight Arrow Connector 38"/>
          <p:cNvCxnSpPr>
            <a:stCxn id="51" idx="3"/>
          </p:cNvCxnSpPr>
          <p:nvPr/>
        </p:nvCxnSpPr>
        <p:spPr>
          <a:xfrm flipV="1">
            <a:off x="2930769" y="2157979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uble Bracket 52"/>
          <p:cNvSpPr/>
          <p:nvPr/>
        </p:nvSpPr>
        <p:spPr>
          <a:xfrm>
            <a:off x="4132646" y="1450953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22041" y="234252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3589950" y="2129889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4236801" y="204056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ouble Bracket 73"/>
          <p:cNvSpPr/>
          <p:nvPr/>
        </p:nvSpPr>
        <p:spPr>
          <a:xfrm>
            <a:off x="5001437" y="1529260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75" name="Double Bracket 74"/>
          <p:cNvSpPr/>
          <p:nvPr/>
        </p:nvSpPr>
        <p:spPr>
          <a:xfrm>
            <a:off x="5943772" y="152926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920702" y="2372604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mul</a:t>
            </a:r>
            <a:endParaRPr lang="en-US" sz="1200" dirty="0"/>
          </a:p>
        </p:txBody>
      </p:sp>
      <p:cxnSp>
        <p:nvCxnSpPr>
          <p:cNvPr id="78" name="Straight Arrow Connector 77"/>
          <p:cNvCxnSpPr/>
          <p:nvPr/>
        </p:nvCxnSpPr>
        <p:spPr>
          <a:xfrm flipH="1">
            <a:off x="5169504" y="2011324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5418306" y="2136499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ouble Bracket 79"/>
          <p:cNvSpPr/>
          <p:nvPr/>
        </p:nvSpPr>
        <p:spPr>
          <a:xfrm>
            <a:off x="6748520" y="1529260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656807" y="2413086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6296210" y="2208072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>
            <a:off x="6953247" y="1791543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Double Bracket 83"/>
          <p:cNvSpPr/>
          <p:nvPr/>
        </p:nvSpPr>
        <p:spPr>
          <a:xfrm>
            <a:off x="7553268" y="154962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Z2B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flipV="1">
            <a:off x="7249687" y="2253915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7908868" y="2225825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4715969" y="2136499"/>
            <a:ext cx="216823" cy="27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8112068" y="243823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8526828" y="213627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ouble Bracket 90"/>
          <p:cNvSpPr/>
          <p:nvPr/>
        </p:nvSpPr>
        <p:spPr>
          <a:xfrm>
            <a:off x="8451564" y="1549620"/>
            <a:ext cx="637728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6475591" y="4213051"/>
                <a:ext cx="2504325" cy="6226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charset="0"/>
                            </a:rPr>
                            <m:t>𝐩</m:t>
                          </m:r>
                          <m:r>
                            <m:rPr>
                              <m:nor/>
                            </m:rPr>
                            <a:rPr lang="en-US" b="1" dirty="0"/>
                            <m:t> </m:t>
                          </m:r>
                        </m:e>
                        <m:sub>
                          <m:r>
                            <a:rPr lang="en-US" b="1" i="1" smtClean="0"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r>
                        <a:rPr lang="en-US" b="1" i="0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charset="0"/>
                            </a:rPr>
                            <m:t>exp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⁡</m:t>
                          </m:r>
                          <m:r>
                            <a:rPr lang="en-US" b="1" i="0" smtClean="0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charset="0"/>
                                </a:rPr>
                                <m:t>exp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⁡</m:t>
                              </m:r>
                              <m:r>
                                <a:rPr lang="en-US" b="1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b="1">
                                  <a:latin typeface="Cambria Math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591" y="4213051"/>
                <a:ext cx="2504325" cy="62260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5602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9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2-layer neural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060" y="3503428"/>
            <a:ext cx="4269304" cy="2585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add*(Z1a,B1)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add*(Z2a,B2) </a:t>
            </a: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(Z2b)  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element-wise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346517" y="5792003"/>
            <a:ext cx="4244783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125415" y="6088751"/>
            <a:ext cx="567871" cy="3536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8669" y="6362194"/>
            <a:ext cx="509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Book Antiqua"/>
              </a:rPr>
              <a:t>Target Y;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examples;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K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outs;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D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feats,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H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hidden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 </a:t>
            </a:r>
            <a:endParaRPr lang="en-US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645022" y="3143618"/>
            <a:ext cx="3699577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X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 N*D,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W1 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D*H,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B1 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1*H,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W2 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H*K, 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3700" y="3814113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Z1a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12923" y="4151179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Z1b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57383" y="4488245"/>
            <a:ext cx="1245416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A1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3700" y="4836514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Z2a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96100" y="5173580"/>
            <a:ext cx="133742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Z2b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48500" y="5449873"/>
            <a:ext cx="1219831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A2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00900" y="5786939"/>
            <a:ext cx="1076615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P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5901" y="6124005"/>
            <a:ext cx="142883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C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is a scalar</a:t>
            </a:r>
            <a:endParaRPr lang="en-US" i="1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74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5" name="Double Bracket 4"/>
          <p:cNvSpPr/>
          <p:nvPr/>
        </p:nvSpPr>
        <p:spPr>
          <a:xfrm>
            <a:off x="-2241256" y="1489809"/>
            <a:ext cx="559699" cy="63304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34" name="Double Bracket 33"/>
          <p:cNvSpPr/>
          <p:nvPr/>
        </p:nvSpPr>
        <p:spPr>
          <a:xfrm>
            <a:off x="-1600821" y="1485434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35" name="Double Bracket 34"/>
          <p:cNvSpPr/>
          <p:nvPr/>
        </p:nvSpPr>
        <p:spPr>
          <a:xfrm>
            <a:off x="-658486" y="148543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Z1A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-1681556" y="2328778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mul</a:t>
            </a:r>
            <a:endParaRPr lang="en-US" sz="1400" dirty="0"/>
          </a:p>
        </p:txBody>
      </p:sp>
      <p:cxnSp>
        <p:nvCxnSpPr>
          <p:cNvPr id="26" name="Straight Arrow Connector 25"/>
          <p:cNvCxnSpPr>
            <a:endCxn id="22" idx="1"/>
          </p:cNvCxnSpPr>
          <p:nvPr/>
        </p:nvCxnSpPr>
        <p:spPr>
          <a:xfrm>
            <a:off x="-1982448" y="2164246"/>
            <a:ext cx="300892" cy="317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22" idx="0"/>
          </p:cNvCxnSpPr>
          <p:nvPr/>
        </p:nvCxnSpPr>
        <p:spPr>
          <a:xfrm flipH="1">
            <a:off x="-1432754" y="1967498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2" idx="3"/>
          </p:cNvCxnSpPr>
          <p:nvPr/>
        </p:nvCxnSpPr>
        <p:spPr>
          <a:xfrm flipV="1">
            <a:off x="-1183952" y="2092673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uble Bracket 49"/>
          <p:cNvSpPr/>
          <p:nvPr/>
        </p:nvSpPr>
        <p:spPr>
          <a:xfrm>
            <a:off x="146262" y="1485434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B1</a:t>
            </a:r>
            <a:endParaRPr lang="en-US" dirty="0"/>
          </a:p>
        </p:txBody>
      </p:sp>
      <p:sp>
        <p:nvSpPr>
          <p:cNvPr id="51" name="Rounded Rectangle 50"/>
          <p:cNvSpPr/>
          <p:nvPr/>
        </p:nvSpPr>
        <p:spPr>
          <a:xfrm>
            <a:off x="54549" y="2369260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-306048" y="2164246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51" idx="0"/>
          </p:cNvCxnSpPr>
          <p:nvPr/>
        </p:nvCxnSpPr>
        <p:spPr>
          <a:xfrm flipH="1">
            <a:off x="350989" y="1747717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ouble Bracket 51"/>
          <p:cNvSpPr/>
          <p:nvPr/>
        </p:nvSpPr>
        <p:spPr>
          <a:xfrm>
            <a:off x="951010" y="150579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Z1B</a:t>
            </a:r>
            <a:endParaRPr lang="en-US" dirty="0"/>
          </a:p>
        </p:txBody>
      </p:sp>
      <p:cxnSp>
        <p:nvCxnSpPr>
          <p:cNvPr id="39" name="Straight Arrow Connector 38"/>
          <p:cNvCxnSpPr>
            <a:stCxn id="51" idx="3"/>
          </p:cNvCxnSpPr>
          <p:nvPr/>
        </p:nvCxnSpPr>
        <p:spPr>
          <a:xfrm flipV="1">
            <a:off x="647429" y="2210089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Double Bracket 52"/>
          <p:cNvSpPr/>
          <p:nvPr/>
        </p:nvSpPr>
        <p:spPr>
          <a:xfrm>
            <a:off x="1849306" y="1503063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38701" y="239463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55" name="Straight Arrow Connector 54"/>
          <p:cNvCxnSpPr/>
          <p:nvPr/>
        </p:nvCxnSpPr>
        <p:spPr>
          <a:xfrm>
            <a:off x="1306610" y="2181999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V="1">
            <a:off x="1953461" y="209267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Double Bracket 73"/>
          <p:cNvSpPr/>
          <p:nvPr/>
        </p:nvSpPr>
        <p:spPr>
          <a:xfrm>
            <a:off x="2718097" y="1581370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75" name="Double Bracket 74"/>
          <p:cNvSpPr/>
          <p:nvPr/>
        </p:nvSpPr>
        <p:spPr>
          <a:xfrm>
            <a:off x="3660432" y="158137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37362" y="2424714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mul</a:t>
            </a:r>
            <a:endParaRPr lang="en-US" sz="1400" dirty="0"/>
          </a:p>
        </p:txBody>
      </p:sp>
      <p:cxnSp>
        <p:nvCxnSpPr>
          <p:cNvPr id="78" name="Straight Arrow Connector 77"/>
          <p:cNvCxnSpPr/>
          <p:nvPr/>
        </p:nvCxnSpPr>
        <p:spPr>
          <a:xfrm flipH="1">
            <a:off x="2886164" y="2063434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3134966" y="2188609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Double Bracket 79"/>
          <p:cNvSpPr/>
          <p:nvPr/>
        </p:nvSpPr>
        <p:spPr>
          <a:xfrm>
            <a:off x="4465180" y="1581370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373467" y="2465196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82" name="Straight Arrow Connector 81"/>
          <p:cNvCxnSpPr/>
          <p:nvPr/>
        </p:nvCxnSpPr>
        <p:spPr>
          <a:xfrm>
            <a:off x="4012870" y="2260182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>
            <a:off x="4669907" y="1843653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Double Bracket 83"/>
          <p:cNvSpPr/>
          <p:nvPr/>
        </p:nvSpPr>
        <p:spPr>
          <a:xfrm>
            <a:off x="5269928" y="160173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Z2B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flipV="1">
            <a:off x="4966347" y="2306025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>
            <a:off x="5625528" y="2277935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2432629" y="2188609"/>
            <a:ext cx="216823" cy="27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828728" y="249034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90" name="Straight Arrow Connector 89"/>
          <p:cNvCxnSpPr/>
          <p:nvPr/>
        </p:nvCxnSpPr>
        <p:spPr>
          <a:xfrm flipV="1">
            <a:off x="6243488" y="218838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Double Bracket 90"/>
          <p:cNvSpPr/>
          <p:nvPr/>
        </p:nvSpPr>
        <p:spPr>
          <a:xfrm>
            <a:off x="6168224" y="1601730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6475591" y="4213051"/>
                <a:ext cx="2504325" cy="62260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charset="0"/>
                            </a:rPr>
                            <m:t>𝐩</m:t>
                          </m:r>
                          <m:r>
                            <m:rPr>
                              <m:nor/>
                            </m:rPr>
                            <a:rPr lang="en-US" b="1" dirty="0"/>
                            <m:t> </m:t>
                          </m:r>
                        </m:e>
                        <m:sub>
                          <m:r>
                            <a:rPr lang="en-US" b="1" i="1" smtClean="0">
                              <a:latin typeface="Cambria Math" charset="0"/>
                            </a:rPr>
                            <m:t>𝒊</m:t>
                          </m:r>
                        </m:sub>
                      </m:sSub>
                      <m:r>
                        <a:rPr lang="en-US" b="1" i="0" smtClean="0">
                          <a:latin typeface="Cambria Math" charset="0"/>
                        </a:rPr>
                        <m:t>= </m:t>
                      </m:r>
                      <m:f>
                        <m:fPr>
                          <m:ctrlPr>
                            <a:rPr lang="mr-I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charset="0"/>
                            </a:rPr>
                            <m:t>exp</m:t>
                          </m:r>
                          <m:r>
                            <a:rPr lang="en-US" b="0" i="1" smtClean="0">
                              <a:latin typeface="Cambria Math" charset="0"/>
                            </a:rPr>
                            <m:t>⁡</m:t>
                          </m:r>
                          <m:r>
                            <a:rPr lang="en-US" b="1" i="0" smtClean="0">
                              <a:latin typeface="Cambria Math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charset="0"/>
                                </a:rPr>
                                <m:t>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charset="0"/>
                                </a:rPr>
                                <m:t>𝐢</m:t>
                              </m:r>
                            </m:sub>
                          </m:sSub>
                          <m:r>
                            <a:rPr lang="en-US" b="1" i="0" smtClean="0">
                              <a:latin typeface="Cambria Math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mr-IN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b="0" i="1" smtClean="0">
                                  <a:latin typeface="Cambria Math" charset="0"/>
                                </a:rPr>
                                <m:t>𝑗</m:t>
                              </m:r>
                            </m:sub>
                            <m:sup/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charset="0"/>
                                </a:rPr>
                                <m:t>exp</m:t>
                              </m:r>
                              <m:r>
                                <a:rPr lang="en-US" i="1">
                                  <a:latin typeface="Cambria Math" charset="0"/>
                                </a:rPr>
                                <m:t>⁡</m:t>
                              </m:r>
                              <m:r>
                                <a:rPr lang="en-US" b="1">
                                  <a:latin typeface="Cambria Math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charset="0"/>
                                    </a:rPr>
                                    <m:t>𝐚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en-US" b="1">
                                  <a:latin typeface="Cambria Math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591" y="4213051"/>
                <a:ext cx="2504325" cy="62260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/>
          <p:nvPr/>
        </p:nvCxnSpPr>
        <p:spPr>
          <a:xfrm>
            <a:off x="6607342" y="2258372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763650" y="2478009"/>
            <a:ext cx="85635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softmax</a:t>
            </a:r>
            <a:endParaRPr lang="en-US" sz="1400" dirty="0"/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7076136" y="2160608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Double Bracket 59"/>
          <p:cNvSpPr/>
          <p:nvPr/>
        </p:nvSpPr>
        <p:spPr>
          <a:xfrm>
            <a:off x="7025218" y="1574593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61" name="Double Bracket 60"/>
          <p:cNvSpPr/>
          <p:nvPr/>
        </p:nvSpPr>
        <p:spPr>
          <a:xfrm>
            <a:off x="8429571" y="2547730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678791" y="2193336"/>
            <a:ext cx="85635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crossEnt</a:t>
            </a:r>
            <a:endParaRPr lang="en-US" sz="1200" dirty="0"/>
          </a:p>
        </p:txBody>
      </p:sp>
      <p:cxnSp>
        <p:nvCxnSpPr>
          <p:cNvPr id="6" name="Straight Arrow Connector 5"/>
          <p:cNvCxnSpPr>
            <a:endCxn id="62" idx="1"/>
          </p:cNvCxnSpPr>
          <p:nvPr/>
        </p:nvCxnSpPr>
        <p:spPr>
          <a:xfrm>
            <a:off x="7487138" y="2214926"/>
            <a:ext cx="191653" cy="131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61" idx="1"/>
          </p:cNvCxnSpPr>
          <p:nvPr/>
        </p:nvCxnSpPr>
        <p:spPr>
          <a:xfrm flipH="1" flipV="1">
            <a:off x="8106966" y="2565641"/>
            <a:ext cx="322605" cy="285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2" idx="0"/>
          </p:cNvCxnSpPr>
          <p:nvPr/>
        </p:nvCxnSpPr>
        <p:spPr>
          <a:xfrm flipV="1">
            <a:off x="8106966" y="1871027"/>
            <a:ext cx="237633" cy="322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344599" y="157459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307549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0" y="3366291"/>
            <a:ext cx="3768592" cy="23391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sz="1600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sz="1600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add*(Z1a,B1)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sz="1600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sz="1600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sz="1600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add*(Z2a,B2) </a:t>
            </a: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A2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(Z2b)     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 element-wise</a:t>
            </a:r>
            <a:endParaRPr lang="en-US" sz="1600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sz="1600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sz="1600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sz="1600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sz="1600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sz="1600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292100"/>
            <a:ext cx="8648700" cy="804862"/>
          </a:xfrm>
        </p:spPr>
        <p:txBody>
          <a:bodyPr/>
          <a:lstStyle/>
          <a:p>
            <a:r>
              <a:rPr lang="en-US" dirty="0"/>
              <a:t>Example: 2-layer neural network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C187B27-FC3C-A139-F76D-A12C47154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781800" y="6445250"/>
            <a:ext cx="2133600" cy="365125"/>
          </a:xfrm>
        </p:spPr>
        <p:txBody>
          <a:bodyPr/>
          <a:lstStyle/>
          <a:p>
            <a:fld id="{85BFDCA1-C2F8-BA4E-82CE-5B3B1AA6CE7D}" type="slidenum">
              <a:rPr lang="en-US" smtClean="0"/>
              <a:pPr/>
              <a:t>75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58669" y="1194364"/>
            <a:ext cx="3733823" cy="2123490"/>
            <a:chOff x="5011377" y="2154534"/>
            <a:chExt cx="4132623" cy="2392885"/>
          </a:xfrm>
        </p:grpSpPr>
        <p:pic>
          <p:nvPicPr>
            <p:cNvPr id="7" name="Picture 6" descr="Screen Shot 2016-04-08 at 5.28.51 PM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9288"/>
            <a:stretch/>
          </p:blipFill>
          <p:spPr>
            <a:xfrm>
              <a:off x="5011378" y="2888758"/>
              <a:ext cx="4132622" cy="525491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8903" y="4093144"/>
              <a:ext cx="360516" cy="184880"/>
            </a:xfrm>
            <a:prstGeom prst="rect">
              <a:avLst/>
            </a:prstGeom>
          </p:spPr>
        </p:pic>
        <p:pic>
          <p:nvPicPr>
            <p:cNvPr id="9" name="Picture 8" descr="Screen Shot 2016-04-08 at 5.28.51 PM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6830" b="10127"/>
            <a:stretch/>
          </p:blipFill>
          <p:spPr>
            <a:xfrm>
              <a:off x="5011377" y="3382705"/>
              <a:ext cx="4132622" cy="565355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5316092" y="3950969"/>
              <a:ext cx="90281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Book Antiqua"/>
                </a:rPr>
                <a:t>return</a:t>
              </a:r>
              <a:endParaRPr lang="en-US" dirty="0">
                <a:solidFill>
                  <a:prstClr val="black"/>
                </a:solidFill>
                <a:latin typeface="Book Antiqua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19289" y="2531806"/>
              <a:ext cx="3433097" cy="2015613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Book Antiqu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219289" y="2554644"/>
              <a:ext cx="9738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prstClr val="black"/>
                  </a:solidFill>
                  <a:latin typeface="Book Antiqua"/>
                </a:rPr>
                <a:t>inputs:</a:t>
              </a:r>
              <a:endParaRPr lang="en-US" dirty="0">
                <a:solidFill>
                  <a:prstClr val="black"/>
                </a:solidFill>
                <a:latin typeface="Book Antiqua"/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8903" y="2679624"/>
              <a:ext cx="1900903" cy="251927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5219289" y="2154534"/>
              <a:ext cx="1936024" cy="416187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marL="0" lvl="1"/>
              <a:r>
                <a:rPr lang="en-US" dirty="0">
                  <a:solidFill>
                    <a:prstClr val="black"/>
                  </a:solidFill>
                  <a:latin typeface="Book Antiqua"/>
                </a:rPr>
                <a:t>Step 1: forward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750842" y="1161792"/>
            <a:ext cx="3978963" cy="1981826"/>
            <a:chOff x="4317866" y="4351079"/>
            <a:chExt cx="4523105" cy="2416791"/>
          </a:xfrm>
        </p:grpSpPr>
        <p:pic>
          <p:nvPicPr>
            <p:cNvPr id="17" name="Picture 16" descr="Screen Shot 2016-04-08 at 5.35.00 PM.png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309"/>
            <a:stretch/>
          </p:blipFill>
          <p:spPr>
            <a:xfrm>
              <a:off x="4317866" y="4711290"/>
              <a:ext cx="4523105" cy="205658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8" name="TextBox 17"/>
            <p:cNvSpPr txBox="1"/>
            <p:nvPr/>
          </p:nvSpPr>
          <p:spPr>
            <a:xfrm>
              <a:off x="4317866" y="4351079"/>
              <a:ext cx="2141018" cy="450392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pPr marL="0" lvl="1"/>
              <a:r>
                <a:rPr lang="en-US" dirty="0">
                  <a:solidFill>
                    <a:prstClr val="black"/>
                  </a:solidFill>
                  <a:latin typeface="Book Antiqua"/>
                </a:rPr>
                <a:t>Step 1: </a:t>
              </a:r>
              <a:r>
                <a:rPr lang="en-US" dirty="0" err="1">
                  <a:solidFill>
                    <a:prstClr val="black"/>
                  </a:solidFill>
                  <a:latin typeface="Book Antiqua"/>
                </a:rPr>
                <a:t>backprop</a:t>
              </a:r>
              <a:endParaRPr lang="en-US" dirty="0">
                <a:solidFill>
                  <a:prstClr val="black"/>
                </a:solidFill>
                <a:latin typeface="Book Antiqua"/>
              </a:endParaRPr>
            </a:p>
          </p:txBody>
        </p:sp>
      </p:grpSp>
      <p:cxnSp>
        <p:nvCxnSpPr>
          <p:cNvPr id="20" name="Straight Connector 19"/>
          <p:cNvCxnSpPr/>
          <p:nvPr/>
        </p:nvCxnSpPr>
        <p:spPr>
          <a:xfrm>
            <a:off x="342060" y="5387706"/>
            <a:ext cx="3292309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68592" y="3171162"/>
            <a:ext cx="5375407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= 1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/Z2b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*/dZ2a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/dB2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*/dB2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/dA1 = …</a:t>
            </a:r>
          </a:p>
          <a:p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8669" y="6362194"/>
            <a:ext cx="4592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Book Antiqua"/>
              </a:rPr>
              <a:t>Target Y;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rows;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K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outs;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D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feats,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H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hidden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 </a:t>
            </a:r>
            <a:endParaRPr lang="en-US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7230771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/>
          <p:cNvSpPr txBox="1"/>
          <p:nvPr/>
        </p:nvSpPr>
        <p:spPr>
          <a:xfrm>
            <a:off x="0" y="3366291"/>
            <a:ext cx="3768592" cy="23391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Inputs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: X,W1,B1,W2,B2</a:t>
            </a: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Z1a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(X,W1)  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 matrix </a:t>
            </a:r>
            <a:r>
              <a:rPr lang="en-US" sz="1600" dirty="0" err="1">
                <a:solidFill>
                  <a:prstClr val="black"/>
                </a:solidFill>
                <a:latin typeface="Cambria Math"/>
                <a:cs typeface="Cambria Math"/>
              </a:rPr>
              <a:t>mult</a:t>
            </a:r>
            <a:endParaRPr lang="en-US" sz="1600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Z1b = add*(Z1a,B1)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 add bias </a:t>
            </a:r>
            <a:r>
              <a:rPr lang="en-US" sz="1600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sz="1600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A1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(Z1b)      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//element-wise</a:t>
            </a:r>
            <a:endParaRPr lang="en-US" sz="1600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Z2a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mul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(A1,W2) </a:t>
            </a: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Z2b = add*(Z2a,B2) </a:t>
            </a: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A2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tanh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(Z2b)     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 element-wise</a:t>
            </a:r>
            <a:endParaRPr lang="en-US" sz="1600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P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softMax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(A2)   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 </a:t>
            </a:r>
            <a:r>
              <a:rPr lang="en-US" sz="1600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 to </a:t>
            </a:r>
            <a:r>
              <a:rPr lang="en-US" sz="1600" dirty="0" err="1">
                <a:solidFill>
                  <a:prstClr val="black"/>
                </a:solidFill>
                <a:latin typeface="Cambria Math"/>
                <a:cs typeface="Cambria Math"/>
              </a:rPr>
              <a:t>vec</a:t>
            </a:r>
            <a:endParaRPr lang="en-US" sz="1600" dirty="0">
              <a:solidFill>
                <a:prstClr val="black"/>
              </a:solidFill>
              <a:latin typeface="Cambria Math"/>
              <a:cs typeface="Cambria Math"/>
            </a:endParaRPr>
          </a:p>
          <a:p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C = </a:t>
            </a:r>
            <a:r>
              <a:rPr lang="en-US" sz="16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crossEnt</a:t>
            </a:r>
            <a:r>
              <a:rPr lang="en-US" sz="1600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sz="1600" dirty="0">
                <a:solidFill>
                  <a:prstClr val="black"/>
                </a:solidFill>
                <a:latin typeface="American Typewriter"/>
                <a:cs typeface="American Typewriter"/>
              </a:rPr>
              <a:t>(P)        </a:t>
            </a:r>
            <a:r>
              <a:rPr lang="en-US" sz="1600" dirty="0">
                <a:solidFill>
                  <a:prstClr val="black"/>
                </a:solidFill>
                <a:latin typeface="Cambria Math"/>
                <a:cs typeface="Cambria Math"/>
              </a:rPr>
              <a:t>// cost function</a:t>
            </a:r>
            <a:endParaRPr lang="en-US" sz="1600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2-layer neural network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342060" y="5387706"/>
            <a:ext cx="3292309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68592" y="3171162"/>
            <a:ext cx="5375407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= 1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/Z2b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*/dZ2a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/dB2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*/dB2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/dA1 = …</a:t>
            </a:r>
          </a:p>
          <a:p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8669" y="6362194"/>
            <a:ext cx="4592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Book Antiqua"/>
              </a:rPr>
              <a:t>Target Y;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N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rows;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K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outs;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D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feats, 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H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hidden</a:t>
            </a:r>
            <a:r>
              <a:rPr lang="en-US" i="1" dirty="0">
                <a:solidFill>
                  <a:prstClr val="black"/>
                </a:solidFill>
                <a:latin typeface="Book Antiqua"/>
              </a:rPr>
              <a:t> </a:t>
            </a:r>
            <a:endParaRPr lang="en-US" dirty="0">
              <a:solidFill>
                <a:prstClr val="black"/>
              </a:solidFill>
              <a:latin typeface="Book Antiqu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34420" y="3309803"/>
            <a:ext cx="65518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76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27" name="Double Bracket 26"/>
          <p:cNvSpPr/>
          <p:nvPr/>
        </p:nvSpPr>
        <p:spPr>
          <a:xfrm>
            <a:off x="-2241256" y="1489809"/>
            <a:ext cx="559699" cy="63304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28" name="Double Bracket 27"/>
          <p:cNvSpPr/>
          <p:nvPr/>
        </p:nvSpPr>
        <p:spPr>
          <a:xfrm>
            <a:off x="-1600821" y="1485434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29" name="Double Bracket 28"/>
          <p:cNvSpPr/>
          <p:nvPr/>
        </p:nvSpPr>
        <p:spPr>
          <a:xfrm>
            <a:off x="-658486" y="148543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Z1A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-1681556" y="2328778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mul</a:t>
            </a:r>
            <a:endParaRPr lang="en-US" sz="1400" dirty="0"/>
          </a:p>
        </p:txBody>
      </p:sp>
      <p:cxnSp>
        <p:nvCxnSpPr>
          <p:cNvPr id="34" name="Straight Arrow Connector 33"/>
          <p:cNvCxnSpPr>
            <a:endCxn id="53" idx="1"/>
          </p:cNvCxnSpPr>
          <p:nvPr/>
        </p:nvCxnSpPr>
        <p:spPr>
          <a:xfrm>
            <a:off x="-1982448" y="2164246"/>
            <a:ext cx="300892" cy="317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53" idx="0"/>
          </p:cNvCxnSpPr>
          <p:nvPr/>
        </p:nvCxnSpPr>
        <p:spPr>
          <a:xfrm flipH="1">
            <a:off x="-1432754" y="1967498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53" idx="3"/>
          </p:cNvCxnSpPr>
          <p:nvPr/>
        </p:nvCxnSpPr>
        <p:spPr>
          <a:xfrm flipV="1">
            <a:off x="-1183952" y="2092673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Double Bracket 38"/>
          <p:cNvSpPr/>
          <p:nvPr/>
        </p:nvSpPr>
        <p:spPr>
          <a:xfrm>
            <a:off x="146262" y="1485434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B1</a:t>
            </a:r>
            <a:endParaRPr lang="en-US" dirty="0"/>
          </a:p>
        </p:txBody>
      </p:sp>
      <p:sp>
        <p:nvSpPr>
          <p:cNvPr id="40" name="Rounded Rectangle 39"/>
          <p:cNvSpPr/>
          <p:nvPr/>
        </p:nvSpPr>
        <p:spPr>
          <a:xfrm>
            <a:off x="54549" y="2369260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-306048" y="2164246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H="1">
            <a:off x="350989" y="1747717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Double Bracket 43"/>
          <p:cNvSpPr/>
          <p:nvPr/>
        </p:nvSpPr>
        <p:spPr>
          <a:xfrm>
            <a:off x="951010" y="1505794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/>
              <a:t>Z1B</a:t>
            </a:r>
            <a:endParaRPr lang="en-US" dirty="0"/>
          </a:p>
        </p:txBody>
      </p:sp>
      <p:cxnSp>
        <p:nvCxnSpPr>
          <p:cNvPr id="45" name="Straight Arrow Connector 44"/>
          <p:cNvCxnSpPr/>
          <p:nvPr/>
        </p:nvCxnSpPr>
        <p:spPr>
          <a:xfrm flipV="1">
            <a:off x="647429" y="2210089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Double Bracket 45"/>
          <p:cNvSpPr/>
          <p:nvPr/>
        </p:nvSpPr>
        <p:spPr>
          <a:xfrm>
            <a:off x="1849306" y="1503063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38701" y="239463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1306610" y="2181999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V="1">
            <a:off x="1953461" y="209267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uble Bracket 49"/>
          <p:cNvSpPr/>
          <p:nvPr/>
        </p:nvSpPr>
        <p:spPr>
          <a:xfrm>
            <a:off x="2718097" y="1581370"/>
            <a:ext cx="711200" cy="405680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51" name="Double Bracket 50"/>
          <p:cNvSpPr/>
          <p:nvPr/>
        </p:nvSpPr>
        <p:spPr>
          <a:xfrm>
            <a:off x="3660432" y="158137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37362" y="2424714"/>
            <a:ext cx="497604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mul</a:t>
            </a:r>
            <a:endParaRPr lang="en-US" sz="1200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2886164" y="2063434"/>
            <a:ext cx="187533" cy="3612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3134966" y="2188609"/>
            <a:ext cx="525466" cy="389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Double Bracket 54"/>
          <p:cNvSpPr/>
          <p:nvPr/>
        </p:nvSpPr>
        <p:spPr>
          <a:xfrm>
            <a:off x="4465180" y="1581370"/>
            <a:ext cx="711200" cy="18280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73467" y="2465196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add*</a:t>
            </a:r>
            <a:endParaRPr lang="en-US" sz="1400" dirty="0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4012870" y="2260182"/>
            <a:ext cx="358762" cy="22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H="1">
            <a:off x="4669907" y="1843653"/>
            <a:ext cx="229026" cy="621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Double Bracket 58"/>
          <p:cNvSpPr/>
          <p:nvPr/>
        </p:nvSpPr>
        <p:spPr>
          <a:xfrm>
            <a:off x="5269928" y="1601730"/>
            <a:ext cx="711200" cy="654772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Z2B</a:t>
            </a:r>
          </a:p>
        </p:txBody>
      </p:sp>
      <p:cxnSp>
        <p:nvCxnSpPr>
          <p:cNvPr id="60" name="Straight Arrow Connector 59"/>
          <p:cNvCxnSpPr/>
          <p:nvPr/>
        </p:nvCxnSpPr>
        <p:spPr>
          <a:xfrm flipV="1">
            <a:off x="4966347" y="2306025"/>
            <a:ext cx="414760" cy="3122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>
            <a:off x="5625528" y="2277935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>
            <a:off x="2432629" y="2188609"/>
            <a:ext cx="216823" cy="2710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5828728" y="2490347"/>
            <a:ext cx="59288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tanh</a:t>
            </a:r>
            <a:endParaRPr lang="en-US" sz="1400" dirty="0"/>
          </a:p>
        </p:txBody>
      </p:sp>
      <p:cxnSp>
        <p:nvCxnSpPr>
          <p:cNvPr id="64" name="Straight Arrow Connector 63"/>
          <p:cNvCxnSpPr/>
          <p:nvPr/>
        </p:nvCxnSpPr>
        <p:spPr>
          <a:xfrm flipV="1">
            <a:off x="6243488" y="2188383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Double Bracket 64"/>
          <p:cNvSpPr/>
          <p:nvPr/>
        </p:nvSpPr>
        <p:spPr>
          <a:xfrm>
            <a:off x="6168224" y="1601730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A2</a:t>
            </a:r>
          </a:p>
        </p:txBody>
      </p:sp>
      <p:cxnSp>
        <p:nvCxnSpPr>
          <p:cNvPr id="66" name="Straight Arrow Connector 65"/>
          <p:cNvCxnSpPr/>
          <p:nvPr/>
        </p:nvCxnSpPr>
        <p:spPr>
          <a:xfrm>
            <a:off x="6607342" y="2258372"/>
            <a:ext cx="255219" cy="181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763650" y="2478009"/>
            <a:ext cx="85635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softmax</a:t>
            </a:r>
            <a:endParaRPr lang="en-US" sz="1400" dirty="0"/>
          </a:p>
        </p:txBody>
      </p:sp>
      <p:cxnSp>
        <p:nvCxnSpPr>
          <p:cNvPr id="68" name="Straight Arrow Connector 67"/>
          <p:cNvCxnSpPr/>
          <p:nvPr/>
        </p:nvCxnSpPr>
        <p:spPr>
          <a:xfrm flipV="1">
            <a:off x="7076136" y="2160608"/>
            <a:ext cx="292269" cy="3091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Double Bracket 68"/>
          <p:cNvSpPr/>
          <p:nvPr/>
        </p:nvSpPr>
        <p:spPr>
          <a:xfrm>
            <a:off x="7025218" y="1574593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70" name="Double Bracket 69"/>
          <p:cNvSpPr/>
          <p:nvPr/>
        </p:nvSpPr>
        <p:spPr>
          <a:xfrm>
            <a:off x="8429571" y="2547730"/>
            <a:ext cx="692436" cy="606216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78791" y="2193336"/>
            <a:ext cx="856350" cy="3061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crossEnt</a:t>
            </a:r>
            <a:endParaRPr lang="en-US" sz="1200" dirty="0"/>
          </a:p>
        </p:txBody>
      </p:sp>
      <p:cxnSp>
        <p:nvCxnSpPr>
          <p:cNvPr id="72" name="Straight Arrow Connector 71"/>
          <p:cNvCxnSpPr/>
          <p:nvPr/>
        </p:nvCxnSpPr>
        <p:spPr>
          <a:xfrm>
            <a:off x="7487138" y="2214926"/>
            <a:ext cx="191653" cy="1315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 flipV="1">
            <a:off x="8106966" y="2565641"/>
            <a:ext cx="322605" cy="2851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8106966" y="1871027"/>
            <a:ext cx="237633" cy="3223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344599" y="1574593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87138" y="3696769"/>
            <a:ext cx="655188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i="1" dirty="0">
                <a:solidFill>
                  <a:prstClr val="black"/>
                </a:solidFill>
                <a:latin typeface="Book Antiqua"/>
              </a:rPr>
              <a:t>N*K</a:t>
            </a:r>
          </a:p>
        </p:txBody>
      </p:sp>
    </p:spTree>
    <p:extLst>
      <p:ext uri="{BB962C8B-B14F-4D97-AF65-F5344CB8AC3E}">
        <p14:creationId xmlns:p14="http://schemas.microsoft.com/office/powerpoint/2010/main" val="14748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7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9842"/>
            <a:ext cx="8648700" cy="804862"/>
          </a:xfrm>
        </p:spPr>
        <p:txBody>
          <a:bodyPr/>
          <a:lstStyle/>
          <a:p>
            <a:r>
              <a:rPr lang="en-US" dirty="0"/>
              <a:t>Example: 2-layer neural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2693" y="1555858"/>
            <a:ext cx="5052827" cy="4247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= 1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*/dZ2a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/dB2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*/dB2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/dZ2a *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/dA1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/dW2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/dZ2a *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/dW2</a:t>
            </a:r>
          </a:p>
          <a:p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/dZ1b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/dA1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/dZ1b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*/dZ1a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/dB1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*/dB1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/dZ1a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*/dZ1a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/dW1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/dZ1a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*/dW1</a:t>
            </a:r>
          </a:p>
          <a:p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77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40560" y="6258560"/>
            <a:ext cx="348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0560" y="5554504"/>
            <a:ext cx="34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6489" y="5006976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6489" y="4372226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0889" y="3686133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6489" y="3686133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Z2a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76489" y="3125137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76489" y="2490387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Z1b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0889" y="1804294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6489" y="1804294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Z1a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0889" y="2986496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0889" y="1174417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6489" y="1183963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19" name="Straight Arrow Connector 18"/>
          <p:cNvCxnSpPr>
            <a:stCxn id="44" idx="2"/>
            <a:endCxn id="40" idx="0"/>
          </p:cNvCxnSpPr>
          <p:nvPr/>
        </p:nvCxnSpPr>
        <p:spPr>
          <a:xfrm>
            <a:off x="2111769" y="1553295"/>
            <a:ext cx="0" cy="2509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0" idx="2"/>
            <a:endCxn id="37" idx="0"/>
          </p:cNvCxnSpPr>
          <p:nvPr/>
        </p:nvCxnSpPr>
        <p:spPr>
          <a:xfrm>
            <a:off x="2111769" y="2173626"/>
            <a:ext cx="0" cy="3167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37" idx="2"/>
            <a:endCxn id="35" idx="0"/>
          </p:cNvCxnSpPr>
          <p:nvPr/>
        </p:nvCxnSpPr>
        <p:spPr>
          <a:xfrm>
            <a:off x="2111769" y="2859719"/>
            <a:ext cx="0" cy="2654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5" idx="2"/>
            <a:endCxn id="34" idx="0"/>
          </p:cNvCxnSpPr>
          <p:nvPr/>
        </p:nvCxnSpPr>
        <p:spPr>
          <a:xfrm>
            <a:off x="2111769" y="3494469"/>
            <a:ext cx="0" cy="1916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4" idx="2"/>
            <a:endCxn id="29" idx="0"/>
          </p:cNvCxnSpPr>
          <p:nvPr/>
        </p:nvCxnSpPr>
        <p:spPr>
          <a:xfrm>
            <a:off x="2111769" y="4055465"/>
            <a:ext cx="0" cy="3167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2"/>
            <a:endCxn id="28" idx="0"/>
          </p:cNvCxnSpPr>
          <p:nvPr/>
        </p:nvCxnSpPr>
        <p:spPr>
          <a:xfrm>
            <a:off x="2111769" y="4741558"/>
            <a:ext cx="0" cy="2654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28" idx="2"/>
            <a:endCxn id="5" idx="0"/>
          </p:cNvCxnSpPr>
          <p:nvPr/>
        </p:nvCxnSpPr>
        <p:spPr>
          <a:xfrm>
            <a:off x="2111769" y="5376308"/>
            <a:ext cx="2953" cy="1781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5" idx="2"/>
            <a:endCxn id="4" idx="0"/>
          </p:cNvCxnSpPr>
          <p:nvPr/>
        </p:nvCxnSpPr>
        <p:spPr>
          <a:xfrm>
            <a:off x="2114722" y="5923836"/>
            <a:ext cx="0" cy="3347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33" idx="2"/>
            <a:endCxn id="29" idx="3"/>
          </p:cNvCxnSpPr>
          <p:nvPr/>
        </p:nvCxnSpPr>
        <p:spPr>
          <a:xfrm flipH="1">
            <a:off x="2447049" y="4055465"/>
            <a:ext cx="579120" cy="5014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2" idx="2"/>
            <a:endCxn id="34" idx="3"/>
          </p:cNvCxnSpPr>
          <p:nvPr/>
        </p:nvCxnSpPr>
        <p:spPr>
          <a:xfrm flipH="1">
            <a:off x="2447049" y="3355828"/>
            <a:ext cx="579120" cy="514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39" idx="2"/>
            <a:endCxn id="37" idx="3"/>
          </p:cNvCxnSpPr>
          <p:nvPr/>
        </p:nvCxnSpPr>
        <p:spPr>
          <a:xfrm flipH="1">
            <a:off x="2447049" y="2173626"/>
            <a:ext cx="579120" cy="5014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3" idx="2"/>
            <a:endCxn id="40" idx="3"/>
          </p:cNvCxnSpPr>
          <p:nvPr/>
        </p:nvCxnSpPr>
        <p:spPr>
          <a:xfrm flipH="1">
            <a:off x="2447049" y="1543749"/>
            <a:ext cx="579120" cy="4452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21894" y="5923836"/>
            <a:ext cx="1118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</a:t>
            </a:r>
            <a:r>
              <a:rPr lang="en-US" baseline="-25000" dirty="0" err="1"/>
              <a:t>Y</a:t>
            </a:r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821894" y="5369838"/>
            <a:ext cx="999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861023" y="4741558"/>
            <a:ext cx="644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tanh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884274" y="405930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299" y="348236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mul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884274" y="2815054"/>
            <a:ext cx="644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tanh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907525" y="210728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9550" y="155585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mul</a:t>
            </a:r>
            <a:endParaRPr lang="en-US" dirty="0"/>
          </a:p>
        </p:txBody>
      </p:sp>
      <p:sp>
        <p:nvSpPr>
          <p:cNvPr id="73" name="Right Arrow 72"/>
          <p:cNvSpPr/>
          <p:nvPr/>
        </p:nvSpPr>
        <p:spPr>
          <a:xfrm>
            <a:off x="7640320" y="2986496"/>
            <a:ext cx="538480" cy="1978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Arrow 74"/>
          <p:cNvSpPr/>
          <p:nvPr/>
        </p:nvSpPr>
        <p:spPr>
          <a:xfrm>
            <a:off x="7640320" y="3587188"/>
            <a:ext cx="538480" cy="1978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Arrow 75"/>
          <p:cNvSpPr/>
          <p:nvPr/>
        </p:nvSpPr>
        <p:spPr>
          <a:xfrm>
            <a:off x="7711440" y="5178828"/>
            <a:ext cx="538480" cy="1978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7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5" grpId="0" animBg="1"/>
      <p:bldP spid="7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400" y="9842"/>
            <a:ext cx="8648700" cy="804862"/>
          </a:xfrm>
        </p:spPr>
        <p:txBody>
          <a:bodyPr/>
          <a:lstStyle/>
          <a:p>
            <a:r>
              <a:rPr lang="en-US" dirty="0"/>
              <a:t>Example: 2-layer neural network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2693" y="1555858"/>
            <a:ext cx="5052827" cy="4247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= 1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dCrossEnt</a:t>
            </a:r>
            <a:r>
              <a:rPr lang="en-US" baseline="-25000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Y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dP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dsoftmax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/dA2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*/dZ2a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/dB2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*/dB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/dZ2a *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/dA1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/dW2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/dZ2a *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/dW2</a:t>
            </a:r>
          </a:p>
          <a:p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/dZ1b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/dA1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dtanh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/dZ1b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/dZ1a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*/dZ1a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/dB1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/dZ1b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dadd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*/dB</a:t>
            </a:r>
          </a:p>
          <a:p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dX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/dZ1a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*/dZ1a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/dW1 =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dC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/dZ1a * </a:t>
            </a:r>
            <a:r>
              <a:rPr lang="en-US" dirty="0" err="1">
                <a:solidFill>
                  <a:prstClr val="black"/>
                </a:solidFill>
                <a:latin typeface="American Typewriter"/>
                <a:cs typeface="American Typewriter"/>
              </a:rPr>
              <a:t>dmul</a:t>
            </a:r>
            <a:r>
              <a:rPr lang="en-US" dirty="0">
                <a:solidFill>
                  <a:prstClr val="black"/>
                </a:solidFill>
                <a:latin typeface="American Typewriter"/>
                <a:cs typeface="American Typewriter"/>
              </a:rPr>
              <a:t>*/dW1</a:t>
            </a:r>
          </a:p>
          <a:p>
            <a:endParaRPr lang="en-US" dirty="0">
              <a:solidFill>
                <a:prstClr val="black"/>
              </a:solidFill>
              <a:latin typeface="American Typewriter"/>
              <a:cs typeface="American Typewriter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BFDCA1-C2F8-BA4E-82CE-5B3B1AA6CE7D}" type="slidenum">
              <a:rPr lang="en-US" smtClean="0">
                <a:solidFill>
                  <a:prstClr val="black">
                    <a:tint val="75000"/>
                  </a:prstClr>
                </a:solidFill>
                <a:latin typeface="Book Antiqua"/>
              </a:rPr>
              <a:pPr/>
              <a:t>78</a:t>
            </a:fld>
            <a:endParaRPr lang="en-US">
              <a:solidFill>
                <a:prstClr val="black">
                  <a:tint val="75000"/>
                </a:prstClr>
              </a:solidFill>
              <a:latin typeface="Book Antiqu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40560" y="6258560"/>
            <a:ext cx="348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40560" y="5554504"/>
            <a:ext cx="348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6489" y="5006976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6489" y="4372226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Z2b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0889" y="3686133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76489" y="3686133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Z2a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76489" y="3125137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76489" y="2490387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Z1b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0889" y="1804294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76489" y="1804294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Z1a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0889" y="2986496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0889" y="1174417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76489" y="1183963"/>
            <a:ext cx="67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X</a:t>
            </a:r>
          </a:p>
        </p:txBody>
      </p:sp>
      <p:cxnSp>
        <p:nvCxnSpPr>
          <p:cNvPr id="19" name="Straight Arrow Connector 18"/>
          <p:cNvCxnSpPr>
            <a:stCxn id="44" idx="2"/>
            <a:endCxn id="40" idx="0"/>
          </p:cNvCxnSpPr>
          <p:nvPr/>
        </p:nvCxnSpPr>
        <p:spPr>
          <a:xfrm>
            <a:off x="2111769" y="1553295"/>
            <a:ext cx="0" cy="2509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40" idx="2"/>
            <a:endCxn id="37" idx="0"/>
          </p:cNvCxnSpPr>
          <p:nvPr/>
        </p:nvCxnSpPr>
        <p:spPr>
          <a:xfrm>
            <a:off x="2111769" y="2173626"/>
            <a:ext cx="0" cy="3167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37" idx="2"/>
            <a:endCxn id="35" idx="0"/>
          </p:cNvCxnSpPr>
          <p:nvPr/>
        </p:nvCxnSpPr>
        <p:spPr>
          <a:xfrm>
            <a:off x="2111769" y="2859719"/>
            <a:ext cx="0" cy="2654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35" idx="2"/>
            <a:endCxn id="34" idx="0"/>
          </p:cNvCxnSpPr>
          <p:nvPr/>
        </p:nvCxnSpPr>
        <p:spPr>
          <a:xfrm>
            <a:off x="2111769" y="3494469"/>
            <a:ext cx="0" cy="1916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4" idx="2"/>
            <a:endCxn id="29" idx="0"/>
          </p:cNvCxnSpPr>
          <p:nvPr/>
        </p:nvCxnSpPr>
        <p:spPr>
          <a:xfrm>
            <a:off x="2111769" y="4055465"/>
            <a:ext cx="0" cy="31676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9" idx="2"/>
            <a:endCxn id="28" idx="0"/>
          </p:cNvCxnSpPr>
          <p:nvPr/>
        </p:nvCxnSpPr>
        <p:spPr>
          <a:xfrm>
            <a:off x="2111769" y="4741558"/>
            <a:ext cx="0" cy="26541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28" idx="2"/>
            <a:endCxn id="5" idx="0"/>
          </p:cNvCxnSpPr>
          <p:nvPr/>
        </p:nvCxnSpPr>
        <p:spPr>
          <a:xfrm>
            <a:off x="2111769" y="5376308"/>
            <a:ext cx="2953" cy="17819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5" idx="2"/>
            <a:endCxn id="4" idx="0"/>
          </p:cNvCxnSpPr>
          <p:nvPr/>
        </p:nvCxnSpPr>
        <p:spPr>
          <a:xfrm>
            <a:off x="2114722" y="5923836"/>
            <a:ext cx="0" cy="3347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33" idx="2"/>
            <a:endCxn id="29" idx="3"/>
          </p:cNvCxnSpPr>
          <p:nvPr/>
        </p:nvCxnSpPr>
        <p:spPr>
          <a:xfrm flipH="1">
            <a:off x="2447049" y="4055465"/>
            <a:ext cx="579120" cy="5014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2" idx="2"/>
            <a:endCxn id="34" idx="3"/>
          </p:cNvCxnSpPr>
          <p:nvPr/>
        </p:nvCxnSpPr>
        <p:spPr>
          <a:xfrm flipH="1">
            <a:off x="2447049" y="3355828"/>
            <a:ext cx="579120" cy="5149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39" idx="2"/>
            <a:endCxn id="37" idx="3"/>
          </p:cNvCxnSpPr>
          <p:nvPr/>
        </p:nvCxnSpPr>
        <p:spPr>
          <a:xfrm flipH="1">
            <a:off x="2447049" y="2173626"/>
            <a:ext cx="579120" cy="50142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>
            <a:stCxn id="43" idx="2"/>
            <a:endCxn id="40" idx="3"/>
          </p:cNvCxnSpPr>
          <p:nvPr/>
        </p:nvCxnSpPr>
        <p:spPr>
          <a:xfrm flipH="1">
            <a:off x="2447049" y="1543749"/>
            <a:ext cx="579120" cy="44521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21894" y="5923836"/>
            <a:ext cx="1118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crossent</a:t>
            </a:r>
            <a:r>
              <a:rPr lang="en-US" baseline="-25000" dirty="0" err="1"/>
              <a:t>Y</a:t>
            </a:r>
            <a:endParaRPr lang="en-US" dirty="0"/>
          </a:p>
        </p:txBody>
      </p:sp>
      <p:sp>
        <p:nvSpPr>
          <p:cNvPr id="66" name="TextBox 65"/>
          <p:cNvSpPr txBox="1"/>
          <p:nvPr/>
        </p:nvSpPr>
        <p:spPr>
          <a:xfrm>
            <a:off x="821894" y="5369838"/>
            <a:ext cx="999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softmax</a:t>
            </a:r>
            <a:endParaRPr lang="en-US" dirty="0"/>
          </a:p>
        </p:txBody>
      </p:sp>
      <p:sp>
        <p:nvSpPr>
          <p:cNvPr id="67" name="TextBox 66"/>
          <p:cNvSpPr txBox="1"/>
          <p:nvPr/>
        </p:nvSpPr>
        <p:spPr>
          <a:xfrm>
            <a:off x="861023" y="4741558"/>
            <a:ext cx="644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tanh</a:t>
            </a:r>
            <a:endParaRPr lang="en-US" dirty="0"/>
          </a:p>
        </p:txBody>
      </p:sp>
      <p:sp>
        <p:nvSpPr>
          <p:cNvPr id="68" name="TextBox 67"/>
          <p:cNvSpPr txBox="1"/>
          <p:nvPr/>
        </p:nvSpPr>
        <p:spPr>
          <a:xfrm>
            <a:off x="884274" y="4059301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299" y="3482362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mul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884274" y="2815054"/>
            <a:ext cx="644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tanh</a:t>
            </a:r>
            <a:endParaRPr lang="en-US" dirty="0"/>
          </a:p>
        </p:txBody>
      </p:sp>
      <p:sp>
        <p:nvSpPr>
          <p:cNvPr id="71" name="TextBox 70"/>
          <p:cNvSpPr txBox="1"/>
          <p:nvPr/>
        </p:nvSpPr>
        <p:spPr>
          <a:xfrm>
            <a:off x="907525" y="2107280"/>
            <a:ext cx="582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9550" y="155585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mul</a:t>
            </a:r>
            <a:endParaRPr lang="en-US" dirty="0"/>
          </a:p>
        </p:txBody>
      </p:sp>
      <p:sp>
        <p:nvSpPr>
          <p:cNvPr id="73" name="Right Arrow 72"/>
          <p:cNvSpPr/>
          <p:nvPr/>
        </p:nvSpPr>
        <p:spPr>
          <a:xfrm>
            <a:off x="7350760" y="3008341"/>
            <a:ext cx="538480" cy="1978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ight Arrow 74"/>
          <p:cNvSpPr/>
          <p:nvPr/>
        </p:nvSpPr>
        <p:spPr>
          <a:xfrm>
            <a:off x="7350760" y="4676377"/>
            <a:ext cx="538480" cy="1978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2447049" y="2173626"/>
            <a:ext cx="928531" cy="2390264"/>
            <a:chOff x="2447049" y="2173626"/>
            <a:chExt cx="928531" cy="2390264"/>
          </a:xfrm>
        </p:grpSpPr>
        <p:cxnSp>
          <p:nvCxnSpPr>
            <p:cNvPr id="41" name="Straight Arrow Connector 40"/>
            <p:cNvCxnSpPr/>
            <p:nvPr/>
          </p:nvCxnSpPr>
          <p:spPr>
            <a:xfrm flipH="1">
              <a:off x="2447049" y="3725160"/>
              <a:ext cx="928531" cy="838730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39" idx="2"/>
            </p:cNvCxnSpPr>
            <p:nvPr/>
          </p:nvCxnSpPr>
          <p:spPr>
            <a:xfrm>
              <a:off x="3026169" y="2173626"/>
              <a:ext cx="335280" cy="155153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4603750" y="644951"/>
            <a:ext cx="3799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with “tied parameters”</a:t>
            </a:r>
          </a:p>
        </p:txBody>
      </p:sp>
    </p:spTree>
    <p:extLst>
      <p:ext uri="{BB962C8B-B14F-4D97-AF65-F5344CB8AC3E}">
        <p14:creationId xmlns:p14="http://schemas.microsoft.com/office/powerpoint/2010/main" val="16051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75" grpId="0" animBg="1"/>
    </p:bldLst>
  </p:timing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3977</TotalTime>
  <Words>4480</Words>
  <Application>Microsoft Macintosh PowerPoint</Application>
  <PresentationFormat>On-screen Show (4:3)</PresentationFormat>
  <Paragraphs>874</Paragraphs>
  <Slides>78</Slides>
  <Notes>44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8" baseType="lpstr">
      <vt:lpstr>American Typewriter</vt:lpstr>
      <vt:lpstr>Arial</vt:lpstr>
      <vt:lpstr>Book Antiqua</vt:lpstr>
      <vt:lpstr>Calibri</vt:lpstr>
      <vt:lpstr>Cambria Math</vt:lpstr>
      <vt:lpstr>Courier New</vt:lpstr>
      <vt:lpstr>Google Sans</vt:lpstr>
      <vt:lpstr>Inconsolata</vt:lpstr>
      <vt:lpstr>Wingdings</vt:lpstr>
      <vt:lpstr>3_Office Theme</vt:lpstr>
      <vt:lpstr>10-605 / 10-405</vt:lpstr>
      <vt:lpstr>Recap: the course so far</vt:lpstr>
      <vt:lpstr>Another application of count-min sketches</vt:lpstr>
      <vt:lpstr>NQL: a Neural Query Language</vt:lpstr>
      <vt:lpstr>NQL: a Neural Query Language</vt:lpstr>
      <vt:lpstr>NQL: a Neural Query Language</vt:lpstr>
      <vt:lpstr>Motivation: Neural QLs for QA over a KB (KBQA)</vt:lpstr>
      <vt:lpstr>Motivation: Neural QLs for QA over a KB (KBQA)</vt:lpstr>
      <vt:lpstr>Motivation: Neural QLs for QA over a KB (KBQA)</vt:lpstr>
      <vt:lpstr>Motivation: Neural QLs for QA over a KB (KBQA)</vt:lpstr>
      <vt:lpstr>KBQA with NQL for WebQuestionsSP</vt:lpstr>
      <vt:lpstr>NQL:  WebQuestionsSP and other KBQA tasks</vt:lpstr>
      <vt:lpstr>NQL:  WebQuestionsSP and other KBQA tasks</vt:lpstr>
      <vt:lpstr>Other concurrent work….</vt:lpstr>
      <vt:lpstr>Recap: Recovering latent factors in a matrix</vt:lpstr>
      <vt:lpstr>Recovering latent structure in a relationship from a KB</vt:lpstr>
      <vt:lpstr>Knowledge Base completion</vt:lpstr>
      <vt:lpstr>Knowledge Base completion</vt:lpstr>
      <vt:lpstr>KB completion</vt:lpstr>
      <vt:lpstr>KB queries on an incomplete KB</vt:lpstr>
      <vt:lpstr>KB queries on an incomplete KB</vt:lpstr>
      <vt:lpstr>KB queries on an incomplete KB</vt:lpstr>
      <vt:lpstr>KB completion vs inference</vt:lpstr>
      <vt:lpstr>Neural QLs compared to KBC</vt:lpstr>
      <vt:lpstr>Neural QLs compared to KB embeddings</vt:lpstr>
      <vt:lpstr>Neural QLs compared to KB embeddings</vt:lpstr>
      <vt:lpstr>CM Sketches  Are Also Neural Networks</vt:lpstr>
      <vt:lpstr>EmQL: centroid-sketch sets </vt:lpstr>
      <vt:lpstr>EmQL: centroid-sketch sets </vt:lpstr>
      <vt:lpstr>EmQL: centroid-sketch sets </vt:lpstr>
      <vt:lpstr>EmQL: centroid-sketch sets </vt:lpstr>
      <vt:lpstr>EmQL: centroid-sketch sets and triples of embeddings as relations </vt:lpstr>
      <vt:lpstr>PowerPoint Presentation</vt:lpstr>
      <vt:lpstr>EmQL Results</vt:lpstr>
      <vt:lpstr>EmQL Results</vt:lpstr>
      <vt:lpstr>Motivation: Neural QLs for QA over a KB (KBQA)</vt:lpstr>
      <vt:lpstr>Neural QLs compared to KB embeddings</vt:lpstr>
      <vt:lpstr>Motivation: Neural QLs for QA over a KB (KBQA)</vt:lpstr>
      <vt:lpstr>EmQL for KBQA</vt:lpstr>
      <vt:lpstr>Automatic Differentiation and Deep Learning</vt:lpstr>
      <vt:lpstr>Motivation</vt:lpstr>
      <vt:lpstr>NQL/EmQL/GQE all lead to complex networks</vt:lpstr>
      <vt:lpstr>NLP analysis chained with NQL/EmQL/GQE is a really complex network</vt:lpstr>
      <vt:lpstr>Recap: Spark Transformations vs Actions</vt:lpstr>
      <vt:lpstr>Automatic differentiation systems</vt:lpstr>
      <vt:lpstr>Autodiff</vt:lpstr>
      <vt:lpstr>Autodiff</vt:lpstr>
      <vt:lpstr>Autodiff: Simple or Confusing?</vt:lpstr>
      <vt:lpstr>Autodiff</vt:lpstr>
      <vt:lpstr>Simple case: a chain of functions</vt:lpstr>
      <vt:lpstr>Differentiating a Wengert list: a simple case</vt:lpstr>
      <vt:lpstr>Differentiating a Wengert list: a simple case</vt:lpstr>
      <vt:lpstr>Differentiating a Wengert list: a simple case</vt:lpstr>
      <vt:lpstr>Autodiff: Breaking It Down</vt:lpstr>
      <vt:lpstr>Autodiff</vt:lpstr>
      <vt:lpstr>Wengert lists: forward (eval)</vt:lpstr>
      <vt:lpstr>Wengert lists: forward (eval)</vt:lpstr>
      <vt:lpstr>Wengert lists: backward (gradients)</vt:lpstr>
      <vt:lpstr>Wengert lists: backward (gradients)</vt:lpstr>
      <vt:lpstr>Wengert lists: backward (gradients)</vt:lpstr>
      <vt:lpstr>Wengert lists: backward (gradients)</vt:lpstr>
      <vt:lpstr>Demo</vt:lpstr>
      <vt:lpstr>PowerPoint Presentation</vt:lpstr>
      <vt:lpstr>PowerPoint Presentation</vt:lpstr>
      <vt:lpstr>Ridge Regression as a Wengert list</vt:lpstr>
      <vt:lpstr>Logistic Regression as a Wengert list</vt:lpstr>
      <vt:lpstr>Logistic Regression as a Wengert list</vt:lpstr>
      <vt:lpstr>Logistic Regression as a Wengert list</vt:lpstr>
      <vt:lpstr>Logistic Regression as a Wengert list</vt:lpstr>
      <vt:lpstr>Notes on Wengert lists</vt:lpstr>
      <vt:lpstr>Notes on Wengert lists</vt:lpstr>
      <vt:lpstr>Optional walkthrus of autodiff for NN</vt:lpstr>
      <vt:lpstr>Example: 2-layer neural network</vt:lpstr>
      <vt:lpstr>Example: 2-layer neural network</vt:lpstr>
      <vt:lpstr>Example: 2-layer neural network</vt:lpstr>
      <vt:lpstr>Example: 2-layer neural network</vt:lpstr>
      <vt:lpstr>Example: 2-layer neural network</vt:lpstr>
      <vt:lpstr>Example: 2-layer neural network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 Cohen</dc:creator>
  <cp:lastModifiedBy>William W Cohen</cp:lastModifiedBy>
  <cp:revision>270</cp:revision>
  <dcterms:created xsi:type="dcterms:W3CDTF">2016-04-03T14:31:03Z</dcterms:created>
  <dcterms:modified xsi:type="dcterms:W3CDTF">2025-02-12T16:37:07Z</dcterms:modified>
</cp:coreProperties>
</file>