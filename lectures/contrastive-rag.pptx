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sldIdLst>
    <p:sldId id="377" r:id="rId2"/>
    <p:sldId id="376" r:id="rId3"/>
    <p:sldId id="556" r:id="rId4"/>
    <p:sldId id="378" r:id="rId5"/>
    <p:sldId id="505" r:id="rId6"/>
    <p:sldId id="504" r:id="rId7"/>
    <p:sldId id="506" r:id="rId8"/>
    <p:sldId id="507" r:id="rId9"/>
    <p:sldId id="508" r:id="rId10"/>
    <p:sldId id="503" r:id="rId11"/>
    <p:sldId id="509" r:id="rId12"/>
    <p:sldId id="510" r:id="rId13"/>
    <p:sldId id="365" r:id="rId14"/>
    <p:sldId id="511" r:id="rId15"/>
    <p:sldId id="478" r:id="rId16"/>
    <p:sldId id="479" r:id="rId17"/>
    <p:sldId id="487" r:id="rId18"/>
    <p:sldId id="485" r:id="rId19"/>
    <p:sldId id="486" r:id="rId20"/>
    <p:sldId id="488" r:id="rId21"/>
    <p:sldId id="490" r:id="rId22"/>
    <p:sldId id="491" r:id="rId23"/>
    <p:sldId id="498" r:id="rId24"/>
    <p:sldId id="492" r:id="rId25"/>
    <p:sldId id="493" r:id="rId26"/>
    <p:sldId id="494" r:id="rId27"/>
    <p:sldId id="496" r:id="rId28"/>
    <p:sldId id="497" r:id="rId29"/>
    <p:sldId id="499" r:id="rId30"/>
    <p:sldId id="500" r:id="rId31"/>
    <p:sldId id="501" r:id="rId32"/>
    <p:sldId id="502" r:id="rId33"/>
    <p:sldId id="529" r:id="rId34"/>
    <p:sldId id="530" r:id="rId35"/>
    <p:sldId id="531" r:id="rId36"/>
    <p:sldId id="532" r:id="rId37"/>
    <p:sldId id="525" r:id="rId38"/>
    <p:sldId id="526" r:id="rId39"/>
    <p:sldId id="527" r:id="rId40"/>
    <p:sldId id="516" r:id="rId41"/>
    <p:sldId id="517" r:id="rId42"/>
    <p:sldId id="518" r:id="rId43"/>
    <p:sldId id="519" r:id="rId44"/>
    <p:sldId id="520" r:id="rId45"/>
    <p:sldId id="522" r:id="rId46"/>
    <p:sldId id="523" r:id="rId47"/>
    <p:sldId id="533" r:id="rId48"/>
    <p:sldId id="534" r:id="rId49"/>
    <p:sldId id="535" r:id="rId50"/>
    <p:sldId id="536" r:id="rId51"/>
    <p:sldId id="537" r:id="rId52"/>
    <p:sldId id="538" r:id="rId53"/>
    <p:sldId id="539" r:id="rId54"/>
    <p:sldId id="540" r:id="rId55"/>
    <p:sldId id="541" r:id="rId56"/>
    <p:sldId id="542" r:id="rId57"/>
    <p:sldId id="543" r:id="rId58"/>
    <p:sldId id="544" r:id="rId59"/>
    <p:sldId id="545" r:id="rId60"/>
    <p:sldId id="546" r:id="rId61"/>
    <p:sldId id="547" r:id="rId62"/>
    <p:sldId id="548" r:id="rId63"/>
    <p:sldId id="512" r:id="rId64"/>
    <p:sldId id="513" r:id="rId65"/>
    <p:sldId id="514" r:id="rId66"/>
    <p:sldId id="515" r:id="rId67"/>
    <p:sldId id="549" r:id="rId68"/>
    <p:sldId id="550" r:id="rId69"/>
    <p:sldId id="551" r:id="rId70"/>
    <p:sldId id="521" r:id="rId71"/>
    <p:sldId id="552" r:id="rId72"/>
    <p:sldId id="524" r:id="rId73"/>
    <p:sldId id="553" r:id="rId74"/>
    <p:sldId id="554" r:id="rId75"/>
    <p:sldId id="555" r:id="rId7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62"/>
    <p:restoredTop sz="88481" autoAdjust="0"/>
  </p:normalViewPr>
  <p:slideViewPr>
    <p:cSldViewPr snapToGrid="0" snapToObjects="1">
      <p:cViewPr varScale="1">
        <p:scale>
          <a:sx n="90" d="100"/>
          <a:sy n="90" d="100"/>
        </p:scale>
        <p:origin x="32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3C4F9-F37E-4225-8EDE-0041EBD1A368}" type="datetimeFigureOut">
              <a:rPr lang="en-US" smtClean="0"/>
              <a:pPr/>
              <a:t>4/7/25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F8AD2-6882-4531-8560-2C8EEF2B5B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2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4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86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 March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52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15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dl.acm.org</a:t>
            </a:r>
            <a:r>
              <a:rPr lang="en-US" dirty="0"/>
              <a:t>/</a:t>
            </a:r>
            <a:r>
              <a:rPr lang="en-US" dirty="0" err="1"/>
              <a:t>doi</a:t>
            </a:r>
            <a:r>
              <a:rPr lang="en-US" dirty="0"/>
              <a:t>/abs/10.1145/3078971.3078983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496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92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proceedings.mlr.press</a:t>
            </a:r>
            <a:r>
              <a:rPr lang="en-US" dirty="0"/>
              <a:t>/v119/chen20j/chen20j.pdf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02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0EB51-2D6F-1797-8AFB-F38A9FC85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9E102D-5461-9A94-3DFB-4C038071A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8FDFA4-77BB-7B2B-CBFC-C62E57B76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proceedings.mlr.press</a:t>
            </a:r>
            <a:r>
              <a:rPr lang="en-US" dirty="0"/>
              <a:t>/v119/chen20j/chen20j.pdf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F9773-E157-A228-FBCE-1FF08E719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26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/pdf/2004.04906v2/1000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9816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/pdf/1704.00051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8680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squad and NQ, have extracted span, but passage need not align with NQ/Squad doc/paragraph</a:t>
            </a:r>
          </a:p>
          <a:p>
            <a:r>
              <a:rPr lang="en-US" dirty="0"/>
              <a:t>for others, just have question/</a:t>
            </a:r>
            <a:r>
              <a:rPr lang="en-US" dirty="0" err="1"/>
              <a:t>anwer</a:t>
            </a:r>
            <a:r>
              <a:rPr lang="en-US" dirty="0"/>
              <a:t>, using highest-ranked passage that contains the answer as gold passage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651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7EEE0-0A36-488D-2C25-AAE0429F8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924967-B958-6422-AC98-264B09E75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8DE95-EF83-B6BE-2596-7EE4C5F19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2935D-A5CD-790A-8F0F-681F36160A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6515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150C6-413B-0091-E22C-328E7C3CB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0B97B-C6EE-CB08-D358-604E30D1C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6C2432-4D50-E106-64D2-4683CD413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66AE5-A56E-7F3C-91C5-ED0B91C3ED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3645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85DBF-3C30-1A24-F293-8ADDB77B1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4716BC-93D1-F91A-B6B9-D67C7BA7A4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28578B-227C-6920-D6F7-F89E02D27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/pdf/2104.08253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44A3F-F118-3AAE-9D16-C9789AE1C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649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/pdf/2109.08535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553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05A4D-CA68-1900-03DA-4A2258C11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C957E-F19C-E3C6-1BE8-7250661A9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187FE-7428-BEB7-0C5A-D5133CF2B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/pdf/2109.08535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D5F01-551E-E25F-51E3-E302F9121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4309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direct.mit.edu</a:t>
            </a:r>
            <a:r>
              <a:rPr lang="en-US" dirty="0"/>
              <a:t>/</a:t>
            </a:r>
            <a:r>
              <a:rPr lang="en-US" dirty="0" err="1"/>
              <a:t>tacl</a:t>
            </a:r>
            <a:r>
              <a:rPr lang="en-US" dirty="0"/>
              <a:t>/article/</a:t>
            </a:r>
            <a:r>
              <a:rPr lang="en-US" dirty="0" err="1"/>
              <a:t>doi</a:t>
            </a:r>
            <a:r>
              <a:rPr lang="en-US" dirty="0"/>
              <a:t>/10.1162/tacl_a_00405/107205/Relevance-guided-Supervision-for-</a:t>
            </a:r>
            <a:r>
              <a:rPr lang="en-US" dirty="0" err="1"/>
              <a:t>OpenQA</a:t>
            </a:r>
            <a:r>
              <a:rPr lang="en-US" dirty="0"/>
              <a:t>-with</a:t>
            </a:r>
          </a:p>
          <a:p>
            <a:r>
              <a:rPr lang="en-US" dirty="0"/>
              <a:t>https://</a:t>
            </a:r>
            <a:r>
              <a:rPr lang="en-US" dirty="0" err="1"/>
              <a:t>dl.acm.org</a:t>
            </a:r>
            <a:r>
              <a:rPr lang="en-US" dirty="0"/>
              <a:t>/</a:t>
            </a:r>
            <a:r>
              <a:rPr lang="en-US" dirty="0" err="1"/>
              <a:t>doi</a:t>
            </a:r>
            <a:r>
              <a:rPr lang="en-US" dirty="0"/>
              <a:t>/abs/10.1145/3397271.3401075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777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E1B86-DA99-CAC5-B761-26376454C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E155B2-2A1F-1C8C-E6BE-D49FD5123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33113E-328E-BE40-B70D-802A5BB2C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direct.mit.edu</a:t>
            </a:r>
            <a:r>
              <a:rPr lang="en-US" dirty="0"/>
              <a:t>/</a:t>
            </a:r>
            <a:r>
              <a:rPr lang="en-US" dirty="0" err="1"/>
              <a:t>tacl</a:t>
            </a:r>
            <a:r>
              <a:rPr lang="en-US" dirty="0"/>
              <a:t>/article/</a:t>
            </a:r>
            <a:r>
              <a:rPr lang="en-US" dirty="0" err="1"/>
              <a:t>doi</a:t>
            </a:r>
            <a:r>
              <a:rPr lang="en-US" dirty="0"/>
              <a:t>/10.1162/tacl_a_00405/107205/Relevance-guided-Supervision-for-</a:t>
            </a:r>
            <a:r>
              <a:rPr lang="en-US" dirty="0" err="1"/>
              <a:t>OpenQA</a:t>
            </a:r>
            <a:r>
              <a:rPr lang="en-US" dirty="0"/>
              <a:t>-with</a:t>
            </a:r>
          </a:p>
          <a:p>
            <a:r>
              <a:rPr lang="en-US" dirty="0"/>
              <a:t>https://</a:t>
            </a:r>
            <a:r>
              <a:rPr lang="en-US" dirty="0" err="1"/>
              <a:t>dl.acm.org</a:t>
            </a:r>
            <a:r>
              <a:rPr lang="en-US" dirty="0"/>
              <a:t>/</a:t>
            </a:r>
            <a:r>
              <a:rPr lang="en-US" dirty="0" err="1"/>
              <a:t>doi</a:t>
            </a:r>
            <a:r>
              <a:rPr lang="en-US" dirty="0"/>
              <a:t>/abs/10.1145/3397271.3401075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F1BDE-14BC-2364-5457-ADD1099212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9907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/pdf/1711.05732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48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EA93A-AC5D-2191-597A-007447F75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91938-3D8C-1C4C-A137-D4879A98B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3A34DC-ED2B-A22E-57A3-CF11BCEB5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openaccess.thecvf.com</a:t>
            </a:r>
            <a:r>
              <a:rPr lang="en-US" dirty="0"/>
              <a:t>/content_CVPR_2020/papers/He_Momentum_Contrast_for_Unsupervised_Visual_Representation_Learning_CVPR_2020_paper.pdf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DEFAF-D3AE-4A9C-BA8B-212E9C48C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360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0EB51-2D6F-1797-8AFB-F38A9FC85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9E102D-5461-9A94-3DFB-4C038071A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8FDFA4-77BB-7B2B-CBFC-C62E57B76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proceedings.mlr.press</a:t>
            </a:r>
            <a:r>
              <a:rPr lang="en-US" dirty="0"/>
              <a:t>/v119/chen20j/chen20j.pdf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F9773-E157-A228-FBCE-1FF08E719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261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5971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764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/pdf/1906.00300 – Lee et al, ORQA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102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1D7F-6591-C6C0-2B30-D5A644D58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300D9-66A5-D45A-1BEF-CCCECADF3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47A950-146A-80DF-8303-879F5171D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/pdf/1906.00300 – Lee et al, ORQA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4AFCB-9FA7-FDC7-8AA0-B58497211A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3074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1BE34-2C8D-4BE1-1EE5-309E1FF93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C415FE-AA3D-CB28-C78E-251A1CD1B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11D82-CE06-4F5F-7BD2-9AAB5C3A4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/pdf/1906.00300 – Lee et al, ORQA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FB341-12E6-ACF6-CB4B-F04098CBB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911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1635A-81CA-859D-499A-954597C94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7B935-F0F6-2CF4-7CA8-9152E6F0F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26BD80-8F9C-ECBA-E259-99B707724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openaccess.thecvf.com</a:t>
            </a:r>
            <a:r>
              <a:rPr lang="en-US" dirty="0"/>
              <a:t>/content_CVPR_2020/papers/He_Momentum_Contrast_for_Unsupervised_Visual_Representation_Learning_CVPR_2020_paper.pdf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FA357-6F2D-A62C-D41A-7CF0D32AA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085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862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7EEE0-0A36-488D-2C25-AAE0429F8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924967-B958-6422-AC98-264B09E75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8DE95-EF83-B6BE-2596-7EE4C5F19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2935D-A5CD-790A-8F0F-681F36160A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6515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aclanthology.org</a:t>
            </a:r>
            <a:r>
              <a:rPr lang="en-US" dirty="0"/>
              <a:t>/2023.acl-long.99.pdf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1210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also MSR query2doc</a:t>
            </a:r>
          </a:p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/pdf/2304.14233 and </a:t>
            </a:r>
            <a:r>
              <a:rPr lang="en-US" dirty="0" err="1"/>
              <a:t>LameR</a:t>
            </a:r>
            <a:r>
              <a:rPr lang="en-US" dirty="0"/>
              <a:t> gets similar results concatenating generated documents to the query and using a sparse retriever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494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EE904-B756-824C-4F7E-C3F03884E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F47C4-3AFC-A95E-52A5-9D4434A20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F20EF6-89B2-69EC-DAB7-999F26B87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also MSR query2doc</a:t>
            </a:r>
          </a:p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/pdf/2304.14233 and </a:t>
            </a:r>
            <a:r>
              <a:rPr lang="en-US" dirty="0" err="1"/>
              <a:t>LameR</a:t>
            </a:r>
            <a:r>
              <a:rPr lang="en-US" dirty="0"/>
              <a:t> gets similar results concatenating generated documents to the query and using a sparse retriever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2AE67-EDA9-984C-1825-FF6F0E61A6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806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openreview.net</a:t>
            </a:r>
            <a:r>
              <a:rPr lang="en-US" dirty="0"/>
              <a:t>/</a:t>
            </a:r>
            <a:r>
              <a:rPr lang="en-US" dirty="0" err="1"/>
              <a:t>pdf?id</a:t>
            </a:r>
            <a:r>
              <a:rPr lang="en-US" dirty="0"/>
              <a:t>=Ahlrf2HGJR</a:t>
            </a:r>
          </a:p>
          <a:p>
            <a:r>
              <a:rPr lang="en-US" dirty="0"/>
              <a:t>and https://</a:t>
            </a:r>
            <a:r>
              <a:rPr lang="en-US" dirty="0" err="1"/>
              <a:t>arxiv.org</a:t>
            </a:r>
            <a:r>
              <a:rPr lang="en-US" dirty="0"/>
              <a:t>/pdf/2307.16645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625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09905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445250"/>
            <a:ext cx="2133600" cy="365125"/>
          </a:xfrm>
        </p:spPr>
        <p:txBody>
          <a:bodyPr/>
          <a:lstStyle/>
          <a:p>
            <a:fld id="{4FC35801-B62B-1347-8D7D-E1D9FD950611}" type="datetimeFigureOut">
              <a:rPr lang="en-US" smtClean="0"/>
              <a:pPr/>
              <a:t>4/7/25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452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445250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516187"/>
            <a:ext cx="7772400" cy="1362075"/>
          </a:xfrm>
        </p:spPr>
        <p:txBody>
          <a:bodyPr anchor="t">
            <a:normAutofit/>
          </a:bodyPr>
          <a:lstStyle>
            <a:lvl1pPr algn="ctr">
              <a:defRPr sz="32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160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2177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3969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3731"/>
            <a:ext cx="4040188" cy="455122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033969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3730"/>
            <a:ext cx="4041775" cy="455122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35801-B62B-1347-8D7D-E1D9FD950611}" type="datetimeFigureOut">
              <a:rPr lang="en-US" smtClean="0"/>
              <a:pPr/>
              <a:t>4/7/25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0070C0"/>
          </a:solidFill>
          <a:latin typeface="Cambria Math"/>
          <a:ea typeface="+mj-ea"/>
          <a:cs typeface="Cambria Math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Cambria Math"/>
          <a:ea typeface="+mn-ea"/>
          <a:cs typeface="Cambria Math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mbria Math"/>
          <a:ea typeface="+mn-ea"/>
          <a:cs typeface="Cambria Math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ml.cmu.edu/academics/ta.htm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s.cmu.edu/~wcohen/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711.05732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pdf/2304.14233" TargetMode="External"/><Relationship Id="rId4" Type="http://schemas.openxmlformats.org/officeDocument/2006/relationships/image" Target="../media/image5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5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FAAAB7-888C-9DC9-DC4D-E0ED715B5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94139"/>
            <a:ext cx="7772400" cy="32697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F06BC4-D217-3A53-2674-A52B2A1F3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575" y="3462716"/>
            <a:ext cx="3269625" cy="160114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5D6B5-41BC-532F-AA8B-D6AE4D2FB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10-605/10-405</a:t>
            </a:r>
            <a:br>
              <a:rPr lang="en-US" dirty="0"/>
            </a:br>
            <a:r>
              <a:rPr lang="en-US" dirty="0"/>
              <a:t>Machine Learning from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580059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34D01F8-D648-3826-1EA7-138C9F3A17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00"/>
          <a:stretch/>
        </p:blipFill>
        <p:spPr bwMode="auto">
          <a:xfrm>
            <a:off x="673205" y="0"/>
            <a:ext cx="512894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8A8E32-4802-C71A-934B-26EEFBA81F6E}"/>
              </a:ext>
            </a:extLst>
          </p:cNvPr>
          <p:cNvSpPr txBox="1"/>
          <p:nvPr/>
        </p:nvSpPr>
        <p:spPr>
          <a:xfrm>
            <a:off x="4438045" y="329784"/>
            <a:ext cx="4691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4"/>
              </a:rPr>
              <a:t>https://www.ml.cmu.edu/academics/ta.html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6E1178-0D85-41F0-5C2A-C4E2F43BF817}"/>
              </a:ext>
            </a:extLst>
          </p:cNvPr>
          <p:cNvSpPr txBox="1"/>
          <p:nvPr/>
        </p:nvSpPr>
        <p:spPr>
          <a:xfrm>
            <a:off x="6610662" y="699116"/>
            <a:ext cx="2263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by Thursday 4/10</a:t>
            </a:r>
          </a:p>
        </p:txBody>
      </p:sp>
    </p:spTree>
    <p:extLst>
      <p:ext uri="{BB962C8B-B14F-4D97-AF65-F5344CB8AC3E}">
        <p14:creationId xmlns:p14="http://schemas.microsoft.com/office/powerpoint/2010/main" val="4104170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A3EA7-4925-F3B3-ECA7-9AE943A1C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 on Key-Value Caching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19615-6842-8F59-06EB-6280D3B9B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Key-value </a:t>
            </a:r>
            <a:r>
              <a:rPr lang="en-US" i="1" dirty="0"/>
              <a:t>caching</a:t>
            </a:r>
            <a:r>
              <a:rPr lang="en-US" dirty="0"/>
              <a:t> speeds up a Transformer</a:t>
            </a:r>
          </a:p>
          <a:p>
            <a:pPr lvl="1"/>
            <a:r>
              <a:rPr lang="en-US" dirty="0"/>
              <a:t>avoids </a:t>
            </a:r>
            <a:r>
              <a:rPr lang="en-US" dirty="0" err="1"/>
              <a:t>recomputation</a:t>
            </a:r>
            <a:endParaRPr lang="en-US" dirty="0"/>
          </a:p>
          <a:p>
            <a:r>
              <a:rPr lang="en-US" dirty="0"/>
              <a:t>Key-value cache </a:t>
            </a:r>
            <a:r>
              <a:rPr lang="en-US" i="1" dirty="0"/>
              <a:t>management</a:t>
            </a:r>
            <a:r>
              <a:rPr lang="en-US" dirty="0"/>
              <a:t> changes what a Transformer does</a:t>
            </a:r>
          </a:p>
          <a:p>
            <a:pPr lvl="1"/>
            <a:r>
              <a:rPr lang="en-US" dirty="0"/>
              <a:t>you don’t recover from “cache miss”</a:t>
            </a:r>
          </a:p>
          <a:p>
            <a:pPr lvl="1"/>
            <a:r>
              <a:rPr lang="en-US" dirty="0"/>
              <a:t>evicted tokens are not attended to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that’s why it’s like pruning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974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E8A72-4DDD-9F58-95F3-83D7AF17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Augmented LLMs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20EF5-A5C6-5C27-028A-BD676A496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8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021A2-ECAE-6639-6BCA-D01B67C85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B95AF6-332C-ABE8-5A42-29D167F25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47637"/>
            <a:ext cx="6630988" cy="53071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A99B0C-A895-91A5-1F04-0C249FFE5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6555"/>
            <a:ext cx="7772400" cy="11378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6B7AE8-0F81-E0F9-28EB-B4C4B02C33A6}"/>
              </a:ext>
            </a:extLst>
          </p:cNvPr>
          <p:cNvSpPr txBox="1"/>
          <p:nvPr/>
        </p:nvSpPr>
        <p:spPr>
          <a:xfrm>
            <a:off x="6129338" y="6488668"/>
            <a:ext cx="301466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Anthropic Claude 3.7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30E4DD0-63E6-F708-CB45-B35AEC1B64AE}"/>
              </a:ext>
            </a:extLst>
          </p:cNvPr>
          <p:cNvSpPr/>
          <p:nvPr/>
        </p:nvSpPr>
        <p:spPr>
          <a:xfrm>
            <a:off x="3100389" y="2057400"/>
            <a:ext cx="671512" cy="442913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5FBB84-AF6A-ED0F-9C3B-64F91C204FD3}"/>
              </a:ext>
            </a:extLst>
          </p:cNvPr>
          <p:cNvSpPr txBox="1"/>
          <p:nvPr/>
        </p:nvSpPr>
        <p:spPr>
          <a:xfrm>
            <a:off x="5006716" y="487468"/>
            <a:ext cx="285062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dirty="0"/>
              <a:t>as of March 30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702688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053479-F5F4-66B1-4AC3-A6FD59285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1841" y="0"/>
            <a:ext cx="9040091" cy="49720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D60ED0-47F1-B93D-0FC3-431452104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0" y="4377373"/>
            <a:ext cx="4318000" cy="2146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206922-10DF-0592-89BB-61E28B7EA8A1}"/>
              </a:ext>
            </a:extLst>
          </p:cNvPr>
          <p:cNvSpPr txBox="1"/>
          <p:nvPr/>
        </p:nvSpPr>
        <p:spPr>
          <a:xfrm>
            <a:off x="6129338" y="6488668"/>
            <a:ext cx="301466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Gemini Advanced 2.0 Flash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FE2FD8A-2DC3-1BB5-8007-5517EE462D83}"/>
              </a:ext>
            </a:extLst>
          </p:cNvPr>
          <p:cNvSpPr/>
          <p:nvPr/>
        </p:nvSpPr>
        <p:spPr>
          <a:xfrm>
            <a:off x="1214439" y="1524317"/>
            <a:ext cx="671512" cy="442913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D69110-09A0-2A9B-EC11-A023380FAD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3743" y="3993243"/>
            <a:ext cx="3302000" cy="16002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86E7A467-9C6C-1E49-8986-9A4AF67E97EB}"/>
              </a:ext>
            </a:extLst>
          </p:cNvPr>
          <p:cNvSpPr/>
          <p:nvPr/>
        </p:nvSpPr>
        <p:spPr>
          <a:xfrm>
            <a:off x="4037468" y="5198206"/>
            <a:ext cx="1913389" cy="39523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03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4830F-D184-AD1F-DEAC-9FD0ECF1B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A43779-35CF-49B6-EC45-A7F055AB5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512" y="1425575"/>
            <a:ext cx="5334000" cy="5321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617D25-525F-184C-5BAB-3AD1A2B99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56" y="0"/>
            <a:ext cx="6081712" cy="12959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440196-6C0C-8203-80E2-C89B74AE926E}"/>
              </a:ext>
            </a:extLst>
          </p:cNvPr>
          <p:cNvSpPr txBox="1"/>
          <p:nvPr/>
        </p:nvSpPr>
        <p:spPr>
          <a:xfrm>
            <a:off x="6129338" y="6488668"/>
            <a:ext cx="301466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Anthropic Claude 3.7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904A9C-96A7-4097-E241-DCFBC2B8174A}"/>
              </a:ext>
            </a:extLst>
          </p:cNvPr>
          <p:cNvSpPr txBox="1"/>
          <p:nvPr/>
        </p:nvSpPr>
        <p:spPr>
          <a:xfrm>
            <a:off x="6910388" y="3244332"/>
            <a:ext cx="80010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Mostly wrong</a:t>
            </a:r>
          </a:p>
        </p:txBody>
      </p:sp>
    </p:spTree>
    <p:extLst>
      <p:ext uri="{BB962C8B-B14F-4D97-AF65-F5344CB8AC3E}">
        <p14:creationId xmlns:p14="http://schemas.microsoft.com/office/powerpoint/2010/main" val="2380027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F0117-587B-444E-41DC-D48578982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0190B2-0235-CA2E-A105-3754D0900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35505"/>
            <a:ext cx="7772400" cy="4586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66C7EA-DE37-4FCD-927D-FD8A6A660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300" y="0"/>
            <a:ext cx="6121400" cy="127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536394-49C5-5DD8-63A2-F8B0CE072FDC}"/>
              </a:ext>
            </a:extLst>
          </p:cNvPr>
          <p:cNvSpPr txBox="1"/>
          <p:nvPr/>
        </p:nvSpPr>
        <p:spPr>
          <a:xfrm>
            <a:off x="6129338" y="6488668"/>
            <a:ext cx="301466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Gemini Advanced 2.0 Flash</a:t>
            </a:r>
          </a:p>
        </p:txBody>
      </p:sp>
    </p:spTree>
    <p:extLst>
      <p:ext uri="{BB962C8B-B14F-4D97-AF65-F5344CB8AC3E}">
        <p14:creationId xmlns:p14="http://schemas.microsoft.com/office/powerpoint/2010/main" val="1455782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E80DA-0BE3-9BED-8F5C-8A98DCD12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BCF5E5-D932-F159-133B-9C286B918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825" y="1203767"/>
            <a:ext cx="4100513" cy="2419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F1617B-6C13-04C4-8849-2CD7DEF21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300" y="0"/>
            <a:ext cx="6121400" cy="127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4E8AAA-A087-24A4-AE35-16F09A8A0C24}"/>
              </a:ext>
            </a:extLst>
          </p:cNvPr>
          <p:cNvSpPr txBox="1"/>
          <p:nvPr/>
        </p:nvSpPr>
        <p:spPr>
          <a:xfrm>
            <a:off x="6129338" y="6488668"/>
            <a:ext cx="301466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Gemini Advanced 2.0 Flash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1B4CD3-B5D6-F320-2C2C-79B83A699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03014"/>
            <a:ext cx="7772400" cy="18489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8B8A49-6AAE-68FF-609E-A1D290FEB1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772" b="28214"/>
          <a:stretch/>
        </p:blipFill>
        <p:spPr>
          <a:xfrm>
            <a:off x="3140074" y="1483038"/>
            <a:ext cx="5103813" cy="2419976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34E6F2-413E-2BD7-52E2-433C41AB968C}"/>
              </a:ext>
            </a:extLst>
          </p:cNvPr>
          <p:cNvCxnSpPr/>
          <p:nvPr/>
        </p:nvCxnSpPr>
        <p:spPr>
          <a:xfrm flipH="1" flipV="1">
            <a:off x="6858000" y="3903014"/>
            <a:ext cx="457200" cy="611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E0F8111-58E7-6717-3C8E-4E8522660A3F}"/>
              </a:ext>
            </a:extLst>
          </p:cNvPr>
          <p:cNvSpPr txBox="1"/>
          <p:nvPr/>
        </p:nvSpPr>
        <p:spPr>
          <a:xfrm>
            <a:off x="1352551" y="5469567"/>
            <a:ext cx="221932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Irrelevant from 2017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FC258B-FDDD-D496-CDC9-0CD358AFDCC2}"/>
              </a:ext>
            </a:extLst>
          </p:cNvPr>
          <p:cNvSpPr txBox="1"/>
          <p:nvPr/>
        </p:nvSpPr>
        <p:spPr>
          <a:xfrm>
            <a:off x="1662112" y="6119336"/>
            <a:ext cx="366712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hlinkClick r:id="rId6"/>
              </a:rPr>
              <a:t>https://www.cs.cmu.edu/~wcohen/</a:t>
            </a:r>
            <a:r>
              <a:rPr lang="en-US" dirty="0"/>
              <a:t> has all this information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59B5CE-EFFB-65FD-7B9D-A1F530491A52}"/>
              </a:ext>
            </a:extLst>
          </p:cNvPr>
          <p:cNvSpPr txBox="1"/>
          <p:nvPr/>
        </p:nvSpPr>
        <p:spPr>
          <a:xfrm>
            <a:off x="3886200" y="5469567"/>
            <a:ext cx="255269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copy of ICML 2008 info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8F46DF-8955-50F6-7619-9AF81A47A2BA}"/>
              </a:ext>
            </a:extLst>
          </p:cNvPr>
          <p:cNvSpPr txBox="1"/>
          <p:nvPr/>
        </p:nvSpPr>
        <p:spPr>
          <a:xfrm>
            <a:off x="6591302" y="5469567"/>
            <a:ext cx="120014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from 2007</a:t>
            </a:r>
          </a:p>
        </p:txBody>
      </p:sp>
    </p:spTree>
    <p:extLst>
      <p:ext uri="{BB962C8B-B14F-4D97-AF65-F5344CB8AC3E}">
        <p14:creationId xmlns:p14="http://schemas.microsoft.com/office/powerpoint/2010/main" val="3453268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trieval Augmented Generation Techniques">
            <a:extLst>
              <a:ext uri="{FF2B5EF4-FFF2-40B4-BE49-F238E27FC236}">
                <a16:creationId xmlns:a16="http://schemas.microsoft.com/office/drawing/2014/main" id="{E231F67B-B5EB-F255-65ED-DCF47BF01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2113"/>
            <a:ext cx="9144000" cy="538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B563D67-9388-72E3-9E40-992278A94481}"/>
              </a:ext>
            </a:extLst>
          </p:cNvPr>
          <p:cNvSpPr/>
          <p:nvPr/>
        </p:nvSpPr>
        <p:spPr>
          <a:xfrm>
            <a:off x="0" y="3429000"/>
            <a:ext cx="5886450" cy="23510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30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E636B-D0F5-D6D5-DD0A-25DF343C3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trieval Augmented Generation Techniques">
            <a:extLst>
              <a:ext uri="{FF2B5EF4-FFF2-40B4-BE49-F238E27FC236}">
                <a16:creationId xmlns:a16="http://schemas.microsoft.com/office/drawing/2014/main" id="{6170DF3F-9708-5286-9369-4DBE06713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2113"/>
            <a:ext cx="9144000" cy="538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C64A68-5609-59B2-60A7-5CF26B9F2477}"/>
              </a:ext>
            </a:extLst>
          </p:cNvPr>
          <p:cNvSpPr txBox="1"/>
          <p:nvPr/>
        </p:nvSpPr>
        <p:spPr>
          <a:xfrm>
            <a:off x="5772150" y="3959781"/>
            <a:ext cx="3214687" cy="258532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How  to retrieve? Can we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learn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to retrieve better?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How to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generate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? Are there generation problems specific to RAG?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Do we learn to retrieve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jointly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with learning to generate, or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separately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A63AEF-39D6-2A13-35B6-6109DF836428}"/>
              </a:ext>
            </a:extLst>
          </p:cNvPr>
          <p:cNvSpPr txBox="1"/>
          <p:nvPr/>
        </p:nvSpPr>
        <p:spPr>
          <a:xfrm>
            <a:off x="3371851" y="5545098"/>
            <a:ext cx="2219324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Is the source of information reliable?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DDFBB7-1C91-7EB7-4086-0C6583D8CEA0}"/>
              </a:ext>
            </a:extLst>
          </p:cNvPr>
          <p:cNvSpPr txBox="1"/>
          <p:nvPr/>
        </p:nvSpPr>
        <p:spPr>
          <a:xfrm>
            <a:off x="3028950" y="6142721"/>
            <a:ext cx="256222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What if documents contradict each other?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FF0251-B21B-0D5F-FBB1-23DD376807CE}"/>
              </a:ext>
            </a:extLst>
          </p:cNvPr>
          <p:cNvSpPr txBox="1"/>
          <p:nvPr/>
        </p:nvSpPr>
        <p:spPr>
          <a:xfrm>
            <a:off x="666751" y="5591264"/>
            <a:ext cx="2219324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What if information needed is spread across many documents?</a:t>
            </a:r>
          </a:p>
        </p:txBody>
      </p:sp>
    </p:spTree>
    <p:extLst>
      <p:ext uri="{BB962C8B-B14F-4D97-AF65-F5344CB8AC3E}">
        <p14:creationId xmlns:p14="http://schemas.microsoft.com/office/powerpoint/2010/main" val="3212583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E8A72-4DDD-9F58-95F3-83D7AF17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Contrastive Learning:</a:t>
            </a:r>
            <a:br>
              <a:rPr lang="en-US" dirty="0"/>
            </a:br>
            <a:r>
              <a:rPr lang="en-US" dirty="0"/>
              <a:t>Overview and </a:t>
            </a:r>
            <a:r>
              <a:rPr lang="en-US" dirty="0" err="1"/>
              <a:t>ExamPLE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20EF5-A5C6-5C27-028A-BD676A496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39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LSH: key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Goal: </a:t>
            </a:r>
          </a:p>
          <a:p>
            <a:pPr lvl="1"/>
            <a:r>
              <a:rPr lang="en-US" dirty="0"/>
              <a:t>map feature vector </a:t>
            </a:r>
            <a:r>
              <a:rPr lang="en-US" b="1" dirty="0" err="1"/>
              <a:t>x</a:t>
            </a:r>
            <a:r>
              <a:rPr lang="en-US" b="1" dirty="0"/>
              <a:t> </a:t>
            </a:r>
            <a:r>
              <a:rPr lang="en-US" dirty="0"/>
              <a:t>to bit vector</a:t>
            </a:r>
            <a:r>
              <a:rPr lang="en-US" b="1" dirty="0"/>
              <a:t> </a:t>
            </a:r>
            <a:r>
              <a:rPr lang="en-US" b="1" dirty="0" err="1"/>
              <a:t>bx</a:t>
            </a:r>
            <a:endParaRPr lang="en-US" dirty="0"/>
          </a:p>
          <a:p>
            <a:pPr lvl="1"/>
            <a:r>
              <a:rPr lang="en-US" dirty="0"/>
              <a:t>ensure that </a:t>
            </a:r>
            <a:r>
              <a:rPr lang="en-US" b="1" dirty="0" err="1"/>
              <a:t>bx</a:t>
            </a:r>
            <a:r>
              <a:rPr lang="en-US" b="1" dirty="0"/>
              <a:t> </a:t>
            </a:r>
            <a:r>
              <a:rPr lang="en-US" dirty="0"/>
              <a:t>preserves “similarity”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Basic idea: use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random projections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of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Repeat many times: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Pick a random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hyperplane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by picking random weights for each feature (say from a Gaussian)</a:t>
            </a:r>
            <a:endParaRPr lang="en-US" b="1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Compute the inner product of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r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with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x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Record if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is “close to”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(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</a:rPr>
              <a:t>r.x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&gt;=0)</a:t>
            </a:r>
          </a:p>
          <a:p>
            <a:pPr lvl="3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the next bit in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</a:rPr>
              <a:t>bx</a:t>
            </a:r>
            <a:endParaRPr lang="en-US" b="1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Theory says that is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x’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and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x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have small cosine distance then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</a:rPr>
              <a:t>bx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and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</a:rPr>
              <a:t>bx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’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will have small Hamming distance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BCA77E-4EE5-1E70-DEA9-AF6E20DB5B5D}"/>
              </a:ext>
            </a:extLst>
          </p:cNvPr>
          <p:cNvSpPr txBox="1"/>
          <p:nvPr/>
        </p:nvSpPr>
        <p:spPr>
          <a:xfrm>
            <a:off x="6751638" y="2185987"/>
            <a:ext cx="2112962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cosine similarity</a:t>
            </a:r>
          </a:p>
        </p:txBody>
      </p:sp>
    </p:spTree>
    <p:extLst>
      <p:ext uri="{BB962C8B-B14F-4D97-AF65-F5344CB8AC3E}">
        <p14:creationId xmlns:p14="http://schemas.microsoft.com/office/powerpoint/2010/main" val="3396422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AEAA2-3960-E777-BBA3-E33814747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3EF8D-78A9-6CFF-2A67-A26628306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Alternative: </a:t>
            </a:r>
            <a:r>
              <a:rPr lang="en-US" i="1" dirty="0"/>
              <a:t>learn</a:t>
            </a:r>
            <a:r>
              <a:rPr lang="en-US" dirty="0"/>
              <a:t> a similarity metric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2AEDFF-F5A4-45DB-3171-2669F9968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32" y="2300287"/>
            <a:ext cx="8603965" cy="16791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4673DB-9D24-7300-1902-3E387D1ED190}"/>
              </a:ext>
            </a:extLst>
          </p:cNvPr>
          <p:cNvSpPr txBox="1"/>
          <p:nvPr/>
        </p:nvSpPr>
        <p:spPr>
          <a:xfrm>
            <a:off x="5869677" y="3794782"/>
            <a:ext cx="122501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ICML 2017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63ECF1-5B43-4507-AF58-3A4834CAB0AA}"/>
              </a:ext>
            </a:extLst>
          </p:cNvPr>
          <p:cNvSpPr txBox="1"/>
          <p:nvPr/>
        </p:nvSpPr>
        <p:spPr>
          <a:xfrm>
            <a:off x="654050" y="1525585"/>
            <a:ext cx="3961502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One example paper…</a:t>
            </a:r>
          </a:p>
        </p:txBody>
      </p:sp>
    </p:spTree>
    <p:extLst>
      <p:ext uri="{BB962C8B-B14F-4D97-AF65-F5344CB8AC3E}">
        <p14:creationId xmlns:p14="http://schemas.microsoft.com/office/powerpoint/2010/main" val="1111856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DeepHash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09" y="2017336"/>
            <a:ext cx="1329516" cy="999241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>
            <a:off x="2245056" y="2140162"/>
            <a:ext cx="2986819" cy="45221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creen Shot 2013-02-18 at 10.51.11 A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" t="4086" r="54330" b="81428"/>
          <a:stretch/>
        </p:blipFill>
        <p:spPr>
          <a:xfrm>
            <a:off x="5409506" y="2140162"/>
            <a:ext cx="3082566" cy="5565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7366" y="1487511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 charset="0"/>
                <a:ea typeface="Cambria Math" charset="0"/>
                <a:cs typeface="Cambria Math" charset="0"/>
              </a:rPr>
              <a:t>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37033" y="1487511"/>
            <a:ext cx="2066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 charset="0"/>
                <a:ea typeface="Cambria Math" charset="0"/>
                <a:cs typeface="Cambria Math" charset="0"/>
              </a:rPr>
              <a:t>Compact Bit 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5994" y="1770830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 charset="0"/>
                <a:ea typeface="Cambria Math" charset="0"/>
                <a:cs typeface="Cambria Math" charset="0"/>
              </a:rPr>
              <a:t>64-1000 bits long</a:t>
            </a:r>
          </a:p>
        </p:txBody>
      </p:sp>
    </p:spTree>
    <p:extLst>
      <p:ext uri="{BB962C8B-B14F-4D97-AF65-F5344CB8AC3E}">
        <p14:creationId xmlns:p14="http://schemas.microsoft.com/office/powerpoint/2010/main" val="1963201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DeepHash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09" y="2017336"/>
            <a:ext cx="1329516" cy="999241"/>
          </a:xfrm>
          <a:prstGeom prst="rect">
            <a:avLst/>
          </a:prstGeom>
        </p:spPr>
      </p:pic>
      <p:pic>
        <p:nvPicPr>
          <p:cNvPr id="5" name="Picture 4" descr="Screen Shot 2013-02-18 at 10.51.11 A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" t="4086" r="54330" b="81428"/>
          <a:stretch/>
        </p:blipFill>
        <p:spPr>
          <a:xfrm>
            <a:off x="5409506" y="2140162"/>
            <a:ext cx="3082566" cy="5565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7366" y="1487511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 charset="0"/>
                <a:ea typeface="Cambria Math" charset="0"/>
                <a:cs typeface="Cambria Math" charset="0"/>
              </a:rPr>
              <a:t>Image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" t="28540" r="8825" b="4430"/>
          <a:stretch/>
        </p:blipFill>
        <p:spPr>
          <a:xfrm>
            <a:off x="2282763" y="3791651"/>
            <a:ext cx="4985303" cy="1393091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 rot="2600234">
            <a:off x="1443686" y="3327052"/>
            <a:ext cx="1049037" cy="329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 rot="16200000">
            <a:off x="6610782" y="3089470"/>
            <a:ext cx="1049037" cy="329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937033" y="1487511"/>
            <a:ext cx="2066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 charset="0"/>
                <a:ea typeface="Cambria Math" charset="0"/>
                <a:cs typeface="Cambria Math" charset="0"/>
              </a:rPr>
              <a:t>Compact Bit Vector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5994" y="1770830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 charset="0"/>
                <a:ea typeface="Cambria Math" charset="0"/>
                <a:cs typeface="Cambria Math" charset="0"/>
              </a:rPr>
              <a:t>64-1000 bits long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8067" y="5197464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 charset="0"/>
                <a:ea typeface="Cambria Math" charset="0"/>
                <a:cs typeface="Cambria Math" charset="0"/>
              </a:rPr>
              <a:t>4k floats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3849" y="3059527"/>
            <a:ext cx="1750151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LSH, or </a:t>
            </a:r>
            <a:r>
              <a:rPr lang="mr-IN" dirty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000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C118B9-0369-E157-61D8-99B1B0DBC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2377"/>
            <a:ext cx="9144000" cy="420372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0E8C1DF-91C7-C3DF-2FAE-651B6686B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351"/>
            <a:ext cx="8229600" cy="906462"/>
          </a:xfrm>
        </p:spPr>
        <p:txBody>
          <a:bodyPr>
            <a:normAutofit/>
          </a:bodyPr>
          <a:lstStyle/>
          <a:p>
            <a:r>
              <a:rPr lang="en-US" dirty="0"/>
              <a:t>Pipeline for </a:t>
            </a:r>
            <a:r>
              <a:rPr lang="en-US" dirty="0" err="1"/>
              <a:t>DeepHash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FCD1DA8-7BFA-304C-885E-3EF04ECE18A4}"/>
              </a:ext>
            </a:extLst>
          </p:cNvPr>
          <p:cNvSpPr/>
          <p:nvPr/>
        </p:nvSpPr>
        <p:spPr>
          <a:xfrm>
            <a:off x="5700713" y="3686175"/>
            <a:ext cx="3443287" cy="277177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39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Training on matching vs non-matching pairs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76" t="38546"/>
          <a:stretch/>
        </p:blipFill>
        <p:spPr>
          <a:xfrm>
            <a:off x="650450" y="1987856"/>
            <a:ext cx="5882325" cy="4870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14143" y="1654434"/>
            <a:ext cx="1972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Learned deep RBM</a:t>
            </a:r>
          </a:p>
        </p:txBody>
      </p:sp>
      <p:sp>
        <p:nvSpPr>
          <p:cNvPr id="5" name="Rectangular Callout 4"/>
          <p:cNvSpPr/>
          <p:nvPr/>
        </p:nvSpPr>
        <p:spPr>
          <a:xfrm>
            <a:off x="6829720" y="2929474"/>
            <a:ext cx="2314280" cy="3631582"/>
          </a:xfrm>
          <a:prstGeom prst="wedgeRectCallout">
            <a:avLst>
              <a:gd name="adj1" fmla="val -90773"/>
              <a:gd name="adj2" fmla="val -719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Loss pushes the representation for “matching” pairs together and representation for “non-matching” pairs apart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1616D4-2B5D-5545-C41C-C3806787C045}"/>
              </a:ext>
            </a:extLst>
          </p:cNvPr>
          <p:cNvSpPr/>
          <p:nvPr/>
        </p:nvSpPr>
        <p:spPr>
          <a:xfrm>
            <a:off x="2300288" y="2514600"/>
            <a:ext cx="2800350" cy="4148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B68E77-3AC3-ABCE-615A-CC19B5E69EC3}"/>
              </a:ext>
            </a:extLst>
          </p:cNvPr>
          <p:cNvSpPr txBox="1"/>
          <p:nvPr/>
        </p:nvSpPr>
        <p:spPr>
          <a:xfrm>
            <a:off x="1669722" y="1164178"/>
            <a:ext cx="3843779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/>
              <a:t>Contrastive learning</a:t>
            </a:r>
          </a:p>
        </p:txBody>
      </p:sp>
    </p:spTree>
    <p:extLst>
      <p:ext uri="{BB962C8B-B14F-4D97-AF65-F5344CB8AC3E}">
        <p14:creationId xmlns:p14="http://schemas.microsoft.com/office/powerpoint/2010/main" val="20707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Training on matching vs non-matching pairs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76" t="38546"/>
          <a:stretch/>
        </p:blipFill>
        <p:spPr>
          <a:xfrm>
            <a:off x="457200" y="1623439"/>
            <a:ext cx="4571999" cy="37852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199" y="1551331"/>
            <a:ext cx="3763025" cy="3857396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BC33B5F0-E786-E38B-1547-F2C3F697AC48}"/>
              </a:ext>
            </a:extLst>
          </p:cNvPr>
          <p:cNvSpPr/>
          <p:nvPr/>
        </p:nvSpPr>
        <p:spPr>
          <a:xfrm>
            <a:off x="6805534" y="3384030"/>
            <a:ext cx="224853" cy="224853"/>
          </a:xfrm>
          <a:prstGeom prst="ellips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86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Training on matching vs non-matching pairs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53" y="1826623"/>
            <a:ext cx="7126664" cy="49113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77592" y="1457291"/>
            <a:ext cx="5007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matching pairs </a:t>
            </a:r>
            <a:r>
              <a:rPr lang="en-US"/>
              <a:t>were photos of the same “landmark”</a:t>
            </a:r>
          </a:p>
        </p:txBody>
      </p:sp>
    </p:spTree>
    <p:extLst>
      <p:ext uri="{BB962C8B-B14F-4D97-AF65-F5344CB8AC3E}">
        <p14:creationId xmlns:p14="http://schemas.microsoft.com/office/powerpoint/2010/main" val="1870021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591"/>
          <a:stretch/>
        </p:blipFill>
        <p:spPr>
          <a:xfrm>
            <a:off x="215082" y="94266"/>
            <a:ext cx="8482915" cy="44683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22450" y="4751108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CNN encoding of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4191" y="4751108"/>
            <a:ext cx="326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feature-vector encoding of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C61156-24B4-F268-3272-7576A95B2F44}"/>
              </a:ext>
            </a:extLst>
          </p:cNvPr>
          <p:cNvSpPr txBox="1"/>
          <p:nvPr/>
        </p:nvSpPr>
        <p:spPr>
          <a:xfrm>
            <a:off x="1885950" y="5631277"/>
            <a:ext cx="608647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Task: retrieve images of the same landmark using the bitstrings</a:t>
            </a:r>
          </a:p>
        </p:txBody>
      </p:sp>
    </p:spTree>
    <p:extLst>
      <p:ext uri="{BB962C8B-B14F-4D97-AF65-F5344CB8AC3E}">
        <p14:creationId xmlns:p14="http://schemas.microsoft.com/office/powerpoint/2010/main" val="98944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C0C17-0276-37EF-13FA-8801F562E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27F5-43C2-3086-D5C2-566D81CCD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Contrastive Learning:</a:t>
            </a:r>
            <a:br>
              <a:rPr lang="en-US" dirty="0"/>
            </a:br>
            <a:r>
              <a:rPr lang="en-US" dirty="0"/>
              <a:t>The General Idea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D6EAC-E1AD-A12A-8896-9F24E5CE1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14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330DA-2731-D98A-3995-280773ED6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for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4A1F4-B14F-E3C4-489B-8026AE594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Learn a mapping </a:t>
            </a:r>
            <a:r>
              <a:rPr lang="en-US" i="1" dirty="0"/>
              <a:t>g(x) </a:t>
            </a:r>
            <a:r>
              <a:rPr lang="en-US" dirty="0"/>
              <a:t>from objects </a:t>
            </a:r>
            <a:r>
              <a:rPr lang="en-US" i="1" dirty="0"/>
              <a:t>x</a:t>
            </a:r>
            <a:r>
              <a:rPr lang="en-US" dirty="0"/>
              <a:t> (images, documents, …) to vectors </a:t>
            </a:r>
            <a:r>
              <a:rPr lang="en-US" i="1" dirty="0"/>
              <a:t>g(x)</a:t>
            </a:r>
          </a:p>
          <a:p>
            <a:pPr lvl="1"/>
            <a:r>
              <a:rPr lang="en-US" dirty="0"/>
              <a:t>Generally the same encoder </a:t>
            </a:r>
            <a:r>
              <a:rPr lang="en-US" i="1" dirty="0"/>
              <a:t>g </a:t>
            </a:r>
            <a:r>
              <a:rPr lang="en-US" dirty="0"/>
              <a:t>is used for objects and </a:t>
            </a:r>
            <a:r>
              <a:rPr lang="en-US" i="1" dirty="0"/>
              <a:t>queries</a:t>
            </a:r>
            <a:r>
              <a:rPr lang="en-US" dirty="0"/>
              <a:t> about those objects</a:t>
            </a:r>
          </a:p>
          <a:p>
            <a:r>
              <a:rPr lang="en-US" dirty="0"/>
              <a:t>Encode a big collection C of objects (images, documents, …) as a big set of vectors V</a:t>
            </a:r>
          </a:p>
          <a:p>
            <a:r>
              <a:rPr lang="en-US" dirty="0"/>
              <a:t>To retrieve objects in C relevant to </a:t>
            </a:r>
            <a:r>
              <a:rPr lang="en-US" i="1" dirty="0"/>
              <a:t>q</a:t>
            </a:r>
            <a:r>
              <a:rPr lang="en-US" dirty="0"/>
              <a:t> find the vectors in V closest to </a:t>
            </a:r>
            <a:r>
              <a:rPr lang="en-US" i="1" dirty="0"/>
              <a:t>g(q)</a:t>
            </a:r>
          </a:p>
          <a:p>
            <a:pPr lvl="1"/>
            <a:r>
              <a:rPr lang="en-US" dirty="0"/>
              <a:t>Usually closest means dot product similarity</a:t>
            </a:r>
          </a:p>
          <a:p>
            <a:pPr lvl="1"/>
            <a:r>
              <a:rPr lang="en-US" dirty="0"/>
              <a:t>Usually you use tricks like hierarchical k-means, LSH, … to do the retrieval quickly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127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EDEEA-5526-6A85-3819-90B656397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Contrastive learning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6229BB-BC1D-445A-5FCC-9905CFD72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028700"/>
            <a:ext cx="5994400" cy="4229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CCEB3C-789A-287E-52EE-7BFB42161C63}"/>
              </a:ext>
            </a:extLst>
          </p:cNvPr>
          <p:cNvSpPr txBox="1"/>
          <p:nvPr/>
        </p:nvSpPr>
        <p:spPr>
          <a:xfrm>
            <a:off x="6276250" y="3259552"/>
            <a:ext cx="267287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Usually a fairly large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346E12-4EEF-6B2C-B684-D55F81AACD74}"/>
              </a:ext>
            </a:extLst>
          </p:cNvPr>
          <p:cNvSpPr txBox="1"/>
          <p:nvPr/>
        </p:nvSpPr>
        <p:spPr>
          <a:xfrm>
            <a:off x="6276250" y="3878677"/>
            <a:ext cx="2307364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"Projection head” to compress large representation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5EC51-A56F-4931-2715-A814D6E66997}"/>
              </a:ext>
            </a:extLst>
          </p:cNvPr>
          <p:cNvSpPr txBox="1"/>
          <p:nvPr/>
        </p:nvSpPr>
        <p:spPr>
          <a:xfrm>
            <a:off x="6276250" y="5257800"/>
            <a:ext cx="2307364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Loss usually needs positive and negative retrievals for </a:t>
            </a:r>
            <a:r>
              <a:rPr lang="en-US" i="1" dirty="0"/>
              <a:t>q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2865655-A0E7-1E31-C7B6-A0D2622BC618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4383089" y="5000625"/>
            <a:ext cx="1893161" cy="71884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3B37D72-AAEB-0074-5CE7-2361324622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21" y="4559521"/>
            <a:ext cx="1974327" cy="20238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738B2A-3F48-B214-6574-F134322BD763}"/>
              </a:ext>
            </a:extLst>
          </p:cNvPr>
          <p:cNvSpPr txBox="1"/>
          <p:nvPr/>
        </p:nvSpPr>
        <p:spPr>
          <a:xfrm>
            <a:off x="6601714" y="4759881"/>
            <a:ext cx="2542285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Usually </a:t>
            </a:r>
            <a:r>
              <a:rPr lang="en-US" b="1" dirty="0"/>
              <a:t>not </a:t>
            </a:r>
            <a:r>
              <a:rPr lang="en-US" dirty="0"/>
              <a:t>a bit vector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40C018-DEE3-B1F1-ECD4-002EFF5B12D8}"/>
              </a:ext>
            </a:extLst>
          </p:cNvPr>
          <p:cNvSpPr txBox="1"/>
          <p:nvPr/>
        </p:nvSpPr>
        <p:spPr>
          <a:xfrm>
            <a:off x="6144515" y="2047160"/>
            <a:ext cx="2542285" cy="92333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Contrastive loss fine-tunes the large encoder (and the projection head)</a:t>
            </a:r>
          </a:p>
        </p:txBody>
      </p:sp>
    </p:spTree>
    <p:extLst>
      <p:ext uri="{BB962C8B-B14F-4D97-AF65-F5344CB8AC3E}">
        <p14:creationId xmlns:p14="http://schemas.microsoft.com/office/powerpoint/2010/main" val="24033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B2A42-9C0B-7805-5D95-AF102C118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F07C5-4CFA-FF06-5AAA-F58C55870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Contrastive learning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EA6EFA-597D-3481-D0D7-0242B0EAB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028700"/>
            <a:ext cx="4686300" cy="33062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BA0F61-7686-4A71-A890-99BD7CD802AA}"/>
              </a:ext>
            </a:extLst>
          </p:cNvPr>
          <p:cNvSpPr txBox="1"/>
          <p:nvPr/>
        </p:nvSpPr>
        <p:spPr>
          <a:xfrm>
            <a:off x="3918812" y="3748207"/>
            <a:ext cx="230736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Loss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77B758-CDA8-D6C0-0D0D-40F9039E68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719" y="2150164"/>
            <a:ext cx="1974327" cy="20238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02826E-1B76-301B-505B-F4766BB18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406" y="4508116"/>
            <a:ext cx="3822836" cy="10412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6BA582-D415-D055-4432-54458B198BC8}"/>
              </a:ext>
            </a:extLst>
          </p:cNvPr>
          <p:cNvSpPr txBox="1"/>
          <p:nvPr/>
        </p:nvSpPr>
        <p:spPr>
          <a:xfrm>
            <a:off x="0" y="4827641"/>
            <a:ext cx="3263406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NT-</a:t>
            </a:r>
            <a:r>
              <a:rPr lang="en-US" dirty="0" err="1"/>
              <a:t>Xent</a:t>
            </a:r>
            <a:r>
              <a:rPr lang="en-US" dirty="0"/>
              <a:t>: normalized temperature-scale cross-entropy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327342-A20A-E163-328C-BE0407784BE6}"/>
              </a:ext>
            </a:extLst>
          </p:cNvPr>
          <p:cNvSpPr txBox="1"/>
          <p:nvPr/>
        </p:nvSpPr>
        <p:spPr>
          <a:xfrm>
            <a:off x="6970823" y="4534148"/>
            <a:ext cx="165622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z </a:t>
            </a:r>
            <a:r>
              <a:rPr lang="en-US" baseline="-25000" dirty="0" err="1"/>
              <a:t>i</a:t>
            </a:r>
            <a:r>
              <a:rPr lang="en-US" baseline="-25000" dirty="0"/>
              <a:t> </a:t>
            </a:r>
            <a:r>
              <a:rPr lang="en-US" dirty="0"/>
              <a:t>and z </a:t>
            </a:r>
            <a:r>
              <a:rPr lang="en-US" baseline="-25000" dirty="0" err="1"/>
              <a:t>i</a:t>
            </a:r>
            <a:r>
              <a:rPr lang="en-US" baseline="-25000" dirty="0"/>
              <a:t>’ </a:t>
            </a:r>
            <a:r>
              <a:rPr lang="en-US" dirty="0"/>
              <a:t>match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1821EC-3C7A-45B0-2511-5DD2BB3CD08F}"/>
              </a:ext>
            </a:extLst>
          </p:cNvPr>
          <p:cNvSpPr txBox="1"/>
          <p:nvPr/>
        </p:nvSpPr>
        <p:spPr>
          <a:xfrm>
            <a:off x="6829425" y="5122438"/>
            <a:ext cx="231457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the z </a:t>
            </a:r>
            <a:r>
              <a:rPr lang="en-US" baseline="-25000" dirty="0"/>
              <a:t>j</a:t>
            </a:r>
            <a:r>
              <a:rPr lang="en-US" dirty="0"/>
              <a:t>’s don’t match z </a:t>
            </a:r>
            <a:r>
              <a:rPr lang="en-US" baseline="-25000" dirty="0" err="1"/>
              <a:t>i</a:t>
            </a:r>
            <a:r>
              <a:rPr lang="en-US" baseline="-25000" dirty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348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D3E6F-5FBD-3795-EC4F-645441244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9DF40-2B07-CBAA-BDD3-827AA649E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Contrastive learning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77F84D-474E-7F7E-54DB-8457682A7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406" y="4508116"/>
            <a:ext cx="3822836" cy="10412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B7C538-849A-BA0D-A3A7-A8201FD1F0FE}"/>
              </a:ext>
            </a:extLst>
          </p:cNvPr>
          <p:cNvSpPr txBox="1"/>
          <p:nvPr/>
        </p:nvSpPr>
        <p:spPr>
          <a:xfrm>
            <a:off x="0" y="4827641"/>
            <a:ext cx="3263406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NT-</a:t>
            </a:r>
            <a:r>
              <a:rPr lang="en-US" dirty="0" err="1"/>
              <a:t>Xent</a:t>
            </a:r>
            <a:r>
              <a:rPr lang="en-US" dirty="0"/>
              <a:t>: normalized temperature-scale cross-entropy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6D9622-0737-90CC-C168-E1B604DE2EBB}"/>
              </a:ext>
            </a:extLst>
          </p:cNvPr>
          <p:cNvSpPr txBox="1"/>
          <p:nvPr/>
        </p:nvSpPr>
        <p:spPr>
          <a:xfrm>
            <a:off x="6970823" y="4534148"/>
            <a:ext cx="165622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z </a:t>
            </a:r>
            <a:r>
              <a:rPr lang="en-US" baseline="-25000" dirty="0" err="1"/>
              <a:t>i</a:t>
            </a:r>
            <a:r>
              <a:rPr lang="en-US" baseline="-25000" dirty="0"/>
              <a:t> </a:t>
            </a:r>
            <a:r>
              <a:rPr lang="en-US" dirty="0"/>
              <a:t>and z </a:t>
            </a:r>
            <a:r>
              <a:rPr lang="en-US" baseline="-25000" dirty="0" err="1"/>
              <a:t>i</a:t>
            </a:r>
            <a:r>
              <a:rPr lang="en-US" baseline="-25000" dirty="0"/>
              <a:t>’ </a:t>
            </a:r>
            <a:r>
              <a:rPr lang="en-US" dirty="0"/>
              <a:t>match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B0ACCA-EEA4-1E30-266F-B039CD8D32D3}"/>
              </a:ext>
            </a:extLst>
          </p:cNvPr>
          <p:cNvSpPr txBox="1"/>
          <p:nvPr/>
        </p:nvSpPr>
        <p:spPr>
          <a:xfrm>
            <a:off x="6829425" y="5122438"/>
            <a:ext cx="231457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the z </a:t>
            </a:r>
            <a:r>
              <a:rPr lang="en-US" baseline="-25000" dirty="0"/>
              <a:t>j</a:t>
            </a:r>
            <a:r>
              <a:rPr lang="en-US" dirty="0"/>
              <a:t>’s don’t match z </a:t>
            </a:r>
            <a:r>
              <a:rPr lang="en-US" baseline="-25000" dirty="0" err="1"/>
              <a:t>i</a:t>
            </a:r>
            <a:r>
              <a:rPr lang="en-US" baseline="-25000" dirty="0"/>
              <a:t>  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3EF973-2E35-FF7F-1BF8-7F7CCECAFBF7}"/>
              </a:ext>
            </a:extLst>
          </p:cNvPr>
          <p:cNvSpPr txBox="1"/>
          <p:nvPr/>
        </p:nvSpPr>
        <p:spPr>
          <a:xfrm>
            <a:off x="6614754" y="5528434"/>
            <a:ext cx="2314575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the z </a:t>
            </a:r>
            <a:r>
              <a:rPr lang="en-US" baseline="-25000" dirty="0"/>
              <a:t>j</a:t>
            </a:r>
            <a:r>
              <a:rPr lang="en-US" dirty="0"/>
              <a:t>’s are negative examples of similarity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8ED633-93BC-DC4C-4F2E-EB733D67F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042" y="2149089"/>
            <a:ext cx="5588000" cy="1943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FA4480-7C11-7612-88BA-9FE7BB450427}"/>
              </a:ext>
            </a:extLst>
          </p:cNvPr>
          <p:cNvSpPr txBox="1"/>
          <p:nvPr/>
        </p:nvSpPr>
        <p:spPr>
          <a:xfrm>
            <a:off x="3135352" y="1329566"/>
            <a:ext cx="362263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Other common contrastive losses</a:t>
            </a:r>
          </a:p>
        </p:txBody>
      </p:sp>
    </p:spTree>
    <p:extLst>
      <p:ext uri="{BB962C8B-B14F-4D97-AF65-F5344CB8AC3E}">
        <p14:creationId xmlns:p14="http://schemas.microsoft.com/office/powerpoint/2010/main" val="18103837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F9B67-8263-E366-C047-3574B0490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Contrastive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B9E8B-D793-98A8-070F-DB98C2A16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1" y="1257300"/>
            <a:ext cx="8350250" cy="25088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How do you select positive pairs?</a:t>
            </a:r>
          </a:p>
          <a:p>
            <a:pPr lvl="1"/>
            <a:r>
              <a:rPr lang="en-US" dirty="0"/>
              <a:t>If you know the downstream retrieval task you can finetune on real pairs</a:t>
            </a:r>
          </a:p>
          <a:p>
            <a:pPr lvl="1"/>
            <a:r>
              <a:rPr lang="en-US" dirty="0"/>
              <a:t>For pre-training image representations, you often create a pair by using a real image and and “</a:t>
            </a:r>
            <a:r>
              <a:rPr lang="en-US" dirty="0">
                <a:solidFill>
                  <a:srgbClr val="0070C0"/>
                </a:solidFill>
              </a:rPr>
              <a:t>augmented</a:t>
            </a:r>
            <a:r>
              <a:rPr lang="en-US" dirty="0"/>
              <a:t>” version of 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144E8-2F0F-2E78-924A-D2B09A2F7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17"/>
          <a:stretch/>
        </p:blipFill>
        <p:spPr>
          <a:xfrm>
            <a:off x="643346" y="3926476"/>
            <a:ext cx="7986305" cy="281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9233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754FF-C79A-883E-A909-A5C3079A2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819E6-6278-3825-F0FB-2631E128B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Contrastive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EC23CF-206E-D142-7411-943C0C91B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29" y="3721991"/>
            <a:ext cx="7089741" cy="313600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9FDB408-DDB5-222F-D4A4-012717213ED0}"/>
              </a:ext>
            </a:extLst>
          </p:cNvPr>
          <p:cNvSpPr txBox="1">
            <a:spLocks/>
          </p:cNvSpPr>
          <p:nvPr/>
        </p:nvSpPr>
        <p:spPr>
          <a:xfrm>
            <a:off x="279401" y="1257300"/>
            <a:ext cx="8350250" cy="25088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How do you select positive pairs?</a:t>
            </a:r>
          </a:p>
          <a:p>
            <a:pPr lvl="1"/>
            <a:r>
              <a:rPr lang="en-US"/>
              <a:t>If you know the downstream retrieval task you can finetune on </a:t>
            </a:r>
            <a:r>
              <a:rPr lang="en-US">
                <a:solidFill>
                  <a:srgbClr val="0070C0"/>
                </a:solidFill>
              </a:rPr>
              <a:t>real pairs</a:t>
            </a:r>
          </a:p>
          <a:p>
            <a:pPr lvl="1"/>
            <a:r>
              <a:rPr lang="en-US"/>
              <a:t>For pre-training image representations, you often create a pair by using a real image and and “augmented” version of it</a:t>
            </a: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8E42878-1E65-D2E3-1585-1CC10A6A09A7}"/>
              </a:ext>
            </a:extLst>
          </p:cNvPr>
          <p:cNvSpPr/>
          <p:nvPr/>
        </p:nvSpPr>
        <p:spPr>
          <a:xfrm>
            <a:off x="885826" y="3611756"/>
            <a:ext cx="1528762" cy="144601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955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31D80-CFF2-59E4-276A-31E680185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F390D-6D91-8EFD-F112-0C5C01F46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Contrastive learning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3EE2C39-7B51-CEC8-0F45-89D95C1337FD}"/>
              </a:ext>
            </a:extLst>
          </p:cNvPr>
          <p:cNvSpPr txBox="1">
            <a:spLocks/>
          </p:cNvSpPr>
          <p:nvPr/>
        </p:nvSpPr>
        <p:spPr>
          <a:xfrm>
            <a:off x="279401" y="1257299"/>
            <a:ext cx="8350250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How do you select negative pairs?</a:t>
            </a:r>
          </a:p>
          <a:p>
            <a:pPr lvl="1"/>
            <a:r>
              <a:rPr lang="en-US" dirty="0"/>
              <a:t>This depends on the application</a:t>
            </a:r>
          </a:p>
          <a:p>
            <a:pPr lvl="1"/>
            <a:r>
              <a:rPr lang="en-US" dirty="0"/>
              <a:t>We’ll talk some about question-answering using LLMs and retrieved documents</a:t>
            </a:r>
          </a:p>
          <a:p>
            <a:r>
              <a:rPr lang="en-US" dirty="0"/>
              <a:t>How do you fine-tune?</a:t>
            </a:r>
          </a:p>
          <a:p>
            <a:pPr lvl="1"/>
            <a:r>
              <a:rPr lang="en-US" dirty="0"/>
              <a:t>This also depends 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5086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984C9-E8AF-896C-5CA1-F403731AD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A26FC-A9B6-D177-D3F7-021B7633C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FOR QUESTION-ANSWERING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79BE0-F61D-E8C6-210F-1A3485F4B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73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7551AD-8930-F471-065A-376D75FBA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87" y="1141291"/>
            <a:ext cx="7772400" cy="26608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74794A-ED6F-A97C-5233-1C9EEB1EA988}"/>
              </a:ext>
            </a:extLst>
          </p:cNvPr>
          <p:cNvSpPr txBox="1"/>
          <p:nvPr/>
        </p:nvSpPr>
        <p:spPr>
          <a:xfrm>
            <a:off x="6215063" y="628650"/>
            <a:ext cx="1928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17509043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2AF9D-3D11-2C20-4695-BAA400E29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State of the 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7F5AC3-DE2B-BAD9-3832-C64E803A3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55" y="1281772"/>
            <a:ext cx="8672185" cy="45046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D3B63B-8F82-32C7-DFC3-1216561CC39B}"/>
              </a:ext>
            </a:extLst>
          </p:cNvPr>
          <p:cNvSpPr txBox="1"/>
          <p:nvPr/>
        </p:nvSpPr>
        <p:spPr>
          <a:xfrm>
            <a:off x="1006185" y="4541890"/>
            <a:ext cx="3028746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Retrieve with TFIDF or BM25 using question as search query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ACA4EB-1A97-C6A3-093B-04F0469D5C49}"/>
              </a:ext>
            </a:extLst>
          </p:cNvPr>
          <p:cNvSpPr txBox="1"/>
          <p:nvPr/>
        </p:nvSpPr>
        <p:spPr>
          <a:xfrm>
            <a:off x="5094783" y="5383033"/>
            <a:ext cx="3177679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 modern “reader” would append the top few retrievals to the question and use that as a prompt for an LLM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26943C-61E6-61E3-004C-A19BE87F5E41}"/>
              </a:ext>
            </a:extLst>
          </p:cNvPr>
          <p:cNvSpPr txBox="1"/>
          <p:nvPr/>
        </p:nvSpPr>
        <p:spPr>
          <a:xfrm>
            <a:off x="5509121" y="4459703"/>
            <a:ext cx="3383438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SOTA in 2020 was based on BERT and extracted a span from the document</a:t>
            </a:r>
          </a:p>
        </p:txBody>
      </p:sp>
    </p:spTree>
    <p:extLst>
      <p:ext uri="{BB962C8B-B14F-4D97-AF65-F5344CB8AC3E}">
        <p14:creationId xmlns:p14="http://schemas.microsoft.com/office/powerpoint/2010/main" val="284791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CFB2D-3F04-9AA0-5177-188A16828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Dense Passage Retriever (DPR)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B3624-5547-B98A-C14E-4B49D8422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450263" cy="311467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Split Wikipedia into “passages”</a:t>
            </a:r>
          </a:p>
          <a:p>
            <a:pPr lvl="1"/>
            <a:r>
              <a:rPr lang="en-US" dirty="0"/>
              <a:t>21M passages, each 100 tokens long</a:t>
            </a:r>
          </a:p>
          <a:p>
            <a:pPr lvl="2"/>
            <a:r>
              <a:rPr lang="en-US" dirty="0"/>
              <a:t>Passages also include the page title</a:t>
            </a:r>
          </a:p>
          <a:p>
            <a:r>
              <a:rPr lang="en-US" dirty="0"/>
              <a:t>Encoder is Bert</a:t>
            </a:r>
          </a:p>
          <a:p>
            <a:pPr lvl="1"/>
            <a:r>
              <a:rPr lang="en-US" dirty="0"/>
              <a:t>“Projection head” is the [CLS] token</a:t>
            </a:r>
          </a:p>
          <a:p>
            <a:r>
              <a:rPr lang="en-US" dirty="0"/>
              <a:t>Process several QA datasets to get triples:</a:t>
            </a:r>
          </a:p>
          <a:p>
            <a:pPr lvl="1"/>
            <a:r>
              <a:rPr lang="en-US" dirty="0"/>
              <a:t>(question, gold passage id, gold answer span)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BF36E1-482F-F38E-04B3-72BACF0D6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0" y="4243387"/>
            <a:ext cx="6569412" cy="2444750"/>
          </a:xfrm>
          <a:prstGeom prst="rect">
            <a:avLst/>
          </a:prstGeom>
        </p:spPr>
      </p:pic>
      <p:sp>
        <p:nvSpPr>
          <p:cNvPr id="5" name="Oval Callout 4">
            <a:extLst>
              <a:ext uri="{FF2B5EF4-FFF2-40B4-BE49-F238E27FC236}">
                <a16:creationId xmlns:a16="http://schemas.microsoft.com/office/drawing/2014/main" id="{B528DE22-9830-8FA9-FAAB-40938E01C7A9}"/>
              </a:ext>
            </a:extLst>
          </p:cNvPr>
          <p:cNvSpPr/>
          <p:nvPr/>
        </p:nvSpPr>
        <p:spPr>
          <a:xfrm>
            <a:off x="7200900" y="1257300"/>
            <a:ext cx="1663700" cy="2171701"/>
          </a:xfrm>
          <a:prstGeom prst="wedgeEllipseCallout">
            <a:avLst>
              <a:gd name="adj1" fmla="val -177110"/>
              <a:gd name="adj2" fmla="val 11854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Filtered questions after heuristics to find gold passages</a:t>
            </a:r>
          </a:p>
        </p:txBody>
      </p:sp>
    </p:spTree>
    <p:extLst>
      <p:ext uri="{BB962C8B-B14F-4D97-AF65-F5344CB8AC3E}">
        <p14:creationId xmlns:p14="http://schemas.microsoft.com/office/powerpoint/2010/main" val="134833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C18CF-DD6D-6F32-9FA6-C53A4122F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CF47D-6B92-6B9C-1A3F-F82CD8E5D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Dense Passage Retriever (DPR)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C43C6-1890-D034-AD2B-8E22C5FEC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450263" cy="505777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Process several QA datasets to get triples:</a:t>
            </a:r>
          </a:p>
          <a:p>
            <a:pPr lvl="1"/>
            <a:r>
              <a:rPr lang="en-US" dirty="0"/>
              <a:t>(question, gold passage id, gold answer span)</a:t>
            </a:r>
          </a:p>
          <a:p>
            <a:r>
              <a:rPr lang="en-US" dirty="0"/>
              <a:t>Triples give positive question/passage examples </a:t>
            </a:r>
            <a:r>
              <a:rPr lang="en-US" i="1" dirty="0"/>
              <a:t>(q</a:t>
            </a:r>
            <a:r>
              <a:rPr lang="en-US" i="1" baseline="-25000" dirty="0"/>
              <a:t>i</a:t>
            </a:r>
            <a:r>
              <a:rPr lang="en-US" i="1" dirty="0"/>
              <a:t>, p</a:t>
            </a:r>
            <a:r>
              <a:rPr lang="en-US" i="1" baseline="-25000" dirty="0"/>
              <a:t>i</a:t>
            </a:r>
            <a:r>
              <a:rPr lang="en-US" i="1" dirty="0"/>
              <a:t>) </a:t>
            </a:r>
            <a:r>
              <a:rPr lang="en-US" dirty="0"/>
              <a:t>encoded in d=768 dimensions by pre-trained BERT</a:t>
            </a:r>
          </a:p>
          <a:p>
            <a:r>
              <a:rPr lang="en-US" b="1" dirty="0"/>
              <a:t>Q</a:t>
            </a:r>
            <a:r>
              <a:rPr lang="en-US" dirty="0"/>
              <a:t> is mini-batch of B questions, </a:t>
            </a:r>
            <a:r>
              <a:rPr lang="en-US" b="1" dirty="0"/>
              <a:t>P </a:t>
            </a:r>
            <a:r>
              <a:rPr lang="en-US" dirty="0"/>
              <a:t>is B passages, S = QP</a:t>
            </a:r>
            <a:r>
              <a:rPr lang="en-US" baseline="30000" dirty="0"/>
              <a:t>T </a:t>
            </a:r>
            <a:r>
              <a:rPr lang="en-US" dirty="0"/>
              <a:t>is (B x B) matrix of similarity scores</a:t>
            </a:r>
          </a:p>
          <a:p>
            <a:pPr lvl="1"/>
            <a:r>
              <a:rPr lang="en-US" dirty="0"/>
              <a:t>score is positive for</a:t>
            </a:r>
            <a:r>
              <a:rPr lang="en-US" i="1" dirty="0"/>
              <a:t> q</a:t>
            </a:r>
            <a:r>
              <a:rPr lang="en-US" i="1" baseline="-25000" dirty="0"/>
              <a:t>i</a:t>
            </a:r>
            <a:r>
              <a:rPr lang="en-US" i="1" dirty="0"/>
              <a:t>, </a:t>
            </a:r>
            <a:r>
              <a:rPr lang="en-US" i="1" dirty="0" err="1"/>
              <a:t>p</a:t>
            </a:r>
            <a:r>
              <a:rPr lang="en-US" i="1" baseline="-25000" dirty="0" err="1"/>
              <a:t>j</a:t>
            </a:r>
            <a:r>
              <a:rPr lang="en-US" i="1" baseline="-25000" dirty="0"/>
              <a:t> 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i="1" dirty="0" err="1"/>
              <a:t>i</a:t>
            </a:r>
            <a:r>
              <a:rPr lang="en-US" i="1" dirty="0"/>
              <a:t>=j</a:t>
            </a:r>
          </a:p>
          <a:p>
            <a:pPr lvl="2"/>
            <a:r>
              <a:rPr lang="en-US" dirty="0"/>
              <a:t>“in-batch negatives” trick</a:t>
            </a:r>
          </a:p>
          <a:p>
            <a:pPr lvl="1"/>
            <a:r>
              <a:rPr lang="en-US" dirty="0"/>
              <a:t>also add as additional negatives</a:t>
            </a:r>
          </a:p>
          <a:p>
            <a:pPr lvl="2"/>
            <a:r>
              <a:rPr lang="en-US" dirty="0"/>
              <a:t>random passages (doesn’t help)</a:t>
            </a:r>
          </a:p>
          <a:p>
            <a:pPr lvl="2"/>
            <a:r>
              <a:rPr lang="en-US" dirty="0"/>
              <a:t>1-2 passages with high TFIDF score to </a:t>
            </a:r>
            <a:r>
              <a:rPr lang="en-US" i="1" dirty="0"/>
              <a:t>q </a:t>
            </a:r>
            <a:r>
              <a:rPr lang="en-US" dirty="0"/>
              <a:t>which do </a:t>
            </a:r>
            <a:r>
              <a:rPr lang="en-US" b="1" dirty="0"/>
              <a:t>not </a:t>
            </a:r>
            <a:r>
              <a:rPr lang="en-US" dirty="0"/>
              <a:t> contain the answer span (“hard negatives”)</a:t>
            </a:r>
          </a:p>
          <a:p>
            <a:r>
              <a:rPr lang="en-US" dirty="0"/>
              <a:t>Separate encoders for queries and documents</a:t>
            </a:r>
          </a:p>
          <a:p>
            <a:pPr lvl="1"/>
            <a:r>
              <a:rPr lang="en-US" dirty="0"/>
              <a:t>more recent models usually don’t do this</a:t>
            </a:r>
          </a:p>
          <a:p>
            <a:endParaRPr lang="en-US" dirty="0"/>
          </a:p>
        </p:txBody>
      </p:sp>
      <p:sp>
        <p:nvSpPr>
          <p:cNvPr id="6" name="Oval Callout 5">
            <a:extLst>
              <a:ext uri="{FF2B5EF4-FFF2-40B4-BE49-F238E27FC236}">
                <a16:creationId xmlns:a16="http://schemas.microsoft.com/office/drawing/2014/main" id="{31FD5429-7EF8-ADF6-7A5D-72FD9798F4DA}"/>
              </a:ext>
            </a:extLst>
          </p:cNvPr>
          <p:cNvSpPr/>
          <p:nvPr/>
        </p:nvSpPr>
        <p:spPr>
          <a:xfrm>
            <a:off x="7200900" y="1585913"/>
            <a:ext cx="1663700" cy="1843088"/>
          </a:xfrm>
          <a:prstGeom prst="wedgeEllipseCallout">
            <a:avLst>
              <a:gd name="adj1" fmla="val -200297"/>
              <a:gd name="adj2" fmla="val 6920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Each batch has B  * (B-1) pairs</a:t>
            </a:r>
          </a:p>
        </p:txBody>
      </p:sp>
      <p:sp>
        <p:nvSpPr>
          <p:cNvPr id="7" name="Oval Callout 6">
            <a:extLst>
              <a:ext uri="{FF2B5EF4-FFF2-40B4-BE49-F238E27FC236}">
                <a16:creationId xmlns:a16="http://schemas.microsoft.com/office/drawing/2014/main" id="{69F80938-912E-3454-ABC9-0F1BE6BFD54B}"/>
              </a:ext>
            </a:extLst>
          </p:cNvPr>
          <p:cNvSpPr/>
          <p:nvPr/>
        </p:nvSpPr>
        <p:spPr>
          <a:xfrm>
            <a:off x="7200900" y="3589339"/>
            <a:ext cx="1663700" cy="1843088"/>
          </a:xfrm>
          <a:prstGeom prst="wedgeEllipseCallout">
            <a:avLst>
              <a:gd name="adj1" fmla="val -196003"/>
              <a:gd name="adj2" fmla="val -3312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You need large B for the trick to work:</a:t>
            </a:r>
          </a:p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B=128</a:t>
            </a:r>
          </a:p>
        </p:txBody>
      </p:sp>
    </p:spTree>
    <p:extLst>
      <p:ext uri="{BB962C8B-B14F-4D97-AF65-F5344CB8AC3E}">
        <p14:creationId xmlns:p14="http://schemas.microsoft.com/office/powerpoint/2010/main" val="730009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78428-AD23-03BF-3D17-1E44F212B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Dense Passage Retriever (DPR)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379411-7298-A21F-2B79-AE6BAF9591AE}"/>
              </a:ext>
            </a:extLst>
          </p:cNvPr>
          <p:cNvSpPr txBox="1"/>
          <p:nvPr/>
        </p:nvSpPr>
        <p:spPr>
          <a:xfrm>
            <a:off x="1685924" y="5822731"/>
            <a:ext cx="6229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NQ top-k retrieval accuracy: fraction of questions for which retrieval set contains a span which answers the question.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C20A04-3113-B595-610C-F0D664338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0" y="1181100"/>
            <a:ext cx="6032500" cy="4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4469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BA987-46DB-4A58-6879-2F3CF5E97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Discussion </a:t>
            </a:r>
            <a:r>
              <a:rPr lang="en-US"/>
              <a:t>of DPR</a:t>
            </a:r>
            <a:br>
              <a:rPr lang="en-US"/>
            </a:br>
            <a:r>
              <a:rPr lang="en-US"/>
              <a:t>AND SOME USEFUL TRICKS</a:t>
            </a:r>
            <a:br>
              <a:rPr lang="en-US"/>
            </a:br>
            <a:r>
              <a:rPr lang="en-US"/>
              <a:t>FOR CONTRASTIVE LEARNING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48BA0-AFB5-AE75-C46B-FF81581FA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6086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487A8-FFC5-E803-5F73-5E236D036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B6FF4-66A0-A90E-17C2-B13BD3945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325199"/>
            <a:ext cx="8648700" cy="804862"/>
          </a:xfrm>
        </p:spPr>
        <p:txBody>
          <a:bodyPr/>
          <a:lstStyle/>
          <a:p>
            <a:r>
              <a:rPr lang="en-US" dirty="0"/>
              <a:t>Discussion of DPR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1D9AB-DC92-29F7-9B07-8894AFE1E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3" y="1096962"/>
            <a:ext cx="6392838" cy="43144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Encoder used in DPR:</a:t>
            </a:r>
          </a:p>
          <a:p>
            <a:pPr lvl="1"/>
            <a:r>
              <a:rPr lang="en-US" dirty="0"/>
              <a:t>BERT with [CLS] token</a:t>
            </a:r>
          </a:p>
          <a:p>
            <a:pPr lvl="2"/>
            <a:r>
              <a:rPr lang="en-US" dirty="0"/>
              <a:t>The obvious choice in 2020</a:t>
            </a:r>
          </a:p>
          <a:p>
            <a:pPr lvl="2"/>
            <a:r>
              <a:rPr lang="en-US" dirty="0"/>
              <a:t>Still a very </a:t>
            </a:r>
            <a:r>
              <a:rPr lang="en-US" b="1" dirty="0"/>
              <a:t>good</a:t>
            </a:r>
            <a:r>
              <a:rPr lang="en-US" dirty="0"/>
              <a:t> choice </a:t>
            </a:r>
          </a:p>
          <a:p>
            <a:pPr lvl="1"/>
            <a:r>
              <a:rPr lang="en-US" dirty="0"/>
              <a:t>Decoder only models: intuitively</a:t>
            </a:r>
          </a:p>
          <a:p>
            <a:pPr lvl="2"/>
            <a:r>
              <a:rPr lang="en-US" dirty="0"/>
              <a:t>Token representations don’t “know” about tokens appearing after them (causal attention)</a:t>
            </a:r>
          </a:p>
          <a:p>
            <a:pPr lvl="1"/>
            <a:endParaRPr lang="en-US" dirty="0"/>
          </a:p>
        </p:txBody>
      </p:sp>
      <p:pic>
        <p:nvPicPr>
          <p:cNvPr id="8" name="Picture 2" descr="Architecture of the GPT family of models">
            <a:extLst>
              <a:ext uri="{FF2B5EF4-FFF2-40B4-BE49-F238E27FC236}">
                <a16:creationId xmlns:a16="http://schemas.microsoft.com/office/drawing/2014/main" id="{75D68046-1C95-2B68-1A4C-CABBE363BC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18" t="15441"/>
          <a:stretch/>
        </p:blipFill>
        <p:spPr bwMode="auto">
          <a:xfrm>
            <a:off x="7000875" y="3428999"/>
            <a:ext cx="1765806" cy="328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DA1691-C637-7861-16DE-525B6ADBFAEF}"/>
              </a:ext>
            </a:extLst>
          </p:cNvPr>
          <p:cNvSpPr txBox="1"/>
          <p:nvPr/>
        </p:nvSpPr>
        <p:spPr>
          <a:xfrm>
            <a:off x="7142663" y="2899864"/>
            <a:ext cx="1482229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Decoder only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E4F8B52-B782-4A83-6AB2-B5A03DC373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153" b="6173"/>
          <a:stretch/>
        </p:blipFill>
        <p:spPr bwMode="auto">
          <a:xfrm>
            <a:off x="6914505" y="834143"/>
            <a:ext cx="1938544" cy="180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1923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73623-C477-6FDC-06FE-3391FC436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59ABD-D7D6-5F72-F7FE-CE8B115F7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325199"/>
            <a:ext cx="8648700" cy="804862"/>
          </a:xfrm>
        </p:spPr>
        <p:txBody>
          <a:bodyPr/>
          <a:lstStyle/>
          <a:p>
            <a:r>
              <a:rPr lang="en-US" dirty="0"/>
              <a:t>Discussion of DPR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59B03-14AC-4871-E5C6-626CF5C1B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2" y="1096963"/>
            <a:ext cx="8648700" cy="175736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Encoder used in DPR:</a:t>
            </a:r>
          </a:p>
          <a:p>
            <a:pPr lvl="1"/>
            <a:r>
              <a:rPr lang="en-US" dirty="0"/>
              <a:t>BERT with [CLS] token</a:t>
            </a:r>
          </a:p>
          <a:p>
            <a:pPr lvl="2"/>
            <a:r>
              <a:rPr lang="en-US" dirty="0"/>
              <a:t>The obvious choice in 2020</a:t>
            </a:r>
          </a:p>
          <a:p>
            <a:pPr lvl="2"/>
            <a:r>
              <a:rPr lang="en-US" dirty="0"/>
              <a:t>Still a very </a:t>
            </a:r>
            <a:r>
              <a:rPr lang="en-US" b="1" dirty="0"/>
              <a:t>good</a:t>
            </a:r>
            <a:r>
              <a:rPr lang="en-US" dirty="0"/>
              <a:t> choice </a:t>
            </a:r>
          </a:p>
          <a:p>
            <a:pPr lvl="1"/>
            <a:r>
              <a:rPr lang="en-US" dirty="0"/>
              <a:t>Encoder-only and encoder-decoder models have a “</a:t>
            </a:r>
            <a:r>
              <a:rPr lang="en-US" dirty="0">
                <a:highlight>
                  <a:srgbClr val="00FF00"/>
                </a:highlight>
              </a:rPr>
              <a:t>bottleneck</a:t>
            </a:r>
            <a:r>
              <a:rPr lang="en-US" dirty="0"/>
              <a:t>”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08499B-D802-EE85-3CDC-6E19C00C17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522" b="9218"/>
          <a:stretch/>
        </p:blipFill>
        <p:spPr>
          <a:xfrm>
            <a:off x="443307" y="3689354"/>
            <a:ext cx="3060969" cy="2876546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0E337E71-0D41-BF84-3306-8AAF4B84D1B1}"/>
              </a:ext>
            </a:extLst>
          </p:cNvPr>
          <p:cNvSpPr/>
          <p:nvPr/>
        </p:nvSpPr>
        <p:spPr>
          <a:xfrm>
            <a:off x="657619" y="4028944"/>
            <a:ext cx="569001" cy="346210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Architecture of the GPT family of models">
            <a:extLst>
              <a:ext uri="{FF2B5EF4-FFF2-40B4-BE49-F238E27FC236}">
                <a16:creationId xmlns:a16="http://schemas.microsoft.com/office/drawing/2014/main" id="{101811A8-1C07-8581-9F86-16FD367053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18" t="16612"/>
          <a:stretch/>
        </p:blipFill>
        <p:spPr bwMode="auto">
          <a:xfrm>
            <a:off x="7000875" y="3474519"/>
            <a:ext cx="1765806" cy="3240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7544B0-4FB0-05A6-B5C8-B314D9AE6853}"/>
              </a:ext>
            </a:extLst>
          </p:cNvPr>
          <p:cNvSpPr txBox="1"/>
          <p:nvPr/>
        </p:nvSpPr>
        <p:spPr>
          <a:xfrm>
            <a:off x="1361642" y="3474520"/>
            <a:ext cx="1482229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Encoder only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94EFC2-D48D-8C34-5793-99DC2131665F}"/>
              </a:ext>
            </a:extLst>
          </p:cNvPr>
          <p:cNvSpPr txBox="1"/>
          <p:nvPr/>
        </p:nvSpPr>
        <p:spPr>
          <a:xfrm>
            <a:off x="7142663" y="2854324"/>
            <a:ext cx="1482229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Decoder only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430C328-BA68-DDAF-E59C-A0C47105C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708" y="3068347"/>
            <a:ext cx="2474237" cy="364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9B0ADB-D09A-333C-7511-05F32E60CE12}"/>
              </a:ext>
            </a:extLst>
          </p:cNvPr>
          <p:cNvSpPr txBox="1"/>
          <p:nvPr/>
        </p:nvSpPr>
        <p:spPr>
          <a:xfrm>
            <a:off x="3900005" y="3357346"/>
            <a:ext cx="1054303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Encoder-decoder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896EA2D-7991-6A14-1D55-47A293783EFF}"/>
              </a:ext>
            </a:extLst>
          </p:cNvPr>
          <p:cNvSpPr/>
          <p:nvPr/>
        </p:nvSpPr>
        <p:spPr>
          <a:xfrm>
            <a:off x="4690817" y="4179821"/>
            <a:ext cx="569001" cy="346210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4336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D0BCF-266D-BBB4-9E7B-ADE8106BB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5CC2C-6B04-5814-284F-01AFBAA1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325199"/>
            <a:ext cx="8648700" cy="804862"/>
          </a:xfrm>
        </p:spPr>
        <p:txBody>
          <a:bodyPr/>
          <a:lstStyle/>
          <a:p>
            <a:r>
              <a:rPr lang="en-US" dirty="0"/>
              <a:t>Discussion of DPR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F8D74-8C07-E309-26FC-859F44F7A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1" y="1096962"/>
            <a:ext cx="8529641" cy="181292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Encoder used in DPR:</a:t>
            </a:r>
          </a:p>
          <a:p>
            <a:pPr lvl="1"/>
            <a:r>
              <a:rPr lang="en-US" dirty="0"/>
              <a:t>BERT with [CLS] token</a:t>
            </a:r>
          </a:p>
          <a:p>
            <a:pPr lvl="2"/>
            <a:r>
              <a:rPr lang="en-US" dirty="0"/>
              <a:t>The obvious choice in 2020</a:t>
            </a:r>
          </a:p>
          <a:p>
            <a:pPr lvl="2"/>
            <a:r>
              <a:rPr lang="en-US" dirty="0"/>
              <a:t>Still a very </a:t>
            </a:r>
            <a:r>
              <a:rPr lang="en-US" b="1" dirty="0"/>
              <a:t>good</a:t>
            </a:r>
            <a:r>
              <a:rPr lang="en-US" dirty="0"/>
              <a:t> choice </a:t>
            </a:r>
          </a:p>
          <a:p>
            <a:pPr lvl="1"/>
            <a:r>
              <a:rPr lang="en-US" dirty="0"/>
              <a:t>Encoder-only and encoder-decoder models have a “</a:t>
            </a:r>
            <a:r>
              <a:rPr lang="en-US" dirty="0">
                <a:highlight>
                  <a:srgbClr val="00FF00"/>
                </a:highlight>
              </a:rPr>
              <a:t>bottleneck</a:t>
            </a:r>
            <a:r>
              <a:rPr lang="en-US" dirty="0"/>
              <a:t>”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C875D0-790D-BA62-13A6-162C1F849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931" y="2909887"/>
            <a:ext cx="5143500" cy="3810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954CECA-C28E-7755-0FC7-19FB9483C0E0}"/>
              </a:ext>
            </a:extLst>
          </p:cNvPr>
          <p:cNvSpPr txBox="1">
            <a:spLocks/>
          </p:cNvSpPr>
          <p:nvPr/>
        </p:nvSpPr>
        <p:spPr>
          <a:xfrm>
            <a:off x="254790" y="3041650"/>
            <a:ext cx="3386141" cy="31877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Later work on encoders for retrieval tends to improve bottlenecking behavior</a:t>
            </a:r>
          </a:p>
          <a:p>
            <a:pPr lvl="1"/>
            <a:r>
              <a:rPr lang="en-US" dirty="0"/>
              <a:t>E.g., “Condenser” architecture (Gao and Callan, 2021) tries to make the [CLS] embedding work even harder</a:t>
            </a:r>
          </a:p>
          <a:p>
            <a:pPr lvl="1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FFF718-DB8D-0515-B428-17B6C0DF59DF}"/>
              </a:ext>
            </a:extLst>
          </p:cNvPr>
          <p:cNvSpPr/>
          <p:nvPr/>
        </p:nvSpPr>
        <p:spPr>
          <a:xfrm>
            <a:off x="3994605" y="3681650"/>
            <a:ext cx="991733" cy="87947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636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D11E-8283-78B0-D9FF-C37AA5B47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of DPR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CC03A-356F-F020-C3D3-340964470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06362" y="1257301"/>
            <a:ext cx="8924898" cy="21716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DPR performs less well on queries about rare entities</a:t>
            </a:r>
          </a:p>
          <a:p>
            <a:pPr lvl="1"/>
            <a:r>
              <a:rPr lang="en-US" dirty="0"/>
              <a:t>TFIDF weights rare words heavily</a:t>
            </a:r>
          </a:p>
          <a:p>
            <a:pPr lvl="1"/>
            <a:r>
              <a:rPr lang="en-US" dirty="0"/>
              <a:t>DPR is trained on questions about (mostly) common entities</a:t>
            </a:r>
          </a:p>
        </p:txBody>
      </p:sp>
    </p:spTree>
    <p:extLst>
      <p:ext uri="{BB962C8B-B14F-4D97-AF65-F5344CB8AC3E}">
        <p14:creationId xmlns:p14="http://schemas.microsoft.com/office/powerpoint/2010/main" val="20359312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247B22-010C-60EF-9450-AC5F8AF99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852170"/>
            <a:ext cx="7772400" cy="23247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21F316-D747-BE6C-00DE-18463FC33D97}"/>
              </a:ext>
            </a:extLst>
          </p:cNvPr>
          <p:cNvSpPr txBox="1"/>
          <p:nvPr/>
        </p:nvSpPr>
        <p:spPr>
          <a:xfrm>
            <a:off x="6472238" y="414338"/>
            <a:ext cx="1728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C852CB-E76E-94E6-EB4C-3D0D8F3FE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6" y="3048803"/>
            <a:ext cx="9141564" cy="328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0557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90FF9-1C86-15BB-09F0-E1ECE475C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616660C-CF18-A27A-0425-D78C1E936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160" y="342741"/>
            <a:ext cx="6228887" cy="617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263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3F866-3D5F-7976-A645-5A5E1A2CC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6C800-A372-2DDD-A4FE-B8D54E75F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of DPR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FF3D6-4E15-B8EE-CFBB-FDA064A41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9213" y="1257301"/>
            <a:ext cx="4621213" cy="458628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Contrastively learned encoders are </a:t>
            </a:r>
            <a:r>
              <a:rPr lang="en-US" b="1" dirty="0"/>
              <a:t>limited</a:t>
            </a:r>
          </a:p>
          <a:p>
            <a:pPr lvl="1"/>
            <a:r>
              <a:rPr lang="en-US" dirty="0"/>
              <a:t>They </a:t>
            </a:r>
            <a:r>
              <a:rPr lang="en-US" b="1" dirty="0"/>
              <a:t>don’t know </a:t>
            </a:r>
            <a:r>
              <a:rPr lang="en-US" dirty="0"/>
              <a:t>what the </a:t>
            </a:r>
            <a:r>
              <a:rPr lang="en-US" b="1" dirty="0"/>
              <a:t>question</a:t>
            </a:r>
            <a:r>
              <a:rPr lang="en-US" dirty="0"/>
              <a:t> is when they encode a </a:t>
            </a:r>
            <a:r>
              <a:rPr lang="en-US" b="1" dirty="0"/>
              <a:t>document</a:t>
            </a:r>
          </a:p>
          <a:p>
            <a:pPr lvl="1"/>
            <a:r>
              <a:rPr lang="en-US" dirty="0"/>
              <a:t>So they can’t represent the </a:t>
            </a:r>
            <a:r>
              <a:rPr lang="en-US" b="1" dirty="0"/>
              <a:t>relation</a:t>
            </a:r>
            <a:r>
              <a:rPr lang="en-US" dirty="0"/>
              <a:t> between the document and the questions</a:t>
            </a:r>
          </a:p>
          <a:p>
            <a:r>
              <a:rPr lang="en-US" dirty="0"/>
              <a:t>One solution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Retrieve</a:t>
            </a:r>
            <a:r>
              <a:rPr lang="en-US" dirty="0"/>
              <a:t> documents with a </a:t>
            </a:r>
            <a:r>
              <a:rPr lang="en-US" dirty="0">
                <a:solidFill>
                  <a:srgbClr val="0070C0"/>
                </a:solidFill>
              </a:rPr>
              <a:t>fast</a:t>
            </a:r>
            <a:r>
              <a:rPr lang="en-US" dirty="0"/>
              <a:t> contrastive model</a:t>
            </a:r>
          </a:p>
          <a:p>
            <a:pPr lvl="1"/>
            <a:r>
              <a:rPr lang="en-US" dirty="0" err="1">
                <a:solidFill>
                  <a:srgbClr val="0070C0"/>
                </a:solidFill>
              </a:rPr>
              <a:t>Rerank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them with a </a:t>
            </a:r>
            <a:r>
              <a:rPr lang="en-US" dirty="0">
                <a:solidFill>
                  <a:srgbClr val="0070C0"/>
                </a:solidFill>
              </a:rPr>
              <a:t>more powerful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29A4F8-DFFD-C77A-2B2E-8967AEFF37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9" r="10365"/>
          <a:stretch/>
        </p:blipFill>
        <p:spPr>
          <a:xfrm>
            <a:off x="4778375" y="244220"/>
            <a:ext cx="4086225" cy="33062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731B95-7E45-237F-7C58-EF2546606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374" y="3914775"/>
            <a:ext cx="4285351" cy="252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969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4FD63-E587-4CFF-EE6F-413F0ACCB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A8C5B-664C-D645-3BE4-43D185704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Cross-Encoders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4742D8-4123-4FD1-0CF1-AD2FAA7766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9" r="10365"/>
          <a:stretch/>
        </p:blipFill>
        <p:spPr>
          <a:xfrm>
            <a:off x="728663" y="1096962"/>
            <a:ext cx="3287381" cy="2659868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C0813B-2B24-3E6A-4234-6006DE61C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4" y="3955610"/>
            <a:ext cx="7772400" cy="23308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EF10D5-AD0F-06E9-11C7-86E0FF6AE7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470" r="9522" b="19412"/>
          <a:stretch/>
        </p:blipFill>
        <p:spPr>
          <a:xfrm>
            <a:off x="4603750" y="1096962"/>
            <a:ext cx="3886200" cy="26598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3BF1A0-0EB3-93B9-3A0D-D30166A780E7}"/>
              </a:ext>
            </a:extLst>
          </p:cNvPr>
          <p:cNvSpPr txBox="1"/>
          <p:nvPr/>
        </p:nvSpPr>
        <p:spPr>
          <a:xfrm>
            <a:off x="5592473" y="3756830"/>
            <a:ext cx="85119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query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F4BCDD-AFC6-F562-F867-07CECFDBD186}"/>
              </a:ext>
            </a:extLst>
          </p:cNvPr>
          <p:cNvSpPr txBox="1"/>
          <p:nvPr/>
        </p:nvSpPr>
        <p:spPr>
          <a:xfrm>
            <a:off x="6979875" y="3770944"/>
            <a:ext cx="151007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i-th</a:t>
            </a:r>
            <a:r>
              <a:rPr lang="en-US" dirty="0"/>
              <a:t> candidate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9BFDD2-4729-015D-51BD-BEEFCCBE716B}"/>
              </a:ext>
            </a:extLst>
          </p:cNvPr>
          <p:cNvSpPr txBox="1"/>
          <p:nvPr/>
        </p:nvSpPr>
        <p:spPr>
          <a:xfrm>
            <a:off x="4755954" y="4837925"/>
            <a:ext cx="1300161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c2, …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254757-4A36-589C-4ABD-BAEE6195C684}"/>
              </a:ext>
            </a:extLst>
          </p:cNvPr>
          <p:cNvCxnSpPr/>
          <p:nvPr/>
        </p:nvCxnSpPr>
        <p:spPr>
          <a:xfrm flipV="1">
            <a:off x="2671763" y="4257675"/>
            <a:ext cx="2920710" cy="985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49F947C-6477-ECEE-0D80-B5D21BD9E85D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6056115" y="4324942"/>
            <a:ext cx="1746264" cy="6976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Up Arrow 17">
            <a:extLst>
              <a:ext uri="{FF2B5EF4-FFF2-40B4-BE49-F238E27FC236}">
                <a16:creationId xmlns:a16="http://schemas.microsoft.com/office/drawing/2014/main" id="{06493D06-F250-2991-B113-52DB1C4FDDEE}"/>
              </a:ext>
            </a:extLst>
          </p:cNvPr>
          <p:cNvSpPr/>
          <p:nvPr/>
        </p:nvSpPr>
        <p:spPr>
          <a:xfrm>
            <a:off x="4956508" y="931636"/>
            <a:ext cx="635965" cy="528637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A5788A-54DB-830D-C7C2-4935E98865A9}"/>
              </a:ext>
            </a:extLst>
          </p:cNvPr>
          <p:cNvSpPr txBox="1"/>
          <p:nvPr/>
        </p:nvSpPr>
        <p:spPr>
          <a:xfrm>
            <a:off x="5036775" y="498232"/>
            <a:ext cx="369288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relevance of </a:t>
            </a:r>
            <a:r>
              <a:rPr lang="en-US" dirty="0" err="1"/>
              <a:t>i-th</a:t>
            </a:r>
            <a:r>
              <a:rPr lang="en-US" dirty="0"/>
              <a:t> candidate to query</a:t>
            </a:r>
          </a:p>
        </p:txBody>
      </p:sp>
    </p:spTree>
    <p:extLst>
      <p:ext uri="{BB962C8B-B14F-4D97-AF65-F5344CB8AC3E}">
        <p14:creationId xmlns:p14="http://schemas.microsoft.com/office/powerpoint/2010/main" val="766135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D9D91-2BDB-D3F6-B085-1969EAE72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96755-5318-D5C9-CE51-3D325170E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of DPR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FB889-613B-9F76-C8A3-633D13624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9213" y="1257302"/>
            <a:ext cx="4413719" cy="410051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Contrastively learned encoders are </a:t>
            </a:r>
            <a:r>
              <a:rPr lang="en-US" b="1" dirty="0"/>
              <a:t>limited</a:t>
            </a:r>
          </a:p>
          <a:p>
            <a:r>
              <a:rPr lang="en-US" dirty="0"/>
              <a:t>A second solution</a:t>
            </a:r>
          </a:p>
          <a:p>
            <a:pPr lvl="1"/>
            <a:r>
              <a:rPr lang="en-US" dirty="0"/>
              <a:t>Store and index </a:t>
            </a:r>
            <a:r>
              <a:rPr lang="en-US" dirty="0">
                <a:solidFill>
                  <a:srgbClr val="0070C0"/>
                </a:solidFill>
              </a:rPr>
              <a:t>every token representation </a:t>
            </a:r>
            <a:r>
              <a:rPr lang="en-US" dirty="0"/>
              <a:t>in the document and query</a:t>
            </a:r>
          </a:p>
          <a:p>
            <a:pPr lvl="1"/>
            <a:r>
              <a:rPr lang="en-US" dirty="0"/>
              <a:t>Score document-query similarity by the </a:t>
            </a:r>
            <a:r>
              <a:rPr lang="en-US" dirty="0">
                <a:solidFill>
                  <a:srgbClr val="0070C0"/>
                </a:solidFill>
              </a:rPr>
              <a:t>maximum similarity of any token pair</a:t>
            </a:r>
          </a:p>
          <a:p>
            <a:r>
              <a:rPr lang="en-US" dirty="0"/>
              <a:t>This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approach is used in the COLBERT retrieval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6AEB56-4972-064C-36B2-66CF11CF4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374" y="3914775"/>
            <a:ext cx="4285351" cy="25275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EC45D1-0517-B0B0-8900-BDFA74EC9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0007" y="901447"/>
            <a:ext cx="4413718" cy="282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7839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FB327-F165-DA64-FDD8-CE401F888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8CE1D-646A-60DE-7752-8B94C8D6A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of DPR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517A6-C355-DEC9-EE21-2DC58C082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9213" y="1257302"/>
            <a:ext cx="8648700" cy="27051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 second solution</a:t>
            </a:r>
          </a:p>
          <a:p>
            <a:pPr lvl="1"/>
            <a:r>
              <a:rPr lang="en-US" dirty="0"/>
              <a:t>Store and index </a:t>
            </a:r>
            <a:r>
              <a:rPr lang="en-US" dirty="0">
                <a:solidFill>
                  <a:srgbClr val="0070C0"/>
                </a:solidFill>
              </a:rPr>
              <a:t>every token representation </a:t>
            </a:r>
            <a:r>
              <a:rPr lang="en-US" dirty="0"/>
              <a:t>in the document and query</a:t>
            </a:r>
          </a:p>
          <a:p>
            <a:pPr lvl="1"/>
            <a:r>
              <a:rPr lang="en-US" dirty="0"/>
              <a:t>Score document-query similarity by the </a:t>
            </a:r>
            <a:r>
              <a:rPr lang="en-US" dirty="0">
                <a:solidFill>
                  <a:srgbClr val="0070C0"/>
                </a:solidFill>
              </a:rPr>
              <a:t>maximum similarity of any token pair</a:t>
            </a:r>
          </a:p>
          <a:p>
            <a:r>
              <a:rPr lang="en-US" dirty="0"/>
              <a:t>This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approach is used in the COLBERT retrieval system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Intermediate</a:t>
            </a:r>
            <a:r>
              <a:rPr lang="en-US" dirty="0"/>
              <a:t> in cost and effectiveness (between contrastive and reranking)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F0800E-79B1-31A0-D824-285AC2BD5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288" y="3860800"/>
            <a:ext cx="58928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019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E8A72-4DDD-9F58-95F3-83D7AF17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Contrastive Learning:</a:t>
            </a:r>
            <a:br>
              <a:rPr lang="en-US" dirty="0"/>
            </a:br>
            <a:r>
              <a:rPr lang="en-US" dirty="0"/>
              <a:t>Some Useful TRICKS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20EF5-A5C6-5C27-028A-BD676A496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926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D728E-0133-26D7-A3D9-4E631200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CE3FA-5869-6DAD-4FC2-FB24DAC2F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Triplet Loss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82A68E-C52F-3F5F-7F0E-C2C5A26B7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12" y="1391851"/>
            <a:ext cx="7296555" cy="25372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52F4A4-F74B-3C0D-6C41-B8FE8A470AC9}"/>
              </a:ext>
            </a:extLst>
          </p:cNvPr>
          <p:cNvSpPr txBox="1"/>
          <p:nvPr/>
        </p:nvSpPr>
        <p:spPr>
          <a:xfrm>
            <a:off x="914400" y="4583828"/>
            <a:ext cx="4700587" cy="194499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lang="en-US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 v </a:t>
            </a:r>
            <a:r>
              <a:rPr lang="en-US" sz="2000" b="1" i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similarity of negative 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u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lang="en-US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 v </a:t>
            </a:r>
            <a:r>
              <a:rPr lang="en-US" sz="2000" b="1" i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similarity of positive 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u </a:t>
            </a:r>
            <a:r>
              <a:rPr lang="en-US" sz="2000" b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our goal is </a:t>
            </a:r>
            <a:r>
              <a:rPr lang="en-US" sz="20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lang="en-US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 v </a:t>
            </a:r>
            <a:r>
              <a:rPr lang="en-US" sz="2000" b="1" i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  &gt;  </a:t>
            </a:r>
            <a:r>
              <a:rPr lang="en-US" sz="20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lang="en-US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 v </a:t>
            </a:r>
            <a:r>
              <a:rPr lang="en-US" sz="2000" b="1" i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even stronger pos&gt;neg by a ”margin” m:  	</a:t>
            </a:r>
            <a:r>
              <a:rPr lang="en-US" sz="20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lang="en-US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 v </a:t>
            </a:r>
            <a:r>
              <a:rPr lang="en-US" sz="2000" b="1" i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  &gt;  </a:t>
            </a:r>
            <a:r>
              <a:rPr lang="en-US" sz="20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lang="en-US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 v </a:t>
            </a:r>
            <a:r>
              <a:rPr lang="en-US" sz="2000" b="1" i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  + </a:t>
            </a: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suffer a loss if  (</a:t>
            </a:r>
            <a:r>
              <a:rPr lang="en-US" sz="20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lang="en-US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 v </a:t>
            </a:r>
            <a:r>
              <a:rPr lang="en-US" sz="2000" b="1" i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  + </a:t>
            </a: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m) - </a:t>
            </a:r>
            <a:r>
              <a:rPr lang="en-US" sz="20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lang="en-US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 v </a:t>
            </a:r>
            <a:r>
              <a:rPr lang="en-US" sz="2000" b="1" i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&gt; 0</a:t>
            </a:r>
            <a:endParaRPr lang="en-US" sz="20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B1B8C4D-C738-03A2-F722-4370958DE154}"/>
              </a:ext>
            </a:extLst>
          </p:cNvPr>
          <p:cNvCxnSpPr/>
          <p:nvPr/>
        </p:nvCxnSpPr>
        <p:spPr>
          <a:xfrm flipV="1">
            <a:off x="3843338" y="3586163"/>
            <a:ext cx="1057275" cy="997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0C0302-F728-1EEA-9CF6-65BB3D8D4E3F}"/>
              </a:ext>
            </a:extLst>
          </p:cNvPr>
          <p:cNvCxnSpPr/>
          <p:nvPr/>
        </p:nvCxnSpPr>
        <p:spPr>
          <a:xfrm>
            <a:off x="3657600" y="3500440"/>
            <a:ext cx="35290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8812E96-FA1E-11F2-E183-139C76B0F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2482" y="3841893"/>
            <a:ext cx="2684318" cy="27516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B50B69-F2E9-D3FF-F838-D60E05445681}"/>
              </a:ext>
            </a:extLst>
          </p:cNvPr>
          <p:cNvSpPr txBox="1"/>
          <p:nvPr/>
        </p:nvSpPr>
        <p:spPr>
          <a:xfrm>
            <a:off x="7186612" y="1046519"/>
            <a:ext cx="1685925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Often useful!</a:t>
            </a:r>
          </a:p>
        </p:txBody>
      </p:sp>
    </p:spTree>
    <p:extLst>
      <p:ext uri="{BB962C8B-B14F-4D97-AF65-F5344CB8AC3E}">
        <p14:creationId xmlns:p14="http://schemas.microsoft.com/office/powerpoint/2010/main" val="4160024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09C98-BDD7-15FC-FB7A-781AF0540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-160556"/>
            <a:ext cx="8229600" cy="906462"/>
          </a:xfrm>
        </p:spPr>
        <p:txBody>
          <a:bodyPr/>
          <a:lstStyle/>
          <a:p>
            <a:r>
              <a:rPr lang="en-US" dirty="0"/>
              <a:t>In-batch negatives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DFDB00D-436E-CA0B-3B8B-DF0CD9A2EDDB}"/>
              </a:ext>
            </a:extLst>
          </p:cNvPr>
          <p:cNvSpPr txBox="1">
            <a:spLocks/>
          </p:cNvSpPr>
          <p:nvPr/>
        </p:nvSpPr>
        <p:spPr>
          <a:xfrm>
            <a:off x="0" y="1991120"/>
            <a:ext cx="8661400" cy="164526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Q</a:t>
            </a:r>
            <a:r>
              <a:rPr lang="en-US" dirty="0"/>
              <a:t> is mini-batch of B questions, </a:t>
            </a:r>
            <a:r>
              <a:rPr lang="en-US" b="1" dirty="0"/>
              <a:t>P </a:t>
            </a:r>
            <a:r>
              <a:rPr lang="en-US" dirty="0"/>
              <a:t>is B passages, S = QP</a:t>
            </a:r>
            <a:r>
              <a:rPr lang="en-US" baseline="30000" dirty="0"/>
              <a:t>T </a:t>
            </a:r>
            <a:r>
              <a:rPr lang="en-US" dirty="0"/>
              <a:t>is (B x B) matrix of similarity scores</a:t>
            </a:r>
          </a:p>
          <a:p>
            <a:pPr lvl="1"/>
            <a:r>
              <a:rPr lang="en-US" dirty="0"/>
              <a:t>score is positive for</a:t>
            </a:r>
            <a:r>
              <a:rPr lang="en-US" i="1" dirty="0"/>
              <a:t> q</a:t>
            </a:r>
            <a:r>
              <a:rPr lang="en-US" i="1" baseline="-25000" dirty="0"/>
              <a:t>i</a:t>
            </a:r>
            <a:r>
              <a:rPr lang="en-US" i="1" dirty="0"/>
              <a:t>, </a:t>
            </a:r>
            <a:r>
              <a:rPr lang="en-US" i="1" dirty="0" err="1"/>
              <a:t>p</a:t>
            </a:r>
            <a:r>
              <a:rPr lang="en-US" i="1" baseline="-25000" dirty="0" err="1"/>
              <a:t>j</a:t>
            </a:r>
            <a:r>
              <a:rPr lang="en-US" i="1" baseline="-25000" dirty="0"/>
              <a:t> 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i="1" dirty="0" err="1"/>
              <a:t>i</a:t>
            </a:r>
            <a:r>
              <a:rPr lang="en-US" i="1" dirty="0"/>
              <a:t>=j</a:t>
            </a:r>
          </a:p>
          <a:p>
            <a:pPr lvl="2"/>
            <a:r>
              <a:rPr lang="en-US" dirty="0"/>
              <a:t>“in-batch negatives” trick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D358F1-F049-7F21-BED3-535D338E17DB}"/>
              </a:ext>
            </a:extLst>
          </p:cNvPr>
          <p:cNvSpPr txBox="1"/>
          <p:nvPr/>
        </p:nvSpPr>
        <p:spPr>
          <a:xfrm>
            <a:off x="7186612" y="1046519"/>
            <a:ext cx="1685925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Practically important!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C43E84-CBCA-21AC-586A-4D5938109518}"/>
              </a:ext>
            </a:extLst>
          </p:cNvPr>
          <p:cNvSpPr txBox="1"/>
          <p:nvPr/>
        </p:nvSpPr>
        <p:spPr>
          <a:xfrm>
            <a:off x="308769" y="3636388"/>
            <a:ext cx="779780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Each batch has B questions and B passages</a:t>
            </a:r>
          </a:p>
          <a:p>
            <a:pPr marL="342900" indent="-342900">
              <a:buFont typeface="Wingdings" pitchFamily="2" charset="2"/>
              <a:buChar char="è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 training examples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each with one positive and B-1 negative examples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DF744B-F5B4-F70F-077D-D17CB6399F69}"/>
              </a:ext>
            </a:extLst>
          </p:cNvPr>
          <p:cNvSpPr txBox="1"/>
          <p:nvPr/>
        </p:nvSpPr>
        <p:spPr>
          <a:xfrm>
            <a:off x="308769" y="5046088"/>
            <a:ext cx="779780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With in-batch negatives, </a:t>
            </a:r>
            <a:r>
              <a:rPr lang="en-US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large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batches are important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9D6BA1-0553-EAE0-4282-7EB692215504}"/>
              </a:ext>
            </a:extLst>
          </p:cNvPr>
          <p:cNvSpPr txBox="1"/>
          <p:nvPr/>
        </p:nvSpPr>
        <p:spPr>
          <a:xfrm>
            <a:off x="546894" y="5580648"/>
            <a:ext cx="779780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which means smaller encoders</a:t>
            </a:r>
          </a:p>
        </p:txBody>
      </p:sp>
    </p:spTree>
    <p:extLst>
      <p:ext uri="{BB962C8B-B14F-4D97-AF65-F5344CB8AC3E}">
        <p14:creationId xmlns:p14="http://schemas.microsoft.com/office/powerpoint/2010/main" val="49056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F3E6E-F257-CD06-1BB5-ECEC16836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68FB-5928-D641-7D3F-A8D158BCA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-160556"/>
            <a:ext cx="8229600" cy="906462"/>
          </a:xfrm>
        </p:spPr>
        <p:txBody>
          <a:bodyPr/>
          <a:lstStyle/>
          <a:p>
            <a:r>
              <a:rPr lang="en-US" dirty="0"/>
              <a:t>Hard negatives trick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7C533F5-CF38-3D34-8195-C7DDBB11171A}"/>
              </a:ext>
            </a:extLst>
          </p:cNvPr>
          <p:cNvSpPr txBox="1">
            <a:spLocks/>
          </p:cNvSpPr>
          <p:nvPr/>
        </p:nvSpPr>
        <p:spPr>
          <a:xfrm>
            <a:off x="0" y="1991120"/>
            <a:ext cx="8661400" cy="164526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Q</a:t>
            </a:r>
            <a:r>
              <a:rPr lang="en-US" dirty="0"/>
              <a:t> is mini-batch of B questions, </a:t>
            </a:r>
            <a:r>
              <a:rPr lang="en-US" b="1" dirty="0"/>
              <a:t>P </a:t>
            </a:r>
            <a:r>
              <a:rPr lang="en-US" dirty="0"/>
              <a:t>is B passages, S = QP</a:t>
            </a:r>
            <a:r>
              <a:rPr lang="en-US" baseline="30000" dirty="0"/>
              <a:t>T </a:t>
            </a:r>
            <a:r>
              <a:rPr lang="en-US" dirty="0"/>
              <a:t>is (B x B) matrix of similarity scores</a:t>
            </a:r>
          </a:p>
          <a:p>
            <a:pPr lvl="1"/>
            <a:r>
              <a:rPr lang="en-US" dirty="0"/>
              <a:t>score is positive for</a:t>
            </a:r>
            <a:r>
              <a:rPr lang="en-US" i="1" dirty="0"/>
              <a:t> q</a:t>
            </a:r>
            <a:r>
              <a:rPr lang="en-US" i="1" baseline="-25000" dirty="0"/>
              <a:t>i</a:t>
            </a:r>
            <a:r>
              <a:rPr lang="en-US" i="1" dirty="0"/>
              <a:t>, p</a:t>
            </a:r>
            <a:r>
              <a:rPr lang="en-US" i="1" baseline="-25000" dirty="0"/>
              <a:t>i 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i="1" dirty="0" err="1"/>
              <a:t>i</a:t>
            </a:r>
            <a:r>
              <a:rPr lang="en-US" i="1" dirty="0"/>
              <a:t>=j</a:t>
            </a:r>
          </a:p>
          <a:p>
            <a:pPr lvl="2"/>
            <a:r>
              <a:rPr lang="en-US" dirty="0"/>
              <a:t>“in-batch negatives” trick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BB3977-5279-964A-76E3-7993617148EC}"/>
              </a:ext>
            </a:extLst>
          </p:cNvPr>
          <p:cNvSpPr txBox="1"/>
          <p:nvPr/>
        </p:nvSpPr>
        <p:spPr>
          <a:xfrm>
            <a:off x="7186612" y="1046519"/>
            <a:ext cx="1685925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Practically important!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8908BDC-FC55-05AF-722E-3D2215DB544B}"/>
              </a:ext>
            </a:extLst>
          </p:cNvPr>
          <p:cNvSpPr txBox="1">
            <a:spLocks/>
          </p:cNvSpPr>
          <p:nvPr/>
        </p:nvSpPr>
        <p:spPr>
          <a:xfrm>
            <a:off x="0" y="3636388"/>
            <a:ext cx="8178006" cy="164526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DPR also added as additional negatives</a:t>
            </a:r>
          </a:p>
          <a:p>
            <a:pPr lvl="1"/>
            <a:r>
              <a:rPr lang="en-US" dirty="0"/>
              <a:t>1-2 passages with highest TFIDF score to </a:t>
            </a:r>
            <a:r>
              <a:rPr lang="en-US" i="1" dirty="0"/>
              <a:t>q </a:t>
            </a:r>
            <a:r>
              <a:rPr lang="en-US" dirty="0"/>
              <a:t>which do </a:t>
            </a:r>
            <a:r>
              <a:rPr lang="en-US" b="1" dirty="0"/>
              <a:t>not </a:t>
            </a:r>
            <a:r>
              <a:rPr lang="en-US" dirty="0"/>
              <a:t> contain the answer span</a:t>
            </a:r>
          </a:p>
          <a:p>
            <a:pPr lvl="2"/>
            <a:r>
              <a:rPr lang="en-US" dirty="0"/>
              <a:t>“hard negatives” trick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E7274C-A797-F20A-EF85-97F57D936ECA}"/>
              </a:ext>
            </a:extLst>
          </p:cNvPr>
          <p:cNvSpPr txBox="1"/>
          <p:nvPr/>
        </p:nvSpPr>
        <p:spPr>
          <a:xfrm>
            <a:off x="190103" y="5281656"/>
            <a:ext cx="779780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Each batch has B questions and 2B passages</a:t>
            </a:r>
          </a:p>
          <a:p>
            <a:pPr marL="342900" indent="-342900">
              <a:buFont typeface="Wingdings" pitchFamily="2" charset="2"/>
              <a:buChar char="è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 training examples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each with one positive and 2B-1 negative examples</a:t>
            </a:r>
          </a:p>
        </p:txBody>
      </p:sp>
    </p:spTree>
    <p:extLst>
      <p:ext uri="{BB962C8B-B14F-4D97-AF65-F5344CB8AC3E}">
        <p14:creationId xmlns:p14="http://schemas.microsoft.com/office/powerpoint/2010/main" val="2350644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E1C82-D016-BBC9-5A12-03C57300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AA180-0081-C2E4-DF29-62D3A0D27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-160556"/>
            <a:ext cx="8229600" cy="906462"/>
          </a:xfrm>
        </p:spPr>
        <p:txBody>
          <a:bodyPr/>
          <a:lstStyle/>
          <a:p>
            <a:r>
              <a:rPr lang="en-US" dirty="0"/>
              <a:t>Hard negatives trick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BB9839C-DB1A-E67A-3475-6465F2BAD06B}"/>
              </a:ext>
            </a:extLst>
          </p:cNvPr>
          <p:cNvSpPr txBox="1">
            <a:spLocks/>
          </p:cNvSpPr>
          <p:nvPr/>
        </p:nvSpPr>
        <p:spPr>
          <a:xfrm>
            <a:off x="0" y="1019569"/>
            <a:ext cx="8661400" cy="540980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Hard negatives without TFIDF?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 an earlier version of the model being trained as a source of hard negatives?</a:t>
            </a:r>
          </a:p>
          <a:p>
            <a:pPr lvl="1"/>
            <a:r>
              <a:rPr lang="en-US" dirty="0"/>
              <a:t>E.g., use the current model, or previous checkpoint</a:t>
            </a:r>
          </a:p>
          <a:p>
            <a:pPr lvl="1"/>
            <a:r>
              <a:rPr lang="en-US" b="1" u="sng" dirty="0"/>
              <a:t>Complication</a:t>
            </a:r>
            <a:r>
              <a:rPr lang="en-US" dirty="0"/>
              <a:t>: finding the K passages that are most similar to </a:t>
            </a:r>
            <a:r>
              <a:rPr lang="en-US" i="1" dirty="0"/>
              <a:t>q </a:t>
            </a:r>
            <a:r>
              <a:rPr lang="en-US" dirty="0"/>
              <a:t>with the old model involves</a:t>
            </a:r>
          </a:p>
          <a:p>
            <a:pPr lvl="2"/>
            <a:r>
              <a:rPr lang="en-US" dirty="0"/>
              <a:t>Re-encoding all the passages with previous model</a:t>
            </a:r>
          </a:p>
          <a:p>
            <a:pPr lvl="2"/>
            <a:r>
              <a:rPr lang="en-US" dirty="0"/>
              <a:t>Indexing them for quick retrieval</a:t>
            </a:r>
          </a:p>
          <a:p>
            <a:pPr lvl="2"/>
            <a:r>
              <a:rPr lang="en-US" dirty="0"/>
              <a:t>… can we avoid this?</a:t>
            </a:r>
          </a:p>
        </p:txBody>
      </p:sp>
    </p:spTree>
    <p:extLst>
      <p:ext uri="{BB962C8B-B14F-4D97-AF65-F5344CB8AC3E}">
        <p14:creationId xmlns:p14="http://schemas.microsoft.com/office/powerpoint/2010/main" val="34126368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F3EB4-D9A3-E1D1-5E07-E37BAACD5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EA1DD-B9ED-3CC0-D3C4-D2A6F6FA7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Mega-batching Trick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5764E-5590-E66D-1B94-236C621FF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402907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Assume we have</a:t>
            </a:r>
          </a:p>
          <a:p>
            <a:pPr lvl="1"/>
            <a:r>
              <a:rPr lang="en-US" dirty="0"/>
              <a:t>A </a:t>
            </a:r>
            <a:r>
              <a:rPr lang="en-US" dirty="0" err="1"/>
              <a:t>dataloader</a:t>
            </a:r>
            <a:r>
              <a:rPr lang="en-US" dirty="0"/>
              <a:t> that streams through mini-batches</a:t>
            </a:r>
          </a:p>
          <a:p>
            <a:pPr lvl="1"/>
            <a:r>
              <a:rPr lang="en-US" dirty="0"/>
              <a:t>An SGD trainer than learns from the mini-batchers</a:t>
            </a:r>
          </a:p>
          <a:p>
            <a:r>
              <a:rPr lang="en-US" dirty="0"/>
              <a:t>Idea: modify data stream</a:t>
            </a:r>
          </a:p>
          <a:p>
            <a:pPr lvl="1"/>
            <a:r>
              <a:rPr lang="en-US" dirty="0"/>
              <a:t>Collect M adjacent mini-batches into a mega-batch</a:t>
            </a:r>
          </a:p>
          <a:p>
            <a:pPr lvl="1"/>
            <a:r>
              <a:rPr lang="en-US" dirty="0"/>
              <a:t>Add to each mini-batch the hardest negative example in the mega-batch</a:t>
            </a:r>
          </a:p>
          <a:p>
            <a:pPr lvl="2"/>
            <a:r>
              <a:rPr lang="en-US" dirty="0"/>
              <a:t>Unless it’s already there</a:t>
            </a:r>
          </a:p>
          <a:p>
            <a:r>
              <a:rPr lang="en-US" dirty="0"/>
              <a:t>This is a simpler approach to hard-negative finding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451969-57DE-F247-9ABB-BC16DA7296D1}"/>
              </a:ext>
            </a:extLst>
          </p:cNvPr>
          <p:cNvSpPr txBox="1"/>
          <p:nvPr/>
        </p:nvSpPr>
        <p:spPr>
          <a:xfrm>
            <a:off x="1085850" y="5446713"/>
            <a:ext cx="628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Weiting</a:t>
            </a:r>
            <a:r>
              <a:rPr lang="en-US" dirty="0"/>
              <a:t> and </a:t>
            </a:r>
            <a:r>
              <a:rPr lang="en-US" dirty="0" err="1"/>
              <a:t>Gimpel</a:t>
            </a:r>
            <a:r>
              <a:rPr lang="en-US" dirty="0"/>
              <a:t>, 2018:  </a:t>
            </a:r>
            <a:r>
              <a:rPr lang="en-US" dirty="0">
                <a:hlinkClick r:id="rId3"/>
              </a:rPr>
              <a:t>https://arxiv.org/pdf/1711.05732</a:t>
            </a:r>
            <a:r>
              <a:rPr lang="en-US" dirty="0"/>
              <a:t>	 </a:t>
            </a:r>
          </a:p>
        </p:txBody>
      </p:sp>
    </p:spTree>
    <p:extLst>
      <p:ext uri="{BB962C8B-B14F-4D97-AF65-F5344CB8AC3E}">
        <p14:creationId xmlns:p14="http://schemas.microsoft.com/office/powerpoint/2010/main" val="39392353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EF219-2625-1FFE-AC5C-06C7315CE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413E0-062E-F946-6A34-89D291DE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Mega-batching and Dynamic Dictionaries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811DE8-7D0F-6A75-B760-50F4B8BBC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402907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Assume we have</a:t>
            </a:r>
          </a:p>
          <a:p>
            <a:pPr lvl="1"/>
            <a:r>
              <a:rPr lang="en-US" dirty="0"/>
              <a:t>A </a:t>
            </a:r>
            <a:r>
              <a:rPr lang="en-US" dirty="0" err="1"/>
              <a:t>dataloader</a:t>
            </a:r>
            <a:r>
              <a:rPr lang="en-US" dirty="0"/>
              <a:t> that streams through mini-batches</a:t>
            </a:r>
          </a:p>
          <a:p>
            <a:pPr lvl="1"/>
            <a:r>
              <a:rPr lang="en-US" dirty="0"/>
              <a:t>An SGD trainer than learns from the mini-batchers</a:t>
            </a:r>
          </a:p>
          <a:p>
            <a:r>
              <a:rPr lang="en-US" dirty="0"/>
              <a:t>Idea: modify data stream</a:t>
            </a:r>
          </a:p>
          <a:p>
            <a:pPr lvl="1"/>
            <a:r>
              <a:rPr lang="en-US" dirty="0"/>
              <a:t>Keep a queue of the M most recently-seen examples</a:t>
            </a:r>
          </a:p>
          <a:p>
            <a:pPr lvl="1"/>
            <a:r>
              <a:rPr lang="en-US" dirty="0"/>
              <a:t>Add to each mini-batch the hardest negative example in the queue</a:t>
            </a:r>
          </a:p>
          <a:p>
            <a:r>
              <a:rPr lang="en-US" dirty="0"/>
              <a:t>Advantage:</a:t>
            </a:r>
          </a:p>
          <a:p>
            <a:pPr lvl="1"/>
            <a:r>
              <a:rPr lang="en-US" dirty="0"/>
              <a:t>Queue size is independent of batch size</a:t>
            </a:r>
          </a:p>
        </p:txBody>
      </p:sp>
    </p:spTree>
    <p:extLst>
      <p:ext uri="{BB962C8B-B14F-4D97-AF65-F5344CB8AC3E}">
        <p14:creationId xmlns:p14="http://schemas.microsoft.com/office/powerpoint/2010/main" val="25917706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9B979-5E91-5DCA-C41B-64FFBB2A1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4AECB-63B6-16DC-FC73-F3B7C7BD7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-160556"/>
            <a:ext cx="8229600" cy="906462"/>
          </a:xfrm>
        </p:spPr>
        <p:txBody>
          <a:bodyPr/>
          <a:lstStyle/>
          <a:p>
            <a:r>
              <a:rPr lang="en-US" dirty="0"/>
              <a:t>Momentum Encoders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286D3B4-C205-FE24-A360-3A4430D534D8}"/>
              </a:ext>
            </a:extLst>
          </p:cNvPr>
          <p:cNvSpPr txBox="1">
            <a:spLocks/>
          </p:cNvSpPr>
          <p:nvPr/>
        </p:nvSpPr>
        <p:spPr>
          <a:xfrm>
            <a:off x="0" y="1185620"/>
            <a:ext cx="4742481" cy="513768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Hard negatives without TFIDF?</a:t>
            </a:r>
          </a:p>
          <a:p>
            <a:r>
              <a:rPr lang="en-US" dirty="0"/>
              <a:t>Use an earlier version of the model being trained as a source of hard negatives?</a:t>
            </a:r>
          </a:p>
          <a:p>
            <a:pPr lvl="1"/>
            <a:r>
              <a:rPr lang="en-US" dirty="0"/>
              <a:t>E.g., use the previous checkpoint</a:t>
            </a:r>
          </a:p>
          <a:p>
            <a:pPr lvl="1"/>
            <a:r>
              <a:rPr lang="en-US" b="1" u="sng" dirty="0"/>
              <a:t>Another complication</a:t>
            </a:r>
            <a:r>
              <a:rPr lang="en-US" dirty="0"/>
              <a:t>: the most recent checkpoint might be an unstable one</a:t>
            </a:r>
          </a:p>
        </p:txBody>
      </p:sp>
      <p:pic>
        <p:nvPicPr>
          <p:cNvPr id="3" name="Picture 2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2A3F8678-0187-7579-C2C2-972BC77BA1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08" r="2373" b="13330"/>
          <a:stretch/>
        </p:blipFill>
        <p:spPr>
          <a:xfrm>
            <a:off x="5052447" y="1185620"/>
            <a:ext cx="3983066" cy="4916282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39143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FA4F1-EA27-7FB6-09D6-E490844A6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7BF7C-A8AC-1833-47A1-6859DAAE1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Momentum Encoders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29634A9-3EFD-CF5B-9877-D0846C551A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9400" y="1257300"/>
                <a:ext cx="8648700" cy="505051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If  recent checkpoints are unstable</a:t>
                </a:r>
              </a:p>
              <a:p>
                <a:pPr lvl="1"/>
                <a:r>
                  <a:rPr lang="en-US" dirty="0"/>
                  <a:t>Consider an </a:t>
                </a:r>
                <a:r>
                  <a:rPr lang="en-US" i="1" dirty="0"/>
                  <a:t>ensemble</a:t>
                </a:r>
                <a:r>
                  <a:rPr lang="en-US" dirty="0"/>
                  <a:t> of several recent checkpoints</a:t>
                </a:r>
              </a:p>
              <a:p>
                <a:pPr lvl="2"/>
                <a:r>
                  <a:rPr lang="en-US" dirty="0"/>
                  <a:t>e.g., vote with them</a:t>
                </a:r>
              </a:p>
              <a:p>
                <a:pPr lvl="1"/>
                <a:r>
                  <a:rPr lang="en-US" dirty="0"/>
                  <a:t>Averaging the weights of similar models is a good approximation to an ensemble</a:t>
                </a:r>
              </a:p>
              <a:p>
                <a:pPr lvl="1"/>
                <a:r>
                  <a:rPr lang="en-US" dirty="0"/>
                  <a:t>E.g., using the most recent two models:</a:t>
                </a:r>
              </a:p>
              <a:p>
                <a:pPr lvl="2"/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+(1−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)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Similar to a momentum term in optimization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29634A9-3EFD-CF5B-9877-D0846C551A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9400" y="1257300"/>
                <a:ext cx="8648700" cy="5050510"/>
              </a:xfrm>
              <a:blipFill>
                <a:blip r:embed="rId2"/>
                <a:stretch>
                  <a:fillRect l="-1613" t="-2506" r="-1026" b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46416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984C9-E8AF-896C-5CA1-F403731AD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A26FC-A9B6-D177-D3F7-021B7633C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Contriever</a:t>
            </a:r>
            <a:r>
              <a:rPr lang="en-US" dirty="0"/>
              <a:t>: Unsupervised Dense Retrieval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79BE0-F61D-E8C6-210F-1A3485F4B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051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35CCA5-15C7-0505-35A1-2A619DC49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2859"/>
            <a:ext cx="7772400" cy="361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2900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57FC5-4B83-2695-F29A-09D702A68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Contriever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C41D8-92A1-FB4A-8A50-F42384544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a pre-trained document retriever that</a:t>
            </a:r>
          </a:p>
          <a:p>
            <a:pPr lvl="1"/>
            <a:r>
              <a:rPr lang="en-US" dirty="0"/>
              <a:t>works well out-of-the-box</a:t>
            </a:r>
          </a:p>
          <a:p>
            <a:pPr lvl="2"/>
            <a:r>
              <a:rPr lang="en-US" dirty="0"/>
              <a:t>no supervision!</a:t>
            </a:r>
          </a:p>
          <a:p>
            <a:pPr lvl="1"/>
            <a:r>
              <a:rPr lang="en-US" dirty="0"/>
              <a:t>can be improved by fine-tuning on small datasets</a:t>
            </a:r>
          </a:p>
          <a:p>
            <a:r>
              <a:rPr lang="en-US" dirty="0"/>
              <a:t>Main question: </a:t>
            </a:r>
          </a:p>
          <a:p>
            <a:pPr lvl="1"/>
            <a:r>
              <a:rPr lang="en-US" dirty="0"/>
              <a:t>how to build an unsupervised dense retrieval model?</a:t>
            </a:r>
          </a:p>
        </p:txBody>
      </p:sp>
    </p:spTree>
    <p:extLst>
      <p:ext uri="{BB962C8B-B14F-4D97-AF65-F5344CB8AC3E}">
        <p14:creationId xmlns:p14="http://schemas.microsoft.com/office/powerpoint/2010/main" val="39343161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FF724-76C7-EC6B-3A41-233559BA2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F2AE5-55BE-A421-6946-5D086E375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Contrastive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89E267-669B-E20B-AEFB-B8717426E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29" y="3721991"/>
            <a:ext cx="7089741" cy="313600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BE28541-A1C4-6CE6-D9FB-5CD33D258A53}"/>
              </a:ext>
            </a:extLst>
          </p:cNvPr>
          <p:cNvSpPr txBox="1">
            <a:spLocks/>
          </p:cNvSpPr>
          <p:nvPr/>
        </p:nvSpPr>
        <p:spPr>
          <a:xfrm>
            <a:off x="279401" y="1257300"/>
            <a:ext cx="8350250" cy="25088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How do you select positive pairs?</a:t>
            </a:r>
          </a:p>
          <a:p>
            <a:pPr lvl="1"/>
            <a:r>
              <a:rPr lang="en-US"/>
              <a:t>If you know the downstream retrieval task you can finetune on </a:t>
            </a:r>
            <a:r>
              <a:rPr lang="en-US">
                <a:solidFill>
                  <a:srgbClr val="0070C0"/>
                </a:solidFill>
              </a:rPr>
              <a:t>real pairs</a:t>
            </a:r>
          </a:p>
          <a:p>
            <a:pPr lvl="1"/>
            <a:r>
              <a:rPr lang="en-US"/>
              <a:t>For pre-training image representations, you often create a pair by using a real image and and “augmented” version of it</a:t>
            </a: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29CF822-F261-F258-D7DF-6062E614C7C0}"/>
              </a:ext>
            </a:extLst>
          </p:cNvPr>
          <p:cNvSpPr/>
          <p:nvPr/>
        </p:nvSpPr>
        <p:spPr>
          <a:xfrm>
            <a:off x="885826" y="3611756"/>
            <a:ext cx="1528762" cy="144601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6355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B85E8-55DA-42B9-0DE7-9B106C8CE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9E56-2063-2139-1C99-00A5BB9E9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Contriever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AE0D3-FD4B-A7AB-6D90-91774D3B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Goal: a pre-trained document retriever that</a:t>
            </a:r>
          </a:p>
          <a:p>
            <a:pPr lvl="1"/>
            <a:r>
              <a:rPr lang="en-US" dirty="0"/>
              <a:t>works well out-of-the-box</a:t>
            </a:r>
          </a:p>
          <a:p>
            <a:pPr lvl="2"/>
            <a:r>
              <a:rPr lang="en-US" dirty="0"/>
              <a:t>no supervision!</a:t>
            </a:r>
          </a:p>
          <a:p>
            <a:pPr lvl="1"/>
            <a:r>
              <a:rPr lang="en-US" dirty="0"/>
              <a:t>can be improved by fine-tuning on small datasets</a:t>
            </a:r>
          </a:p>
          <a:p>
            <a:r>
              <a:rPr lang="en-US" dirty="0"/>
              <a:t>Main question: </a:t>
            </a:r>
          </a:p>
          <a:p>
            <a:pPr lvl="1"/>
            <a:r>
              <a:rPr lang="en-US" dirty="0"/>
              <a:t>how to build an unsupervised dense retrieval model?</a:t>
            </a:r>
          </a:p>
          <a:p>
            <a:r>
              <a:rPr lang="en-US" dirty="0"/>
              <a:t>Solution:</a:t>
            </a:r>
          </a:p>
          <a:p>
            <a:pPr lvl="1"/>
            <a:r>
              <a:rPr lang="en-US" dirty="0"/>
              <a:t>build positive pairs from a single document</a:t>
            </a:r>
          </a:p>
          <a:p>
            <a:pPr lvl="1"/>
            <a:r>
              <a:rPr lang="en-US" dirty="0"/>
              <a:t>then train with contrastive loss</a:t>
            </a:r>
          </a:p>
        </p:txBody>
      </p:sp>
    </p:spTree>
    <p:extLst>
      <p:ext uri="{BB962C8B-B14F-4D97-AF65-F5344CB8AC3E}">
        <p14:creationId xmlns:p14="http://schemas.microsoft.com/office/powerpoint/2010/main" val="17066343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716BE-AA2F-2FAD-555A-89AD8F2FB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3872C-BCF2-2999-B9AD-D2C348EE9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Contriever</a:t>
            </a:r>
            <a:r>
              <a:rPr lang="en-US" dirty="0"/>
              <a:t> vs DPR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E899B-7BBB-9E74-80D3-1A225AA33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Same NT-</a:t>
            </a:r>
            <a:r>
              <a:rPr lang="en-US" dirty="0" err="1"/>
              <a:t>Xent</a:t>
            </a:r>
            <a:r>
              <a:rPr lang="en-US" dirty="0"/>
              <a:t> contrastive loss</a:t>
            </a:r>
          </a:p>
          <a:p>
            <a:r>
              <a:rPr lang="en-US" dirty="0"/>
              <a:t>One BERT encoder instead of two</a:t>
            </a:r>
          </a:p>
          <a:p>
            <a:r>
              <a:rPr lang="en-US" dirty="0"/>
              <a:t>Data augmentation tricks explored</a:t>
            </a:r>
          </a:p>
          <a:p>
            <a:pPr lvl="1"/>
            <a:r>
              <a:rPr lang="en-US" dirty="0"/>
              <a:t>Inverse cloze task</a:t>
            </a:r>
          </a:p>
          <a:p>
            <a:pPr lvl="1"/>
            <a:r>
              <a:rPr lang="en-US" dirty="0"/>
              <a:t>Independent cropping</a:t>
            </a:r>
          </a:p>
          <a:p>
            <a:pPr lvl="1"/>
            <a:r>
              <a:rPr lang="en-US" dirty="0"/>
              <a:t>Random word deletion, replacement, or masking</a:t>
            </a:r>
          </a:p>
          <a:p>
            <a:r>
              <a:rPr lang="en-US" dirty="0"/>
              <a:t>Negatives were from</a:t>
            </a:r>
          </a:p>
          <a:p>
            <a:pPr lvl="1"/>
            <a:r>
              <a:rPr lang="en-US" dirty="0"/>
              <a:t>in-batch negatives</a:t>
            </a:r>
          </a:p>
          <a:p>
            <a:pPr lvl="1"/>
            <a:r>
              <a:rPr lang="en-US" dirty="0"/>
              <a:t>momentum contrast (</a:t>
            </a:r>
            <a:r>
              <a:rPr lang="en-US" dirty="0" err="1"/>
              <a:t>MoCo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149163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C2328-ABAC-559D-DC5A-90FF62E5C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2BF93-71D0-FF64-37A6-6E7936478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Inverse Cloze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3B7CF-E548-8A13-882A-D45C10763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9"/>
            <a:ext cx="8378825" cy="2549525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Background: a cloze question is formed by hiding an important word in a sentence</a:t>
            </a:r>
          </a:p>
          <a:p>
            <a:pPr lvl="1"/>
            <a:r>
              <a:rPr lang="en-US" dirty="0"/>
              <a:t>Document retrievers learned with contrastive learning usually encode text as a ____ vector.</a:t>
            </a:r>
          </a:p>
          <a:p>
            <a:r>
              <a:rPr lang="en-US" dirty="0"/>
              <a:t>Inverse close: given a paragraph </a:t>
            </a:r>
            <a:r>
              <a:rPr lang="en-US" i="1" dirty="0"/>
              <a:t>p </a:t>
            </a:r>
            <a:r>
              <a:rPr lang="en-US" dirty="0"/>
              <a:t>create a pair</a:t>
            </a:r>
            <a:r>
              <a:rPr lang="en-US" i="1" dirty="0"/>
              <a:t> (a, b) </a:t>
            </a:r>
            <a:r>
              <a:rPr lang="en-US" dirty="0"/>
              <a:t>where</a:t>
            </a:r>
          </a:p>
          <a:p>
            <a:pPr lvl="1"/>
            <a:r>
              <a:rPr lang="en-US" i="1" dirty="0"/>
              <a:t>a</a:t>
            </a:r>
            <a:r>
              <a:rPr lang="en-US" dirty="0"/>
              <a:t> is a sentence from </a:t>
            </a:r>
            <a:r>
              <a:rPr lang="en-US" i="1" dirty="0"/>
              <a:t>p</a:t>
            </a:r>
          </a:p>
          <a:p>
            <a:pPr lvl="1"/>
            <a:r>
              <a:rPr lang="en-US" i="1" dirty="0"/>
              <a:t>b </a:t>
            </a:r>
            <a:r>
              <a:rPr lang="en-US" dirty="0"/>
              <a:t>is </a:t>
            </a:r>
            <a:r>
              <a:rPr lang="en-US" i="1" dirty="0"/>
              <a:t>p </a:t>
            </a:r>
            <a:r>
              <a:rPr lang="en-US" dirty="0"/>
              <a:t>with sentence </a:t>
            </a:r>
            <a:r>
              <a:rPr lang="en-US" i="1" dirty="0"/>
              <a:t>a </a:t>
            </a:r>
            <a:r>
              <a:rPr lang="en-US" dirty="0"/>
              <a:t>removed (with probability 0.9)</a:t>
            </a:r>
          </a:p>
          <a:p>
            <a:pPr lvl="1"/>
            <a:r>
              <a:rPr lang="en-US" i="1" dirty="0"/>
              <a:t>b </a:t>
            </a:r>
            <a:r>
              <a:rPr lang="en-US" dirty="0"/>
              <a:t>is </a:t>
            </a:r>
            <a:r>
              <a:rPr lang="en-US" i="1" dirty="0"/>
              <a:t>p </a:t>
            </a:r>
            <a:r>
              <a:rPr lang="en-US" dirty="0"/>
              <a:t>(with probability 0.1)</a:t>
            </a:r>
            <a:endParaRPr lang="en-US" i="1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1D525-66C5-76E5-380F-63F54EBD88CE}"/>
              </a:ext>
            </a:extLst>
          </p:cNvPr>
          <p:cNvSpPr txBox="1"/>
          <p:nvPr/>
        </p:nvSpPr>
        <p:spPr>
          <a:xfrm>
            <a:off x="1155701" y="3967161"/>
            <a:ext cx="7458074" cy="92333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..Zebras have four gaits: walk, trot, canter and gallop.  They are generally slower than horses, but their great stamina helps them outrun predators. When chased, a zebra will zigzag from side to side...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36E9E1-49F0-0AEF-01FB-962FCA13AE74}"/>
              </a:ext>
            </a:extLst>
          </p:cNvPr>
          <p:cNvSpPr txBox="1"/>
          <p:nvPr/>
        </p:nvSpPr>
        <p:spPr>
          <a:xfrm>
            <a:off x="409576" y="5247682"/>
            <a:ext cx="3690937" cy="92333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They are generally slower than horses, but their great stamina helps them outrun predators.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F845C3-4FD0-8335-411C-5AB280009DC3}"/>
              </a:ext>
            </a:extLst>
          </p:cNvPr>
          <p:cNvSpPr txBox="1"/>
          <p:nvPr/>
        </p:nvSpPr>
        <p:spPr>
          <a:xfrm>
            <a:off x="5043489" y="5247682"/>
            <a:ext cx="3884611" cy="92333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..Zebras have four gaits: walk, trot, canter and gallop.  When chased, a zebra will zigzag from side to side...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D67166-E318-616A-8F84-515D7C07D475}"/>
              </a:ext>
            </a:extLst>
          </p:cNvPr>
          <p:cNvSpPr txBox="1"/>
          <p:nvPr/>
        </p:nvSpPr>
        <p:spPr>
          <a:xfrm>
            <a:off x="715963" y="3887788"/>
            <a:ext cx="312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7632A9-996D-8325-EB36-3394AE479B6D}"/>
              </a:ext>
            </a:extLst>
          </p:cNvPr>
          <p:cNvSpPr txBox="1"/>
          <p:nvPr/>
        </p:nvSpPr>
        <p:spPr>
          <a:xfrm>
            <a:off x="59531" y="5063016"/>
            <a:ext cx="312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C4F8A2-623A-C2E8-1D8F-31E4A86C582E}"/>
              </a:ext>
            </a:extLst>
          </p:cNvPr>
          <p:cNvSpPr txBox="1"/>
          <p:nvPr/>
        </p:nvSpPr>
        <p:spPr>
          <a:xfrm>
            <a:off x="4572000" y="5182557"/>
            <a:ext cx="312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024A00-1DDF-914F-E8EF-E3BB4DEA0497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2255045" y="4890491"/>
            <a:ext cx="2629693" cy="357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88C20F-539E-CB3F-32B4-198605A17562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4884738" y="4890491"/>
            <a:ext cx="2101057" cy="357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83343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6B258-F4E0-EDEE-26BA-3C57FBEE6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DB31A-D9C0-B3AA-8683-54E3BFF88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cropping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0A544-20F1-0781-E10D-928755D2A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334375" cy="198415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Given a paragraph </a:t>
            </a:r>
            <a:r>
              <a:rPr lang="en-US" i="1" dirty="0"/>
              <a:t>p </a:t>
            </a:r>
            <a:r>
              <a:rPr lang="en-US" dirty="0"/>
              <a:t>create a pair</a:t>
            </a:r>
            <a:r>
              <a:rPr lang="en-US" i="1" dirty="0"/>
              <a:t> (a, b) </a:t>
            </a:r>
            <a:r>
              <a:rPr lang="en-US" dirty="0"/>
              <a:t>where</a:t>
            </a:r>
          </a:p>
          <a:p>
            <a:pPr lvl="1"/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b </a:t>
            </a:r>
            <a:r>
              <a:rPr lang="en-US" dirty="0"/>
              <a:t>are both independently chosen subsequences of the text</a:t>
            </a:r>
          </a:p>
          <a:p>
            <a:pPr lvl="1"/>
            <a:r>
              <a:rPr lang="en-US" dirty="0"/>
              <a:t>length of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b </a:t>
            </a:r>
            <a:r>
              <a:rPr lang="en-US" dirty="0"/>
              <a:t>are either fixed or sampled</a:t>
            </a:r>
          </a:p>
          <a:p>
            <a:r>
              <a:rPr lang="en-US" dirty="0"/>
              <a:t>Note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b </a:t>
            </a:r>
            <a:r>
              <a:rPr lang="en-US" dirty="0"/>
              <a:t>will be similar size, not sentence vs paragraph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37653-1A0E-0096-05C8-F22BD9D97737}"/>
              </a:ext>
            </a:extLst>
          </p:cNvPr>
          <p:cNvSpPr txBox="1"/>
          <p:nvPr/>
        </p:nvSpPr>
        <p:spPr>
          <a:xfrm>
            <a:off x="1155701" y="3967161"/>
            <a:ext cx="7458074" cy="92333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..Zebras have four gaits: walk, trot, canter and gallop.  They are generally slower than horses, but their great stamina helps them outrun predators. When chased, a zebra will zigzag from side to side...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97F6CF-6776-B5FD-3E5C-EB8FCBC1CF50}"/>
              </a:ext>
            </a:extLst>
          </p:cNvPr>
          <p:cNvSpPr txBox="1"/>
          <p:nvPr/>
        </p:nvSpPr>
        <p:spPr>
          <a:xfrm>
            <a:off x="409576" y="5247682"/>
            <a:ext cx="3690937" cy="64633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four gaits: walk, trot, canter and gallop.  They are generally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C9944-66FD-611E-ABDB-5E94A9C2B25F}"/>
              </a:ext>
            </a:extLst>
          </p:cNvPr>
          <p:cNvSpPr txBox="1"/>
          <p:nvPr/>
        </p:nvSpPr>
        <p:spPr>
          <a:xfrm>
            <a:off x="5043489" y="5247682"/>
            <a:ext cx="3884611" cy="64633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great stamina helps them outrun predators.  When chased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52E84-742A-0ED3-7AEA-16E6B331B03C}"/>
              </a:ext>
            </a:extLst>
          </p:cNvPr>
          <p:cNvSpPr txBox="1"/>
          <p:nvPr/>
        </p:nvSpPr>
        <p:spPr>
          <a:xfrm>
            <a:off x="715963" y="3887788"/>
            <a:ext cx="312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703D39-70D3-897E-05D9-D3B7A7CFB4EB}"/>
              </a:ext>
            </a:extLst>
          </p:cNvPr>
          <p:cNvSpPr txBox="1"/>
          <p:nvPr/>
        </p:nvSpPr>
        <p:spPr>
          <a:xfrm>
            <a:off x="59531" y="5063016"/>
            <a:ext cx="312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E89468-8FAA-85FE-632C-8B25B76A4484}"/>
              </a:ext>
            </a:extLst>
          </p:cNvPr>
          <p:cNvSpPr txBox="1"/>
          <p:nvPr/>
        </p:nvSpPr>
        <p:spPr>
          <a:xfrm>
            <a:off x="4572000" y="5182557"/>
            <a:ext cx="312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B63A70-CD81-110A-2B5F-DFF2483B09B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2255045" y="4890491"/>
            <a:ext cx="2629693" cy="357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D59F0B-C267-F38C-FB53-D83F044F8602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4884738" y="4890491"/>
            <a:ext cx="2101057" cy="357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0899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6CB3B-5834-83BD-3B26-E1FFB9C4A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DBF62-B3D9-F10A-4F22-5E1015B79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MoCo</a:t>
            </a:r>
            <a:r>
              <a:rPr lang="en-US" dirty="0"/>
              <a:t> dynamic dictionary + momentum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09453-E4C2-2D89-BA57-E8DB91D7E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334375" cy="1984158"/>
          </a:xfrm>
        </p:spPr>
        <p:txBody>
          <a:bodyPr>
            <a:normAutofit/>
          </a:bodyPr>
          <a:lstStyle/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43F727-0371-6C1F-D46F-364755963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22" y="1143000"/>
            <a:ext cx="6480432" cy="4572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66EF63F-F55E-5DBB-64C2-2958B5E5C59E}"/>
              </a:ext>
            </a:extLst>
          </p:cNvPr>
          <p:cNvSpPr txBox="1"/>
          <p:nvPr/>
        </p:nvSpPr>
        <p:spPr>
          <a:xfrm>
            <a:off x="6152059" y="1872068"/>
            <a:ext cx="2712541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Don’t backprop through the “keys”, only the </a:t>
            </a:r>
            <a:r>
              <a:rPr lang="en-US" dirty="0" err="1"/>
              <a:t>qery</a:t>
            </a:r>
            <a:r>
              <a:rPr lang="en-US" dirty="0"/>
              <a:t> encoder.</a:t>
            </a:r>
          </a:p>
        </p:txBody>
      </p:sp>
    </p:spTree>
    <p:extLst>
      <p:ext uri="{BB962C8B-B14F-4D97-AF65-F5344CB8AC3E}">
        <p14:creationId xmlns:p14="http://schemas.microsoft.com/office/powerpoint/2010/main" val="831508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72CA6-E0D1-49AB-FBA7-FC99158F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FE860-3E47-F74E-3B47-471B41CB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MoCo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1392A-E7A6-87C6-4656-667F70210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334375" cy="1984158"/>
          </a:xfrm>
        </p:spPr>
        <p:txBody>
          <a:bodyPr>
            <a:normAutofit/>
          </a:bodyPr>
          <a:lstStyle/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F2FD0B-9B70-B287-50EF-703B2C20F7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68" r="38364"/>
          <a:stretch/>
        </p:blipFill>
        <p:spPr>
          <a:xfrm>
            <a:off x="2043113" y="1143000"/>
            <a:ext cx="2071688" cy="4572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A69B15-4E37-E800-82AF-324428D06729}"/>
              </a:ext>
            </a:extLst>
          </p:cNvPr>
          <p:cNvSpPr txBox="1"/>
          <p:nvPr/>
        </p:nvSpPr>
        <p:spPr>
          <a:xfrm>
            <a:off x="6152059" y="1872068"/>
            <a:ext cx="2712541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Don’t backprop through the “keys”, only the </a:t>
            </a:r>
            <a:r>
              <a:rPr lang="en-US" dirty="0" err="1"/>
              <a:t>qery</a:t>
            </a:r>
            <a:r>
              <a:rPr lang="en-US" dirty="0"/>
              <a:t> encoder.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5BE852-E0BB-97BF-D6BE-2763B6E18859}"/>
              </a:ext>
            </a:extLst>
          </p:cNvPr>
          <p:cNvSpPr txBox="1"/>
          <p:nvPr/>
        </p:nvSpPr>
        <p:spPr>
          <a:xfrm>
            <a:off x="742950" y="4543425"/>
            <a:ext cx="1434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 for k+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0BAC7D-2341-06D8-ED9A-7390700659E3}"/>
              </a:ext>
            </a:extLst>
          </p:cNvPr>
          <p:cNvSpPr txBox="1"/>
          <p:nvPr/>
        </p:nvSpPr>
        <p:spPr>
          <a:xfrm>
            <a:off x="3729307" y="4507944"/>
            <a:ext cx="1375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 for k-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88DE1-6E1B-6C1C-3610-41576A0D381D}"/>
              </a:ext>
            </a:extLst>
          </p:cNvPr>
          <p:cNvSpPr txBox="1"/>
          <p:nvPr/>
        </p:nvSpPr>
        <p:spPr>
          <a:xfrm>
            <a:off x="4886325" y="3277323"/>
            <a:ext cx="3978275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Encoder params: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𝜃</a:t>
            </a:r>
            <a:r>
              <a:rPr lang="en-US" baseline="-25000" dirty="0"/>
              <a:t>q </a:t>
            </a:r>
            <a:r>
              <a:rPr lang="en-US" dirty="0"/>
              <a:t>for the keys: being trained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𝜃</a:t>
            </a:r>
            <a:r>
              <a:rPr lang="en-US" baseline="-25000" dirty="0"/>
              <a:t>k </a:t>
            </a:r>
            <a:r>
              <a:rPr lang="en-US" dirty="0"/>
              <a:t>for the keys: “stale” version of 𝜃</a:t>
            </a:r>
            <a:r>
              <a:rPr lang="en-US" baseline="-25000" dirty="0"/>
              <a:t>q</a:t>
            </a:r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7CE726-BA6B-0E72-EE06-21661342842E}"/>
              </a:ext>
            </a:extLst>
          </p:cNvPr>
          <p:cNvSpPr txBox="1"/>
          <p:nvPr/>
        </p:nvSpPr>
        <p:spPr>
          <a:xfrm>
            <a:off x="5758904" y="4400370"/>
            <a:ext cx="2854871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MoCo</a:t>
            </a:r>
            <a:r>
              <a:rPr lang="en-US" dirty="0"/>
              <a:t> update 𝜃</a:t>
            </a:r>
            <a:r>
              <a:rPr lang="en-US" baseline="-25000" dirty="0"/>
              <a:t>k</a:t>
            </a:r>
            <a:r>
              <a:rPr lang="en-US" dirty="0"/>
              <a:t> with: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40800C-BB44-4BB2-095E-F5EB165DC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689" y="4877276"/>
            <a:ext cx="3289300" cy="596900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219915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91D42-6FFA-0FD8-B934-0805DA721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070C-414B-75D7-EF31-F1EABE6B3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Contriever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5D0DF-9DCD-CD39-7F1D-F2C803CCE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1"/>
            <a:ext cx="8507413" cy="12573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Best configuration</a:t>
            </a:r>
          </a:p>
          <a:p>
            <a:pPr lvl="1"/>
            <a:r>
              <a:rPr lang="en-US" dirty="0"/>
              <a:t>Random cropping</a:t>
            </a:r>
          </a:p>
          <a:p>
            <a:pPr lvl="1"/>
            <a:r>
              <a:rPr lang="en-US" dirty="0"/>
              <a:t>Tokens deleted from </a:t>
            </a:r>
            <a:r>
              <a:rPr lang="en-US" i="1" dirty="0"/>
              <a:t>a, b </a:t>
            </a:r>
            <a:r>
              <a:rPr lang="en-US" dirty="0"/>
              <a:t>with probability 0.1</a:t>
            </a:r>
          </a:p>
          <a:p>
            <a:pPr lvl="1"/>
            <a:r>
              <a:rPr lang="en-US" dirty="0" err="1"/>
              <a:t>MoCo</a:t>
            </a: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B3C414-660C-D818-79D8-24E3F05EA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50" y="3057525"/>
            <a:ext cx="7772400" cy="367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1980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E8A72-4DDD-9F58-95F3-83D7AF17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WITH Modern LLMS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20EF5-A5C6-5C27-028A-BD676A496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280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487A8-FFC5-E803-5F73-5E236D036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B6FF4-66A0-A90E-17C2-B13BD3945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325199"/>
            <a:ext cx="8648700" cy="804862"/>
          </a:xfrm>
        </p:spPr>
        <p:txBody>
          <a:bodyPr/>
          <a:lstStyle/>
          <a:p>
            <a:r>
              <a:rPr lang="en-US" dirty="0"/>
              <a:t>Recap: Discussion of DPR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1D9AB-DC92-29F7-9B07-8894AFE1E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3" y="1096961"/>
            <a:ext cx="6415090" cy="4746627"/>
          </a:xfrm>
        </p:spPr>
        <p:txBody>
          <a:bodyPr>
            <a:normAutofit fontScale="92500"/>
          </a:bodyPr>
          <a:lstStyle/>
          <a:p>
            <a:r>
              <a:rPr lang="en-US" dirty="0"/>
              <a:t>Encoder used in DPR:</a:t>
            </a:r>
          </a:p>
          <a:p>
            <a:pPr lvl="1"/>
            <a:r>
              <a:rPr lang="en-US" dirty="0"/>
              <a:t>BERT with [CLS] token</a:t>
            </a:r>
          </a:p>
          <a:p>
            <a:pPr lvl="2"/>
            <a:r>
              <a:rPr lang="en-US" dirty="0"/>
              <a:t>The obvious choice in 2020</a:t>
            </a:r>
          </a:p>
          <a:p>
            <a:pPr lvl="2"/>
            <a:r>
              <a:rPr lang="en-US" dirty="0"/>
              <a:t>Still a very </a:t>
            </a:r>
            <a:r>
              <a:rPr lang="en-US" b="1" dirty="0"/>
              <a:t>good</a:t>
            </a:r>
            <a:r>
              <a:rPr lang="en-US" dirty="0"/>
              <a:t> choice </a:t>
            </a:r>
          </a:p>
          <a:p>
            <a:pPr lvl="1"/>
            <a:r>
              <a:rPr lang="en-US" dirty="0"/>
              <a:t>Decoder only models: intuitively</a:t>
            </a:r>
          </a:p>
          <a:p>
            <a:pPr lvl="2"/>
            <a:r>
              <a:rPr lang="en-US" dirty="0"/>
              <a:t>Token representations don’t “know” about tokens appearing after them (causal attention)</a:t>
            </a:r>
          </a:p>
          <a:p>
            <a:pPr lvl="2"/>
            <a:r>
              <a:rPr lang="en-US" dirty="0"/>
              <a:t>Token representations from late in the document aren’t used much</a:t>
            </a:r>
          </a:p>
          <a:p>
            <a:pPr lvl="1"/>
            <a:endParaRPr lang="en-US" dirty="0"/>
          </a:p>
        </p:txBody>
      </p:sp>
      <p:pic>
        <p:nvPicPr>
          <p:cNvPr id="8" name="Picture 2" descr="Architecture of the GPT family of models">
            <a:extLst>
              <a:ext uri="{FF2B5EF4-FFF2-40B4-BE49-F238E27FC236}">
                <a16:creationId xmlns:a16="http://schemas.microsoft.com/office/drawing/2014/main" id="{75D68046-1C95-2B68-1A4C-CABBE363BC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18" t="15441"/>
          <a:stretch/>
        </p:blipFill>
        <p:spPr bwMode="auto">
          <a:xfrm>
            <a:off x="7000875" y="3428999"/>
            <a:ext cx="1765806" cy="328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DA1691-C637-7861-16DE-525B6ADBFAEF}"/>
              </a:ext>
            </a:extLst>
          </p:cNvPr>
          <p:cNvSpPr txBox="1"/>
          <p:nvPr/>
        </p:nvSpPr>
        <p:spPr>
          <a:xfrm>
            <a:off x="7142663" y="2899864"/>
            <a:ext cx="1482229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Decoder only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E4F8B52-B782-4A83-6AB2-B5A03DC373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153" b="6173"/>
          <a:stretch/>
        </p:blipFill>
        <p:spPr bwMode="auto">
          <a:xfrm>
            <a:off x="6914505" y="834143"/>
            <a:ext cx="1938544" cy="180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557028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9E8A3-E8F2-9964-17F1-E5E561D08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33B89-7449-7C87-1905-9D79B885D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74F6C-C8F3-3946-4153-EF4EEF6E1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Retrieval models</a:t>
            </a:r>
          </a:p>
          <a:p>
            <a:pPr lvl="1"/>
            <a:r>
              <a:rPr lang="en-US" dirty="0"/>
              <a:t>Are trained contrastively</a:t>
            </a:r>
          </a:p>
          <a:p>
            <a:pPr lvl="2"/>
            <a:r>
              <a:rPr lang="en-US" dirty="0"/>
              <a:t>In-batch negatives means models need to be compact</a:t>
            </a:r>
          </a:p>
          <a:p>
            <a:pPr lvl="1"/>
            <a:r>
              <a:rPr lang="en-US" dirty="0"/>
              <a:t>Must produce “small” embeddings</a:t>
            </a:r>
          </a:p>
          <a:p>
            <a:pPr lvl="2"/>
            <a:r>
              <a:rPr lang="en-US" dirty="0"/>
              <a:t>Or the index becomes too large</a:t>
            </a:r>
          </a:p>
          <a:p>
            <a:r>
              <a:rPr lang="en-US" dirty="0"/>
              <a:t>Large decoder-only LLMs are powerful</a:t>
            </a:r>
          </a:p>
          <a:p>
            <a:pPr lvl="1"/>
            <a:r>
              <a:rPr lang="en-US" dirty="0"/>
              <a:t>But hard to use for retrieval</a:t>
            </a:r>
          </a:p>
          <a:p>
            <a:pPr lvl="2"/>
            <a:r>
              <a:rPr lang="en-US" dirty="0"/>
              <a:t>There is no natural “bottleneck”</a:t>
            </a:r>
          </a:p>
          <a:p>
            <a:pPr lvl="2"/>
            <a:r>
              <a:rPr lang="en-US" dirty="0"/>
              <a:t>Most retrievers are based on encoder-only or encoder-decoder models</a:t>
            </a:r>
          </a:p>
          <a:p>
            <a:r>
              <a:rPr lang="en-US" dirty="0"/>
              <a:t>Can we use decoder-only LLMs for retrieval?</a:t>
            </a:r>
          </a:p>
          <a:p>
            <a:pPr lvl="1"/>
            <a:r>
              <a:rPr lang="en-US" dirty="0"/>
              <a:t>One idea: augment a query with an LLM</a:t>
            </a:r>
          </a:p>
        </p:txBody>
      </p:sp>
    </p:spTree>
    <p:extLst>
      <p:ext uri="{BB962C8B-B14F-4D97-AF65-F5344CB8AC3E}">
        <p14:creationId xmlns:p14="http://schemas.microsoft.com/office/powerpoint/2010/main" val="348001287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D556AA-8F77-FB53-DF7D-76FC115EF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57175"/>
            <a:ext cx="7772400" cy="28201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881F67-15EE-5DAF-59F2-E48B82C04ABC}"/>
              </a:ext>
            </a:extLst>
          </p:cNvPr>
          <p:cNvSpPr txBox="1"/>
          <p:nvPr/>
        </p:nvSpPr>
        <p:spPr>
          <a:xfrm>
            <a:off x="6557963" y="257175"/>
            <a:ext cx="224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ADEE67-528C-BE79-83D8-2A7F3CB15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751" y="3428999"/>
            <a:ext cx="882556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538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07398-C239-EF8A-D18A-4D17FCEE0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Hypothetical Document Embedding (</a:t>
            </a:r>
            <a:r>
              <a:rPr lang="en-US" sz="3200" dirty="0" err="1"/>
              <a:t>HyDE</a:t>
            </a:r>
            <a:r>
              <a:rPr lang="en-US" sz="32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2AF1A-30EC-27FF-DE47-6C006E526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399" y="1257300"/>
            <a:ext cx="8435975" cy="3657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Details</a:t>
            </a:r>
          </a:p>
          <a:p>
            <a:pPr lvl="1"/>
            <a:r>
              <a:rPr lang="en-US" dirty="0"/>
              <a:t>prompt model (</a:t>
            </a:r>
            <a:r>
              <a:rPr lang="en-US" dirty="0" err="1"/>
              <a:t>InstructGPT</a:t>
            </a:r>
            <a:r>
              <a:rPr lang="en-US" dirty="0"/>
              <a:t>) to convert question </a:t>
            </a:r>
            <a:r>
              <a:rPr lang="en-US" i="1" dirty="0"/>
              <a:t>q</a:t>
            </a:r>
            <a:r>
              <a:rPr lang="en-US" dirty="0"/>
              <a:t> to a query document </a:t>
            </a:r>
            <a:r>
              <a:rPr lang="en-US" i="1" dirty="0"/>
              <a:t>d</a:t>
            </a:r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pPr lvl="1"/>
            <a:endParaRPr lang="en-US" dirty="0"/>
          </a:p>
          <a:p>
            <a:pPr lvl="1"/>
            <a:r>
              <a:rPr lang="en-US" dirty="0"/>
              <a:t>sample N documents d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d</a:t>
            </a:r>
            <a:r>
              <a:rPr lang="en-US" baseline="-25000" dirty="0" err="1"/>
              <a:t>N</a:t>
            </a:r>
            <a:r>
              <a:rPr lang="en-US" dirty="0"/>
              <a:t>, by generation with temperature T</a:t>
            </a:r>
          </a:p>
          <a:p>
            <a:pPr lvl="1"/>
            <a:r>
              <a:rPr lang="en-US" dirty="0"/>
              <a:t>query vector for </a:t>
            </a:r>
            <a:r>
              <a:rPr lang="en-US" dirty="0" err="1"/>
              <a:t>Contriever</a:t>
            </a:r>
            <a:r>
              <a:rPr lang="en-US" dirty="0"/>
              <a:t> is average of embeddings for </a:t>
            </a:r>
            <a:r>
              <a:rPr lang="en-US" i="1" dirty="0"/>
              <a:t>q </a:t>
            </a:r>
            <a:r>
              <a:rPr lang="en-US" dirty="0"/>
              <a:t>and d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d</a:t>
            </a:r>
            <a:r>
              <a:rPr lang="en-US" baseline="-25000" dirty="0" err="1"/>
              <a:t>N</a:t>
            </a: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AFE658-2AA8-3823-6111-057AB2115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72509"/>
            <a:ext cx="9203892" cy="11664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37840E-5E7A-3F91-9416-1C7ACB9D4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65" y="4914900"/>
            <a:ext cx="7772400" cy="184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69199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33542-B854-E314-CF12-9044998A6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69601-FF57-48EE-EEA4-FE901A859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Language Model as Retriever (</a:t>
            </a:r>
            <a:r>
              <a:rPr lang="en-US" sz="3200" dirty="0" err="1"/>
              <a:t>LameR</a:t>
            </a:r>
            <a:r>
              <a:rPr lang="en-US" sz="3200" dirty="0"/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48A80C-6432-780B-5B40-43A228D0C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1209033"/>
            <a:ext cx="8422714" cy="27057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A6257B-28AF-C7C8-DB0C-762422634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341" y="4196067"/>
            <a:ext cx="8420484" cy="22333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C4862D-A8D6-88B1-974A-9D8099C06ECE}"/>
              </a:ext>
            </a:extLst>
          </p:cNvPr>
          <p:cNvSpPr txBox="1"/>
          <p:nvPr/>
        </p:nvSpPr>
        <p:spPr>
          <a:xfrm>
            <a:off x="3514725" y="1096962"/>
            <a:ext cx="5187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https://arxiv.org/pdf/2304.14233</a:t>
            </a:r>
            <a:r>
              <a:rPr lang="en-US" dirty="0"/>
              <a:t> 2023 Shen et al</a:t>
            </a:r>
          </a:p>
        </p:txBody>
      </p:sp>
    </p:spTree>
    <p:extLst>
      <p:ext uri="{BB962C8B-B14F-4D97-AF65-F5344CB8AC3E}">
        <p14:creationId xmlns:p14="http://schemas.microsoft.com/office/powerpoint/2010/main" val="320416786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8AA491-DFF1-91B0-5678-5E2072BC8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Decoder-only models as encoders?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C0AFC6-D9BD-8434-B8BB-7F5637CE81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673"/>
          <a:stretch/>
        </p:blipFill>
        <p:spPr>
          <a:xfrm>
            <a:off x="1221582" y="4471988"/>
            <a:ext cx="6465094" cy="21113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748F74-5781-E33E-B7D7-E6CB0ACC3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560" y="993642"/>
            <a:ext cx="6815138" cy="26548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B9AEBB-FFE0-42CE-F05A-D186E15A8753}"/>
              </a:ext>
            </a:extLst>
          </p:cNvPr>
          <p:cNvSpPr txBox="1"/>
          <p:nvPr/>
        </p:nvSpPr>
        <p:spPr>
          <a:xfrm>
            <a:off x="8029575" y="1328738"/>
            <a:ext cx="828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F7554C-C63C-5590-C9E0-9A62E5B0F2DF}"/>
              </a:ext>
            </a:extLst>
          </p:cNvPr>
          <p:cNvSpPr txBox="1"/>
          <p:nvPr/>
        </p:nvSpPr>
        <p:spPr>
          <a:xfrm>
            <a:off x="8000999" y="4695825"/>
            <a:ext cx="828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4D3A5E-DFE0-0D82-3766-5A5337C4C4AD}"/>
              </a:ext>
            </a:extLst>
          </p:cNvPr>
          <p:cNvSpPr txBox="1"/>
          <p:nvPr/>
        </p:nvSpPr>
        <p:spPr>
          <a:xfrm>
            <a:off x="7272338" y="3012281"/>
            <a:ext cx="1585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PromptEOL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C94F32-755E-AC7D-E72C-A462EC7F873A}"/>
              </a:ext>
            </a:extLst>
          </p:cNvPr>
          <p:cNvSpPr txBox="1"/>
          <p:nvPr/>
        </p:nvSpPr>
        <p:spPr>
          <a:xfrm>
            <a:off x="7272338" y="5343009"/>
            <a:ext cx="1871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Echo embeddings</a:t>
            </a:r>
          </a:p>
        </p:txBody>
      </p:sp>
    </p:spTree>
    <p:extLst>
      <p:ext uri="{BB962C8B-B14F-4D97-AF65-F5344CB8AC3E}">
        <p14:creationId xmlns:p14="http://schemas.microsoft.com/office/powerpoint/2010/main" val="334114066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D1A5-20F0-BCFF-6C9D-5CC800149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PromptEOL</a:t>
            </a:r>
            <a:r>
              <a:rPr lang="en-US" dirty="0"/>
              <a:t>: Key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55BD1-5E03-1CDA-7D88-F821E6CCF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371475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To summarize a sentence </a:t>
            </a:r>
            <a:r>
              <a:rPr lang="en-US" i="1" dirty="0"/>
              <a:t>x</a:t>
            </a:r>
          </a:p>
          <a:p>
            <a:pPr lvl="1"/>
            <a:r>
              <a:rPr lang="en-US" dirty="0"/>
              <a:t>Prompt the model with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Take the last hidden state of Transformer as representation</a:t>
            </a:r>
          </a:p>
          <a:p>
            <a:pPr lvl="1"/>
            <a:r>
              <a:rPr lang="en-US" dirty="0"/>
              <a:t>Then</a:t>
            </a:r>
          </a:p>
          <a:p>
            <a:pPr lvl="2"/>
            <a:r>
              <a:rPr lang="en-US" dirty="0"/>
              <a:t>Use 300 sentence/word pairs as ICL demonstrations</a:t>
            </a:r>
          </a:p>
          <a:p>
            <a:pPr lvl="2"/>
            <a:r>
              <a:rPr lang="en-US" dirty="0"/>
              <a:t>Train the representations contrastively with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68BF5D-DA93-5E7D-4766-4F817101D40D}"/>
              </a:ext>
            </a:extLst>
          </p:cNvPr>
          <p:cNvSpPr txBox="1"/>
          <p:nvPr/>
        </p:nvSpPr>
        <p:spPr>
          <a:xfrm>
            <a:off x="1328737" y="2175558"/>
            <a:ext cx="5786438" cy="3819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This sentence: “</a:t>
            </a:r>
            <a:r>
              <a:rPr lang="en-US" sz="1800" i="1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” 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means in one word: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0AFC9-9C87-1F1A-309C-9BFC345BE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512" y="4701271"/>
            <a:ext cx="6549326" cy="136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36862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CD343-8516-D244-F278-FC2B5B50C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C4766-2CF9-3377-4ECC-D9830F39F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Echo embeddings: key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BD04A-A05E-9C51-2429-95DD69840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535988" cy="248602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 summarize a sentence </a:t>
            </a:r>
            <a:r>
              <a:rPr lang="en-US" i="1" dirty="0"/>
              <a:t>x</a:t>
            </a:r>
          </a:p>
          <a:p>
            <a:pPr lvl="1"/>
            <a:r>
              <a:rPr lang="en-US" dirty="0"/>
              <a:t>Prompt the model with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Mean-pool the tokens for </a:t>
            </a:r>
            <a:r>
              <a:rPr lang="en-US" i="1" dirty="0">
                <a:highlight>
                  <a:srgbClr val="FFFF00"/>
                </a:highlight>
              </a:rPr>
              <a:t>x</a:t>
            </a:r>
            <a:r>
              <a:rPr lang="en-US" i="1" dirty="0"/>
              <a:t> </a:t>
            </a:r>
            <a:r>
              <a:rPr lang="en-US" dirty="0"/>
              <a:t>as the representation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215885-2D12-ACB9-AE8D-921A92A0B6E8}"/>
              </a:ext>
            </a:extLst>
          </p:cNvPr>
          <p:cNvSpPr txBox="1"/>
          <p:nvPr/>
        </p:nvSpPr>
        <p:spPr>
          <a:xfrm>
            <a:off x="1057274" y="2356754"/>
            <a:ext cx="702945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Rewrite the sentence: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ourier New" panose="02070309020205020404" pitchFamily="49" charset="0"/>
              </a:rPr>
              <a:t>x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rewritten sentence: </a:t>
            </a:r>
            <a:r>
              <a:rPr lang="en-US" sz="1800" i="1" dirty="0"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Courier New" panose="02070309020205020404" pitchFamily="49" charset="0"/>
              </a:rPr>
              <a:t>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287990-F281-330F-8BD5-2842B000D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4" y="3726046"/>
            <a:ext cx="8965028" cy="283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13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2732</TotalTime>
  <Words>3236</Words>
  <Application>Microsoft Macintosh PowerPoint</Application>
  <PresentationFormat>On-screen Show (4:3)</PresentationFormat>
  <Paragraphs>453</Paragraphs>
  <Slides>75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2" baseType="lpstr">
      <vt:lpstr>Arial</vt:lpstr>
      <vt:lpstr>Calibri</vt:lpstr>
      <vt:lpstr>Cambria Math</vt:lpstr>
      <vt:lpstr>Courier New</vt:lpstr>
      <vt:lpstr>Gill Sans MT</vt:lpstr>
      <vt:lpstr>Wingdings</vt:lpstr>
      <vt:lpstr>Office Theme</vt:lpstr>
      <vt:lpstr>10-605/10-405 Machine Learning from Large Datasets</vt:lpstr>
      <vt:lpstr>PowerPoint Presentation</vt:lpstr>
      <vt:lpstr>Comment on Key-Value Caching</vt:lpstr>
      <vt:lpstr>Retrieval Augmented LLMs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Contrastive Learning: Overview and ExamPLE</vt:lpstr>
      <vt:lpstr>Recap: LSH: key ideas</vt:lpstr>
      <vt:lpstr>Alternative: learn a similarity metric</vt:lpstr>
      <vt:lpstr>DeepHash</vt:lpstr>
      <vt:lpstr>DeepHash</vt:lpstr>
      <vt:lpstr>Pipeline for DeepHash</vt:lpstr>
      <vt:lpstr>Training on matching vs non-matching pairs</vt:lpstr>
      <vt:lpstr>Training on matching vs non-matching pairs</vt:lpstr>
      <vt:lpstr>Training on matching vs non-matching pairs</vt:lpstr>
      <vt:lpstr>PowerPoint Presentation</vt:lpstr>
      <vt:lpstr>Contrastive Learning: The General Idea</vt:lpstr>
      <vt:lpstr>Learning for retrieval</vt:lpstr>
      <vt:lpstr>Contrastive learning</vt:lpstr>
      <vt:lpstr>Contrastive learning</vt:lpstr>
      <vt:lpstr>Contrastive learning</vt:lpstr>
      <vt:lpstr>Contrastive learning</vt:lpstr>
      <vt:lpstr>Contrastive learning</vt:lpstr>
      <vt:lpstr>Contrastive learning</vt:lpstr>
      <vt:lpstr>Retrieval FOR QUESTION-ANSWERING</vt:lpstr>
      <vt:lpstr>PowerPoint Presentation</vt:lpstr>
      <vt:lpstr>Prior State of the Art</vt:lpstr>
      <vt:lpstr>The Dense Passage Retriever (DPR)</vt:lpstr>
      <vt:lpstr>The Dense Passage Retriever (DPR)</vt:lpstr>
      <vt:lpstr>The Dense Passage Retriever (DPR)</vt:lpstr>
      <vt:lpstr>Discussion of DPR AND SOME USEFUL TRICKS FOR CONTRASTIVE LEARNING</vt:lpstr>
      <vt:lpstr>Discussion of DPR</vt:lpstr>
      <vt:lpstr>Discussion of DPR</vt:lpstr>
      <vt:lpstr>Discussion of DPR</vt:lpstr>
      <vt:lpstr>Discussion of DPR</vt:lpstr>
      <vt:lpstr>PowerPoint Presentation</vt:lpstr>
      <vt:lpstr>PowerPoint Presentation</vt:lpstr>
      <vt:lpstr>Discussion of DPR</vt:lpstr>
      <vt:lpstr>Cross-Encoders</vt:lpstr>
      <vt:lpstr>Discussion of DPR</vt:lpstr>
      <vt:lpstr>Discussion of DPR</vt:lpstr>
      <vt:lpstr>Contrastive Learning: Some Useful TRICKS</vt:lpstr>
      <vt:lpstr>The Triplet Loss</vt:lpstr>
      <vt:lpstr>In-batch negatives</vt:lpstr>
      <vt:lpstr>Hard negatives trick</vt:lpstr>
      <vt:lpstr>Hard negatives trick</vt:lpstr>
      <vt:lpstr>The Mega-batching Trick</vt:lpstr>
      <vt:lpstr>Mega-batching and Dynamic Dictionaries</vt:lpstr>
      <vt:lpstr>Momentum Encoders</vt:lpstr>
      <vt:lpstr>Momentum Encoders</vt:lpstr>
      <vt:lpstr>Contriever: Unsupervised Dense Retrieval</vt:lpstr>
      <vt:lpstr>PowerPoint Presentation</vt:lpstr>
      <vt:lpstr>Contriever</vt:lpstr>
      <vt:lpstr>Recap: Contrastive learning</vt:lpstr>
      <vt:lpstr>Contriever</vt:lpstr>
      <vt:lpstr>Contriever vs DPR</vt:lpstr>
      <vt:lpstr>Inverse Cloze Task</vt:lpstr>
      <vt:lpstr>Independent cropping</vt:lpstr>
      <vt:lpstr>MoCo dynamic dictionary + momentum</vt:lpstr>
      <vt:lpstr>MoCo</vt:lpstr>
      <vt:lpstr>Contriever</vt:lpstr>
      <vt:lpstr>Retrieval WITH Modern LLMS</vt:lpstr>
      <vt:lpstr>Recap: Discussion of DPR</vt:lpstr>
      <vt:lpstr>Better retrieval</vt:lpstr>
      <vt:lpstr>PowerPoint Presentation</vt:lpstr>
      <vt:lpstr>Hypothetical Document Embedding (HyDE)</vt:lpstr>
      <vt:lpstr>Language Model as Retriever (LameR)</vt:lpstr>
      <vt:lpstr>Decoder-only models as encoders?</vt:lpstr>
      <vt:lpstr>PromptEOL: Key ideas</vt:lpstr>
      <vt:lpstr>Echo embeddings: key ideas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from Big Datasets</dc:title>
  <dc:creator>William Cohen</dc:creator>
  <cp:lastModifiedBy>William W Cohen</cp:lastModifiedBy>
  <cp:revision>333</cp:revision>
  <dcterms:created xsi:type="dcterms:W3CDTF">2013-01-13T19:42:44Z</dcterms:created>
  <dcterms:modified xsi:type="dcterms:W3CDTF">2025-04-07T15:55:56Z</dcterms:modified>
</cp:coreProperties>
</file>