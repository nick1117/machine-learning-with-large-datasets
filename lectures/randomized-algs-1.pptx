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421" r:id="rId2"/>
    <p:sldId id="448" r:id="rId3"/>
    <p:sldId id="517" r:id="rId4"/>
    <p:sldId id="518" r:id="rId5"/>
    <p:sldId id="477" r:id="rId6"/>
    <p:sldId id="405" r:id="rId7"/>
    <p:sldId id="411" r:id="rId8"/>
    <p:sldId id="478" r:id="rId9"/>
    <p:sldId id="479" r:id="rId10"/>
    <p:sldId id="480" r:id="rId11"/>
    <p:sldId id="481" r:id="rId12"/>
    <p:sldId id="488" r:id="rId13"/>
    <p:sldId id="482" r:id="rId14"/>
    <p:sldId id="483" r:id="rId15"/>
    <p:sldId id="494" r:id="rId16"/>
    <p:sldId id="493" r:id="rId17"/>
    <p:sldId id="495" r:id="rId18"/>
    <p:sldId id="484" r:id="rId19"/>
    <p:sldId id="485" r:id="rId20"/>
    <p:sldId id="486" r:id="rId21"/>
    <p:sldId id="507" r:id="rId22"/>
    <p:sldId id="508" r:id="rId23"/>
    <p:sldId id="509" r:id="rId24"/>
    <p:sldId id="510" r:id="rId25"/>
    <p:sldId id="511" r:id="rId26"/>
    <p:sldId id="487" r:id="rId27"/>
    <p:sldId id="502" r:id="rId28"/>
    <p:sldId id="497" r:id="rId29"/>
    <p:sldId id="498" r:id="rId30"/>
    <p:sldId id="499" r:id="rId31"/>
    <p:sldId id="500" r:id="rId32"/>
    <p:sldId id="492" r:id="rId33"/>
    <p:sldId id="334" r:id="rId34"/>
    <p:sldId id="519" r:id="rId35"/>
    <p:sldId id="457" r:id="rId36"/>
    <p:sldId id="513" r:id="rId37"/>
    <p:sldId id="514" r:id="rId38"/>
    <p:sldId id="515" r:id="rId39"/>
    <p:sldId id="452" r:id="rId40"/>
    <p:sldId id="458" r:id="rId41"/>
    <p:sldId id="453" r:id="rId42"/>
    <p:sldId id="459" r:id="rId43"/>
    <p:sldId id="506" r:id="rId44"/>
    <p:sldId id="521" r:id="rId45"/>
    <p:sldId id="520" r:id="rId46"/>
    <p:sldId id="449" r:id="rId47"/>
    <p:sldId id="503" r:id="rId48"/>
    <p:sldId id="476" r:id="rId49"/>
    <p:sldId id="475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12B5"/>
    <a:srgbClr val="EA1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87" autoAdjust="0"/>
    <p:restoredTop sz="88483" autoAdjust="0"/>
  </p:normalViewPr>
  <p:slideViewPr>
    <p:cSldViewPr snapToGrid="0" snapToObjects="1">
      <p:cViewPr varScale="1">
        <p:scale>
          <a:sx n="82" d="100"/>
          <a:sy n="82" d="100"/>
        </p:scale>
        <p:origin x="197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3C4F9-F37E-4225-8EDE-0041EBD1A368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F8AD2-6882-4531-8560-2C8EEF2B5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81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a hash table would do this in constant time and storage</a:t>
            </a:r>
          </a:p>
          <a:p>
            <a:r>
              <a:rPr lang="en-US" dirty="0"/>
              <a:t>the hash trick does this </a:t>
            </a:r>
            <a:r>
              <a:rPr lang="en-US"/>
              <a:t>as</a:t>
            </a:r>
            <a:r>
              <a:rPr lang="en-US" baseline="0"/>
              <a:t> well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38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a hash table would do this in constant time and storage</a:t>
            </a:r>
          </a:p>
          <a:p>
            <a:r>
              <a:rPr lang="en-US" dirty="0"/>
              <a:t>the hash trick does this </a:t>
            </a:r>
            <a:r>
              <a:rPr lang="en-US"/>
              <a:t>as</a:t>
            </a:r>
            <a:r>
              <a:rPr lang="en-US" baseline="0"/>
              <a:t> well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38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3FE3B-26B7-06F3-D1EB-B5A2008AF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641B5-7EA8-EB1D-9AF0-F1F5344ED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9FBA4-B75C-02E6-6523-B52E385C7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a hash table would do this in constant time and storage</a:t>
            </a:r>
          </a:p>
          <a:p>
            <a:r>
              <a:rPr lang="en-US" dirty="0"/>
              <a:t>the hash trick does this </a:t>
            </a:r>
            <a:r>
              <a:rPr lang="en-US"/>
              <a:t>as</a:t>
            </a:r>
            <a:r>
              <a:rPr lang="en-US" baseline="0"/>
              <a:t> well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BA1A2-6995-60F3-8E5A-9B5907AD7E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17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88398-3085-B856-3A68-27A98FCC0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09A52F-1663-87FC-5121-FB5DE64D1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7EB43E-9806-EF3B-E2C1-739CA7A2A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a hash table would do this in constant time and storage</a:t>
            </a:r>
          </a:p>
          <a:p>
            <a:r>
              <a:rPr lang="en-US" dirty="0"/>
              <a:t>the hash trick does this </a:t>
            </a:r>
            <a:r>
              <a:rPr lang="en-US"/>
              <a:t>as</a:t>
            </a:r>
            <a:r>
              <a:rPr lang="en-US" baseline="0"/>
              <a:t> well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66379-67AB-8D09-A963-B35EE114B4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638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E03E-E69D-2005-BB20-9E3919948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8B225-114E-17AD-A04E-A1FDD3744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1657D6-1FD0-69D7-669A-B8CA90344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a hash table would do this in constant time and storage</a:t>
            </a:r>
          </a:p>
          <a:p>
            <a:r>
              <a:rPr lang="en-US" dirty="0"/>
              <a:t>the hash trick does this </a:t>
            </a:r>
            <a:r>
              <a:rPr lang="en-US"/>
              <a:t>as</a:t>
            </a:r>
            <a:r>
              <a:rPr lang="en-US" baseline="0"/>
              <a:t> well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DBD1C-1861-7F01-2C76-FCD6BB4963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40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38963-C6D4-C9C5-7163-B92C29099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96071-C963-AC91-0C99-A81DFE82F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E3585-B580-DC75-42C7-695C892CF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a hash table would do this in constant time and storage</a:t>
            </a:r>
          </a:p>
          <a:p>
            <a:r>
              <a:rPr lang="en-US" dirty="0"/>
              <a:t>the hash trick does this </a:t>
            </a:r>
            <a:r>
              <a:rPr lang="en-US"/>
              <a:t>as</a:t>
            </a:r>
            <a:r>
              <a:rPr lang="en-US" baseline="0"/>
              <a:t> well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5D8E8-CE95-1C2A-9A51-A1E3D7128D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09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297DC-9EDA-2D15-4A61-EF8271819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39392A-E363-D607-75FB-A1DBC23D0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84955-6BAE-0DB0-9EAD-804BAFDD6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a hash table would do this in constant time and storage</a:t>
            </a:r>
          </a:p>
          <a:p>
            <a:r>
              <a:rPr lang="en-US" dirty="0"/>
              <a:t>the hash trick does this </a:t>
            </a:r>
            <a:r>
              <a:rPr lang="en-US"/>
              <a:t>as</a:t>
            </a:r>
            <a:r>
              <a:rPr lang="en-US" baseline="0"/>
              <a:t> well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5E756-A80F-D09A-3C7B-C5F869FB2D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01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DF2E00-D426-0941-B533-5C8FC051038F}" type="slidenum">
              <a:rPr lang="en-US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DF2E00-D426-0941-B533-5C8FC051038F}" type="slidenum">
              <a:rPr lang="en-US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A97F9-DF0A-A346-B83D-6DF8DE56559B}" type="slidenum">
              <a:rPr lang="en-US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4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A97F9-DF0A-A346-B83D-6DF8DE56559B}" type="slidenum">
              <a:rPr lang="en-US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4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45250"/>
            <a:ext cx="2133600" cy="365125"/>
          </a:xfrm>
        </p:spPr>
        <p:txBody>
          <a:bodyPr/>
          <a:lstStyle/>
          <a:p>
            <a:fld id="{4FC35801-B62B-1347-8D7D-E1D9FD950611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452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7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3730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35801-B62B-1347-8D7D-E1D9FD950611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 Math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Cambria Math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mbria Math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AF07-0EE8-87BE-0557-A2CF8E2D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10-605 / 10-405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1B411-7A6C-21B1-431C-1AE6C9C76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from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6854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42AED-A54D-B099-B1F8-FA421BF39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the course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D35BB-25F6-CF2B-3603-F4EC41F70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49" y="1257300"/>
            <a:ext cx="8463151" cy="5308600"/>
          </a:xfrm>
        </p:spPr>
        <p:txBody>
          <a:bodyPr>
            <a:normAutofit/>
          </a:bodyPr>
          <a:lstStyle/>
          <a:p>
            <a:r>
              <a:rPr lang="en-US" sz="2000" dirty="0"/>
              <a:t>Why bigdata is important in ML / history of bigdata in ML</a:t>
            </a:r>
          </a:p>
          <a:p>
            <a:r>
              <a:rPr lang="en-US" sz="2000" dirty="0"/>
              <a:t>Scalable computation on clusters</a:t>
            </a:r>
          </a:p>
          <a:p>
            <a:pPr lvl="1"/>
            <a:r>
              <a:rPr lang="en-US" sz="2000" dirty="0"/>
              <a:t>MapReduce, Spark and iteration, Spark workflows</a:t>
            </a:r>
          </a:p>
          <a:p>
            <a:r>
              <a:rPr lang="en-US" sz="2000" dirty="0"/>
              <a:t>Learning as optimization</a:t>
            </a:r>
          </a:p>
          <a:p>
            <a:pPr lvl="1"/>
            <a:r>
              <a:rPr lang="en-US" sz="2000" dirty="0"/>
              <a:t>MLE for binomials, linear regression, logistic regression, k-means clustering</a:t>
            </a:r>
          </a:p>
          <a:p>
            <a:pPr lvl="1"/>
            <a:r>
              <a:rPr lang="en-US" sz="2000" dirty="0"/>
              <a:t>exact solutions, gradient descent (batch, parallel, stochastic), EM and EM-like methods (for k-means)</a:t>
            </a:r>
          </a:p>
          <a:p>
            <a:r>
              <a:rPr lang="en-US" sz="2000" dirty="0"/>
              <a:t>“Craft” of ML</a:t>
            </a:r>
          </a:p>
          <a:p>
            <a:pPr lvl="1"/>
            <a:r>
              <a:rPr lang="en-US" sz="2000" dirty="0"/>
              <a:t>feature extraction / augmentation/ kernels</a:t>
            </a:r>
            <a:endParaRPr lang="en-US" sz="1700" dirty="0"/>
          </a:p>
          <a:p>
            <a:pPr lvl="1"/>
            <a:r>
              <a:rPr lang="en-US" sz="2000" dirty="0"/>
              <a:t>regularization and sparsity hyperparameter tuning</a:t>
            </a:r>
          </a:p>
          <a:p>
            <a:pPr lvl="1"/>
            <a:r>
              <a:rPr lang="en-US" sz="2000" dirty="0"/>
              <a:t>the hash trick and efficiency</a:t>
            </a:r>
          </a:p>
          <a:p>
            <a:pPr lvl="1"/>
            <a:r>
              <a:rPr lang="en-US" sz="2000" dirty="0"/>
              <a:t>distributed ML – interaction with sparsity </a:t>
            </a:r>
            <a:r>
              <a:rPr lang="en-US" sz="2000" dirty="0" err="1"/>
              <a:t>etc</a:t>
            </a:r>
            <a:endParaRPr lang="en-US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DDA85-B563-8727-8A37-8DAC54136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71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3A8E3-1795-D480-C62A-3135CC2B3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97B41-278D-5D16-C603-3925F308E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the course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9204-5A66-43CA-4E42-8047F0F2F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49" y="1257300"/>
            <a:ext cx="8463151" cy="5308600"/>
          </a:xfrm>
        </p:spPr>
        <p:txBody>
          <a:bodyPr>
            <a:normAutofit/>
          </a:bodyPr>
          <a:lstStyle/>
          <a:p>
            <a:r>
              <a:rPr lang="en-US" sz="2000" dirty="0"/>
              <a:t>Why bigdata is important in ML / history of bigdata in ML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Tool: </a:t>
            </a:r>
            <a:r>
              <a:rPr lang="en-US" sz="2000" dirty="0"/>
              <a:t>Scalable computation on clusters</a:t>
            </a:r>
          </a:p>
          <a:p>
            <a:pPr lvl="1"/>
            <a:r>
              <a:rPr lang="en-US" sz="2000" dirty="0"/>
              <a:t>MapReduce, Spark and iteration, Spark workflows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Tool: </a:t>
            </a:r>
            <a:r>
              <a:rPr lang="en-US" sz="2000" dirty="0"/>
              <a:t>Learning as optimization</a:t>
            </a:r>
          </a:p>
          <a:p>
            <a:pPr lvl="1"/>
            <a:r>
              <a:rPr lang="en-US" sz="2000" dirty="0"/>
              <a:t>MLE for binomials, linear regression, logistic regression, k-means clustering</a:t>
            </a:r>
          </a:p>
          <a:p>
            <a:pPr lvl="1"/>
            <a:r>
              <a:rPr lang="en-US" sz="2000" b="1" dirty="0">
                <a:solidFill>
                  <a:srgbClr val="0070C0"/>
                </a:solidFill>
              </a:rPr>
              <a:t>Tools: </a:t>
            </a:r>
            <a:r>
              <a:rPr lang="en-US" sz="2000" dirty="0"/>
              <a:t>exact solutions, gradient descent (batch, parallel, stochastic), EM and EM-like methods (for k-means)</a:t>
            </a:r>
          </a:p>
          <a:p>
            <a:r>
              <a:rPr lang="en-US" sz="2000" dirty="0"/>
              <a:t>“Craft” of ML</a:t>
            </a:r>
          </a:p>
          <a:p>
            <a:pPr lvl="1"/>
            <a:r>
              <a:rPr lang="en-US" sz="2000" b="1" dirty="0">
                <a:solidFill>
                  <a:srgbClr val="0070C0"/>
                </a:solidFill>
              </a:rPr>
              <a:t>Tool: </a:t>
            </a:r>
            <a:r>
              <a:rPr lang="en-US" sz="2000" dirty="0"/>
              <a:t>feature extraction / augmentation/ kernels</a:t>
            </a:r>
            <a:endParaRPr lang="en-US" sz="1700" dirty="0"/>
          </a:p>
          <a:p>
            <a:pPr lvl="1"/>
            <a:r>
              <a:rPr lang="en-US" sz="2000" b="1" dirty="0">
                <a:solidFill>
                  <a:srgbClr val="0070C0"/>
                </a:solidFill>
              </a:rPr>
              <a:t>Tool: </a:t>
            </a:r>
            <a:r>
              <a:rPr lang="en-US" sz="2000" dirty="0"/>
              <a:t>regularization and sparsity hyperparameter tuning</a:t>
            </a:r>
          </a:p>
          <a:p>
            <a:pPr lvl="1"/>
            <a:r>
              <a:rPr lang="en-US" sz="2000" b="1" dirty="0">
                <a:solidFill>
                  <a:srgbClr val="0070C0"/>
                </a:solidFill>
              </a:rPr>
              <a:t>Tool: </a:t>
            </a:r>
            <a:r>
              <a:rPr lang="en-US" sz="2000" dirty="0"/>
              <a:t>the hash trick and efficient SGD</a:t>
            </a:r>
          </a:p>
          <a:p>
            <a:pPr lvl="1"/>
            <a:r>
              <a:rPr lang="en-US" sz="2000" b="1" dirty="0">
                <a:solidFill>
                  <a:srgbClr val="0070C0"/>
                </a:solidFill>
              </a:rPr>
              <a:t>Tool: </a:t>
            </a:r>
            <a:r>
              <a:rPr lang="en-US" sz="2000" dirty="0"/>
              <a:t>distributed ML – interaction with sparsity,  </a:t>
            </a:r>
            <a:r>
              <a:rPr lang="en-US" sz="2000" dirty="0" err="1"/>
              <a:t>AllReduce</a:t>
            </a:r>
            <a:endParaRPr lang="en-US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8D1BB-99F1-2961-B28B-512B020D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91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03088-0E69-5606-2984-D0A1E0F0B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14A4F-11E6-14AC-C7F3-26B703B1D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5206F-176A-AC3C-08F2-8681D7B52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49" y="1257300"/>
            <a:ext cx="8463151" cy="5308600"/>
          </a:xfrm>
        </p:spPr>
        <p:txBody>
          <a:bodyPr>
            <a:normAutofit/>
          </a:bodyPr>
          <a:lstStyle/>
          <a:p>
            <a:r>
              <a:rPr lang="en-US" dirty="0"/>
              <a:t>Randomized algorithms</a:t>
            </a:r>
          </a:p>
          <a:p>
            <a:pPr lvl="1"/>
            <a:r>
              <a:rPr lang="en-US" dirty="0"/>
              <a:t>Probabilistically grounded approximate data structures that are useful in ML/bigdata settings</a:t>
            </a:r>
          </a:p>
          <a:p>
            <a:r>
              <a:rPr lang="en-US" dirty="0"/>
              <a:t>Today:</a:t>
            </a:r>
          </a:p>
          <a:p>
            <a:pPr lvl="1"/>
            <a:r>
              <a:rPr lang="en-US" dirty="0"/>
              <a:t>Bloom Filters</a:t>
            </a:r>
          </a:p>
          <a:p>
            <a:pPr lvl="1"/>
            <a:r>
              <a:rPr lang="en-US" dirty="0" err="1"/>
              <a:t>CountMin</a:t>
            </a:r>
            <a:r>
              <a:rPr lang="en-US" dirty="0"/>
              <a:t> Sketches</a:t>
            </a:r>
          </a:p>
          <a:p>
            <a:pPr lvl="1"/>
            <a:r>
              <a:rPr lang="en-US" dirty="0"/>
              <a:t>Examples of how they have been used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8A5B8-8ADF-5890-7081-7EF4DDB19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72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Bloom Filters:</a:t>
            </a:r>
            <a:br>
              <a:rPr lang="en-US" dirty="0"/>
            </a:br>
            <a:r>
              <a:rPr lang="en-US" dirty="0"/>
              <a:t>Variant of the Hash Trick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152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document&#10;&#10;AI-generated content may be incorrect.">
            <a:extLst>
              <a:ext uri="{FF2B5EF4-FFF2-40B4-BE49-F238E27FC236}">
                <a16:creationId xmlns:a16="http://schemas.microsoft.com/office/drawing/2014/main" id="{5CB5BDD8-FF37-D76A-01D4-975D1794A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50159" cy="3295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A9B897-BAA0-62D2-D08E-C568D11F05E2}"/>
              </a:ext>
            </a:extLst>
          </p:cNvPr>
          <p:cNvSpPr txBox="1"/>
          <p:nvPr/>
        </p:nvSpPr>
        <p:spPr>
          <a:xfrm>
            <a:off x="5295900" y="3562351"/>
            <a:ext cx="4933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 of ML Research, 2009</a:t>
            </a:r>
          </a:p>
        </p:txBody>
      </p:sp>
    </p:spTree>
    <p:extLst>
      <p:ext uri="{BB962C8B-B14F-4D97-AF65-F5344CB8AC3E}">
        <p14:creationId xmlns:p14="http://schemas.microsoft.com/office/powerpoint/2010/main" val="2068074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68F96-E660-96FF-2F21-123635A9C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8A099-7427-A719-7FA0-84BB6358C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Observation: in NLP (especially with substrings and </a:t>
            </a:r>
            <a:r>
              <a:rPr lang="en-US" dirty="0" err="1"/>
              <a:t>terms#class</a:t>
            </a:r>
            <a:r>
              <a:rPr lang="en-US" dirty="0"/>
              <a:t> as features) there are often highly-correlated features “duplicates”</a:t>
            </a:r>
          </a:p>
          <a:p>
            <a:pPr lvl="1"/>
            <a:r>
              <a:rPr lang="en-US" dirty="0"/>
              <a:t>Or you can create duplicates explicitly by hashing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“William#1”, “William#2”, “William#3”, </a:t>
            </a:r>
            <a:r>
              <a:rPr lang="en-US" dirty="0"/>
              <a:t>etc.</a:t>
            </a:r>
          </a:p>
          <a:p>
            <a:r>
              <a:rPr lang="en-US" dirty="0"/>
              <a:t>Q: How much loss of information is there if you assume duplicates exist?</a:t>
            </a:r>
          </a:p>
          <a:p>
            <a:r>
              <a:rPr lang="en-US" dirty="0"/>
              <a:t>A: very little!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 10k features, 10M hash buckets, 3 duplicates of each feature, </a:t>
            </a:r>
            <a:r>
              <a:rPr lang="en-US" dirty="0" err="1"/>
              <a:t>Pr</a:t>
            </a:r>
            <a:r>
              <a:rPr lang="en-US" dirty="0"/>
              <a:t>(all duplicates of any feature collide) ~= 1%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D5B916-BDB3-F8F1-CAAF-1C346456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Formal results</a:t>
            </a:r>
          </a:p>
        </p:txBody>
      </p:sp>
    </p:spTree>
    <p:extLst>
      <p:ext uri="{BB962C8B-B14F-4D97-AF65-F5344CB8AC3E}">
        <p14:creationId xmlns:p14="http://schemas.microsoft.com/office/powerpoint/2010/main" val="1491836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Recap: of feature hashing with duplicates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1"/>
            <a:ext cx="8053754" cy="416550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Hash each feature </a:t>
            </a:r>
            <a:r>
              <a:rPr lang="en-US" i="1" dirty="0"/>
              <a:t>multiple times </a:t>
            </a:r>
            <a:r>
              <a:rPr lang="en-US" dirty="0"/>
              <a:t>with different hash functions</a:t>
            </a:r>
          </a:p>
          <a:p>
            <a:r>
              <a:rPr lang="en-US" dirty="0"/>
              <a:t>Now, each </a:t>
            </a:r>
            <a:r>
              <a:rPr lang="en-US" i="1" dirty="0"/>
              <a:t>w </a:t>
            </a:r>
            <a:r>
              <a:rPr lang="en-US" dirty="0"/>
              <a:t>has </a:t>
            </a:r>
            <a:r>
              <a:rPr lang="en-US" i="1" dirty="0"/>
              <a:t>k </a:t>
            </a:r>
            <a:r>
              <a:rPr lang="en-US" dirty="0"/>
              <a:t>chances to </a:t>
            </a:r>
            <a:r>
              <a:rPr lang="en-US" i="1" dirty="0"/>
              <a:t>not</a:t>
            </a:r>
            <a:r>
              <a:rPr lang="en-US" dirty="0"/>
              <a:t> collide with another useful </a:t>
            </a:r>
            <a:r>
              <a:rPr lang="en-US" i="1" dirty="0"/>
              <a:t>w’</a:t>
            </a:r>
            <a:r>
              <a:rPr lang="en-US" dirty="0"/>
              <a:t>  </a:t>
            </a:r>
            <a:endParaRPr lang="en-US" i="1" dirty="0"/>
          </a:p>
          <a:p>
            <a:r>
              <a:rPr lang="en-US" dirty="0"/>
              <a:t>An easy way to get multiple hash functions</a:t>
            </a:r>
          </a:p>
          <a:p>
            <a:pPr lvl="1"/>
            <a:r>
              <a:rPr lang="en-US" dirty="0"/>
              <a:t>Generate some random strings </a:t>
            </a:r>
            <a:r>
              <a:rPr lang="en-US" i="1" dirty="0"/>
              <a:t>s</a:t>
            </a:r>
            <a:r>
              <a:rPr lang="en-US" i="1" baseline="-25000" dirty="0"/>
              <a:t>1</a:t>
            </a:r>
            <a:r>
              <a:rPr lang="en-US" i="1" dirty="0"/>
              <a:t>,…,</a:t>
            </a:r>
            <a:r>
              <a:rPr lang="en-US" i="1" dirty="0" err="1"/>
              <a:t>s</a:t>
            </a:r>
            <a:r>
              <a:rPr lang="en-US" i="1" baseline="-25000" dirty="0" err="1"/>
              <a:t>L</a:t>
            </a:r>
            <a:endParaRPr lang="en-US" i="1" baseline="-25000" dirty="0"/>
          </a:p>
          <a:p>
            <a:pPr lvl="1"/>
            <a:r>
              <a:rPr lang="en-US" dirty="0"/>
              <a:t>Let the k-</a:t>
            </a:r>
            <a:r>
              <a:rPr lang="en-US" dirty="0" err="1"/>
              <a:t>th</a:t>
            </a:r>
            <a:r>
              <a:rPr lang="en-US" dirty="0"/>
              <a:t> hash function for </a:t>
            </a:r>
            <a:r>
              <a:rPr lang="en-US" i="1" dirty="0"/>
              <a:t>w</a:t>
            </a:r>
            <a:r>
              <a:rPr lang="en-US" dirty="0"/>
              <a:t> be the ordinary hash of concatenation </a:t>
            </a:r>
            <a:r>
              <a:rPr lang="en-US" i="1" dirty="0" err="1"/>
              <a:t>w</a:t>
            </a:r>
            <a:r>
              <a:rPr lang="en-US" i="1" dirty="0" err="1">
                <a:latin typeface="Wingdings"/>
                <a:ea typeface="Wingdings"/>
                <a:cs typeface="Wingdings"/>
                <a:sym typeface="Wingdings"/>
              </a:rPr>
              <a:t></a:t>
            </a:r>
            <a:r>
              <a:rPr lang="en-US" i="1" dirty="0" err="1"/>
              <a:t>s</a:t>
            </a:r>
            <a:r>
              <a:rPr lang="en-US" i="1" baseline="-25000" dirty="0" err="1"/>
              <a:t>k</a:t>
            </a:r>
            <a:endParaRPr lang="en-US" i="1" baseline="-25000" dirty="0"/>
          </a:p>
          <a:p>
            <a:pPr lvl="1"/>
            <a:endParaRPr lang="en-US" i="1" baseline="-25000" dirty="0"/>
          </a:p>
          <a:p>
            <a:pPr lvl="1"/>
            <a:endParaRPr lang="en-US" i="1" baseline="-25000" dirty="0"/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533307"/>
              </p:ext>
            </p:extLst>
          </p:nvPr>
        </p:nvGraphicFramePr>
        <p:xfrm>
          <a:off x="1828800" y="5422900"/>
          <a:ext cx="4875213" cy="130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800" imgH="393700" progId="Equation.3">
                  <p:embed/>
                </p:oleObj>
              </mc:Choice>
              <mc:Fallback>
                <p:oleObj name="Equation" r:id="rId2" imgW="1447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422900"/>
                        <a:ext cx="4875213" cy="1303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4113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variant of feature 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1"/>
            <a:ext cx="8053754" cy="416550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Hash each feature </a:t>
            </a:r>
            <a:r>
              <a:rPr lang="en-US" i="1" dirty="0"/>
              <a:t>multiple times </a:t>
            </a:r>
            <a:r>
              <a:rPr lang="en-US" dirty="0"/>
              <a:t>with different hash functions</a:t>
            </a:r>
          </a:p>
          <a:p>
            <a:r>
              <a:rPr lang="en-US" dirty="0"/>
              <a:t>Now, each </a:t>
            </a:r>
            <a:r>
              <a:rPr lang="en-US" i="1" dirty="0"/>
              <a:t>w </a:t>
            </a:r>
            <a:r>
              <a:rPr lang="en-US" dirty="0"/>
              <a:t>has </a:t>
            </a:r>
            <a:r>
              <a:rPr lang="en-US" i="1" dirty="0"/>
              <a:t>k </a:t>
            </a:r>
            <a:r>
              <a:rPr lang="en-US" dirty="0"/>
              <a:t>chances to </a:t>
            </a:r>
            <a:r>
              <a:rPr lang="en-US" i="1" dirty="0"/>
              <a:t>not</a:t>
            </a:r>
            <a:r>
              <a:rPr lang="en-US" dirty="0"/>
              <a:t> collide with another useful </a:t>
            </a:r>
            <a:r>
              <a:rPr lang="en-US" i="1" dirty="0"/>
              <a:t>w’</a:t>
            </a:r>
            <a:r>
              <a:rPr lang="en-US" dirty="0"/>
              <a:t>  </a:t>
            </a:r>
            <a:endParaRPr lang="en-US" i="1" dirty="0"/>
          </a:p>
          <a:p>
            <a:r>
              <a:rPr lang="en-US" dirty="0"/>
              <a:t>An easy way to get multiple hash functions</a:t>
            </a:r>
          </a:p>
          <a:p>
            <a:pPr lvl="1"/>
            <a:r>
              <a:rPr lang="en-US" dirty="0"/>
              <a:t>Generate some random strings </a:t>
            </a:r>
            <a:r>
              <a:rPr lang="en-US" i="1" dirty="0"/>
              <a:t>s</a:t>
            </a:r>
            <a:r>
              <a:rPr lang="en-US" i="1" baseline="-25000" dirty="0"/>
              <a:t>1</a:t>
            </a:r>
            <a:r>
              <a:rPr lang="en-US" i="1" dirty="0"/>
              <a:t>,…,</a:t>
            </a:r>
            <a:r>
              <a:rPr lang="en-US" i="1" dirty="0" err="1"/>
              <a:t>s</a:t>
            </a:r>
            <a:r>
              <a:rPr lang="en-US" i="1" baseline="-25000" dirty="0" err="1"/>
              <a:t>L</a:t>
            </a:r>
            <a:endParaRPr lang="en-US" i="1" baseline="-25000" dirty="0"/>
          </a:p>
          <a:p>
            <a:pPr lvl="1"/>
            <a:r>
              <a:rPr lang="en-US" dirty="0"/>
              <a:t>Let the k-</a:t>
            </a:r>
            <a:r>
              <a:rPr lang="en-US" dirty="0" err="1"/>
              <a:t>th</a:t>
            </a:r>
            <a:r>
              <a:rPr lang="en-US" dirty="0"/>
              <a:t> hash function for </a:t>
            </a:r>
            <a:r>
              <a:rPr lang="en-US" i="1" dirty="0"/>
              <a:t>w</a:t>
            </a:r>
            <a:r>
              <a:rPr lang="en-US" dirty="0"/>
              <a:t> be the ordinary hash of concatenation </a:t>
            </a:r>
            <a:r>
              <a:rPr lang="en-US" i="1" dirty="0" err="1"/>
              <a:t>w</a:t>
            </a:r>
            <a:r>
              <a:rPr lang="en-US" i="1" dirty="0" err="1">
                <a:latin typeface="Wingdings"/>
                <a:ea typeface="Wingdings"/>
                <a:cs typeface="Wingdings"/>
                <a:sym typeface="Wingdings"/>
              </a:rPr>
              <a:t></a:t>
            </a:r>
            <a:r>
              <a:rPr lang="en-US" i="1" dirty="0" err="1"/>
              <a:t>s</a:t>
            </a:r>
            <a:r>
              <a:rPr lang="en-US" i="1" baseline="-25000" dirty="0" err="1"/>
              <a:t>k</a:t>
            </a:r>
            <a:endParaRPr lang="en-US" i="1" baseline="-25000" dirty="0"/>
          </a:p>
          <a:p>
            <a:pPr lvl="1"/>
            <a:endParaRPr lang="en-US" i="1" baseline="-25000" dirty="0"/>
          </a:p>
          <a:p>
            <a:pPr lvl="1"/>
            <a:endParaRPr lang="en-US" i="1" baseline="-25000" dirty="0"/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813939"/>
              </p:ext>
            </p:extLst>
          </p:nvPr>
        </p:nvGraphicFramePr>
        <p:xfrm>
          <a:off x="1828800" y="5422900"/>
          <a:ext cx="4875213" cy="130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800" imgH="393700" progId="Equation.3">
                  <p:embed/>
                </p:oleObj>
              </mc:Choice>
              <mc:Fallback>
                <p:oleObj name="Equation" r:id="rId2" imgW="1447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422900"/>
                        <a:ext cx="4875213" cy="1303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58750" y="1158875"/>
            <a:ext cx="8769350" cy="213518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966641"/>
              </p:ext>
            </p:extLst>
          </p:nvPr>
        </p:nvGraphicFramePr>
        <p:xfrm>
          <a:off x="949326" y="1631633"/>
          <a:ext cx="2114548" cy="731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28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469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69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9400" y="1631633"/>
            <a:ext cx="595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V(</a:t>
            </a:r>
            <a:r>
              <a:rPr lang="en-US" b="1" dirty="0"/>
              <a:t>a</a:t>
            </a:r>
            <a:r>
              <a:rPr lang="en-US"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916" y="1950731"/>
            <a:ext cx="607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V(</a:t>
            </a:r>
            <a:r>
              <a:rPr lang="en-US" b="1" dirty="0"/>
              <a:t>b</a:t>
            </a:r>
            <a:r>
              <a:rPr lang="en-US"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88" y="121888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949087"/>
              </p:ext>
            </p:extLst>
          </p:nvPr>
        </p:nvGraphicFramePr>
        <p:xfrm>
          <a:off x="4268789" y="1339226"/>
          <a:ext cx="2114548" cy="14630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28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469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69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469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469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98863" y="1339226"/>
            <a:ext cx="595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V(</a:t>
            </a:r>
            <a:r>
              <a:rPr lang="en-US" b="1" dirty="0"/>
              <a:t>a</a:t>
            </a:r>
            <a:r>
              <a:rPr lang="en-US" dirty="0"/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8379" y="2031410"/>
            <a:ext cx="607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V(</a:t>
            </a:r>
            <a:r>
              <a:rPr lang="en-US" b="1" dirty="0"/>
              <a:t>b</a:t>
            </a:r>
            <a:r>
              <a:rPr lang="en-US" dirty="0"/>
              <a:t>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724429"/>
              </p:ext>
            </p:extLst>
          </p:nvPr>
        </p:nvGraphicFramePr>
        <p:xfrm>
          <a:off x="6515101" y="1584971"/>
          <a:ext cx="2114548" cy="3657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28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469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534845"/>
              </p:ext>
            </p:extLst>
          </p:nvPr>
        </p:nvGraphicFramePr>
        <p:xfrm>
          <a:off x="6515101" y="2229833"/>
          <a:ext cx="2114548" cy="3657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28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469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merican Typewriter"/>
                          <a:cs typeface="American Typewriter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31800" y="1158875"/>
            <a:ext cx="2463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  <a:r>
              <a:rPr lang="en-US" dirty="0"/>
              <a:t>!=</a:t>
            </a:r>
            <a:r>
              <a:rPr lang="en-US" b="1" dirty="0"/>
              <a:t>b  </a:t>
            </a:r>
            <a:r>
              <a:rPr lang="en-US" dirty="0"/>
              <a:t>are </a:t>
            </a:r>
            <a:r>
              <a:rPr lang="en-US"/>
              <a:t>binary vectors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738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variant of feature 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Why would this work?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Claim (Shi et al): with 100,000 features and 100,000,000 buckets:</a:t>
            </a:r>
          </a:p>
          <a:p>
            <a:pPr lvl="1"/>
            <a:r>
              <a:rPr lang="en-US" dirty="0"/>
              <a:t>k=1 </a:t>
            </a:r>
            <a:r>
              <a:rPr lang="en-US" dirty="0">
                <a:sym typeface="Wingdings"/>
              </a:rPr>
              <a:t></a:t>
            </a:r>
            <a:r>
              <a:rPr lang="en-US" dirty="0" err="1"/>
              <a:t>Pr</a:t>
            </a:r>
            <a:r>
              <a:rPr lang="en-US" dirty="0"/>
              <a:t>(any feature duplication) ≈1</a:t>
            </a:r>
          </a:p>
          <a:p>
            <a:pPr lvl="1"/>
            <a:r>
              <a:rPr lang="en-US" dirty="0"/>
              <a:t>k=2 </a:t>
            </a:r>
            <a:r>
              <a:rPr lang="en-US" dirty="0">
                <a:sym typeface="Wingdings"/>
              </a:rPr>
              <a:t></a:t>
            </a:r>
            <a:r>
              <a:rPr lang="en-US" dirty="0" err="1"/>
              <a:t>Pr</a:t>
            </a:r>
            <a:r>
              <a:rPr lang="en-US" dirty="0"/>
              <a:t>(any feature duplication) ≈0.4</a:t>
            </a:r>
          </a:p>
          <a:p>
            <a:pPr lvl="1"/>
            <a:r>
              <a:rPr lang="en-US" dirty="0"/>
              <a:t>k=3 </a:t>
            </a:r>
            <a:r>
              <a:rPr lang="en-US" dirty="0">
                <a:sym typeface="Wingdings"/>
              </a:rPr>
              <a:t> </a:t>
            </a:r>
            <a:r>
              <a:rPr lang="en-US" dirty="0" err="1">
                <a:sym typeface="Wingdings"/>
              </a:rPr>
              <a:t>Pr</a:t>
            </a:r>
            <a:r>
              <a:rPr lang="en-US" dirty="0">
                <a:sym typeface="Wingdings"/>
              </a:rPr>
              <a:t>(any feature duplication)</a:t>
            </a:r>
            <a:r>
              <a:rPr lang="en-US" dirty="0"/>
              <a:t> ≈0.01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901655"/>
              </p:ext>
            </p:extLst>
          </p:nvPr>
        </p:nvGraphicFramePr>
        <p:xfrm>
          <a:off x="1828800" y="2040873"/>
          <a:ext cx="4875213" cy="130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800" imgH="393700" progId="Equation.3">
                  <p:embed/>
                </p:oleObj>
              </mc:Choice>
              <mc:Fallback>
                <p:oleObj name="Equation" r:id="rId2" imgW="1447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040873"/>
                        <a:ext cx="4875213" cy="1303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1735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Trick -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Save memory: don’t store hash keys</a:t>
            </a:r>
          </a:p>
          <a:p>
            <a:r>
              <a:rPr lang="en-US" dirty="0"/>
              <a:t>Allow collisions</a:t>
            </a:r>
          </a:p>
          <a:p>
            <a:pPr lvl="1"/>
            <a:r>
              <a:rPr lang="en-US" dirty="0"/>
              <a:t>even though it distorts your data some</a:t>
            </a:r>
          </a:p>
          <a:p>
            <a:r>
              <a:rPr lang="en-US" dirty="0"/>
              <a:t>Let the learner (downstream) take up the slack</a:t>
            </a:r>
          </a:p>
          <a:p>
            <a:pPr lvl="1"/>
            <a:endParaRPr lang="en-US" dirty="0"/>
          </a:p>
          <a:p>
            <a:r>
              <a:rPr lang="en-US" b="1" dirty="0"/>
              <a:t>Bloom filters </a:t>
            </a:r>
            <a:r>
              <a:rPr lang="en-US" dirty="0"/>
              <a:t>are another famous trick that exploits these insights….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844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 Filters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64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Bloom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noisy “set” where you can test membership (and that’s it)</a:t>
            </a:r>
          </a:p>
          <a:p>
            <a:endParaRPr lang="en-US" dirty="0"/>
          </a:p>
          <a:p>
            <a:r>
              <a:rPr lang="en-US" dirty="0"/>
              <a:t>Interface to a Bloom filter</a:t>
            </a:r>
          </a:p>
          <a:p>
            <a:pPr lvl="1"/>
            <a:r>
              <a:rPr lang="en-US" dirty="0" err="1"/>
              <a:t>BloomFilter(int</a:t>
            </a:r>
            <a:r>
              <a:rPr lang="en-US" dirty="0"/>
              <a:t> </a:t>
            </a:r>
            <a:r>
              <a:rPr lang="en-US" dirty="0" err="1"/>
              <a:t>maxSize</a:t>
            </a:r>
            <a:r>
              <a:rPr lang="en-US" dirty="0"/>
              <a:t>, double </a:t>
            </a:r>
            <a:r>
              <a:rPr lang="en-US" dirty="0" err="1"/>
              <a:t>p</a:t>
            </a:r>
            <a:r>
              <a:rPr lang="en-US" dirty="0"/>
              <a:t>);</a:t>
            </a:r>
          </a:p>
          <a:p>
            <a:pPr lvl="1"/>
            <a:r>
              <a:rPr lang="en-US" dirty="0"/>
              <a:t>void </a:t>
            </a:r>
            <a:r>
              <a:rPr lang="en-US" dirty="0" err="1"/>
              <a:t>bf.add(String</a:t>
            </a:r>
            <a:r>
              <a:rPr lang="en-US" dirty="0"/>
              <a:t> </a:t>
            </a:r>
            <a:r>
              <a:rPr lang="en-US" dirty="0" err="1"/>
              <a:t>s</a:t>
            </a:r>
            <a:r>
              <a:rPr lang="en-US" dirty="0"/>
              <a:t>); // insert </a:t>
            </a:r>
            <a:r>
              <a:rPr lang="en-US" dirty="0" err="1"/>
              <a:t>s</a:t>
            </a:r>
            <a:endParaRPr lang="en-US" dirty="0"/>
          </a:p>
          <a:p>
            <a:pPr lvl="1"/>
            <a:r>
              <a:rPr lang="en-US" dirty="0" err="1"/>
              <a:t>bool</a:t>
            </a:r>
            <a:r>
              <a:rPr lang="en-US" dirty="0"/>
              <a:t> </a:t>
            </a:r>
            <a:r>
              <a:rPr lang="en-US" dirty="0" err="1"/>
              <a:t>bd.contains(String</a:t>
            </a:r>
            <a:r>
              <a:rPr lang="en-US" dirty="0"/>
              <a:t> </a:t>
            </a:r>
            <a:r>
              <a:rPr lang="en-US" dirty="0" err="1"/>
              <a:t>s</a:t>
            </a:r>
            <a:r>
              <a:rPr lang="en-US" dirty="0"/>
              <a:t>);</a:t>
            </a:r>
          </a:p>
          <a:p>
            <a:pPr lvl="2"/>
            <a:r>
              <a:rPr lang="en-US" dirty="0"/>
              <a:t>// If </a:t>
            </a:r>
            <a:r>
              <a:rPr lang="en-US" dirty="0" err="1"/>
              <a:t>s</a:t>
            </a:r>
            <a:r>
              <a:rPr lang="en-US" dirty="0"/>
              <a:t> was added return true;</a:t>
            </a:r>
          </a:p>
          <a:p>
            <a:pPr lvl="2"/>
            <a:r>
              <a:rPr lang="en-US" dirty="0"/>
              <a:t>// else with probability at least </a:t>
            </a:r>
            <a:r>
              <a:rPr lang="en-US" i="1" dirty="0"/>
              <a:t>1-p </a:t>
            </a:r>
            <a:r>
              <a:rPr lang="en-US" dirty="0"/>
              <a:t>return false;</a:t>
            </a:r>
          </a:p>
          <a:p>
            <a:pPr lvl="2"/>
            <a:r>
              <a:rPr lang="en-US" dirty="0"/>
              <a:t>// else with probability at most </a:t>
            </a:r>
            <a:r>
              <a:rPr lang="en-US" i="1" dirty="0"/>
              <a:t>p</a:t>
            </a:r>
            <a:r>
              <a:rPr lang="en-US" dirty="0"/>
              <a:t> return true;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171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Bloom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An implementation</a:t>
            </a:r>
          </a:p>
          <a:p>
            <a:pPr lvl="1"/>
            <a:r>
              <a:rPr lang="en-US" dirty="0"/>
              <a:t>Allocate M bits, bit[0]…,bit[1-M]</a:t>
            </a:r>
          </a:p>
          <a:p>
            <a:pPr lvl="1"/>
            <a:r>
              <a:rPr lang="en-US" dirty="0"/>
              <a:t>Pick K hash functions hash(1,2),hash(2,s),….</a:t>
            </a:r>
          </a:p>
          <a:p>
            <a:pPr lvl="2"/>
            <a:r>
              <a:rPr lang="en-US" dirty="0" err="1"/>
              <a:t>E.g</a:t>
            </a:r>
            <a:r>
              <a:rPr lang="en-US" dirty="0"/>
              <a:t>: hash(</a:t>
            </a:r>
            <a:r>
              <a:rPr lang="en-US" dirty="0" err="1"/>
              <a:t>i,s</a:t>
            </a:r>
            <a:r>
              <a:rPr lang="en-US" dirty="0"/>
              <a:t>) = hash(s+ </a:t>
            </a:r>
            <a:r>
              <a:rPr lang="en-US" dirty="0" err="1"/>
              <a:t>randomString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</a:t>
            </a:r>
          </a:p>
          <a:p>
            <a:pPr lvl="1"/>
            <a:r>
              <a:rPr lang="en-US" dirty="0"/>
              <a:t>To add string </a:t>
            </a:r>
            <a:r>
              <a:rPr lang="en-US" dirty="0" err="1"/>
              <a:t>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=1 to </a:t>
            </a:r>
            <a:r>
              <a:rPr lang="en-US" dirty="0" err="1"/>
              <a:t>k</a:t>
            </a:r>
            <a:r>
              <a:rPr lang="en-US" dirty="0"/>
              <a:t>, set </a:t>
            </a:r>
            <a:r>
              <a:rPr lang="en-US" dirty="0" err="1"/>
              <a:t>bit[hash(i,s</a:t>
            </a:r>
            <a:r>
              <a:rPr lang="en-US" dirty="0"/>
              <a:t>)] = 1</a:t>
            </a:r>
          </a:p>
          <a:p>
            <a:pPr lvl="1"/>
            <a:r>
              <a:rPr lang="en-US" dirty="0"/>
              <a:t>To check </a:t>
            </a:r>
            <a:r>
              <a:rPr lang="en-US" dirty="0" err="1"/>
              <a:t>contains(s</a:t>
            </a:r>
            <a:r>
              <a:rPr lang="en-US" dirty="0"/>
              <a:t>):</a:t>
            </a:r>
          </a:p>
          <a:p>
            <a:pPr lvl="2"/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=1 to </a:t>
            </a:r>
            <a:r>
              <a:rPr lang="en-US" dirty="0" err="1"/>
              <a:t>k</a:t>
            </a:r>
            <a:r>
              <a:rPr lang="en-US" dirty="0"/>
              <a:t>, test </a:t>
            </a:r>
            <a:r>
              <a:rPr lang="en-US" dirty="0" err="1"/>
              <a:t>bit[hash(i,s</a:t>
            </a:r>
            <a:r>
              <a:rPr lang="en-US" dirty="0"/>
              <a:t>)]</a:t>
            </a:r>
          </a:p>
          <a:p>
            <a:pPr lvl="2"/>
            <a:r>
              <a:rPr lang="en-US" dirty="0"/>
              <a:t>Return “true” if they’re all set; otherwise, return “false”</a:t>
            </a:r>
          </a:p>
          <a:p>
            <a:pPr lvl="1"/>
            <a:r>
              <a:rPr lang="en-US" dirty="0"/>
              <a:t>We’ll discuss how to set M and K soon, but for now:</a:t>
            </a:r>
          </a:p>
          <a:p>
            <a:pPr lvl="2"/>
            <a:r>
              <a:rPr lang="en-US" dirty="0"/>
              <a:t>Let M = 1.5*</a:t>
            </a:r>
            <a:r>
              <a:rPr lang="en-US" dirty="0" err="1"/>
              <a:t>maxSize</a:t>
            </a:r>
            <a:r>
              <a:rPr lang="en-US" dirty="0"/>
              <a:t>  </a:t>
            </a:r>
            <a:r>
              <a:rPr lang="en-US" i="1" dirty="0"/>
              <a:t>// less than two bits per item!</a:t>
            </a:r>
          </a:p>
          <a:p>
            <a:pPr lvl="2"/>
            <a:r>
              <a:rPr lang="en-US" dirty="0"/>
              <a:t>Let K = 2*log(1/p)       </a:t>
            </a:r>
            <a:r>
              <a:rPr lang="en-US" i="1" dirty="0"/>
              <a:t>// about right with this M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673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 filters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1803477"/>
          <a:ext cx="6096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2154" y="2634764"/>
            <a:ext cx="3672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bf.add</a:t>
            </a:r>
            <a:r>
              <a:rPr lang="en-US" sz="2800" dirty="0"/>
              <a:t>(“</a:t>
            </a:r>
            <a:r>
              <a:rPr lang="en-US" sz="2800" dirty="0" err="1">
                <a:solidFill>
                  <a:srgbClr val="FF0000"/>
                </a:solidFill>
              </a:rPr>
              <a:t>fred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flintstone</a:t>
            </a:r>
            <a:r>
              <a:rPr lang="en-US" sz="2800" dirty="0"/>
              <a:t>”):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76400" y="3900021"/>
          <a:ext cx="6096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>
            <a:stCxn id="6" idx="2"/>
          </p:cNvCxnSpPr>
          <p:nvPr/>
        </p:nvCxnSpPr>
        <p:spPr>
          <a:xfrm flipH="1">
            <a:off x="2473309" y="3157984"/>
            <a:ext cx="165245" cy="742037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225455" y="3157984"/>
            <a:ext cx="0" cy="742037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959745" y="3157984"/>
            <a:ext cx="1889296" cy="742037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25038" y="3397669"/>
            <a:ext cx="43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/>
                <a:cs typeface="Cambria Math"/>
              </a:rPr>
              <a:t>h1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5455" y="3397669"/>
            <a:ext cx="43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/>
                <a:cs typeface="Cambria Math"/>
              </a:rPr>
              <a:t>h2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9582" y="3397669"/>
            <a:ext cx="43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/>
                <a:cs typeface="Cambria Math"/>
              </a:rPr>
              <a:t>h3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554" y="4825766"/>
            <a:ext cx="36471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bf.add</a:t>
            </a:r>
            <a:r>
              <a:rPr lang="en-US" sz="2800" dirty="0"/>
              <a:t>(“</a:t>
            </a:r>
            <a:r>
              <a:rPr lang="en-US" sz="2800" dirty="0">
                <a:solidFill>
                  <a:srgbClr val="3366FF"/>
                </a:solidFill>
              </a:rPr>
              <a:t>barney rubble</a:t>
            </a:r>
            <a:r>
              <a:rPr lang="en-US" sz="2800" dirty="0"/>
              <a:t>”):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828800" y="6091023"/>
          <a:ext cx="6096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3366FF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C412B5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3366FF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" name="Straight Arrow Connector 23"/>
          <p:cNvCxnSpPr/>
          <p:nvPr/>
        </p:nvCxnSpPr>
        <p:spPr>
          <a:xfrm flipH="1">
            <a:off x="2143727" y="5348986"/>
            <a:ext cx="152420" cy="74203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377855" y="5348986"/>
            <a:ext cx="0" cy="7420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112145" y="5348986"/>
            <a:ext cx="968164" cy="74203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277438" y="5588671"/>
            <a:ext cx="43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/>
                <a:cs typeface="Cambria Math"/>
              </a:rPr>
              <a:t>h1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7855" y="5588671"/>
            <a:ext cx="43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/>
                <a:cs typeface="Cambria Math"/>
              </a:rPr>
              <a:t>h2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81982" y="5588671"/>
            <a:ext cx="43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/>
                <a:cs typeface="Cambria Math"/>
              </a:rPr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163153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2" grpId="0"/>
      <p:bldP spid="27" grpId="0"/>
      <p:bldP spid="28" grpId="0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 filters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1803477"/>
          <a:ext cx="6096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3366FF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C412B5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3366FF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2154" y="2634764"/>
            <a:ext cx="44550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bf.contains</a:t>
            </a:r>
            <a:r>
              <a:rPr lang="en-US" sz="2800" dirty="0"/>
              <a:t> (“</a:t>
            </a:r>
            <a:r>
              <a:rPr lang="en-US" sz="2800" dirty="0" err="1">
                <a:solidFill>
                  <a:srgbClr val="FF0000"/>
                </a:solidFill>
              </a:rPr>
              <a:t>fred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flintstone</a:t>
            </a:r>
            <a:r>
              <a:rPr lang="en-US" sz="2800" dirty="0"/>
              <a:t>”):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76400" y="3900021"/>
          <a:ext cx="6096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3366FF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C412B5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3366FF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>
            <a:stCxn id="6" idx="2"/>
          </p:cNvCxnSpPr>
          <p:nvPr/>
        </p:nvCxnSpPr>
        <p:spPr>
          <a:xfrm flipH="1">
            <a:off x="2473311" y="3157984"/>
            <a:ext cx="556376" cy="7420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225455" y="3157984"/>
            <a:ext cx="0" cy="7420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959745" y="3157984"/>
            <a:ext cx="1889296" cy="7420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25038" y="3397669"/>
            <a:ext cx="43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/>
                <a:cs typeface="Cambria Math"/>
              </a:rPr>
              <a:t>h1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5455" y="3397669"/>
            <a:ext cx="43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/>
                <a:cs typeface="Cambria Math"/>
              </a:rPr>
              <a:t>h2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554" y="4825766"/>
            <a:ext cx="433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bf.contains</a:t>
            </a:r>
            <a:r>
              <a:rPr lang="en-US" sz="2800" dirty="0"/>
              <a:t>(“</a:t>
            </a:r>
            <a:r>
              <a:rPr lang="en-US" sz="2800" dirty="0">
                <a:solidFill>
                  <a:srgbClr val="3366FF"/>
                </a:solidFill>
              </a:rPr>
              <a:t>barney rubble</a:t>
            </a:r>
            <a:r>
              <a:rPr lang="en-US" sz="2800" dirty="0"/>
              <a:t>”):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828800" y="6091023"/>
          <a:ext cx="6096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3366FF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C412B5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3366FF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" name="Straight Arrow Connector 23"/>
          <p:cNvCxnSpPr/>
          <p:nvPr/>
        </p:nvCxnSpPr>
        <p:spPr>
          <a:xfrm flipH="1">
            <a:off x="2143727" y="5348986"/>
            <a:ext cx="152420" cy="7420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377855" y="5348986"/>
            <a:ext cx="0" cy="7420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112145" y="5348986"/>
            <a:ext cx="968164" cy="7420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277438" y="5588671"/>
            <a:ext cx="43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/>
                <a:cs typeface="Cambria Math"/>
              </a:rPr>
              <a:t>h1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7855" y="5588671"/>
            <a:ext cx="43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/>
                <a:cs typeface="Cambria Math"/>
              </a:rPr>
              <a:t>h2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81982" y="5588671"/>
            <a:ext cx="43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/>
                <a:cs typeface="Cambria Math"/>
              </a:rPr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216836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7" grpId="0"/>
      <p:bldP spid="28" grpId="0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 filters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154" y="2634764"/>
            <a:ext cx="46217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bf.contains</a:t>
            </a:r>
            <a:r>
              <a:rPr lang="en-US" sz="2800" dirty="0"/>
              <a:t>(“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</a:rPr>
              <a:t>wilma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</a:rPr>
              <a:t>flintstone</a:t>
            </a:r>
            <a:r>
              <a:rPr lang="en-US" sz="2800" dirty="0"/>
              <a:t>”):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76400" y="3900021"/>
          <a:ext cx="6096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3366FF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C412B5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3366FF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>
            <a:stCxn id="6" idx="2"/>
          </p:cNvCxnSpPr>
          <p:nvPr/>
        </p:nvCxnSpPr>
        <p:spPr>
          <a:xfrm flipH="1">
            <a:off x="1927401" y="3157984"/>
            <a:ext cx="1185642" cy="830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225455" y="3157984"/>
            <a:ext cx="1665457" cy="830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959745" y="3157984"/>
            <a:ext cx="2880847" cy="83010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905116" y="3397669"/>
            <a:ext cx="43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/>
                <a:cs typeface="Cambria Math"/>
              </a:rPr>
              <a:t>h1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1068" y="3423380"/>
            <a:ext cx="43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/>
                <a:cs typeface="Cambria Math"/>
              </a:rPr>
              <a:t>h2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8121" y="3412240"/>
            <a:ext cx="43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/>
                <a:cs typeface="Cambria Math"/>
              </a:rPr>
              <a:t>h3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1524000" y="1803477"/>
          <a:ext cx="6096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3366FF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C412B5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3366FF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906415" y="4558408"/>
            <a:ext cx="46217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bf.contains</a:t>
            </a:r>
            <a:r>
              <a:rPr lang="en-US" sz="2800" dirty="0"/>
              <a:t>(“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</a:rPr>
              <a:t>wilma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</a:rPr>
              <a:t>flintstone</a:t>
            </a:r>
            <a:r>
              <a:rPr lang="en-US" sz="2800" dirty="0"/>
              <a:t>”):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1780661" y="5823665"/>
          <a:ext cx="6096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3366FF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C412B5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3366FF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/>
                          <a:cs typeface="Cambria Math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" name="Straight Arrow Connector 39"/>
          <p:cNvCxnSpPr>
            <a:stCxn id="38" idx="2"/>
          </p:cNvCxnSpPr>
          <p:nvPr/>
        </p:nvCxnSpPr>
        <p:spPr>
          <a:xfrm flipH="1">
            <a:off x="2031662" y="5081628"/>
            <a:ext cx="1185642" cy="830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3329716" y="5081628"/>
            <a:ext cx="1665457" cy="830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4064006" y="5081628"/>
            <a:ext cx="2108376" cy="830100"/>
          </a:xfrm>
          <a:prstGeom prst="straightConnector1">
            <a:avLst/>
          </a:prstGeom>
          <a:ln>
            <a:solidFill>
              <a:srgbClr val="33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009377" y="5321313"/>
            <a:ext cx="43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/>
                <a:cs typeface="Cambria Math"/>
              </a:rPr>
              <a:t>h1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5329" y="5347024"/>
            <a:ext cx="43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/>
                <a:cs typeface="Cambria Math"/>
              </a:rPr>
              <a:t>h2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32538" y="5348612"/>
            <a:ext cx="43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/>
                <a:cs typeface="Cambria Math"/>
              </a:rPr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53891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38" grpId="0"/>
      <p:bldP spid="43" grpId="0"/>
      <p:bldP spid="44" grpId="0"/>
      <p:bldP spid="4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Bloom filters: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>
            <a:normAutofit/>
          </a:bodyPr>
          <a:lstStyle/>
          <a:p>
            <a:r>
              <a:rPr lang="en-US" sz="2400" dirty="0"/>
              <a:t>Analysis (</a:t>
            </a:r>
            <a:r>
              <a:rPr lang="en-US" sz="2400" i="1" dirty="0"/>
              <a:t>m </a:t>
            </a:r>
            <a:r>
              <a:rPr lang="en-US" sz="2400" dirty="0"/>
              <a:t>bits, </a:t>
            </a:r>
            <a:r>
              <a:rPr lang="en-US" sz="2400" i="1" dirty="0"/>
              <a:t>k</a:t>
            </a:r>
            <a:r>
              <a:rPr lang="en-US" sz="2400" dirty="0"/>
              <a:t> hashers):</a:t>
            </a:r>
          </a:p>
          <a:p>
            <a:pPr lvl="1"/>
            <a:r>
              <a:rPr lang="en-US" sz="2400" dirty="0"/>
              <a:t>Assume </a:t>
            </a:r>
            <a:r>
              <a:rPr lang="en-US" sz="2400" dirty="0" err="1"/>
              <a:t>hash(i,s</a:t>
            </a:r>
            <a:r>
              <a:rPr lang="en-US" sz="2400" dirty="0"/>
              <a:t>) is a random function</a:t>
            </a:r>
          </a:p>
          <a:p>
            <a:pPr lvl="1"/>
            <a:r>
              <a:rPr lang="en-US" sz="2400" dirty="0"/>
              <a:t>Look at </a:t>
            </a:r>
            <a:r>
              <a:rPr lang="en-US" sz="2400" dirty="0" err="1"/>
              <a:t>Pr</a:t>
            </a:r>
            <a:r>
              <a:rPr lang="en-US" sz="2400" dirty="0"/>
              <a:t>(bit j is unset after </a:t>
            </a:r>
            <a:r>
              <a:rPr lang="en-US" sz="2400" i="1" dirty="0"/>
              <a:t>n</a:t>
            </a:r>
            <a:r>
              <a:rPr lang="en-US" sz="2400" dirty="0"/>
              <a:t> </a:t>
            </a:r>
            <a:r>
              <a:rPr lang="en-US" sz="2400" dirty="0" err="1"/>
              <a:t>add’s</a:t>
            </a:r>
            <a:r>
              <a:rPr lang="en-US" sz="2400" dirty="0"/>
              <a:t>):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… and </a:t>
            </a:r>
            <a:r>
              <a:rPr lang="en-US" sz="2400" dirty="0" err="1"/>
              <a:t>Pr</a:t>
            </a:r>
            <a:r>
              <a:rPr lang="en-US" sz="2400" dirty="0"/>
              <a:t>(collision) = </a:t>
            </a:r>
            <a:r>
              <a:rPr lang="en-US" sz="2400" dirty="0" err="1"/>
              <a:t>Pr</a:t>
            </a:r>
            <a:r>
              <a:rPr lang="en-US" sz="2400" dirty="0"/>
              <a:t>(all </a:t>
            </a:r>
            <a:r>
              <a:rPr lang="en-US" sz="2400" i="1" dirty="0"/>
              <a:t>k</a:t>
            </a:r>
            <a:r>
              <a:rPr lang="en-US" sz="2400" dirty="0"/>
              <a:t> bits set)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…. fix </a:t>
            </a:r>
            <a:r>
              <a:rPr lang="en-US" sz="2400" i="1" dirty="0"/>
              <a:t>m</a:t>
            </a:r>
            <a:r>
              <a:rPr lang="en-US" sz="2400" dirty="0"/>
              <a:t> and </a:t>
            </a:r>
            <a:r>
              <a:rPr lang="en-US" sz="2400" i="1" dirty="0"/>
              <a:t>n</a:t>
            </a:r>
            <a:r>
              <a:rPr lang="en-US" sz="2400" dirty="0"/>
              <a:t> and minimize </a:t>
            </a:r>
            <a:r>
              <a:rPr lang="en-US" sz="2400" i="1" dirty="0"/>
              <a:t>f(</a:t>
            </a:r>
            <a:r>
              <a:rPr lang="en-US" sz="2400" i="1" dirty="0" err="1"/>
              <a:t>m,n,k</a:t>
            </a:r>
            <a:r>
              <a:rPr lang="en-US" sz="2400" i="1" dirty="0"/>
              <a:t>)  </a:t>
            </a:r>
            <a:r>
              <a:rPr lang="en-US" sz="2400" dirty="0"/>
              <a:t>for </a:t>
            </a:r>
            <a:r>
              <a:rPr lang="en-US" sz="2400" i="1" dirty="0"/>
              <a:t>k:</a:t>
            </a:r>
            <a:endParaRPr lang="en-US" sz="2400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 descr="Screen Shot 2012-02-20 at 2.53.5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498" y="1766300"/>
            <a:ext cx="2228749" cy="1163538"/>
          </a:xfrm>
          <a:prstGeom prst="rect">
            <a:avLst/>
          </a:prstGeom>
        </p:spPr>
      </p:pic>
      <p:pic>
        <p:nvPicPr>
          <p:cNvPr id="5" name="Picture 4" descr="Screen Shot 2012-02-20 at 2.55.46 P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94"/>
          <a:stretch/>
        </p:blipFill>
        <p:spPr>
          <a:xfrm>
            <a:off x="2336780" y="3767868"/>
            <a:ext cx="5780132" cy="1156157"/>
          </a:xfrm>
          <a:prstGeom prst="rect">
            <a:avLst/>
          </a:prstGeom>
        </p:spPr>
      </p:pic>
      <p:pic>
        <p:nvPicPr>
          <p:cNvPr id="6" name="Picture 5" descr="Screen Shot 2012-02-20 at 2.57.32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450" y="5532989"/>
            <a:ext cx="2446711" cy="9249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74201" y="5673135"/>
            <a:ext cx="7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k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876" y="4050295"/>
            <a:ext cx="1599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f(</a:t>
            </a:r>
            <a:r>
              <a:rPr lang="en-US" sz="2800" i="1" dirty="0" err="1"/>
              <a:t>m,n,k</a:t>
            </a:r>
            <a:r>
              <a:rPr lang="en-US" sz="2800" i="1" dirty="0"/>
              <a:t>) =</a:t>
            </a:r>
          </a:p>
        </p:txBody>
      </p:sp>
    </p:spTree>
    <p:extLst>
      <p:ext uri="{BB962C8B-B14F-4D97-AF65-F5344CB8AC3E}">
        <p14:creationId xmlns:p14="http://schemas.microsoft.com/office/powerpoint/2010/main" val="3589061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Bloom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>
            <a:normAutofit/>
          </a:bodyPr>
          <a:lstStyle/>
          <a:p>
            <a:r>
              <a:rPr lang="en-US" sz="2400" dirty="0"/>
              <a:t>Analysis:</a:t>
            </a:r>
          </a:p>
          <a:p>
            <a:pPr lvl="1"/>
            <a:r>
              <a:rPr lang="en-US" sz="2400" dirty="0"/>
              <a:t>Plug optimal k=m/n*</a:t>
            </a:r>
            <a:r>
              <a:rPr lang="en-US" sz="2400" dirty="0" err="1"/>
              <a:t>ln</a:t>
            </a:r>
            <a:r>
              <a:rPr lang="en-US" sz="2400" dirty="0"/>
              <a:t>(2) back into </a:t>
            </a:r>
            <a:r>
              <a:rPr lang="en-US" sz="2400" dirty="0" err="1"/>
              <a:t>Pr</a:t>
            </a:r>
            <a:r>
              <a:rPr lang="en-US" sz="2400" dirty="0"/>
              <a:t>(collision): 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Now we can fix any two of </a:t>
            </a:r>
            <a:r>
              <a:rPr lang="en-US" sz="2400" i="1" dirty="0"/>
              <a:t>p, n, m</a:t>
            </a:r>
            <a:r>
              <a:rPr lang="en-US" sz="2400" dirty="0"/>
              <a:t> and solve for the 3</a:t>
            </a:r>
            <a:r>
              <a:rPr lang="en-US" sz="2400" baseline="30000" dirty="0"/>
              <a:t>rd</a:t>
            </a:r>
            <a:r>
              <a:rPr lang="en-US" sz="2400" dirty="0"/>
              <a:t>:</a:t>
            </a:r>
          </a:p>
          <a:p>
            <a:pPr marL="457200" lvl="1" indent="0">
              <a:buNone/>
            </a:pPr>
            <a:r>
              <a:rPr lang="en-US" sz="2400" dirty="0"/>
              <a:t>E.g., the value for </a:t>
            </a:r>
            <a:r>
              <a:rPr lang="en-US" sz="2400" i="1" dirty="0"/>
              <a:t>m </a:t>
            </a:r>
            <a:r>
              <a:rPr lang="en-US" sz="2400" dirty="0"/>
              <a:t>in terms of </a:t>
            </a:r>
            <a:r>
              <a:rPr lang="en-US" sz="2400" i="1" dirty="0"/>
              <a:t>n </a:t>
            </a:r>
            <a:r>
              <a:rPr lang="en-US" sz="2400" dirty="0"/>
              <a:t>and </a:t>
            </a:r>
            <a:r>
              <a:rPr lang="en-US" sz="2400" i="1" dirty="0"/>
              <a:t>p:</a:t>
            </a:r>
            <a:endParaRPr lang="en-US" sz="2400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 descr="Screen Shot 2012-02-20 at 2.55.46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94"/>
          <a:stretch/>
        </p:blipFill>
        <p:spPr>
          <a:xfrm>
            <a:off x="3749854" y="18011"/>
            <a:ext cx="5394146" cy="10789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95972" y="2586046"/>
            <a:ext cx="1364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f(</a:t>
            </a:r>
            <a:r>
              <a:rPr lang="en-US" sz="2800" i="1" dirty="0" err="1"/>
              <a:t>m,n</a:t>
            </a:r>
            <a:r>
              <a:rPr lang="en-US" sz="2800" i="1" dirty="0"/>
              <a:t>) =</a:t>
            </a:r>
          </a:p>
        </p:txBody>
      </p:sp>
      <p:pic>
        <p:nvPicPr>
          <p:cNvPr id="10" name="Picture 9" descr="Screen Shot 2012-02-20 at 3.51.5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554" y="2443551"/>
            <a:ext cx="5355058" cy="805378"/>
          </a:xfrm>
          <a:prstGeom prst="rect">
            <a:avLst/>
          </a:prstGeom>
        </p:spPr>
      </p:pic>
      <p:pic>
        <p:nvPicPr>
          <p:cNvPr id="11" name="Picture 10" descr="Screen Shot 2012-02-20 at 3.52.02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145" y="4491992"/>
            <a:ext cx="2581418" cy="93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05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Bloom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Interface to a Bloom filter</a:t>
            </a:r>
          </a:p>
          <a:p>
            <a:pPr lvl="1"/>
            <a:r>
              <a:rPr lang="en-US" dirty="0" err="1"/>
              <a:t>BloomFilter</a:t>
            </a:r>
            <a:r>
              <a:rPr lang="en-US" dirty="0"/>
              <a:t>(int </a:t>
            </a:r>
            <a:r>
              <a:rPr lang="en-US" dirty="0" err="1"/>
              <a:t>maxSize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/* aka n */, </a:t>
            </a:r>
            <a:r>
              <a:rPr lang="en-US" dirty="0"/>
              <a:t>double p);</a:t>
            </a:r>
          </a:p>
          <a:p>
            <a:pPr lvl="1"/>
            <a:r>
              <a:rPr lang="en-US" dirty="0"/>
              <a:t>void </a:t>
            </a:r>
            <a:r>
              <a:rPr lang="en-US" dirty="0" err="1"/>
              <a:t>bf.add(String</a:t>
            </a:r>
            <a:r>
              <a:rPr lang="en-US" dirty="0"/>
              <a:t> </a:t>
            </a:r>
            <a:r>
              <a:rPr lang="en-US" dirty="0" err="1"/>
              <a:t>s</a:t>
            </a:r>
            <a:r>
              <a:rPr lang="en-US" dirty="0"/>
              <a:t>); // insert </a:t>
            </a:r>
            <a:r>
              <a:rPr lang="en-US" dirty="0" err="1"/>
              <a:t>s</a:t>
            </a:r>
            <a:endParaRPr lang="en-US" dirty="0"/>
          </a:p>
          <a:p>
            <a:pPr lvl="1"/>
            <a:r>
              <a:rPr lang="en-US" dirty="0" err="1"/>
              <a:t>bool</a:t>
            </a:r>
            <a:r>
              <a:rPr lang="en-US" dirty="0"/>
              <a:t> </a:t>
            </a:r>
            <a:r>
              <a:rPr lang="en-US" dirty="0" err="1"/>
              <a:t>bd.contains(String</a:t>
            </a:r>
            <a:r>
              <a:rPr lang="en-US" dirty="0"/>
              <a:t> </a:t>
            </a:r>
            <a:r>
              <a:rPr lang="en-US" dirty="0" err="1"/>
              <a:t>s</a:t>
            </a:r>
            <a:r>
              <a:rPr lang="en-US" dirty="0"/>
              <a:t>);</a:t>
            </a:r>
          </a:p>
          <a:p>
            <a:pPr lvl="2"/>
            <a:r>
              <a:rPr lang="en-US" dirty="0"/>
              <a:t>// If </a:t>
            </a:r>
            <a:r>
              <a:rPr lang="en-US" dirty="0" err="1"/>
              <a:t>s</a:t>
            </a:r>
            <a:r>
              <a:rPr lang="en-US" dirty="0"/>
              <a:t> was added return true;</a:t>
            </a:r>
          </a:p>
          <a:p>
            <a:pPr lvl="2"/>
            <a:r>
              <a:rPr lang="en-US" dirty="0"/>
              <a:t>// else with probability at least </a:t>
            </a:r>
            <a:r>
              <a:rPr lang="en-US" i="1" dirty="0"/>
              <a:t>1-p </a:t>
            </a:r>
            <a:r>
              <a:rPr lang="en-US" dirty="0"/>
              <a:t>return false;</a:t>
            </a:r>
          </a:p>
          <a:p>
            <a:pPr lvl="2"/>
            <a:r>
              <a:rPr lang="en-US" dirty="0"/>
              <a:t>// else with probability at most </a:t>
            </a:r>
            <a:r>
              <a:rPr lang="en-US" i="1" dirty="0"/>
              <a:t>p</a:t>
            </a:r>
            <a:r>
              <a:rPr lang="en-US" dirty="0"/>
              <a:t> return true;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I.e., a noisy “set” where you can test membership (and that’s it)</a:t>
            </a:r>
          </a:p>
        </p:txBody>
      </p:sp>
    </p:spTree>
    <p:extLst>
      <p:ext uri="{BB962C8B-B14F-4D97-AF65-F5344CB8AC3E}">
        <p14:creationId xmlns:p14="http://schemas.microsoft.com/office/powerpoint/2010/main" val="2705399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11FE5-DC97-53D2-E7F8-8C3523FF0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CBEC8-C73D-4514-D8C1-86D20CBF3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Bloom filters: a slightly different version</a:t>
            </a:r>
          </a:p>
        </p:txBody>
      </p:sp>
      <p:pic>
        <p:nvPicPr>
          <p:cNvPr id="7" name="Picture 6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205D78A8-E611-BA9D-36AC-D4735C3EA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71" y="1812967"/>
            <a:ext cx="7492517" cy="16160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758CB8-836E-A54B-0EAD-34C4B5193165}"/>
              </a:ext>
            </a:extLst>
          </p:cNvPr>
          <p:cNvSpPr txBox="1"/>
          <p:nvPr/>
        </p:nvSpPr>
        <p:spPr>
          <a:xfrm>
            <a:off x="400050" y="1281628"/>
            <a:ext cx="54006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Building one sketch with one hash function: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4FE30F-6CEA-0D84-4FA2-D51E5A03214C}"/>
              </a:ext>
            </a:extLst>
          </p:cNvPr>
          <p:cNvSpPr txBox="1"/>
          <p:nvPr/>
        </p:nvSpPr>
        <p:spPr>
          <a:xfrm>
            <a:off x="3986213" y="10969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92B75D-616C-5C70-82C0-6B55B12EC99F}"/>
              </a:ext>
            </a:extLst>
          </p:cNvPr>
          <p:cNvSpPr txBox="1"/>
          <p:nvPr/>
        </p:nvSpPr>
        <p:spPr>
          <a:xfrm>
            <a:off x="400050" y="3591007"/>
            <a:ext cx="54006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Building </a:t>
            </a:r>
            <a:r>
              <a:rPr lang="en-US" i="1" dirty="0"/>
              <a:t>t</a:t>
            </a:r>
            <a:r>
              <a:rPr lang="en-US" dirty="0"/>
              <a:t> sketches with </a:t>
            </a:r>
            <a:r>
              <a:rPr lang="en-US" i="1" dirty="0"/>
              <a:t>t</a:t>
            </a:r>
            <a:r>
              <a:rPr lang="en-US" dirty="0"/>
              <a:t> hash functions: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B327F3A-296B-37CF-9CBB-8D1D06536D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1" t="-7646" r="-908" b="-1"/>
          <a:stretch/>
        </p:blipFill>
        <p:spPr>
          <a:xfrm>
            <a:off x="532220" y="4243388"/>
            <a:ext cx="4025899" cy="5280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F60A65A-8894-A4D9-C005-761554E7E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7432" y="4370780"/>
            <a:ext cx="1043762" cy="36933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FADC443-C909-60F7-680D-D97C91A1666B}"/>
              </a:ext>
            </a:extLst>
          </p:cNvPr>
          <p:cNvSpPr txBox="1"/>
          <p:nvPr/>
        </p:nvSpPr>
        <p:spPr>
          <a:xfrm>
            <a:off x="4789894" y="439280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23A917-E0E1-F1F9-5BDD-B247B70FB7C3}"/>
              </a:ext>
            </a:extLst>
          </p:cNvPr>
          <p:cNvSpPr txBox="1"/>
          <p:nvPr/>
        </p:nvSpPr>
        <p:spPr>
          <a:xfrm rot="19541561">
            <a:off x="1346876" y="2143711"/>
            <a:ext cx="10437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each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73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08BAD-1BD2-0181-63B3-E226EA01A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6DE2F-6629-4BC9-D26E-F97C0B2D8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Bloom filters: a slightly different version</a:t>
            </a:r>
          </a:p>
        </p:txBody>
      </p:sp>
      <p:pic>
        <p:nvPicPr>
          <p:cNvPr id="7" name="Picture 6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7A375C26-8B39-F055-31A5-A59B442C8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71" y="1812967"/>
            <a:ext cx="7492517" cy="16160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B7E0CA-C2A5-CAB6-C47D-869A668ED384}"/>
              </a:ext>
            </a:extLst>
          </p:cNvPr>
          <p:cNvSpPr txBox="1"/>
          <p:nvPr/>
        </p:nvSpPr>
        <p:spPr>
          <a:xfrm>
            <a:off x="400050" y="1281628"/>
            <a:ext cx="54006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Building one sketch with one hash function: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F2038-6C67-251F-2086-4C205C7BEB8F}"/>
              </a:ext>
            </a:extLst>
          </p:cNvPr>
          <p:cNvSpPr txBox="1"/>
          <p:nvPr/>
        </p:nvSpPr>
        <p:spPr>
          <a:xfrm>
            <a:off x="3986213" y="10969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601417-890A-8D34-DE67-CF4DE8232B68}"/>
              </a:ext>
            </a:extLst>
          </p:cNvPr>
          <p:cNvSpPr txBox="1"/>
          <p:nvPr/>
        </p:nvSpPr>
        <p:spPr>
          <a:xfrm>
            <a:off x="400050" y="3591007"/>
            <a:ext cx="54006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Building </a:t>
            </a:r>
            <a:r>
              <a:rPr lang="en-US" i="1" dirty="0"/>
              <a:t>t</a:t>
            </a:r>
            <a:r>
              <a:rPr lang="en-US" dirty="0"/>
              <a:t> sketches with </a:t>
            </a:r>
            <a:r>
              <a:rPr lang="en-US" i="1" dirty="0"/>
              <a:t>t</a:t>
            </a:r>
            <a:r>
              <a:rPr lang="en-US" dirty="0"/>
              <a:t> hash functions: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CE74001-4F7A-8703-3CF1-8780B6475B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1" t="-7646" r="-908" b="-1"/>
          <a:stretch/>
        </p:blipFill>
        <p:spPr>
          <a:xfrm>
            <a:off x="532220" y="4243388"/>
            <a:ext cx="4025899" cy="5280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96F0CED-3318-4A56-4A6C-C193134E6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7432" y="4370780"/>
            <a:ext cx="1043762" cy="36933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3CC5840-0C68-C85D-E8C3-60931432F98F}"/>
              </a:ext>
            </a:extLst>
          </p:cNvPr>
          <p:cNvSpPr txBox="1"/>
          <p:nvPr/>
        </p:nvSpPr>
        <p:spPr>
          <a:xfrm>
            <a:off x="4789894" y="439280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pic>
        <p:nvPicPr>
          <p:cNvPr id="4" name="Picture 3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D15953B9-D239-3886-0BB6-C279C7FE30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8" y="5681891"/>
            <a:ext cx="7454900" cy="952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98F24B-7E66-75DB-4A6D-29ADFA32E3B6}"/>
              </a:ext>
            </a:extLst>
          </p:cNvPr>
          <p:cNvSpPr txBox="1"/>
          <p:nvPr/>
        </p:nvSpPr>
        <p:spPr>
          <a:xfrm>
            <a:off x="400049" y="5080803"/>
            <a:ext cx="54006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Test membership with AND of all the sketches:</a:t>
            </a:r>
          </a:p>
        </p:txBody>
      </p:sp>
    </p:spTree>
    <p:extLst>
      <p:ext uri="{BB962C8B-B14F-4D97-AF65-F5344CB8AC3E}">
        <p14:creationId xmlns:p14="http://schemas.microsoft.com/office/powerpoint/2010/main" val="2872938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B652F-0AA0-0FE9-80FF-C30B7260F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B43E4-E1D0-3B9F-1497-8241CCAA6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Bloom filters: a slightly different version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3902A6-6900-E658-F577-F3AF831E562A}"/>
              </a:ext>
            </a:extLst>
          </p:cNvPr>
          <p:cNvSpPr txBox="1"/>
          <p:nvPr/>
        </p:nvSpPr>
        <p:spPr>
          <a:xfrm>
            <a:off x="3986213" y="10969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42CE110A-AB1E-0256-CCFC-4CD61DFD8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550" y="1096962"/>
            <a:ext cx="4895179" cy="522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524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56D2B-BDE7-2535-5353-7C703F861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F0655-945D-FA51-6B3A-5D1225406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Bloom filters: a slightly different version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B16F07-9AA3-314A-848C-FDB3866F7E5B}"/>
              </a:ext>
            </a:extLst>
          </p:cNvPr>
          <p:cNvSpPr txBox="1"/>
          <p:nvPr/>
        </p:nvSpPr>
        <p:spPr>
          <a:xfrm>
            <a:off x="3986213" y="10969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038A00-34AE-9769-6E43-598D86EE5B6A}"/>
              </a:ext>
            </a:extLst>
          </p:cNvPr>
          <p:cNvSpPr txBox="1"/>
          <p:nvPr/>
        </p:nvSpPr>
        <p:spPr>
          <a:xfrm>
            <a:off x="400049" y="1424342"/>
            <a:ext cx="241458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(1) Assume for all a,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x:</a:t>
            </a: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0D8739E9-7BB2-E1AC-9859-2897FE619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847" y="1977323"/>
            <a:ext cx="4089400" cy="825500"/>
          </a:xfrm>
          <a:prstGeom prst="rect">
            <a:avLst/>
          </a:prstGeom>
        </p:spPr>
      </p:pic>
      <p:pic>
        <p:nvPicPr>
          <p:cNvPr id="8" name="Picture 7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2B05BDC9-6BB6-0F77-432C-BA66F2716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578" y="1130742"/>
            <a:ext cx="2527300" cy="812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0AAEDC-04C9-3EC2-D93F-F189B3FE3E38}"/>
              </a:ext>
            </a:extLst>
          </p:cNvPr>
          <p:cNvSpPr txBox="1"/>
          <p:nvPr/>
        </p:nvSpPr>
        <p:spPr>
          <a:xfrm>
            <a:off x="400049" y="2205407"/>
            <a:ext cx="307181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(2) Assume for all a, b,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j, x, x’:</a:t>
            </a:r>
          </a:p>
        </p:txBody>
      </p:sp>
      <p:pic>
        <p:nvPicPr>
          <p:cNvPr id="12" name="Picture 11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CA6FA33A-80C9-BC3C-6EA0-5800B15306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" y="2874592"/>
            <a:ext cx="8388830" cy="39834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641F890-703B-0F75-C3CF-F4B6B15D922B}"/>
              </a:ext>
            </a:extLst>
          </p:cNvPr>
          <p:cNvSpPr txBox="1"/>
          <p:nvPr/>
        </p:nvSpPr>
        <p:spPr>
          <a:xfrm>
            <a:off x="0" y="3529295"/>
            <a:ext cx="2814637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up to k elements of set of size 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87D9A1-1B0A-C87C-93D8-99044550D8B1}"/>
              </a:ext>
            </a:extLst>
          </p:cNvPr>
          <p:cNvSpPr txBox="1"/>
          <p:nvPr/>
        </p:nvSpPr>
        <p:spPr>
          <a:xfrm>
            <a:off x="6869829" y="1227814"/>
            <a:ext cx="201585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Probability over random choice of </a:t>
            </a:r>
            <a:r>
              <a:rPr lang="en-US" i="1" dirty="0"/>
              <a:t>h</a:t>
            </a:r>
            <a:r>
              <a:rPr lang="en-US" i="1" baseline="-25000" dirty="0"/>
              <a:t>i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668C44-ADB1-6159-6C59-2A7A1DCCF0E0}"/>
              </a:ext>
            </a:extLst>
          </p:cNvPr>
          <p:cNvSpPr txBox="1"/>
          <p:nvPr/>
        </p:nvSpPr>
        <p:spPr>
          <a:xfrm>
            <a:off x="4342394" y="6412011"/>
            <a:ext cx="2829931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…then repeatedly apply (2) </a:t>
            </a:r>
          </a:p>
        </p:txBody>
      </p:sp>
    </p:spTree>
    <p:extLst>
      <p:ext uri="{BB962C8B-B14F-4D97-AF65-F5344CB8AC3E}">
        <p14:creationId xmlns:p14="http://schemas.microsoft.com/office/powerpoint/2010/main" val="103951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AE8DE-3BBA-9E78-B31C-53EDCCD32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4537-18A7-F53F-7DF1-9E1AFE7A7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Bloom filters: a slightly different version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50F834-6695-4841-7158-572EB41B85DE}"/>
              </a:ext>
            </a:extLst>
          </p:cNvPr>
          <p:cNvSpPr txBox="1"/>
          <p:nvPr/>
        </p:nvSpPr>
        <p:spPr>
          <a:xfrm>
            <a:off x="7988881" y="19810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2" name="Picture 11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241AAA36-6C4B-6F52-DD66-E347625EE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2874592"/>
            <a:ext cx="8388830" cy="3983408"/>
          </a:xfrm>
          <a:prstGeom prst="rect">
            <a:avLst/>
          </a:prstGeom>
        </p:spPr>
      </p:pic>
      <p:pic>
        <p:nvPicPr>
          <p:cNvPr id="6" name="Picture 5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79226768-BB31-D770-E4ED-23E60A1A0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46" y="1080391"/>
            <a:ext cx="7607300" cy="977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CD6A50-0882-77F5-D5E1-0982B71BCB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551" y="1976394"/>
            <a:ext cx="6184900" cy="7366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F4CC2CF-596A-51BD-97E8-122B8358C76B}"/>
              </a:ext>
            </a:extLst>
          </p:cNvPr>
          <p:cNvSpPr/>
          <p:nvPr/>
        </p:nvSpPr>
        <p:spPr>
          <a:xfrm>
            <a:off x="279400" y="1080391"/>
            <a:ext cx="8388830" cy="163260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2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 filters: demo</a:t>
            </a:r>
          </a:p>
        </p:txBody>
      </p:sp>
    </p:spTree>
    <p:extLst>
      <p:ext uri="{BB962C8B-B14F-4D97-AF65-F5344CB8AC3E}">
        <p14:creationId xmlns:p14="http://schemas.microsoft.com/office/powerpoint/2010/main" val="28654389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What do you do with a Bloom filter?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5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uses of Bloom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1"/>
            <a:ext cx="8648700" cy="158337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An example application</a:t>
            </a:r>
          </a:p>
          <a:p>
            <a:pPr lvl="1"/>
            <a:r>
              <a:rPr lang="en-US" dirty="0"/>
              <a:t>Finding items in “</a:t>
            </a:r>
            <a:r>
              <a:rPr lang="en-US" dirty="0" err="1"/>
              <a:t>sharded</a:t>
            </a:r>
            <a:r>
              <a:rPr lang="en-US" dirty="0"/>
              <a:t>” data</a:t>
            </a:r>
          </a:p>
          <a:p>
            <a:pPr lvl="2"/>
            <a:r>
              <a:rPr lang="en-US" dirty="0"/>
              <a:t>Easy if you know the </a:t>
            </a:r>
            <a:r>
              <a:rPr lang="en-US" dirty="0" err="1"/>
              <a:t>sharding</a:t>
            </a:r>
            <a:r>
              <a:rPr lang="en-US" dirty="0"/>
              <a:t> rule</a:t>
            </a:r>
          </a:p>
          <a:p>
            <a:pPr lvl="2"/>
            <a:r>
              <a:rPr lang="en-US" dirty="0"/>
              <a:t>Harder if you don’t (like Google n-grams)</a:t>
            </a:r>
          </a:p>
        </p:txBody>
      </p:sp>
      <p:pic>
        <p:nvPicPr>
          <p:cNvPr id="4" name="Picture 3" descr="Screen Shot 2015-10-29 at 10.18.2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32125"/>
            <a:ext cx="9144000" cy="210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315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Uses of Bloom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An example application</a:t>
            </a:r>
          </a:p>
          <a:p>
            <a:pPr lvl="1"/>
            <a:r>
              <a:rPr lang="en-US" dirty="0"/>
              <a:t>Finding items in “</a:t>
            </a:r>
            <a:r>
              <a:rPr lang="en-US" dirty="0" err="1"/>
              <a:t>sharded</a:t>
            </a:r>
            <a:r>
              <a:rPr lang="en-US" dirty="0"/>
              <a:t>” data</a:t>
            </a:r>
          </a:p>
          <a:p>
            <a:pPr lvl="2"/>
            <a:r>
              <a:rPr lang="en-US" dirty="0"/>
              <a:t>Easy if you know the </a:t>
            </a:r>
            <a:r>
              <a:rPr lang="en-US" dirty="0" err="1"/>
              <a:t>sharding</a:t>
            </a:r>
            <a:r>
              <a:rPr lang="en-US" dirty="0"/>
              <a:t> rule</a:t>
            </a:r>
          </a:p>
          <a:p>
            <a:pPr lvl="2"/>
            <a:r>
              <a:rPr lang="en-US" dirty="0"/>
              <a:t>Harder if you don’t (like Google n-grams)</a:t>
            </a:r>
          </a:p>
          <a:p>
            <a:r>
              <a:rPr lang="en-US" dirty="0"/>
              <a:t>Simple idea:</a:t>
            </a:r>
          </a:p>
          <a:p>
            <a:pPr lvl="1"/>
            <a:r>
              <a:rPr lang="en-US" dirty="0"/>
              <a:t>Build a BF of the contents of each shard</a:t>
            </a:r>
          </a:p>
          <a:p>
            <a:pPr lvl="1"/>
            <a:r>
              <a:rPr lang="en-US" dirty="0"/>
              <a:t>To look for </a:t>
            </a:r>
            <a:r>
              <a:rPr lang="en-US" i="1" dirty="0"/>
              <a:t>key, </a:t>
            </a:r>
            <a:r>
              <a:rPr lang="en-US" dirty="0"/>
              <a:t>load in the BF’s one by one, and search only the shards that (probably) contain </a:t>
            </a:r>
            <a:r>
              <a:rPr lang="en-US" i="1" dirty="0"/>
              <a:t>key</a:t>
            </a:r>
          </a:p>
          <a:p>
            <a:pPr lvl="1"/>
            <a:r>
              <a:rPr lang="en-US" dirty="0"/>
              <a:t>Analysis: you won’t miss anything, you might look in some extra shards</a:t>
            </a:r>
          </a:p>
          <a:p>
            <a:pPr lvl="1"/>
            <a:r>
              <a:rPr lang="en-US" dirty="0"/>
              <a:t>You’ll hit O(1) extra shards if you set p=1/#shards</a:t>
            </a:r>
          </a:p>
        </p:txBody>
      </p:sp>
    </p:spTree>
    <p:extLst>
      <p:ext uri="{BB962C8B-B14F-4D97-AF65-F5344CB8AC3E}">
        <p14:creationId xmlns:p14="http://schemas.microsoft.com/office/powerpoint/2010/main" val="281001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Uses of Bloom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An example application</a:t>
            </a:r>
          </a:p>
          <a:p>
            <a:pPr lvl="1"/>
            <a:r>
              <a:rPr lang="en-US" dirty="0"/>
              <a:t>discarding singleton features from a classifier</a:t>
            </a:r>
          </a:p>
          <a:p>
            <a:r>
              <a:rPr lang="en-US" dirty="0"/>
              <a:t>Scan through data once and check each </a:t>
            </a:r>
            <a:r>
              <a:rPr lang="en-US" i="1" dirty="0"/>
              <a:t>w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if bf1.contains(</a:t>
            </a:r>
            <a:r>
              <a:rPr lang="en-US" i="1" dirty="0"/>
              <a:t>w</a:t>
            </a:r>
            <a:r>
              <a:rPr lang="en-US" dirty="0"/>
              <a:t>): bf2.add(</a:t>
            </a:r>
            <a:r>
              <a:rPr lang="en-US" i="1" dirty="0"/>
              <a:t>w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else bf1.add(</a:t>
            </a:r>
            <a:r>
              <a:rPr lang="en-US" i="1" dirty="0"/>
              <a:t>w</a:t>
            </a:r>
            <a:r>
              <a:rPr lang="en-US" dirty="0"/>
              <a:t>)</a:t>
            </a:r>
          </a:p>
          <a:p>
            <a:r>
              <a:rPr lang="en-US" dirty="0"/>
              <a:t>Now:</a:t>
            </a:r>
          </a:p>
          <a:p>
            <a:pPr lvl="1"/>
            <a:r>
              <a:rPr lang="en-US" dirty="0"/>
              <a:t>bf1.contains(w) </a:t>
            </a:r>
            <a:r>
              <a:rPr lang="en-US" dirty="0">
                <a:sym typeface="Wingdings"/>
              </a:rPr>
              <a:t> w appears &gt;= once</a:t>
            </a:r>
          </a:p>
          <a:p>
            <a:pPr lvl="1"/>
            <a:r>
              <a:rPr lang="en-US" dirty="0">
                <a:sym typeface="Wingdings"/>
              </a:rPr>
              <a:t>bf2.contains(w)  w appears &gt;= 2x</a:t>
            </a:r>
          </a:p>
          <a:p>
            <a:r>
              <a:rPr lang="en-US" dirty="0">
                <a:sym typeface="Wingdings"/>
              </a:rPr>
              <a:t>Then train, ignoring words not in bf2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124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Uses of Bloom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An example application</a:t>
            </a:r>
          </a:p>
          <a:p>
            <a:pPr lvl="1"/>
            <a:r>
              <a:rPr lang="en-US" dirty="0"/>
              <a:t>discarding rare features from a classifier</a:t>
            </a:r>
          </a:p>
          <a:p>
            <a:pPr lvl="1"/>
            <a:r>
              <a:rPr lang="en-US" dirty="0"/>
              <a:t>seldom hurts much, can speed up experiments</a:t>
            </a:r>
          </a:p>
          <a:p>
            <a:r>
              <a:rPr lang="en-US" dirty="0"/>
              <a:t>Scan through data once and check each </a:t>
            </a:r>
            <a:r>
              <a:rPr lang="en-US" i="1" dirty="0"/>
              <a:t>w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if bf1.contains(</a:t>
            </a:r>
            <a:r>
              <a:rPr lang="en-US" i="1" dirty="0"/>
              <a:t>w</a:t>
            </a:r>
            <a:r>
              <a:rPr lang="en-US" dirty="0"/>
              <a:t>): </a:t>
            </a:r>
          </a:p>
          <a:p>
            <a:pPr lvl="2"/>
            <a:r>
              <a:rPr lang="en-US" sz="3000" dirty="0"/>
              <a:t>if bf2.contains(w): bf3.add(</a:t>
            </a:r>
            <a:r>
              <a:rPr lang="en-US" sz="3000" i="1" dirty="0"/>
              <a:t>w</a:t>
            </a:r>
            <a:r>
              <a:rPr lang="en-US" sz="3000" dirty="0"/>
              <a:t>)</a:t>
            </a:r>
          </a:p>
          <a:p>
            <a:pPr lvl="2"/>
            <a:r>
              <a:rPr lang="en-US" sz="3000" dirty="0"/>
              <a:t>else bf2.add(w)</a:t>
            </a:r>
          </a:p>
          <a:p>
            <a:pPr lvl="1"/>
            <a:r>
              <a:rPr lang="en-US" dirty="0"/>
              <a:t>else bf1.add(</a:t>
            </a:r>
            <a:r>
              <a:rPr lang="en-US" i="1" dirty="0"/>
              <a:t>w</a:t>
            </a:r>
            <a:r>
              <a:rPr lang="en-US" dirty="0"/>
              <a:t>)</a:t>
            </a:r>
          </a:p>
          <a:p>
            <a:r>
              <a:rPr lang="en-US" dirty="0"/>
              <a:t>Now:</a:t>
            </a:r>
          </a:p>
          <a:p>
            <a:pPr lvl="1"/>
            <a:r>
              <a:rPr lang="en-US" dirty="0"/>
              <a:t>bf2.contains(w) </a:t>
            </a:r>
            <a:r>
              <a:rPr lang="en-US" dirty="0">
                <a:sym typeface="Wingdings"/>
              </a:rPr>
              <a:t> w appears &gt;= 2x</a:t>
            </a:r>
          </a:p>
          <a:p>
            <a:pPr lvl="1"/>
            <a:r>
              <a:rPr lang="en-US" dirty="0">
                <a:sym typeface="Wingdings"/>
              </a:rPr>
              <a:t>bf3.contains(w)  w appears &gt;= 3x</a:t>
            </a:r>
          </a:p>
          <a:p>
            <a:r>
              <a:rPr lang="en-US" dirty="0">
                <a:sym typeface="Wingdings"/>
              </a:rPr>
              <a:t>Then train, ignoring words not in bf3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9403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Count-Min Sketch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6619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variant of feature 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1"/>
            <a:ext cx="8053754" cy="416550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Hash each feature </a:t>
            </a:r>
            <a:r>
              <a:rPr lang="en-US" i="1" dirty="0"/>
              <a:t>multiple times </a:t>
            </a:r>
            <a:r>
              <a:rPr lang="en-US" dirty="0"/>
              <a:t>with different hash functions</a:t>
            </a:r>
          </a:p>
          <a:p>
            <a:r>
              <a:rPr lang="en-US" dirty="0"/>
              <a:t>Now, each </a:t>
            </a:r>
            <a:r>
              <a:rPr lang="en-US" i="1" dirty="0"/>
              <a:t>w </a:t>
            </a:r>
            <a:r>
              <a:rPr lang="en-US" dirty="0"/>
              <a:t>has </a:t>
            </a:r>
            <a:r>
              <a:rPr lang="en-US" i="1" dirty="0"/>
              <a:t>k </a:t>
            </a:r>
            <a:r>
              <a:rPr lang="en-US" dirty="0"/>
              <a:t>chances to </a:t>
            </a:r>
            <a:r>
              <a:rPr lang="en-US" i="1" dirty="0"/>
              <a:t>not</a:t>
            </a:r>
            <a:r>
              <a:rPr lang="en-US" dirty="0"/>
              <a:t> collide with another useful </a:t>
            </a:r>
            <a:r>
              <a:rPr lang="en-US" i="1" dirty="0"/>
              <a:t>w’</a:t>
            </a:r>
            <a:r>
              <a:rPr lang="en-US" dirty="0"/>
              <a:t>  </a:t>
            </a:r>
            <a:endParaRPr lang="en-US" i="1" dirty="0"/>
          </a:p>
          <a:p>
            <a:r>
              <a:rPr lang="en-US" dirty="0"/>
              <a:t>Get multiple hash functions as in Bloom filters</a:t>
            </a:r>
          </a:p>
          <a:p>
            <a:endParaRPr lang="en-US" i="1" dirty="0"/>
          </a:p>
          <a:p>
            <a:r>
              <a:rPr lang="en-US" i="1" dirty="0"/>
              <a:t>Part Bloom filter, part hash kernel</a:t>
            </a:r>
          </a:p>
          <a:p>
            <a:pPr lvl="1"/>
            <a:r>
              <a:rPr lang="en-US" i="1" dirty="0"/>
              <a:t>but predates either, called “count-min sketch” -- </a:t>
            </a:r>
            <a:r>
              <a:rPr lang="en-US" i="1" dirty="0" err="1"/>
              <a:t>Cormode</a:t>
            </a:r>
            <a:r>
              <a:rPr lang="en-US" i="1" dirty="0"/>
              <a:t> and </a:t>
            </a:r>
            <a:r>
              <a:rPr lang="en-US" i="1" dirty="0" err="1"/>
              <a:t>Muthukrishnan</a:t>
            </a:r>
            <a:endParaRPr lang="en-US" i="1" baseline="-25000" dirty="0"/>
          </a:p>
          <a:p>
            <a:pPr lvl="1"/>
            <a:endParaRPr lang="en-US" i="1" baseline="-25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2576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79A6F-4A58-5E05-B303-48D288F28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999EB-04D7-A6A0-EF4D-8D0920F7E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Bloom </a:t>
            </a:r>
            <a:r>
              <a:rPr lang="en-US" dirty="0" err="1"/>
              <a:t>Filter</a:t>
            </a:r>
            <a:r>
              <a:rPr lang="en-US" dirty="0" err="1">
                <a:sym typeface="Wingdings"/>
              </a:rPr>
              <a:t></a:t>
            </a:r>
            <a:r>
              <a:rPr lang="en-US" dirty="0" err="1"/>
              <a:t>Count-min</a:t>
            </a:r>
            <a:r>
              <a:rPr lang="en-US" dirty="0"/>
              <a:t> sketch</a:t>
            </a:r>
          </a:p>
        </p:txBody>
      </p:sp>
      <p:pic>
        <p:nvPicPr>
          <p:cNvPr id="8" name="Picture 7" descr="A screenshot of a diagram&#10;&#10;AI-generated content may be incorrect.">
            <a:extLst>
              <a:ext uri="{FF2B5EF4-FFF2-40B4-BE49-F238E27FC236}">
                <a16:creationId xmlns:a16="http://schemas.microsoft.com/office/drawing/2014/main" id="{8BA535F2-FE50-8440-F5F8-0DA5737377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648"/>
          <a:stretch/>
        </p:blipFill>
        <p:spPr>
          <a:xfrm>
            <a:off x="77490" y="4566380"/>
            <a:ext cx="8977323" cy="999641"/>
          </a:xfrm>
          <a:prstGeom prst="rect">
            <a:avLst/>
          </a:prstGeom>
        </p:spPr>
      </p:pic>
      <p:pic>
        <p:nvPicPr>
          <p:cNvPr id="3" name="Picture 2" descr="A screenshot of a diagram&#10;&#10;AI-generated content may be incorrect.">
            <a:extLst>
              <a:ext uri="{FF2B5EF4-FFF2-40B4-BE49-F238E27FC236}">
                <a16:creationId xmlns:a16="http://schemas.microsoft.com/office/drawing/2014/main" id="{477B7C0A-0BCD-A521-F263-E133B2E050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057"/>
          <a:stretch/>
        </p:blipFill>
        <p:spPr>
          <a:xfrm>
            <a:off x="83337" y="1233864"/>
            <a:ext cx="8977323" cy="33381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1592B1-DC0B-268B-5B5A-7D626441DD64}"/>
              </a:ext>
            </a:extLst>
          </p:cNvPr>
          <p:cNvSpPr txBox="1"/>
          <p:nvPr/>
        </p:nvSpPr>
        <p:spPr>
          <a:xfrm>
            <a:off x="1365751" y="5566021"/>
            <a:ext cx="640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CM sketch maps </a:t>
            </a:r>
            <a:r>
              <a:rPr lang="en-US" sz="2400" i="1" dirty="0"/>
              <a:t>x </a:t>
            </a:r>
            <a:r>
              <a:rPr lang="en-US" sz="2400" dirty="0"/>
              <a:t>to a number </a:t>
            </a:r>
            <a:r>
              <a:rPr lang="en-US" sz="2400" b="1" dirty="0"/>
              <a:t>a</a:t>
            </a:r>
            <a:r>
              <a:rPr lang="en-US" sz="2400" dirty="0"/>
              <a:t>[</a:t>
            </a:r>
            <a:r>
              <a:rPr lang="en-US" sz="2400" i="1" dirty="0"/>
              <a:t>x</a:t>
            </a:r>
            <a:r>
              <a:rPr lang="en-US" sz="2400" dirty="0"/>
              <a:t>]</a:t>
            </a:r>
          </a:p>
          <a:p>
            <a:pPr algn="ctr"/>
            <a:r>
              <a:rPr lang="en-US" sz="2400" dirty="0"/>
              <a:t>But you can only update </a:t>
            </a:r>
            <a:r>
              <a:rPr lang="en-US" sz="2400" b="1" dirty="0"/>
              <a:t>a</a:t>
            </a:r>
            <a:r>
              <a:rPr lang="en-US" sz="2400" dirty="0"/>
              <a:t>[</a:t>
            </a:r>
            <a:r>
              <a:rPr lang="en-US" sz="2400" i="1" dirty="0"/>
              <a:t>x</a:t>
            </a:r>
            <a:r>
              <a:rPr lang="en-US" sz="2400" dirty="0"/>
              <a:t>] by incrementing it</a:t>
            </a:r>
          </a:p>
        </p:txBody>
      </p:sp>
    </p:spTree>
    <p:extLst>
      <p:ext uri="{BB962C8B-B14F-4D97-AF65-F5344CB8AC3E}">
        <p14:creationId xmlns:p14="http://schemas.microsoft.com/office/powerpoint/2010/main" val="37932737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Bloom </a:t>
            </a:r>
            <a:r>
              <a:rPr lang="en-US" dirty="0" err="1"/>
              <a:t>Filter</a:t>
            </a:r>
            <a:r>
              <a:rPr lang="en-US" dirty="0" err="1">
                <a:sym typeface="Wingdings"/>
              </a:rPr>
              <a:t></a:t>
            </a:r>
            <a:r>
              <a:rPr lang="en-US" dirty="0" err="1"/>
              <a:t>Count-min</a:t>
            </a:r>
            <a:r>
              <a:rPr lang="en-US" dirty="0"/>
              <a:t> sketch</a:t>
            </a:r>
          </a:p>
        </p:txBody>
      </p:sp>
      <p:pic>
        <p:nvPicPr>
          <p:cNvPr id="8" name="Picture 7" descr="A screenshot of a diagram&#10;&#10;AI-generated content may be incorrect.">
            <a:extLst>
              <a:ext uri="{FF2B5EF4-FFF2-40B4-BE49-F238E27FC236}">
                <a16:creationId xmlns:a16="http://schemas.microsoft.com/office/drawing/2014/main" id="{6A351311-ADD6-5CBE-9F6C-B181A985E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38" y="1096962"/>
            <a:ext cx="8977323" cy="576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4082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AE975-5CAC-20A2-77DD-F3F28D76A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B5FBD-B90A-1205-257B-B71108824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Bloom </a:t>
            </a:r>
            <a:r>
              <a:rPr lang="en-US" dirty="0" err="1"/>
              <a:t>Filter</a:t>
            </a:r>
            <a:r>
              <a:rPr lang="en-US" dirty="0" err="1">
                <a:sym typeface="Wingdings"/>
              </a:rPr>
              <a:t></a:t>
            </a:r>
            <a:r>
              <a:rPr lang="en-US" dirty="0" err="1"/>
              <a:t>Count-min</a:t>
            </a:r>
            <a:r>
              <a:rPr lang="en-US" dirty="0"/>
              <a:t> sketch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AD098-8B4E-4683-1FD3-A85A9749D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Implementation</a:t>
            </a:r>
          </a:p>
          <a:p>
            <a:pPr lvl="1"/>
            <a:r>
              <a:rPr lang="en-US" dirty="0"/>
              <a:t>Allocate a matrix </a:t>
            </a:r>
            <a:r>
              <a:rPr lang="en-US" i="1" dirty="0"/>
              <a:t>CM </a:t>
            </a:r>
            <a:r>
              <a:rPr lang="en-US" dirty="0"/>
              <a:t>with </a:t>
            </a:r>
            <a:r>
              <a:rPr lang="en-US" i="1" dirty="0"/>
              <a:t>d</a:t>
            </a:r>
            <a:r>
              <a:rPr lang="en-US" dirty="0"/>
              <a:t> rows, </a:t>
            </a:r>
            <a:r>
              <a:rPr lang="en-US" i="1" dirty="0"/>
              <a:t>w</a:t>
            </a:r>
            <a:r>
              <a:rPr lang="en-US" dirty="0"/>
              <a:t> columns</a:t>
            </a:r>
          </a:p>
          <a:p>
            <a:pPr lvl="1"/>
            <a:r>
              <a:rPr lang="en-US" dirty="0"/>
              <a:t>Pick </a:t>
            </a:r>
            <a:r>
              <a:rPr lang="en-US" i="1" dirty="0"/>
              <a:t>d  </a:t>
            </a:r>
            <a:r>
              <a:rPr lang="en-US" dirty="0"/>
              <a:t>hash functions h</a:t>
            </a:r>
            <a:r>
              <a:rPr lang="en-US" baseline="-25000" dirty="0"/>
              <a:t>1</a:t>
            </a:r>
            <a:r>
              <a:rPr lang="en-US" dirty="0"/>
              <a:t>(s),h</a:t>
            </a:r>
            <a:r>
              <a:rPr lang="en-US" baseline="-25000" dirty="0"/>
              <a:t>2</a:t>
            </a:r>
            <a:r>
              <a:rPr lang="en-US" dirty="0"/>
              <a:t>(s),….</a:t>
            </a:r>
          </a:p>
          <a:p>
            <a:pPr lvl="1"/>
            <a:r>
              <a:rPr lang="en-US" dirty="0"/>
              <a:t>To increment counter </a:t>
            </a:r>
            <a:r>
              <a:rPr lang="en-US" i="1" dirty="0"/>
              <a:t>A[s] </a:t>
            </a:r>
            <a:r>
              <a:rPr lang="en-US" dirty="0"/>
              <a:t>for </a:t>
            </a:r>
            <a:r>
              <a:rPr lang="en-US" i="1" dirty="0"/>
              <a:t>s </a:t>
            </a:r>
            <a:r>
              <a:rPr lang="en-US" dirty="0"/>
              <a:t>by </a:t>
            </a:r>
            <a:r>
              <a:rPr lang="en-US" i="1" dirty="0"/>
              <a:t>c</a:t>
            </a:r>
          </a:p>
          <a:p>
            <a:pPr lvl="2"/>
            <a:r>
              <a:rPr lang="en-US" dirty="0"/>
              <a:t>For </a:t>
            </a:r>
            <a:r>
              <a:rPr lang="en-US" i="1" dirty="0" err="1"/>
              <a:t>i</a:t>
            </a:r>
            <a:r>
              <a:rPr lang="en-US" dirty="0"/>
              <a:t>=1 to </a:t>
            </a:r>
            <a:r>
              <a:rPr lang="en-US" i="1" dirty="0"/>
              <a:t>d</a:t>
            </a:r>
            <a:r>
              <a:rPr lang="en-US" dirty="0"/>
              <a:t>, set </a:t>
            </a:r>
            <a:r>
              <a:rPr lang="en-US" i="1" dirty="0"/>
              <a:t>CM[</a:t>
            </a:r>
            <a:r>
              <a:rPr lang="en-US" i="1" dirty="0" err="1"/>
              <a:t>i</a:t>
            </a:r>
            <a:r>
              <a:rPr lang="en-US" i="1" dirty="0"/>
              <a:t>,  hash(</a:t>
            </a:r>
            <a:r>
              <a:rPr lang="en-US" i="1" dirty="0" err="1"/>
              <a:t>i,s</a:t>
            </a:r>
            <a:r>
              <a:rPr lang="en-US" i="1" dirty="0"/>
              <a:t>)] += c</a:t>
            </a:r>
          </a:p>
          <a:p>
            <a:pPr lvl="1"/>
            <a:r>
              <a:rPr lang="en-US" dirty="0"/>
              <a:t>To retrieve value of </a:t>
            </a:r>
            <a:r>
              <a:rPr lang="en-US" i="1" dirty="0"/>
              <a:t>A[s]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For </a:t>
            </a:r>
            <a:r>
              <a:rPr lang="en-US" i="1" dirty="0" err="1"/>
              <a:t>i</a:t>
            </a:r>
            <a:r>
              <a:rPr lang="en-US" dirty="0"/>
              <a:t>=1 to </a:t>
            </a:r>
            <a:r>
              <a:rPr lang="en-US" i="1" dirty="0"/>
              <a:t>d</a:t>
            </a:r>
            <a:r>
              <a:rPr lang="en-US" dirty="0"/>
              <a:t>, retrieve </a:t>
            </a:r>
            <a:r>
              <a:rPr lang="en-US" i="1" dirty="0"/>
              <a:t>M[</a:t>
            </a:r>
            <a:r>
              <a:rPr lang="en-US" i="1" dirty="0" err="1"/>
              <a:t>i</a:t>
            </a:r>
            <a:r>
              <a:rPr lang="en-US" i="1" dirty="0"/>
              <a:t>, hash(</a:t>
            </a:r>
            <a:r>
              <a:rPr lang="en-US" i="1" dirty="0" err="1"/>
              <a:t>i,s</a:t>
            </a:r>
            <a:r>
              <a:rPr lang="en-US" i="1" dirty="0"/>
              <a:t>)]</a:t>
            </a:r>
          </a:p>
          <a:p>
            <a:pPr lvl="2"/>
            <a:r>
              <a:rPr lang="en-US" dirty="0"/>
              <a:t>Return </a:t>
            </a:r>
            <a:r>
              <a:rPr lang="en-US" b="1" dirty="0">
                <a:solidFill>
                  <a:srgbClr val="0000FF"/>
                </a:solidFill>
              </a:rPr>
              <a:t>minimum</a:t>
            </a:r>
            <a:r>
              <a:rPr lang="en-US" dirty="0"/>
              <a:t> of these values</a:t>
            </a:r>
          </a:p>
          <a:p>
            <a:pPr lvl="1"/>
            <a:r>
              <a:rPr lang="en-US" dirty="0"/>
              <a:t>Similar idea s Bloom filter:</a:t>
            </a:r>
          </a:p>
          <a:p>
            <a:pPr lvl="2"/>
            <a:r>
              <a:rPr lang="en-US" dirty="0"/>
              <a:t>if there are </a:t>
            </a:r>
            <a:r>
              <a:rPr lang="en-US" i="1" dirty="0"/>
              <a:t>d </a:t>
            </a:r>
            <a:r>
              <a:rPr lang="en-US" dirty="0"/>
              <a:t>collisions, you return a value that’s too large; otherwise, you return the correct value.</a:t>
            </a:r>
          </a:p>
        </p:txBody>
      </p:sp>
    </p:spTree>
    <p:extLst>
      <p:ext uri="{BB962C8B-B14F-4D97-AF65-F5344CB8AC3E}">
        <p14:creationId xmlns:p14="http://schemas.microsoft.com/office/powerpoint/2010/main" val="11774033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CE7A9-E41D-F9C9-FAE3-7D0053610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C446-4EC4-75CF-D3F8-A7A889BB1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Count-min sketch results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828ADF-4236-A029-EB19-1DAD80AFC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1"/>
            <a:ext cx="8450263" cy="116125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Suppose </a:t>
            </a:r>
            <a:r>
              <a:rPr lang="en-US" b="1" dirty="0"/>
              <a:t>a</a:t>
            </a:r>
            <a:r>
              <a:rPr lang="en-US" dirty="0"/>
              <a:t>[</a:t>
            </a:r>
            <a:r>
              <a:rPr lang="en-US" i="1" dirty="0"/>
              <a:t>x</a:t>
            </a:r>
            <a:r>
              <a:rPr lang="en-US" dirty="0"/>
              <a:t>] is the value that </a:t>
            </a:r>
            <a:r>
              <a:rPr lang="en-US" i="1" dirty="0"/>
              <a:t>x</a:t>
            </a:r>
            <a:r>
              <a:rPr lang="en-US" dirty="0"/>
              <a:t> “should have” in the sketch: i.e., if the increment calls for </a:t>
            </a:r>
            <a:r>
              <a:rPr lang="en-US" i="1" dirty="0"/>
              <a:t>x </a:t>
            </a:r>
            <a:r>
              <a:rPr lang="en-US" dirty="0"/>
              <a:t> were with values </a:t>
            </a:r>
            <a:r>
              <a:rPr lang="en-US" i="1" dirty="0"/>
              <a:t>v</a:t>
            </a:r>
            <a:r>
              <a:rPr lang="en-US" i="1" baseline="-25000" dirty="0"/>
              <a:t>1</a:t>
            </a:r>
            <a:r>
              <a:rPr lang="en-US" i="1" dirty="0"/>
              <a:t>, …, </a:t>
            </a:r>
            <a:r>
              <a:rPr lang="en-US" i="1" dirty="0" err="1"/>
              <a:t>v</a:t>
            </a:r>
            <a:r>
              <a:rPr lang="en-US" i="1" baseline="-25000" dirty="0" err="1"/>
              <a:t>J</a:t>
            </a:r>
            <a:r>
              <a:rPr lang="en-US" i="1" baseline="-25000" dirty="0"/>
              <a:t>  </a:t>
            </a:r>
            <a:r>
              <a:rPr lang="en-US" dirty="0"/>
              <a:t>then</a:t>
            </a:r>
            <a:endParaRPr lang="en-US" i="1" baseline="-25000" dirty="0"/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E7F69EED-CF06-6B1F-204B-7F2E2831B6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241"/>
          <a:stretch/>
        </p:blipFill>
        <p:spPr>
          <a:xfrm>
            <a:off x="3759200" y="2037954"/>
            <a:ext cx="2334199" cy="957262"/>
          </a:xfrm>
          <a:prstGeom prst="rect">
            <a:avLst/>
          </a:prstGeom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8B5D246-0FCB-6BF7-AC77-001BC057E871}"/>
              </a:ext>
            </a:extLst>
          </p:cNvPr>
          <p:cNvSpPr txBox="1">
            <a:spLocks/>
          </p:cNvSpPr>
          <p:nvPr/>
        </p:nvSpPr>
        <p:spPr>
          <a:xfrm>
            <a:off x="279400" y="3207544"/>
            <a:ext cx="8185724" cy="65524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By the same argument used for the Bloom filter:</a:t>
            </a:r>
            <a:endParaRPr lang="en-US" i="1" baseline="-25000" dirty="0"/>
          </a:p>
        </p:txBody>
      </p:sp>
      <p:pic>
        <p:nvPicPr>
          <p:cNvPr id="10" name="Picture 9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38FBD947-7E6B-9018-68D6-BA26830D4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68763"/>
            <a:ext cx="9081137" cy="162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6813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E33BF-FA64-14B9-44B2-DD0E5FC3D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CD8DD-0244-CF51-F809-5710913C9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Count-min sketch results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3F9A60-B34E-E33F-A214-337845252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1"/>
            <a:ext cx="8648700" cy="4600574"/>
          </a:xfrm>
        </p:spPr>
        <p:txBody>
          <a:bodyPr>
            <a:normAutofit/>
          </a:bodyPr>
          <a:lstStyle/>
          <a:p>
            <a:r>
              <a:rPr lang="en-US" dirty="0"/>
              <a:t>Suppose           denotes the L1 norm:  </a:t>
            </a:r>
          </a:p>
          <a:p>
            <a:endParaRPr lang="en-US" i="1" baseline="-25000" dirty="0"/>
          </a:p>
          <a:p>
            <a:endParaRPr lang="en-US" i="1" baseline="-25000" dirty="0"/>
          </a:p>
          <a:p>
            <a:endParaRPr lang="en-US" i="1" baseline="-25000" dirty="0"/>
          </a:p>
          <a:p>
            <a:endParaRPr lang="en-US" i="1" baseline="-25000" dirty="0"/>
          </a:p>
          <a:p>
            <a:endParaRPr lang="en-US" i="1" baseline="-25000" dirty="0"/>
          </a:p>
          <a:p>
            <a:pPr marL="0" indent="0">
              <a:buNone/>
            </a:pPr>
            <a:endParaRPr lang="en-US" i="1" baseline="-25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20E114-AD15-F7E8-74F7-0B02D9D99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00" y="1167606"/>
            <a:ext cx="611695" cy="804862"/>
          </a:xfrm>
          <a:prstGeom prst="rect">
            <a:avLst/>
          </a:prstGeom>
        </p:spPr>
      </p:pic>
      <p:pic>
        <p:nvPicPr>
          <p:cNvPr id="12" name="Picture 11" descr="A math equations and symbols&#10;&#10;AI-generated content may be incorrect.">
            <a:extLst>
              <a:ext uri="{FF2B5EF4-FFF2-40B4-BE49-F238E27FC236}">
                <a16:creationId xmlns:a16="http://schemas.microsoft.com/office/drawing/2014/main" id="{F91BCE9B-5D49-D684-0025-02A2DB938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56060"/>
            <a:ext cx="9182240" cy="18015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0E4B63F-1709-3EC1-406B-518DD9E17966}"/>
                  </a:ext>
                </a:extLst>
              </p:cNvPr>
              <p:cNvSpPr txBox="1"/>
              <p:nvPr/>
            </p:nvSpPr>
            <p:spPr>
              <a:xfrm>
                <a:off x="6439543" y="1090250"/>
                <a:ext cx="1666071" cy="803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0E4B63F-1709-3EC1-406B-518DD9E17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543" y="1090250"/>
                <a:ext cx="1666071" cy="803233"/>
              </a:xfrm>
              <a:prstGeom prst="rect">
                <a:avLst/>
              </a:prstGeom>
              <a:blipFill>
                <a:blip r:embed="rId4"/>
                <a:stretch>
                  <a:fillRect l="-28571" t="-103077" b="-16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17671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000BE"/>
                </a:solidFill>
              </a:rPr>
              <a:t>A Quick Intro to Data Stream Algorithmics – </a:t>
            </a:r>
            <a:r>
              <a:rPr lang="en-US" i="1">
                <a:solidFill>
                  <a:srgbClr val="0000BE"/>
                </a:solidFill>
              </a:rPr>
              <a:t>CS262 </a:t>
            </a:r>
            <a:r>
              <a:rPr lang="en-US">
                <a:solidFill>
                  <a:srgbClr val="0000BE"/>
                </a:solidFill>
              </a:rPr>
              <a:t> </a:t>
            </a:r>
          </a:p>
        </p:txBody>
      </p:sp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CM Sketch Structure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4453241"/>
            <a:ext cx="8686800" cy="1795159"/>
          </a:xfrm>
          <a:ln/>
          <a:extLst>
            <a:ext uri="{91240B29-F687-4f45-9708-019B960494DF}">
              <a14:hiddenLine xmlns:a14="http://schemas.microsoft.com/office/drawing/2010/main" xmlns="" w="9525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70000" lnSpcReduction="20000"/>
          </a:bodyPr>
          <a:lstStyle/>
          <a:p>
            <a:r>
              <a:rPr lang="en-US" dirty="0"/>
              <a:t>Each string is mapped to one bucket per row</a:t>
            </a:r>
            <a:endParaRPr lang="en-US" sz="2400" i="1" dirty="0"/>
          </a:p>
          <a:p>
            <a:r>
              <a:rPr lang="en-US" dirty="0"/>
              <a:t>Estimate A[j] by taking min</a:t>
            </a:r>
            <a:r>
              <a:rPr lang="en-US" baseline="-25000" dirty="0"/>
              <a:t>k</a:t>
            </a:r>
            <a:r>
              <a:rPr lang="en-US" dirty="0"/>
              <a:t> { CM[</a:t>
            </a:r>
            <a:r>
              <a:rPr lang="en-US" dirty="0" err="1"/>
              <a:t>k,h</a:t>
            </a:r>
            <a:r>
              <a:rPr lang="en-US" baseline="-25000" dirty="0" err="1"/>
              <a:t>k</a:t>
            </a:r>
            <a:r>
              <a:rPr lang="en-US" dirty="0"/>
              <a:t>(j)] }</a:t>
            </a:r>
          </a:p>
          <a:p>
            <a:r>
              <a:rPr lang="en-US" dirty="0"/>
              <a:t>Errors are always over-estimates</a:t>
            </a:r>
          </a:p>
          <a:p>
            <a:r>
              <a:rPr lang="en-US" dirty="0"/>
              <a:t>Analysis: </a:t>
            </a:r>
            <a:r>
              <a:rPr lang="da-DK" dirty="0"/>
              <a:t>d=log 1/𝛿, w=2/𝜺 </a:t>
            </a:r>
            <a:r>
              <a:rPr lang="da-DK" dirty="0">
                <a:sym typeface="Wingdings"/>
              </a:rPr>
              <a:t> </a:t>
            </a:r>
            <a:r>
              <a:rPr lang="da-DK" dirty="0" err="1">
                <a:sym typeface="Wingdings"/>
              </a:rPr>
              <a:t>error</a:t>
            </a:r>
            <a:r>
              <a:rPr lang="da-DK" dirty="0">
                <a:sym typeface="Wingdings"/>
              </a:rPr>
              <a:t> is </a:t>
            </a:r>
            <a:r>
              <a:rPr lang="da-DK" dirty="0" err="1">
                <a:sym typeface="Wingdings"/>
              </a:rPr>
              <a:t>usually</a:t>
            </a:r>
            <a:r>
              <a:rPr lang="da-DK" dirty="0">
                <a:sym typeface="Wingdings"/>
              </a:rPr>
              <a:t> </a:t>
            </a:r>
            <a:r>
              <a:rPr lang="da-DK" dirty="0" err="1">
                <a:sym typeface="Wingdings"/>
              </a:rPr>
              <a:t>less</a:t>
            </a:r>
            <a:r>
              <a:rPr lang="da-DK" dirty="0">
                <a:sym typeface="Wingdings"/>
              </a:rPr>
              <a:t> </a:t>
            </a:r>
            <a:r>
              <a:rPr lang="da-DK" dirty="0" err="1">
                <a:sym typeface="Wingdings"/>
              </a:rPr>
              <a:t>than</a:t>
            </a:r>
            <a:r>
              <a:rPr lang="da-DK" dirty="0">
                <a:sym typeface="Wingdings"/>
              </a:rPr>
              <a:t> </a:t>
            </a:r>
            <a:r>
              <a:rPr lang="da-DK" dirty="0"/>
              <a:t>𝜺</a:t>
            </a:r>
            <a:r>
              <a:rPr lang="da-DK" dirty="0">
                <a:sym typeface="Wingdings"/>
              </a:rPr>
              <a:t>||A||</a:t>
            </a:r>
            <a:r>
              <a:rPr lang="da-DK" baseline="-25000" dirty="0">
                <a:sym typeface="Wingdings"/>
              </a:rPr>
              <a:t>1</a:t>
            </a:r>
            <a:endParaRPr lang="da-DK" baseline="-25000" dirty="0"/>
          </a:p>
          <a:p>
            <a:pPr lvl="0"/>
            <a:endParaRPr lang="da-DK" dirty="0"/>
          </a:p>
        </p:txBody>
      </p:sp>
      <p:sp>
        <p:nvSpPr>
          <p:cNvPr id="345092" name="Oval 4"/>
          <p:cNvSpPr>
            <a:spLocks noChangeArrowheads="1"/>
          </p:cNvSpPr>
          <p:nvPr/>
        </p:nvSpPr>
        <p:spPr bwMode="auto">
          <a:xfrm>
            <a:off x="76200" y="2133600"/>
            <a:ext cx="16764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093" name="Rectangle 5"/>
          <p:cNvSpPr>
            <a:spLocks noChangeArrowheads="1"/>
          </p:cNvSpPr>
          <p:nvPr/>
        </p:nvSpPr>
        <p:spPr bwMode="auto">
          <a:xfrm>
            <a:off x="2209800" y="1371600"/>
            <a:ext cx="5486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094" name="Rectangle 6"/>
          <p:cNvSpPr>
            <a:spLocks noChangeArrowheads="1"/>
          </p:cNvSpPr>
          <p:nvPr/>
        </p:nvSpPr>
        <p:spPr bwMode="auto">
          <a:xfrm>
            <a:off x="2209800" y="1574800"/>
            <a:ext cx="609600" cy="406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095" name="Rectangle 7"/>
          <p:cNvSpPr>
            <a:spLocks noChangeArrowheads="1"/>
          </p:cNvSpPr>
          <p:nvPr/>
        </p:nvSpPr>
        <p:spPr bwMode="auto">
          <a:xfrm>
            <a:off x="2819400" y="1778000"/>
            <a:ext cx="609600" cy="203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096" name="Rectangle 8"/>
          <p:cNvSpPr>
            <a:spLocks noChangeArrowheads="1"/>
          </p:cNvSpPr>
          <p:nvPr/>
        </p:nvSpPr>
        <p:spPr bwMode="auto">
          <a:xfrm>
            <a:off x="3429000" y="1439863"/>
            <a:ext cx="609600" cy="54133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097" name="Rectangle 9"/>
          <p:cNvSpPr>
            <a:spLocks noChangeArrowheads="1"/>
          </p:cNvSpPr>
          <p:nvPr/>
        </p:nvSpPr>
        <p:spPr bwMode="auto">
          <a:xfrm>
            <a:off x="4038600" y="1846263"/>
            <a:ext cx="609600" cy="13493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098" name="Rectangle 10"/>
          <p:cNvSpPr>
            <a:spLocks noChangeArrowheads="1"/>
          </p:cNvSpPr>
          <p:nvPr/>
        </p:nvSpPr>
        <p:spPr bwMode="auto">
          <a:xfrm>
            <a:off x="4648200" y="1643063"/>
            <a:ext cx="609600" cy="33813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099" name="Rectangle 11"/>
          <p:cNvSpPr>
            <a:spLocks noChangeArrowheads="1"/>
          </p:cNvSpPr>
          <p:nvPr/>
        </p:nvSpPr>
        <p:spPr bwMode="auto">
          <a:xfrm>
            <a:off x="5867400" y="1912938"/>
            <a:ext cx="609600" cy="6826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00" name="Rectangle 12"/>
          <p:cNvSpPr>
            <a:spLocks noChangeArrowheads="1"/>
          </p:cNvSpPr>
          <p:nvPr/>
        </p:nvSpPr>
        <p:spPr bwMode="auto">
          <a:xfrm>
            <a:off x="6477000" y="1846263"/>
            <a:ext cx="609600" cy="13493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01" name="Rectangle 13"/>
          <p:cNvSpPr>
            <a:spLocks noChangeArrowheads="1"/>
          </p:cNvSpPr>
          <p:nvPr/>
        </p:nvSpPr>
        <p:spPr bwMode="auto">
          <a:xfrm>
            <a:off x="7086600" y="1643063"/>
            <a:ext cx="609600" cy="33813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02" name="Line 14"/>
          <p:cNvSpPr>
            <a:spLocks noChangeShapeType="1"/>
          </p:cNvSpPr>
          <p:nvPr/>
        </p:nvSpPr>
        <p:spPr bwMode="auto">
          <a:xfrm>
            <a:off x="2819400" y="1371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03" name="Line 15"/>
          <p:cNvSpPr>
            <a:spLocks noChangeShapeType="1"/>
          </p:cNvSpPr>
          <p:nvPr/>
        </p:nvSpPr>
        <p:spPr bwMode="auto">
          <a:xfrm>
            <a:off x="3429000" y="1371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04" name="Line 16"/>
          <p:cNvSpPr>
            <a:spLocks noChangeShapeType="1"/>
          </p:cNvSpPr>
          <p:nvPr/>
        </p:nvSpPr>
        <p:spPr bwMode="auto">
          <a:xfrm>
            <a:off x="4038600" y="1371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05" name="Line 17"/>
          <p:cNvSpPr>
            <a:spLocks noChangeShapeType="1"/>
          </p:cNvSpPr>
          <p:nvPr/>
        </p:nvSpPr>
        <p:spPr bwMode="auto">
          <a:xfrm>
            <a:off x="4648200" y="1371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06" name="Line 18"/>
          <p:cNvSpPr>
            <a:spLocks noChangeShapeType="1"/>
          </p:cNvSpPr>
          <p:nvPr/>
        </p:nvSpPr>
        <p:spPr bwMode="auto">
          <a:xfrm>
            <a:off x="5257800" y="1371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07" name="Line 19"/>
          <p:cNvSpPr>
            <a:spLocks noChangeShapeType="1"/>
          </p:cNvSpPr>
          <p:nvPr/>
        </p:nvSpPr>
        <p:spPr bwMode="auto">
          <a:xfrm>
            <a:off x="5867400" y="1371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08" name="Line 20"/>
          <p:cNvSpPr>
            <a:spLocks noChangeShapeType="1"/>
          </p:cNvSpPr>
          <p:nvPr/>
        </p:nvSpPr>
        <p:spPr bwMode="auto">
          <a:xfrm>
            <a:off x="6477000" y="1371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09" name="Line 21"/>
          <p:cNvSpPr>
            <a:spLocks noChangeShapeType="1"/>
          </p:cNvSpPr>
          <p:nvPr/>
        </p:nvSpPr>
        <p:spPr bwMode="auto">
          <a:xfrm>
            <a:off x="7086600" y="1371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0" name="Rectangle 22"/>
          <p:cNvSpPr>
            <a:spLocks noChangeArrowheads="1"/>
          </p:cNvSpPr>
          <p:nvPr/>
        </p:nvSpPr>
        <p:spPr bwMode="auto">
          <a:xfrm>
            <a:off x="2209800" y="1371600"/>
            <a:ext cx="5486400" cy="243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1" name="Line 23"/>
          <p:cNvSpPr>
            <a:spLocks noChangeShapeType="1"/>
          </p:cNvSpPr>
          <p:nvPr/>
        </p:nvSpPr>
        <p:spPr bwMode="auto">
          <a:xfrm>
            <a:off x="28194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2" name="Line 24"/>
          <p:cNvSpPr>
            <a:spLocks noChangeShapeType="1"/>
          </p:cNvSpPr>
          <p:nvPr/>
        </p:nvSpPr>
        <p:spPr bwMode="auto">
          <a:xfrm>
            <a:off x="34290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3" name="Line 25"/>
          <p:cNvSpPr>
            <a:spLocks noChangeShapeType="1"/>
          </p:cNvSpPr>
          <p:nvPr/>
        </p:nvSpPr>
        <p:spPr bwMode="auto">
          <a:xfrm>
            <a:off x="40386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4" name="Line 26"/>
          <p:cNvSpPr>
            <a:spLocks noChangeShapeType="1"/>
          </p:cNvSpPr>
          <p:nvPr/>
        </p:nvSpPr>
        <p:spPr bwMode="auto">
          <a:xfrm>
            <a:off x="46482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5" name="Line 27"/>
          <p:cNvSpPr>
            <a:spLocks noChangeShapeType="1"/>
          </p:cNvSpPr>
          <p:nvPr/>
        </p:nvSpPr>
        <p:spPr bwMode="auto">
          <a:xfrm>
            <a:off x="52578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6" name="Line 28"/>
          <p:cNvSpPr>
            <a:spLocks noChangeShapeType="1"/>
          </p:cNvSpPr>
          <p:nvPr/>
        </p:nvSpPr>
        <p:spPr bwMode="auto">
          <a:xfrm>
            <a:off x="58674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7" name="Line 29"/>
          <p:cNvSpPr>
            <a:spLocks noChangeShapeType="1"/>
          </p:cNvSpPr>
          <p:nvPr/>
        </p:nvSpPr>
        <p:spPr bwMode="auto">
          <a:xfrm>
            <a:off x="64770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8" name="Line 30"/>
          <p:cNvSpPr>
            <a:spLocks noChangeShapeType="1"/>
          </p:cNvSpPr>
          <p:nvPr/>
        </p:nvSpPr>
        <p:spPr bwMode="auto">
          <a:xfrm>
            <a:off x="70866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9" name="Line 31"/>
          <p:cNvSpPr>
            <a:spLocks noChangeShapeType="1"/>
          </p:cNvSpPr>
          <p:nvPr/>
        </p:nvSpPr>
        <p:spPr bwMode="auto">
          <a:xfrm>
            <a:off x="2209800" y="1981200"/>
            <a:ext cx="548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20" name="Line 32"/>
          <p:cNvSpPr>
            <a:spLocks noChangeShapeType="1"/>
          </p:cNvSpPr>
          <p:nvPr/>
        </p:nvSpPr>
        <p:spPr bwMode="auto">
          <a:xfrm>
            <a:off x="2209800" y="2590800"/>
            <a:ext cx="548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21" name="Line 33"/>
          <p:cNvSpPr>
            <a:spLocks noChangeShapeType="1"/>
          </p:cNvSpPr>
          <p:nvPr/>
        </p:nvSpPr>
        <p:spPr bwMode="auto">
          <a:xfrm>
            <a:off x="2209800" y="3200400"/>
            <a:ext cx="548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345122" name="Group 34"/>
          <p:cNvGrpSpPr>
            <a:grpSpLocks/>
          </p:cNvGrpSpPr>
          <p:nvPr/>
        </p:nvGrpSpPr>
        <p:grpSpPr bwMode="auto">
          <a:xfrm>
            <a:off x="3200400" y="1385888"/>
            <a:ext cx="4114800" cy="2225675"/>
            <a:chOff x="2016" y="873"/>
            <a:chExt cx="2592" cy="1402"/>
          </a:xfrm>
        </p:grpSpPr>
        <p:sp>
          <p:nvSpPr>
            <p:cNvPr id="345123" name="Text Box 35"/>
            <p:cNvSpPr txBox="1">
              <a:spLocks noChangeArrowheads="1"/>
            </p:cNvSpPr>
            <p:nvPr/>
          </p:nvSpPr>
          <p:spPr bwMode="auto">
            <a:xfrm>
              <a:off x="2016" y="873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00BE"/>
                  </a:solidFill>
                  <a:latin typeface="Arial" charset="0"/>
                  <a:ea typeface="ＭＳ Ｐゴシック" charset="0"/>
                </a:rPr>
                <a:t>+c</a:t>
              </a:r>
            </a:p>
          </p:txBody>
        </p:sp>
        <p:sp>
          <p:nvSpPr>
            <p:cNvPr id="345124" name="Text Box 36"/>
            <p:cNvSpPr txBox="1">
              <a:spLocks noChangeArrowheads="1"/>
            </p:cNvSpPr>
            <p:nvPr/>
          </p:nvSpPr>
          <p:spPr bwMode="auto">
            <a:xfrm>
              <a:off x="3936" y="1344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00BE"/>
                  </a:solidFill>
                  <a:latin typeface="Arial" charset="0"/>
                  <a:ea typeface="ＭＳ Ｐゴシック" charset="0"/>
                </a:rPr>
                <a:t>+c</a:t>
              </a:r>
            </a:p>
          </p:txBody>
        </p:sp>
        <p:sp>
          <p:nvSpPr>
            <p:cNvPr id="345125" name="Text Box 37"/>
            <p:cNvSpPr txBox="1">
              <a:spLocks noChangeArrowheads="1"/>
            </p:cNvSpPr>
            <p:nvPr/>
          </p:nvSpPr>
          <p:spPr bwMode="auto">
            <a:xfrm>
              <a:off x="2400" y="1680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00BE"/>
                  </a:solidFill>
                  <a:latin typeface="Arial" charset="0"/>
                  <a:ea typeface="ＭＳ Ｐゴシック" charset="0"/>
                </a:rPr>
                <a:t>+c</a:t>
              </a:r>
            </a:p>
          </p:txBody>
        </p:sp>
        <p:sp>
          <p:nvSpPr>
            <p:cNvPr id="345126" name="Text Box 38"/>
            <p:cNvSpPr txBox="1">
              <a:spLocks noChangeArrowheads="1"/>
            </p:cNvSpPr>
            <p:nvPr/>
          </p:nvSpPr>
          <p:spPr bwMode="auto">
            <a:xfrm>
              <a:off x="3168" y="2025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00BE"/>
                  </a:solidFill>
                  <a:latin typeface="Arial" charset="0"/>
                  <a:ea typeface="ＭＳ Ｐゴシック" charset="0"/>
                </a:rPr>
                <a:t>+c</a:t>
              </a:r>
            </a:p>
          </p:txBody>
        </p:sp>
      </p:grpSp>
      <p:grpSp>
        <p:nvGrpSpPr>
          <p:cNvPr id="345127" name="Group 39"/>
          <p:cNvGrpSpPr>
            <a:grpSpLocks/>
          </p:cNvGrpSpPr>
          <p:nvPr/>
        </p:nvGrpSpPr>
        <p:grpSpPr bwMode="auto">
          <a:xfrm>
            <a:off x="1143000" y="1455738"/>
            <a:ext cx="5562600" cy="2216151"/>
            <a:chOff x="720" y="917"/>
            <a:chExt cx="3504" cy="1396"/>
          </a:xfrm>
        </p:grpSpPr>
        <p:sp>
          <p:nvSpPr>
            <p:cNvPr id="345128" name="Line 40"/>
            <p:cNvSpPr>
              <a:spLocks noChangeShapeType="1"/>
            </p:cNvSpPr>
            <p:nvPr/>
          </p:nvSpPr>
          <p:spPr bwMode="auto">
            <a:xfrm flipV="1">
              <a:off x="1104" y="1056"/>
              <a:ext cx="1248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5129" name="Line 41"/>
            <p:cNvSpPr>
              <a:spLocks noChangeShapeType="1"/>
            </p:cNvSpPr>
            <p:nvPr/>
          </p:nvSpPr>
          <p:spPr bwMode="auto">
            <a:xfrm flipV="1">
              <a:off x="1104" y="1392"/>
              <a:ext cx="312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5130" name="Line 42"/>
            <p:cNvSpPr>
              <a:spLocks noChangeShapeType="1"/>
            </p:cNvSpPr>
            <p:nvPr/>
          </p:nvSpPr>
          <p:spPr bwMode="auto">
            <a:xfrm>
              <a:off x="1104" y="1536"/>
              <a:ext cx="1632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5131" name="Line 43"/>
            <p:cNvSpPr>
              <a:spLocks noChangeShapeType="1"/>
            </p:cNvSpPr>
            <p:nvPr/>
          </p:nvSpPr>
          <p:spPr bwMode="auto">
            <a:xfrm>
              <a:off x="1104" y="1536"/>
              <a:ext cx="240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5132" name="Text Box 44"/>
            <p:cNvSpPr txBox="1">
              <a:spLocks noChangeArrowheads="1"/>
            </p:cNvSpPr>
            <p:nvPr/>
          </p:nvSpPr>
          <p:spPr bwMode="auto">
            <a:xfrm>
              <a:off x="720" y="917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sz="2400" dirty="0">
                  <a:solidFill>
                    <a:srgbClr val="CC3300"/>
                  </a:solidFill>
                  <a:latin typeface="Arial" charset="0"/>
                  <a:ea typeface="ＭＳ Ｐゴシック" charset="0"/>
                </a:rPr>
                <a:t>h</a:t>
              </a:r>
              <a:r>
                <a:rPr lang="en-US" sz="2400" baseline="-25000" dirty="0">
                  <a:solidFill>
                    <a:srgbClr val="CC3300"/>
                  </a:solidFill>
                  <a:latin typeface="Arial" charset="0"/>
                  <a:ea typeface="ＭＳ Ｐゴシック" charset="0"/>
                </a:rPr>
                <a:t>1</a:t>
              </a:r>
              <a:r>
                <a:rPr lang="en-US" sz="2400" dirty="0">
                  <a:solidFill>
                    <a:srgbClr val="CC3300"/>
                  </a:solidFill>
                  <a:latin typeface="Arial" charset="0"/>
                  <a:ea typeface="ＭＳ Ｐゴシック" charset="0"/>
                </a:rPr>
                <a:t>(s)</a:t>
              </a:r>
            </a:p>
          </p:txBody>
        </p:sp>
        <p:sp>
          <p:nvSpPr>
            <p:cNvPr id="345133" name="Text Box 45"/>
            <p:cNvSpPr txBox="1">
              <a:spLocks noChangeArrowheads="1"/>
            </p:cNvSpPr>
            <p:nvPr/>
          </p:nvSpPr>
          <p:spPr bwMode="auto">
            <a:xfrm>
              <a:off x="720" y="2025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sz="2400" dirty="0" err="1">
                  <a:solidFill>
                    <a:srgbClr val="CC3300"/>
                  </a:solidFill>
                  <a:latin typeface="Arial" charset="0"/>
                  <a:ea typeface="ＭＳ Ｐゴシック" charset="0"/>
                </a:rPr>
                <a:t>h</a:t>
              </a:r>
              <a:r>
                <a:rPr lang="en-US" sz="2400" baseline="-25000" dirty="0" err="1">
                  <a:solidFill>
                    <a:srgbClr val="CC3300"/>
                  </a:solidFill>
                  <a:latin typeface="Arial" charset="0"/>
                  <a:ea typeface="ＭＳ Ｐゴシック" charset="0"/>
                </a:rPr>
                <a:t>d</a:t>
              </a:r>
              <a:r>
                <a:rPr lang="en-US" sz="2400" dirty="0">
                  <a:solidFill>
                    <a:srgbClr val="CC3300"/>
                  </a:solidFill>
                  <a:latin typeface="Arial" charset="0"/>
                  <a:ea typeface="ＭＳ Ｐゴシック" charset="0"/>
                </a:rPr>
                <a:t>(s)</a:t>
              </a:r>
            </a:p>
          </p:txBody>
        </p:sp>
      </p:grpSp>
      <p:sp>
        <p:nvSpPr>
          <p:cNvPr id="345134" name="Text Box 46"/>
          <p:cNvSpPr txBox="1">
            <a:spLocks noChangeArrowheads="1"/>
          </p:cNvSpPr>
          <p:nvPr/>
        </p:nvSpPr>
        <p:spPr bwMode="auto">
          <a:xfrm>
            <a:off x="381000" y="22098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BE"/>
                </a:solidFill>
                <a:latin typeface="Arial" charset="0"/>
                <a:ea typeface="ＭＳ Ｐゴシック" charset="0"/>
              </a:rPr>
              <a:t>&lt;s, +c&gt;</a:t>
            </a:r>
          </a:p>
        </p:txBody>
      </p:sp>
      <p:sp>
        <p:nvSpPr>
          <p:cNvPr id="345135" name="Line 47"/>
          <p:cNvSpPr>
            <a:spLocks noChangeShapeType="1"/>
          </p:cNvSpPr>
          <p:nvPr/>
        </p:nvSpPr>
        <p:spPr bwMode="auto">
          <a:xfrm>
            <a:off x="7924800" y="1371600"/>
            <a:ext cx="0" cy="2438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36" name="Line 48"/>
          <p:cNvSpPr>
            <a:spLocks noChangeShapeType="1"/>
          </p:cNvSpPr>
          <p:nvPr/>
        </p:nvSpPr>
        <p:spPr bwMode="auto">
          <a:xfrm>
            <a:off x="2209800" y="4038600"/>
            <a:ext cx="5486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37" name="Text Box 49"/>
          <p:cNvSpPr txBox="1">
            <a:spLocks noChangeArrowheads="1"/>
          </p:cNvSpPr>
          <p:nvPr/>
        </p:nvSpPr>
        <p:spPr bwMode="auto">
          <a:xfrm rot="5400000">
            <a:off x="7403307" y="2366169"/>
            <a:ext cx="1820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BE"/>
                </a:solidFill>
                <a:latin typeface="Arial" charset="0"/>
                <a:ea typeface="ＭＳ Ｐゴシック" charset="0"/>
              </a:rPr>
              <a:t>d=log 1/</a:t>
            </a:r>
            <a:r>
              <a:rPr lang="en-US" sz="2400" dirty="0">
                <a:solidFill>
                  <a:srgbClr val="0000BE"/>
                </a:solidFill>
                <a:latin typeface="Symbol" charset="0"/>
                <a:ea typeface="ＭＳ Ｐゴシック" charset="0"/>
                <a:sym typeface="Symbol" charset="0"/>
              </a:rPr>
              <a:t></a:t>
            </a:r>
          </a:p>
        </p:txBody>
      </p:sp>
      <p:sp>
        <p:nvSpPr>
          <p:cNvPr id="345138" name="Text Box 50"/>
          <p:cNvSpPr txBox="1">
            <a:spLocks noChangeArrowheads="1"/>
          </p:cNvSpPr>
          <p:nvPr/>
        </p:nvSpPr>
        <p:spPr bwMode="auto">
          <a:xfrm>
            <a:off x="4419600" y="39624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BE"/>
                </a:solidFill>
                <a:latin typeface="Arial" charset="0"/>
                <a:ea typeface="ＭＳ Ｐゴシック" charset="0"/>
              </a:rPr>
              <a:t>w = 2/</a:t>
            </a:r>
            <a:r>
              <a:rPr lang="en-US" sz="2400" dirty="0">
                <a:solidFill>
                  <a:srgbClr val="0000BE"/>
                </a:solidFill>
                <a:latin typeface="Symbol" charset="0"/>
                <a:ea typeface="ＭＳ Ｐゴシック" charset="0"/>
                <a:sym typeface="Symbol" charset="0"/>
              </a:rPr>
              <a:t></a:t>
            </a:r>
          </a:p>
        </p:txBody>
      </p:sp>
      <p:sp>
        <p:nvSpPr>
          <p:cNvPr id="53" name="Rectangle 3"/>
          <p:cNvSpPr>
            <a:spLocks noChangeArrowheads="1"/>
          </p:cNvSpPr>
          <p:nvPr/>
        </p:nvSpPr>
        <p:spPr bwMode="auto">
          <a:xfrm>
            <a:off x="4305300" y="0"/>
            <a:ext cx="4800600" cy="48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r">
              <a:lnSpc>
                <a:spcPct val="120000"/>
              </a:lnSpc>
            </a:pPr>
            <a:r>
              <a:rPr lang="en-US" sz="2000" i="1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from: Minos </a:t>
            </a:r>
            <a:r>
              <a:rPr lang="en-US" sz="2000" i="1" dirty="0" err="1">
                <a:effectLst>
                  <a:outerShdw blurRad="38100" dist="38100" dir="2700000" algn="tl">
                    <a:srgbClr val="DDDDDD"/>
                  </a:outerShdw>
                </a:effectLst>
              </a:rPr>
              <a:t>Garofalakis</a:t>
            </a:r>
            <a:br>
              <a:rPr lang="en-US" sz="2600" i="1" dirty="0">
                <a:effectLst>
                  <a:outerShdw blurRad="38100" dist="38100" dir="2700000" algn="tl">
                    <a:srgbClr val="DDDDDD"/>
                  </a:outerShdw>
                </a:effectLst>
              </a:rPr>
            </a:br>
            <a:endParaRPr lang="en-US" sz="2000" b="0" dirty="0">
              <a:solidFill>
                <a:schemeClr val="bg2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836249" y="5746407"/>
            <a:ext cx="2584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i.e. with prob &gt; 1-</a:t>
            </a:r>
            <a:r>
              <a:rPr lang="da-DK" sz="2400" dirty="0">
                <a:solidFill>
                  <a:srgbClr val="000000"/>
                </a:solidFill>
              </a:rPr>
              <a:t>𝛿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85918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4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000BE"/>
                </a:solidFill>
              </a:rPr>
              <a:t>A Quick Intro to Data Stream Algorithmics – </a:t>
            </a:r>
            <a:r>
              <a:rPr lang="en-US" i="1">
                <a:solidFill>
                  <a:srgbClr val="0000BE"/>
                </a:solidFill>
              </a:rPr>
              <a:t>CS262 </a:t>
            </a:r>
            <a:r>
              <a:rPr lang="en-US">
                <a:solidFill>
                  <a:srgbClr val="0000BE"/>
                </a:solidFill>
              </a:rPr>
              <a:t> 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65297" y="1262851"/>
            <a:ext cx="3290206" cy="1795159"/>
          </a:xfrm>
          <a:ln/>
          <a:extLst>
            <a:ext uri="{91240B29-F687-4f45-9708-019B960494DF}">
              <a14:hiddenLine xmlns:a14="http://schemas.microsoft.com/office/drawing/2010/main" xmlns="" w="9525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85000" lnSpcReduction="20000"/>
          </a:bodyPr>
          <a:lstStyle/>
          <a:p>
            <a:r>
              <a:rPr lang="en-US" dirty="0"/>
              <a:t>You can find the </a:t>
            </a:r>
            <a:r>
              <a:rPr lang="en-US" i="1" dirty="0"/>
              <a:t>sum</a:t>
            </a:r>
            <a:r>
              <a:rPr lang="en-US" dirty="0"/>
              <a:t> of two sketches by doing element-wise summation</a:t>
            </a:r>
            <a:endParaRPr lang="da-DK" dirty="0"/>
          </a:p>
        </p:txBody>
      </p:sp>
      <p:sp>
        <p:nvSpPr>
          <p:cNvPr id="345093" name="Rectangle 5"/>
          <p:cNvSpPr>
            <a:spLocks noChangeArrowheads="1"/>
          </p:cNvSpPr>
          <p:nvPr/>
        </p:nvSpPr>
        <p:spPr bwMode="auto">
          <a:xfrm>
            <a:off x="907922" y="674909"/>
            <a:ext cx="4371663" cy="4432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02" name="Line 14"/>
          <p:cNvSpPr>
            <a:spLocks noChangeShapeType="1"/>
          </p:cNvSpPr>
          <p:nvPr/>
        </p:nvSpPr>
        <p:spPr bwMode="auto">
          <a:xfrm>
            <a:off x="1393662" y="674909"/>
            <a:ext cx="0" cy="4432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03" name="Line 15"/>
          <p:cNvSpPr>
            <a:spLocks noChangeShapeType="1"/>
          </p:cNvSpPr>
          <p:nvPr/>
        </p:nvSpPr>
        <p:spPr bwMode="auto">
          <a:xfrm>
            <a:off x="1879403" y="674909"/>
            <a:ext cx="0" cy="4432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04" name="Line 16"/>
          <p:cNvSpPr>
            <a:spLocks noChangeShapeType="1"/>
          </p:cNvSpPr>
          <p:nvPr/>
        </p:nvSpPr>
        <p:spPr bwMode="auto">
          <a:xfrm>
            <a:off x="2365143" y="674909"/>
            <a:ext cx="0" cy="4432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05" name="Line 17"/>
          <p:cNvSpPr>
            <a:spLocks noChangeShapeType="1"/>
          </p:cNvSpPr>
          <p:nvPr/>
        </p:nvSpPr>
        <p:spPr bwMode="auto">
          <a:xfrm>
            <a:off x="2850883" y="674909"/>
            <a:ext cx="0" cy="4432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06" name="Line 18"/>
          <p:cNvSpPr>
            <a:spLocks noChangeShapeType="1"/>
          </p:cNvSpPr>
          <p:nvPr/>
        </p:nvSpPr>
        <p:spPr bwMode="auto">
          <a:xfrm>
            <a:off x="3336624" y="674909"/>
            <a:ext cx="0" cy="4432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07" name="Line 19"/>
          <p:cNvSpPr>
            <a:spLocks noChangeShapeType="1"/>
          </p:cNvSpPr>
          <p:nvPr/>
        </p:nvSpPr>
        <p:spPr bwMode="auto">
          <a:xfrm>
            <a:off x="3822364" y="674909"/>
            <a:ext cx="0" cy="4432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08" name="Line 20"/>
          <p:cNvSpPr>
            <a:spLocks noChangeShapeType="1"/>
          </p:cNvSpPr>
          <p:nvPr/>
        </p:nvSpPr>
        <p:spPr bwMode="auto">
          <a:xfrm>
            <a:off x="4308104" y="674909"/>
            <a:ext cx="0" cy="4432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09" name="Line 21"/>
          <p:cNvSpPr>
            <a:spLocks noChangeShapeType="1"/>
          </p:cNvSpPr>
          <p:nvPr/>
        </p:nvSpPr>
        <p:spPr bwMode="auto">
          <a:xfrm>
            <a:off x="4793845" y="674909"/>
            <a:ext cx="0" cy="4432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0" name="Rectangle 22"/>
          <p:cNvSpPr>
            <a:spLocks noChangeArrowheads="1"/>
          </p:cNvSpPr>
          <p:nvPr/>
        </p:nvSpPr>
        <p:spPr bwMode="auto">
          <a:xfrm>
            <a:off x="907922" y="674909"/>
            <a:ext cx="4371663" cy="17729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1" name="Line 23"/>
          <p:cNvSpPr>
            <a:spLocks noChangeShapeType="1"/>
          </p:cNvSpPr>
          <p:nvPr/>
        </p:nvSpPr>
        <p:spPr bwMode="auto">
          <a:xfrm>
            <a:off x="1393662" y="674909"/>
            <a:ext cx="0" cy="17729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2" name="Line 24"/>
          <p:cNvSpPr>
            <a:spLocks noChangeShapeType="1"/>
          </p:cNvSpPr>
          <p:nvPr/>
        </p:nvSpPr>
        <p:spPr bwMode="auto">
          <a:xfrm>
            <a:off x="1879403" y="674909"/>
            <a:ext cx="0" cy="17729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3" name="Line 25"/>
          <p:cNvSpPr>
            <a:spLocks noChangeShapeType="1"/>
          </p:cNvSpPr>
          <p:nvPr/>
        </p:nvSpPr>
        <p:spPr bwMode="auto">
          <a:xfrm>
            <a:off x="2365143" y="674909"/>
            <a:ext cx="0" cy="17729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4" name="Line 26"/>
          <p:cNvSpPr>
            <a:spLocks noChangeShapeType="1"/>
          </p:cNvSpPr>
          <p:nvPr/>
        </p:nvSpPr>
        <p:spPr bwMode="auto">
          <a:xfrm>
            <a:off x="2850883" y="674909"/>
            <a:ext cx="0" cy="17729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5" name="Line 27"/>
          <p:cNvSpPr>
            <a:spLocks noChangeShapeType="1"/>
          </p:cNvSpPr>
          <p:nvPr/>
        </p:nvSpPr>
        <p:spPr bwMode="auto">
          <a:xfrm>
            <a:off x="3336624" y="674909"/>
            <a:ext cx="0" cy="17729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6" name="Line 28"/>
          <p:cNvSpPr>
            <a:spLocks noChangeShapeType="1"/>
          </p:cNvSpPr>
          <p:nvPr/>
        </p:nvSpPr>
        <p:spPr bwMode="auto">
          <a:xfrm>
            <a:off x="3822364" y="674909"/>
            <a:ext cx="0" cy="17729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7" name="Line 29"/>
          <p:cNvSpPr>
            <a:spLocks noChangeShapeType="1"/>
          </p:cNvSpPr>
          <p:nvPr/>
        </p:nvSpPr>
        <p:spPr bwMode="auto">
          <a:xfrm>
            <a:off x="4308104" y="674909"/>
            <a:ext cx="0" cy="17729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8" name="Line 30"/>
          <p:cNvSpPr>
            <a:spLocks noChangeShapeType="1"/>
          </p:cNvSpPr>
          <p:nvPr/>
        </p:nvSpPr>
        <p:spPr bwMode="auto">
          <a:xfrm>
            <a:off x="4793845" y="674909"/>
            <a:ext cx="0" cy="17729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19" name="Line 31"/>
          <p:cNvSpPr>
            <a:spLocks noChangeShapeType="1"/>
          </p:cNvSpPr>
          <p:nvPr/>
        </p:nvSpPr>
        <p:spPr bwMode="auto">
          <a:xfrm>
            <a:off x="907922" y="1118154"/>
            <a:ext cx="43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20" name="Line 32"/>
          <p:cNvSpPr>
            <a:spLocks noChangeShapeType="1"/>
          </p:cNvSpPr>
          <p:nvPr/>
        </p:nvSpPr>
        <p:spPr bwMode="auto">
          <a:xfrm>
            <a:off x="907922" y="1561399"/>
            <a:ext cx="43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5121" name="Line 33"/>
          <p:cNvSpPr>
            <a:spLocks noChangeShapeType="1"/>
          </p:cNvSpPr>
          <p:nvPr/>
        </p:nvSpPr>
        <p:spPr bwMode="auto">
          <a:xfrm>
            <a:off x="907922" y="2004644"/>
            <a:ext cx="43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345122" name="Group 34"/>
          <p:cNvGrpSpPr>
            <a:grpSpLocks/>
          </p:cNvGrpSpPr>
          <p:nvPr/>
        </p:nvGrpSpPr>
        <p:grpSpPr bwMode="auto">
          <a:xfrm>
            <a:off x="1697250" y="685298"/>
            <a:ext cx="3287602" cy="1676020"/>
            <a:chOff x="2016" y="873"/>
            <a:chExt cx="2599" cy="1452"/>
          </a:xfrm>
        </p:grpSpPr>
        <p:sp>
          <p:nvSpPr>
            <p:cNvPr id="345123" name="Text Box 35"/>
            <p:cNvSpPr txBox="1">
              <a:spLocks noChangeArrowheads="1"/>
            </p:cNvSpPr>
            <p:nvPr/>
          </p:nvSpPr>
          <p:spPr bwMode="auto">
            <a:xfrm>
              <a:off x="2016" y="873"/>
              <a:ext cx="672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BE"/>
                  </a:solidFill>
                  <a:latin typeface="Arial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345124" name="Text Box 36"/>
            <p:cNvSpPr txBox="1">
              <a:spLocks noChangeArrowheads="1"/>
            </p:cNvSpPr>
            <p:nvPr/>
          </p:nvSpPr>
          <p:spPr bwMode="auto">
            <a:xfrm>
              <a:off x="3943" y="1248"/>
              <a:ext cx="672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BE"/>
                  </a:solidFill>
                  <a:latin typeface="Arial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345125" name="Text Box 37"/>
            <p:cNvSpPr txBox="1">
              <a:spLocks noChangeArrowheads="1"/>
            </p:cNvSpPr>
            <p:nvPr/>
          </p:nvSpPr>
          <p:spPr bwMode="auto">
            <a:xfrm>
              <a:off x="2400" y="1680"/>
              <a:ext cx="672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BE"/>
                  </a:solidFill>
                  <a:latin typeface="Arial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345126" name="Text Box 38"/>
            <p:cNvSpPr txBox="1">
              <a:spLocks noChangeArrowheads="1"/>
            </p:cNvSpPr>
            <p:nvPr/>
          </p:nvSpPr>
          <p:spPr bwMode="auto">
            <a:xfrm>
              <a:off x="3168" y="2025"/>
              <a:ext cx="720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BE"/>
                  </a:solidFill>
                  <a:latin typeface="Arial" charset="0"/>
                  <a:ea typeface="ＭＳ Ｐゴシック" charset="0"/>
                </a:rPr>
                <a:t>c</a:t>
              </a:r>
            </a:p>
          </p:txBody>
        </p:sp>
      </p:grpSp>
      <p:sp>
        <p:nvSpPr>
          <p:cNvPr id="53" name="Rectangle 3"/>
          <p:cNvSpPr>
            <a:spLocks noChangeArrowheads="1"/>
          </p:cNvSpPr>
          <p:nvPr/>
        </p:nvSpPr>
        <p:spPr bwMode="auto">
          <a:xfrm>
            <a:off x="4305300" y="0"/>
            <a:ext cx="4800600" cy="48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r">
              <a:lnSpc>
                <a:spcPct val="120000"/>
              </a:lnSpc>
            </a:pPr>
            <a:r>
              <a:rPr lang="en-US" sz="2000" i="1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from: Minos </a:t>
            </a:r>
            <a:r>
              <a:rPr lang="en-US" sz="2000" i="1" dirty="0" err="1">
                <a:effectLst>
                  <a:outerShdw blurRad="38100" dist="38100" dir="2700000" algn="tl">
                    <a:srgbClr val="DDDDDD"/>
                  </a:outerShdw>
                </a:effectLst>
              </a:rPr>
              <a:t>Garofalakis</a:t>
            </a:r>
            <a:br>
              <a:rPr lang="en-US" sz="2600" i="1" dirty="0">
                <a:effectLst>
                  <a:outerShdw blurRad="38100" dist="38100" dir="2700000" algn="tl">
                    <a:srgbClr val="DDDDDD"/>
                  </a:outerShdw>
                </a:effectLst>
              </a:rPr>
            </a:br>
            <a:endParaRPr lang="en-US" sz="2000" b="0" dirty="0">
              <a:solidFill>
                <a:schemeClr val="bg2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879935" y="2651741"/>
            <a:ext cx="4371663" cy="1772980"/>
            <a:chOff x="2209800" y="1371600"/>
            <a:chExt cx="5486400" cy="2438400"/>
          </a:xfrm>
        </p:grpSpPr>
        <p:sp>
          <p:nvSpPr>
            <p:cNvPr id="56" name="Rectangle 5"/>
            <p:cNvSpPr>
              <a:spLocks noChangeArrowheads="1"/>
            </p:cNvSpPr>
            <p:nvPr/>
          </p:nvSpPr>
          <p:spPr bwMode="auto">
            <a:xfrm>
              <a:off x="2209800" y="1371600"/>
              <a:ext cx="54864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7" name="Line 14"/>
            <p:cNvSpPr>
              <a:spLocks noChangeShapeType="1"/>
            </p:cNvSpPr>
            <p:nvPr/>
          </p:nvSpPr>
          <p:spPr bwMode="auto">
            <a:xfrm>
              <a:off x="2819400" y="13716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8" name="Line 15"/>
            <p:cNvSpPr>
              <a:spLocks noChangeShapeType="1"/>
            </p:cNvSpPr>
            <p:nvPr/>
          </p:nvSpPr>
          <p:spPr bwMode="auto">
            <a:xfrm>
              <a:off x="3429000" y="13716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9" name="Line 16"/>
            <p:cNvSpPr>
              <a:spLocks noChangeShapeType="1"/>
            </p:cNvSpPr>
            <p:nvPr/>
          </p:nvSpPr>
          <p:spPr bwMode="auto">
            <a:xfrm>
              <a:off x="4038600" y="13716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0" name="Line 17"/>
            <p:cNvSpPr>
              <a:spLocks noChangeShapeType="1"/>
            </p:cNvSpPr>
            <p:nvPr/>
          </p:nvSpPr>
          <p:spPr bwMode="auto">
            <a:xfrm>
              <a:off x="4648200" y="13716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1" name="Line 18"/>
            <p:cNvSpPr>
              <a:spLocks noChangeShapeType="1"/>
            </p:cNvSpPr>
            <p:nvPr/>
          </p:nvSpPr>
          <p:spPr bwMode="auto">
            <a:xfrm>
              <a:off x="5257800" y="13716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2" name="Line 19"/>
            <p:cNvSpPr>
              <a:spLocks noChangeShapeType="1"/>
            </p:cNvSpPr>
            <p:nvPr/>
          </p:nvSpPr>
          <p:spPr bwMode="auto">
            <a:xfrm>
              <a:off x="5867400" y="13716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3" name="Line 20"/>
            <p:cNvSpPr>
              <a:spLocks noChangeShapeType="1"/>
            </p:cNvSpPr>
            <p:nvPr/>
          </p:nvSpPr>
          <p:spPr bwMode="auto">
            <a:xfrm>
              <a:off x="6477000" y="13716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4" name="Line 21"/>
            <p:cNvSpPr>
              <a:spLocks noChangeShapeType="1"/>
            </p:cNvSpPr>
            <p:nvPr/>
          </p:nvSpPr>
          <p:spPr bwMode="auto">
            <a:xfrm>
              <a:off x="7086600" y="13716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5" name="Rectangle 22"/>
            <p:cNvSpPr>
              <a:spLocks noChangeArrowheads="1"/>
            </p:cNvSpPr>
            <p:nvPr/>
          </p:nvSpPr>
          <p:spPr bwMode="auto">
            <a:xfrm>
              <a:off x="2209800" y="1371600"/>
              <a:ext cx="5486400" cy="2438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hlink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" name="Line 23"/>
            <p:cNvSpPr>
              <a:spLocks noChangeShapeType="1"/>
            </p:cNvSpPr>
            <p:nvPr/>
          </p:nvSpPr>
          <p:spPr bwMode="auto">
            <a:xfrm>
              <a:off x="2819400" y="1371600"/>
              <a:ext cx="0" cy="243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7" name="Line 24"/>
            <p:cNvSpPr>
              <a:spLocks noChangeShapeType="1"/>
            </p:cNvSpPr>
            <p:nvPr/>
          </p:nvSpPr>
          <p:spPr bwMode="auto">
            <a:xfrm>
              <a:off x="3429000" y="1371600"/>
              <a:ext cx="0" cy="243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8" name="Line 25"/>
            <p:cNvSpPr>
              <a:spLocks noChangeShapeType="1"/>
            </p:cNvSpPr>
            <p:nvPr/>
          </p:nvSpPr>
          <p:spPr bwMode="auto">
            <a:xfrm>
              <a:off x="4038600" y="1371600"/>
              <a:ext cx="0" cy="243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9" name="Line 26"/>
            <p:cNvSpPr>
              <a:spLocks noChangeShapeType="1"/>
            </p:cNvSpPr>
            <p:nvPr/>
          </p:nvSpPr>
          <p:spPr bwMode="auto">
            <a:xfrm>
              <a:off x="4648200" y="1371600"/>
              <a:ext cx="0" cy="243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0" name="Line 27"/>
            <p:cNvSpPr>
              <a:spLocks noChangeShapeType="1"/>
            </p:cNvSpPr>
            <p:nvPr/>
          </p:nvSpPr>
          <p:spPr bwMode="auto">
            <a:xfrm>
              <a:off x="5257800" y="1371600"/>
              <a:ext cx="0" cy="243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1" name="Line 28"/>
            <p:cNvSpPr>
              <a:spLocks noChangeShapeType="1"/>
            </p:cNvSpPr>
            <p:nvPr/>
          </p:nvSpPr>
          <p:spPr bwMode="auto">
            <a:xfrm>
              <a:off x="5867400" y="1371600"/>
              <a:ext cx="0" cy="243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2" name="Line 29"/>
            <p:cNvSpPr>
              <a:spLocks noChangeShapeType="1"/>
            </p:cNvSpPr>
            <p:nvPr/>
          </p:nvSpPr>
          <p:spPr bwMode="auto">
            <a:xfrm>
              <a:off x="6477000" y="1371600"/>
              <a:ext cx="0" cy="243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3" name="Line 30"/>
            <p:cNvSpPr>
              <a:spLocks noChangeShapeType="1"/>
            </p:cNvSpPr>
            <p:nvPr/>
          </p:nvSpPr>
          <p:spPr bwMode="auto">
            <a:xfrm>
              <a:off x="7086600" y="1371600"/>
              <a:ext cx="0" cy="243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4" name="Line 31"/>
            <p:cNvSpPr>
              <a:spLocks noChangeShapeType="1"/>
            </p:cNvSpPr>
            <p:nvPr/>
          </p:nvSpPr>
          <p:spPr bwMode="auto">
            <a:xfrm>
              <a:off x="2209800" y="1981200"/>
              <a:ext cx="5486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5" name="Line 32"/>
            <p:cNvSpPr>
              <a:spLocks noChangeShapeType="1"/>
            </p:cNvSpPr>
            <p:nvPr/>
          </p:nvSpPr>
          <p:spPr bwMode="auto">
            <a:xfrm>
              <a:off x="2209800" y="2590800"/>
              <a:ext cx="5486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" name="Line 33"/>
            <p:cNvSpPr>
              <a:spLocks noChangeShapeType="1"/>
            </p:cNvSpPr>
            <p:nvPr/>
          </p:nvSpPr>
          <p:spPr bwMode="auto">
            <a:xfrm>
              <a:off x="2209800" y="3200400"/>
              <a:ext cx="5486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" name="Text Box 37"/>
            <p:cNvSpPr txBox="1">
              <a:spLocks noChangeArrowheads="1"/>
            </p:cNvSpPr>
            <p:nvPr/>
          </p:nvSpPr>
          <p:spPr bwMode="auto">
            <a:xfrm>
              <a:off x="3810000" y="2667002"/>
              <a:ext cx="1066801" cy="5508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2000" dirty="0">
                <a:solidFill>
                  <a:srgbClr val="0000BE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2" name="Text Box 36"/>
          <p:cNvSpPr txBox="1">
            <a:spLocks noChangeArrowheads="1"/>
          </p:cNvSpPr>
          <p:nvPr/>
        </p:nvSpPr>
        <p:spPr bwMode="auto">
          <a:xfrm>
            <a:off x="4097965" y="3110415"/>
            <a:ext cx="8500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BE"/>
                </a:solidFill>
                <a:latin typeface="Arial" charset="0"/>
                <a:ea typeface="ＭＳ Ｐゴシック" charset="0"/>
              </a:rPr>
              <a:t>d</a:t>
            </a:r>
          </a:p>
        </p:txBody>
      </p:sp>
      <p:sp>
        <p:nvSpPr>
          <p:cNvPr id="83" name="Text Box 36"/>
          <p:cNvSpPr txBox="1">
            <a:spLocks noChangeArrowheads="1"/>
          </p:cNvSpPr>
          <p:nvPr/>
        </p:nvSpPr>
        <p:spPr bwMode="auto">
          <a:xfrm>
            <a:off x="1614220" y="3961081"/>
            <a:ext cx="8500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BE"/>
                </a:solidFill>
                <a:latin typeface="Arial" charset="0"/>
                <a:ea typeface="ＭＳ Ｐゴシック" charset="0"/>
              </a:rPr>
              <a:t>d</a:t>
            </a:r>
          </a:p>
        </p:txBody>
      </p:sp>
      <p:sp>
        <p:nvSpPr>
          <p:cNvPr id="84" name="Text Box 36"/>
          <p:cNvSpPr txBox="1">
            <a:spLocks noChangeArrowheads="1"/>
          </p:cNvSpPr>
          <p:nvPr/>
        </p:nvSpPr>
        <p:spPr bwMode="auto">
          <a:xfrm>
            <a:off x="1162876" y="2630998"/>
            <a:ext cx="8500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BE"/>
                </a:solidFill>
                <a:latin typeface="Arial" charset="0"/>
                <a:ea typeface="ＭＳ Ｐゴシック" charset="0"/>
              </a:rPr>
              <a:t>d</a:t>
            </a:r>
          </a:p>
        </p:txBody>
      </p:sp>
      <p:sp>
        <p:nvSpPr>
          <p:cNvPr id="85" name="Text Box 36"/>
          <p:cNvSpPr txBox="1">
            <a:spLocks noChangeArrowheads="1"/>
          </p:cNvSpPr>
          <p:nvPr/>
        </p:nvSpPr>
        <p:spPr bwMode="auto">
          <a:xfrm>
            <a:off x="2647304" y="3540831"/>
            <a:ext cx="8500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BE"/>
                </a:solidFill>
                <a:latin typeface="Arial" charset="0"/>
                <a:ea typeface="ＭＳ Ｐゴシック" charset="0"/>
              </a:rPr>
              <a:t>d</a:t>
            </a:r>
          </a:p>
        </p:txBody>
      </p:sp>
      <p:grpSp>
        <p:nvGrpSpPr>
          <p:cNvPr id="111" name="Group 110"/>
          <p:cNvGrpSpPr/>
          <p:nvPr/>
        </p:nvGrpSpPr>
        <p:grpSpPr>
          <a:xfrm>
            <a:off x="906256" y="4654407"/>
            <a:ext cx="4371663" cy="1772980"/>
            <a:chOff x="2209800" y="1371600"/>
            <a:chExt cx="5486400" cy="2438400"/>
          </a:xfrm>
        </p:grpSpPr>
        <p:sp>
          <p:nvSpPr>
            <p:cNvPr id="112" name="Rectangle 5"/>
            <p:cNvSpPr>
              <a:spLocks noChangeArrowheads="1"/>
            </p:cNvSpPr>
            <p:nvPr/>
          </p:nvSpPr>
          <p:spPr bwMode="auto">
            <a:xfrm>
              <a:off x="2209800" y="1371600"/>
              <a:ext cx="54864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3" name="Line 14"/>
            <p:cNvSpPr>
              <a:spLocks noChangeShapeType="1"/>
            </p:cNvSpPr>
            <p:nvPr/>
          </p:nvSpPr>
          <p:spPr bwMode="auto">
            <a:xfrm>
              <a:off x="2819400" y="13716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" name="Line 15"/>
            <p:cNvSpPr>
              <a:spLocks noChangeShapeType="1"/>
            </p:cNvSpPr>
            <p:nvPr/>
          </p:nvSpPr>
          <p:spPr bwMode="auto">
            <a:xfrm>
              <a:off x="3429000" y="13716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" name="Line 16"/>
            <p:cNvSpPr>
              <a:spLocks noChangeShapeType="1"/>
            </p:cNvSpPr>
            <p:nvPr/>
          </p:nvSpPr>
          <p:spPr bwMode="auto">
            <a:xfrm>
              <a:off x="4038600" y="13716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" name="Line 17"/>
            <p:cNvSpPr>
              <a:spLocks noChangeShapeType="1"/>
            </p:cNvSpPr>
            <p:nvPr/>
          </p:nvSpPr>
          <p:spPr bwMode="auto">
            <a:xfrm>
              <a:off x="4648200" y="13716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7" name="Line 18"/>
            <p:cNvSpPr>
              <a:spLocks noChangeShapeType="1"/>
            </p:cNvSpPr>
            <p:nvPr/>
          </p:nvSpPr>
          <p:spPr bwMode="auto">
            <a:xfrm>
              <a:off x="5257800" y="13716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8" name="Line 19"/>
            <p:cNvSpPr>
              <a:spLocks noChangeShapeType="1"/>
            </p:cNvSpPr>
            <p:nvPr/>
          </p:nvSpPr>
          <p:spPr bwMode="auto">
            <a:xfrm>
              <a:off x="5867400" y="13716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9" name="Line 20"/>
            <p:cNvSpPr>
              <a:spLocks noChangeShapeType="1"/>
            </p:cNvSpPr>
            <p:nvPr/>
          </p:nvSpPr>
          <p:spPr bwMode="auto">
            <a:xfrm>
              <a:off x="6477000" y="13716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" name="Line 21"/>
            <p:cNvSpPr>
              <a:spLocks noChangeShapeType="1"/>
            </p:cNvSpPr>
            <p:nvPr/>
          </p:nvSpPr>
          <p:spPr bwMode="auto">
            <a:xfrm>
              <a:off x="7086600" y="13716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" name="Rectangle 22"/>
            <p:cNvSpPr>
              <a:spLocks noChangeArrowheads="1"/>
            </p:cNvSpPr>
            <p:nvPr/>
          </p:nvSpPr>
          <p:spPr bwMode="auto">
            <a:xfrm>
              <a:off x="2209800" y="1371600"/>
              <a:ext cx="5486400" cy="2438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hlink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2" name="Line 23"/>
            <p:cNvSpPr>
              <a:spLocks noChangeShapeType="1"/>
            </p:cNvSpPr>
            <p:nvPr/>
          </p:nvSpPr>
          <p:spPr bwMode="auto">
            <a:xfrm>
              <a:off x="2819400" y="1371600"/>
              <a:ext cx="0" cy="243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3" name="Line 24"/>
            <p:cNvSpPr>
              <a:spLocks noChangeShapeType="1"/>
            </p:cNvSpPr>
            <p:nvPr/>
          </p:nvSpPr>
          <p:spPr bwMode="auto">
            <a:xfrm>
              <a:off x="3429000" y="1371600"/>
              <a:ext cx="0" cy="243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4" name="Line 25"/>
            <p:cNvSpPr>
              <a:spLocks noChangeShapeType="1"/>
            </p:cNvSpPr>
            <p:nvPr/>
          </p:nvSpPr>
          <p:spPr bwMode="auto">
            <a:xfrm>
              <a:off x="4038600" y="1371600"/>
              <a:ext cx="0" cy="243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5" name="Line 26"/>
            <p:cNvSpPr>
              <a:spLocks noChangeShapeType="1"/>
            </p:cNvSpPr>
            <p:nvPr/>
          </p:nvSpPr>
          <p:spPr bwMode="auto">
            <a:xfrm>
              <a:off x="4648200" y="1371600"/>
              <a:ext cx="0" cy="243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6" name="Line 27"/>
            <p:cNvSpPr>
              <a:spLocks noChangeShapeType="1"/>
            </p:cNvSpPr>
            <p:nvPr/>
          </p:nvSpPr>
          <p:spPr bwMode="auto">
            <a:xfrm>
              <a:off x="5257800" y="1371600"/>
              <a:ext cx="0" cy="243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7" name="Line 28"/>
            <p:cNvSpPr>
              <a:spLocks noChangeShapeType="1"/>
            </p:cNvSpPr>
            <p:nvPr/>
          </p:nvSpPr>
          <p:spPr bwMode="auto">
            <a:xfrm>
              <a:off x="5867400" y="1371600"/>
              <a:ext cx="0" cy="243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8" name="Line 29"/>
            <p:cNvSpPr>
              <a:spLocks noChangeShapeType="1"/>
            </p:cNvSpPr>
            <p:nvPr/>
          </p:nvSpPr>
          <p:spPr bwMode="auto">
            <a:xfrm>
              <a:off x="6477000" y="1371600"/>
              <a:ext cx="0" cy="243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Line 30"/>
            <p:cNvSpPr>
              <a:spLocks noChangeShapeType="1"/>
            </p:cNvSpPr>
            <p:nvPr/>
          </p:nvSpPr>
          <p:spPr bwMode="auto">
            <a:xfrm>
              <a:off x="7086600" y="1371600"/>
              <a:ext cx="0" cy="243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0" name="Line 31"/>
            <p:cNvSpPr>
              <a:spLocks noChangeShapeType="1"/>
            </p:cNvSpPr>
            <p:nvPr/>
          </p:nvSpPr>
          <p:spPr bwMode="auto">
            <a:xfrm>
              <a:off x="2209800" y="1981200"/>
              <a:ext cx="5486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1" name="Line 32"/>
            <p:cNvSpPr>
              <a:spLocks noChangeShapeType="1"/>
            </p:cNvSpPr>
            <p:nvPr/>
          </p:nvSpPr>
          <p:spPr bwMode="auto">
            <a:xfrm>
              <a:off x="2209800" y="2590800"/>
              <a:ext cx="5486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2" name="Line 33"/>
            <p:cNvSpPr>
              <a:spLocks noChangeShapeType="1"/>
            </p:cNvSpPr>
            <p:nvPr/>
          </p:nvSpPr>
          <p:spPr bwMode="auto">
            <a:xfrm>
              <a:off x="2209800" y="3200400"/>
              <a:ext cx="5486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3" name="Text Box 37"/>
            <p:cNvSpPr txBox="1">
              <a:spLocks noChangeArrowheads="1"/>
            </p:cNvSpPr>
            <p:nvPr/>
          </p:nvSpPr>
          <p:spPr bwMode="auto">
            <a:xfrm>
              <a:off x="3810000" y="2667002"/>
              <a:ext cx="1066801" cy="5508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2000" dirty="0">
                <a:solidFill>
                  <a:srgbClr val="0000BE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34" name="Text Box 36"/>
          <p:cNvSpPr txBox="1">
            <a:spLocks noChangeArrowheads="1"/>
          </p:cNvSpPr>
          <p:nvPr/>
        </p:nvSpPr>
        <p:spPr bwMode="auto">
          <a:xfrm>
            <a:off x="4124286" y="5045095"/>
            <a:ext cx="8500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 dirty="0" err="1">
                <a:solidFill>
                  <a:srgbClr val="0000BE"/>
                </a:solidFill>
                <a:latin typeface="Arial" charset="0"/>
                <a:ea typeface="ＭＳ Ｐゴシック" charset="0"/>
              </a:rPr>
              <a:t>c+d</a:t>
            </a:r>
            <a:endParaRPr lang="en-US" sz="2000" dirty="0">
              <a:solidFill>
                <a:srgbClr val="0000BE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35" name="Text Box 36"/>
          <p:cNvSpPr txBox="1">
            <a:spLocks noChangeArrowheads="1"/>
          </p:cNvSpPr>
          <p:nvPr/>
        </p:nvSpPr>
        <p:spPr bwMode="auto">
          <a:xfrm>
            <a:off x="2647304" y="5584032"/>
            <a:ext cx="8500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BE"/>
                </a:solidFill>
                <a:latin typeface="Arial" charset="0"/>
                <a:ea typeface="ＭＳ Ｐゴシック" charset="0"/>
              </a:rPr>
              <a:t>d</a:t>
            </a:r>
          </a:p>
        </p:txBody>
      </p:sp>
      <p:sp>
        <p:nvSpPr>
          <p:cNvPr id="136" name="Text Box 36"/>
          <p:cNvSpPr txBox="1">
            <a:spLocks noChangeArrowheads="1"/>
          </p:cNvSpPr>
          <p:nvPr/>
        </p:nvSpPr>
        <p:spPr bwMode="auto">
          <a:xfrm>
            <a:off x="1189197" y="4633664"/>
            <a:ext cx="8500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BE"/>
                </a:solidFill>
                <a:latin typeface="Arial" charset="0"/>
                <a:ea typeface="ＭＳ Ｐゴシック" charset="0"/>
              </a:rPr>
              <a:t>d</a:t>
            </a:r>
          </a:p>
        </p:txBody>
      </p:sp>
      <p:sp>
        <p:nvSpPr>
          <p:cNvPr id="137" name="Text Box 36"/>
          <p:cNvSpPr txBox="1">
            <a:spLocks noChangeArrowheads="1"/>
          </p:cNvSpPr>
          <p:nvPr/>
        </p:nvSpPr>
        <p:spPr bwMode="auto">
          <a:xfrm>
            <a:off x="1731159" y="5984142"/>
            <a:ext cx="8500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BE"/>
                </a:solidFill>
                <a:latin typeface="Arial" charset="0"/>
                <a:ea typeface="ＭＳ Ｐゴシック" charset="0"/>
              </a:rPr>
              <a:t>d</a:t>
            </a:r>
          </a:p>
        </p:txBody>
      </p:sp>
      <p:sp>
        <p:nvSpPr>
          <p:cNvPr id="138" name="Text Box 37"/>
          <p:cNvSpPr txBox="1">
            <a:spLocks noChangeArrowheads="1"/>
          </p:cNvSpPr>
          <p:nvPr/>
        </p:nvSpPr>
        <p:spPr bwMode="auto">
          <a:xfrm>
            <a:off x="3154471" y="5996841"/>
            <a:ext cx="850046" cy="346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BE"/>
                </a:solidFill>
                <a:latin typeface="Arial" charset="0"/>
                <a:ea typeface="ＭＳ Ｐゴシック" charset="0"/>
              </a:rPr>
              <a:t>c</a:t>
            </a:r>
          </a:p>
        </p:txBody>
      </p:sp>
      <p:sp>
        <p:nvSpPr>
          <p:cNvPr id="139" name="Text Box 37"/>
          <p:cNvSpPr txBox="1">
            <a:spLocks noChangeArrowheads="1"/>
          </p:cNvSpPr>
          <p:nvPr/>
        </p:nvSpPr>
        <p:spPr bwMode="auto">
          <a:xfrm>
            <a:off x="2182990" y="5596731"/>
            <a:ext cx="850046" cy="346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BE"/>
                </a:solidFill>
                <a:latin typeface="Arial" charset="0"/>
                <a:ea typeface="ＭＳ Ｐゴシック" charset="0"/>
              </a:rPr>
              <a:t>c</a:t>
            </a:r>
          </a:p>
        </p:txBody>
      </p:sp>
      <p:sp>
        <p:nvSpPr>
          <p:cNvPr id="140" name="Text Box 37"/>
          <p:cNvSpPr txBox="1">
            <a:spLocks noChangeArrowheads="1"/>
          </p:cNvSpPr>
          <p:nvPr/>
        </p:nvSpPr>
        <p:spPr bwMode="auto">
          <a:xfrm>
            <a:off x="1614220" y="4643127"/>
            <a:ext cx="850046" cy="346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BE"/>
                </a:solidFill>
                <a:latin typeface="Arial" charset="0"/>
                <a:ea typeface="ＭＳ Ｐゴシック" charset="0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504" y="3215065"/>
            <a:ext cx="454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+</a:t>
            </a:r>
          </a:p>
        </p:txBody>
      </p:sp>
      <p:cxnSp>
        <p:nvCxnSpPr>
          <p:cNvPr id="7" name="Straight Connector 6"/>
          <p:cNvCxnSpPr/>
          <p:nvPr/>
        </p:nvCxnSpPr>
        <p:spPr bwMode="auto">
          <a:xfrm flipV="1">
            <a:off x="151182" y="4525801"/>
            <a:ext cx="5402242" cy="2016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44" name="Rectangle 3"/>
          <p:cNvSpPr txBox="1">
            <a:spLocks noChangeArrowheads="1"/>
          </p:cNvSpPr>
          <p:nvPr/>
        </p:nvSpPr>
        <p:spPr bwMode="auto">
          <a:xfrm>
            <a:off x="5517697" y="4547967"/>
            <a:ext cx="3290206" cy="179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charset="0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Arial" charset="0"/>
              <a:buChar char="–"/>
              <a:defRPr sz="22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charset="0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dirty="0"/>
              <a:t>Same result as adding &lt;</a:t>
            </a:r>
            <a:r>
              <a:rPr lang="en-US" dirty="0" err="1"/>
              <a:t>s,+c</a:t>
            </a:r>
            <a:r>
              <a:rPr lang="en-US" dirty="0"/>
              <a:t>&gt; and then &lt;</a:t>
            </a:r>
            <a:r>
              <a:rPr lang="en-US" dirty="0" err="1"/>
              <a:t>t,+d</a:t>
            </a:r>
            <a:r>
              <a:rPr lang="en-US" dirty="0"/>
              <a:t>&gt; to an empty sketch </a:t>
            </a:r>
            <a:endParaRPr lang="da-DK" dirty="0"/>
          </a:p>
        </p:txBody>
      </p:sp>
      <p:sp>
        <p:nvSpPr>
          <p:cNvPr id="145" name="Text Box 46"/>
          <p:cNvSpPr txBox="1">
            <a:spLocks noChangeArrowheads="1"/>
          </p:cNvSpPr>
          <p:nvPr/>
        </p:nvSpPr>
        <p:spPr bwMode="auto">
          <a:xfrm>
            <a:off x="260222" y="320538"/>
            <a:ext cx="11334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BE"/>
                </a:solidFill>
                <a:latin typeface="Arial" charset="0"/>
                <a:ea typeface="ＭＳ Ｐゴシック" charset="0"/>
              </a:rPr>
              <a:t>&lt;s, +c&gt;</a:t>
            </a:r>
          </a:p>
        </p:txBody>
      </p:sp>
      <p:sp>
        <p:nvSpPr>
          <p:cNvPr id="146" name="Line 40"/>
          <p:cNvSpPr>
            <a:spLocks noChangeShapeType="1"/>
          </p:cNvSpPr>
          <p:nvPr/>
        </p:nvSpPr>
        <p:spPr bwMode="auto">
          <a:xfrm>
            <a:off x="1215518" y="643709"/>
            <a:ext cx="823725" cy="18238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7" name="Line 40"/>
          <p:cNvSpPr>
            <a:spLocks noChangeShapeType="1"/>
          </p:cNvSpPr>
          <p:nvPr/>
        </p:nvSpPr>
        <p:spPr bwMode="auto">
          <a:xfrm>
            <a:off x="1162876" y="668711"/>
            <a:ext cx="1174280" cy="119604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8" name="Line 40"/>
          <p:cNvSpPr>
            <a:spLocks noChangeShapeType="1"/>
          </p:cNvSpPr>
          <p:nvPr/>
        </p:nvSpPr>
        <p:spPr bwMode="auto">
          <a:xfrm>
            <a:off x="1173415" y="643709"/>
            <a:ext cx="2323935" cy="151335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9" name="Text Box 46"/>
          <p:cNvSpPr txBox="1">
            <a:spLocks noChangeArrowheads="1"/>
          </p:cNvSpPr>
          <p:nvPr/>
        </p:nvSpPr>
        <p:spPr bwMode="auto">
          <a:xfrm>
            <a:off x="-59028" y="2361318"/>
            <a:ext cx="11334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BE"/>
                </a:solidFill>
                <a:latin typeface="Arial" charset="0"/>
                <a:ea typeface="ＭＳ Ｐゴシック" charset="0"/>
              </a:rPr>
              <a:t>&lt;t, +d&gt;</a:t>
            </a:r>
          </a:p>
        </p:txBody>
      </p:sp>
      <p:sp>
        <p:nvSpPr>
          <p:cNvPr id="150" name="Line 40"/>
          <p:cNvSpPr>
            <a:spLocks noChangeShapeType="1"/>
          </p:cNvSpPr>
          <p:nvPr/>
        </p:nvSpPr>
        <p:spPr bwMode="auto">
          <a:xfrm>
            <a:off x="561511" y="2692824"/>
            <a:ext cx="823725" cy="18238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51" name="Line 40"/>
          <p:cNvSpPr>
            <a:spLocks noChangeShapeType="1"/>
          </p:cNvSpPr>
          <p:nvPr/>
        </p:nvSpPr>
        <p:spPr bwMode="auto">
          <a:xfrm>
            <a:off x="443468" y="2761427"/>
            <a:ext cx="1435935" cy="138134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cxnSp>
        <p:nvCxnSpPr>
          <p:cNvPr id="9" name="Curved Connector 8"/>
          <p:cNvCxnSpPr>
            <a:stCxn id="145" idx="3"/>
          </p:cNvCxnSpPr>
          <p:nvPr/>
        </p:nvCxnSpPr>
        <p:spPr bwMode="auto">
          <a:xfrm>
            <a:off x="1393662" y="520593"/>
            <a:ext cx="2914442" cy="742258"/>
          </a:xfrm>
          <a:prstGeom prst="curvedConnector3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55" name="Line 40"/>
          <p:cNvSpPr>
            <a:spLocks noChangeShapeType="1"/>
          </p:cNvSpPr>
          <p:nvPr/>
        </p:nvSpPr>
        <p:spPr bwMode="auto">
          <a:xfrm>
            <a:off x="669324" y="2723063"/>
            <a:ext cx="2323935" cy="101651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cxnSp>
        <p:nvCxnSpPr>
          <p:cNvPr id="156" name="Curved Connector 155"/>
          <p:cNvCxnSpPr/>
          <p:nvPr/>
        </p:nvCxnSpPr>
        <p:spPr bwMode="auto">
          <a:xfrm>
            <a:off x="907922" y="2630998"/>
            <a:ext cx="3372195" cy="618394"/>
          </a:xfrm>
          <a:prstGeom prst="curvedConnector3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59" name="Rectangle 3"/>
          <p:cNvSpPr txBox="1">
            <a:spLocks noChangeArrowheads="1"/>
          </p:cNvSpPr>
          <p:nvPr/>
        </p:nvSpPr>
        <p:spPr bwMode="auto">
          <a:xfrm>
            <a:off x="5365297" y="3110415"/>
            <a:ext cx="3534292" cy="1572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charset="0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Arial" charset="0"/>
              <a:buChar char="–"/>
              <a:defRPr sz="22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charset="0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dirty="0"/>
              <a:t>Also, you can compute a weighted sum of MC sketches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812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000BE"/>
                </a:solidFill>
              </a:rPr>
              <a:t>A Quick Intro to Data Stream Algorithmics – </a:t>
            </a:r>
            <a:r>
              <a:rPr lang="en-US" i="1">
                <a:solidFill>
                  <a:srgbClr val="0000BE"/>
                </a:solidFill>
              </a:rPr>
              <a:t>CS262 </a:t>
            </a:r>
            <a:r>
              <a:rPr lang="en-US">
                <a:solidFill>
                  <a:srgbClr val="0000BE"/>
                </a:solidFill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3328BE5-9B20-5048-AFBA-DA726021E22A}" type="slidenum">
              <a:rPr lang="en-US">
                <a:solidFill>
                  <a:srgbClr val="000000"/>
                </a:solidFill>
              </a:rPr>
              <a:pPr/>
              <a:t>41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4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CM Sketch Guarantees</a:t>
            </a:r>
          </a:p>
        </p:txBody>
      </p:sp>
      <p:sp>
        <p:nvSpPr>
          <p:cNvPr id="84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563" y="1219200"/>
            <a:ext cx="8961437" cy="2608881"/>
          </a:xfrm>
          <a:ln>
            <a:solidFill>
              <a:schemeClr val="tx1"/>
            </a:solidFill>
          </a:ln>
        </p:spPr>
        <p:txBody>
          <a:bodyPr/>
          <a:lstStyle/>
          <a:p>
            <a:pPr lvl="1"/>
            <a:endParaRPr lang="en-US" sz="2300" dirty="0"/>
          </a:p>
          <a:p>
            <a:r>
              <a:rPr lang="en-US" sz="2500" dirty="0"/>
              <a:t>Assuming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+mn-cs"/>
              </a:rPr>
              <a:t>||A||</a:t>
            </a:r>
            <a:r>
              <a:rPr kumimoji="0" lang="en-US" sz="23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+mn-cs"/>
              </a:rPr>
              <a:t>1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+mn-cs"/>
              </a:rPr>
              <a:t> </a:t>
            </a:r>
            <a:r>
              <a:rPr lang="en-US" sz="2500" dirty="0"/>
              <a:t>is often reasonable:</a:t>
            </a:r>
          </a:p>
          <a:p>
            <a:pPr lvl="1"/>
            <a:r>
              <a:rPr lang="en-US" sz="2300" dirty="0"/>
              <a:t>Estimating a multinomial: if A[s] = </a:t>
            </a:r>
            <a:r>
              <a:rPr lang="en-US" sz="2300" dirty="0" err="1"/>
              <a:t>Pr</a:t>
            </a:r>
            <a:r>
              <a:rPr lang="en-US" sz="2300" dirty="0"/>
              <a:t>(s|…) then ||A||</a:t>
            </a:r>
            <a:r>
              <a:rPr lang="en-US" sz="2300" baseline="-25000" dirty="0"/>
              <a:t>1</a:t>
            </a:r>
            <a:r>
              <a:rPr lang="en-US" sz="2300" dirty="0"/>
              <a:t> = 1</a:t>
            </a:r>
          </a:p>
          <a:p>
            <a:pPr lvl="1"/>
            <a:r>
              <a:rPr lang="en-US" sz="2300" dirty="0"/>
              <a:t>Multiclass classification: if A</a:t>
            </a:r>
            <a:r>
              <a:rPr lang="en-US" sz="2300" baseline="-25000" dirty="0"/>
              <a:t>x</a:t>
            </a:r>
            <a:r>
              <a:rPr lang="en-US" sz="2300" dirty="0"/>
              <a:t>[s] = </a:t>
            </a:r>
            <a:r>
              <a:rPr lang="en-US" sz="2300" dirty="0" err="1"/>
              <a:t>Pr</a:t>
            </a:r>
            <a:r>
              <a:rPr lang="en-US" sz="2300" dirty="0"/>
              <a:t>(x in class s) then ||A</a:t>
            </a:r>
            <a:r>
              <a:rPr lang="en-US" sz="2300" baseline="-25000" dirty="0"/>
              <a:t>x</a:t>
            </a:r>
            <a:r>
              <a:rPr lang="en-US" sz="2300" dirty="0"/>
              <a:t>||</a:t>
            </a:r>
            <a:r>
              <a:rPr lang="en-US" sz="2300" baseline="-25000" dirty="0"/>
              <a:t>1</a:t>
            </a:r>
            <a:r>
              <a:rPr lang="en-US" sz="2300" dirty="0"/>
              <a:t> is probably small, since most x’s will be in only a few classes</a:t>
            </a:r>
          </a:p>
          <a:p>
            <a:pPr lvl="1"/>
            <a:endParaRPr lang="en-US" sz="2300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305300" y="0"/>
            <a:ext cx="4800600" cy="48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r">
              <a:lnSpc>
                <a:spcPct val="120000"/>
              </a:lnSpc>
            </a:pPr>
            <a:r>
              <a:rPr lang="en-US" sz="2000" i="1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from: Minos </a:t>
            </a:r>
            <a:r>
              <a:rPr lang="en-US" sz="2000" i="1" dirty="0" err="1">
                <a:effectLst>
                  <a:outerShdw blurRad="38100" dist="38100" dir="2700000" algn="tl">
                    <a:srgbClr val="DDDDDD"/>
                  </a:outerShdw>
                </a:effectLst>
              </a:rPr>
              <a:t>Garofalakis</a:t>
            </a:r>
            <a:br>
              <a:rPr lang="en-US" sz="2600" i="1" dirty="0">
                <a:effectLst>
                  <a:outerShdw blurRad="38100" dist="38100" dir="2700000" algn="tl">
                    <a:srgbClr val="DDDDDD"/>
                  </a:outerShdw>
                </a:effectLst>
              </a:rPr>
            </a:br>
            <a:endParaRPr lang="en-US" sz="2000" b="0" dirty="0">
              <a:solidFill>
                <a:schemeClr val="bg2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12400345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000BE"/>
                </a:solidFill>
              </a:rPr>
              <a:t>A Quick Intro to Data Stream Algorithmics – </a:t>
            </a:r>
            <a:r>
              <a:rPr lang="en-US" i="1">
                <a:solidFill>
                  <a:srgbClr val="0000BE"/>
                </a:solidFill>
              </a:rPr>
              <a:t>CS262 </a:t>
            </a:r>
            <a:r>
              <a:rPr lang="en-US">
                <a:solidFill>
                  <a:srgbClr val="0000BE"/>
                </a:solidFill>
              </a:rPr>
              <a:t> </a:t>
            </a:r>
          </a:p>
        </p:txBody>
      </p:sp>
      <p:sp>
        <p:nvSpPr>
          <p:cNvPr id="84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CM Sketch Guarantees</a:t>
            </a:r>
          </a:p>
        </p:txBody>
      </p:sp>
      <p:sp>
        <p:nvSpPr>
          <p:cNvPr id="84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563" y="1219200"/>
            <a:ext cx="8961437" cy="5464175"/>
          </a:xfrm>
        </p:spPr>
        <p:txBody>
          <a:bodyPr/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Cormode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Muthukrishnan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‘04]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 CM sketch guarantees approximation error on point queries less than 𝜺||A||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in space O(1/𝜺 log 1/𝛿)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CM sketches are also accurate for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skewed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values---i.e., only a few entries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with large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A[s] 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305300" y="0"/>
            <a:ext cx="4800600" cy="48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r">
              <a:lnSpc>
                <a:spcPct val="120000"/>
              </a:lnSpc>
            </a:pPr>
            <a:r>
              <a:rPr lang="en-US" sz="2000" i="1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from: Minos </a:t>
            </a:r>
            <a:r>
              <a:rPr lang="en-US" sz="2000" i="1" dirty="0" err="1">
                <a:effectLst>
                  <a:outerShdw blurRad="38100" dist="38100" dir="2700000" algn="tl">
                    <a:srgbClr val="DDDDDD"/>
                  </a:outerShdw>
                </a:effectLst>
              </a:rPr>
              <a:t>Garofalakis</a:t>
            </a:r>
            <a:br>
              <a:rPr lang="en-US" sz="2600" i="1" dirty="0">
                <a:effectLst>
                  <a:outerShdw blurRad="38100" dist="38100" dir="2700000" algn="tl">
                    <a:srgbClr val="DDDDDD"/>
                  </a:outerShdw>
                </a:effectLst>
              </a:rPr>
            </a:br>
            <a:endParaRPr lang="en-US" sz="2000" b="0" dirty="0">
              <a:solidFill>
                <a:schemeClr val="bg2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  <p:pic>
        <p:nvPicPr>
          <p:cNvPr id="2" name="Picture 1" descr="Screen Shot 2014-02-25 at 3.33.5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" y="3951287"/>
            <a:ext cx="9144000" cy="1138813"/>
          </a:xfrm>
          <a:prstGeom prst="rect">
            <a:avLst/>
          </a:prstGeom>
        </p:spPr>
      </p:pic>
      <p:pic>
        <p:nvPicPr>
          <p:cNvPr id="3" name="Picture 2" descr="Screen Shot 2014-02-25 at 3.34.19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" y="5258884"/>
            <a:ext cx="9144000" cy="91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467458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3A565-DC98-8993-385A-ADFE8D7EB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4DDC1-31C9-0885-7CB8-2ADD75A8E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Applications of Count-Min Sketches 1</a:t>
            </a:r>
            <a:endParaRPr lang="en-US" dirty="0"/>
          </a:p>
        </p:txBody>
      </p:sp>
      <p:pic>
        <p:nvPicPr>
          <p:cNvPr id="4" name="Picture 3" descr="A close-up of a business card&#10;&#10;AI-generated content may be incorrect.">
            <a:extLst>
              <a:ext uri="{FF2B5EF4-FFF2-40B4-BE49-F238E27FC236}">
                <a16:creationId xmlns:a16="http://schemas.microsoft.com/office/drawing/2014/main" id="{84585FD8-569A-6346-FB3B-A6F7B5DEA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138" y="1624012"/>
            <a:ext cx="7772400" cy="249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1604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37DBB-9564-649B-9D8D-1577C0A08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FB292-2542-093E-C607-A5D8A97A5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Background</a:t>
            </a:r>
            <a:endParaRPr lang="en-US" dirty="0"/>
          </a:p>
        </p:txBody>
      </p:sp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CBC2FE0-7825-05DA-E578-D7A939A252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784"/>
          <a:stretch/>
        </p:blipFill>
        <p:spPr>
          <a:xfrm>
            <a:off x="685800" y="893636"/>
            <a:ext cx="7772400" cy="12986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CF92F5-E11D-A800-7E5C-BDFFE178D0A5}"/>
              </a:ext>
            </a:extLst>
          </p:cNvPr>
          <p:cNvSpPr txBox="1"/>
          <p:nvPr/>
        </p:nvSpPr>
        <p:spPr>
          <a:xfrm>
            <a:off x="6958739" y="1502016"/>
            <a:ext cx="172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2002</a:t>
            </a:r>
          </a:p>
        </p:txBody>
      </p:sp>
      <p:pic>
        <p:nvPicPr>
          <p:cNvPr id="10" name="Picture 9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CBB9E6A9-E094-2241-87FA-0C098C425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12" y="2367122"/>
            <a:ext cx="4315486" cy="3389285"/>
          </a:xfrm>
          <a:prstGeom prst="rect">
            <a:avLst/>
          </a:prstGeom>
          <a:ln>
            <a:solidFill>
              <a:schemeClr val="accent3"/>
            </a:solidFill>
          </a:ln>
        </p:spPr>
      </p:pic>
      <p:pic>
        <p:nvPicPr>
          <p:cNvPr id="12" name="Picture 11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5AC03F49-DCB8-3CEE-AD52-90408D4F7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952" y="2274134"/>
            <a:ext cx="4134320" cy="4670612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8750822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1B2560F-F014-C11A-E964-10C2B2F9E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1A93B-50D8-27D3-594A-60CB98CBF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Background</a:t>
            </a:r>
            <a:endParaRPr lang="en-US" dirty="0"/>
          </a:p>
        </p:txBody>
      </p:sp>
      <p:pic>
        <p:nvPicPr>
          <p:cNvPr id="5" name="Picture 4" descr="A close-up of a business card&#10;&#10;AI-generated content may be incorrect.">
            <a:extLst>
              <a:ext uri="{FF2B5EF4-FFF2-40B4-BE49-F238E27FC236}">
                <a16:creationId xmlns:a16="http://schemas.microsoft.com/office/drawing/2014/main" id="{4E7C64D1-9672-4B03-F7E0-AA03775EF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091" y="1078748"/>
            <a:ext cx="6245817" cy="2088698"/>
          </a:xfrm>
          <a:prstGeom prst="rect">
            <a:avLst/>
          </a:prstGeom>
        </p:spPr>
      </p:pic>
      <p:pic>
        <p:nvPicPr>
          <p:cNvPr id="8" name="Picture 7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C81E7D4D-0712-89FD-1C93-5187F283B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3699452"/>
            <a:ext cx="7772400" cy="31585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EF8416-9312-E4F4-6224-0467F791ED92}"/>
              </a:ext>
            </a:extLst>
          </p:cNvPr>
          <p:cNvSpPr txBox="1"/>
          <p:nvPr/>
        </p:nvSpPr>
        <p:spPr>
          <a:xfrm>
            <a:off x="1053885" y="3167446"/>
            <a:ext cx="7632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2002 – 12,000+ citations</a:t>
            </a:r>
          </a:p>
          <a:p>
            <a:r>
              <a:rPr lang="en-US" dirty="0"/>
              <a:t>Dataset of movie reviews (pos, negative)</a:t>
            </a:r>
          </a:p>
        </p:txBody>
      </p:sp>
    </p:spTree>
    <p:extLst>
      <p:ext uri="{BB962C8B-B14F-4D97-AF65-F5344CB8AC3E}">
        <p14:creationId xmlns:p14="http://schemas.microsoft.com/office/powerpoint/2010/main" val="37583187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Application of a Count-Min 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1" y="1257300"/>
            <a:ext cx="8012530" cy="281430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Problem: find the semantic orientation of a review (positive or negative) using a large corpus.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/>
              <a:t>positive words co-occur more frequently than expected near other positive words; likewise for negative words</a:t>
            </a:r>
          </a:p>
          <a:p>
            <a:pPr lvl="1"/>
            <a:r>
              <a:rPr lang="en-US" dirty="0"/>
              <a:t>so pick a few </a:t>
            </a:r>
            <a:r>
              <a:rPr lang="en-US" dirty="0" err="1"/>
              <a:t>pos</a:t>
            </a:r>
            <a:r>
              <a:rPr lang="en-US" dirty="0"/>
              <a:t>/</a:t>
            </a:r>
            <a:r>
              <a:rPr lang="en-US" dirty="0" err="1"/>
              <a:t>neg</a:t>
            </a:r>
            <a:r>
              <a:rPr lang="en-US" dirty="0"/>
              <a:t> seeds and compute</a:t>
            </a:r>
          </a:p>
        </p:txBody>
      </p:sp>
      <p:pic>
        <p:nvPicPr>
          <p:cNvPr id="4" name="Picture 3" descr="Screen Shot 2014-02-26 at 10.26.2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40" y="5233804"/>
            <a:ext cx="7086600" cy="812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51094"/>
          <a:stretch/>
        </p:blipFill>
        <p:spPr>
          <a:xfrm>
            <a:off x="2076075" y="4323749"/>
            <a:ext cx="3685321" cy="8353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19475" y="4211687"/>
            <a:ext cx="1101855" cy="50428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725765" y="4323749"/>
            <a:ext cx="793710" cy="158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88209" y="4027021"/>
            <a:ext cx="173755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x appears near y</a:t>
            </a:r>
          </a:p>
        </p:txBody>
      </p:sp>
    </p:spTree>
    <p:extLst>
      <p:ext uri="{BB962C8B-B14F-4D97-AF65-F5344CB8AC3E}">
        <p14:creationId xmlns:p14="http://schemas.microsoft.com/office/powerpoint/2010/main" val="187093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Application of a Count-Min Sketch</a:t>
            </a:r>
          </a:p>
        </p:txBody>
      </p:sp>
      <p:pic>
        <p:nvPicPr>
          <p:cNvPr id="4" name="Picture 3" descr="Screen Shot 2014-02-26 at 10.26.2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40" y="2749607"/>
            <a:ext cx="7086600" cy="812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51094"/>
          <a:stretch/>
        </p:blipFill>
        <p:spPr>
          <a:xfrm>
            <a:off x="2076075" y="1839552"/>
            <a:ext cx="3685321" cy="8353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19475" y="1727490"/>
            <a:ext cx="1101855" cy="50428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725765" y="1839552"/>
            <a:ext cx="793710" cy="158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88209" y="1542824"/>
            <a:ext cx="173755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x appears near y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55" y="4545079"/>
            <a:ext cx="8723320" cy="6996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7340" y="3837790"/>
            <a:ext cx="68454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Turney, 2002 used two seeds, “excellent” and “poor”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421" y="5520114"/>
            <a:ext cx="86629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 general, SO(w) can be written in terms of logs of products of counters for w, with and without seeds</a:t>
            </a:r>
          </a:p>
        </p:txBody>
      </p:sp>
    </p:spTree>
    <p:extLst>
      <p:ext uri="{BB962C8B-B14F-4D97-AF65-F5344CB8AC3E}">
        <p14:creationId xmlns:p14="http://schemas.microsoft.com/office/powerpoint/2010/main" val="28509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Application of a Count-Min 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1" y="1257300"/>
            <a:ext cx="7909813" cy="1796407"/>
          </a:xfrm>
        </p:spPr>
        <p:txBody>
          <a:bodyPr>
            <a:normAutofit/>
          </a:bodyPr>
          <a:lstStyle/>
          <a:p>
            <a:r>
              <a:rPr lang="en-US" dirty="0"/>
              <a:t>Use 2B counters, 5 hash functions, “near” means a 7-word window, </a:t>
            </a:r>
            <a:r>
              <a:rPr lang="en-US" dirty="0" err="1"/>
              <a:t>GigaWord</a:t>
            </a:r>
            <a:r>
              <a:rPr lang="en-US" dirty="0"/>
              <a:t> (10 Gb) and </a:t>
            </a:r>
            <a:r>
              <a:rPr lang="en-US" dirty="0" err="1"/>
              <a:t>GigaWord</a:t>
            </a:r>
            <a:r>
              <a:rPr lang="en-US" dirty="0"/>
              <a:t> + Web news 50 Gb)</a:t>
            </a:r>
          </a:p>
        </p:txBody>
      </p:sp>
      <p:pic>
        <p:nvPicPr>
          <p:cNvPr id="9" name="Picture 8" descr="Screen Shot 2014-02-26 at 10.32.4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69988"/>
            <a:ext cx="9144000" cy="322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3876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Application of a Count-Min Sketch</a:t>
            </a:r>
          </a:p>
        </p:txBody>
      </p:sp>
      <p:pic>
        <p:nvPicPr>
          <p:cNvPr id="9" name="Picture 8" descr="Screen Shot 2014-02-26 at 10.32.4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69988"/>
            <a:ext cx="9144000" cy="32227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4206" y="1454200"/>
            <a:ext cx="6427624" cy="1200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CM-CU:  CM with “conservative update” - for </a:t>
            </a:r>
            <a:r>
              <a:rPr lang="en-US" sz="2400" i="1" dirty="0"/>
              <a:t>&lt;</a:t>
            </a:r>
            <a:r>
              <a:rPr lang="en-US" sz="2400" i="1" dirty="0" err="1"/>
              <a:t>j,+c</a:t>
            </a:r>
            <a:r>
              <a:rPr lang="en-US" sz="2400" i="1" dirty="0"/>
              <a:t>&gt; </a:t>
            </a:r>
            <a:r>
              <a:rPr lang="en-US" sz="2400" dirty="0"/>
              <a:t>increment counters just enough to make the new estimate for </a:t>
            </a:r>
            <a:r>
              <a:rPr lang="en-US" sz="2400" i="1" dirty="0"/>
              <a:t>j</a:t>
            </a:r>
            <a:r>
              <a:rPr lang="en-US" sz="2400" dirty="0"/>
              <a:t> grow by </a:t>
            </a:r>
            <a:r>
              <a:rPr lang="en-US" sz="2400" i="1" dirty="0"/>
              <a:t>c</a:t>
            </a:r>
            <a:r>
              <a:rPr lang="en-US" sz="2400" dirty="0"/>
              <a:t>  </a:t>
            </a:r>
          </a:p>
        </p:txBody>
      </p:sp>
      <p:cxnSp>
        <p:nvCxnSpPr>
          <p:cNvPr id="15" name="Straight Arrow Connector 14"/>
          <p:cNvCxnSpPr>
            <a:stCxn id="12" idx="2"/>
          </p:cNvCxnSpPr>
          <p:nvPr/>
        </p:nvCxnSpPr>
        <p:spPr>
          <a:xfrm>
            <a:off x="4258018" y="2654528"/>
            <a:ext cx="0" cy="82466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749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4013</TotalTime>
  <Words>2661</Words>
  <Application>Microsoft Macintosh PowerPoint</Application>
  <PresentationFormat>On-screen Show (4:3)</PresentationFormat>
  <Paragraphs>474</Paragraphs>
  <Slides>49</Slides>
  <Notes>11</Notes>
  <HiddenSlides>2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American Typewriter</vt:lpstr>
      <vt:lpstr>Arial</vt:lpstr>
      <vt:lpstr>Calibri</vt:lpstr>
      <vt:lpstr>Cambria Math</vt:lpstr>
      <vt:lpstr>Courier New</vt:lpstr>
      <vt:lpstr>Gill Sans MT</vt:lpstr>
      <vt:lpstr>Symbol</vt:lpstr>
      <vt:lpstr>Wingdings</vt:lpstr>
      <vt:lpstr>Office Theme</vt:lpstr>
      <vt:lpstr>Equation</vt:lpstr>
      <vt:lpstr>10-605 / 10-405</vt:lpstr>
      <vt:lpstr>Recap: the course so far</vt:lpstr>
      <vt:lpstr>Recap: the course so far</vt:lpstr>
      <vt:lpstr>Today’s tool</vt:lpstr>
      <vt:lpstr>Motivating Bloom Filters: Variant of the Hash Trick</vt:lpstr>
      <vt:lpstr>PowerPoint Presentation</vt:lpstr>
      <vt:lpstr>Recap: Formal results</vt:lpstr>
      <vt:lpstr>Recap: of feature hashing with duplicates</vt:lpstr>
      <vt:lpstr>A variant of feature hashing</vt:lpstr>
      <vt:lpstr>A variant of feature hashing</vt:lpstr>
      <vt:lpstr>Hash Trick - Insights</vt:lpstr>
      <vt:lpstr>Bloom Filters</vt:lpstr>
      <vt:lpstr>Bloom filters</vt:lpstr>
      <vt:lpstr>Bloom filters</vt:lpstr>
      <vt:lpstr>Bloom filters</vt:lpstr>
      <vt:lpstr>Bloom filters</vt:lpstr>
      <vt:lpstr>Bloom filters</vt:lpstr>
      <vt:lpstr>Bloom filters: analysis</vt:lpstr>
      <vt:lpstr>Bloom filters</vt:lpstr>
      <vt:lpstr>Bloom filters</vt:lpstr>
      <vt:lpstr>Bloom filters: a slightly different version</vt:lpstr>
      <vt:lpstr>Bloom filters: a slightly different version</vt:lpstr>
      <vt:lpstr>Bloom filters: a slightly different version</vt:lpstr>
      <vt:lpstr>Bloom filters: a slightly different version</vt:lpstr>
      <vt:lpstr>Bloom filters: a slightly different version</vt:lpstr>
      <vt:lpstr>Bloom filters: demo</vt:lpstr>
      <vt:lpstr>What do you do with a Bloom filter?</vt:lpstr>
      <vt:lpstr>Some uses of Bloom filters</vt:lpstr>
      <vt:lpstr>Some Uses of Bloom filters</vt:lpstr>
      <vt:lpstr>Some Uses of Bloom filters</vt:lpstr>
      <vt:lpstr>Some Uses of Bloom filters</vt:lpstr>
      <vt:lpstr>The Count-Min Sketch</vt:lpstr>
      <vt:lpstr>A variant of feature hashing</vt:lpstr>
      <vt:lpstr>Bloom FilterCount-min sketch</vt:lpstr>
      <vt:lpstr>Bloom FilterCount-min sketch</vt:lpstr>
      <vt:lpstr>Bloom FilterCount-min sketch</vt:lpstr>
      <vt:lpstr>Count-min sketch results</vt:lpstr>
      <vt:lpstr>Count-min sketch results</vt:lpstr>
      <vt:lpstr>CM Sketch Structure</vt:lpstr>
      <vt:lpstr>PowerPoint Presentation</vt:lpstr>
      <vt:lpstr>CM Sketch Guarantees</vt:lpstr>
      <vt:lpstr>CM Sketch Guarantees</vt:lpstr>
      <vt:lpstr>Applications of Count-Min Sketches 1</vt:lpstr>
      <vt:lpstr>Background</vt:lpstr>
      <vt:lpstr>Background</vt:lpstr>
      <vt:lpstr>An Application of a Count-Min Sketch</vt:lpstr>
      <vt:lpstr>An Application of a Count-Min Sketch</vt:lpstr>
      <vt:lpstr>An Application of a Count-Min Sketch</vt:lpstr>
      <vt:lpstr>An Application of a Count-Min Sketch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from Big Datasets</dc:title>
  <dc:creator>William Cohen</dc:creator>
  <cp:lastModifiedBy>William W Cohen</cp:lastModifiedBy>
  <cp:revision>361</cp:revision>
  <dcterms:created xsi:type="dcterms:W3CDTF">2012-02-26T21:25:59Z</dcterms:created>
  <dcterms:modified xsi:type="dcterms:W3CDTF">2025-02-07T16:03:08Z</dcterms:modified>
</cp:coreProperties>
</file>