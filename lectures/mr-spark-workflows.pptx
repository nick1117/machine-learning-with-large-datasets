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6"/>
  </p:notesMasterIdLst>
  <p:handoutMasterIdLst>
    <p:handoutMasterId r:id="rId87"/>
  </p:handoutMasterIdLst>
  <p:sldIdLst>
    <p:sldId id="375" r:id="rId2"/>
    <p:sldId id="526" r:id="rId3"/>
    <p:sldId id="413" r:id="rId4"/>
    <p:sldId id="524" r:id="rId5"/>
    <p:sldId id="525" r:id="rId6"/>
    <p:sldId id="419" r:id="rId7"/>
    <p:sldId id="352" r:id="rId8"/>
    <p:sldId id="470" r:id="rId9"/>
    <p:sldId id="401" r:id="rId10"/>
    <p:sldId id="456" r:id="rId11"/>
    <p:sldId id="463" r:id="rId12"/>
    <p:sldId id="459" r:id="rId13"/>
    <p:sldId id="468" r:id="rId14"/>
    <p:sldId id="460" r:id="rId15"/>
    <p:sldId id="464" r:id="rId16"/>
    <p:sldId id="469" r:id="rId17"/>
    <p:sldId id="442" r:id="rId18"/>
    <p:sldId id="465" r:id="rId19"/>
    <p:sldId id="444" r:id="rId20"/>
    <p:sldId id="448" r:id="rId21"/>
    <p:sldId id="466" r:id="rId22"/>
    <p:sldId id="446" r:id="rId23"/>
    <p:sldId id="467" r:id="rId24"/>
    <p:sldId id="471" r:id="rId25"/>
    <p:sldId id="472" r:id="rId26"/>
    <p:sldId id="473" r:id="rId27"/>
    <p:sldId id="453" r:id="rId28"/>
    <p:sldId id="477" r:id="rId29"/>
    <p:sldId id="490" r:id="rId30"/>
    <p:sldId id="503" r:id="rId31"/>
    <p:sldId id="495" r:id="rId32"/>
    <p:sldId id="527" r:id="rId33"/>
    <p:sldId id="528" r:id="rId34"/>
    <p:sldId id="496" r:id="rId35"/>
    <p:sldId id="497" r:id="rId36"/>
    <p:sldId id="498" r:id="rId37"/>
    <p:sldId id="499" r:id="rId38"/>
    <p:sldId id="500" r:id="rId39"/>
    <p:sldId id="501" r:id="rId40"/>
    <p:sldId id="502" r:id="rId41"/>
    <p:sldId id="504" r:id="rId42"/>
    <p:sldId id="505" r:id="rId43"/>
    <p:sldId id="506" r:id="rId44"/>
    <p:sldId id="507" r:id="rId45"/>
    <p:sldId id="491" r:id="rId46"/>
    <p:sldId id="508" r:id="rId47"/>
    <p:sldId id="492" r:id="rId48"/>
    <p:sldId id="509" r:id="rId49"/>
    <p:sldId id="510" r:id="rId50"/>
    <p:sldId id="511" r:id="rId51"/>
    <p:sldId id="529" r:id="rId52"/>
    <p:sldId id="512" r:id="rId53"/>
    <p:sldId id="513" r:id="rId54"/>
    <p:sldId id="514" r:id="rId55"/>
    <p:sldId id="515" r:id="rId56"/>
    <p:sldId id="256" r:id="rId57"/>
    <p:sldId id="257" r:id="rId58"/>
    <p:sldId id="258" r:id="rId59"/>
    <p:sldId id="259" r:id="rId60"/>
    <p:sldId id="260" r:id="rId61"/>
    <p:sldId id="516" r:id="rId62"/>
    <p:sldId id="517" r:id="rId63"/>
    <p:sldId id="518" r:id="rId64"/>
    <p:sldId id="261" r:id="rId65"/>
    <p:sldId id="262" r:id="rId66"/>
    <p:sldId id="263" r:id="rId67"/>
    <p:sldId id="421" r:id="rId68"/>
    <p:sldId id="422" r:id="rId69"/>
    <p:sldId id="423" r:id="rId70"/>
    <p:sldId id="530" r:id="rId71"/>
    <p:sldId id="531" r:id="rId72"/>
    <p:sldId id="424" r:id="rId73"/>
    <p:sldId id="425" r:id="rId74"/>
    <p:sldId id="426" r:id="rId75"/>
    <p:sldId id="427" r:id="rId76"/>
    <p:sldId id="440" r:id="rId77"/>
    <p:sldId id="441" r:id="rId78"/>
    <p:sldId id="428" r:id="rId79"/>
    <p:sldId id="434" r:id="rId80"/>
    <p:sldId id="435" r:id="rId81"/>
    <p:sldId id="520" r:id="rId82"/>
    <p:sldId id="521" r:id="rId83"/>
    <p:sldId id="522" r:id="rId84"/>
    <p:sldId id="523" r:id="rId8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130" autoAdjust="0"/>
    <p:restoredTop sz="86379" autoAdjust="0"/>
  </p:normalViewPr>
  <p:slideViewPr>
    <p:cSldViewPr snapToGrid="0" snapToObjects="1">
      <p:cViewPr varScale="1">
        <p:scale>
          <a:sx n="85" d="100"/>
          <a:sy n="85" d="100"/>
        </p:scale>
        <p:origin x="2152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3933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handoutMaster" Target="handoutMasters/handout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B0EECE-483D-2F46-B110-83EF25AEDEC6}" type="datetimeFigureOut">
              <a:rPr lang="en-US" smtClean="0"/>
              <a:t>1/22/25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75519F-AFDD-C741-8033-4AF14BD52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24837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3C4F9-F37E-4225-8EDE-0041EBD1A368}" type="datetimeFigureOut">
              <a:rPr lang="en-US" smtClean="0"/>
              <a:pPr/>
              <a:t>1/22/25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CF8AD2-6882-4531-8560-2C8EEF2B5B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8703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104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7357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1660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wrong place to buffer things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4025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mappers share knowledge of HOW to partition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2828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A3B68-227B-1FA9-A0E3-A6128A9FA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A9A448-791E-39C8-67CC-9A4C968EB8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3E980A-6CEC-46AD-D4F6-1318B426A9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07E0B-A0E7-67D8-E1C5-B7FD715799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8510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9B80B-9F76-6BF0-DD1C-07B98CC06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E12986-930B-358F-9345-2E9DEA0D61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5AF6CB-000A-2DC7-56D0-964464946D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E70774-802C-4D83-42C7-3C8B7D76C1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046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141AA-75EF-3DF2-122D-2D18FC69F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AFB145-AAFC-D137-15EC-627B87E91E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85C33D-0C0C-E0DD-D1B5-62A5D1D13B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2E75A-B00A-DFBE-AE6F-45C9981B01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6051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3307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41E14-A89D-CD48-DF5C-44533015E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2CEE96-1DDE-A3F0-2205-67D058182D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646835-421C-E319-E4C5-4811B39B1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ABF41-4B67-295A-E94C-9090A1B969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76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A6AD8-6E58-0253-CD2C-CCFD01691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FD4DE6-FFED-9161-DBCD-017F3BF7D4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8F3FE2-6FF9-7B08-1B06-11CE0EE2E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E29AA-F6E9-8BF4-C1BE-B8926BC357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6403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ACF8D-D6F7-7749-5264-154BF6150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5162AE-378A-2EA0-0745-F8486DF2D5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B3BCFD-7047-C7DB-27B9-C5260085F8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838317-DEAF-048C-960A-E62A050514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9334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A620A-0428-1798-BB85-0EC163D7F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E6D804-2EEB-AD75-D43C-A5A9937D08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2D143E-C2A9-7A65-9158-A7450DA060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6C092-2F49-5E5D-3BA6-DA0B6BBC99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4423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56601-7137-3E24-AA81-EFF5F21A0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53C60E-6866-1D43-2463-CE9430B69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BE9FD6-7177-A251-1A6D-B16C081344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8373E4-F027-CA75-1260-ECD4A7F745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0596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AFA3D-248C-0759-25B4-37C682C5F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A7AFC2-F853-7945-97F6-7AAD92A46D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532B60-0BBA-2281-B1E3-BAB0A62B7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96F9E-802F-CBBC-12E1-0A11C56E73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7584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0EE26-831B-04C3-0604-21B3F7D89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7CFEE3-77B2-28C7-5B96-8ECDFC01C4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274D87-C548-EB75-1616-039FCB5C6C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BA95DE-3CE0-059A-F6CE-EC2208ECA6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8609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8C6AA-4BBE-3D15-A235-60164DA33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423A99-FA35-7C18-7A61-BF7F3FED08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9170FF-2473-D9D6-9363-40638F03F2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3B441C-9EB7-CEEE-BD2D-6538B29AB4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2998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3B046-40E6-FD44-8B0B-09CE3190D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BF876B-BEFC-B4FB-81CE-42C2161F57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3E17A3-4424-3E1A-B6B5-7FD1273EC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2581D-5AAC-B591-96BA-2C18BAD3E4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4884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43C7E-10E9-496C-7467-DF7E53E1F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4DF53F-DA19-526E-12B0-2F3127BEE8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E1D9FD-1591-57AD-3749-ECD10F39D7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380F4-AE9C-3085-66A3-391B86D2D9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6656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0042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459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4480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2E934-090D-8E04-BE63-C5A89518B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5369E2-BD62-D5B2-FF81-12EF67E510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040110-F52C-5B32-7E04-D1DDDFF7B9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F0531-FE0C-E09D-888E-E03C03DEE8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6741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156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8705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5601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128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2307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8839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4254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0512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57952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5723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what’s the fix? move reset out of the loop and/or make it NOT depend on scores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81135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“different contract” - basically if order of reduce operations doesn’t matter you </a:t>
            </a:r>
            <a:r>
              <a:rPr lang="en-US"/>
              <a:t>are 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22293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07658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46786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86921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10348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271A5-85B8-2FEB-9C42-03CE46B5A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A09560-F08A-2846-A4EB-54B176806C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3C2099-D70D-546E-D8F0-59ECF4939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1FF83-BD99-A8BC-DF37-634E17E196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07692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20739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13137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43101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76722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61326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77999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95302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066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5287-B79D-0449-B623-8ABDACCA6423}" type="datetime1">
              <a:rPr lang="en-US" smtClean="0"/>
              <a:t>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5099050"/>
          </a:xfrm>
        </p:spPr>
        <p:txBody>
          <a:bodyPr/>
          <a:lstStyle>
            <a:lvl1pPr>
              <a:defRPr sz="32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with a 1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6445250"/>
            <a:ext cx="2133600" cy="365125"/>
          </a:xfrm>
        </p:spPr>
        <p:txBody>
          <a:bodyPr/>
          <a:lstStyle/>
          <a:p>
            <a:fld id="{3780589B-A031-0D43-BBBF-B00BB9BA5E04}" type="datetime1">
              <a:rPr lang="en-US" smtClean="0"/>
              <a:t>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452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445250"/>
            <a:ext cx="2133600" cy="365125"/>
          </a:xfrm>
        </p:spPr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516187"/>
            <a:ext cx="7772400" cy="1362075"/>
          </a:xfrm>
        </p:spPr>
        <p:txBody>
          <a:bodyPr anchor="t">
            <a:normAutofit/>
          </a:bodyPr>
          <a:lstStyle>
            <a:lvl1pPr algn="ctr">
              <a:defRPr sz="3200" b="1" cap="all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0160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3F2BB-9898-F74D-B619-6EA068844969}" type="datetime1">
              <a:rPr lang="en-US" smtClean="0"/>
              <a:t>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5C50D-C991-5541-AE44-19469C697D63}" type="datetime1">
              <a:rPr lang="en-US" smtClean="0"/>
              <a:t>1/22/25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2177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33969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73731"/>
            <a:ext cx="4040188" cy="455122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033969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73730"/>
            <a:ext cx="4041775" cy="455122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15BC8-51FB-D54B-B657-84B9A217DFD9}" type="datetime1">
              <a:rPr lang="en-US" smtClean="0"/>
              <a:t>1/22/25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06462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09CFF-3D29-1D49-8B7B-AC4F31658B23}" type="datetime1">
              <a:rPr lang="en-US" smtClean="0"/>
              <a:t>1/22/25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E0BB6-9B32-9E4E-AE9B-44759A74A9DC}" type="datetime1">
              <a:rPr lang="en-US" smtClean="0"/>
              <a:t>1/22/25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75076-8268-844B-A0C3-D5B2A7CE39CE}" type="datetime1">
              <a:rPr lang="en-US" smtClean="0"/>
              <a:t>1/22/25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DBBD8-66EC-814B-9062-775A1C3B7A89}" type="datetime1">
              <a:rPr lang="en-US" smtClean="0"/>
              <a:t>1/22/25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A2ED2-D76C-034E-9A85-B08592AF0A3D}" type="datetime1">
              <a:rPr lang="en-US" smtClean="0"/>
              <a:t>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C6A1-E28A-E54D-A4B8-656634E6323C}" type="datetime1">
              <a:rPr lang="en-US" smtClean="0"/>
              <a:t>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CCC8C-9781-E747-912F-3E65475AAE1A}" type="datetime1">
              <a:rPr lang="en-US" smtClean="0"/>
              <a:t>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b="1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www.youtube.com/watch?feature=player_detailpage&amp;v=_r0gV2hQYf0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.youtube.com/watch?feature=player_detailpage&amp;v=XaqR3G_NVoo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5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aclanthology.org/W03-1805.pdf" TargetMode="External"/><Relationship Id="rId4" Type="http://schemas.openxmlformats.org/officeDocument/2006/relationships/image" Target="../media/image2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3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png"/><Relationship Id="rId5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wmf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BAF07-0EE8-87BE-0557-A2CF8E2D82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10-605 / 10-405</a:t>
            </a:r>
            <a:br>
              <a:rPr lang="en-US" dirty="0"/>
            </a:br>
            <a:r>
              <a:rPr lang="en-US" dirty="0"/>
              <a:t>Map-Reduce and Spark</a:t>
            </a:r>
            <a:br>
              <a:rPr lang="en-US" dirty="0"/>
            </a:br>
            <a:r>
              <a:rPr lang="en-US" dirty="0"/>
              <a:t>Sample Workflows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1B411-7A6C-21B1-431C-1AE6C9C76C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Machine Learning from Large Datasets</a:t>
            </a:r>
          </a:p>
        </p:txBody>
      </p:sp>
    </p:spTree>
    <p:extLst>
      <p:ext uri="{BB962C8B-B14F-4D97-AF65-F5344CB8AC3E}">
        <p14:creationId xmlns:p14="http://schemas.microsoft.com/office/powerpoint/2010/main" val="68544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DB3E9-4B43-DA9A-035F-EA42448B8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8133E-F917-B6F2-DEE8-E1C586F20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AWS accounts:</a:t>
            </a:r>
          </a:p>
          <a:p>
            <a:pPr lvl="1"/>
            <a:r>
              <a:rPr lang="en-US" dirty="0"/>
              <a:t>see Piazza for a new </a:t>
            </a:r>
            <a:r>
              <a:rPr lang="en-US" dirty="0" err="1"/>
              <a:t>todo</a:t>
            </a:r>
            <a:r>
              <a:rPr lang="en-US" dirty="0"/>
              <a:t> item</a:t>
            </a:r>
          </a:p>
          <a:p>
            <a:pPr lvl="1"/>
            <a:r>
              <a:rPr lang="en-US" dirty="0"/>
              <a:t>don’t delay!</a:t>
            </a:r>
          </a:p>
          <a:p>
            <a:r>
              <a:rPr lang="en-US" dirty="0"/>
              <a:t>HW1 patched</a:t>
            </a:r>
          </a:p>
          <a:p>
            <a:r>
              <a:rPr lang="en-US" dirty="0"/>
              <a:t>HW1 extension</a:t>
            </a:r>
          </a:p>
          <a:p>
            <a:pPr lvl="1"/>
            <a:r>
              <a:rPr lang="en-US" dirty="0"/>
              <a:t>HW1/HW2 delayed by 2 days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0C3C68-5E4A-7F4E-56A4-F291E98AD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530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8FA30-CD11-9B57-9811-95B1429ED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Map-Reduce: An Origin Story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85A682-2BB7-831D-C56E-AE7747CA9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35F41-A0A1-8D2E-B4A3-FE48E2B1B054}"/>
              </a:ext>
            </a:extLst>
          </p:cNvPr>
          <p:cNvSpPr txBox="1"/>
          <p:nvPr/>
        </p:nvSpPr>
        <p:spPr>
          <a:xfrm>
            <a:off x="1440770" y="3641271"/>
            <a:ext cx="63354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How hacks to handle large datasets with small memory evolved into Hadoop, Spark, Flume, …</a:t>
            </a:r>
          </a:p>
        </p:txBody>
      </p:sp>
    </p:spTree>
    <p:extLst>
      <p:ext uri="{BB962C8B-B14F-4D97-AF65-F5344CB8AC3E}">
        <p14:creationId xmlns:p14="http://schemas.microsoft.com/office/powerpoint/2010/main" val="4174903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EDF39C-E8EE-460D-E60B-E0B40338A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4" name="Picture 3" descr="A close-up of a document&#10;&#10;AI-generated content may be incorrect.">
            <a:extLst>
              <a:ext uri="{FF2B5EF4-FFF2-40B4-BE49-F238E27FC236}">
                <a16:creationId xmlns:a16="http://schemas.microsoft.com/office/drawing/2014/main" id="{5CBCB49D-38ED-4F45-896C-B301186ED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9159107" cy="4310743"/>
          </a:xfrm>
          <a:prstGeom prst="rect">
            <a:avLst/>
          </a:prstGeom>
        </p:spPr>
      </p:pic>
      <p:pic>
        <p:nvPicPr>
          <p:cNvPr id="6" name="Picture 5" descr="A text on a white background&#10;&#10;AI-generated content may be incorrect.">
            <a:extLst>
              <a:ext uri="{FF2B5EF4-FFF2-40B4-BE49-F238E27FC236}">
                <a16:creationId xmlns:a16="http://schemas.microsoft.com/office/drawing/2014/main" id="{36E5CD44-BAC3-A433-4A9D-F010CA0BDC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073" y="4429566"/>
            <a:ext cx="7795613" cy="18079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8FB669-95A8-687C-4C92-57D65952B6C6}"/>
              </a:ext>
            </a:extLst>
          </p:cNvPr>
          <p:cNvSpPr txBox="1"/>
          <p:nvPr/>
        </p:nvSpPr>
        <p:spPr>
          <a:xfrm>
            <a:off x="7271657" y="435808"/>
            <a:ext cx="1415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c. 1994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FBCEA6E-1E6F-B6A7-56CE-9DF3D846365A}"/>
              </a:ext>
            </a:extLst>
          </p:cNvPr>
          <p:cNvSpPr/>
          <p:nvPr/>
        </p:nvSpPr>
        <p:spPr>
          <a:xfrm>
            <a:off x="195943" y="4767943"/>
            <a:ext cx="8327571" cy="783771"/>
          </a:xfrm>
          <a:prstGeom prst="ellipse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850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E93B2B-CA33-87F2-4B04-86FA406F7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4" name="Picture 3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F893E210-5144-9320-2D23-A5253C65A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893" y="242207"/>
            <a:ext cx="5076371" cy="1288177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D26E9E-30DD-A1AE-E5E1-26C02B0B8E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1688193"/>
            <a:ext cx="6388638" cy="466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603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2A311-D418-C0D0-BF53-E5F6B7C27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608B3-4C02-B0DB-33F8-35BFA5608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Handling large corpora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CAE92F4-3128-F1D4-0445-4148CEB44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Stream through files and transform them</a:t>
            </a:r>
          </a:p>
          <a:p>
            <a:r>
              <a:rPr lang="en-US" dirty="0"/>
              <a:t>Combine as needed with </a:t>
            </a:r>
            <a:r>
              <a:rPr lang="en-US" b="1" dirty="0"/>
              <a:t>sorting</a:t>
            </a:r>
            <a:endParaRPr lang="en-US" dirty="0"/>
          </a:p>
          <a:p>
            <a:pPr lvl="1"/>
            <a:r>
              <a:rPr lang="en-US" dirty="0"/>
              <a:t>Sorting is O(</a:t>
            </a:r>
            <a:r>
              <a:rPr lang="en-US" i="1" dirty="0"/>
              <a:t>n log n), </a:t>
            </a:r>
            <a:r>
              <a:rPr lang="en-US" dirty="0"/>
              <a:t>nearly linear</a:t>
            </a:r>
          </a:p>
          <a:p>
            <a:pPr lvl="1"/>
            <a:r>
              <a:rPr lang="en-US" dirty="0"/>
              <a:t>You can sort big data with a </a:t>
            </a:r>
            <a:r>
              <a:rPr lang="en-US" i="1" dirty="0"/>
              <a:t>merge sort</a:t>
            </a:r>
            <a:endParaRPr lang="en-US" dirty="0"/>
          </a:p>
          <a:p>
            <a:pPr lvl="2"/>
            <a:r>
              <a:rPr lang="en-US" dirty="0"/>
              <a:t>sort subsets small enough to fit in memory</a:t>
            </a:r>
          </a:p>
          <a:p>
            <a:pPr lvl="2"/>
            <a:r>
              <a:rPr lang="en-US" dirty="0"/>
              <a:t>merge pairs datasets repeatedly</a:t>
            </a:r>
          </a:p>
          <a:p>
            <a:pPr lvl="2"/>
            <a:r>
              <a:rPr lang="en-US" dirty="0"/>
              <a:t>this can be done in constant memory and linear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CEE9D-3602-579A-07ED-A89BE527E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118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3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7650" y="809625"/>
            <a:ext cx="43243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23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86375" y="514350"/>
            <a:ext cx="3429000" cy="247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232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0" y="3276600"/>
            <a:ext cx="4219575" cy="340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2325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85750" y="4024313"/>
            <a:ext cx="3981450" cy="2242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7326C4-7E03-02C7-3C30-959940214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026" name="Picture 2" descr="Merge sort - Wikipedia">
            <a:extLst>
              <a:ext uri="{FF2B5EF4-FFF2-40B4-BE49-F238E27FC236}">
                <a16:creationId xmlns:a16="http://schemas.microsoft.com/office/drawing/2014/main" id="{A144AA20-FACE-CCB3-B163-4ACAFDC3D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0837" y="573315"/>
            <a:ext cx="4782326" cy="463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7948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594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3"/>
          <a:srcRect l="23958" t="26170" r="42084" b="35626"/>
          <a:stretch>
            <a:fillRect/>
          </a:stretch>
        </p:blipFill>
        <p:spPr bwMode="auto">
          <a:xfrm>
            <a:off x="952499" y="773668"/>
            <a:ext cx="7141845" cy="438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952499" y="5715000"/>
            <a:ext cx="6856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4"/>
              </a:rPr>
              <a:t>Alternative visualization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95300" y="292100"/>
            <a:ext cx="8648700" cy="804863"/>
          </a:xfrm>
        </p:spPr>
        <p:txBody>
          <a:bodyPr/>
          <a:lstStyle/>
          <a:p>
            <a:r>
              <a:rPr lang="en-US" dirty="0"/>
              <a:t>Unix Sort</a:t>
            </a:r>
          </a:p>
        </p:txBody>
      </p:sp>
      <p:pic>
        <p:nvPicPr>
          <p:cNvPr id="4" name="Picture 3" descr="Screen Shot 2014-01-29 at 11.25.39 A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362"/>
          <a:stretch/>
        </p:blipFill>
        <p:spPr>
          <a:xfrm>
            <a:off x="0" y="1742058"/>
            <a:ext cx="3715926" cy="33080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11226" y="1184047"/>
            <a:ext cx="4769556" cy="489364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/>
              <a:t>Load as </a:t>
            </a:r>
            <a:r>
              <a:rPr lang="en-US" sz="2400" i="1" dirty="0"/>
              <a:t>much as you can </a:t>
            </a:r>
            <a:r>
              <a:rPr lang="en-US" sz="2400" dirty="0"/>
              <a:t>into memory (S) and do an </a:t>
            </a:r>
            <a:r>
              <a:rPr lang="en-US" sz="2400" i="1" dirty="0"/>
              <a:t>in-memory sort</a:t>
            </a:r>
            <a:r>
              <a:rPr lang="en-US" sz="2400" dirty="0"/>
              <a:t> [usually quicksort].</a:t>
            </a:r>
          </a:p>
          <a:p>
            <a:pPr marL="285750" indent="-285750">
              <a:buFont typeface="Arial"/>
              <a:buChar char="•"/>
            </a:pP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If you have more to do, then </a:t>
            </a:r>
            <a:r>
              <a:rPr lang="en-US" sz="2400" b="1" dirty="0"/>
              <a:t>spill</a:t>
            </a:r>
            <a:r>
              <a:rPr lang="en-US" sz="2400" dirty="0"/>
              <a:t> this sorted buffer out on to disk, and get more data…</a:t>
            </a:r>
          </a:p>
          <a:p>
            <a:pPr marL="285750" indent="-285750">
              <a:buFont typeface="Arial"/>
              <a:buChar char="•"/>
            </a:pP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Finally, </a:t>
            </a:r>
            <a:r>
              <a:rPr lang="en-US" sz="2400" b="1" dirty="0"/>
              <a:t>merge</a:t>
            </a:r>
            <a:r>
              <a:rPr lang="en-US" sz="2400" dirty="0"/>
              <a:t> your spill buffers.</a:t>
            </a:r>
          </a:p>
          <a:p>
            <a:pPr marL="285750" indent="-285750">
              <a:buFont typeface="Arial"/>
              <a:buChar char="•"/>
            </a:pP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O(n log</a:t>
            </a:r>
            <a:r>
              <a:rPr lang="en-US" sz="2400" baseline="-25000" dirty="0"/>
              <a:t> </a:t>
            </a:r>
            <a:r>
              <a:rPr lang="en-US" sz="2400" dirty="0"/>
              <a:t> n/S) – runs being merged are size S</a:t>
            </a: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495300" y="2831630"/>
            <a:ext cx="3314700" cy="94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495300" y="4254030"/>
            <a:ext cx="3314700" cy="94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ouble Bracket 7"/>
          <p:cNvSpPr/>
          <p:nvPr/>
        </p:nvSpPr>
        <p:spPr>
          <a:xfrm>
            <a:off x="0" y="118773"/>
            <a:ext cx="9054913" cy="6642153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9" name="Picture 2" descr="Merge sort - Wikipedia">
            <a:extLst>
              <a:ext uri="{FF2B5EF4-FFF2-40B4-BE49-F238E27FC236}">
                <a16:creationId xmlns:a16="http://schemas.microsoft.com/office/drawing/2014/main" id="{59CB3700-D75E-A27C-7518-7EDAB92E49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28" t="75474" r="16153"/>
          <a:stretch/>
        </p:blipFill>
        <p:spPr bwMode="auto">
          <a:xfrm>
            <a:off x="723900" y="5127057"/>
            <a:ext cx="3487326" cy="1438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5415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5A177-C5E1-9D40-141D-650A644FE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4D984-EB11-9C3F-6889-5E21032D0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Large-vocabulary word count with sorting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F908AA-0331-9F26-5788-6632DEFBC9BD}"/>
              </a:ext>
            </a:extLst>
          </p:cNvPr>
          <p:cNvSpPr txBox="1"/>
          <p:nvPr/>
        </p:nvSpPr>
        <p:spPr>
          <a:xfrm>
            <a:off x="457200" y="1685925"/>
            <a:ext cx="1714500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doc 1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doc 2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doc 3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….</a:t>
            </a:r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5C6895DF-6D9D-3F04-6CD1-AD013818669B}"/>
              </a:ext>
            </a:extLst>
          </p:cNvPr>
          <p:cNvSpPr/>
          <p:nvPr/>
        </p:nvSpPr>
        <p:spPr>
          <a:xfrm>
            <a:off x="1190625" y="3028950"/>
            <a:ext cx="342900" cy="61912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BED44DE-1A18-455C-3DE5-B0013F77AAC5}"/>
              </a:ext>
            </a:extLst>
          </p:cNvPr>
          <p:cNvSpPr/>
          <p:nvPr/>
        </p:nvSpPr>
        <p:spPr>
          <a:xfrm>
            <a:off x="457200" y="3829050"/>
            <a:ext cx="1885950" cy="78105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Counting logic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5B564CE-B1F4-A676-B9D9-E0F866F0AF23}"/>
              </a:ext>
            </a:extLst>
          </p:cNvPr>
          <p:cNvCxnSpPr>
            <a:cxnSpLocks/>
          </p:cNvCxnSpPr>
          <p:nvPr/>
        </p:nvCxnSpPr>
        <p:spPr>
          <a:xfrm>
            <a:off x="2609850" y="4210050"/>
            <a:ext cx="180975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31AFB371-86BE-52D1-3810-7722871DCBAF}"/>
              </a:ext>
            </a:extLst>
          </p:cNvPr>
          <p:cNvSpPr/>
          <p:nvPr/>
        </p:nvSpPr>
        <p:spPr>
          <a:xfrm>
            <a:off x="219075" y="1238250"/>
            <a:ext cx="2257425" cy="4719637"/>
          </a:xfrm>
          <a:prstGeom prst="rect">
            <a:avLst/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C05D1B-B830-F12A-A276-4A565B317A42}"/>
              </a:ext>
            </a:extLst>
          </p:cNvPr>
          <p:cNvSpPr txBox="1"/>
          <p:nvPr/>
        </p:nvSpPr>
        <p:spPr>
          <a:xfrm>
            <a:off x="864309" y="5494377"/>
            <a:ext cx="808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Pass 1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9E0E6C5-CC48-25A1-9D57-CC634446FBA2}"/>
              </a:ext>
            </a:extLst>
          </p:cNvPr>
          <p:cNvSpPr/>
          <p:nvPr/>
        </p:nvSpPr>
        <p:spPr>
          <a:xfrm rot="16200000">
            <a:off x="2854844" y="3838059"/>
            <a:ext cx="3479800" cy="35028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Sort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0AA253-30FE-44C9-A4CD-7C9EB0DA5A9B}"/>
              </a:ext>
            </a:extLst>
          </p:cNvPr>
          <p:cNvSpPr txBox="1"/>
          <p:nvPr/>
        </p:nvSpPr>
        <p:spPr>
          <a:xfrm>
            <a:off x="6076950" y="1685925"/>
            <a:ext cx="1714500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ctr[w1] += 1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ctr[w1] += 1	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….</a:t>
            </a:r>
          </a:p>
        </p:txBody>
      </p:sp>
      <p:sp>
        <p:nvSpPr>
          <p:cNvPr id="27" name="Down Arrow 26">
            <a:extLst>
              <a:ext uri="{FF2B5EF4-FFF2-40B4-BE49-F238E27FC236}">
                <a16:creationId xmlns:a16="http://schemas.microsoft.com/office/drawing/2014/main" id="{BB46B980-8BC8-9B22-7A9E-9A5193E97E00}"/>
              </a:ext>
            </a:extLst>
          </p:cNvPr>
          <p:cNvSpPr/>
          <p:nvPr/>
        </p:nvSpPr>
        <p:spPr>
          <a:xfrm>
            <a:off x="6810375" y="2748260"/>
            <a:ext cx="342900" cy="61912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5377B8E-969E-D084-A905-73C12A7F4A82}"/>
              </a:ext>
            </a:extLst>
          </p:cNvPr>
          <p:cNvSpPr/>
          <p:nvPr/>
        </p:nvSpPr>
        <p:spPr>
          <a:xfrm>
            <a:off x="6076950" y="3397250"/>
            <a:ext cx="1885950" cy="121285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Logic to process messages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4DDFF74-D629-4FC7-E721-EAD34BE6BF90}"/>
              </a:ext>
            </a:extLst>
          </p:cNvPr>
          <p:cNvSpPr/>
          <p:nvPr/>
        </p:nvSpPr>
        <p:spPr>
          <a:xfrm>
            <a:off x="5838825" y="1238250"/>
            <a:ext cx="2257425" cy="4719637"/>
          </a:xfrm>
          <a:prstGeom prst="rect">
            <a:avLst/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27E0A7-2B6A-4793-733C-B9CFB6A6C462}"/>
              </a:ext>
            </a:extLst>
          </p:cNvPr>
          <p:cNvSpPr txBox="1"/>
          <p:nvPr/>
        </p:nvSpPr>
        <p:spPr>
          <a:xfrm>
            <a:off x="6577707" y="5526385"/>
            <a:ext cx="808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Pass 2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A62986B-3B69-3392-86D7-FBDA14AB5CA6}"/>
              </a:ext>
            </a:extLst>
          </p:cNvPr>
          <p:cNvCxnSpPr/>
          <p:nvPr/>
        </p:nvCxnSpPr>
        <p:spPr>
          <a:xfrm flipV="1">
            <a:off x="4817507" y="2106612"/>
            <a:ext cx="970518" cy="92233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4FAE372-60FF-186B-97D9-5AD7E0A6ED3D}"/>
              </a:ext>
            </a:extLst>
          </p:cNvPr>
          <p:cNvSpPr txBox="1"/>
          <p:nvPr/>
        </p:nvSpPr>
        <p:spPr>
          <a:xfrm>
            <a:off x="4015409" y="5863709"/>
            <a:ext cx="93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Sorting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4B6AEB-4FEA-F8A3-6CE1-12A3BEE4D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1742B5-638E-5EC0-3F50-9B16315E0BC8}"/>
              </a:ext>
            </a:extLst>
          </p:cNvPr>
          <p:cNvSpPr txBox="1"/>
          <p:nvPr/>
        </p:nvSpPr>
        <p:spPr>
          <a:xfrm>
            <a:off x="2493732" y="3036433"/>
            <a:ext cx="170180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“ctr[w1] +=1”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8BA7C7-DED5-0E93-95B6-909D15AAE813}"/>
              </a:ext>
            </a:extLst>
          </p:cNvPr>
          <p:cNvSpPr txBox="1"/>
          <p:nvPr/>
        </p:nvSpPr>
        <p:spPr>
          <a:xfrm>
            <a:off x="2690582" y="3338512"/>
            <a:ext cx="163195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“ctr[w2] +=1”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C36EDD-1768-5088-0B58-0557B8423746}"/>
              </a:ext>
            </a:extLst>
          </p:cNvPr>
          <p:cNvSpPr txBox="1"/>
          <p:nvPr/>
        </p:nvSpPr>
        <p:spPr>
          <a:xfrm>
            <a:off x="2929134" y="365605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182577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54083-005F-BED6-D0F9-C1ED52289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Large-vocabulary word 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D3994-F566-5D46-5E2D-2D7B5E917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# first pass - put one word on each line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with open(tmp_file1, 'w') as tmp_fp1: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line in open(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input_file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words = [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tok.lower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for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tok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re.findall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('\w+', line)]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for word in words: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tmp_fp1.write(f'{word}\n')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# sort the words, so we have runs of identical words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sh.Command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('/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/bin/sort')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(tmp_file1, _out=tmp_file2)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B6C5DB-75D9-FC20-E6F8-3202F4420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3416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C3F47-4FCC-BA46-85C2-AB36769B3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C89A5-4FD0-E30E-F028-021BF9478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Large-vocabulary word 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E043E-C873-914D-7A66-26D126043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# first pass - put one word on each line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with open(tmp_file1, 'w') as tmp_fp1: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line in open(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input_file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words = [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tok.lower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for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tok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re.findall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('\w+', line)]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for word in words: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	  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making the `message` more explicit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tmp_fp1.write(word + ` ` + `1` + `\n`)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# sort the words, so we have runs of identical words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sh.Command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('/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/bin/sort')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cmd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(`-k1`, tmp_file1, _out=tmp_file2)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BCE29-5459-315D-A8C3-7922BB7B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138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C6632-FB08-2472-A39F-66C07F3B4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F8B29-465A-3B49-6F30-397D871AD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Large-vocabulary word 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32198-C1B5-708A-00F3-0CCC24DD1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# second pass - count length of each run of identical words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with open(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output_file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'w') as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out_fp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def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flush_and_empty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(ctr):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for word, count in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ctr.items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out_fp.write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(f'{count}\t{word}\n')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return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collections.Counter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ctr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collections.Counter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line in open(tmp_file2):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word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line.rstrip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if word not in ctr: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# we're starting a new run of identical words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# so output the count for the last run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ctr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flush_and_empty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(ctr)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ctr[word] += 1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# output counts for the last run of words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flush_and_empty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(ctr)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DD5FD-09DF-F77A-275B-2F71143A7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C3A2D4-9C6D-406D-127E-E478D1EF7A9F}"/>
              </a:ext>
            </a:extLst>
          </p:cNvPr>
          <p:cNvSpPr txBox="1"/>
          <p:nvPr/>
        </p:nvSpPr>
        <p:spPr>
          <a:xfrm>
            <a:off x="7613650" y="1257300"/>
            <a:ext cx="2628900" cy="50475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err="1"/>
              <a:t>findall</a:t>
            </a:r>
            <a:endParaRPr lang="en-US" sz="1400" dirty="0"/>
          </a:p>
          <a:p>
            <a:r>
              <a:rPr lang="en-US" sz="1400" dirty="0"/>
              <a:t>first</a:t>
            </a:r>
          </a:p>
          <a:p>
            <a:r>
              <a:rPr lang="en-US" sz="1400" dirty="0" err="1"/>
              <a:t>flush_and_empty</a:t>
            </a:r>
            <a:endParaRPr lang="en-US" sz="1400" dirty="0"/>
          </a:p>
          <a:p>
            <a:r>
              <a:rPr lang="en-US" sz="1400" dirty="0" err="1"/>
              <a:t>flush_and_empty</a:t>
            </a:r>
            <a:endParaRPr lang="en-US" sz="1400" dirty="0"/>
          </a:p>
          <a:p>
            <a:r>
              <a:rPr lang="en-US" sz="1400" dirty="0" err="1"/>
              <a:t>flush_and_empty</a:t>
            </a:r>
            <a:endParaRPr lang="en-US" sz="1400" dirty="0"/>
          </a:p>
          <a:p>
            <a:r>
              <a:rPr lang="en-US" sz="1400" dirty="0"/>
              <a:t>for</a:t>
            </a:r>
          </a:p>
          <a:p>
            <a:r>
              <a:rPr lang="en-US" sz="1400" dirty="0"/>
              <a:t>for</a:t>
            </a:r>
          </a:p>
          <a:p>
            <a:r>
              <a:rPr lang="en-US" sz="1400" dirty="0"/>
              <a:t>for</a:t>
            </a:r>
          </a:p>
          <a:p>
            <a:r>
              <a:rPr lang="en-US" sz="1400" dirty="0"/>
              <a:t>for</a:t>
            </a:r>
          </a:p>
          <a:p>
            <a:r>
              <a:rPr lang="en-US" sz="1400" dirty="0"/>
              <a:t>for</a:t>
            </a:r>
          </a:p>
          <a:p>
            <a:r>
              <a:rPr lang="en-US" sz="1400" dirty="0"/>
              <a:t>identical</a:t>
            </a:r>
          </a:p>
          <a:p>
            <a:r>
              <a:rPr lang="en-US" sz="1400" dirty="0"/>
              <a:t>if</a:t>
            </a:r>
          </a:p>
          <a:p>
            <a:r>
              <a:rPr lang="en-US" sz="1400" dirty="0"/>
              <a:t>if</a:t>
            </a:r>
          </a:p>
          <a:p>
            <a:r>
              <a:rPr lang="en-US" sz="1400" dirty="0"/>
              <a:t>import</a:t>
            </a:r>
          </a:p>
          <a:p>
            <a:r>
              <a:rPr lang="en-US" sz="1400" dirty="0"/>
              <a:t>import</a:t>
            </a:r>
          </a:p>
          <a:p>
            <a:r>
              <a:rPr lang="en-US" sz="1400" dirty="0"/>
              <a:t>import</a:t>
            </a:r>
          </a:p>
          <a:p>
            <a:r>
              <a:rPr lang="en-US" sz="1400" dirty="0"/>
              <a:t>import</a:t>
            </a:r>
          </a:p>
          <a:p>
            <a:r>
              <a:rPr lang="en-US" sz="1400" dirty="0"/>
              <a:t>in</a:t>
            </a:r>
          </a:p>
          <a:p>
            <a:r>
              <a:rPr lang="en-US" sz="1400" dirty="0"/>
              <a:t>in</a:t>
            </a:r>
          </a:p>
          <a:p>
            <a:r>
              <a:rPr lang="en-US" sz="1400" dirty="0"/>
              <a:t>in</a:t>
            </a:r>
          </a:p>
          <a:p>
            <a:r>
              <a:rPr lang="en-US" sz="1400" dirty="0"/>
              <a:t>in</a:t>
            </a:r>
          </a:p>
          <a:p>
            <a:r>
              <a:rPr lang="en-US" sz="1400" dirty="0"/>
              <a:t>in</a:t>
            </a:r>
          </a:p>
          <a:p>
            <a:r>
              <a:rPr lang="en-US" sz="1400" dirty="0"/>
              <a:t>in</a:t>
            </a:r>
          </a:p>
        </p:txBody>
      </p:sp>
    </p:spTree>
    <p:extLst>
      <p:ext uri="{BB962C8B-B14F-4D97-AF65-F5344CB8AC3E}">
        <p14:creationId xmlns:p14="http://schemas.microsoft.com/office/powerpoint/2010/main" val="1292210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9434C-24DD-4AF2-27B2-5651CBAB0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3AECA-2E64-1754-6989-C525DA286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Large-vocabulary word 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A62A0-8C73-6650-F19A-453FCE231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# second pass - count length of each run of identical words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with open(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output_file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'w') as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out_fp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def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flush_and_empty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(ctr):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for word, count in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ctr.items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out_fp.write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(f'{count}\t{word}\n')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return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collections.Counter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ctr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collections.Counter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line in open(tmp_file2):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			word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line.rstrip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if word not in ctr: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# we're starting a new run of identical words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(ctr) &gt;= MAX_CTR_SIZE: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	ctr = </a:t>
            </a:r>
            <a:r>
              <a:rPr lang="en-U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flush_and_empty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(ctr)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ctr[word] += 1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# output counts for the last run of words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flush_and_empty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(ctr)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3163E-3559-A777-B42C-CA9CE2177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3FF908-1C5D-97C6-3985-AC7FEAD1B64D}"/>
              </a:ext>
            </a:extLst>
          </p:cNvPr>
          <p:cNvSpPr txBox="1"/>
          <p:nvPr/>
        </p:nvSpPr>
        <p:spPr>
          <a:xfrm>
            <a:off x="7613650" y="1257300"/>
            <a:ext cx="2628900" cy="50475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err="1"/>
              <a:t>findall</a:t>
            </a:r>
            <a:endParaRPr lang="en-US" sz="1400" dirty="0"/>
          </a:p>
          <a:p>
            <a:r>
              <a:rPr lang="en-US" sz="1400" dirty="0"/>
              <a:t>first</a:t>
            </a:r>
          </a:p>
          <a:p>
            <a:r>
              <a:rPr lang="en-US" sz="1400" dirty="0" err="1"/>
              <a:t>flush_and_empty</a:t>
            </a:r>
            <a:endParaRPr lang="en-US" sz="1400" dirty="0"/>
          </a:p>
          <a:p>
            <a:r>
              <a:rPr lang="en-US" sz="1400" dirty="0" err="1"/>
              <a:t>flush_and_empty</a:t>
            </a:r>
            <a:endParaRPr lang="en-US" sz="1400" dirty="0"/>
          </a:p>
          <a:p>
            <a:r>
              <a:rPr lang="en-US" sz="1400" dirty="0" err="1"/>
              <a:t>flush_and_empty</a:t>
            </a:r>
            <a:endParaRPr lang="en-US" sz="1400" dirty="0"/>
          </a:p>
          <a:p>
            <a:r>
              <a:rPr lang="en-US" sz="1400" dirty="0"/>
              <a:t>for</a:t>
            </a:r>
          </a:p>
          <a:p>
            <a:r>
              <a:rPr lang="en-US" sz="1400" dirty="0"/>
              <a:t>for</a:t>
            </a:r>
          </a:p>
          <a:p>
            <a:r>
              <a:rPr lang="en-US" sz="1400" dirty="0"/>
              <a:t>for</a:t>
            </a:r>
          </a:p>
          <a:p>
            <a:r>
              <a:rPr lang="en-US" sz="1400" dirty="0"/>
              <a:t>for</a:t>
            </a:r>
          </a:p>
          <a:p>
            <a:r>
              <a:rPr lang="en-US" sz="1400" dirty="0"/>
              <a:t>for</a:t>
            </a:r>
          </a:p>
          <a:p>
            <a:r>
              <a:rPr lang="en-US" sz="1400" dirty="0"/>
              <a:t>identical</a:t>
            </a:r>
          </a:p>
          <a:p>
            <a:r>
              <a:rPr lang="en-US" sz="1400" dirty="0"/>
              <a:t>if</a:t>
            </a:r>
          </a:p>
          <a:p>
            <a:r>
              <a:rPr lang="en-US" sz="1400" dirty="0"/>
              <a:t>if</a:t>
            </a:r>
          </a:p>
          <a:p>
            <a:r>
              <a:rPr lang="en-US" sz="1400" dirty="0"/>
              <a:t>import</a:t>
            </a:r>
          </a:p>
          <a:p>
            <a:r>
              <a:rPr lang="en-US" sz="1400" dirty="0"/>
              <a:t>import</a:t>
            </a:r>
          </a:p>
          <a:p>
            <a:r>
              <a:rPr lang="en-US" sz="1400" dirty="0"/>
              <a:t>import</a:t>
            </a:r>
          </a:p>
          <a:p>
            <a:r>
              <a:rPr lang="en-US" sz="1400" dirty="0"/>
              <a:t>import</a:t>
            </a:r>
          </a:p>
          <a:p>
            <a:r>
              <a:rPr lang="en-US" sz="1400" dirty="0"/>
              <a:t>in</a:t>
            </a:r>
          </a:p>
          <a:p>
            <a:r>
              <a:rPr lang="en-US" sz="1400" dirty="0"/>
              <a:t>in</a:t>
            </a:r>
          </a:p>
          <a:p>
            <a:r>
              <a:rPr lang="en-US" sz="1400" dirty="0"/>
              <a:t>in</a:t>
            </a:r>
          </a:p>
          <a:p>
            <a:r>
              <a:rPr lang="en-US" sz="1400" dirty="0"/>
              <a:t>in</a:t>
            </a:r>
          </a:p>
          <a:p>
            <a:r>
              <a:rPr lang="en-US" sz="1400" dirty="0"/>
              <a:t>in</a:t>
            </a:r>
          </a:p>
          <a:p>
            <a:r>
              <a:rPr lang="en-US" sz="1400" dirty="0"/>
              <a:t>in</a:t>
            </a:r>
          </a:p>
        </p:txBody>
      </p:sp>
    </p:spTree>
    <p:extLst>
      <p:ext uri="{BB962C8B-B14F-4D97-AF65-F5344CB8AC3E}">
        <p14:creationId xmlns:p14="http://schemas.microsoft.com/office/powerpoint/2010/main" val="3916169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18604-5B6A-A76E-BC50-D6106AC18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8925-9BDE-9BF2-C59E-B5AEF25E5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Large-vocabulary word 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EAA1A-F903-F162-6F0C-F8851DAF4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# second pass - count length of each run of identical words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with open(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output_file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'w') as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out_fp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def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flush_and_empty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(ctr):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for word, count in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ctr.items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out_fp.write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(f'{count}\t{word}\n')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return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collections.Counter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ctr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collections.Counter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line in open(tmp_file2):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word, delta =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parse_message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(line)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if word not in ctr: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# we're starting a new run of identical words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			 ctr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flush_and_empty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(ctr)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ctr[word] += delta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# output counts for the last run of words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flush_and_empty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(ctr)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72E0D4-7B71-D2F6-3095-54EF4462C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4F701A-2279-3992-B8FC-5782B811E7D1}"/>
              </a:ext>
            </a:extLst>
          </p:cNvPr>
          <p:cNvSpPr txBox="1"/>
          <p:nvPr/>
        </p:nvSpPr>
        <p:spPr>
          <a:xfrm>
            <a:off x="7613650" y="1257300"/>
            <a:ext cx="2628900" cy="50475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err="1"/>
              <a:t>findall</a:t>
            </a:r>
            <a:r>
              <a:rPr lang="en-US" sz="1400" dirty="0"/>
              <a:t> 1</a:t>
            </a:r>
          </a:p>
          <a:p>
            <a:r>
              <a:rPr lang="en-US" sz="1400" dirty="0"/>
              <a:t>first 1</a:t>
            </a:r>
          </a:p>
          <a:p>
            <a:r>
              <a:rPr lang="en-US" sz="1400" dirty="0" err="1"/>
              <a:t>flush_and_empty</a:t>
            </a:r>
            <a:r>
              <a:rPr lang="en-US" sz="1400" dirty="0"/>
              <a:t> 1</a:t>
            </a:r>
          </a:p>
          <a:p>
            <a:r>
              <a:rPr lang="en-US" sz="1400" dirty="0" err="1"/>
              <a:t>flush_and_empty</a:t>
            </a:r>
            <a:r>
              <a:rPr lang="en-US" sz="1400" dirty="0"/>
              <a:t> 1</a:t>
            </a:r>
          </a:p>
          <a:p>
            <a:r>
              <a:rPr lang="en-US" sz="1400" dirty="0" err="1"/>
              <a:t>flush_and_empty</a:t>
            </a:r>
            <a:r>
              <a:rPr lang="en-US" sz="1400" dirty="0"/>
              <a:t> 1</a:t>
            </a:r>
          </a:p>
          <a:p>
            <a:r>
              <a:rPr lang="en-US" sz="1400" dirty="0"/>
              <a:t>for 1</a:t>
            </a:r>
          </a:p>
          <a:p>
            <a:r>
              <a:rPr lang="en-US" sz="1400" dirty="0"/>
              <a:t>for 1</a:t>
            </a:r>
          </a:p>
          <a:p>
            <a:r>
              <a:rPr lang="en-US" sz="1400" dirty="0"/>
              <a:t>for 1</a:t>
            </a:r>
          </a:p>
          <a:p>
            <a:r>
              <a:rPr lang="en-US" sz="1400" dirty="0"/>
              <a:t>for 1</a:t>
            </a:r>
          </a:p>
          <a:p>
            <a:r>
              <a:rPr lang="en-US" sz="1400" dirty="0"/>
              <a:t>for 1</a:t>
            </a:r>
          </a:p>
          <a:p>
            <a:r>
              <a:rPr lang="en-US" sz="1400" dirty="0"/>
              <a:t>identical 1</a:t>
            </a:r>
          </a:p>
          <a:p>
            <a:r>
              <a:rPr lang="en-US" sz="1400" dirty="0"/>
              <a:t>if 1</a:t>
            </a:r>
          </a:p>
          <a:p>
            <a:r>
              <a:rPr lang="en-US" sz="1400" dirty="0"/>
              <a:t>if 1</a:t>
            </a:r>
          </a:p>
          <a:p>
            <a:r>
              <a:rPr lang="en-US" sz="1400" dirty="0"/>
              <a:t>import 1</a:t>
            </a:r>
          </a:p>
          <a:p>
            <a:r>
              <a:rPr lang="en-US" sz="1400" dirty="0"/>
              <a:t>import 1</a:t>
            </a:r>
          </a:p>
          <a:p>
            <a:r>
              <a:rPr lang="en-US" sz="1400" dirty="0"/>
              <a:t>import 1</a:t>
            </a:r>
          </a:p>
          <a:p>
            <a:r>
              <a:rPr lang="en-US" sz="1400" dirty="0"/>
              <a:t>import 1</a:t>
            </a:r>
          </a:p>
          <a:p>
            <a:r>
              <a:rPr lang="en-US" sz="1400" dirty="0"/>
              <a:t>in 1</a:t>
            </a:r>
          </a:p>
          <a:p>
            <a:r>
              <a:rPr lang="en-US" sz="1400" dirty="0"/>
              <a:t>in 1</a:t>
            </a:r>
          </a:p>
          <a:p>
            <a:r>
              <a:rPr lang="en-US" sz="1400" dirty="0"/>
              <a:t>in 1</a:t>
            </a:r>
          </a:p>
          <a:p>
            <a:r>
              <a:rPr lang="en-US" sz="1400" dirty="0"/>
              <a:t>in 1</a:t>
            </a:r>
          </a:p>
          <a:p>
            <a:r>
              <a:rPr lang="en-US" sz="1400" dirty="0"/>
              <a:t>in 1</a:t>
            </a:r>
          </a:p>
          <a:p>
            <a:r>
              <a:rPr lang="en-US" sz="1400" dirty="0"/>
              <a:t>in 1</a:t>
            </a:r>
          </a:p>
        </p:txBody>
      </p:sp>
    </p:spTree>
    <p:extLst>
      <p:ext uri="{BB962C8B-B14F-4D97-AF65-F5344CB8AC3E}">
        <p14:creationId xmlns:p14="http://schemas.microsoft.com/office/powerpoint/2010/main" val="14915142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Parallelizing Stream And Sort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1091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A3343-C152-3B19-6FAE-9D1419DE9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0BAF-9313-536A-A19E-87A172238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Next step:</a:t>
            </a:r>
            <a:br>
              <a:rPr lang="en-US" sz="2400" dirty="0"/>
            </a:br>
            <a:r>
              <a:rPr lang="en-US" sz="2400" dirty="0"/>
              <a:t>Doing ”Stream and Sort” In Parallel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51F691-8470-92EF-9CDE-CFABDEDC7011}"/>
              </a:ext>
            </a:extLst>
          </p:cNvPr>
          <p:cNvSpPr txBox="1"/>
          <p:nvPr/>
        </p:nvSpPr>
        <p:spPr>
          <a:xfrm>
            <a:off x="457200" y="1685925"/>
            <a:ext cx="1714500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doc 1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doc 2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doc 3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….</a:t>
            </a:r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42E21A52-D3FA-CEEE-851F-2F9ECA4DE07B}"/>
              </a:ext>
            </a:extLst>
          </p:cNvPr>
          <p:cNvSpPr/>
          <p:nvPr/>
        </p:nvSpPr>
        <p:spPr>
          <a:xfrm>
            <a:off x="1190625" y="3028950"/>
            <a:ext cx="342900" cy="61912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84812D1-53E8-0E37-C0B0-2ADC0A2E990F}"/>
              </a:ext>
            </a:extLst>
          </p:cNvPr>
          <p:cNvSpPr/>
          <p:nvPr/>
        </p:nvSpPr>
        <p:spPr>
          <a:xfrm>
            <a:off x="457200" y="3829050"/>
            <a:ext cx="1885950" cy="78105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Counting logic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1C6F6EE-E69A-7AF9-865A-DD5A3359F29E}"/>
              </a:ext>
            </a:extLst>
          </p:cNvPr>
          <p:cNvCxnSpPr>
            <a:cxnSpLocks/>
          </p:cNvCxnSpPr>
          <p:nvPr/>
        </p:nvCxnSpPr>
        <p:spPr>
          <a:xfrm>
            <a:off x="2609850" y="4210050"/>
            <a:ext cx="180975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7FB4B7A7-7599-7C9B-BD9F-FF11363D0026}"/>
              </a:ext>
            </a:extLst>
          </p:cNvPr>
          <p:cNvSpPr/>
          <p:nvPr/>
        </p:nvSpPr>
        <p:spPr>
          <a:xfrm>
            <a:off x="219075" y="1238250"/>
            <a:ext cx="2257425" cy="4719637"/>
          </a:xfrm>
          <a:prstGeom prst="rect">
            <a:avLst/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2766A6-77EE-0404-B57C-3554FAF97E89}"/>
              </a:ext>
            </a:extLst>
          </p:cNvPr>
          <p:cNvSpPr txBox="1"/>
          <p:nvPr/>
        </p:nvSpPr>
        <p:spPr>
          <a:xfrm>
            <a:off x="864309" y="5494377"/>
            <a:ext cx="808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Pass 1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36ED5521-DEC5-D4BA-6E8B-6A7017F66223}"/>
              </a:ext>
            </a:extLst>
          </p:cNvPr>
          <p:cNvSpPr/>
          <p:nvPr/>
        </p:nvSpPr>
        <p:spPr>
          <a:xfrm rot="16200000">
            <a:off x="2854844" y="3838059"/>
            <a:ext cx="3479800" cy="35028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Sort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90F378-9514-149C-FD1A-3CE0FD4C000A}"/>
              </a:ext>
            </a:extLst>
          </p:cNvPr>
          <p:cNvSpPr txBox="1"/>
          <p:nvPr/>
        </p:nvSpPr>
        <p:spPr>
          <a:xfrm>
            <a:off x="6076950" y="1685925"/>
            <a:ext cx="1714500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ctr[w1] += 1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ctr[w1] += 1	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….</a:t>
            </a:r>
          </a:p>
        </p:txBody>
      </p:sp>
      <p:sp>
        <p:nvSpPr>
          <p:cNvPr id="27" name="Down Arrow 26">
            <a:extLst>
              <a:ext uri="{FF2B5EF4-FFF2-40B4-BE49-F238E27FC236}">
                <a16:creationId xmlns:a16="http://schemas.microsoft.com/office/drawing/2014/main" id="{5AE40800-FE8F-787E-823E-A987D297D5F5}"/>
              </a:ext>
            </a:extLst>
          </p:cNvPr>
          <p:cNvSpPr/>
          <p:nvPr/>
        </p:nvSpPr>
        <p:spPr>
          <a:xfrm>
            <a:off x="6810375" y="2748260"/>
            <a:ext cx="342900" cy="61912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DFF1E2B8-6298-B2CB-EDFD-EDA2B79EE2FC}"/>
              </a:ext>
            </a:extLst>
          </p:cNvPr>
          <p:cNvSpPr/>
          <p:nvPr/>
        </p:nvSpPr>
        <p:spPr>
          <a:xfrm>
            <a:off x="6076950" y="3397250"/>
            <a:ext cx="1885950" cy="121285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Logic to process messages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744945A-49B8-C694-3FD7-2813DF1A3382}"/>
              </a:ext>
            </a:extLst>
          </p:cNvPr>
          <p:cNvSpPr/>
          <p:nvPr/>
        </p:nvSpPr>
        <p:spPr>
          <a:xfrm>
            <a:off x="5838825" y="1238250"/>
            <a:ext cx="2257425" cy="4719637"/>
          </a:xfrm>
          <a:prstGeom prst="rect">
            <a:avLst/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614032-C24F-2C75-1C65-2CA46953EAF8}"/>
              </a:ext>
            </a:extLst>
          </p:cNvPr>
          <p:cNvSpPr txBox="1"/>
          <p:nvPr/>
        </p:nvSpPr>
        <p:spPr>
          <a:xfrm>
            <a:off x="6577707" y="5526385"/>
            <a:ext cx="808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Pass 2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5A4679D-1062-F2ED-CDC5-DBE26DFBA528}"/>
              </a:ext>
            </a:extLst>
          </p:cNvPr>
          <p:cNvCxnSpPr/>
          <p:nvPr/>
        </p:nvCxnSpPr>
        <p:spPr>
          <a:xfrm flipV="1">
            <a:off x="4817507" y="2106612"/>
            <a:ext cx="970518" cy="92233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13EC545-216B-C99E-36F0-0AB760E61B06}"/>
              </a:ext>
            </a:extLst>
          </p:cNvPr>
          <p:cNvSpPr txBox="1"/>
          <p:nvPr/>
        </p:nvSpPr>
        <p:spPr>
          <a:xfrm>
            <a:off x="4015409" y="5863709"/>
            <a:ext cx="93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Sorting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6562CC-CB1D-68F8-1326-0D3595AB7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FD351D-442B-F418-FDE7-E8FACAA237BB}"/>
              </a:ext>
            </a:extLst>
          </p:cNvPr>
          <p:cNvSpPr txBox="1"/>
          <p:nvPr/>
        </p:nvSpPr>
        <p:spPr>
          <a:xfrm>
            <a:off x="2493732" y="3036433"/>
            <a:ext cx="170180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“ctr[w1] +=1”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823BBD-A5A4-1231-A786-C23598BEEEF1}"/>
              </a:ext>
            </a:extLst>
          </p:cNvPr>
          <p:cNvSpPr txBox="1"/>
          <p:nvPr/>
        </p:nvSpPr>
        <p:spPr>
          <a:xfrm>
            <a:off x="2690582" y="3338512"/>
            <a:ext cx="163195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“ctr[w2] +=1”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8317C6-ED09-8224-56E3-FD709C36E9A2}"/>
              </a:ext>
            </a:extLst>
          </p:cNvPr>
          <p:cNvSpPr txBox="1"/>
          <p:nvPr/>
        </p:nvSpPr>
        <p:spPr>
          <a:xfrm>
            <a:off x="2929134" y="365605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2968D19-97F7-0BB9-AFB6-089EB66EF5AC}"/>
              </a:ext>
            </a:extLst>
          </p:cNvPr>
          <p:cNvGrpSpPr/>
          <p:nvPr/>
        </p:nvGrpSpPr>
        <p:grpSpPr>
          <a:xfrm>
            <a:off x="342032" y="6217177"/>
            <a:ext cx="7754218" cy="702553"/>
            <a:chOff x="342032" y="6217177"/>
            <a:chExt cx="7754218" cy="70255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CE051D0-5B0F-3191-FE66-B3CA4253DACC}"/>
                </a:ext>
              </a:extLst>
            </p:cNvPr>
            <p:cNvSpPr txBox="1"/>
            <p:nvPr/>
          </p:nvSpPr>
          <p:spPr>
            <a:xfrm>
              <a:off x="342032" y="6262448"/>
              <a:ext cx="21162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Easy to parallelize!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BB176AF-24C3-FCA0-D2BC-B14B1DA3F8ED}"/>
                </a:ext>
              </a:extLst>
            </p:cNvPr>
            <p:cNvSpPr txBox="1"/>
            <p:nvPr/>
          </p:nvSpPr>
          <p:spPr>
            <a:xfrm>
              <a:off x="5617029" y="6217177"/>
              <a:ext cx="247922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Easy to parallelize </a:t>
              </a:r>
            </a:p>
            <a:p>
              <a:pPr algn="ctr"/>
              <a:r>
                <a:rPr lang="en-US" dirty="0"/>
                <a:t>if routed carefully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86C8BA2-70B7-DC38-B31C-AC94016B5CFD}"/>
                </a:ext>
              </a:extLst>
            </p:cNvPr>
            <p:cNvSpPr txBox="1"/>
            <p:nvPr/>
          </p:nvSpPr>
          <p:spPr>
            <a:xfrm>
              <a:off x="2929134" y="6273399"/>
              <a:ext cx="268789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Also </a:t>
              </a:r>
              <a:r>
                <a:rPr lang="en-US" i="1" dirty="0"/>
                <a:t>route</a:t>
              </a:r>
              <a:r>
                <a:rPr lang="en-US" dirty="0"/>
                <a:t> messages to the “right” machine</a:t>
              </a:r>
            </a:p>
          </p:txBody>
        </p: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850E70-1AEC-1E9E-6C6D-72D4ABC6A1FA}"/>
              </a:ext>
            </a:extLst>
          </p:cNvPr>
          <p:cNvCxnSpPr/>
          <p:nvPr/>
        </p:nvCxnSpPr>
        <p:spPr>
          <a:xfrm>
            <a:off x="0" y="6217177"/>
            <a:ext cx="914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7767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sym typeface="Wingdings" pitchFamily="2" charset="2"/>
              </a:rPr>
              <a:t>Stream and Sort Counting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itchFamily="2" charset="2"/>
              </a:rPr>
              <a:t> Distributed Counting</a:t>
            </a:r>
            <a:endParaRPr lang="en-US" sz="2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685925"/>
            <a:ext cx="1714500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doc 1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doc 2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doc 3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….</a:t>
            </a:r>
          </a:p>
        </p:txBody>
      </p:sp>
      <p:sp>
        <p:nvSpPr>
          <p:cNvPr id="6" name="Down Arrow 5"/>
          <p:cNvSpPr/>
          <p:nvPr/>
        </p:nvSpPr>
        <p:spPr>
          <a:xfrm>
            <a:off x="1190625" y="3028950"/>
            <a:ext cx="342900" cy="61912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457200" y="3829049"/>
            <a:ext cx="1518356" cy="912283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Counting logic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2082035" y="4302831"/>
            <a:ext cx="64135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90626" y="4865511"/>
            <a:ext cx="1369512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“ctr[x] +=d”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245" y="5549384"/>
            <a:ext cx="1757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Pass 1: </a:t>
            </a:r>
            <a:r>
              <a:rPr lang="en-US" b="1" dirty="0"/>
              <a:t>Mapper</a:t>
            </a:r>
          </a:p>
        </p:txBody>
      </p:sp>
      <p:sp>
        <p:nvSpPr>
          <p:cNvPr id="29" name="Rounded Rectangle 28"/>
          <p:cNvSpPr/>
          <p:nvPr/>
        </p:nvSpPr>
        <p:spPr>
          <a:xfrm rot="16200000">
            <a:off x="1836275" y="4467453"/>
            <a:ext cx="2182912" cy="35028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76950" y="1685925"/>
            <a:ext cx="1714500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ctr[x1] += d1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ctr[x1] += d2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….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6810375" y="2748260"/>
            <a:ext cx="342900" cy="61912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/>
          <p:cNvSpPr/>
          <p:nvPr/>
        </p:nvSpPr>
        <p:spPr>
          <a:xfrm>
            <a:off x="6076950" y="3397250"/>
            <a:ext cx="1885950" cy="121285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Logic to combine counter updates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67986" y="5534266"/>
            <a:ext cx="1795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Pass 2: </a:t>
            </a:r>
            <a:r>
              <a:rPr lang="en-US" b="1" dirty="0"/>
              <a:t>Reducer</a:t>
            </a:r>
            <a:endParaRPr lang="en-US" dirty="0"/>
          </a:p>
        </p:txBody>
      </p:sp>
      <p:cxnSp>
        <p:nvCxnSpPr>
          <p:cNvPr id="32" name="Straight Arrow Connector 31"/>
          <p:cNvCxnSpPr/>
          <p:nvPr/>
        </p:nvCxnSpPr>
        <p:spPr>
          <a:xfrm flipV="1">
            <a:off x="4225498" y="1984963"/>
            <a:ext cx="1613327" cy="4513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3136658" y="2609255"/>
            <a:ext cx="503534" cy="89066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3223206" y="3160889"/>
            <a:ext cx="416986" cy="6004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3213324" y="3648075"/>
            <a:ext cx="426868" cy="47378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3217169" y="4392736"/>
            <a:ext cx="423023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3223206" y="4589295"/>
            <a:ext cx="416986" cy="2367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264206" y="4865511"/>
            <a:ext cx="375986" cy="4778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3392229" y="2229556"/>
            <a:ext cx="765845" cy="311677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40192" y="2849212"/>
            <a:ext cx="765845" cy="311677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700007" y="3492236"/>
            <a:ext cx="765845" cy="311677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10000" y="420807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 flipV="1">
            <a:off x="4406037" y="2229556"/>
            <a:ext cx="1524000" cy="8453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V="1">
            <a:off x="4477926" y="2541233"/>
            <a:ext cx="1452111" cy="112478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V="1">
            <a:off x="4386714" y="2748260"/>
            <a:ext cx="1543323" cy="164447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V="1">
            <a:off x="4308280" y="3243361"/>
            <a:ext cx="1543323" cy="187224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 rot="16200000">
            <a:off x="3785962" y="3099381"/>
            <a:ext cx="2671154" cy="35028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Merge Spill Files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704FCC-3B95-A029-8A40-A97CE27581A1}"/>
              </a:ext>
            </a:extLst>
          </p:cNvPr>
          <p:cNvSpPr/>
          <p:nvPr/>
        </p:nvSpPr>
        <p:spPr>
          <a:xfrm>
            <a:off x="219075" y="1238250"/>
            <a:ext cx="4381147" cy="4719637"/>
          </a:xfrm>
          <a:prstGeom prst="rect">
            <a:avLst/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675870-ADA8-6036-0337-CD7A5967D5EB}"/>
              </a:ext>
            </a:extLst>
          </p:cNvPr>
          <p:cNvSpPr/>
          <p:nvPr/>
        </p:nvSpPr>
        <p:spPr>
          <a:xfrm>
            <a:off x="4835407" y="1238250"/>
            <a:ext cx="3260843" cy="4719637"/>
          </a:xfrm>
          <a:prstGeom prst="rect">
            <a:avLst/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6B701A-7FED-A6B7-D0FA-0207793DDF7F}"/>
              </a:ext>
            </a:extLst>
          </p:cNvPr>
          <p:cNvSpPr txBox="1"/>
          <p:nvPr/>
        </p:nvSpPr>
        <p:spPr>
          <a:xfrm>
            <a:off x="3570443" y="6025909"/>
            <a:ext cx="44478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Observation: you can “reduce” in parallel (correctly) if no </a:t>
            </a:r>
            <a:r>
              <a:rPr lang="en-US" b="1" dirty="0"/>
              <a:t>sort key</a:t>
            </a:r>
            <a:r>
              <a:rPr lang="en-US" dirty="0"/>
              <a:t> is split across machines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B8FE0F1-19BD-6A45-EF9D-28EEA59C5231}"/>
              </a:ext>
            </a:extLst>
          </p:cNvPr>
          <p:cNvGrpSpPr/>
          <p:nvPr/>
        </p:nvGrpSpPr>
        <p:grpSpPr>
          <a:xfrm>
            <a:off x="5564630" y="1268015"/>
            <a:ext cx="1341779" cy="1077152"/>
            <a:chOff x="5564630" y="1268015"/>
            <a:chExt cx="1341779" cy="107715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74849B-F519-9A1D-83BB-E5BBAFE5F0DB}"/>
                </a:ext>
              </a:extLst>
            </p:cNvPr>
            <p:cNvSpPr/>
            <p:nvPr/>
          </p:nvSpPr>
          <p:spPr>
            <a:xfrm>
              <a:off x="6153374" y="1685925"/>
              <a:ext cx="753035" cy="65924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BCE6490-8F77-539A-1F2D-14571E844B54}"/>
                </a:ext>
              </a:extLst>
            </p:cNvPr>
            <p:cNvSpPr txBox="1"/>
            <p:nvPr/>
          </p:nvSpPr>
          <p:spPr>
            <a:xfrm>
              <a:off x="5564630" y="1268015"/>
              <a:ext cx="10631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Sort key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9922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sym typeface="Wingdings" pitchFamily="2" charset="2"/>
              </a:rPr>
              <a:t>Stream and Sort Counting </a:t>
            </a:r>
            <a:r>
              <a:rPr lang="en-US" sz="2400" dirty="0">
                <a:solidFill>
                  <a:srgbClr val="95B3D7"/>
                </a:solidFill>
                <a:sym typeface="Wingdings" pitchFamily="2" charset="2"/>
              </a:rPr>
              <a:t> Distributed Counting</a:t>
            </a:r>
            <a:endParaRPr lang="en-US" sz="2400" dirty="0">
              <a:solidFill>
                <a:srgbClr val="95B3D7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685925"/>
            <a:ext cx="1714500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doc 1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doc 2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doc 3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….</a:t>
            </a:r>
          </a:p>
        </p:txBody>
      </p:sp>
      <p:sp>
        <p:nvSpPr>
          <p:cNvPr id="6" name="Down Arrow 5"/>
          <p:cNvSpPr/>
          <p:nvPr/>
        </p:nvSpPr>
        <p:spPr>
          <a:xfrm>
            <a:off x="1190625" y="3028950"/>
            <a:ext cx="342900" cy="61912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457200" y="3829049"/>
            <a:ext cx="1518356" cy="912283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Counting logic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2082035" y="4302831"/>
            <a:ext cx="64135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390974" y="4865511"/>
            <a:ext cx="1169163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“ctr[</a:t>
            </a:r>
            <a:r>
              <a:rPr lang="en-US" sz="1400" i="1" dirty="0"/>
              <a:t>x] +=d”</a:t>
            </a:r>
            <a:endParaRPr lang="en-US" sz="1400" dirty="0"/>
          </a:p>
        </p:txBody>
      </p:sp>
      <p:sp>
        <p:nvSpPr>
          <p:cNvPr id="23" name="Rectangle 22"/>
          <p:cNvSpPr/>
          <p:nvPr/>
        </p:nvSpPr>
        <p:spPr>
          <a:xfrm>
            <a:off x="219075" y="1238250"/>
            <a:ext cx="4381147" cy="4719637"/>
          </a:xfrm>
          <a:prstGeom prst="rect">
            <a:avLst/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630072" y="5526101"/>
            <a:ext cx="1939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Mapper Machine</a:t>
            </a:r>
          </a:p>
        </p:txBody>
      </p:sp>
      <p:sp>
        <p:nvSpPr>
          <p:cNvPr id="29" name="Rounded Rectangle 28"/>
          <p:cNvSpPr/>
          <p:nvPr/>
        </p:nvSpPr>
        <p:spPr>
          <a:xfrm rot="16200000">
            <a:off x="1836275" y="4467453"/>
            <a:ext cx="2182912" cy="35028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Sort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 flipV="1">
            <a:off x="4225498" y="1984963"/>
            <a:ext cx="1613327" cy="4513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3136658" y="2609255"/>
            <a:ext cx="503534" cy="89066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3223206" y="3160889"/>
            <a:ext cx="416986" cy="6004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3213324" y="3648075"/>
            <a:ext cx="426868" cy="47378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3217169" y="4392736"/>
            <a:ext cx="423023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3223206" y="4589295"/>
            <a:ext cx="416986" cy="2367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264206" y="4865511"/>
            <a:ext cx="375986" cy="4778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3392229" y="2229556"/>
            <a:ext cx="765845" cy="311677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40192" y="2849212"/>
            <a:ext cx="765845" cy="311677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700007" y="3492236"/>
            <a:ext cx="765845" cy="311677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10000" y="420807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44" name="Straight Arrow Connector 43"/>
          <p:cNvCxnSpPr>
            <a:endCxn id="58" idx="1"/>
          </p:cNvCxnSpPr>
          <p:nvPr/>
        </p:nvCxnSpPr>
        <p:spPr>
          <a:xfrm flipV="1">
            <a:off x="4406037" y="3054052"/>
            <a:ext cx="1653845" cy="208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4154173" y="3899689"/>
            <a:ext cx="1986921" cy="120911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4308280" y="5115603"/>
            <a:ext cx="1751602" cy="718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20</a:t>
            </a:fld>
            <a:endParaRPr lang="en-US"/>
          </a:p>
        </p:txBody>
      </p:sp>
      <p:grpSp>
        <p:nvGrpSpPr>
          <p:cNvPr id="43" name="Group 42"/>
          <p:cNvGrpSpPr/>
          <p:nvPr/>
        </p:nvGrpSpPr>
        <p:grpSpPr>
          <a:xfrm>
            <a:off x="4835407" y="1187082"/>
            <a:ext cx="3371833" cy="5425777"/>
            <a:chOff x="4835407" y="1187082"/>
            <a:chExt cx="3371833" cy="5425777"/>
          </a:xfrm>
        </p:grpSpPr>
        <p:grpSp>
          <p:nvGrpSpPr>
            <p:cNvPr id="45" name="Group 44"/>
            <p:cNvGrpSpPr/>
            <p:nvPr/>
          </p:nvGrpSpPr>
          <p:grpSpPr>
            <a:xfrm>
              <a:off x="4835407" y="1187082"/>
              <a:ext cx="3260843" cy="2899111"/>
              <a:chOff x="4835407" y="1187082"/>
              <a:chExt cx="3260843" cy="3715239"/>
            </a:xfrm>
          </p:grpSpPr>
          <p:sp>
            <p:nvSpPr>
              <p:cNvPr id="56" name="TextBox 55"/>
              <p:cNvSpPr txBox="1"/>
              <p:nvPr/>
            </p:nvSpPr>
            <p:spPr>
              <a:xfrm>
                <a:off x="6076950" y="1685925"/>
                <a:ext cx="1714500" cy="102548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>
                  <a:buFont typeface="Arial" pitchFamily="34" charset="0"/>
                  <a:buChar char="•"/>
                </a:pPr>
                <a:r>
                  <a:rPr lang="en-US" dirty="0"/>
                  <a:t> </a:t>
                </a:r>
                <a:r>
                  <a:rPr lang="en-US" sz="1400" dirty="0"/>
                  <a:t>ctr[“</a:t>
                </a:r>
                <a:r>
                  <a:rPr lang="en-US" sz="1400" dirty="0" err="1"/>
                  <a:t>alice</a:t>
                </a:r>
                <a:r>
                  <a:rPr lang="en-US" sz="1400" dirty="0"/>
                  <a:t>”] += d1</a:t>
                </a:r>
              </a:p>
              <a:p>
                <a:pPr>
                  <a:buFont typeface="Arial" pitchFamily="34" charset="0"/>
                  <a:buChar char="•"/>
                </a:pPr>
                <a:r>
                  <a:rPr lang="en-US" sz="1400" dirty="0"/>
                  <a:t> ctr[“</a:t>
                </a:r>
                <a:r>
                  <a:rPr lang="en-US" sz="1400" dirty="0" err="1">
                    <a:solidFill>
                      <a:schemeClr val="tx1"/>
                    </a:solidFill>
                  </a:rPr>
                  <a:t>alice</a:t>
                </a:r>
                <a:r>
                  <a:rPr lang="en-US" sz="1400" dirty="0"/>
                  <a:t>”] += d2</a:t>
                </a:r>
              </a:p>
              <a:p>
                <a:pPr>
                  <a:buFont typeface="Arial" pitchFamily="34" charset="0"/>
                  <a:buChar char="•"/>
                </a:pPr>
                <a:r>
                  <a:rPr lang="en-US" sz="1400" dirty="0"/>
                  <a:t> ….</a:t>
                </a:r>
              </a:p>
            </p:txBody>
          </p:sp>
          <p:sp>
            <p:nvSpPr>
              <p:cNvPr id="57" name="Down Arrow 56"/>
              <p:cNvSpPr/>
              <p:nvPr/>
            </p:nvSpPr>
            <p:spPr>
              <a:xfrm>
                <a:off x="6810375" y="2565616"/>
                <a:ext cx="342900" cy="619125"/>
              </a:xfrm>
              <a:prstGeom prst="down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Rounded Rectangle 57"/>
              <p:cNvSpPr/>
              <p:nvPr/>
            </p:nvSpPr>
            <p:spPr>
              <a:xfrm>
                <a:off x="6059882" y="3215843"/>
                <a:ext cx="1714500" cy="727559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combine counter updates</a:t>
                </a:r>
              </a:p>
            </p:txBody>
          </p:sp>
          <p:sp>
            <p:nvSpPr>
              <p:cNvPr id="59" name="Rectangle 58"/>
              <p:cNvSpPr/>
              <p:nvPr/>
            </p:nvSpPr>
            <p:spPr>
              <a:xfrm>
                <a:off x="4835407" y="1238251"/>
                <a:ext cx="3260843" cy="3664070"/>
              </a:xfrm>
              <a:prstGeom prst="rect">
                <a:avLst/>
              </a:prstGeom>
              <a:noFill/>
              <a:ln>
                <a:prstDash val="dashDot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5513050" y="1187082"/>
                <a:ext cx="2148345" cy="4733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Reducer Machine 1</a:t>
                </a:r>
              </a:p>
            </p:txBody>
          </p:sp>
          <p:sp>
            <p:nvSpPr>
              <p:cNvPr id="61" name="Rounded Rectangle 60"/>
              <p:cNvSpPr/>
              <p:nvPr/>
            </p:nvSpPr>
            <p:spPr>
              <a:xfrm rot="16200000">
                <a:off x="3989702" y="3141597"/>
                <a:ext cx="2696416" cy="350282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Merge Spill Files</a:t>
                </a:r>
              </a:p>
            </p:txBody>
          </p:sp>
        </p:grpSp>
        <p:sp>
          <p:nvSpPr>
            <p:cNvPr id="47" name="TextBox 46"/>
            <p:cNvSpPr txBox="1"/>
            <p:nvPr/>
          </p:nvSpPr>
          <p:spPr>
            <a:xfrm>
              <a:off x="6187940" y="4427463"/>
              <a:ext cx="1714500" cy="800219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>
                <a:buFont typeface="Arial" pitchFamily="34" charset="0"/>
                <a:buChar char="•"/>
              </a:pPr>
              <a:r>
                <a:rPr lang="en-US" dirty="0"/>
                <a:t> </a:t>
              </a:r>
              <a:r>
                <a:rPr lang="en-US" sz="1400" dirty="0"/>
                <a:t>ctr[“</a:t>
              </a:r>
              <a:r>
                <a:rPr lang="en-US" sz="1400" dirty="0">
                  <a:solidFill>
                    <a:schemeClr val="bg1"/>
                  </a:solidFill>
                </a:rPr>
                <a:t>bob</a:t>
              </a:r>
              <a:r>
                <a:rPr lang="en-US" sz="1400" dirty="0"/>
                <a:t>”] += d3</a:t>
              </a:r>
            </a:p>
            <a:p>
              <a:pPr>
                <a:buFont typeface="Arial" pitchFamily="34" charset="0"/>
                <a:buChar char="•"/>
              </a:pPr>
              <a:r>
                <a:rPr lang="en-US" sz="1400" dirty="0"/>
                <a:t> ctr[“joe”] += d4</a:t>
              </a:r>
            </a:p>
            <a:p>
              <a:pPr>
                <a:buFont typeface="Arial" pitchFamily="34" charset="0"/>
                <a:buChar char="•"/>
              </a:pPr>
              <a:r>
                <a:rPr lang="en-US" sz="1400" dirty="0"/>
                <a:t> ….</a:t>
              </a:r>
            </a:p>
          </p:txBody>
        </p:sp>
        <p:sp>
          <p:nvSpPr>
            <p:cNvPr id="48" name="Down Arrow 47"/>
            <p:cNvSpPr/>
            <p:nvPr/>
          </p:nvSpPr>
          <p:spPr>
            <a:xfrm>
              <a:off x="6921365" y="5134911"/>
              <a:ext cx="342900" cy="412298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6187940" y="5567097"/>
              <a:ext cx="1714500" cy="484508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combine counter updates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4946397" y="4243130"/>
              <a:ext cx="3260843" cy="2326248"/>
            </a:xfrm>
            <a:prstGeom prst="rect">
              <a:avLst/>
            </a:prstGeom>
            <a:noFill/>
            <a:ln>
              <a:prstDash val="dash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897530" y="6243527"/>
              <a:ext cx="21483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Reducer Machine 2</a:t>
              </a:r>
            </a:p>
          </p:txBody>
        </p:sp>
        <p:sp>
          <p:nvSpPr>
            <p:cNvPr id="55" name="Rounded Rectangle 54"/>
            <p:cNvSpPr/>
            <p:nvPr/>
          </p:nvSpPr>
          <p:spPr>
            <a:xfrm rot="16200000">
              <a:off x="4421207" y="5097565"/>
              <a:ext cx="1941642" cy="350282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Merge Spill Files</a:t>
              </a:r>
            </a:p>
          </p:txBody>
        </p:sp>
      </p:grpSp>
      <p:sp>
        <p:nvSpPr>
          <p:cNvPr id="62" name="Rounded Rectangle 61"/>
          <p:cNvSpPr/>
          <p:nvPr/>
        </p:nvSpPr>
        <p:spPr>
          <a:xfrm>
            <a:off x="3532121" y="4905575"/>
            <a:ext cx="765845" cy="311677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9075" y="5993980"/>
            <a:ext cx="44478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Sort needs to </a:t>
            </a:r>
            <a:r>
              <a:rPr lang="en-US" b="1" dirty="0"/>
              <a:t>partition </a:t>
            </a:r>
            <a:r>
              <a:rPr lang="en-US" dirty="0"/>
              <a:t>data appropriately</a:t>
            </a:r>
          </a:p>
          <a:p>
            <a:r>
              <a:rPr lang="en-US" dirty="0"/>
              <a:t>(into multiple “shards”)</a:t>
            </a:r>
          </a:p>
        </p:txBody>
      </p:sp>
    </p:spTree>
    <p:extLst>
      <p:ext uri="{BB962C8B-B14F-4D97-AF65-F5344CB8AC3E}">
        <p14:creationId xmlns:p14="http://schemas.microsoft.com/office/powerpoint/2010/main" val="334812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59E9E-7779-B2C8-3995-7AE7221D2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9240D-4B80-566D-C8C7-A52A7E1D4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sym typeface="Wingdings" pitchFamily="2" charset="2"/>
              </a:rPr>
              <a:t>Stream and Sort Counting </a:t>
            </a:r>
            <a:r>
              <a:rPr lang="en-US" sz="2400" dirty="0">
                <a:solidFill>
                  <a:srgbClr val="95B3D7"/>
                </a:solidFill>
                <a:sym typeface="Wingdings" pitchFamily="2" charset="2"/>
              </a:rPr>
              <a:t> Distributed Counting</a:t>
            </a:r>
            <a:endParaRPr lang="en-US" sz="2400" dirty="0">
              <a:solidFill>
                <a:srgbClr val="95B3D7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8AC5EA-97AA-D986-F353-EB20B3C3CEBF}"/>
              </a:ext>
            </a:extLst>
          </p:cNvPr>
          <p:cNvSpPr txBox="1"/>
          <p:nvPr/>
        </p:nvSpPr>
        <p:spPr>
          <a:xfrm>
            <a:off x="457200" y="1685925"/>
            <a:ext cx="1714500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doc 1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doc 2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doc 3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….</a:t>
            </a:r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FD17465D-83F7-7BC4-FA1E-3FB5EE409EBA}"/>
              </a:ext>
            </a:extLst>
          </p:cNvPr>
          <p:cNvSpPr/>
          <p:nvPr/>
        </p:nvSpPr>
        <p:spPr>
          <a:xfrm>
            <a:off x="1190625" y="3028950"/>
            <a:ext cx="342900" cy="61912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21261B1-A253-1C76-3E5F-C0BE5E86710B}"/>
              </a:ext>
            </a:extLst>
          </p:cNvPr>
          <p:cNvSpPr/>
          <p:nvPr/>
        </p:nvSpPr>
        <p:spPr>
          <a:xfrm>
            <a:off x="457200" y="3829049"/>
            <a:ext cx="1518356" cy="912283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Counting logic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745766B-B9E2-AD4B-FBA8-0F3942232004}"/>
              </a:ext>
            </a:extLst>
          </p:cNvPr>
          <p:cNvCxnSpPr/>
          <p:nvPr/>
        </p:nvCxnSpPr>
        <p:spPr>
          <a:xfrm>
            <a:off x="2082035" y="4302831"/>
            <a:ext cx="64135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2CF110C-F0D4-21D1-2779-8BB2C2BD045C}"/>
              </a:ext>
            </a:extLst>
          </p:cNvPr>
          <p:cNvSpPr txBox="1"/>
          <p:nvPr/>
        </p:nvSpPr>
        <p:spPr>
          <a:xfrm>
            <a:off x="1390974" y="4865511"/>
            <a:ext cx="1169163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“ctr[</a:t>
            </a:r>
            <a:r>
              <a:rPr lang="en-US" sz="1400" i="1" dirty="0"/>
              <a:t>x] +=d”</a:t>
            </a:r>
            <a:endParaRPr lang="en-US" sz="14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A2EEE7-BD18-13BB-37CF-2FFB7C34AD34}"/>
              </a:ext>
            </a:extLst>
          </p:cNvPr>
          <p:cNvSpPr/>
          <p:nvPr/>
        </p:nvSpPr>
        <p:spPr>
          <a:xfrm>
            <a:off x="219075" y="1238250"/>
            <a:ext cx="4381147" cy="4719637"/>
          </a:xfrm>
          <a:prstGeom prst="rect">
            <a:avLst/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1D1817-3659-C125-3E92-DF02D6FF517E}"/>
              </a:ext>
            </a:extLst>
          </p:cNvPr>
          <p:cNvSpPr txBox="1"/>
          <p:nvPr/>
        </p:nvSpPr>
        <p:spPr>
          <a:xfrm>
            <a:off x="630072" y="5526101"/>
            <a:ext cx="1939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Mapper Machine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3D443337-B041-8074-D603-A7F53A23217B}"/>
              </a:ext>
            </a:extLst>
          </p:cNvPr>
          <p:cNvSpPr/>
          <p:nvPr/>
        </p:nvSpPr>
        <p:spPr>
          <a:xfrm rot="16200000">
            <a:off x="1836275" y="4467453"/>
            <a:ext cx="2182912" cy="35028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Sort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8F7CF1F-F5EE-F4F0-C884-B15C9949FF8D}"/>
              </a:ext>
            </a:extLst>
          </p:cNvPr>
          <p:cNvCxnSpPr/>
          <p:nvPr/>
        </p:nvCxnSpPr>
        <p:spPr>
          <a:xfrm flipV="1">
            <a:off x="4225498" y="1984963"/>
            <a:ext cx="1613327" cy="4513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0D8D606-227E-544A-E6B1-72DCBA8A7BF9}"/>
              </a:ext>
            </a:extLst>
          </p:cNvPr>
          <p:cNvCxnSpPr/>
          <p:nvPr/>
        </p:nvCxnSpPr>
        <p:spPr>
          <a:xfrm flipV="1">
            <a:off x="3136658" y="2609255"/>
            <a:ext cx="503534" cy="89066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A6CB4BD-2232-A82C-0F1E-85A9B1782DEE}"/>
              </a:ext>
            </a:extLst>
          </p:cNvPr>
          <p:cNvCxnSpPr/>
          <p:nvPr/>
        </p:nvCxnSpPr>
        <p:spPr>
          <a:xfrm flipV="1">
            <a:off x="3223206" y="3160889"/>
            <a:ext cx="416986" cy="6004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EDD293E-F3AE-3DA7-5FDC-B1E7BBF77659}"/>
              </a:ext>
            </a:extLst>
          </p:cNvPr>
          <p:cNvCxnSpPr/>
          <p:nvPr/>
        </p:nvCxnSpPr>
        <p:spPr>
          <a:xfrm flipV="1">
            <a:off x="3213324" y="3648075"/>
            <a:ext cx="426868" cy="47378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D12EB61-E0BC-7FA0-0D72-51300542AD36}"/>
              </a:ext>
            </a:extLst>
          </p:cNvPr>
          <p:cNvCxnSpPr/>
          <p:nvPr/>
        </p:nvCxnSpPr>
        <p:spPr>
          <a:xfrm flipV="1">
            <a:off x="3217169" y="4392736"/>
            <a:ext cx="423023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07E8D77-21CA-8CC5-6BF4-A303DA935792}"/>
              </a:ext>
            </a:extLst>
          </p:cNvPr>
          <p:cNvCxnSpPr/>
          <p:nvPr/>
        </p:nvCxnSpPr>
        <p:spPr>
          <a:xfrm>
            <a:off x="3223206" y="4589295"/>
            <a:ext cx="416986" cy="2367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0FA8032-7FEF-7075-E957-A8D55E8B6D98}"/>
              </a:ext>
            </a:extLst>
          </p:cNvPr>
          <p:cNvCxnSpPr/>
          <p:nvPr/>
        </p:nvCxnSpPr>
        <p:spPr>
          <a:xfrm>
            <a:off x="3264206" y="4865511"/>
            <a:ext cx="375986" cy="4778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BF975A38-AE18-563A-E9D6-988270DCF915}"/>
              </a:ext>
            </a:extLst>
          </p:cNvPr>
          <p:cNvSpPr/>
          <p:nvPr/>
        </p:nvSpPr>
        <p:spPr>
          <a:xfrm>
            <a:off x="3392229" y="2229556"/>
            <a:ext cx="765845" cy="311677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1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08502585-49E7-15DB-C00B-5D7686E42FFA}"/>
              </a:ext>
            </a:extLst>
          </p:cNvPr>
          <p:cNvSpPr/>
          <p:nvPr/>
        </p:nvSpPr>
        <p:spPr>
          <a:xfrm>
            <a:off x="3640192" y="2849212"/>
            <a:ext cx="765845" cy="311677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2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3474D416-2661-AD5E-E907-ED4DE6F4CF8D}"/>
              </a:ext>
            </a:extLst>
          </p:cNvPr>
          <p:cNvSpPr/>
          <p:nvPr/>
        </p:nvSpPr>
        <p:spPr>
          <a:xfrm>
            <a:off x="3700007" y="3492236"/>
            <a:ext cx="765845" cy="311677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76BE501-D3FC-5115-B16A-0C3224A145DD}"/>
              </a:ext>
            </a:extLst>
          </p:cNvPr>
          <p:cNvSpPr txBox="1"/>
          <p:nvPr/>
        </p:nvSpPr>
        <p:spPr>
          <a:xfrm>
            <a:off x="3810000" y="420807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CC7BBF1-E0D5-2AF8-B29D-07855308F44A}"/>
              </a:ext>
            </a:extLst>
          </p:cNvPr>
          <p:cNvCxnSpPr>
            <a:endCxn id="58" idx="1"/>
          </p:cNvCxnSpPr>
          <p:nvPr/>
        </p:nvCxnSpPr>
        <p:spPr>
          <a:xfrm flipV="1">
            <a:off x="4406037" y="3054052"/>
            <a:ext cx="1653845" cy="208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9F82DF4-F85A-39E6-E37D-6E90062335D5}"/>
              </a:ext>
            </a:extLst>
          </p:cNvPr>
          <p:cNvCxnSpPr/>
          <p:nvPr/>
        </p:nvCxnSpPr>
        <p:spPr>
          <a:xfrm>
            <a:off x="4154173" y="3899689"/>
            <a:ext cx="1986921" cy="120911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9E968CA-BC58-1DF5-06A3-94892BD2FB10}"/>
              </a:ext>
            </a:extLst>
          </p:cNvPr>
          <p:cNvCxnSpPr/>
          <p:nvPr/>
        </p:nvCxnSpPr>
        <p:spPr>
          <a:xfrm>
            <a:off x="4308280" y="5115603"/>
            <a:ext cx="1751602" cy="718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F3B9E7-82B3-84C5-FBB3-B4254B5A6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21</a:t>
            </a:fld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B62E8B6-2B73-CCCA-23B0-A7F1D8475544}"/>
              </a:ext>
            </a:extLst>
          </p:cNvPr>
          <p:cNvGrpSpPr/>
          <p:nvPr/>
        </p:nvGrpSpPr>
        <p:grpSpPr>
          <a:xfrm>
            <a:off x="4835407" y="1187082"/>
            <a:ext cx="3371833" cy="5425777"/>
            <a:chOff x="4835407" y="1187082"/>
            <a:chExt cx="3371833" cy="5425777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3EC6B0DB-E702-0A82-CD74-F78D4704F741}"/>
                </a:ext>
              </a:extLst>
            </p:cNvPr>
            <p:cNvGrpSpPr/>
            <p:nvPr/>
          </p:nvGrpSpPr>
          <p:grpSpPr>
            <a:xfrm>
              <a:off x="4835407" y="1187082"/>
              <a:ext cx="3260843" cy="2899111"/>
              <a:chOff x="4835407" y="1187082"/>
              <a:chExt cx="3260843" cy="3715239"/>
            </a:xfrm>
          </p:grpSpPr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2FAEF71-FC92-A5C1-8AB1-1FB56BEF2102}"/>
                  </a:ext>
                </a:extLst>
              </p:cNvPr>
              <p:cNvSpPr txBox="1"/>
              <p:nvPr/>
            </p:nvSpPr>
            <p:spPr>
              <a:xfrm>
                <a:off x="6076950" y="1685925"/>
                <a:ext cx="1714500" cy="102548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>
                  <a:buFont typeface="Arial" pitchFamily="34" charset="0"/>
                  <a:buChar char="•"/>
                </a:pPr>
                <a:r>
                  <a:rPr lang="en-US" dirty="0"/>
                  <a:t> </a:t>
                </a:r>
                <a:r>
                  <a:rPr lang="en-US" sz="1400" dirty="0"/>
                  <a:t>ctr[“</a:t>
                </a:r>
                <a:r>
                  <a:rPr lang="en-US" sz="1400" dirty="0" err="1"/>
                  <a:t>alice</a:t>
                </a:r>
                <a:r>
                  <a:rPr lang="en-US" sz="1400" dirty="0"/>
                  <a:t>”] += d1</a:t>
                </a:r>
              </a:p>
              <a:p>
                <a:pPr>
                  <a:buFont typeface="Arial" pitchFamily="34" charset="0"/>
                  <a:buChar char="•"/>
                </a:pPr>
                <a:r>
                  <a:rPr lang="en-US" sz="1400" b="1" dirty="0">
                    <a:solidFill>
                      <a:srgbClr val="FF0000"/>
                    </a:solidFill>
                  </a:rPr>
                  <a:t> ctr[“bob”] += d2</a:t>
                </a:r>
              </a:p>
              <a:p>
                <a:pPr>
                  <a:buFont typeface="Arial" pitchFamily="34" charset="0"/>
                  <a:buChar char="•"/>
                </a:pPr>
                <a:r>
                  <a:rPr lang="en-US" sz="1400" dirty="0"/>
                  <a:t> ….</a:t>
                </a:r>
              </a:p>
            </p:txBody>
          </p:sp>
          <p:sp>
            <p:nvSpPr>
              <p:cNvPr id="57" name="Down Arrow 56">
                <a:extLst>
                  <a:ext uri="{FF2B5EF4-FFF2-40B4-BE49-F238E27FC236}">
                    <a16:creationId xmlns:a16="http://schemas.microsoft.com/office/drawing/2014/main" id="{98B21AC7-B7B8-A4C3-80D5-7C22CB4E79B2}"/>
                  </a:ext>
                </a:extLst>
              </p:cNvPr>
              <p:cNvSpPr/>
              <p:nvPr/>
            </p:nvSpPr>
            <p:spPr>
              <a:xfrm>
                <a:off x="6810375" y="2565616"/>
                <a:ext cx="342900" cy="619125"/>
              </a:xfrm>
              <a:prstGeom prst="down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Rounded Rectangle 57">
                <a:extLst>
                  <a:ext uri="{FF2B5EF4-FFF2-40B4-BE49-F238E27FC236}">
                    <a16:creationId xmlns:a16="http://schemas.microsoft.com/office/drawing/2014/main" id="{74C8F8EA-1627-682B-B08B-D2420DA6CAF9}"/>
                  </a:ext>
                </a:extLst>
              </p:cNvPr>
              <p:cNvSpPr/>
              <p:nvPr/>
            </p:nvSpPr>
            <p:spPr>
              <a:xfrm>
                <a:off x="6059882" y="3215843"/>
                <a:ext cx="1714500" cy="727559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combine counter updates</a:t>
                </a: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14680DB0-76D6-B934-0C10-3BF8DC7B2FC2}"/>
                  </a:ext>
                </a:extLst>
              </p:cNvPr>
              <p:cNvSpPr/>
              <p:nvPr/>
            </p:nvSpPr>
            <p:spPr>
              <a:xfrm>
                <a:off x="4835407" y="1238251"/>
                <a:ext cx="3260843" cy="3664070"/>
              </a:xfrm>
              <a:prstGeom prst="rect">
                <a:avLst/>
              </a:prstGeom>
              <a:noFill/>
              <a:ln>
                <a:prstDash val="dashDot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9884505-BCF6-751E-5C59-0077BA4E054F}"/>
                  </a:ext>
                </a:extLst>
              </p:cNvPr>
              <p:cNvSpPr txBox="1"/>
              <p:nvPr/>
            </p:nvSpPr>
            <p:spPr>
              <a:xfrm>
                <a:off x="5513050" y="1187082"/>
                <a:ext cx="2148345" cy="4733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Reducer Machine 1</a:t>
                </a:r>
              </a:p>
            </p:txBody>
          </p:sp>
          <p:sp>
            <p:nvSpPr>
              <p:cNvPr id="61" name="Rounded Rectangle 60">
                <a:extLst>
                  <a:ext uri="{FF2B5EF4-FFF2-40B4-BE49-F238E27FC236}">
                    <a16:creationId xmlns:a16="http://schemas.microsoft.com/office/drawing/2014/main" id="{C4A3A3B0-F1BA-936A-445D-EB162EBEAF4D}"/>
                  </a:ext>
                </a:extLst>
              </p:cNvPr>
              <p:cNvSpPr/>
              <p:nvPr/>
            </p:nvSpPr>
            <p:spPr>
              <a:xfrm rot="16200000">
                <a:off x="3989702" y="3141597"/>
                <a:ext cx="2696416" cy="350282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Merge Spill Files</a:t>
                </a:r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46038CD-2AA5-A14C-DF63-B45EF666F38A}"/>
                </a:ext>
              </a:extLst>
            </p:cNvPr>
            <p:cNvSpPr txBox="1"/>
            <p:nvPr/>
          </p:nvSpPr>
          <p:spPr>
            <a:xfrm>
              <a:off x="6187940" y="4427463"/>
              <a:ext cx="1714500" cy="800219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>
                <a:buFont typeface="Arial" pitchFamily="34" charset="0"/>
                <a:buChar char="•"/>
              </a:pPr>
              <a:r>
                <a:rPr lang="en-US" b="1" dirty="0">
                  <a:solidFill>
                    <a:srgbClr val="FF0000"/>
                  </a:solidFill>
                </a:rPr>
                <a:t> </a:t>
              </a:r>
              <a:r>
                <a:rPr lang="en-US" sz="1400" b="1" dirty="0">
                  <a:solidFill>
                    <a:srgbClr val="FF0000"/>
                  </a:solidFill>
                </a:rPr>
                <a:t>ctr[“bob”] += d3</a:t>
              </a:r>
            </a:p>
            <a:p>
              <a:pPr>
                <a:buFont typeface="Arial" pitchFamily="34" charset="0"/>
                <a:buChar char="•"/>
              </a:pPr>
              <a:r>
                <a:rPr lang="en-US" sz="1400" dirty="0"/>
                <a:t> ctr[“joe”] += d4</a:t>
              </a:r>
            </a:p>
            <a:p>
              <a:pPr>
                <a:buFont typeface="Arial" pitchFamily="34" charset="0"/>
                <a:buChar char="•"/>
              </a:pPr>
              <a:r>
                <a:rPr lang="en-US" sz="1400" dirty="0"/>
                <a:t> ….</a:t>
              </a:r>
            </a:p>
          </p:txBody>
        </p:sp>
        <p:sp>
          <p:nvSpPr>
            <p:cNvPr id="48" name="Down Arrow 47">
              <a:extLst>
                <a:ext uri="{FF2B5EF4-FFF2-40B4-BE49-F238E27FC236}">
                  <a16:creationId xmlns:a16="http://schemas.microsoft.com/office/drawing/2014/main" id="{91243CFD-1B69-7CA7-4C74-4E32B663FB5C}"/>
                </a:ext>
              </a:extLst>
            </p:cNvPr>
            <p:cNvSpPr/>
            <p:nvPr/>
          </p:nvSpPr>
          <p:spPr>
            <a:xfrm>
              <a:off x="6921365" y="5134911"/>
              <a:ext cx="342900" cy="412298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A7DA5BF4-D8EE-24AE-759F-B5567B6B881D}"/>
                </a:ext>
              </a:extLst>
            </p:cNvPr>
            <p:cNvSpPr/>
            <p:nvPr/>
          </p:nvSpPr>
          <p:spPr>
            <a:xfrm>
              <a:off x="6187940" y="5567097"/>
              <a:ext cx="1714500" cy="484508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combine counter updates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B3EDCAA-764B-61EE-0186-C0B707372AAB}"/>
                </a:ext>
              </a:extLst>
            </p:cNvPr>
            <p:cNvSpPr/>
            <p:nvPr/>
          </p:nvSpPr>
          <p:spPr>
            <a:xfrm>
              <a:off x="4946397" y="4243130"/>
              <a:ext cx="3260843" cy="2326248"/>
            </a:xfrm>
            <a:prstGeom prst="rect">
              <a:avLst/>
            </a:prstGeom>
            <a:noFill/>
            <a:ln>
              <a:prstDash val="dash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B3251DE-B530-7C9E-C7C4-3C97ADB5D6FC}"/>
                </a:ext>
              </a:extLst>
            </p:cNvPr>
            <p:cNvSpPr txBox="1"/>
            <p:nvPr/>
          </p:nvSpPr>
          <p:spPr>
            <a:xfrm>
              <a:off x="5897530" y="6243527"/>
              <a:ext cx="21483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Reducer Machine 2</a:t>
              </a:r>
            </a:p>
          </p:txBody>
        </p:sp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26BCA433-C41F-65E3-360A-5BCB7A6DCB32}"/>
                </a:ext>
              </a:extLst>
            </p:cNvPr>
            <p:cNvSpPr/>
            <p:nvPr/>
          </p:nvSpPr>
          <p:spPr>
            <a:xfrm rot="16200000">
              <a:off x="4421207" y="5097565"/>
              <a:ext cx="1941642" cy="350282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Merge Spill Files</a:t>
              </a:r>
            </a:p>
          </p:txBody>
        </p:sp>
      </p:grp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4C4B68AC-B33F-6FDC-6CAC-1E3EA4D2E458}"/>
              </a:ext>
            </a:extLst>
          </p:cNvPr>
          <p:cNvSpPr/>
          <p:nvPr/>
        </p:nvSpPr>
        <p:spPr>
          <a:xfrm>
            <a:off x="3532121" y="4905575"/>
            <a:ext cx="765845" cy="311677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13BD8DE-8375-7697-C577-A7FCB3F963F0}"/>
              </a:ext>
            </a:extLst>
          </p:cNvPr>
          <p:cNvSpPr txBox="1"/>
          <p:nvPr/>
        </p:nvSpPr>
        <p:spPr>
          <a:xfrm>
            <a:off x="219075" y="5993980"/>
            <a:ext cx="44478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Sort needs to </a:t>
            </a:r>
            <a:r>
              <a:rPr lang="en-US" b="1" dirty="0"/>
              <a:t>partition </a:t>
            </a:r>
            <a:r>
              <a:rPr lang="en-US" dirty="0"/>
              <a:t>data appropriately, i.e., </a:t>
            </a:r>
            <a:r>
              <a:rPr lang="en-US" b="1" dirty="0"/>
              <a:t>by the sort key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1355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/>
          <p:cNvSpPr/>
          <p:nvPr/>
        </p:nvSpPr>
        <p:spPr>
          <a:xfrm>
            <a:off x="217595" y="4343749"/>
            <a:ext cx="4006423" cy="2486724"/>
          </a:xfrm>
          <a:prstGeom prst="rect">
            <a:avLst/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Arrow Connector 73"/>
          <p:cNvCxnSpPr>
            <a:endCxn id="67" idx="1"/>
          </p:cNvCxnSpPr>
          <p:nvPr/>
        </p:nvCxnSpPr>
        <p:spPr>
          <a:xfrm>
            <a:off x="4272731" y="4057558"/>
            <a:ext cx="1915209" cy="7700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>
            <a:off x="4102620" y="5022453"/>
            <a:ext cx="2085320" cy="7938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3882824" y="1984963"/>
            <a:ext cx="2347499" cy="240777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4225498" y="1984963"/>
            <a:ext cx="1613327" cy="4513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6833" y="1537466"/>
            <a:ext cx="1567857" cy="8617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en-US" sz="1400" dirty="0"/>
              <a:t>doc 1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 doc 2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….</a:t>
            </a:r>
          </a:p>
        </p:txBody>
      </p:sp>
      <p:sp>
        <p:nvSpPr>
          <p:cNvPr id="6" name="Down Arrow 5"/>
          <p:cNvSpPr/>
          <p:nvPr/>
        </p:nvSpPr>
        <p:spPr>
          <a:xfrm>
            <a:off x="1107527" y="2435110"/>
            <a:ext cx="313571" cy="413807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436833" y="2969876"/>
            <a:ext cx="1388489" cy="60974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Counting logic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1922694" y="3286539"/>
            <a:ext cx="586495" cy="106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19075" y="1238251"/>
            <a:ext cx="4006423" cy="3004879"/>
          </a:xfrm>
          <a:prstGeom prst="rect">
            <a:avLst/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051094" y="1145893"/>
            <a:ext cx="2296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Mapper Machine 1</a:t>
            </a:r>
          </a:p>
        </p:txBody>
      </p:sp>
      <p:sp>
        <p:nvSpPr>
          <p:cNvPr id="29" name="Rounded Rectangle 28"/>
          <p:cNvSpPr/>
          <p:nvPr/>
        </p:nvSpPr>
        <p:spPr>
          <a:xfrm rot="16200000">
            <a:off x="1836139" y="2847492"/>
            <a:ext cx="1719836" cy="32032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Partition/Sort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flipV="1">
            <a:off x="2887114" y="2154596"/>
            <a:ext cx="460466" cy="59530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2966260" y="2523294"/>
            <a:ext cx="381321" cy="4013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2957223" y="2848917"/>
            <a:ext cx="390358" cy="3166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2960739" y="3346630"/>
            <a:ext cx="386841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2966260" y="3478005"/>
            <a:ext cx="381321" cy="1582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003753" y="3662621"/>
            <a:ext cx="343828" cy="3194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3120826" y="1900815"/>
            <a:ext cx="700341" cy="208317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47580" y="2314977"/>
            <a:ext cx="700341" cy="20831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02279" y="2744758"/>
            <a:ext cx="700341" cy="20831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02864" y="3223204"/>
            <a:ext cx="379960" cy="2468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44" name="Straight Arrow Connector 43"/>
          <p:cNvCxnSpPr>
            <a:stCxn id="23" idx="3"/>
          </p:cNvCxnSpPr>
          <p:nvPr/>
        </p:nvCxnSpPr>
        <p:spPr>
          <a:xfrm flipV="1">
            <a:off x="4225498" y="2229557"/>
            <a:ext cx="1704539" cy="51113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V="1">
            <a:off x="4046442" y="2748260"/>
            <a:ext cx="1883595" cy="18425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cxnSpLocks/>
            <a:stCxn id="51" idx="3"/>
          </p:cNvCxnSpPr>
          <p:nvPr/>
        </p:nvCxnSpPr>
        <p:spPr>
          <a:xfrm flipV="1">
            <a:off x="4224018" y="3194375"/>
            <a:ext cx="1627585" cy="239273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51164" y="4337340"/>
            <a:ext cx="1567857" cy="8617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en-US" sz="1400" dirty="0"/>
              <a:t>doc 1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 doc 2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….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1088534" y="5185914"/>
            <a:ext cx="313571" cy="413807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6"/>
          <p:cNvSpPr/>
          <p:nvPr/>
        </p:nvSpPr>
        <p:spPr>
          <a:xfrm>
            <a:off x="435353" y="5622535"/>
            <a:ext cx="1388489" cy="60974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Counting logic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1921214" y="5939198"/>
            <a:ext cx="586495" cy="106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11222" y="6334379"/>
            <a:ext cx="2296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Mapper Machine 2</a:t>
            </a:r>
          </a:p>
        </p:txBody>
      </p:sp>
      <p:sp>
        <p:nvSpPr>
          <p:cNvPr id="55" name="Rounded Rectangle 54"/>
          <p:cNvSpPr/>
          <p:nvPr/>
        </p:nvSpPr>
        <p:spPr>
          <a:xfrm rot="16200000">
            <a:off x="1790567" y="5717315"/>
            <a:ext cx="1808020" cy="32032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Partition/Sort</a:t>
            </a:r>
          </a:p>
        </p:txBody>
      </p:sp>
      <p:cxnSp>
        <p:nvCxnSpPr>
          <p:cNvPr id="56" name="Straight Arrow Connector 55"/>
          <p:cNvCxnSpPr/>
          <p:nvPr/>
        </p:nvCxnSpPr>
        <p:spPr>
          <a:xfrm flipV="1">
            <a:off x="2885634" y="4741939"/>
            <a:ext cx="460466" cy="59530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V="1">
            <a:off x="2964780" y="5110637"/>
            <a:ext cx="381321" cy="4013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V="1">
            <a:off x="2955743" y="5436260"/>
            <a:ext cx="390358" cy="3166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V="1">
            <a:off x="2959259" y="5933973"/>
            <a:ext cx="386841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2964780" y="6065348"/>
            <a:ext cx="381321" cy="1582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3002273" y="6249964"/>
            <a:ext cx="343828" cy="3194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3119346" y="4488158"/>
            <a:ext cx="700342" cy="20831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1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346100" y="4902320"/>
            <a:ext cx="700342" cy="208317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2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400799" y="5332101"/>
            <a:ext cx="700342" cy="20831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01384" y="5810547"/>
            <a:ext cx="379960" cy="2468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835407" y="1187082"/>
            <a:ext cx="3371833" cy="5425777"/>
            <a:chOff x="4835407" y="1187082"/>
            <a:chExt cx="3371833" cy="5425777"/>
          </a:xfrm>
        </p:grpSpPr>
        <p:grpSp>
          <p:nvGrpSpPr>
            <p:cNvPr id="11" name="Group 10"/>
            <p:cNvGrpSpPr/>
            <p:nvPr/>
          </p:nvGrpSpPr>
          <p:grpSpPr>
            <a:xfrm>
              <a:off x="4835407" y="1187082"/>
              <a:ext cx="3260843" cy="2899111"/>
              <a:chOff x="4835407" y="1187082"/>
              <a:chExt cx="3260843" cy="3715239"/>
            </a:xfrm>
          </p:grpSpPr>
          <p:sp>
            <p:nvSpPr>
              <p:cNvPr id="25" name="TextBox 24"/>
              <p:cNvSpPr txBox="1"/>
              <p:nvPr/>
            </p:nvSpPr>
            <p:spPr>
              <a:xfrm>
                <a:off x="6076950" y="1685925"/>
                <a:ext cx="1714500" cy="102548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>
                  <a:buFont typeface="Arial" pitchFamily="34" charset="0"/>
                  <a:buChar char="•"/>
                </a:pPr>
                <a:r>
                  <a:rPr lang="en-US" dirty="0"/>
                  <a:t> </a:t>
                </a:r>
                <a:r>
                  <a:rPr lang="en-US" sz="1400" dirty="0"/>
                  <a:t>ctr[x1] += d1</a:t>
                </a:r>
              </a:p>
              <a:p>
                <a:pPr>
                  <a:buFont typeface="Arial" pitchFamily="34" charset="0"/>
                  <a:buChar char="•"/>
                </a:pPr>
                <a:r>
                  <a:rPr lang="en-US" sz="1400" dirty="0"/>
                  <a:t> ctr[x1] += d2</a:t>
                </a:r>
              </a:p>
              <a:p>
                <a:pPr>
                  <a:buFont typeface="Arial" pitchFamily="34" charset="0"/>
                  <a:buChar char="•"/>
                </a:pPr>
                <a:r>
                  <a:rPr lang="en-US" sz="1400" dirty="0"/>
                  <a:t> ….</a:t>
                </a:r>
              </a:p>
            </p:txBody>
          </p:sp>
          <p:sp>
            <p:nvSpPr>
              <p:cNvPr id="27" name="Down Arrow 26"/>
              <p:cNvSpPr/>
              <p:nvPr/>
            </p:nvSpPr>
            <p:spPr>
              <a:xfrm>
                <a:off x="6810375" y="2565616"/>
                <a:ext cx="342900" cy="619125"/>
              </a:xfrm>
              <a:prstGeom prst="down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ounded Rectangle 27"/>
              <p:cNvSpPr/>
              <p:nvPr/>
            </p:nvSpPr>
            <p:spPr>
              <a:xfrm>
                <a:off x="6059882" y="3215843"/>
                <a:ext cx="1714500" cy="727559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Logic to combine counter updates</a:t>
                </a:r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4835407" y="1238251"/>
                <a:ext cx="3260843" cy="3664070"/>
              </a:xfrm>
              <a:prstGeom prst="rect">
                <a:avLst/>
              </a:prstGeom>
              <a:noFill/>
              <a:ln>
                <a:prstDash val="dashDot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5513050" y="1187082"/>
                <a:ext cx="2148345" cy="4733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Reducer Machine 1</a:t>
                </a:r>
              </a:p>
            </p:txBody>
          </p:sp>
          <p:sp>
            <p:nvSpPr>
              <p:cNvPr id="54" name="Rounded Rectangle 53"/>
              <p:cNvSpPr/>
              <p:nvPr/>
            </p:nvSpPr>
            <p:spPr>
              <a:xfrm rot="16200000">
                <a:off x="3989702" y="3141597"/>
                <a:ext cx="2696416" cy="350282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Merge Spill Files</a:t>
                </a:r>
              </a:p>
            </p:txBody>
          </p:sp>
        </p:grpSp>
        <p:sp>
          <p:nvSpPr>
            <p:cNvPr id="67" name="TextBox 66"/>
            <p:cNvSpPr txBox="1"/>
            <p:nvPr/>
          </p:nvSpPr>
          <p:spPr>
            <a:xfrm>
              <a:off x="6187940" y="4427463"/>
              <a:ext cx="1714500" cy="800219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>
                <a:buFont typeface="Arial" pitchFamily="34" charset="0"/>
                <a:buChar char="•"/>
              </a:pPr>
              <a:r>
                <a:rPr lang="en-US" dirty="0"/>
                <a:t> </a:t>
              </a:r>
              <a:r>
                <a:rPr lang="en-US" sz="1400" dirty="0"/>
                <a:t>ctr[x2] += d1</a:t>
              </a:r>
            </a:p>
            <a:p>
              <a:pPr>
                <a:buFont typeface="Arial" pitchFamily="34" charset="0"/>
                <a:buChar char="•"/>
              </a:pPr>
              <a:r>
                <a:rPr lang="en-US" sz="1400" dirty="0"/>
                <a:t> ctr[x2] += d2</a:t>
              </a:r>
            </a:p>
            <a:p>
              <a:pPr>
                <a:buFont typeface="Arial" pitchFamily="34" charset="0"/>
                <a:buChar char="•"/>
              </a:pPr>
              <a:r>
                <a:rPr lang="en-US" sz="1400" dirty="0"/>
                <a:t> ….</a:t>
              </a:r>
            </a:p>
          </p:txBody>
        </p:sp>
        <p:sp>
          <p:nvSpPr>
            <p:cNvPr id="68" name="Down Arrow 67"/>
            <p:cNvSpPr/>
            <p:nvPr/>
          </p:nvSpPr>
          <p:spPr>
            <a:xfrm>
              <a:off x="6921365" y="5134911"/>
              <a:ext cx="342900" cy="412298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ounded Rectangle 68"/>
            <p:cNvSpPr/>
            <p:nvPr/>
          </p:nvSpPr>
          <p:spPr>
            <a:xfrm>
              <a:off x="6187940" y="5567097"/>
              <a:ext cx="1714500" cy="484508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combine counter updates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4946397" y="4243130"/>
              <a:ext cx="3260843" cy="2326248"/>
            </a:xfrm>
            <a:prstGeom prst="rect">
              <a:avLst/>
            </a:prstGeom>
            <a:noFill/>
            <a:ln>
              <a:prstDash val="dash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5407670" y="6243527"/>
              <a:ext cx="21483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Reducer Machine 2</a:t>
              </a:r>
            </a:p>
          </p:txBody>
        </p:sp>
        <p:sp>
          <p:nvSpPr>
            <p:cNvPr id="72" name="Rounded Rectangle 71"/>
            <p:cNvSpPr/>
            <p:nvPr/>
          </p:nvSpPr>
          <p:spPr>
            <a:xfrm rot="16200000">
              <a:off x="4261707" y="5188417"/>
              <a:ext cx="1941642" cy="350282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Merge Spill Files</a:t>
              </a:r>
            </a:p>
          </p:txBody>
        </p:sp>
      </p:grpSp>
      <p:sp>
        <p:nvSpPr>
          <p:cNvPr id="73" name="Rounded Rectangle 72"/>
          <p:cNvSpPr/>
          <p:nvPr/>
        </p:nvSpPr>
        <p:spPr>
          <a:xfrm>
            <a:off x="3402560" y="3877876"/>
            <a:ext cx="821458" cy="208317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6084A8-7D4B-BA77-1FDE-826B062444E7}"/>
              </a:ext>
            </a:extLst>
          </p:cNvPr>
          <p:cNvSpPr txBox="1"/>
          <p:nvPr/>
        </p:nvSpPr>
        <p:spPr>
          <a:xfrm>
            <a:off x="1107527" y="157874"/>
            <a:ext cx="7382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Simple way to </a:t>
            </a:r>
            <a:r>
              <a:rPr lang="en-US" b="1" dirty="0"/>
              <a:t>partition</a:t>
            </a:r>
            <a:r>
              <a:rPr lang="en-US" dirty="0"/>
              <a:t>:  hash the sort key</a:t>
            </a:r>
          </a:p>
        </p:txBody>
      </p:sp>
    </p:spTree>
    <p:extLst>
      <p:ext uri="{BB962C8B-B14F-4D97-AF65-F5344CB8AC3E}">
        <p14:creationId xmlns:p14="http://schemas.microsoft.com/office/powerpoint/2010/main" val="37722147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7D85A-786F-CACB-3C7F-0B8621A2E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B7C3C832-CA0B-33DD-4EFD-D5DBC3F1E728}"/>
              </a:ext>
            </a:extLst>
          </p:cNvPr>
          <p:cNvSpPr/>
          <p:nvPr/>
        </p:nvSpPr>
        <p:spPr>
          <a:xfrm>
            <a:off x="217595" y="4343749"/>
            <a:ext cx="4006423" cy="2486724"/>
          </a:xfrm>
          <a:prstGeom prst="rect">
            <a:avLst/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C36F15D7-1BF0-8135-64EB-76379542662E}"/>
              </a:ext>
            </a:extLst>
          </p:cNvPr>
          <p:cNvCxnSpPr>
            <a:endCxn id="67" idx="1"/>
          </p:cNvCxnSpPr>
          <p:nvPr/>
        </p:nvCxnSpPr>
        <p:spPr>
          <a:xfrm>
            <a:off x="4272731" y="4057558"/>
            <a:ext cx="1915209" cy="7700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9A8A497-BF31-633B-A249-A876825ABB34}"/>
              </a:ext>
            </a:extLst>
          </p:cNvPr>
          <p:cNvCxnSpPr/>
          <p:nvPr/>
        </p:nvCxnSpPr>
        <p:spPr>
          <a:xfrm>
            <a:off x="4102620" y="5022453"/>
            <a:ext cx="2085320" cy="7938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D46DA4CF-A499-8F00-3FB5-60B202A83517}"/>
              </a:ext>
            </a:extLst>
          </p:cNvPr>
          <p:cNvCxnSpPr/>
          <p:nvPr/>
        </p:nvCxnSpPr>
        <p:spPr>
          <a:xfrm>
            <a:off x="3882824" y="1984963"/>
            <a:ext cx="2347499" cy="240777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D45A2D2-271C-4410-A49E-C9575696A518}"/>
              </a:ext>
            </a:extLst>
          </p:cNvPr>
          <p:cNvCxnSpPr/>
          <p:nvPr/>
        </p:nvCxnSpPr>
        <p:spPr>
          <a:xfrm flipV="1">
            <a:off x="4225498" y="1984963"/>
            <a:ext cx="1613327" cy="4513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D06EEAB-64C7-8C30-3957-EA7781B8AC59}"/>
              </a:ext>
            </a:extLst>
          </p:cNvPr>
          <p:cNvSpPr txBox="1"/>
          <p:nvPr/>
        </p:nvSpPr>
        <p:spPr>
          <a:xfrm>
            <a:off x="436833" y="1537466"/>
            <a:ext cx="1567857" cy="8617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en-US" sz="1400" dirty="0"/>
              <a:t>doc 1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 doc 2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….</a:t>
            </a:r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3F987EA8-14D1-4C79-1759-0C064F297A15}"/>
              </a:ext>
            </a:extLst>
          </p:cNvPr>
          <p:cNvSpPr/>
          <p:nvPr/>
        </p:nvSpPr>
        <p:spPr>
          <a:xfrm>
            <a:off x="1107527" y="2435110"/>
            <a:ext cx="313571" cy="413807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0CB7E63-8FB4-C5FA-4C27-D486DFFD89BE}"/>
              </a:ext>
            </a:extLst>
          </p:cNvPr>
          <p:cNvSpPr/>
          <p:nvPr/>
        </p:nvSpPr>
        <p:spPr>
          <a:xfrm>
            <a:off x="436833" y="2969876"/>
            <a:ext cx="1388489" cy="60974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Counting logic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BB31FC9-A970-0D6B-0B40-6550A6B3C45C}"/>
              </a:ext>
            </a:extLst>
          </p:cNvPr>
          <p:cNvCxnSpPr/>
          <p:nvPr/>
        </p:nvCxnSpPr>
        <p:spPr>
          <a:xfrm>
            <a:off x="1922694" y="3286539"/>
            <a:ext cx="586495" cy="106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E118A575-74D5-7E35-A861-4AFCC53D1E0B}"/>
              </a:ext>
            </a:extLst>
          </p:cNvPr>
          <p:cNvSpPr/>
          <p:nvPr/>
        </p:nvSpPr>
        <p:spPr>
          <a:xfrm>
            <a:off x="219075" y="1238251"/>
            <a:ext cx="4006423" cy="3004879"/>
          </a:xfrm>
          <a:prstGeom prst="rect">
            <a:avLst/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746F6D-39E7-EAF6-0793-C0C37AA75EA2}"/>
              </a:ext>
            </a:extLst>
          </p:cNvPr>
          <p:cNvSpPr txBox="1"/>
          <p:nvPr/>
        </p:nvSpPr>
        <p:spPr>
          <a:xfrm>
            <a:off x="1051094" y="1145893"/>
            <a:ext cx="2296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Mapper Machine 1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A7F369D8-3303-510A-F6E7-7D3CF85AFD5B}"/>
              </a:ext>
            </a:extLst>
          </p:cNvPr>
          <p:cNvSpPr/>
          <p:nvPr/>
        </p:nvSpPr>
        <p:spPr>
          <a:xfrm rot="16200000">
            <a:off x="1836139" y="2847492"/>
            <a:ext cx="1719836" cy="32032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Partition/Sort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7749CFB-B96D-4F5E-FABF-51A04541311D}"/>
              </a:ext>
            </a:extLst>
          </p:cNvPr>
          <p:cNvCxnSpPr/>
          <p:nvPr/>
        </p:nvCxnSpPr>
        <p:spPr>
          <a:xfrm flipV="1">
            <a:off x="2887114" y="2154596"/>
            <a:ext cx="460466" cy="59530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CFF7696-2244-FF28-014D-B6E0E9060116}"/>
              </a:ext>
            </a:extLst>
          </p:cNvPr>
          <p:cNvCxnSpPr/>
          <p:nvPr/>
        </p:nvCxnSpPr>
        <p:spPr>
          <a:xfrm flipV="1">
            <a:off x="2966260" y="2523294"/>
            <a:ext cx="381321" cy="4013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F8C2DB7-07AF-539F-C5B8-44505A146D6A}"/>
              </a:ext>
            </a:extLst>
          </p:cNvPr>
          <p:cNvCxnSpPr/>
          <p:nvPr/>
        </p:nvCxnSpPr>
        <p:spPr>
          <a:xfrm flipV="1">
            <a:off x="2957223" y="2848917"/>
            <a:ext cx="390358" cy="3166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149A657-4B4A-36D8-7E90-8399F80FF5F3}"/>
              </a:ext>
            </a:extLst>
          </p:cNvPr>
          <p:cNvCxnSpPr/>
          <p:nvPr/>
        </p:nvCxnSpPr>
        <p:spPr>
          <a:xfrm flipV="1">
            <a:off x="2960739" y="3346630"/>
            <a:ext cx="386841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55DC3C5-5493-0295-3D3C-E0E1446D690C}"/>
              </a:ext>
            </a:extLst>
          </p:cNvPr>
          <p:cNvCxnSpPr/>
          <p:nvPr/>
        </p:nvCxnSpPr>
        <p:spPr>
          <a:xfrm>
            <a:off x="2966260" y="3478005"/>
            <a:ext cx="381321" cy="1582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567800C-C6EE-1B36-F570-D7FB81732D77}"/>
              </a:ext>
            </a:extLst>
          </p:cNvPr>
          <p:cNvCxnSpPr/>
          <p:nvPr/>
        </p:nvCxnSpPr>
        <p:spPr>
          <a:xfrm>
            <a:off x="3003753" y="3662621"/>
            <a:ext cx="343828" cy="3194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950A9632-8A45-AAD0-DD77-E9ADB978196D}"/>
              </a:ext>
            </a:extLst>
          </p:cNvPr>
          <p:cNvSpPr/>
          <p:nvPr/>
        </p:nvSpPr>
        <p:spPr>
          <a:xfrm>
            <a:off x="3120826" y="1900815"/>
            <a:ext cx="700341" cy="208317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1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3DEDBD6F-C1C7-AE05-86F0-6FF7DE0073FC}"/>
              </a:ext>
            </a:extLst>
          </p:cNvPr>
          <p:cNvSpPr/>
          <p:nvPr/>
        </p:nvSpPr>
        <p:spPr>
          <a:xfrm>
            <a:off x="3347580" y="2314977"/>
            <a:ext cx="700341" cy="20831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2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17CBBB77-FDBD-C6D5-44E1-BF6235EB4BF2}"/>
              </a:ext>
            </a:extLst>
          </p:cNvPr>
          <p:cNvSpPr/>
          <p:nvPr/>
        </p:nvSpPr>
        <p:spPr>
          <a:xfrm>
            <a:off x="3402279" y="2744758"/>
            <a:ext cx="700341" cy="20831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6BE7031-A430-84F2-3460-2EB62F21ACEC}"/>
              </a:ext>
            </a:extLst>
          </p:cNvPr>
          <p:cNvSpPr txBox="1"/>
          <p:nvPr/>
        </p:nvSpPr>
        <p:spPr>
          <a:xfrm>
            <a:off x="3502864" y="3223204"/>
            <a:ext cx="379960" cy="2468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D5D7CC9-E6AC-0B03-45AA-F3AACA2AFAC5}"/>
              </a:ext>
            </a:extLst>
          </p:cNvPr>
          <p:cNvCxnSpPr>
            <a:stCxn id="23" idx="3"/>
          </p:cNvCxnSpPr>
          <p:nvPr/>
        </p:nvCxnSpPr>
        <p:spPr>
          <a:xfrm flipV="1">
            <a:off x="4225498" y="2229557"/>
            <a:ext cx="1704539" cy="51113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8CDD1F2-D263-3975-930F-66F3F1802CB1}"/>
              </a:ext>
            </a:extLst>
          </p:cNvPr>
          <p:cNvCxnSpPr/>
          <p:nvPr/>
        </p:nvCxnSpPr>
        <p:spPr>
          <a:xfrm flipV="1">
            <a:off x="4046442" y="2748260"/>
            <a:ext cx="1883595" cy="18425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D28E17B-3190-BC25-EBC6-C2EB3FE976E1}"/>
              </a:ext>
            </a:extLst>
          </p:cNvPr>
          <p:cNvCxnSpPr>
            <a:cxnSpLocks/>
            <a:stCxn id="51" idx="3"/>
          </p:cNvCxnSpPr>
          <p:nvPr/>
        </p:nvCxnSpPr>
        <p:spPr>
          <a:xfrm flipV="1">
            <a:off x="4224018" y="3194375"/>
            <a:ext cx="1627585" cy="239273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5418BFE-4F8A-93F4-A879-E11B3E990BC8}"/>
              </a:ext>
            </a:extLst>
          </p:cNvPr>
          <p:cNvSpPr txBox="1"/>
          <p:nvPr/>
        </p:nvSpPr>
        <p:spPr>
          <a:xfrm>
            <a:off x="451164" y="4337340"/>
            <a:ext cx="1567857" cy="8617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en-US" sz="1400" dirty="0"/>
              <a:t>doc 1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 doc 2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….</a:t>
            </a:r>
          </a:p>
        </p:txBody>
      </p:sp>
      <p:sp>
        <p:nvSpPr>
          <p:cNvPr id="45" name="Down Arrow 44">
            <a:extLst>
              <a:ext uri="{FF2B5EF4-FFF2-40B4-BE49-F238E27FC236}">
                <a16:creationId xmlns:a16="http://schemas.microsoft.com/office/drawing/2014/main" id="{F8D79254-1F1F-CD1A-D99E-966732804298}"/>
              </a:ext>
            </a:extLst>
          </p:cNvPr>
          <p:cNvSpPr/>
          <p:nvPr/>
        </p:nvSpPr>
        <p:spPr>
          <a:xfrm>
            <a:off x="1088534" y="5185914"/>
            <a:ext cx="313571" cy="413807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6DD535FB-B524-EAA1-1CF0-C6A378100A50}"/>
              </a:ext>
            </a:extLst>
          </p:cNvPr>
          <p:cNvSpPr/>
          <p:nvPr/>
        </p:nvSpPr>
        <p:spPr>
          <a:xfrm>
            <a:off x="435353" y="5622535"/>
            <a:ext cx="1388489" cy="60974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Counting logic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26C98AD-93FC-E7D4-0DA7-F1BCF8940FEF}"/>
              </a:ext>
            </a:extLst>
          </p:cNvPr>
          <p:cNvCxnSpPr/>
          <p:nvPr/>
        </p:nvCxnSpPr>
        <p:spPr>
          <a:xfrm>
            <a:off x="1921214" y="5939198"/>
            <a:ext cx="586495" cy="106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FACB11F7-9701-3CD5-D464-47B18415C2DB}"/>
              </a:ext>
            </a:extLst>
          </p:cNvPr>
          <p:cNvSpPr txBox="1"/>
          <p:nvPr/>
        </p:nvSpPr>
        <p:spPr>
          <a:xfrm>
            <a:off x="211222" y="6334379"/>
            <a:ext cx="2296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Mapper Machine 2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A41C5E71-FDCA-E92F-378D-32D3D5CB2020}"/>
              </a:ext>
            </a:extLst>
          </p:cNvPr>
          <p:cNvSpPr/>
          <p:nvPr/>
        </p:nvSpPr>
        <p:spPr>
          <a:xfrm rot="16200000">
            <a:off x="1790567" y="5717315"/>
            <a:ext cx="1808020" cy="32032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Partition/Sort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85E3CC2-E308-85FB-5EC1-ECDA04081AE5}"/>
              </a:ext>
            </a:extLst>
          </p:cNvPr>
          <p:cNvCxnSpPr/>
          <p:nvPr/>
        </p:nvCxnSpPr>
        <p:spPr>
          <a:xfrm flipV="1">
            <a:off x="2885634" y="4741939"/>
            <a:ext cx="460466" cy="59530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8DB7B26-C395-D584-3E0C-0F8C27496172}"/>
              </a:ext>
            </a:extLst>
          </p:cNvPr>
          <p:cNvCxnSpPr/>
          <p:nvPr/>
        </p:nvCxnSpPr>
        <p:spPr>
          <a:xfrm flipV="1">
            <a:off x="2964780" y="5110637"/>
            <a:ext cx="381321" cy="4013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505F05A-E19F-1349-597E-8F97BCAC4E94}"/>
              </a:ext>
            </a:extLst>
          </p:cNvPr>
          <p:cNvCxnSpPr/>
          <p:nvPr/>
        </p:nvCxnSpPr>
        <p:spPr>
          <a:xfrm flipV="1">
            <a:off x="2955743" y="5436260"/>
            <a:ext cx="390358" cy="3166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32F2FFF-C021-7DAF-AC3F-91FD4B338157}"/>
              </a:ext>
            </a:extLst>
          </p:cNvPr>
          <p:cNvCxnSpPr/>
          <p:nvPr/>
        </p:nvCxnSpPr>
        <p:spPr>
          <a:xfrm flipV="1">
            <a:off x="2959259" y="5933973"/>
            <a:ext cx="386841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099CF93-6D33-FDAA-BCDC-7FC0B904C74C}"/>
              </a:ext>
            </a:extLst>
          </p:cNvPr>
          <p:cNvCxnSpPr/>
          <p:nvPr/>
        </p:nvCxnSpPr>
        <p:spPr>
          <a:xfrm>
            <a:off x="2964780" y="6065348"/>
            <a:ext cx="381321" cy="1582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2F49EE5-742D-EEBD-3436-7724623C141E}"/>
              </a:ext>
            </a:extLst>
          </p:cNvPr>
          <p:cNvCxnSpPr/>
          <p:nvPr/>
        </p:nvCxnSpPr>
        <p:spPr>
          <a:xfrm>
            <a:off x="3002273" y="6249964"/>
            <a:ext cx="343828" cy="3194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2B03F8D4-6A25-E1FB-610E-864DF068A976}"/>
              </a:ext>
            </a:extLst>
          </p:cNvPr>
          <p:cNvSpPr/>
          <p:nvPr/>
        </p:nvSpPr>
        <p:spPr>
          <a:xfrm>
            <a:off x="3119346" y="4488158"/>
            <a:ext cx="700342" cy="20831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1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F554AE3F-3A78-E9CA-0E87-BA021E73EB3F}"/>
              </a:ext>
            </a:extLst>
          </p:cNvPr>
          <p:cNvSpPr/>
          <p:nvPr/>
        </p:nvSpPr>
        <p:spPr>
          <a:xfrm>
            <a:off x="3346100" y="4902320"/>
            <a:ext cx="700342" cy="208317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2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BFBBE92F-7066-9492-5BE9-440BAB7F9002}"/>
              </a:ext>
            </a:extLst>
          </p:cNvPr>
          <p:cNvSpPr/>
          <p:nvPr/>
        </p:nvSpPr>
        <p:spPr>
          <a:xfrm>
            <a:off x="3400799" y="5332101"/>
            <a:ext cx="700342" cy="20831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D1AD72C-4FC0-D1D6-FAAB-03C6B3EF8511}"/>
              </a:ext>
            </a:extLst>
          </p:cNvPr>
          <p:cNvSpPr txBox="1"/>
          <p:nvPr/>
        </p:nvSpPr>
        <p:spPr>
          <a:xfrm>
            <a:off x="3501384" y="5810547"/>
            <a:ext cx="379960" cy="2468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733BC1C-9434-624C-9878-39CACA7E79FF}"/>
              </a:ext>
            </a:extLst>
          </p:cNvPr>
          <p:cNvGrpSpPr/>
          <p:nvPr/>
        </p:nvGrpSpPr>
        <p:grpSpPr>
          <a:xfrm>
            <a:off x="4835407" y="1187082"/>
            <a:ext cx="3371833" cy="5425777"/>
            <a:chOff x="4835407" y="1187082"/>
            <a:chExt cx="3371833" cy="5425777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AF71626-CC56-61E8-097B-3768A09EC94D}"/>
                </a:ext>
              </a:extLst>
            </p:cNvPr>
            <p:cNvGrpSpPr/>
            <p:nvPr/>
          </p:nvGrpSpPr>
          <p:grpSpPr>
            <a:xfrm>
              <a:off x="4835407" y="1187082"/>
              <a:ext cx="3260843" cy="2899111"/>
              <a:chOff x="4835407" y="1187082"/>
              <a:chExt cx="3260843" cy="3715239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A154DB5-69E0-CA04-56A2-132C47EBD259}"/>
                  </a:ext>
                </a:extLst>
              </p:cNvPr>
              <p:cNvSpPr txBox="1"/>
              <p:nvPr/>
            </p:nvSpPr>
            <p:spPr>
              <a:xfrm>
                <a:off x="6076950" y="1685925"/>
                <a:ext cx="1714500" cy="102548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>
                  <a:buFont typeface="Arial" pitchFamily="34" charset="0"/>
                  <a:buChar char="•"/>
                </a:pPr>
                <a:r>
                  <a:rPr lang="en-US" dirty="0"/>
                  <a:t> </a:t>
                </a:r>
                <a:r>
                  <a:rPr lang="en-US" sz="1400" dirty="0"/>
                  <a:t>ctr[x1] += d1</a:t>
                </a:r>
              </a:p>
              <a:p>
                <a:pPr>
                  <a:buFont typeface="Arial" pitchFamily="34" charset="0"/>
                  <a:buChar char="•"/>
                </a:pPr>
                <a:r>
                  <a:rPr lang="en-US" sz="1400" dirty="0"/>
                  <a:t> ctr[x1] += d2</a:t>
                </a:r>
              </a:p>
              <a:p>
                <a:pPr>
                  <a:buFont typeface="Arial" pitchFamily="34" charset="0"/>
                  <a:buChar char="•"/>
                </a:pPr>
                <a:r>
                  <a:rPr lang="en-US" sz="1400" dirty="0"/>
                  <a:t> ….</a:t>
                </a:r>
              </a:p>
            </p:txBody>
          </p:sp>
          <p:sp>
            <p:nvSpPr>
              <p:cNvPr id="27" name="Down Arrow 26">
                <a:extLst>
                  <a:ext uri="{FF2B5EF4-FFF2-40B4-BE49-F238E27FC236}">
                    <a16:creationId xmlns:a16="http://schemas.microsoft.com/office/drawing/2014/main" id="{85E95BE7-46E0-FD49-C093-5AA4EDBA1BA4}"/>
                  </a:ext>
                </a:extLst>
              </p:cNvPr>
              <p:cNvSpPr/>
              <p:nvPr/>
            </p:nvSpPr>
            <p:spPr>
              <a:xfrm>
                <a:off x="6810375" y="2565616"/>
                <a:ext cx="342900" cy="619125"/>
              </a:xfrm>
              <a:prstGeom prst="down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74FD951F-29A0-D966-8C12-A054079A06AA}"/>
                  </a:ext>
                </a:extLst>
              </p:cNvPr>
              <p:cNvSpPr/>
              <p:nvPr/>
            </p:nvSpPr>
            <p:spPr>
              <a:xfrm>
                <a:off x="6059882" y="3215843"/>
                <a:ext cx="1714500" cy="727559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Logic to combine counter updates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A7666029-C206-C7C5-CD6F-BE433B5373BF}"/>
                  </a:ext>
                </a:extLst>
              </p:cNvPr>
              <p:cNvSpPr/>
              <p:nvPr/>
            </p:nvSpPr>
            <p:spPr>
              <a:xfrm>
                <a:off x="4835407" y="1238251"/>
                <a:ext cx="3260843" cy="3664070"/>
              </a:xfrm>
              <a:prstGeom prst="rect">
                <a:avLst/>
              </a:prstGeom>
              <a:noFill/>
              <a:ln>
                <a:prstDash val="dashDot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7D7071D-5DC8-56AA-402D-EC1387DEE83A}"/>
                  </a:ext>
                </a:extLst>
              </p:cNvPr>
              <p:cNvSpPr txBox="1"/>
              <p:nvPr/>
            </p:nvSpPr>
            <p:spPr>
              <a:xfrm>
                <a:off x="5513050" y="1187082"/>
                <a:ext cx="2148345" cy="4733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Reducer Machine 1</a:t>
                </a:r>
              </a:p>
            </p:txBody>
          </p:sp>
          <p:sp>
            <p:nvSpPr>
              <p:cNvPr id="54" name="Rounded Rectangle 53">
                <a:extLst>
                  <a:ext uri="{FF2B5EF4-FFF2-40B4-BE49-F238E27FC236}">
                    <a16:creationId xmlns:a16="http://schemas.microsoft.com/office/drawing/2014/main" id="{C6437F13-60E9-C0FB-CC23-3DE35FAA02FC}"/>
                  </a:ext>
                </a:extLst>
              </p:cNvPr>
              <p:cNvSpPr/>
              <p:nvPr/>
            </p:nvSpPr>
            <p:spPr>
              <a:xfrm rot="16200000">
                <a:off x="3989702" y="3141597"/>
                <a:ext cx="2696416" cy="350282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Merge Spill Files</a:t>
                </a:r>
              </a:p>
            </p:txBody>
          </p:sp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3648EEC-1BBE-5E63-C51C-9DCE287C2130}"/>
                </a:ext>
              </a:extLst>
            </p:cNvPr>
            <p:cNvSpPr txBox="1"/>
            <p:nvPr/>
          </p:nvSpPr>
          <p:spPr>
            <a:xfrm>
              <a:off x="6187940" y="4427463"/>
              <a:ext cx="1714500" cy="800219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>
                <a:buFont typeface="Arial" pitchFamily="34" charset="0"/>
                <a:buChar char="•"/>
              </a:pPr>
              <a:r>
                <a:rPr lang="en-US" dirty="0"/>
                <a:t> </a:t>
              </a:r>
              <a:r>
                <a:rPr lang="en-US" sz="1400" dirty="0"/>
                <a:t>ctr[x2] += d1</a:t>
              </a:r>
            </a:p>
            <a:p>
              <a:pPr>
                <a:buFont typeface="Arial" pitchFamily="34" charset="0"/>
                <a:buChar char="•"/>
              </a:pPr>
              <a:r>
                <a:rPr lang="en-US" sz="1400" dirty="0"/>
                <a:t> ctr[x2] += d2</a:t>
              </a:r>
            </a:p>
            <a:p>
              <a:pPr>
                <a:buFont typeface="Arial" pitchFamily="34" charset="0"/>
                <a:buChar char="•"/>
              </a:pPr>
              <a:r>
                <a:rPr lang="en-US" sz="1400" dirty="0"/>
                <a:t> ….</a:t>
              </a:r>
            </a:p>
          </p:txBody>
        </p:sp>
        <p:sp>
          <p:nvSpPr>
            <p:cNvPr id="68" name="Down Arrow 67">
              <a:extLst>
                <a:ext uri="{FF2B5EF4-FFF2-40B4-BE49-F238E27FC236}">
                  <a16:creationId xmlns:a16="http://schemas.microsoft.com/office/drawing/2014/main" id="{B4BE8DB5-8EAB-24DD-CD7F-B69F378CC960}"/>
                </a:ext>
              </a:extLst>
            </p:cNvPr>
            <p:cNvSpPr/>
            <p:nvPr/>
          </p:nvSpPr>
          <p:spPr>
            <a:xfrm>
              <a:off x="6921365" y="5134911"/>
              <a:ext cx="342900" cy="412298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ounded Rectangle 68">
              <a:extLst>
                <a:ext uri="{FF2B5EF4-FFF2-40B4-BE49-F238E27FC236}">
                  <a16:creationId xmlns:a16="http://schemas.microsoft.com/office/drawing/2014/main" id="{062FE184-47C6-315B-4CC6-56864C3532F7}"/>
                </a:ext>
              </a:extLst>
            </p:cNvPr>
            <p:cNvSpPr/>
            <p:nvPr/>
          </p:nvSpPr>
          <p:spPr>
            <a:xfrm>
              <a:off x="6187940" y="5567097"/>
              <a:ext cx="1714500" cy="484508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combine counter updates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8D13C602-4256-BD78-036A-73E7FA046305}"/>
                </a:ext>
              </a:extLst>
            </p:cNvPr>
            <p:cNvSpPr/>
            <p:nvPr/>
          </p:nvSpPr>
          <p:spPr>
            <a:xfrm>
              <a:off x="4946397" y="4243130"/>
              <a:ext cx="3260843" cy="2326248"/>
            </a:xfrm>
            <a:prstGeom prst="rect">
              <a:avLst/>
            </a:prstGeom>
            <a:noFill/>
            <a:ln>
              <a:prstDash val="dash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178599C4-D00C-7B88-09DB-16C643521F91}"/>
                </a:ext>
              </a:extLst>
            </p:cNvPr>
            <p:cNvSpPr txBox="1"/>
            <p:nvPr/>
          </p:nvSpPr>
          <p:spPr>
            <a:xfrm>
              <a:off x="5407670" y="6243527"/>
              <a:ext cx="21483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Reducer Machine 2</a:t>
              </a:r>
            </a:p>
          </p:txBody>
        </p:sp>
        <p:sp>
          <p:nvSpPr>
            <p:cNvPr id="72" name="Rounded Rectangle 71">
              <a:extLst>
                <a:ext uri="{FF2B5EF4-FFF2-40B4-BE49-F238E27FC236}">
                  <a16:creationId xmlns:a16="http://schemas.microsoft.com/office/drawing/2014/main" id="{BD43E244-BBF5-5DAF-3F2A-4C0441F349B5}"/>
                </a:ext>
              </a:extLst>
            </p:cNvPr>
            <p:cNvSpPr/>
            <p:nvPr/>
          </p:nvSpPr>
          <p:spPr>
            <a:xfrm rot="16200000">
              <a:off x="4261707" y="5188417"/>
              <a:ext cx="1941642" cy="350282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Merge Spill Files</a:t>
              </a:r>
            </a:p>
          </p:txBody>
        </p:sp>
      </p:grp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3F0676F6-F5CD-6C26-BCB4-134AE7E118E8}"/>
              </a:ext>
            </a:extLst>
          </p:cNvPr>
          <p:cNvSpPr/>
          <p:nvPr/>
        </p:nvSpPr>
        <p:spPr>
          <a:xfrm>
            <a:off x="3402560" y="3877876"/>
            <a:ext cx="821458" cy="208317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AD3B2C-CBF9-11D1-D084-A3336B913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374186-09C2-5049-0FD9-3416D1873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06462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accent1"/>
                </a:solidFill>
                <a:sym typeface="Wingdings" pitchFamily="2" charset="2"/>
              </a:rPr>
              <a:t>Stream and Sort Counting  Distributed Counting</a:t>
            </a:r>
            <a:endParaRPr lang="en-US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90942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1D0CF-3239-81B8-D3B0-E5781B529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299A89CF-BC78-B36E-E467-933886032177}"/>
              </a:ext>
            </a:extLst>
          </p:cNvPr>
          <p:cNvSpPr/>
          <p:nvPr/>
        </p:nvSpPr>
        <p:spPr>
          <a:xfrm>
            <a:off x="217595" y="4343749"/>
            <a:ext cx="4006423" cy="2486724"/>
          </a:xfrm>
          <a:prstGeom prst="rect">
            <a:avLst/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6A6B181-F91C-1815-2566-9209F160CE00}"/>
              </a:ext>
            </a:extLst>
          </p:cNvPr>
          <p:cNvCxnSpPr>
            <a:cxnSpLocks/>
          </p:cNvCxnSpPr>
          <p:nvPr/>
        </p:nvCxnSpPr>
        <p:spPr>
          <a:xfrm>
            <a:off x="4272731" y="4057558"/>
            <a:ext cx="1915209" cy="7700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17273B63-3F1F-E086-B2AC-A4FDACBC50DA}"/>
              </a:ext>
            </a:extLst>
          </p:cNvPr>
          <p:cNvCxnSpPr/>
          <p:nvPr/>
        </p:nvCxnSpPr>
        <p:spPr>
          <a:xfrm>
            <a:off x="4102620" y="5022453"/>
            <a:ext cx="2085320" cy="7938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563FC95-40AD-BDBF-5673-A360D5D46EA1}"/>
              </a:ext>
            </a:extLst>
          </p:cNvPr>
          <p:cNvCxnSpPr/>
          <p:nvPr/>
        </p:nvCxnSpPr>
        <p:spPr>
          <a:xfrm>
            <a:off x="3882824" y="1984963"/>
            <a:ext cx="2347499" cy="240777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746C8AB-04AC-C5B3-D87A-B756DA09D948}"/>
              </a:ext>
            </a:extLst>
          </p:cNvPr>
          <p:cNvCxnSpPr/>
          <p:nvPr/>
        </p:nvCxnSpPr>
        <p:spPr>
          <a:xfrm flipV="1">
            <a:off x="4225498" y="1984963"/>
            <a:ext cx="1613327" cy="4513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26A8E72-74FB-9EF6-AA59-C596D102D55C}"/>
              </a:ext>
            </a:extLst>
          </p:cNvPr>
          <p:cNvSpPr txBox="1"/>
          <p:nvPr/>
        </p:nvSpPr>
        <p:spPr>
          <a:xfrm>
            <a:off x="436833" y="1537466"/>
            <a:ext cx="1567857" cy="8617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en-US" sz="1400" dirty="0"/>
              <a:t>doc 1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 doc 2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….</a:t>
            </a:r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66C4C431-D4A2-0777-949E-37EBB219669B}"/>
              </a:ext>
            </a:extLst>
          </p:cNvPr>
          <p:cNvSpPr/>
          <p:nvPr/>
        </p:nvSpPr>
        <p:spPr>
          <a:xfrm>
            <a:off x="1107527" y="2435110"/>
            <a:ext cx="313571" cy="413807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2F84630-DA46-9995-85F4-639BF64916E4}"/>
              </a:ext>
            </a:extLst>
          </p:cNvPr>
          <p:cNvSpPr/>
          <p:nvPr/>
        </p:nvSpPr>
        <p:spPr>
          <a:xfrm>
            <a:off x="436833" y="2969876"/>
            <a:ext cx="1388489" cy="60974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Counting logic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A74656C-FC02-83D2-F242-41193F29C3D1}"/>
              </a:ext>
            </a:extLst>
          </p:cNvPr>
          <p:cNvCxnSpPr/>
          <p:nvPr/>
        </p:nvCxnSpPr>
        <p:spPr>
          <a:xfrm>
            <a:off x="1922694" y="3286539"/>
            <a:ext cx="586495" cy="106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99406934-77B9-7BA7-B45A-684ACD0BF9C1}"/>
              </a:ext>
            </a:extLst>
          </p:cNvPr>
          <p:cNvSpPr/>
          <p:nvPr/>
        </p:nvSpPr>
        <p:spPr>
          <a:xfrm>
            <a:off x="219075" y="1238251"/>
            <a:ext cx="4006423" cy="3004879"/>
          </a:xfrm>
          <a:prstGeom prst="rect">
            <a:avLst/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E24106-9599-CAA5-A96D-2B85770FE20D}"/>
              </a:ext>
            </a:extLst>
          </p:cNvPr>
          <p:cNvSpPr txBox="1"/>
          <p:nvPr/>
        </p:nvSpPr>
        <p:spPr>
          <a:xfrm>
            <a:off x="1051094" y="1145893"/>
            <a:ext cx="2296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Mapper Machine 1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3B266129-9124-8BF2-8F6C-63B86AC2842D}"/>
              </a:ext>
            </a:extLst>
          </p:cNvPr>
          <p:cNvSpPr/>
          <p:nvPr/>
        </p:nvSpPr>
        <p:spPr>
          <a:xfrm rot="16200000">
            <a:off x="1836139" y="2847492"/>
            <a:ext cx="1719836" cy="32032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Partition/Sort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92357CC-4131-F84C-FB66-3107C0DEA167}"/>
              </a:ext>
            </a:extLst>
          </p:cNvPr>
          <p:cNvCxnSpPr/>
          <p:nvPr/>
        </p:nvCxnSpPr>
        <p:spPr>
          <a:xfrm flipV="1">
            <a:off x="2887114" y="2154596"/>
            <a:ext cx="460466" cy="59530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FAEC77E-760B-614D-6B72-768B8FDF1DD5}"/>
              </a:ext>
            </a:extLst>
          </p:cNvPr>
          <p:cNvCxnSpPr/>
          <p:nvPr/>
        </p:nvCxnSpPr>
        <p:spPr>
          <a:xfrm flipV="1">
            <a:off x="2966260" y="2523294"/>
            <a:ext cx="381321" cy="4013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EE8CFEB-E1E3-C7DE-AA30-53731C72A8AA}"/>
              </a:ext>
            </a:extLst>
          </p:cNvPr>
          <p:cNvCxnSpPr/>
          <p:nvPr/>
        </p:nvCxnSpPr>
        <p:spPr>
          <a:xfrm flipV="1">
            <a:off x="2957223" y="2848917"/>
            <a:ext cx="390358" cy="3166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C8437D2-ABF1-32DE-3087-92EFD4509791}"/>
              </a:ext>
            </a:extLst>
          </p:cNvPr>
          <p:cNvCxnSpPr/>
          <p:nvPr/>
        </p:nvCxnSpPr>
        <p:spPr>
          <a:xfrm flipV="1">
            <a:off x="2960739" y="3346630"/>
            <a:ext cx="386841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A203554-F059-429E-9E4D-246C7622571A}"/>
              </a:ext>
            </a:extLst>
          </p:cNvPr>
          <p:cNvCxnSpPr/>
          <p:nvPr/>
        </p:nvCxnSpPr>
        <p:spPr>
          <a:xfrm>
            <a:off x="2966260" y="3478005"/>
            <a:ext cx="381321" cy="1582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83D602E-81BF-B8A9-608B-D7CB46F92F05}"/>
              </a:ext>
            </a:extLst>
          </p:cNvPr>
          <p:cNvCxnSpPr/>
          <p:nvPr/>
        </p:nvCxnSpPr>
        <p:spPr>
          <a:xfrm>
            <a:off x="3003753" y="3662621"/>
            <a:ext cx="343828" cy="3194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89B2EEA6-67F0-9964-3F66-99A7334B4DF9}"/>
              </a:ext>
            </a:extLst>
          </p:cNvPr>
          <p:cNvSpPr/>
          <p:nvPr/>
        </p:nvSpPr>
        <p:spPr>
          <a:xfrm>
            <a:off x="3120826" y="1900815"/>
            <a:ext cx="700341" cy="208317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1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4AD9CEFB-1B0E-1F0A-9F7C-2BF09B199F20}"/>
              </a:ext>
            </a:extLst>
          </p:cNvPr>
          <p:cNvSpPr/>
          <p:nvPr/>
        </p:nvSpPr>
        <p:spPr>
          <a:xfrm>
            <a:off x="3347580" y="2314977"/>
            <a:ext cx="700341" cy="20831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2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3F0E8AD-0740-3235-FFE2-5A6C0C1BA526}"/>
              </a:ext>
            </a:extLst>
          </p:cNvPr>
          <p:cNvSpPr/>
          <p:nvPr/>
        </p:nvSpPr>
        <p:spPr>
          <a:xfrm>
            <a:off x="3402279" y="2744758"/>
            <a:ext cx="700341" cy="20831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C96E720-73F7-E592-A4A4-1F7F837B1C65}"/>
              </a:ext>
            </a:extLst>
          </p:cNvPr>
          <p:cNvSpPr txBox="1"/>
          <p:nvPr/>
        </p:nvSpPr>
        <p:spPr>
          <a:xfrm>
            <a:off x="3502864" y="3223204"/>
            <a:ext cx="379960" cy="2468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788D35B-EDED-66A5-B827-F8829EDBE490}"/>
              </a:ext>
            </a:extLst>
          </p:cNvPr>
          <p:cNvCxnSpPr>
            <a:stCxn id="23" idx="3"/>
          </p:cNvCxnSpPr>
          <p:nvPr/>
        </p:nvCxnSpPr>
        <p:spPr>
          <a:xfrm flipV="1">
            <a:off x="4225498" y="2229557"/>
            <a:ext cx="1704539" cy="51113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BC490B2-2A2F-AB97-B5AF-614E14EA1A2C}"/>
              </a:ext>
            </a:extLst>
          </p:cNvPr>
          <p:cNvCxnSpPr/>
          <p:nvPr/>
        </p:nvCxnSpPr>
        <p:spPr>
          <a:xfrm flipV="1">
            <a:off x="4046442" y="2748260"/>
            <a:ext cx="1883595" cy="18425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EFECD39-A201-CBAC-18F4-5309B8193C25}"/>
              </a:ext>
            </a:extLst>
          </p:cNvPr>
          <p:cNvCxnSpPr>
            <a:cxnSpLocks/>
            <a:stCxn id="51" idx="3"/>
          </p:cNvCxnSpPr>
          <p:nvPr/>
        </p:nvCxnSpPr>
        <p:spPr>
          <a:xfrm flipV="1">
            <a:off x="4224018" y="3194375"/>
            <a:ext cx="1627585" cy="239273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CA75F7BC-CA72-2C07-F012-718543CB5042}"/>
              </a:ext>
            </a:extLst>
          </p:cNvPr>
          <p:cNvSpPr txBox="1"/>
          <p:nvPr/>
        </p:nvSpPr>
        <p:spPr>
          <a:xfrm>
            <a:off x="451164" y="4337340"/>
            <a:ext cx="1567857" cy="8617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en-US" sz="1400" dirty="0"/>
              <a:t>doc 1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 doc 2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….</a:t>
            </a:r>
          </a:p>
        </p:txBody>
      </p:sp>
      <p:sp>
        <p:nvSpPr>
          <p:cNvPr id="45" name="Down Arrow 44">
            <a:extLst>
              <a:ext uri="{FF2B5EF4-FFF2-40B4-BE49-F238E27FC236}">
                <a16:creationId xmlns:a16="http://schemas.microsoft.com/office/drawing/2014/main" id="{32D8ED5E-4162-4509-E172-2F3684FC5902}"/>
              </a:ext>
            </a:extLst>
          </p:cNvPr>
          <p:cNvSpPr/>
          <p:nvPr/>
        </p:nvSpPr>
        <p:spPr>
          <a:xfrm>
            <a:off x="1088534" y="5185914"/>
            <a:ext cx="313571" cy="413807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B0D09BA8-C6D2-72C4-B86A-5C34D89A9BE5}"/>
              </a:ext>
            </a:extLst>
          </p:cNvPr>
          <p:cNvSpPr/>
          <p:nvPr/>
        </p:nvSpPr>
        <p:spPr>
          <a:xfrm>
            <a:off x="435353" y="5622535"/>
            <a:ext cx="1388489" cy="60974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Counting logic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D08C7BE-006D-4E94-9A1E-486790BF038E}"/>
              </a:ext>
            </a:extLst>
          </p:cNvPr>
          <p:cNvCxnSpPr/>
          <p:nvPr/>
        </p:nvCxnSpPr>
        <p:spPr>
          <a:xfrm>
            <a:off x="1921214" y="5939198"/>
            <a:ext cx="586495" cy="106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8A0E1184-64D4-5093-D1D4-3D1BA7A47E4E}"/>
              </a:ext>
            </a:extLst>
          </p:cNvPr>
          <p:cNvSpPr txBox="1"/>
          <p:nvPr/>
        </p:nvSpPr>
        <p:spPr>
          <a:xfrm>
            <a:off x="211222" y="6334379"/>
            <a:ext cx="2296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Mapper Machine 2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BBB03E97-EA4E-D5B8-C371-0B1DD530F549}"/>
              </a:ext>
            </a:extLst>
          </p:cNvPr>
          <p:cNvSpPr/>
          <p:nvPr/>
        </p:nvSpPr>
        <p:spPr>
          <a:xfrm rot="16200000">
            <a:off x="1790567" y="5717315"/>
            <a:ext cx="1808020" cy="32032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Partition/Sort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653B464-5C7B-E9DF-613E-05C7C9495FA3}"/>
              </a:ext>
            </a:extLst>
          </p:cNvPr>
          <p:cNvCxnSpPr/>
          <p:nvPr/>
        </p:nvCxnSpPr>
        <p:spPr>
          <a:xfrm flipV="1">
            <a:off x="2885634" y="4741939"/>
            <a:ext cx="460466" cy="59530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0304ACE-266B-9AE4-67C1-0AF46B771B02}"/>
              </a:ext>
            </a:extLst>
          </p:cNvPr>
          <p:cNvCxnSpPr/>
          <p:nvPr/>
        </p:nvCxnSpPr>
        <p:spPr>
          <a:xfrm flipV="1">
            <a:off x="2964780" y="5110637"/>
            <a:ext cx="381321" cy="4013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B7A5ACE-12CF-016E-A598-1D99CC8F538B}"/>
              </a:ext>
            </a:extLst>
          </p:cNvPr>
          <p:cNvCxnSpPr/>
          <p:nvPr/>
        </p:nvCxnSpPr>
        <p:spPr>
          <a:xfrm flipV="1">
            <a:off x="2955743" y="5436260"/>
            <a:ext cx="390358" cy="3166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38AA073-2E28-7D42-810B-95BC38E44AAF}"/>
              </a:ext>
            </a:extLst>
          </p:cNvPr>
          <p:cNvCxnSpPr/>
          <p:nvPr/>
        </p:nvCxnSpPr>
        <p:spPr>
          <a:xfrm flipV="1">
            <a:off x="2959259" y="5933973"/>
            <a:ext cx="386841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F149E02-F849-8443-BB7F-8D8E4CBCA973}"/>
              </a:ext>
            </a:extLst>
          </p:cNvPr>
          <p:cNvCxnSpPr/>
          <p:nvPr/>
        </p:nvCxnSpPr>
        <p:spPr>
          <a:xfrm>
            <a:off x="2964780" y="6065348"/>
            <a:ext cx="381321" cy="1582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F350B99-8CA3-F0DB-AD10-A8EC38B0BB74}"/>
              </a:ext>
            </a:extLst>
          </p:cNvPr>
          <p:cNvCxnSpPr/>
          <p:nvPr/>
        </p:nvCxnSpPr>
        <p:spPr>
          <a:xfrm>
            <a:off x="3002273" y="6249964"/>
            <a:ext cx="343828" cy="3194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03D749CB-D7DD-1985-D217-80C2142F054C}"/>
              </a:ext>
            </a:extLst>
          </p:cNvPr>
          <p:cNvSpPr/>
          <p:nvPr/>
        </p:nvSpPr>
        <p:spPr>
          <a:xfrm>
            <a:off x="3119346" y="4488158"/>
            <a:ext cx="700342" cy="20831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1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7510102D-BF39-D456-3CAF-B3A1F1B10E1F}"/>
              </a:ext>
            </a:extLst>
          </p:cNvPr>
          <p:cNvSpPr/>
          <p:nvPr/>
        </p:nvSpPr>
        <p:spPr>
          <a:xfrm>
            <a:off x="3346100" y="4902320"/>
            <a:ext cx="700342" cy="208317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2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D7FBCC09-C26C-7737-990A-23EEF9B7A1EC}"/>
              </a:ext>
            </a:extLst>
          </p:cNvPr>
          <p:cNvSpPr/>
          <p:nvPr/>
        </p:nvSpPr>
        <p:spPr>
          <a:xfrm>
            <a:off x="3400799" y="5332101"/>
            <a:ext cx="700342" cy="20831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5EB0180-B8E5-F4CF-A497-0C3DC80068F0}"/>
              </a:ext>
            </a:extLst>
          </p:cNvPr>
          <p:cNvSpPr txBox="1"/>
          <p:nvPr/>
        </p:nvSpPr>
        <p:spPr>
          <a:xfrm>
            <a:off x="3501384" y="5810547"/>
            <a:ext cx="379960" cy="2468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9B49C0C5-1CBB-D9D7-FE0A-4DD93736BA8F}"/>
              </a:ext>
            </a:extLst>
          </p:cNvPr>
          <p:cNvSpPr/>
          <p:nvPr/>
        </p:nvSpPr>
        <p:spPr>
          <a:xfrm>
            <a:off x="3402560" y="3877876"/>
            <a:ext cx="821458" cy="208317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F833C2-0C22-FEB3-2339-C0840076B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7FBEE9-0D06-7840-9663-47BB2208A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06462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accent1"/>
                </a:solidFill>
                <a:sym typeface="Wingdings" pitchFamily="2" charset="2"/>
              </a:rPr>
              <a:t>Stream and Sort Counting  Distributed Counting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F5AD5E-C883-D18F-01B7-67BE7E4B4E74}"/>
              </a:ext>
            </a:extLst>
          </p:cNvPr>
          <p:cNvSpPr txBox="1"/>
          <p:nvPr/>
        </p:nvSpPr>
        <p:spPr>
          <a:xfrm>
            <a:off x="4846961" y="1582340"/>
            <a:ext cx="3945924" cy="397031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Mapper/counter machines run the “Map phase” of map-reduce</a:t>
            </a:r>
          </a:p>
          <a:p>
            <a:endParaRPr lang="en-US" dirty="0"/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Input different subsets of the total inputs</a:t>
            </a:r>
          </a:p>
          <a:p>
            <a:endParaRPr lang="en-US" dirty="0"/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Output (sort </a:t>
            </a:r>
            <a:r>
              <a:rPr lang="en-US" dirty="0" err="1"/>
              <a:t>key,value</a:t>
            </a:r>
            <a:r>
              <a:rPr lang="en-US" dirty="0"/>
              <a:t>) pairs</a:t>
            </a:r>
          </a:p>
          <a:p>
            <a:pPr marL="285750" indent="-285750">
              <a:buFont typeface="Arial" charset="0"/>
              <a:buChar char="•"/>
            </a:pPr>
            <a:endParaRPr lang="en-US" dirty="0"/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The (</a:t>
            </a:r>
            <a:r>
              <a:rPr lang="en-US" dirty="0" err="1"/>
              <a:t>key,value</a:t>
            </a:r>
            <a:r>
              <a:rPr lang="en-US" dirty="0"/>
              <a:t>) pairs are </a:t>
            </a:r>
            <a:r>
              <a:rPr lang="en-US" b="1" dirty="0"/>
              <a:t>partitioned based on the key</a:t>
            </a:r>
          </a:p>
          <a:p>
            <a:endParaRPr lang="en-US" b="1" dirty="0"/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Mappers </a:t>
            </a:r>
            <a:r>
              <a:rPr lang="en-US" b="1" dirty="0"/>
              <a:t>share </a:t>
            </a:r>
            <a:r>
              <a:rPr lang="en-US" dirty="0"/>
              <a:t>knowledge about </a:t>
            </a:r>
            <a:r>
              <a:rPr lang="en-US" b="1" dirty="0"/>
              <a:t>how to partition</a:t>
            </a:r>
          </a:p>
          <a:p>
            <a:pPr marL="285750" indent="-285750">
              <a:buFont typeface="Arial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0951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74CC9-3523-018D-DF3B-1F35C2607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E80F1754-0BE6-98F7-8445-5FF2D04CBEE0}"/>
              </a:ext>
            </a:extLst>
          </p:cNvPr>
          <p:cNvCxnSpPr>
            <a:endCxn id="67" idx="1"/>
          </p:cNvCxnSpPr>
          <p:nvPr/>
        </p:nvCxnSpPr>
        <p:spPr>
          <a:xfrm>
            <a:off x="4272731" y="4057558"/>
            <a:ext cx="1915209" cy="7700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28CB32F-B6C6-3C76-2C9E-EABCA6D1C12D}"/>
              </a:ext>
            </a:extLst>
          </p:cNvPr>
          <p:cNvCxnSpPr/>
          <p:nvPr/>
        </p:nvCxnSpPr>
        <p:spPr>
          <a:xfrm>
            <a:off x="4102620" y="5022453"/>
            <a:ext cx="2085320" cy="7938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6BB26EE-CC89-6919-08F6-B861A2CB3E04}"/>
              </a:ext>
            </a:extLst>
          </p:cNvPr>
          <p:cNvCxnSpPr/>
          <p:nvPr/>
        </p:nvCxnSpPr>
        <p:spPr>
          <a:xfrm>
            <a:off x="3882824" y="1984963"/>
            <a:ext cx="2347499" cy="240777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4245D1E-B118-2DC2-1A7F-EF46363CCDC2}"/>
              </a:ext>
            </a:extLst>
          </p:cNvPr>
          <p:cNvCxnSpPr/>
          <p:nvPr/>
        </p:nvCxnSpPr>
        <p:spPr>
          <a:xfrm flipV="1">
            <a:off x="4225498" y="1984963"/>
            <a:ext cx="1613327" cy="4513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8A87EF8-9B20-A30A-4519-9FEB7C2BCD54}"/>
              </a:ext>
            </a:extLst>
          </p:cNvPr>
          <p:cNvCxnSpPr>
            <a:cxnSpLocks/>
          </p:cNvCxnSpPr>
          <p:nvPr/>
        </p:nvCxnSpPr>
        <p:spPr>
          <a:xfrm flipV="1">
            <a:off x="4225498" y="2229557"/>
            <a:ext cx="1704539" cy="51113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B7485E4-176F-164F-311E-48CD0766228B}"/>
              </a:ext>
            </a:extLst>
          </p:cNvPr>
          <p:cNvCxnSpPr/>
          <p:nvPr/>
        </p:nvCxnSpPr>
        <p:spPr>
          <a:xfrm flipV="1">
            <a:off x="4046442" y="2748260"/>
            <a:ext cx="1883595" cy="18425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6767A05-A45F-45B3-A131-C7B1D2F0F592}"/>
              </a:ext>
            </a:extLst>
          </p:cNvPr>
          <p:cNvCxnSpPr>
            <a:cxnSpLocks/>
          </p:cNvCxnSpPr>
          <p:nvPr/>
        </p:nvCxnSpPr>
        <p:spPr>
          <a:xfrm flipV="1">
            <a:off x="4224018" y="3194375"/>
            <a:ext cx="1627585" cy="239273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4D1E973D-D660-94C2-B6AB-F34F55EFD92E}"/>
              </a:ext>
            </a:extLst>
          </p:cNvPr>
          <p:cNvGrpSpPr/>
          <p:nvPr/>
        </p:nvGrpSpPr>
        <p:grpSpPr>
          <a:xfrm>
            <a:off x="4835407" y="1187082"/>
            <a:ext cx="3371833" cy="5425777"/>
            <a:chOff x="4835407" y="1187082"/>
            <a:chExt cx="3371833" cy="5425777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13AD143-4012-9551-E23C-79D54FB2CA1C}"/>
                </a:ext>
              </a:extLst>
            </p:cNvPr>
            <p:cNvGrpSpPr/>
            <p:nvPr/>
          </p:nvGrpSpPr>
          <p:grpSpPr>
            <a:xfrm>
              <a:off x="4835407" y="1187082"/>
              <a:ext cx="3260843" cy="2899111"/>
              <a:chOff x="4835407" y="1187082"/>
              <a:chExt cx="3260843" cy="3715239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40C4F54-BA11-7054-D971-ED5829325412}"/>
                  </a:ext>
                </a:extLst>
              </p:cNvPr>
              <p:cNvSpPr txBox="1"/>
              <p:nvPr/>
            </p:nvSpPr>
            <p:spPr>
              <a:xfrm>
                <a:off x="6076950" y="1685925"/>
                <a:ext cx="1714500" cy="102548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>
                  <a:buFont typeface="Arial" pitchFamily="34" charset="0"/>
                  <a:buChar char="•"/>
                </a:pPr>
                <a:r>
                  <a:rPr lang="en-US" dirty="0"/>
                  <a:t> </a:t>
                </a:r>
                <a:r>
                  <a:rPr lang="en-US" sz="1400" dirty="0"/>
                  <a:t>ctr[x1] += d1</a:t>
                </a:r>
              </a:p>
              <a:p>
                <a:pPr>
                  <a:buFont typeface="Arial" pitchFamily="34" charset="0"/>
                  <a:buChar char="•"/>
                </a:pPr>
                <a:r>
                  <a:rPr lang="en-US" sz="1400" dirty="0"/>
                  <a:t> ctr[x1] += d2</a:t>
                </a:r>
              </a:p>
              <a:p>
                <a:pPr>
                  <a:buFont typeface="Arial" pitchFamily="34" charset="0"/>
                  <a:buChar char="•"/>
                </a:pPr>
                <a:r>
                  <a:rPr lang="en-US" sz="1400" dirty="0"/>
                  <a:t> ….</a:t>
                </a:r>
              </a:p>
            </p:txBody>
          </p:sp>
          <p:sp>
            <p:nvSpPr>
              <p:cNvPr id="27" name="Down Arrow 26">
                <a:extLst>
                  <a:ext uri="{FF2B5EF4-FFF2-40B4-BE49-F238E27FC236}">
                    <a16:creationId xmlns:a16="http://schemas.microsoft.com/office/drawing/2014/main" id="{4019336B-E818-90AE-4F00-FB8934D51C5A}"/>
                  </a:ext>
                </a:extLst>
              </p:cNvPr>
              <p:cNvSpPr/>
              <p:nvPr/>
            </p:nvSpPr>
            <p:spPr>
              <a:xfrm>
                <a:off x="6810375" y="2565616"/>
                <a:ext cx="342900" cy="619125"/>
              </a:xfrm>
              <a:prstGeom prst="down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DA46C609-8394-33D7-39F8-CFC7339D3516}"/>
                  </a:ext>
                </a:extLst>
              </p:cNvPr>
              <p:cNvSpPr/>
              <p:nvPr/>
            </p:nvSpPr>
            <p:spPr>
              <a:xfrm>
                <a:off x="6059882" y="3215843"/>
                <a:ext cx="1714500" cy="727559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Logic to combine counter updates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6B72AD2-15E1-8BE1-4364-98CD141771B4}"/>
                  </a:ext>
                </a:extLst>
              </p:cNvPr>
              <p:cNvSpPr/>
              <p:nvPr/>
            </p:nvSpPr>
            <p:spPr>
              <a:xfrm>
                <a:off x="4835407" y="1238251"/>
                <a:ext cx="3260843" cy="3664070"/>
              </a:xfrm>
              <a:prstGeom prst="rect">
                <a:avLst/>
              </a:prstGeom>
              <a:noFill/>
              <a:ln>
                <a:prstDash val="dashDot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8324997-EA50-1A43-9B92-1674B11D2118}"/>
                  </a:ext>
                </a:extLst>
              </p:cNvPr>
              <p:cNvSpPr txBox="1"/>
              <p:nvPr/>
            </p:nvSpPr>
            <p:spPr>
              <a:xfrm>
                <a:off x="5513050" y="1187082"/>
                <a:ext cx="2148345" cy="4733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Reducer Machine 1</a:t>
                </a:r>
              </a:p>
            </p:txBody>
          </p:sp>
          <p:sp>
            <p:nvSpPr>
              <p:cNvPr id="54" name="Rounded Rectangle 53">
                <a:extLst>
                  <a:ext uri="{FF2B5EF4-FFF2-40B4-BE49-F238E27FC236}">
                    <a16:creationId xmlns:a16="http://schemas.microsoft.com/office/drawing/2014/main" id="{B70E529F-D923-BEB2-713E-BC26D9ECD251}"/>
                  </a:ext>
                </a:extLst>
              </p:cNvPr>
              <p:cNvSpPr/>
              <p:nvPr/>
            </p:nvSpPr>
            <p:spPr>
              <a:xfrm rot="16200000">
                <a:off x="3989702" y="3141597"/>
                <a:ext cx="2696416" cy="350282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Merge Spill Files</a:t>
                </a:r>
              </a:p>
            </p:txBody>
          </p:sp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8AAECA4-D0F0-D719-4AFF-8ADB39F414FA}"/>
                </a:ext>
              </a:extLst>
            </p:cNvPr>
            <p:cNvSpPr txBox="1"/>
            <p:nvPr/>
          </p:nvSpPr>
          <p:spPr>
            <a:xfrm>
              <a:off x="6187940" y="4427463"/>
              <a:ext cx="1714500" cy="800219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>
                <a:buFont typeface="Arial" pitchFamily="34" charset="0"/>
                <a:buChar char="•"/>
              </a:pPr>
              <a:r>
                <a:rPr lang="en-US" dirty="0"/>
                <a:t> </a:t>
              </a:r>
              <a:r>
                <a:rPr lang="en-US" sz="1400" dirty="0"/>
                <a:t>ctr[x2] += d1</a:t>
              </a:r>
            </a:p>
            <a:p>
              <a:pPr>
                <a:buFont typeface="Arial" pitchFamily="34" charset="0"/>
                <a:buChar char="•"/>
              </a:pPr>
              <a:r>
                <a:rPr lang="en-US" sz="1400" dirty="0"/>
                <a:t> ctr[x2] += d2</a:t>
              </a:r>
            </a:p>
            <a:p>
              <a:pPr>
                <a:buFont typeface="Arial" pitchFamily="34" charset="0"/>
                <a:buChar char="•"/>
              </a:pPr>
              <a:r>
                <a:rPr lang="en-US" sz="1400" dirty="0"/>
                <a:t> ….</a:t>
              </a:r>
            </a:p>
          </p:txBody>
        </p:sp>
        <p:sp>
          <p:nvSpPr>
            <p:cNvPr id="68" name="Down Arrow 67">
              <a:extLst>
                <a:ext uri="{FF2B5EF4-FFF2-40B4-BE49-F238E27FC236}">
                  <a16:creationId xmlns:a16="http://schemas.microsoft.com/office/drawing/2014/main" id="{049F74F8-8004-20F7-1531-C7D44C8A6372}"/>
                </a:ext>
              </a:extLst>
            </p:cNvPr>
            <p:cNvSpPr/>
            <p:nvPr/>
          </p:nvSpPr>
          <p:spPr>
            <a:xfrm>
              <a:off x="6921365" y="5134911"/>
              <a:ext cx="342900" cy="412298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ounded Rectangle 68">
              <a:extLst>
                <a:ext uri="{FF2B5EF4-FFF2-40B4-BE49-F238E27FC236}">
                  <a16:creationId xmlns:a16="http://schemas.microsoft.com/office/drawing/2014/main" id="{6C452A37-7781-E37F-7EDB-F6997029DBA9}"/>
                </a:ext>
              </a:extLst>
            </p:cNvPr>
            <p:cNvSpPr/>
            <p:nvPr/>
          </p:nvSpPr>
          <p:spPr>
            <a:xfrm>
              <a:off x="6187940" y="5567097"/>
              <a:ext cx="1714500" cy="484508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combine counter updates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3A371A7-FA2A-C537-95AF-D9CFEA2ABD78}"/>
                </a:ext>
              </a:extLst>
            </p:cNvPr>
            <p:cNvSpPr/>
            <p:nvPr/>
          </p:nvSpPr>
          <p:spPr>
            <a:xfrm>
              <a:off x="4946397" y="4243130"/>
              <a:ext cx="3260843" cy="2326248"/>
            </a:xfrm>
            <a:prstGeom prst="rect">
              <a:avLst/>
            </a:prstGeom>
            <a:noFill/>
            <a:ln>
              <a:prstDash val="dash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840AFC4-CB77-0C3E-9AB9-B8D53D74DC8F}"/>
                </a:ext>
              </a:extLst>
            </p:cNvPr>
            <p:cNvSpPr txBox="1"/>
            <p:nvPr/>
          </p:nvSpPr>
          <p:spPr>
            <a:xfrm>
              <a:off x="5407670" y="6243527"/>
              <a:ext cx="21483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Reducer Machine 2</a:t>
              </a:r>
            </a:p>
          </p:txBody>
        </p:sp>
        <p:sp>
          <p:nvSpPr>
            <p:cNvPr id="72" name="Rounded Rectangle 71">
              <a:extLst>
                <a:ext uri="{FF2B5EF4-FFF2-40B4-BE49-F238E27FC236}">
                  <a16:creationId xmlns:a16="http://schemas.microsoft.com/office/drawing/2014/main" id="{3DDBA11E-6944-E00F-9B01-52660B974B9D}"/>
                </a:ext>
              </a:extLst>
            </p:cNvPr>
            <p:cNvSpPr/>
            <p:nvPr/>
          </p:nvSpPr>
          <p:spPr>
            <a:xfrm rot="16200000">
              <a:off x="4261707" y="5188417"/>
              <a:ext cx="1941642" cy="350282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Merge Spill Files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AE4664-D442-E22B-49A8-486916C81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D1F8E1-E8EC-4ECE-3245-3944BFB8C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06462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accent1"/>
                </a:solidFill>
                <a:sym typeface="Wingdings" pitchFamily="2" charset="2"/>
              </a:rPr>
              <a:t>Stream and Sort Counting  Distributed Counting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D4F832-0929-3D6D-3B6B-A13CEB58E830}"/>
              </a:ext>
            </a:extLst>
          </p:cNvPr>
          <p:cNvSpPr txBox="1"/>
          <p:nvPr/>
        </p:nvSpPr>
        <p:spPr>
          <a:xfrm>
            <a:off x="401675" y="1511554"/>
            <a:ext cx="3503356" cy="397031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 shuffle/sort phrase:</a:t>
            </a:r>
          </a:p>
          <a:p>
            <a:endParaRPr lang="en-US" b="1" dirty="0"/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(</a:t>
            </a:r>
            <a:r>
              <a:rPr lang="en-US" dirty="0" err="1"/>
              <a:t>key,value</a:t>
            </a:r>
            <a:r>
              <a:rPr lang="en-US" dirty="0"/>
              <a:t>) pairs from each</a:t>
            </a:r>
            <a:r>
              <a:rPr lang="en-US" b="1" dirty="0"/>
              <a:t> partition </a:t>
            </a:r>
            <a:r>
              <a:rPr lang="en-US" dirty="0"/>
              <a:t>are </a:t>
            </a:r>
            <a:r>
              <a:rPr lang="en-US" b="1" dirty="0"/>
              <a:t>sent</a:t>
            </a:r>
            <a:r>
              <a:rPr lang="en-US" dirty="0"/>
              <a:t> to the right reducer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The reducer will </a:t>
            </a:r>
            <a:r>
              <a:rPr lang="en-US" b="1" dirty="0"/>
              <a:t>sort/merge</a:t>
            </a:r>
            <a:r>
              <a:rPr lang="en-US" dirty="0"/>
              <a:t> the “spill files” together to get </a:t>
            </a:r>
            <a:r>
              <a:rPr lang="en-US" b="1" dirty="0"/>
              <a:t>all the pairs with the same key together.</a:t>
            </a:r>
          </a:p>
          <a:p>
            <a:endParaRPr lang="en-US" b="1" dirty="0"/>
          </a:p>
          <a:p>
            <a:r>
              <a:rPr lang="en-US" dirty="0"/>
              <a:t>The reduce phase: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Each reducer will scan through the sorted key-value pairs.</a:t>
            </a:r>
          </a:p>
        </p:txBody>
      </p:sp>
    </p:spTree>
    <p:extLst>
      <p:ext uri="{BB962C8B-B14F-4D97-AF65-F5344CB8AC3E}">
        <p14:creationId xmlns:p14="http://schemas.microsoft.com/office/powerpoint/2010/main" val="18177999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829DF-F73C-2A7F-4FAB-E5F9BB376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3992074-1500-2D36-8DE9-6D7EF6C6E090}"/>
              </a:ext>
            </a:extLst>
          </p:cNvPr>
          <p:cNvCxnSpPr>
            <a:endCxn id="67" idx="1"/>
          </p:cNvCxnSpPr>
          <p:nvPr/>
        </p:nvCxnSpPr>
        <p:spPr>
          <a:xfrm>
            <a:off x="4272731" y="4057558"/>
            <a:ext cx="1915209" cy="7700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80225819-3472-24C5-615D-61D19BE41454}"/>
              </a:ext>
            </a:extLst>
          </p:cNvPr>
          <p:cNvCxnSpPr/>
          <p:nvPr/>
        </p:nvCxnSpPr>
        <p:spPr>
          <a:xfrm>
            <a:off x="4102620" y="5022453"/>
            <a:ext cx="2085320" cy="7938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2DE70937-ABC6-0E6F-03BA-A4782469702C}"/>
              </a:ext>
            </a:extLst>
          </p:cNvPr>
          <p:cNvCxnSpPr/>
          <p:nvPr/>
        </p:nvCxnSpPr>
        <p:spPr>
          <a:xfrm>
            <a:off x="3882824" y="1984963"/>
            <a:ext cx="2347499" cy="240777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993A3CF-EE13-46E6-3C60-A79386F0CA14}"/>
              </a:ext>
            </a:extLst>
          </p:cNvPr>
          <p:cNvCxnSpPr/>
          <p:nvPr/>
        </p:nvCxnSpPr>
        <p:spPr>
          <a:xfrm flipV="1">
            <a:off x="4225498" y="1984963"/>
            <a:ext cx="1613327" cy="4513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A1D0F09-62B5-B3BD-3074-D7A905DBF15E}"/>
              </a:ext>
            </a:extLst>
          </p:cNvPr>
          <p:cNvCxnSpPr>
            <a:cxnSpLocks/>
          </p:cNvCxnSpPr>
          <p:nvPr/>
        </p:nvCxnSpPr>
        <p:spPr>
          <a:xfrm flipV="1">
            <a:off x="4225498" y="2229557"/>
            <a:ext cx="1704539" cy="51113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10D5B19-D73A-B6FF-8E29-C90D370C2DD9}"/>
              </a:ext>
            </a:extLst>
          </p:cNvPr>
          <p:cNvCxnSpPr/>
          <p:nvPr/>
        </p:nvCxnSpPr>
        <p:spPr>
          <a:xfrm flipV="1">
            <a:off x="4046442" y="2748260"/>
            <a:ext cx="1883595" cy="18425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BEB1BCF-38DD-12EA-51A8-91E4CE783819}"/>
              </a:ext>
            </a:extLst>
          </p:cNvPr>
          <p:cNvCxnSpPr>
            <a:cxnSpLocks/>
          </p:cNvCxnSpPr>
          <p:nvPr/>
        </p:nvCxnSpPr>
        <p:spPr>
          <a:xfrm flipV="1">
            <a:off x="4224018" y="3194375"/>
            <a:ext cx="1627585" cy="239273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5D311345-A0F8-D0BB-A04C-427AD9C3FACF}"/>
              </a:ext>
            </a:extLst>
          </p:cNvPr>
          <p:cNvGrpSpPr/>
          <p:nvPr/>
        </p:nvGrpSpPr>
        <p:grpSpPr>
          <a:xfrm>
            <a:off x="4835407" y="1187082"/>
            <a:ext cx="3371833" cy="5425777"/>
            <a:chOff x="4835407" y="1187082"/>
            <a:chExt cx="3371833" cy="5425777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83F3019-C40D-7BC0-2211-84FF2B0418E7}"/>
                </a:ext>
              </a:extLst>
            </p:cNvPr>
            <p:cNvGrpSpPr/>
            <p:nvPr/>
          </p:nvGrpSpPr>
          <p:grpSpPr>
            <a:xfrm>
              <a:off x="4835407" y="1187082"/>
              <a:ext cx="3260843" cy="2899111"/>
              <a:chOff x="4835407" y="1187082"/>
              <a:chExt cx="3260843" cy="3715239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F977BDC-1CD2-FF0B-CE06-A7F8737693D8}"/>
                  </a:ext>
                </a:extLst>
              </p:cNvPr>
              <p:cNvSpPr txBox="1"/>
              <p:nvPr/>
            </p:nvSpPr>
            <p:spPr>
              <a:xfrm>
                <a:off x="6076950" y="1685925"/>
                <a:ext cx="1714500" cy="102548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>
                  <a:buFont typeface="Arial" pitchFamily="34" charset="0"/>
                  <a:buChar char="•"/>
                </a:pPr>
                <a:r>
                  <a:rPr lang="en-US" dirty="0"/>
                  <a:t> </a:t>
                </a:r>
                <a:r>
                  <a:rPr lang="en-US" sz="1400" dirty="0"/>
                  <a:t>ctr[x1] += d1</a:t>
                </a:r>
              </a:p>
              <a:p>
                <a:pPr>
                  <a:buFont typeface="Arial" pitchFamily="34" charset="0"/>
                  <a:buChar char="•"/>
                </a:pPr>
                <a:r>
                  <a:rPr lang="en-US" sz="1400" dirty="0"/>
                  <a:t> ctr[x1] += d2</a:t>
                </a:r>
              </a:p>
              <a:p>
                <a:pPr>
                  <a:buFont typeface="Arial" pitchFamily="34" charset="0"/>
                  <a:buChar char="•"/>
                </a:pPr>
                <a:r>
                  <a:rPr lang="en-US" sz="1400" dirty="0"/>
                  <a:t> ….</a:t>
                </a:r>
              </a:p>
            </p:txBody>
          </p:sp>
          <p:sp>
            <p:nvSpPr>
              <p:cNvPr id="27" name="Down Arrow 26">
                <a:extLst>
                  <a:ext uri="{FF2B5EF4-FFF2-40B4-BE49-F238E27FC236}">
                    <a16:creationId xmlns:a16="http://schemas.microsoft.com/office/drawing/2014/main" id="{F978363F-20AC-BE35-855D-08825F3105D4}"/>
                  </a:ext>
                </a:extLst>
              </p:cNvPr>
              <p:cNvSpPr/>
              <p:nvPr/>
            </p:nvSpPr>
            <p:spPr>
              <a:xfrm>
                <a:off x="6810375" y="2565616"/>
                <a:ext cx="342900" cy="619125"/>
              </a:xfrm>
              <a:prstGeom prst="down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368F9328-5E74-5CD0-21C9-21CE52BFF1C6}"/>
                  </a:ext>
                </a:extLst>
              </p:cNvPr>
              <p:cNvSpPr/>
              <p:nvPr/>
            </p:nvSpPr>
            <p:spPr>
              <a:xfrm>
                <a:off x="6059882" y="3215843"/>
                <a:ext cx="1714500" cy="727559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Logic to combine counter updates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5E13617-FC03-9A1D-C0C9-CE25990CD7F3}"/>
                  </a:ext>
                </a:extLst>
              </p:cNvPr>
              <p:cNvSpPr/>
              <p:nvPr/>
            </p:nvSpPr>
            <p:spPr>
              <a:xfrm>
                <a:off x="4835407" y="1238251"/>
                <a:ext cx="3260843" cy="3664070"/>
              </a:xfrm>
              <a:prstGeom prst="rect">
                <a:avLst/>
              </a:prstGeom>
              <a:noFill/>
              <a:ln>
                <a:prstDash val="dashDot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88DAC90-B6FC-4CDF-A677-AD3A6047E32A}"/>
                  </a:ext>
                </a:extLst>
              </p:cNvPr>
              <p:cNvSpPr txBox="1"/>
              <p:nvPr/>
            </p:nvSpPr>
            <p:spPr>
              <a:xfrm>
                <a:off x="5513050" y="1187082"/>
                <a:ext cx="2148345" cy="4733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Reducer Machine 1</a:t>
                </a:r>
              </a:p>
            </p:txBody>
          </p:sp>
          <p:sp>
            <p:nvSpPr>
              <p:cNvPr id="54" name="Rounded Rectangle 53">
                <a:extLst>
                  <a:ext uri="{FF2B5EF4-FFF2-40B4-BE49-F238E27FC236}">
                    <a16:creationId xmlns:a16="http://schemas.microsoft.com/office/drawing/2014/main" id="{6D56BF76-3331-1E7B-8900-CFD7B2DF4B3A}"/>
                  </a:ext>
                </a:extLst>
              </p:cNvPr>
              <p:cNvSpPr/>
              <p:nvPr/>
            </p:nvSpPr>
            <p:spPr>
              <a:xfrm rot="16200000">
                <a:off x="3989702" y="3141597"/>
                <a:ext cx="2696416" cy="350282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Merge Spill Files</a:t>
                </a:r>
              </a:p>
            </p:txBody>
          </p:sp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E66D643-7428-36E9-CF6E-CE5C051809D7}"/>
                </a:ext>
              </a:extLst>
            </p:cNvPr>
            <p:cNvSpPr txBox="1"/>
            <p:nvPr/>
          </p:nvSpPr>
          <p:spPr>
            <a:xfrm>
              <a:off x="6187940" y="4427463"/>
              <a:ext cx="1714500" cy="800219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>
                <a:buFont typeface="Arial" pitchFamily="34" charset="0"/>
                <a:buChar char="•"/>
              </a:pPr>
              <a:r>
                <a:rPr lang="en-US" dirty="0"/>
                <a:t> </a:t>
              </a:r>
              <a:r>
                <a:rPr lang="en-US" sz="1400" dirty="0"/>
                <a:t>ctr[x2] += d1</a:t>
              </a:r>
            </a:p>
            <a:p>
              <a:pPr>
                <a:buFont typeface="Arial" pitchFamily="34" charset="0"/>
                <a:buChar char="•"/>
              </a:pPr>
              <a:r>
                <a:rPr lang="en-US" sz="1400" dirty="0"/>
                <a:t> ctr[x2] += d2</a:t>
              </a:r>
            </a:p>
            <a:p>
              <a:pPr>
                <a:buFont typeface="Arial" pitchFamily="34" charset="0"/>
                <a:buChar char="•"/>
              </a:pPr>
              <a:r>
                <a:rPr lang="en-US" sz="1400" dirty="0"/>
                <a:t> ….</a:t>
              </a:r>
            </a:p>
          </p:txBody>
        </p:sp>
        <p:sp>
          <p:nvSpPr>
            <p:cNvPr id="68" name="Down Arrow 67">
              <a:extLst>
                <a:ext uri="{FF2B5EF4-FFF2-40B4-BE49-F238E27FC236}">
                  <a16:creationId xmlns:a16="http://schemas.microsoft.com/office/drawing/2014/main" id="{2A32C7BE-BB9C-BA5A-0BEF-6FA3D3951C14}"/>
                </a:ext>
              </a:extLst>
            </p:cNvPr>
            <p:cNvSpPr/>
            <p:nvPr/>
          </p:nvSpPr>
          <p:spPr>
            <a:xfrm>
              <a:off x="6921365" y="5134911"/>
              <a:ext cx="342900" cy="412298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ounded Rectangle 68">
              <a:extLst>
                <a:ext uri="{FF2B5EF4-FFF2-40B4-BE49-F238E27FC236}">
                  <a16:creationId xmlns:a16="http://schemas.microsoft.com/office/drawing/2014/main" id="{8E653CE0-4923-CE67-3352-D87F64AD7C0D}"/>
                </a:ext>
              </a:extLst>
            </p:cNvPr>
            <p:cNvSpPr/>
            <p:nvPr/>
          </p:nvSpPr>
          <p:spPr>
            <a:xfrm>
              <a:off x="6187940" y="5567097"/>
              <a:ext cx="1714500" cy="484508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combine counter updates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DC1C6ED9-3D45-763E-B65E-75C8E96B736E}"/>
                </a:ext>
              </a:extLst>
            </p:cNvPr>
            <p:cNvSpPr/>
            <p:nvPr/>
          </p:nvSpPr>
          <p:spPr>
            <a:xfrm>
              <a:off x="4946397" y="4243130"/>
              <a:ext cx="3260843" cy="2326248"/>
            </a:xfrm>
            <a:prstGeom prst="rect">
              <a:avLst/>
            </a:prstGeom>
            <a:noFill/>
            <a:ln>
              <a:prstDash val="dash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7D64A73-9C43-CF58-4932-DE87CD83245F}"/>
                </a:ext>
              </a:extLst>
            </p:cNvPr>
            <p:cNvSpPr txBox="1"/>
            <p:nvPr/>
          </p:nvSpPr>
          <p:spPr>
            <a:xfrm>
              <a:off x="5407670" y="6243527"/>
              <a:ext cx="21483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Reducer Machine 2</a:t>
              </a:r>
            </a:p>
          </p:txBody>
        </p:sp>
        <p:sp>
          <p:nvSpPr>
            <p:cNvPr id="72" name="Rounded Rectangle 71">
              <a:extLst>
                <a:ext uri="{FF2B5EF4-FFF2-40B4-BE49-F238E27FC236}">
                  <a16:creationId xmlns:a16="http://schemas.microsoft.com/office/drawing/2014/main" id="{D19523F5-CA71-3B89-ACBD-2E9780473C8D}"/>
                </a:ext>
              </a:extLst>
            </p:cNvPr>
            <p:cNvSpPr/>
            <p:nvPr/>
          </p:nvSpPr>
          <p:spPr>
            <a:xfrm rot="16200000">
              <a:off x="4261707" y="5188417"/>
              <a:ext cx="1941642" cy="350282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Merge Spill Files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BB030E-91A0-2077-555D-4B8B8FB6B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D1BC9-651A-4324-A01C-B1EF52C35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06462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accent1"/>
                </a:solidFill>
                <a:sym typeface="Wingdings" pitchFamily="2" charset="2"/>
              </a:rPr>
              <a:t>Stream and Sort Counting  Distributed Counting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80903F-1AE3-87B0-9A16-60D9503FD504}"/>
              </a:ext>
            </a:extLst>
          </p:cNvPr>
          <p:cNvSpPr txBox="1"/>
          <p:nvPr/>
        </p:nvSpPr>
        <p:spPr>
          <a:xfrm>
            <a:off x="401675" y="1511554"/>
            <a:ext cx="3503356" cy="369331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Keys</a:t>
            </a:r>
            <a:r>
              <a:rPr lang="en-US" dirty="0"/>
              <a:t> (for </a:t>
            </a:r>
            <a:r>
              <a:rPr lang="en-US" b="1" dirty="0"/>
              <a:t>partitioning)</a:t>
            </a:r>
            <a:r>
              <a:rPr lang="en-US" dirty="0"/>
              <a:t> and </a:t>
            </a:r>
            <a:r>
              <a:rPr lang="en-US" b="1" dirty="0"/>
              <a:t>sorting</a:t>
            </a:r>
            <a:r>
              <a:rPr lang="en-US" dirty="0"/>
              <a:t> are common elements of many map-reduce frameworks.</a:t>
            </a:r>
          </a:p>
          <a:p>
            <a:endParaRPr lang="en-US" dirty="0"/>
          </a:p>
          <a:p>
            <a:r>
              <a:rPr lang="en-US" dirty="0"/>
              <a:t>Ideally the </a:t>
            </a:r>
            <a:r>
              <a:rPr lang="en-US" b="1" dirty="0"/>
              <a:t>partitions </a:t>
            </a:r>
            <a:r>
              <a:rPr lang="en-US" dirty="0"/>
              <a:t>will be similar size – but you also need to assign keys to partitions </a:t>
            </a:r>
            <a:r>
              <a:rPr lang="en-US" b="1" dirty="0"/>
              <a:t>quickly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Random hashing is often fine, but not when some keys have </a:t>
            </a:r>
            <a:r>
              <a:rPr lang="en-US" b="1" dirty="0"/>
              <a:t>lots</a:t>
            </a:r>
            <a:r>
              <a:rPr lang="en-US" dirty="0"/>
              <a:t> of messages and some have few. </a:t>
            </a:r>
          </a:p>
        </p:txBody>
      </p:sp>
    </p:spTree>
    <p:extLst>
      <p:ext uri="{BB962C8B-B14F-4D97-AF65-F5344CB8AC3E}">
        <p14:creationId xmlns:p14="http://schemas.microsoft.com/office/powerpoint/2010/main" val="1370549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/>
          <p:cNvSpPr/>
          <p:nvPr/>
        </p:nvSpPr>
        <p:spPr>
          <a:xfrm>
            <a:off x="217595" y="3981269"/>
            <a:ext cx="2103489" cy="2684309"/>
          </a:xfrm>
          <a:prstGeom prst="rect">
            <a:avLst/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Arrow Connector 73"/>
          <p:cNvCxnSpPr>
            <a:endCxn id="67" idx="1"/>
          </p:cNvCxnSpPr>
          <p:nvPr/>
        </p:nvCxnSpPr>
        <p:spPr>
          <a:xfrm>
            <a:off x="4282021" y="4057558"/>
            <a:ext cx="1915209" cy="7700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>
            <a:off x="4111910" y="5022452"/>
            <a:ext cx="2085320" cy="7938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endCxn id="72" idx="3"/>
          </p:cNvCxnSpPr>
          <p:nvPr/>
        </p:nvCxnSpPr>
        <p:spPr>
          <a:xfrm>
            <a:off x="3882824" y="1984963"/>
            <a:ext cx="1358994" cy="240777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4225498" y="1984963"/>
            <a:ext cx="1613327" cy="4513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6833" y="1537466"/>
            <a:ext cx="1567857" cy="1077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en-US" sz="1400" dirty="0"/>
              <a:t>doc 1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 doc 2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 doc 3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….</a:t>
            </a:r>
          </a:p>
        </p:txBody>
      </p:sp>
      <p:sp>
        <p:nvSpPr>
          <p:cNvPr id="6" name="Down Arrow 5"/>
          <p:cNvSpPr/>
          <p:nvPr/>
        </p:nvSpPr>
        <p:spPr>
          <a:xfrm>
            <a:off x="1107527" y="2435110"/>
            <a:ext cx="313571" cy="413807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436833" y="2969876"/>
            <a:ext cx="1388489" cy="60974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Counting logic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1922694" y="3286539"/>
            <a:ext cx="586495" cy="106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19075" y="1103869"/>
            <a:ext cx="2103489" cy="2774007"/>
          </a:xfrm>
          <a:prstGeom prst="rect">
            <a:avLst/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237929" y="1166960"/>
            <a:ext cx="2296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Map Process 1</a:t>
            </a:r>
          </a:p>
        </p:txBody>
      </p:sp>
      <p:sp>
        <p:nvSpPr>
          <p:cNvPr id="29" name="Rounded Rectangle 28"/>
          <p:cNvSpPr/>
          <p:nvPr/>
        </p:nvSpPr>
        <p:spPr>
          <a:xfrm rot="16200000">
            <a:off x="1836139" y="3223051"/>
            <a:ext cx="1719836" cy="32032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Partition/Sort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flipV="1">
            <a:off x="2887114" y="2154596"/>
            <a:ext cx="460466" cy="59530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2966260" y="2523294"/>
            <a:ext cx="381321" cy="4013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2957223" y="2848917"/>
            <a:ext cx="390358" cy="3166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2960739" y="3346630"/>
            <a:ext cx="386841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2966260" y="3478005"/>
            <a:ext cx="381321" cy="1582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003753" y="3662621"/>
            <a:ext cx="343828" cy="3194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3120826" y="1900815"/>
            <a:ext cx="700341" cy="208317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47580" y="2314977"/>
            <a:ext cx="700341" cy="20831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02279" y="2744758"/>
            <a:ext cx="700341" cy="20831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02864" y="3223204"/>
            <a:ext cx="379960" cy="2468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 flipV="1">
            <a:off x="4111910" y="2229559"/>
            <a:ext cx="1818127" cy="61935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V="1">
            <a:off x="4046442" y="2748260"/>
            <a:ext cx="1883595" cy="18425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V="1">
            <a:off x="4094868" y="3162535"/>
            <a:ext cx="1750462" cy="21928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35353" y="4124809"/>
            <a:ext cx="1567857" cy="107721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en-US" sz="1400" dirty="0"/>
              <a:t>doc 1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 doc 2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 doc 3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….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1106047" y="5022453"/>
            <a:ext cx="313571" cy="413807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6"/>
          <p:cNvSpPr/>
          <p:nvPr/>
        </p:nvSpPr>
        <p:spPr>
          <a:xfrm>
            <a:off x="435353" y="5557219"/>
            <a:ext cx="1388489" cy="60974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Counting logic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1921214" y="5873882"/>
            <a:ext cx="586495" cy="106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11222" y="6334379"/>
            <a:ext cx="2296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Map Process 2</a:t>
            </a:r>
          </a:p>
        </p:txBody>
      </p:sp>
      <p:sp>
        <p:nvSpPr>
          <p:cNvPr id="55" name="Rounded Rectangle 54"/>
          <p:cNvSpPr/>
          <p:nvPr/>
        </p:nvSpPr>
        <p:spPr>
          <a:xfrm rot="16200000">
            <a:off x="1790567" y="5766302"/>
            <a:ext cx="1808020" cy="32032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Partition/Sort</a:t>
            </a:r>
          </a:p>
        </p:txBody>
      </p:sp>
      <p:cxnSp>
        <p:nvCxnSpPr>
          <p:cNvPr id="56" name="Straight Arrow Connector 55"/>
          <p:cNvCxnSpPr/>
          <p:nvPr/>
        </p:nvCxnSpPr>
        <p:spPr>
          <a:xfrm flipV="1">
            <a:off x="2885634" y="4741939"/>
            <a:ext cx="460466" cy="59530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V="1">
            <a:off x="2964780" y="5110637"/>
            <a:ext cx="381321" cy="4013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V="1">
            <a:off x="2955743" y="5436260"/>
            <a:ext cx="390358" cy="3166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V="1">
            <a:off x="2959259" y="5933973"/>
            <a:ext cx="386841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2964780" y="6065348"/>
            <a:ext cx="381321" cy="1582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3002273" y="6249964"/>
            <a:ext cx="343828" cy="3194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3285138" y="4495924"/>
            <a:ext cx="700342" cy="20831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1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346100" y="4902320"/>
            <a:ext cx="700342" cy="208317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2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400799" y="5332101"/>
            <a:ext cx="700342" cy="20831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01384" y="5810547"/>
            <a:ext cx="379960" cy="2468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6240" y="1576344"/>
            <a:ext cx="1714500" cy="62443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en-US" sz="1400" dirty="0"/>
              <a:t>C[x1] += D1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 C[x1] += D2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 ….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6819665" y="2262793"/>
            <a:ext cx="342900" cy="483122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/>
          <p:cNvSpPr/>
          <p:nvPr/>
        </p:nvSpPr>
        <p:spPr>
          <a:xfrm>
            <a:off x="6069172" y="2770184"/>
            <a:ext cx="1714500" cy="56773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Logic to combine counter updates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88115" y="1227011"/>
            <a:ext cx="2338032" cy="2859182"/>
          </a:xfrm>
          <a:prstGeom prst="rect">
            <a:avLst/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6219602" y="1235963"/>
            <a:ext cx="1207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Reducer 1</a:t>
            </a:r>
          </a:p>
        </p:txBody>
      </p:sp>
      <p:sp>
        <p:nvSpPr>
          <p:cNvPr id="54" name="Rounded Rectangle 53"/>
          <p:cNvSpPr/>
          <p:nvPr/>
        </p:nvSpPr>
        <p:spPr>
          <a:xfrm rot="16200000">
            <a:off x="4295153" y="2673775"/>
            <a:ext cx="2104093" cy="35028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Merge Spill Files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97230" y="4427463"/>
            <a:ext cx="1714500" cy="80021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en-US" sz="1400" dirty="0"/>
              <a:t>C[x2] += D1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 C[x2] += D2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 ….</a:t>
            </a:r>
          </a:p>
        </p:txBody>
      </p:sp>
      <p:sp>
        <p:nvSpPr>
          <p:cNvPr id="68" name="Down Arrow 67"/>
          <p:cNvSpPr/>
          <p:nvPr/>
        </p:nvSpPr>
        <p:spPr>
          <a:xfrm>
            <a:off x="6930655" y="5134911"/>
            <a:ext cx="342900" cy="41229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ounded Rectangle 68"/>
          <p:cNvSpPr/>
          <p:nvPr/>
        </p:nvSpPr>
        <p:spPr>
          <a:xfrm>
            <a:off x="6197230" y="5567097"/>
            <a:ext cx="1714500" cy="484508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combine counter updates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820226" y="4243130"/>
            <a:ext cx="2321749" cy="2326248"/>
          </a:xfrm>
          <a:prstGeom prst="rect">
            <a:avLst/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/>
          <p:cNvSpPr txBox="1"/>
          <p:nvPr/>
        </p:nvSpPr>
        <p:spPr>
          <a:xfrm>
            <a:off x="6339799" y="6196858"/>
            <a:ext cx="1207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Reducer 2</a:t>
            </a:r>
            <a:endParaRPr lang="en-US" dirty="0"/>
          </a:p>
        </p:txBody>
      </p:sp>
      <p:sp>
        <p:nvSpPr>
          <p:cNvPr id="72" name="Rounded Rectangle 71"/>
          <p:cNvSpPr/>
          <p:nvPr/>
        </p:nvSpPr>
        <p:spPr>
          <a:xfrm rot="16200000">
            <a:off x="4270997" y="5188417"/>
            <a:ext cx="1941642" cy="350282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Merge Spill Files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402560" y="3877876"/>
            <a:ext cx="821458" cy="208317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7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06462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accent1"/>
                </a:solidFill>
                <a:sym typeface="Wingdings" pitchFamily="2" charset="2"/>
              </a:rPr>
              <a:t>Map-Reduce is Distributed Stream-and-Sort: </a:t>
            </a:r>
            <a:br>
              <a:rPr lang="en-US" sz="2400" dirty="0">
                <a:solidFill>
                  <a:schemeClr val="accent1"/>
                </a:solidFill>
                <a:sym typeface="Wingdings" pitchFamily="2" charset="2"/>
              </a:rPr>
            </a:br>
            <a:r>
              <a:rPr lang="en-US" sz="2400" dirty="0">
                <a:solidFill>
                  <a:schemeClr val="accent1"/>
                </a:solidFill>
                <a:sym typeface="Wingdings" pitchFamily="2" charset="2"/>
              </a:rPr>
              <a:t>Map, Shuffle-Sort, Reduce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2407849" y="1181099"/>
            <a:ext cx="3304635" cy="5649373"/>
          </a:xfrm>
          <a:prstGeom prst="rect">
            <a:avLst/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/>
          <p:cNvSpPr txBox="1"/>
          <p:nvPr/>
        </p:nvSpPr>
        <p:spPr>
          <a:xfrm>
            <a:off x="2894662" y="1244115"/>
            <a:ext cx="2634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Distributed Shuffle-Sort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9851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More About Spark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2207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7528A-74D8-F7B5-C4DC-AB6DDD7F5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D2C4E-E89F-EB8E-971F-7C3650B20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is MapReduce++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6E0BF9A-BCCC-F4F8-4D8A-CFD170A2C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Data abstraction</a:t>
            </a:r>
          </a:p>
          <a:p>
            <a:pPr lvl="1"/>
            <a:r>
              <a:rPr lang="en-US" sz="2400" dirty="0"/>
              <a:t>Sharded files </a:t>
            </a:r>
            <a:r>
              <a:rPr lang="en-US" sz="2400" dirty="0">
                <a:sym typeface="Wingdings" pitchFamily="2" charset="2"/>
              </a:rPr>
              <a:t> Resilient Distributed Datasets</a:t>
            </a:r>
          </a:p>
          <a:p>
            <a:pPr lvl="2"/>
            <a:r>
              <a:rPr lang="en-US" sz="2000" dirty="0">
                <a:sym typeface="Wingdings" pitchFamily="2" charset="2"/>
              </a:rPr>
              <a:t>RDDs are immutable</a:t>
            </a:r>
          </a:p>
          <a:p>
            <a:pPr lvl="2"/>
            <a:r>
              <a:rPr lang="en-US" sz="2000" dirty="0">
                <a:sym typeface="Wingdings" pitchFamily="2" charset="2"/>
              </a:rPr>
              <a:t>They are partitioned / sharded</a:t>
            </a:r>
          </a:p>
          <a:p>
            <a:pPr lvl="2"/>
            <a:r>
              <a:rPr lang="en-US" sz="2000" dirty="0">
                <a:sym typeface="Wingdings" pitchFamily="2" charset="2"/>
              </a:rPr>
              <a:t>You access them with </a:t>
            </a:r>
            <a:r>
              <a:rPr lang="en-US" sz="2000" b="1" dirty="0">
                <a:sym typeface="Wingdings" pitchFamily="2" charset="2"/>
              </a:rPr>
              <a:t>high level </a:t>
            </a:r>
            <a:r>
              <a:rPr lang="en-US" sz="2000" dirty="0">
                <a:sym typeface="Wingdings" pitchFamily="2" charset="2"/>
              </a:rPr>
              <a:t>operations that can be implemented by short Map-Reduce pipelines</a:t>
            </a:r>
          </a:p>
          <a:p>
            <a:pPr lvl="2"/>
            <a:r>
              <a:rPr lang="en-US" sz="2000" dirty="0">
                <a:sym typeface="Wingdings" pitchFamily="2" charset="2"/>
              </a:rPr>
              <a:t>You can mark RDDs as ‘persistent’ (the data is saved for debugging, reuse, </a:t>
            </a:r>
            <a:r>
              <a:rPr lang="en-US" sz="2000" dirty="0" err="1">
                <a:sym typeface="Wingdings" pitchFamily="2" charset="2"/>
              </a:rPr>
              <a:t>etc</a:t>
            </a:r>
            <a:r>
              <a:rPr lang="en-US" sz="2000" dirty="0">
                <a:sym typeface="Wingdings" pitchFamily="2" charset="2"/>
              </a:rPr>
              <a:t>) and RDDs can persist </a:t>
            </a:r>
            <a:r>
              <a:rPr lang="en-US" sz="2000" b="1" dirty="0">
                <a:sym typeface="Wingdings" pitchFamily="2" charset="2"/>
              </a:rPr>
              <a:t>on disk or in memory</a:t>
            </a:r>
          </a:p>
          <a:p>
            <a:pPr lvl="3"/>
            <a:r>
              <a:rPr lang="en-US" sz="1600" dirty="0">
                <a:sym typeface="Wingdings" pitchFamily="2" charset="2"/>
              </a:rPr>
              <a:t>Memory-cached RDDs use a lot of cluster memory but are very useful</a:t>
            </a:r>
          </a:p>
          <a:p>
            <a:pPr lvl="1"/>
            <a:r>
              <a:rPr lang="en-US" sz="2400" dirty="0"/>
              <a:t>Two types of operations on RDDs</a:t>
            </a:r>
          </a:p>
          <a:p>
            <a:pPr lvl="2"/>
            <a:r>
              <a:rPr lang="en-US" sz="2000" b="1" dirty="0"/>
              <a:t>Transformations</a:t>
            </a:r>
            <a:r>
              <a:rPr lang="en-US" sz="2000" dirty="0"/>
              <a:t> – lazy, return a ‘plan’ to make some change</a:t>
            </a:r>
          </a:p>
          <a:p>
            <a:pPr lvl="2"/>
            <a:r>
              <a:rPr lang="en-US" sz="2000" b="1" dirty="0"/>
              <a:t>Actions</a:t>
            </a:r>
            <a:r>
              <a:rPr lang="en-US" sz="2000" dirty="0"/>
              <a:t> – eager, usually force execution of a map-reduce pipeline, and return some Python object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2EE3CC-AEE4-80C3-D97F-180E74CBB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7797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D73BC-1B64-1DD9-7BD2-2D0588FB4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4FE01-81D5-86C8-FF43-3C67BFAF1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Things Are Built </a:t>
            </a:r>
            <a:r>
              <a:rPr lang="en-US" u="sng" dirty="0"/>
              <a:t>On</a:t>
            </a:r>
            <a:r>
              <a:rPr lang="en-US" dirty="0"/>
              <a:t> Spark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5E3E681-7547-B2AA-F355-2DCC4F478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125298" cy="509905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DB-like data processing</a:t>
            </a:r>
          </a:p>
          <a:p>
            <a:pPr lvl="1"/>
            <a:r>
              <a:rPr lang="en-US" dirty="0" err="1"/>
              <a:t>SparkSQL</a:t>
            </a:r>
            <a:endParaRPr lang="en-US" dirty="0"/>
          </a:p>
          <a:p>
            <a:pPr lvl="1"/>
            <a:r>
              <a:rPr lang="en-US" dirty="0"/>
              <a:t>Spark </a:t>
            </a:r>
            <a:r>
              <a:rPr lang="en-US" dirty="0" err="1"/>
              <a:t>DataFrames</a:t>
            </a:r>
            <a:endParaRPr lang="en-US" dirty="0"/>
          </a:p>
          <a:p>
            <a:r>
              <a:rPr lang="en-US" dirty="0"/>
              <a:t>ML libraries</a:t>
            </a:r>
          </a:p>
          <a:p>
            <a:pPr lvl="1"/>
            <a:r>
              <a:rPr lang="en-US" dirty="0" err="1"/>
              <a:t>MLlib</a:t>
            </a:r>
            <a:endParaRPr lang="en-US" dirty="0"/>
          </a:p>
          <a:p>
            <a:r>
              <a:rPr lang="en-US" dirty="0"/>
              <a:t>Graph libraries</a:t>
            </a:r>
          </a:p>
          <a:p>
            <a:pPr lvl="1"/>
            <a:r>
              <a:rPr lang="en-US" dirty="0" err="1"/>
              <a:t>GraphX</a:t>
            </a:r>
            <a:endParaRPr lang="en-US" dirty="0"/>
          </a:p>
          <a:p>
            <a:r>
              <a:rPr lang="en-US" b="1" dirty="0"/>
              <a:t>…</a:t>
            </a:r>
          </a:p>
          <a:p>
            <a:endParaRPr lang="en-US" b="1" dirty="0"/>
          </a:p>
          <a:p>
            <a:r>
              <a:rPr lang="en-US" dirty="0"/>
              <a:t>We’re </a:t>
            </a:r>
            <a:r>
              <a:rPr lang="en-US" u="sng" dirty="0"/>
              <a:t>mostly</a:t>
            </a:r>
            <a:r>
              <a:rPr lang="en-US" dirty="0"/>
              <a:t> not covering these here!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FECF5D-C9E9-5C3E-586A-D6C798846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8286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695C4-BE74-D6E3-F08E-E996FCABE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AF354-EDD8-3E1A-F755-6F4534D86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is Caching in Memory Important?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F60574-4B13-3D50-F142-68B8534D8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6" name="Picture 5" descr="Screen Shot 2015-10-27 at 10.55.25 AM.png">
            <a:extLst>
              <a:ext uri="{FF2B5EF4-FFF2-40B4-BE49-F238E27FC236}">
                <a16:creationId xmlns:a16="http://schemas.microsoft.com/office/drawing/2014/main" id="{93A708A4-4816-790D-9D69-1DA1A28EF3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70" y="1517232"/>
            <a:ext cx="9144000" cy="258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6793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094AB-BA84-AA26-9B17-90BEA2AE4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C6BE3119-0F12-76E3-8637-31ABADA203E1}"/>
              </a:ext>
            </a:extLst>
          </p:cNvPr>
          <p:cNvSpPr/>
          <p:nvPr/>
        </p:nvSpPr>
        <p:spPr>
          <a:xfrm>
            <a:off x="483066" y="3117602"/>
            <a:ext cx="2103489" cy="2684309"/>
          </a:xfrm>
          <a:prstGeom prst="rect">
            <a:avLst/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A07CFF-7C32-6C93-8689-7F4ABAC76AC3}"/>
              </a:ext>
            </a:extLst>
          </p:cNvPr>
          <p:cNvSpPr txBox="1"/>
          <p:nvPr/>
        </p:nvSpPr>
        <p:spPr>
          <a:xfrm>
            <a:off x="702304" y="673799"/>
            <a:ext cx="1567857" cy="1077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en-US" sz="1400" dirty="0"/>
              <a:t>point 1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 point 2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 point 3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….</a:t>
            </a:r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F4CCACF0-819C-958C-8F39-AEAA95C16718}"/>
              </a:ext>
            </a:extLst>
          </p:cNvPr>
          <p:cNvSpPr/>
          <p:nvPr/>
        </p:nvSpPr>
        <p:spPr>
          <a:xfrm>
            <a:off x="1372998" y="1571443"/>
            <a:ext cx="313571" cy="413807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82C4EB8-7023-19DB-0518-BC2F56917E5A}"/>
              </a:ext>
            </a:extLst>
          </p:cNvPr>
          <p:cNvSpPr/>
          <p:nvPr/>
        </p:nvSpPr>
        <p:spPr>
          <a:xfrm>
            <a:off x="702304" y="2106209"/>
            <a:ext cx="1388489" cy="60974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Gradient logic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C30DD6A-3F51-0855-B8E6-B85A0248A55E}"/>
              </a:ext>
            </a:extLst>
          </p:cNvPr>
          <p:cNvCxnSpPr/>
          <p:nvPr/>
        </p:nvCxnSpPr>
        <p:spPr>
          <a:xfrm>
            <a:off x="2188165" y="2422872"/>
            <a:ext cx="586495" cy="106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1E39017-FBC5-370D-2435-3039C96B7DEA}"/>
              </a:ext>
            </a:extLst>
          </p:cNvPr>
          <p:cNvSpPr/>
          <p:nvPr/>
        </p:nvSpPr>
        <p:spPr>
          <a:xfrm>
            <a:off x="484546" y="240202"/>
            <a:ext cx="2103489" cy="2774007"/>
          </a:xfrm>
          <a:prstGeom prst="rect">
            <a:avLst/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213096-7D59-2532-BE2F-CEAB7D06FBE6}"/>
              </a:ext>
            </a:extLst>
          </p:cNvPr>
          <p:cNvSpPr txBox="1"/>
          <p:nvPr/>
        </p:nvSpPr>
        <p:spPr>
          <a:xfrm>
            <a:off x="503400" y="303293"/>
            <a:ext cx="2296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Map Process 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7FA06F3-3AD4-A391-35D0-11BF0815D838}"/>
              </a:ext>
            </a:extLst>
          </p:cNvPr>
          <p:cNvSpPr txBox="1"/>
          <p:nvPr/>
        </p:nvSpPr>
        <p:spPr>
          <a:xfrm>
            <a:off x="700824" y="3261142"/>
            <a:ext cx="1567857" cy="107721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en-US" sz="1400" dirty="0"/>
              <a:t>point 7,356,701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 point 7,356,702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 point 7,356,703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….</a:t>
            </a:r>
          </a:p>
        </p:txBody>
      </p:sp>
      <p:sp>
        <p:nvSpPr>
          <p:cNvPr id="45" name="Down Arrow 44">
            <a:extLst>
              <a:ext uri="{FF2B5EF4-FFF2-40B4-BE49-F238E27FC236}">
                <a16:creationId xmlns:a16="http://schemas.microsoft.com/office/drawing/2014/main" id="{BCA794C4-0AC8-E0EA-362F-FDBEB90C2160}"/>
              </a:ext>
            </a:extLst>
          </p:cNvPr>
          <p:cNvSpPr/>
          <p:nvPr/>
        </p:nvSpPr>
        <p:spPr>
          <a:xfrm>
            <a:off x="1371518" y="4158786"/>
            <a:ext cx="313571" cy="413807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68CA1E05-9545-9756-0486-5B3F59E6516C}"/>
              </a:ext>
            </a:extLst>
          </p:cNvPr>
          <p:cNvSpPr/>
          <p:nvPr/>
        </p:nvSpPr>
        <p:spPr>
          <a:xfrm>
            <a:off x="700824" y="4693552"/>
            <a:ext cx="1388489" cy="60974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Gradient logic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624EF3A-0C2F-C9EF-52B9-D3AEB702F5A0}"/>
              </a:ext>
            </a:extLst>
          </p:cNvPr>
          <p:cNvCxnSpPr/>
          <p:nvPr/>
        </p:nvCxnSpPr>
        <p:spPr>
          <a:xfrm>
            <a:off x="2186685" y="5010215"/>
            <a:ext cx="586495" cy="106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D6352170-6628-3738-7941-18CDE2FE1A81}"/>
              </a:ext>
            </a:extLst>
          </p:cNvPr>
          <p:cNvSpPr txBox="1"/>
          <p:nvPr/>
        </p:nvSpPr>
        <p:spPr>
          <a:xfrm>
            <a:off x="595582" y="5486630"/>
            <a:ext cx="2296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Map Process 2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5F55C651-E9BA-6942-B799-66F7A00EADC1}"/>
              </a:ext>
            </a:extLst>
          </p:cNvPr>
          <p:cNvSpPr/>
          <p:nvPr/>
        </p:nvSpPr>
        <p:spPr>
          <a:xfrm rot="16200000">
            <a:off x="2042977" y="4737740"/>
            <a:ext cx="1808020" cy="32032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Partition/Sort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A2BA58-725E-6D15-158D-718424B0600F}"/>
              </a:ext>
            </a:extLst>
          </p:cNvPr>
          <p:cNvSpPr txBox="1"/>
          <p:nvPr/>
        </p:nvSpPr>
        <p:spPr>
          <a:xfrm>
            <a:off x="6263223" y="712677"/>
            <a:ext cx="1714500" cy="80021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en-US" sz="1400" dirty="0"/>
              <a:t>d/</a:t>
            </a:r>
            <a:r>
              <a:rPr lang="en-US" sz="1400" dirty="0" err="1"/>
              <a:t>dw</a:t>
            </a:r>
            <a:r>
              <a:rPr lang="en-US" sz="1400" dirty="0"/>
              <a:t> point1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 …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 ….</a:t>
            </a:r>
          </a:p>
        </p:txBody>
      </p:sp>
      <p:sp>
        <p:nvSpPr>
          <p:cNvPr id="27" name="Down Arrow 26">
            <a:extLst>
              <a:ext uri="{FF2B5EF4-FFF2-40B4-BE49-F238E27FC236}">
                <a16:creationId xmlns:a16="http://schemas.microsoft.com/office/drawing/2014/main" id="{18D2C927-955D-CA11-B136-D3FCC0D9D0E6}"/>
              </a:ext>
            </a:extLst>
          </p:cNvPr>
          <p:cNvSpPr/>
          <p:nvPr/>
        </p:nvSpPr>
        <p:spPr>
          <a:xfrm>
            <a:off x="6996648" y="1399126"/>
            <a:ext cx="342900" cy="483122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42A504E0-7CEF-F863-9E56-B0F42653E4D7}"/>
              </a:ext>
            </a:extLst>
          </p:cNvPr>
          <p:cNvSpPr/>
          <p:nvPr/>
        </p:nvSpPr>
        <p:spPr>
          <a:xfrm>
            <a:off x="6246155" y="1906517"/>
            <a:ext cx="1714500" cy="56773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add pointwise gradients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030432D-E4B8-9A95-311C-4139A4EDE054}"/>
              </a:ext>
            </a:extLst>
          </p:cNvPr>
          <p:cNvSpPr/>
          <p:nvPr/>
        </p:nvSpPr>
        <p:spPr>
          <a:xfrm>
            <a:off x="6053586" y="424230"/>
            <a:ext cx="2017064" cy="2798296"/>
          </a:xfrm>
          <a:prstGeom prst="rect">
            <a:avLst/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D548A2-ACA2-275E-CA9D-F3A111913B76}"/>
              </a:ext>
            </a:extLst>
          </p:cNvPr>
          <p:cNvSpPr txBox="1"/>
          <p:nvPr/>
        </p:nvSpPr>
        <p:spPr>
          <a:xfrm>
            <a:off x="6396585" y="372296"/>
            <a:ext cx="1207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Reducer 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1A056D1-CC19-6D65-AAD5-559AE4D0F96A}"/>
              </a:ext>
            </a:extLst>
          </p:cNvPr>
          <p:cNvSpPr txBox="1"/>
          <p:nvPr/>
        </p:nvSpPr>
        <p:spPr>
          <a:xfrm>
            <a:off x="6374213" y="3563796"/>
            <a:ext cx="1714500" cy="738664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endParaRPr lang="en-US" sz="1400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d/</a:t>
            </a:r>
            <a:r>
              <a:rPr lang="en-US" sz="1400" dirty="0" err="1"/>
              <a:t>dw</a:t>
            </a:r>
            <a:r>
              <a:rPr lang="en-US" sz="1400" dirty="0"/>
              <a:t> point 7..001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 ….</a:t>
            </a:r>
          </a:p>
        </p:txBody>
      </p:sp>
      <p:sp>
        <p:nvSpPr>
          <p:cNvPr id="68" name="Down Arrow 67">
            <a:extLst>
              <a:ext uri="{FF2B5EF4-FFF2-40B4-BE49-F238E27FC236}">
                <a16:creationId xmlns:a16="http://schemas.microsoft.com/office/drawing/2014/main" id="{FCAB83E0-B67C-053A-7DA7-2DA6E3E009C8}"/>
              </a:ext>
            </a:extLst>
          </p:cNvPr>
          <p:cNvSpPr/>
          <p:nvPr/>
        </p:nvSpPr>
        <p:spPr>
          <a:xfrm>
            <a:off x="7107638" y="4271244"/>
            <a:ext cx="342900" cy="41229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19E818A0-1DE5-013B-6E57-D631EE35E0E4}"/>
              </a:ext>
            </a:extLst>
          </p:cNvPr>
          <p:cNvSpPr/>
          <p:nvPr/>
        </p:nvSpPr>
        <p:spPr>
          <a:xfrm>
            <a:off x="6374213" y="4703430"/>
            <a:ext cx="1714500" cy="484508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add pointwise gradients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A6F4961-1251-E90E-217F-984F86ED642A}"/>
              </a:ext>
            </a:extLst>
          </p:cNvPr>
          <p:cNvSpPr/>
          <p:nvPr/>
        </p:nvSpPr>
        <p:spPr>
          <a:xfrm>
            <a:off x="6085698" y="3428999"/>
            <a:ext cx="2058120" cy="2276711"/>
          </a:xfrm>
          <a:prstGeom prst="rect">
            <a:avLst/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9CB9D2E-DB7A-2DF2-98D3-C7CE46A519CA}"/>
              </a:ext>
            </a:extLst>
          </p:cNvPr>
          <p:cNvSpPr txBox="1"/>
          <p:nvPr/>
        </p:nvSpPr>
        <p:spPr>
          <a:xfrm>
            <a:off x="6516782" y="5333191"/>
            <a:ext cx="1207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Reducer 2</a:t>
            </a: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662BBF9-8CEE-63AF-6B5E-517AC83175DC}"/>
              </a:ext>
            </a:extLst>
          </p:cNvPr>
          <p:cNvGrpSpPr/>
          <p:nvPr/>
        </p:nvGrpSpPr>
        <p:grpSpPr>
          <a:xfrm>
            <a:off x="2801367" y="933202"/>
            <a:ext cx="3409969" cy="4839001"/>
            <a:chOff x="2801367" y="933202"/>
            <a:chExt cx="3409969" cy="4772509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8730196-0329-C572-1FD4-340C3AED4659}"/>
                </a:ext>
              </a:extLst>
            </p:cNvPr>
            <p:cNvGrpSpPr/>
            <p:nvPr/>
          </p:nvGrpSpPr>
          <p:grpSpPr>
            <a:xfrm>
              <a:off x="4311913" y="1121296"/>
              <a:ext cx="1899423" cy="3370468"/>
              <a:chOff x="4311913" y="1121296"/>
              <a:chExt cx="1899423" cy="3370468"/>
            </a:xfrm>
          </p:grpSpPr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1D03FB5D-FDBC-F1F2-771E-EEA0E208EE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47492" y="3193891"/>
                <a:ext cx="1663844" cy="74945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48306028-BB04-2A43-BF88-B479818D75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77381" y="4158785"/>
                <a:ext cx="1781846" cy="60136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4047028-D50B-E173-121B-BE8409548B88}"/>
                  </a:ext>
                </a:extLst>
              </p:cNvPr>
              <p:cNvCxnSpPr/>
              <p:nvPr/>
            </p:nvCxnSpPr>
            <p:spPr>
              <a:xfrm flipV="1">
                <a:off x="4490969" y="1121296"/>
                <a:ext cx="1613327" cy="45132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EAE2DE95-74F3-0AE2-7676-FB51A1B01744}"/>
                  </a:ext>
                </a:extLst>
              </p:cNvPr>
              <p:cNvCxnSpPr/>
              <p:nvPr/>
            </p:nvCxnSpPr>
            <p:spPr>
              <a:xfrm flipV="1">
                <a:off x="4377381" y="1365892"/>
                <a:ext cx="1818127" cy="61935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C616BC1D-33CE-5271-1161-872139BC5FAE}"/>
                  </a:ext>
                </a:extLst>
              </p:cNvPr>
              <p:cNvCxnSpPr/>
              <p:nvPr/>
            </p:nvCxnSpPr>
            <p:spPr>
              <a:xfrm flipV="1">
                <a:off x="4311913" y="1884593"/>
                <a:ext cx="1883595" cy="1842555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DCC70860-AE4D-D118-2EC5-76A1152FF523}"/>
                  </a:ext>
                </a:extLst>
              </p:cNvPr>
              <p:cNvCxnSpPr/>
              <p:nvPr/>
            </p:nvCxnSpPr>
            <p:spPr>
              <a:xfrm flipV="1">
                <a:off x="4360339" y="2298868"/>
                <a:ext cx="1750462" cy="2192896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65F27A4-64E7-3A47-E3F6-2ADA12E53A99}"/>
                </a:ext>
              </a:extLst>
            </p:cNvPr>
            <p:cNvGrpSpPr/>
            <p:nvPr/>
          </p:nvGrpSpPr>
          <p:grpSpPr>
            <a:xfrm>
              <a:off x="2801367" y="933202"/>
              <a:ext cx="2986445" cy="4772509"/>
              <a:chOff x="2801367" y="933202"/>
              <a:chExt cx="2986445" cy="4772509"/>
            </a:xfrm>
          </p:grpSpPr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11D28446-6232-4970-21D9-4AA4760084B6}"/>
                  </a:ext>
                </a:extLst>
              </p:cNvPr>
              <p:cNvCxnSpPr>
                <a:cxnSpLocks/>
                <a:endCxn id="72" idx="3"/>
              </p:cNvCxnSpPr>
              <p:nvPr/>
            </p:nvCxnSpPr>
            <p:spPr>
              <a:xfrm>
                <a:off x="4148295" y="1121296"/>
                <a:ext cx="1358994" cy="240777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7F7B79EB-CED4-D980-1EF6-1072519EEF75}"/>
                  </a:ext>
                </a:extLst>
              </p:cNvPr>
              <p:cNvSpPr/>
              <p:nvPr/>
            </p:nvSpPr>
            <p:spPr>
              <a:xfrm rot="16200000">
                <a:off x="2101610" y="2359384"/>
                <a:ext cx="1719836" cy="320322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Partition/Sort</a:t>
                </a:r>
              </a:p>
            </p:txBody>
          </p: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7D3FDE1B-2714-5387-8DD0-218D9F5BDA4F}"/>
                  </a:ext>
                </a:extLst>
              </p:cNvPr>
              <p:cNvCxnSpPr/>
              <p:nvPr/>
            </p:nvCxnSpPr>
            <p:spPr>
              <a:xfrm flipV="1">
                <a:off x="3152585" y="1290929"/>
                <a:ext cx="460466" cy="59530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C8B9746E-AA1C-BA16-B827-BAB3BE78FE22}"/>
                  </a:ext>
                </a:extLst>
              </p:cNvPr>
              <p:cNvCxnSpPr/>
              <p:nvPr/>
            </p:nvCxnSpPr>
            <p:spPr>
              <a:xfrm flipV="1">
                <a:off x="3231731" y="1659627"/>
                <a:ext cx="381321" cy="401355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DF1B5C4E-1329-F2DE-2542-E6378CE39B79}"/>
                  </a:ext>
                </a:extLst>
              </p:cNvPr>
              <p:cNvCxnSpPr/>
              <p:nvPr/>
            </p:nvCxnSpPr>
            <p:spPr>
              <a:xfrm flipV="1">
                <a:off x="3222694" y="1985250"/>
                <a:ext cx="390358" cy="316665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8B0C4728-16CE-66D8-1AD2-E0B103340AB2}"/>
                  </a:ext>
                </a:extLst>
              </p:cNvPr>
              <p:cNvCxnSpPr/>
              <p:nvPr/>
            </p:nvCxnSpPr>
            <p:spPr>
              <a:xfrm flipV="1">
                <a:off x="3226210" y="2482963"/>
                <a:ext cx="386841" cy="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D063C88F-0A02-0FC8-D7C7-A7532A66A118}"/>
                  </a:ext>
                </a:extLst>
              </p:cNvPr>
              <p:cNvCxnSpPr/>
              <p:nvPr/>
            </p:nvCxnSpPr>
            <p:spPr>
              <a:xfrm>
                <a:off x="3231731" y="2614338"/>
                <a:ext cx="381321" cy="15820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D3618B4A-E51A-8675-4B88-ED7FDBCED47C}"/>
                  </a:ext>
                </a:extLst>
              </p:cNvPr>
              <p:cNvCxnSpPr/>
              <p:nvPr/>
            </p:nvCxnSpPr>
            <p:spPr>
              <a:xfrm>
                <a:off x="3269224" y="2798954"/>
                <a:ext cx="343828" cy="31941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A44D1059-96A1-7B62-02A0-F69CD8675CA2}"/>
                  </a:ext>
                </a:extLst>
              </p:cNvPr>
              <p:cNvSpPr/>
              <p:nvPr/>
            </p:nvSpPr>
            <p:spPr>
              <a:xfrm>
                <a:off x="3386297" y="1037148"/>
                <a:ext cx="700341" cy="208317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Spill 1</a:t>
                </a:r>
              </a:p>
            </p:txBody>
          </p:sp>
          <p:sp>
            <p:nvSpPr>
              <p:cNvPr id="40" name="Rounded Rectangle 39">
                <a:extLst>
                  <a:ext uri="{FF2B5EF4-FFF2-40B4-BE49-F238E27FC236}">
                    <a16:creationId xmlns:a16="http://schemas.microsoft.com/office/drawing/2014/main" id="{2C542988-032A-9967-58F7-BDDF766CC64F}"/>
                  </a:ext>
                </a:extLst>
              </p:cNvPr>
              <p:cNvSpPr/>
              <p:nvPr/>
            </p:nvSpPr>
            <p:spPr>
              <a:xfrm>
                <a:off x="3613051" y="1451310"/>
                <a:ext cx="700341" cy="208317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Spill 2</a:t>
                </a:r>
              </a:p>
            </p:txBody>
          </p:sp>
          <p:sp>
            <p:nvSpPr>
              <p:cNvPr id="41" name="Rounded Rectangle 40">
                <a:extLst>
                  <a:ext uri="{FF2B5EF4-FFF2-40B4-BE49-F238E27FC236}">
                    <a16:creationId xmlns:a16="http://schemas.microsoft.com/office/drawing/2014/main" id="{ED58685F-32FE-97BB-A811-22A630933F6D}"/>
                  </a:ext>
                </a:extLst>
              </p:cNvPr>
              <p:cNvSpPr/>
              <p:nvPr/>
            </p:nvSpPr>
            <p:spPr>
              <a:xfrm>
                <a:off x="3667750" y="1881091"/>
                <a:ext cx="700341" cy="208317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Spill 3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7ACDB7A-CA4B-59FA-74CD-35CA42BFC85D}"/>
                  </a:ext>
                </a:extLst>
              </p:cNvPr>
              <p:cNvSpPr txBox="1"/>
              <p:nvPr/>
            </p:nvSpPr>
            <p:spPr>
              <a:xfrm>
                <a:off x="3768335" y="2359537"/>
                <a:ext cx="379960" cy="2468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…</a:t>
                </a:r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1067A713-7B1C-F9D1-53BE-442778D155EA}"/>
                  </a:ext>
                </a:extLst>
              </p:cNvPr>
              <p:cNvCxnSpPr/>
              <p:nvPr/>
            </p:nvCxnSpPr>
            <p:spPr>
              <a:xfrm flipV="1">
                <a:off x="3151105" y="3878272"/>
                <a:ext cx="460466" cy="59530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3F0F0081-3B53-9B39-80A3-CDB94CD0E9BF}"/>
                  </a:ext>
                </a:extLst>
              </p:cNvPr>
              <p:cNvCxnSpPr/>
              <p:nvPr/>
            </p:nvCxnSpPr>
            <p:spPr>
              <a:xfrm flipV="1">
                <a:off x="3230251" y="4246970"/>
                <a:ext cx="381321" cy="401355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FD6FDD95-E5FF-8FCA-FC4E-DBF607A896C4}"/>
                  </a:ext>
                </a:extLst>
              </p:cNvPr>
              <p:cNvCxnSpPr/>
              <p:nvPr/>
            </p:nvCxnSpPr>
            <p:spPr>
              <a:xfrm flipV="1">
                <a:off x="3221214" y="4572593"/>
                <a:ext cx="390358" cy="316665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1CDCDAAB-992B-7B84-F9B4-32F8B49E861D}"/>
                  </a:ext>
                </a:extLst>
              </p:cNvPr>
              <p:cNvCxnSpPr/>
              <p:nvPr/>
            </p:nvCxnSpPr>
            <p:spPr>
              <a:xfrm flipV="1">
                <a:off x="3224730" y="5070306"/>
                <a:ext cx="386841" cy="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410EE4C8-601D-60EC-C592-2213A7D860FE}"/>
                  </a:ext>
                </a:extLst>
              </p:cNvPr>
              <p:cNvCxnSpPr/>
              <p:nvPr/>
            </p:nvCxnSpPr>
            <p:spPr>
              <a:xfrm>
                <a:off x="3230251" y="5201681"/>
                <a:ext cx="381321" cy="15820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0C02DF52-38F5-65AE-2921-1FCDACDB6BF3}"/>
                  </a:ext>
                </a:extLst>
              </p:cNvPr>
              <p:cNvCxnSpPr/>
              <p:nvPr/>
            </p:nvCxnSpPr>
            <p:spPr>
              <a:xfrm>
                <a:off x="3267744" y="5386297"/>
                <a:ext cx="343828" cy="31941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Rounded Rectangle 61">
                <a:extLst>
                  <a:ext uri="{FF2B5EF4-FFF2-40B4-BE49-F238E27FC236}">
                    <a16:creationId xmlns:a16="http://schemas.microsoft.com/office/drawing/2014/main" id="{3034C7DA-4BF6-B3B5-1F04-DB4CEB9FEA48}"/>
                  </a:ext>
                </a:extLst>
              </p:cNvPr>
              <p:cNvSpPr/>
              <p:nvPr/>
            </p:nvSpPr>
            <p:spPr>
              <a:xfrm>
                <a:off x="3550609" y="3632257"/>
                <a:ext cx="700342" cy="208317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Spill 1</a:t>
                </a:r>
              </a:p>
            </p:txBody>
          </p:sp>
          <p:sp>
            <p:nvSpPr>
              <p:cNvPr id="63" name="Rounded Rectangle 62">
                <a:extLst>
                  <a:ext uri="{FF2B5EF4-FFF2-40B4-BE49-F238E27FC236}">
                    <a16:creationId xmlns:a16="http://schemas.microsoft.com/office/drawing/2014/main" id="{DD951A90-1127-24C3-358F-2E05482AF8AB}"/>
                  </a:ext>
                </a:extLst>
              </p:cNvPr>
              <p:cNvSpPr/>
              <p:nvPr/>
            </p:nvSpPr>
            <p:spPr>
              <a:xfrm>
                <a:off x="3611571" y="4038653"/>
                <a:ext cx="700342" cy="208317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Spill 2</a:t>
                </a:r>
              </a:p>
            </p:txBody>
          </p:sp>
          <p:sp>
            <p:nvSpPr>
              <p:cNvPr id="64" name="Rounded Rectangle 63">
                <a:extLst>
                  <a:ext uri="{FF2B5EF4-FFF2-40B4-BE49-F238E27FC236}">
                    <a16:creationId xmlns:a16="http://schemas.microsoft.com/office/drawing/2014/main" id="{4C8DB771-F828-D1CA-1EE5-F73920036A92}"/>
                  </a:ext>
                </a:extLst>
              </p:cNvPr>
              <p:cNvSpPr/>
              <p:nvPr/>
            </p:nvSpPr>
            <p:spPr>
              <a:xfrm>
                <a:off x="3666270" y="4468434"/>
                <a:ext cx="700342" cy="208317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Spill 3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A669181-C318-860D-0E71-3A4B80AF52C9}"/>
                  </a:ext>
                </a:extLst>
              </p:cNvPr>
              <p:cNvSpPr txBox="1"/>
              <p:nvPr/>
            </p:nvSpPr>
            <p:spPr>
              <a:xfrm>
                <a:off x="3766855" y="4946880"/>
                <a:ext cx="379960" cy="2468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…</a:t>
                </a:r>
              </a:p>
            </p:txBody>
          </p:sp>
          <p:sp>
            <p:nvSpPr>
              <p:cNvPr id="54" name="Rounded Rectangle 53">
                <a:extLst>
                  <a:ext uri="{FF2B5EF4-FFF2-40B4-BE49-F238E27FC236}">
                    <a16:creationId xmlns:a16="http://schemas.microsoft.com/office/drawing/2014/main" id="{72B1B9A8-693A-C952-1DCD-D2DCA79A263F}"/>
                  </a:ext>
                </a:extLst>
              </p:cNvPr>
              <p:cNvSpPr/>
              <p:nvPr/>
            </p:nvSpPr>
            <p:spPr>
              <a:xfrm rot="16200000">
                <a:off x="4560624" y="1810108"/>
                <a:ext cx="2104093" cy="350282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Merge Spill Files</a:t>
                </a:r>
              </a:p>
            </p:txBody>
          </p:sp>
          <p:sp>
            <p:nvSpPr>
              <p:cNvPr id="72" name="Rounded Rectangle 71">
                <a:extLst>
                  <a:ext uri="{FF2B5EF4-FFF2-40B4-BE49-F238E27FC236}">
                    <a16:creationId xmlns:a16="http://schemas.microsoft.com/office/drawing/2014/main" id="{F4B7CD2E-DC3B-86EF-5296-A45969E99088}"/>
                  </a:ext>
                </a:extLst>
              </p:cNvPr>
              <p:cNvSpPr/>
              <p:nvPr/>
            </p:nvSpPr>
            <p:spPr>
              <a:xfrm rot="16200000">
                <a:off x="4536468" y="4324750"/>
                <a:ext cx="1941642" cy="350282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Merge Spill Files</a:t>
                </a:r>
              </a:p>
            </p:txBody>
          </p:sp>
          <p:sp>
            <p:nvSpPr>
              <p:cNvPr id="73" name="Rounded Rectangle 72">
                <a:extLst>
                  <a:ext uri="{FF2B5EF4-FFF2-40B4-BE49-F238E27FC236}">
                    <a16:creationId xmlns:a16="http://schemas.microsoft.com/office/drawing/2014/main" id="{AECF3253-CAE1-1C69-1C7D-253CB2ED84F8}"/>
                  </a:ext>
                </a:extLst>
              </p:cNvPr>
              <p:cNvSpPr/>
              <p:nvPr/>
            </p:nvSpPr>
            <p:spPr>
              <a:xfrm>
                <a:off x="3668031" y="3014209"/>
                <a:ext cx="821458" cy="208317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Spill n</a:t>
                </a:r>
              </a:p>
            </p:txBody>
          </p:sp>
        </p:grp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EA02A1-5064-AA92-7D3F-F67D149C5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5810F8D-0D76-909F-B076-534BA97E0457}"/>
              </a:ext>
            </a:extLst>
          </p:cNvPr>
          <p:cNvSpPr txBox="1"/>
          <p:nvPr/>
        </p:nvSpPr>
        <p:spPr>
          <a:xfrm>
            <a:off x="3160133" y="380448"/>
            <a:ext cx="2634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Distributed Shuffle-Sort</a:t>
            </a:r>
            <a:endParaRPr lang="en-US" dirty="0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3BF4A64C-766A-C1EE-C261-5275DC6E06CC}"/>
              </a:ext>
            </a:extLst>
          </p:cNvPr>
          <p:cNvSpPr/>
          <p:nvPr/>
        </p:nvSpPr>
        <p:spPr>
          <a:xfrm>
            <a:off x="8217056" y="492429"/>
            <a:ext cx="279354" cy="531395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E7B21B-F7AA-CE22-DC90-B0B671A9CEC6}"/>
              </a:ext>
            </a:extLst>
          </p:cNvPr>
          <p:cNvSpPr txBox="1"/>
          <p:nvPr/>
        </p:nvSpPr>
        <p:spPr>
          <a:xfrm rot="5400000">
            <a:off x="8161412" y="3149214"/>
            <a:ext cx="1363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gradient</a:t>
            </a:r>
          </a:p>
        </p:txBody>
      </p: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0D5C99B9-9412-0051-E1EF-EE07A59E4013}"/>
              </a:ext>
            </a:extLst>
          </p:cNvPr>
          <p:cNvCxnSpPr>
            <a:cxnSpLocks/>
            <a:stCxn id="16" idx="3"/>
          </p:cNvCxnSpPr>
          <p:nvPr/>
        </p:nvCxnSpPr>
        <p:spPr>
          <a:xfrm rot="5400000">
            <a:off x="5732184" y="3245282"/>
            <a:ext cx="2340630" cy="388151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FFE5D0BD-D43F-853F-3104-33245DC19C13}"/>
              </a:ext>
            </a:extLst>
          </p:cNvPr>
          <p:cNvCxnSpPr>
            <a:endCxn id="47" idx="1"/>
          </p:cNvCxnSpPr>
          <p:nvPr/>
        </p:nvCxnSpPr>
        <p:spPr>
          <a:xfrm rot="5400000" flipH="1" flipV="1">
            <a:off x="-174588" y="5480939"/>
            <a:ext cx="1357924" cy="39289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D1E00016-502E-8B85-F224-9808344D49E3}"/>
              </a:ext>
            </a:extLst>
          </p:cNvPr>
          <p:cNvCxnSpPr>
            <a:endCxn id="7" idx="1"/>
          </p:cNvCxnSpPr>
          <p:nvPr/>
        </p:nvCxnSpPr>
        <p:spPr>
          <a:xfrm rot="5400000" flipH="1" flipV="1">
            <a:off x="-751603" y="3490468"/>
            <a:ext cx="2533292" cy="37452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D18C510-6D62-2119-EC72-E57D82FC677B}"/>
              </a:ext>
            </a:extLst>
          </p:cNvPr>
          <p:cNvSpPr txBox="1"/>
          <p:nvPr/>
        </p:nvSpPr>
        <p:spPr>
          <a:xfrm>
            <a:off x="4360339" y="6145323"/>
            <a:ext cx="526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6DC7D705-7BFD-8AF1-BAD4-C884AB038867}"/>
              </a:ext>
            </a:extLst>
          </p:cNvPr>
          <p:cNvCxnSpPr>
            <a:stCxn id="50" idx="1"/>
          </p:cNvCxnSpPr>
          <p:nvPr/>
        </p:nvCxnSpPr>
        <p:spPr>
          <a:xfrm flipH="1">
            <a:off x="483066" y="6329989"/>
            <a:ext cx="3877273" cy="263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02908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34BDE-56AA-89A1-B6A3-477B95947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6903D-D2DE-54FA-9287-7F26B4781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is Caching in Memory Important?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6605C-7B30-AFFC-C36E-5DCC4CDAF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149B0D-49F2-243D-B7E2-BE843B4B4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4479590"/>
            <a:ext cx="8648700" cy="208630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Without caching the training data, you need to load it all the data from </a:t>
            </a:r>
            <a:r>
              <a:rPr lang="en-US" u="sng" dirty="0"/>
              <a:t>disk</a:t>
            </a:r>
            <a:r>
              <a:rPr lang="en-US" dirty="0"/>
              <a:t> in each iteration.</a:t>
            </a:r>
          </a:p>
          <a:p>
            <a:r>
              <a:rPr lang="en-US" dirty="0"/>
              <a:t>With caching, communication/disk storage is only need for the </a:t>
            </a:r>
            <a:r>
              <a:rPr lang="en-US" u="sng" dirty="0"/>
              <a:t>weights</a:t>
            </a:r>
            <a:r>
              <a:rPr lang="en-US" dirty="0"/>
              <a:t>.</a:t>
            </a:r>
          </a:p>
          <a:p>
            <a:r>
              <a:rPr lang="en-US" dirty="0"/>
              <a:t>ML is all about </a:t>
            </a:r>
            <a:r>
              <a:rPr lang="en-US" u="sng" dirty="0"/>
              <a:t>iterative</a:t>
            </a:r>
            <a:r>
              <a:rPr lang="en-US" dirty="0"/>
              <a:t> optimization.</a:t>
            </a:r>
          </a:p>
        </p:txBody>
      </p:sp>
      <p:pic>
        <p:nvPicPr>
          <p:cNvPr id="6" name="Picture 5" descr="Screen Shot 2015-10-27 at 10.55.25 AM.png">
            <a:extLst>
              <a:ext uri="{FF2B5EF4-FFF2-40B4-BE49-F238E27FC236}">
                <a16:creationId xmlns:a16="http://schemas.microsoft.com/office/drawing/2014/main" id="{634F0422-BAEE-2CB8-ACC7-2E2FDB79AA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70" y="1517232"/>
            <a:ext cx="9144000" cy="258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9697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3BA72-18E9-DC66-3865-55818BCF6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27984-D24C-87D7-2BCC-681D08F90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Transformations and Actions?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BAB9D4-E9EB-6DD9-6C56-04844BB54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60349E-56B8-2694-3CF9-F7388563A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096962"/>
            <a:ext cx="8648700" cy="546893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For large data it’s important to have an </a:t>
            </a:r>
            <a:r>
              <a:rPr lang="en-US" i="1" dirty="0"/>
              <a:t>explicit</a:t>
            </a:r>
            <a:r>
              <a:rPr lang="en-US" dirty="0"/>
              <a:t> representation of the “code” you want to run</a:t>
            </a:r>
          </a:p>
          <a:p>
            <a:pPr lvl="1"/>
            <a:r>
              <a:rPr lang="en-US" dirty="0"/>
              <a:t>For optimization</a:t>
            </a:r>
          </a:p>
          <a:p>
            <a:pPr lvl="2"/>
            <a:r>
              <a:rPr lang="en-US" dirty="0"/>
              <a:t>e.g. a sequence of .map() transformations</a:t>
            </a:r>
          </a:p>
          <a:p>
            <a:pPr lvl="1"/>
            <a:r>
              <a:rPr lang="en-US" dirty="0"/>
              <a:t>For distribution to workers</a:t>
            </a:r>
          </a:p>
          <a:p>
            <a:pPr lvl="1"/>
            <a:r>
              <a:rPr lang="en-US" dirty="0"/>
              <a:t>For recovery from errors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Spark’s transformations are like “code”</a:t>
            </a:r>
          </a:p>
          <a:p>
            <a:r>
              <a:rPr lang="en-US" dirty="0"/>
              <a:t>This happens over and over in different contexts</a:t>
            </a:r>
          </a:p>
          <a:p>
            <a:pPr lvl="1"/>
            <a:r>
              <a:rPr lang="en-US" dirty="0"/>
              <a:t>Databases have query languages and query optimizers</a:t>
            </a:r>
          </a:p>
          <a:p>
            <a:pPr lvl="1"/>
            <a:r>
              <a:rPr lang="en-US" dirty="0" err="1"/>
              <a:t>Tensorflow</a:t>
            </a:r>
            <a:r>
              <a:rPr lang="en-US" dirty="0"/>
              <a:t> and </a:t>
            </a:r>
            <a:r>
              <a:rPr lang="en-US" dirty="0" err="1"/>
              <a:t>PyTorch</a:t>
            </a:r>
            <a:r>
              <a:rPr lang="en-US" dirty="0"/>
              <a:t> have “computation graphs”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Language-like packages in Python are not different</a:t>
            </a:r>
          </a:p>
        </p:txBody>
      </p:sp>
    </p:spTree>
    <p:extLst>
      <p:ext uri="{BB962C8B-B14F-4D97-AF65-F5344CB8AC3E}">
        <p14:creationId xmlns:p14="http://schemas.microsoft.com/office/powerpoint/2010/main" val="31071213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CBF07-4918-5E3B-7C21-0D012EECC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F09A5-CFDB-58F3-0F4E-340ED8A50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Transformations and Actions?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18D82-9359-CCA0-160E-9938A9C4E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A460D1-95F1-7247-1EB7-DD71CFF29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096962"/>
            <a:ext cx="8648700" cy="5468937"/>
          </a:xfrm>
        </p:spPr>
        <p:txBody>
          <a:bodyPr>
            <a:normAutofit/>
          </a:bodyPr>
          <a:lstStyle/>
          <a:p>
            <a:r>
              <a:rPr lang="en-US" dirty="0"/>
              <a:t>Actions give you a way to use Spark </a:t>
            </a:r>
            <a:r>
              <a:rPr lang="en-US" i="1" dirty="0"/>
              <a:t>interactively</a:t>
            </a:r>
          </a:p>
          <a:p>
            <a:pPr lvl="1"/>
            <a:r>
              <a:rPr lang="en-US" dirty="0"/>
              <a:t>Use them when you debug</a:t>
            </a:r>
          </a:p>
          <a:p>
            <a:pPr lvl="1"/>
            <a:r>
              <a:rPr lang="en-US" dirty="0"/>
              <a:t>Avoid them as intermediate steps in a “production” pipeline</a:t>
            </a:r>
          </a:p>
          <a:p>
            <a:pPr lvl="2"/>
            <a:r>
              <a:rPr lang="en-US" dirty="0"/>
              <a:t>They are bottlenecks!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7033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9C11C-8D7F-8C12-70FF-9B66C390D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3DFFC-A5BE-2B19-BC90-81C166332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Cost of Transformations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DE739C-4188-7DB6-81BC-32B62A8E7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0FFF5F-ED22-FDDB-92BC-49D17CCBD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096962"/>
            <a:ext cx="8648700" cy="5468937"/>
          </a:xfrm>
        </p:spPr>
        <p:txBody>
          <a:bodyPr>
            <a:normAutofit fontScale="92500"/>
          </a:bodyPr>
          <a:lstStyle/>
          <a:p>
            <a:r>
              <a:rPr lang="en-US" dirty="0"/>
              <a:t>Some transformations can run as a single cheap “mapper” process</a:t>
            </a:r>
          </a:p>
          <a:p>
            <a:pPr lvl="1"/>
            <a:r>
              <a:rPr lang="en-US" dirty="0"/>
              <a:t>Each partition is transformed independently, so you don’t need to move data around</a:t>
            </a:r>
          </a:p>
          <a:p>
            <a:pPr lvl="1"/>
            <a:r>
              <a:rPr lang="en-US" dirty="0"/>
              <a:t>The data keys are unchanged, so you don’t need to re-partition the data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filter(f), sample(…), </a:t>
            </a:r>
            <a:r>
              <a:rPr lang="en-US" dirty="0" err="1"/>
              <a:t>mapValues</a:t>
            </a:r>
            <a:r>
              <a:rPr lang="en-US" dirty="0"/>
              <a:t>(f), …</a:t>
            </a:r>
          </a:p>
          <a:p>
            <a:pPr lvl="1"/>
            <a:r>
              <a:rPr lang="en-US" dirty="0"/>
              <a:t>map(f, </a:t>
            </a:r>
            <a:r>
              <a:rPr lang="en-US" dirty="0" err="1"/>
              <a:t>preservesPartioning</a:t>
            </a:r>
            <a:r>
              <a:rPr lang="en-US" dirty="0"/>
              <a:t>=True)</a:t>
            </a:r>
          </a:p>
          <a:p>
            <a:pPr lvl="1"/>
            <a:r>
              <a:rPr lang="en-US" dirty="0"/>
              <a:t>foreach(f)  </a:t>
            </a:r>
            <a:r>
              <a:rPr lang="en-US" i="1" dirty="0"/>
              <a:t># only runs f, doesn’t update RDD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9927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32716-CF3E-0DB8-274A-40030DB33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41253-DA82-9AF6-3FC3-46FCA6F0B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Cost of Transformations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E5E7DC-CA3B-57AA-D2D3-21163A040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6F59E1-8FEE-DDA0-FD9B-378DCA177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096962"/>
            <a:ext cx="8648700" cy="5468937"/>
          </a:xfrm>
        </p:spPr>
        <p:txBody>
          <a:bodyPr>
            <a:normAutofit/>
          </a:bodyPr>
          <a:lstStyle/>
          <a:p>
            <a:r>
              <a:rPr lang="en-US" dirty="0"/>
              <a:t>Some transformations require an expensive shuffle-sort</a:t>
            </a:r>
          </a:p>
          <a:p>
            <a:pPr lvl="1"/>
            <a:r>
              <a:rPr lang="en-US" dirty="0" err="1"/>
              <a:t>reduceByKey</a:t>
            </a:r>
            <a:r>
              <a:rPr lang="en-US" dirty="0"/>
              <a:t>, join, intersection,  subtract, </a:t>
            </a:r>
            <a:r>
              <a:rPr lang="en-US" dirty="0" err="1"/>
              <a:t>groupBy</a:t>
            </a:r>
            <a:r>
              <a:rPr lang="en-US" dirty="0"/>
              <a:t>, </a:t>
            </a:r>
            <a:r>
              <a:rPr lang="en-US" dirty="0" err="1"/>
              <a:t>sortBy</a:t>
            </a:r>
            <a:r>
              <a:rPr lang="en-US" dirty="0"/>
              <a:t>,…</a:t>
            </a:r>
          </a:p>
          <a:p>
            <a:pPr lvl="1"/>
            <a:r>
              <a:rPr lang="en-US" dirty="0" err="1"/>
              <a:t>partitionByKey</a:t>
            </a:r>
            <a:r>
              <a:rPr lang="en-US" dirty="0"/>
              <a:t>, repartition, ..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It’s not always obvious when a shuffle-sort will be needed</a:t>
            </a:r>
          </a:p>
          <a:p>
            <a:pPr lvl="2"/>
            <a:r>
              <a:rPr lang="en-US" dirty="0"/>
              <a:t>But if you understand the map-reduce layer you can make a good guess</a:t>
            </a:r>
          </a:p>
        </p:txBody>
      </p:sp>
    </p:spTree>
    <p:extLst>
      <p:ext uri="{BB962C8B-B14F-4D97-AF65-F5344CB8AC3E}">
        <p14:creationId xmlns:p14="http://schemas.microsoft.com/office/powerpoint/2010/main" val="14460407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31D09-0D5E-E10A-D95B-BCB892492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0DC58-D44C-0BF6-D672-72C8B9188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without RDDs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0D92CA3-6991-A9CB-753A-7FE5A4F5F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Broadcast variables </a:t>
            </a:r>
            <a:r>
              <a:rPr lang="en-US" dirty="0"/>
              <a:t>can be used to share constants, config information, and </a:t>
            </a:r>
            <a:r>
              <a:rPr lang="en-US" i="1" dirty="0"/>
              <a:t>small</a:t>
            </a:r>
            <a:r>
              <a:rPr lang="en-US" dirty="0"/>
              <a:t> data structures to all workers.</a:t>
            </a:r>
          </a:p>
          <a:p>
            <a:pPr lvl="1"/>
            <a:r>
              <a:rPr lang="en-US" dirty="0"/>
              <a:t>Like closures in a function call, they are copied to </a:t>
            </a:r>
            <a:r>
              <a:rPr lang="en-US" i="1" dirty="0"/>
              <a:t>every</a:t>
            </a:r>
            <a:r>
              <a:rPr lang="en-US" dirty="0"/>
              <a:t> worker</a:t>
            </a:r>
          </a:p>
          <a:p>
            <a:pPr lvl="1"/>
            <a:r>
              <a:rPr lang="en-US" dirty="0"/>
              <a:t>Worker-driven </a:t>
            </a:r>
            <a:r>
              <a:rPr lang="en-US" dirty="0" err="1"/>
              <a:t>hanges</a:t>
            </a:r>
            <a:r>
              <a:rPr lang="en-US" dirty="0"/>
              <a:t> to a broadcast variable are </a:t>
            </a:r>
            <a:r>
              <a:rPr lang="en-US" i="1" dirty="0"/>
              <a:t>not </a:t>
            </a:r>
            <a:r>
              <a:rPr lang="en-US" dirty="0"/>
              <a:t>broadcast back</a:t>
            </a:r>
          </a:p>
          <a:p>
            <a:pPr lvl="1"/>
            <a:r>
              <a:rPr lang="en-US" dirty="0"/>
              <a:t>Helpful for implementing a “map-side” join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sc.broadcast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(obj)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b.value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&gt; 10: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F5C43D-8E35-04E4-D586-0AC21EF4C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0121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D3C37-D732-59E6-E47B-CC9BC4DEB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C3619-77A5-9ED1-3FB2-2D38F7B02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without RDDs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CCC0EAD-74A2-47DC-1AAE-60021F83E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Accumulators</a:t>
            </a:r>
            <a:r>
              <a:rPr lang="en-US" dirty="0"/>
              <a:t> are shared counters</a:t>
            </a:r>
          </a:p>
          <a:p>
            <a:pPr lvl="1"/>
            <a:r>
              <a:rPr lang="en-US" dirty="0"/>
              <a:t>Generally used for monitoring progress</a:t>
            </a:r>
          </a:p>
          <a:p>
            <a:pPr lvl="1"/>
            <a:r>
              <a:rPr lang="en-US" dirty="0"/>
              <a:t>You don’t know the order in which accumulators will be incremented</a:t>
            </a:r>
          </a:p>
          <a:p>
            <a:pPr lvl="1"/>
            <a:r>
              <a:rPr lang="en-US" dirty="0"/>
              <a:t>You can define your own accumulator classes</a:t>
            </a:r>
          </a:p>
          <a:p>
            <a:pPr lvl="1"/>
            <a:r>
              <a:rPr lang="en-US" dirty="0"/>
              <a:t>Workers can’t read the accumulator’s values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23C9C1-3569-681D-10FF-EE9500D24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6530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75FCD-6937-A9E2-95C9-CBF273C98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BD0DA-075E-E690-8C63-056D5E3A4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without RDDs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5A1D29-34B2-2636-C319-B0A234FB4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397672" cy="5099050"/>
          </a:xfrm>
        </p:spPr>
        <p:txBody>
          <a:bodyPr>
            <a:normAutofit/>
          </a:bodyPr>
          <a:lstStyle/>
          <a:p>
            <a:r>
              <a:rPr lang="en-US" b="1" dirty="0"/>
              <a:t>Closures sent to workers</a:t>
            </a:r>
            <a:r>
              <a:rPr lang="en-US" i="1" dirty="0"/>
              <a:t> </a:t>
            </a:r>
            <a:r>
              <a:rPr lang="en-US" dirty="0"/>
              <a:t>as an argument of a transformation or action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7E280D-B927-946B-B229-32D2A04AC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40</a:t>
            </a:fld>
            <a:endParaRPr lang="en-US"/>
          </a:p>
        </p:txBody>
      </p:sp>
      <p:pic>
        <p:nvPicPr>
          <p:cNvPr id="11" name="Picture 10" descr="Screen Shot 2015-10-27 at 10.55.25 AM.png">
            <a:extLst>
              <a:ext uri="{FF2B5EF4-FFF2-40B4-BE49-F238E27FC236}">
                <a16:creationId xmlns:a16="http://schemas.microsoft.com/office/drawing/2014/main" id="{AD505D3E-6E7E-EA3F-F90C-4848AE6D2C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00" y="2748007"/>
            <a:ext cx="9144000" cy="258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9537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93BFB3C-B4BD-93E2-8067-56DAF0470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10ADC-57BB-596D-1462-72E0FE6D5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without RDDs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26367B-6E6B-19C9-FE0A-D0AD9D1FC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4720617" cy="5099050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Closures sent to workers</a:t>
            </a:r>
            <a:r>
              <a:rPr lang="en-US" i="1" dirty="0"/>
              <a:t> </a:t>
            </a:r>
            <a:r>
              <a:rPr lang="en-US" dirty="0"/>
              <a:t>as an argument of a transformation or action</a:t>
            </a:r>
          </a:p>
          <a:p>
            <a:pPr lvl="1"/>
            <a:r>
              <a:rPr lang="en-US" dirty="0"/>
              <a:t>note: lambda’s in Python are sometimes surprising!</a:t>
            </a:r>
          </a:p>
          <a:p>
            <a:pPr lvl="1"/>
            <a:r>
              <a:rPr lang="en-US" dirty="0"/>
              <a:t>be careful and/or be explicit!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92FA1-35B0-8A98-D0BF-179C6EF6C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41</a:t>
            </a:fld>
            <a:endParaRPr lang="en-US"/>
          </a:p>
        </p:txBody>
      </p:sp>
      <p:pic>
        <p:nvPicPr>
          <p:cNvPr id="7" name="Picture 6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65C76569-B315-6D31-A479-3F9F30E2D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2903" y="2952552"/>
            <a:ext cx="5411697" cy="36133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27A3F673-39CC-BDCB-D6F8-8631A3529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017" y="292100"/>
            <a:ext cx="3750421" cy="25301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5674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915B8-401F-5BAE-5DED-20A7ABFEB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365F9-43A9-4FD9-D35D-FA0356908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without RDDs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1590020-C7A4-9E20-2BDB-8E005845D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7886032" cy="5099050"/>
          </a:xfrm>
        </p:spPr>
        <p:txBody>
          <a:bodyPr>
            <a:normAutofit/>
          </a:bodyPr>
          <a:lstStyle/>
          <a:p>
            <a:r>
              <a:rPr lang="en-US" b="1" dirty="0"/>
              <a:t>Closures sent to workers</a:t>
            </a:r>
            <a:r>
              <a:rPr lang="en-US" i="1" dirty="0"/>
              <a:t> </a:t>
            </a:r>
            <a:r>
              <a:rPr lang="en-US" dirty="0"/>
              <a:t>as an argument of a transformation or action</a:t>
            </a:r>
          </a:p>
          <a:p>
            <a:pPr lvl="1"/>
            <a:r>
              <a:rPr lang="en-US" dirty="0"/>
              <a:t>Q: how does Spark determine what values to package up with the code that it sends to workers?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Good practice: don’t make this too complicated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0EDA6C-1405-77F1-8A96-4E37112BA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9962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6C58C-5B9E-6C25-1299-B1B33B69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SAMPLE MR WORKFLOWS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05A9B-A02E-E255-EED1-45C1C818B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C9DFD-F415-65B8-A98A-02A3F2717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6120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81880-BB39-C36F-B6AA-FEB428BFE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COUNTS in Two Corpora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3FCBF-67F5-22B0-630A-7AA0048065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1834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7B7C5-062A-68A0-EB19-2E4035508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6E118-7FF9-2AE2-8355-DA2329194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Classic </a:t>
            </a:r>
            <a:r>
              <a:rPr lang="en-US" dirty="0" err="1"/>
              <a:t>PySpark</a:t>
            </a:r>
            <a:r>
              <a:rPr lang="en-US" dirty="0"/>
              <a:t> examples: wordcount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442FA-B8D1-9B93-4D6E-74E02C017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45</a:t>
            </a:fld>
            <a:endParaRPr lang="en-US"/>
          </a:p>
        </p:txBody>
      </p:sp>
      <p:pic>
        <p:nvPicPr>
          <p:cNvPr id="5" name="Picture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1A8DF045-4B79-FB7B-8EE7-5FC4E1E32B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945" b="13385"/>
          <a:stretch/>
        </p:blipFill>
        <p:spPr>
          <a:xfrm>
            <a:off x="604839" y="1274763"/>
            <a:ext cx="7048500" cy="35401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938CAD9-E8BD-6295-D834-9F5AA631EB1F}"/>
              </a:ext>
            </a:extLst>
          </p:cNvPr>
          <p:cNvSpPr/>
          <p:nvPr/>
        </p:nvSpPr>
        <p:spPr>
          <a:xfrm>
            <a:off x="600075" y="1616869"/>
            <a:ext cx="4972050" cy="78343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8DD84B-1D2C-7501-89D8-4AF43E450DB1}"/>
              </a:ext>
            </a:extLst>
          </p:cNvPr>
          <p:cNvSpPr/>
          <p:nvPr/>
        </p:nvSpPr>
        <p:spPr>
          <a:xfrm>
            <a:off x="600075" y="3600053"/>
            <a:ext cx="4972050" cy="78343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9597CA2E-B394-FBA7-49AC-57E5E4E0EB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7587"/>
          <a:stretch/>
        </p:blipFill>
        <p:spPr>
          <a:xfrm>
            <a:off x="5792326" y="1111295"/>
            <a:ext cx="2945273" cy="3272190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1238746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83425C0A-5EAA-DAC0-4C8D-84B55C1D1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" y="511174"/>
            <a:ext cx="8514184" cy="44180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D72F57-55AF-337E-D465-6D324B7BFCE1}"/>
                  </a:ext>
                </a:extLst>
              </p:cNvPr>
              <p:cNvSpPr txBox="1"/>
              <p:nvPr/>
            </p:nvSpPr>
            <p:spPr>
              <a:xfrm>
                <a:off x="2567047" y="5399279"/>
                <a:ext cx="5923324" cy="14444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argmax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)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𝑃𝑟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𝑃𝑟</m:t>
                          </m:r>
                          <m:d>
                            <m:d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lg</m:t>
                                  </m:r>
                                </m:fNam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func>
                            </m:e>
                          </m:nary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D72F57-55AF-337E-D465-6D324B7BF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7047" y="5399279"/>
                <a:ext cx="5923324" cy="1444434"/>
              </a:xfrm>
              <a:prstGeom prst="rect">
                <a:avLst/>
              </a:prstGeom>
              <a:blipFill>
                <a:blip r:embed="rId3"/>
                <a:stretch>
                  <a:fillRect l="-1927" t="-55652" b="-1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D182E3B-5F99-7EDD-39B6-BACCF2D2D9E7}"/>
              </a:ext>
            </a:extLst>
          </p:cNvPr>
          <p:cNvSpPr txBox="1"/>
          <p:nvPr/>
        </p:nvSpPr>
        <p:spPr>
          <a:xfrm>
            <a:off x="447675" y="5300663"/>
            <a:ext cx="2509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Naïve Bayes: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094E291-9127-24FC-BC56-0CA37CD54B51}"/>
                  </a:ext>
                </a:extLst>
              </p:cNvPr>
              <p:cNvSpPr txBox="1"/>
              <p:nvPr/>
            </p:nvSpPr>
            <p:spPr>
              <a:xfrm>
                <a:off x="6000750" y="3429000"/>
                <a:ext cx="16754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fg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corpus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094E291-9127-24FC-BC56-0CA37CD54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0750" y="3429000"/>
                <a:ext cx="1675459" cy="276999"/>
              </a:xfrm>
              <a:prstGeom prst="rect">
                <a:avLst/>
              </a:prstGeom>
              <a:blipFill>
                <a:blip r:embed="rId4"/>
                <a:stretch>
                  <a:fillRect l="-2256" t="-9091" r="-4511" b="-3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5E50DE9-059E-44F8-A042-0408BB786D1C}"/>
                  </a:ext>
                </a:extLst>
              </p:cNvPr>
              <p:cNvSpPr txBox="1"/>
              <p:nvPr/>
            </p:nvSpPr>
            <p:spPr>
              <a:xfrm>
                <a:off x="6000750" y="3705999"/>
                <a:ext cx="17283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bg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corpus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5E50DE9-059E-44F8-A042-0408BB786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0750" y="3705999"/>
                <a:ext cx="1728358" cy="276999"/>
              </a:xfrm>
              <a:prstGeom prst="rect">
                <a:avLst/>
              </a:prstGeom>
              <a:blipFill>
                <a:blip r:embed="rId5"/>
                <a:stretch>
                  <a:fillRect l="-2920" t="-8696" r="-4380"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4919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4D887-96B3-8544-76EB-B7448D12D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75D77DF3-2B82-EA0E-016C-D3D7CEEF5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41" y="420686"/>
            <a:ext cx="3948039" cy="48942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219564F8-47B5-811B-84CD-E2E14B653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8672" y="420686"/>
            <a:ext cx="3815594" cy="489426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898986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7C2C4-A950-572C-ED38-CE6FFF0CC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Bigrams</a:t>
            </a:r>
          </a:p>
        </p:txBody>
      </p:sp>
      <p:pic>
        <p:nvPicPr>
          <p:cNvPr id="4" name="Picture 3" descr="A close-up of a number&#10;&#10;Description automatically generated">
            <a:extLst>
              <a:ext uri="{FF2B5EF4-FFF2-40B4-BE49-F238E27FC236}">
                <a16:creationId xmlns:a16="http://schemas.microsoft.com/office/drawing/2014/main" id="{8569DEFC-BDEB-0198-1C07-F0518B9702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754"/>
          <a:stretch/>
        </p:blipFill>
        <p:spPr>
          <a:xfrm>
            <a:off x="4778374" y="1443028"/>
            <a:ext cx="4037309" cy="2143126"/>
          </a:xfrm>
          <a:prstGeom prst="rect">
            <a:avLst/>
          </a:prstGeom>
        </p:spPr>
      </p:pic>
      <p:pic>
        <p:nvPicPr>
          <p:cNvPr id="6" name="Picture 5" descr="A computer code with red text&#10;&#10;Description automatically generated with medium confidence">
            <a:extLst>
              <a:ext uri="{FF2B5EF4-FFF2-40B4-BE49-F238E27FC236}">
                <a16:creationId xmlns:a16="http://schemas.microsoft.com/office/drawing/2014/main" id="{21BBC524-0198-8AF1-C752-F9C2AE7ADD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754"/>
          <a:stretch/>
        </p:blipFill>
        <p:spPr>
          <a:xfrm>
            <a:off x="457199" y="1443029"/>
            <a:ext cx="3967488" cy="21431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21E405-72D5-4F31-304D-39F99B836D02}"/>
              </a:ext>
            </a:extLst>
          </p:cNvPr>
          <p:cNvSpPr txBox="1"/>
          <p:nvPr/>
        </p:nvSpPr>
        <p:spPr>
          <a:xfrm>
            <a:off x="457200" y="3848084"/>
            <a:ext cx="4653644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Problem: many of the common bigrams don’t seem to have meaning </a:t>
            </a:r>
            <a:r>
              <a:rPr lang="en-US" sz="2400" i="1" dirty="0"/>
              <a:t>as a phrase….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8B5D50-F39C-BFB0-929C-F521F39715A0}"/>
              </a:ext>
            </a:extLst>
          </p:cNvPr>
          <p:cNvSpPr txBox="1"/>
          <p:nvPr/>
        </p:nvSpPr>
        <p:spPr>
          <a:xfrm>
            <a:off x="3471863" y="5657850"/>
            <a:ext cx="5214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A Language Model Approach to Keyphrase Extraction (2003)</a:t>
            </a:r>
          </a:p>
        </p:txBody>
      </p:sp>
    </p:spTree>
    <p:extLst>
      <p:ext uri="{BB962C8B-B14F-4D97-AF65-F5344CB8AC3E}">
        <p14:creationId xmlns:p14="http://schemas.microsoft.com/office/powerpoint/2010/main" val="3637287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150CB-0194-7C1B-83FD-F5AB9245E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63362-22A4-AD3E-B6A1-DCB7DFA16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Scoring bigrams as phrases</a:t>
            </a:r>
          </a:p>
        </p:txBody>
      </p:sp>
      <p:pic>
        <p:nvPicPr>
          <p:cNvPr id="5" name="Picture 4" descr="A close-up of a computer code&#10;&#10;Description automatically generated">
            <a:extLst>
              <a:ext uri="{FF2B5EF4-FFF2-40B4-BE49-F238E27FC236}">
                <a16:creationId xmlns:a16="http://schemas.microsoft.com/office/drawing/2014/main" id="{EEFDB8E5-9268-5184-D57E-EF71D9F84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466845"/>
            <a:ext cx="7753324" cy="2095493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65EB9A4-3E08-84F9-5FFF-433C3BC048EC}"/>
              </a:ext>
            </a:extLst>
          </p:cNvPr>
          <p:cNvGraphicFramePr>
            <a:graphicFrameLocks noGrp="1"/>
          </p:cNvGraphicFramePr>
          <p:nvPr/>
        </p:nvGraphicFramePr>
        <p:xfrm>
          <a:off x="5124449" y="3429000"/>
          <a:ext cx="3376614" cy="3257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0772">
                  <a:extLst>
                    <a:ext uri="{9D8B030D-6E8A-4147-A177-3AD203B41FA5}">
                      <a16:colId xmlns:a16="http://schemas.microsoft.com/office/drawing/2014/main" val="2125437327"/>
                    </a:ext>
                  </a:extLst>
                </a:gridCol>
                <a:gridCol w="1995842">
                  <a:extLst>
                    <a:ext uri="{9D8B030D-6E8A-4147-A177-3AD203B41FA5}">
                      <a16:colId xmlns:a16="http://schemas.microsoft.com/office/drawing/2014/main" val="2698194728"/>
                    </a:ext>
                  </a:extLst>
                </a:gridCol>
              </a:tblGrid>
              <a:tr h="3739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explanation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051228"/>
                  </a:ext>
                </a:extLst>
              </a:tr>
              <a:tr h="373970">
                <a:tc>
                  <a:txBody>
                    <a:bodyPr/>
                    <a:lstStyle/>
                    <a:p>
                      <a:r>
                        <a:rPr lang="en-US" dirty="0" err="1"/>
                        <a:t>word_v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#distinct words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406922"/>
                  </a:ext>
                </a:extLst>
              </a:tr>
              <a:tr h="373970">
                <a:tc>
                  <a:txBody>
                    <a:bodyPr/>
                    <a:lstStyle/>
                    <a:p>
                      <a:r>
                        <a:rPr lang="en-US" dirty="0" err="1"/>
                        <a:t>phrase_v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#distinct phrases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3295806"/>
                  </a:ext>
                </a:extLst>
              </a:tr>
              <a:tr h="373970">
                <a:tc>
                  <a:txBody>
                    <a:bodyPr/>
                    <a:lstStyle/>
                    <a:p>
                      <a:r>
                        <a:rPr lang="en-US" dirty="0" err="1"/>
                        <a:t>word_n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#words in corpus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341826"/>
                  </a:ext>
                </a:extLst>
              </a:tr>
              <a:tr h="373970">
                <a:tc>
                  <a:txBody>
                    <a:bodyPr/>
                    <a:lstStyle/>
                    <a:p>
                      <a:r>
                        <a:rPr lang="en-US" dirty="0" err="1"/>
                        <a:t>phrase_n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#phrases in corpus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587048"/>
                  </a:ext>
                </a:extLst>
              </a:tr>
              <a:tr h="373970">
                <a:tc>
                  <a:txBody>
                    <a:bodyPr/>
                    <a:lstStyle/>
                    <a:p>
                      <a:r>
                        <a:rPr lang="en-US" dirty="0" err="1"/>
                        <a:t>xy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phrase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997994"/>
                  </a:ext>
                </a:extLst>
              </a:tr>
              <a:tr h="37397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first 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63060"/>
                  </a:ext>
                </a:extLst>
              </a:tr>
              <a:tr h="373970">
                <a:tc>
                  <a:txBody>
                    <a:bodyPr/>
                    <a:lstStyle/>
                    <a:p>
                      <a:r>
                        <a:rPr lang="en-US" dirty="0"/>
                        <a:t>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second 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073259"/>
                  </a:ext>
                </a:extLst>
              </a:tr>
            </a:tbl>
          </a:graphicData>
        </a:graphic>
      </p:graphicFrame>
      <p:sp>
        <p:nvSpPr>
          <p:cNvPr id="11" name="Rectangular Callout 10">
            <a:extLst>
              <a:ext uri="{FF2B5EF4-FFF2-40B4-BE49-F238E27FC236}">
                <a16:creationId xmlns:a16="http://schemas.microsoft.com/office/drawing/2014/main" id="{2A8DFBC5-9658-45EA-D015-03C7E70167B8}"/>
              </a:ext>
            </a:extLst>
          </p:cNvPr>
          <p:cNvSpPr/>
          <p:nvPr/>
        </p:nvSpPr>
        <p:spPr>
          <a:xfrm>
            <a:off x="842963" y="3857625"/>
            <a:ext cx="1857375" cy="771525"/>
          </a:xfrm>
          <a:prstGeom prst="wedgeRectCallout">
            <a:avLst>
              <a:gd name="adj1" fmla="val 69473"/>
              <a:gd name="adj2" fmla="val -99881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 a phrase “x y”</a:t>
            </a:r>
          </a:p>
        </p:txBody>
      </p:sp>
      <p:sp>
        <p:nvSpPr>
          <p:cNvPr id="12" name="Rectangular Callout 11">
            <a:extLst>
              <a:ext uri="{FF2B5EF4-FFF2-40B4-BE49-F238E27FC236}">
                <a16:creationId xmlns:a16="http://schemas.microsoft.com/office/drawing/2014/main" id="{54504E01-320E-8F83-CC9E-5229CCB0F466}"/>
              </a:ext>
            </a:extLst>
          </p:cNvPr>
          <p:cNvSpPr/>
          <p:nvPr/>
        </p:nvSpPr>
        <p:spPr>
          <a:xfrm>
            <a:off x="2957512" y="4838700"/>
            <a:ext cx="1614488" cy="1000125"/>
          </a:xfrm>
          <a:prstGeom prst="wedgeRectCallout">
            <a:avLst>
              <a:gd name="adj1" fmla="val 26070"/>
              <a:gd name="adj2" fmla="val -1775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 a random co-occurrence of x and y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007D0AB-15E6-64F5-D521-D8D950228ED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5684"/>
          <a:stretch/>
        </p:blipFill>
        <p:spPr>
          <a:xfrm>
            <a:off x="645865" y="4926701"/>
            <a:ext cx="4108945" cy="466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421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6A983-C436-A062-973D-8FEC39922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F9CC4-65F5-2CC5-3F9C-0105ECF9D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Phrases</a:t>
            </a:r>
          </a:p>
        </p:txBody>
      </p:sp>
      <p:pic>
        <p:nvPicPr>
          <p:cNvPr id="4" name="Picture 3" descr="A close-up of a number&#10;&#10;Description automatically generated">
            <a:extLst>
              <a:ext uri="{FF2B5EF4-FFF2-40B4-BE49-F238E27FC236}">
                <a16:creationId xmlns:a16="http://schemas.microsoft.com/office/drawing/2014/main" id="{2ACB02CF-6DA3-06FD-5892-621143CDA3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754"/>
          <a:stretch/>
        </p:blipFill>
        <p:spPr>
          <a:xfrm>
            <a:off x="4778374" y="1666490"/>
            <a:ext cx="3687391" cy="1957379"/>
          </a:xfrm>
          <a:prstGeom prst="rect">
            <a:avLst/>
          </a:prstGeom>
        </p:spPr>
      </p:pic>
      <p:pic>
        <p:nvPicPr>
          <p:cNvPr id="6" name="Picture 5" descr="A computer code with red text&#10;&#10;Description automatically generated with medium confidence">
            <a:extLst>
              <a:ext uri="{FF2B5EF4-FFF2-40B4-BE49-F238E27FC236}">
                <a16:creationId xmlns:a16="http://schemas.microsoft.com/office/drawing/2014/main" id="{8B146836-6ADE-6812-30A4-A620C1253D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754"/>
          <a:stretch/>
        </p:blipFill>
        <p:spPr>
          <a:xfrm>
            <a:off x="457199" y="1666491"/>
            <a:ext cx="3623622" cy="19573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C5FC79-6D28-3F3B-0598-91FCD8BA3C32}"/>
              </a:ext>
            </a:extLst>
          </p:cNvPr>
          <p:cNvSpPr txBox="1"/>
          <p:nvPr/>
        </p:nvSpPr>
        <p:spPr>
          <a:xfrm>
            <a:off x="421901" y="3683556"/>
            <a:ext cx="8043864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Filtered for high “</a:t>
            </a:r>
            <a:r>
              <a:rPr lang="en-US" sz="2400" dirty="0" err="1"/>
              <a:t>phrasiness</a:t>
            </a:r>
            <a:r>
              <a:rPr lang="en-US" sz="2400" dirty="0"/>
              <a:t>”</a:t>
            </a:r>
            <a:endParaRPr lang="en-US" sz="2400" i="1" dirty="0"/>
          </a:p>
        </p:txBody>
      </p:sp>
      <p:pic>
        <p:nvPicPr>
          <p:cNvPr id="11" name="Picture 10" descr="A computer code with red text&#10;&#10;Description automatically generated">
            <a:extLst>
              <a:ext uri="{FF2B5EF4-FFF2-40B4-BE49-F238E27FC236}">
                <a16:creationId xmlns:a16="http://schemas.microsoft.com/office/drawing/2014/main" id="{EF8ACB40-95DF-6081-3D0E-7A15F68B74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901" y="4455720"/>
            <a:ext cx="4156098" cy="1997086"/>
          </a:xfrm>
          <a:prstGeom prst="rect">
            <a:avLst/>
          </a:prstGeom>
        </p:spPr>
      </p:pic>
      <p:pic>
        <p:nvPicPr>
          <p:cNvPr id="13" name="Picture 12" descr="A number and numbers on a white background&#10;&#10;Description automatically generated">
            <a:extLst>
              <a:ext uri="{FF2B5EF4-FFF2-40B4-BE49-F238E27FC236}">
                <a16:creationId xmlns:a16="http://schemas.microsoft.com/office/drawing/2014/main" id="{8B629A81-9E21-0BC7-EA94-8C77FB1D2F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3453" y="4455719"/>
            <a:ext cx="4770819" cy="19970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557091-6B7B-0419-4401-3F35E5F850F7}"/>
              </a:ext>
            </a:extLst>
          </p:cNvPr>
          <p:cNvSpPr txBox="1"/>
          <p:nvPr/>
        </p:nvSpPr>
        <p:spPr>
          <a:xfrm>
            <a:off x="550068" y="1059564"/>
            <a:ext cx="8043864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Unfiltered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186099969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29DEC-C8C3-4E7D-3CA3-701E5D45F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EC2E8-4CBB-DDCC-AE8B-650C5B882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Comparing bigrams and compute filter by </a:t>
            </a:r>
            <a:r>
              <a:rPr lang="en-US" dirty="0" err="1"/>
              <a:t>phrasiness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2542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3BC54-DF53-FBD0-927E-91525838F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pipeline – basic counts</a:t>
            </a:r>
          </a:p>
        </p:txBody>
      </p:sp>
      <p:pic>
        <p:nvPicPr>
          <p:cNvPr id="4" name="Picture 3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BBD54881-530D-4169-66F7-68F282748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099" y="1193800"/>
            <a:ext cx="8686439" cy="2578100"/>
          </a:xfrm>
          <a:prstGeom prst="rect">
            <a:avLst/>
          </a:prstGeom>
        </p:spPr>
      </p:pic>
      <p:pic>
        <p:nvPicPr>
          <p:cNvPr id="8" name="Picture 7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164E8887-D768-DA48-FCF8-5DC634C29D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8908"/>
          <a:stretch/>
        </p:blipFill>
        <p:spPr>
          <a:xfrm>
            <a:off x="292098" y="3844131"/>
            <a:ext cx="8361363" cy="11144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749A540-5B16-3163-52A1-51857A6E43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098" y="6117430"/>
            <a:ext cx="4846639" cy="451937"/>
          </a:xfrm>
          <a:prstGeom prst="rect">
            <a:avLst/>
          </a:prstGeom>
        </p:spPr>
      </p:pic>
      <p:pic>
        <p:nvPicPr>
          <p:cNvPr id="13" name="Picture 12" descr="A close-up of a sign&#10;&#10;Description automatically generated">
            <a:extLst>
              <a:ext uri="{FF2B5EF4-FFF2-40B4-BE49-F238E27FC236}">
                <a16:creationId xmlns:a16="http://schemas.microsoft.com/office/drawing/2014/main" id="{DE7238F5-B30B-05E7-E6FB-08931A5ECA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097" y="5094285"/>
            <a:ext cx="6298503" cy="892177"/>
          </a:xfrm>
          <a:prstGeom prst="rect">
            <a:avLst/>
          </a:prstGeom>
        </p:spPr>
      </p:pic>
      <p:sp>
        <p:nvSpPr>
          <p:cNvPr id="9" name="Right Arrow 8">
            <a:extLst>
              <a:ext uri="{FF2B5EF4-FFF2-40B4-BE49-F238E27FC236}">
                <a16:creationId xmlns:a16="http://schemas.microsoft.com/office/drawing/2014/main" id="{D7719CFA-B6BB-1EC7-79E5-F7F44E88CAA0}"/>
              </a:ext>
            </a:extLst>
          </p:cNvPr>
          <p:cNvSpPr/>
          <p:nvPr/>
        </p:nvSpPr>
        <p:spPr>
          <a:xfrm>
            <a:off x="0" y="5714999"/>
            <a:ext cx="542925" cy="27146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B20CF6-B004-9582-1808-B6D8A479D34C}"/>
              </a:ext>
            </a:extLst>
          </p:cNvPr>
          <p:cNvSpPr/>
          <p:nvPr/>
        </p:nvSpPr>
        <p:spPr>
          <a:xfrm>
            <a:off x="271462" y="4512039"/>
            <a:ext cx="4363856" cy="446516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2BDDBF-3A33-86E6-9436-A0E4AD50D404}"/>
              </a:ext>
            </a:extLst>
          </p:cNvPr>
          <p:cNvSpPr/>
          <p:nvPr/>
        </p:nvSpPr>
        <p:spPr>
          <a:xfrm>
            <a:off x="208144" y="6117430"/>
            <a:ext cx="4846638" cy="489746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736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69DEF-5EB6-6FE1-7A20-AEE010E6F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571E4-A5F3-781B-B05F-6D043748A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pipeline w/o filtering</a:t>
            </a:r>
          </a:p>
        </p:txBody>
      </p:sp>
      <p:pic>
        <p:nvPicPr>
          <p:cNvPr id="7" name="Picture 6" descr="A close-up of a computer code&#10;&#10;Description automatically generated">
            <a:extLst>
              <a:ext uri="{FF2B5EF4-FFF2-40B4-BE49-F238E27FC236}">
                <a16:creationId xmlns:a16="http://schemas.microsoft.com/office/drawing/2014/main" id="{D25CD491-FB8C-A1BD-4D3D-3ED39FB1F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011" y="1585117"/>
            <a:ext cx="7258559" cy="1458121"/>
          </a:xfrm>
          <a:prstGeom prst="rect">
            <a:avLst/>
          </a:prstGeom>
        </p:spPr>
      </p:pic>
      <p:pic>
        <p:nvPicPr>
          <p:cNvPr id="15" name="Picture 14" descr="A computer code with text&#10;&#10;Description automatically generated">
            <a:extLst>
              <a:ext uri="{FF2B5EF4-FFF2-40B4-BE49-F238E27FC236}">
                <a16:creationId xmlns:a16="http://schemas.microsoft.com/office/drawing/2014/main" id="{3D5EA9E8-7748-81FB-ACCE-720B34536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010" y="3429000"/>
            <a:ext cx="6975807" cy="1614488"/>
          </a:xfrm>
          <a:prstGeom prst="rect">
            <a:avLst/>
          </a:prstGeom>
        </p:spPr>
      </p:pic>
      <p:sp>
        <p:nvSpPr>
          <p:cNvPr id="16" name="Right Arrow 15">
            <a:extLst>
              <a:ext uri="{FF2B5EF4-FFF2-40B4-BE49-F238E27FC236}">
                <a16:creationId xmlns:a16="http://schemas.microsoft.com/office/drawing/2014/main" id="{15D5F54A-6486-7907-2F25-6787EDD20DCF}"/>
              </a:ext>
            </a:extLst>
          </p:cNvPr>
          <p:cNvSpPr/>
          <p:nvPr/>
        </p:nvSpPr>
        <p:spPr>
          <a:xfrm rot="14145018">
            <a:off x="5008433" y="2935043"/>
            <a:ext cx="533798" cy="21638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 close-up of a number&#10;&#10;Description automatically generated">
            <a:extLst>
              <a:ext uri="{FF2B5EF4-FFF2-40B4-BE49-F238E27FC236}">
                <a16:creationId xmlns:a16="http://schemas.microsoft.com/office/drawing/2014/main" id="{207A3AEE-8D71-2482-57E2-C94F6986FEE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754"/>
          <a:stretch/>
        </p:blipFill>
        <p:spPr>
          <a:xfrm>
            <a:off x="4732336" y="5272883"/>
            <a:ext cx="3687391" cy="1957379"/>
          </a:xfrm>
          <a:prstGeom prst="rect">
            <a:avLst/>
          </a:prstGeom>
        </p:spPr>
      </p:pic>
      <p:pic>
        <p:nvPicPr>
          <p:cNvPr id="18" name="Picture 17" descr="A computer code with red text&#10;&#10;Description automatically generated with medium confidence">
            <a:extLst>
              <a:ext uri="{FF2B5EF4-FFF2-40B4-BE49-F238E27FC236}">
                <a16:creationId xmlns:a16="http://schemas.microsoft.com/office/drawing/2014/main" id="{DB5F91B6-A8E3-F3DC-C93F-6800FCF70A4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0754"/>
          <a:stretch/>
        </p:blipFill>
        <p:spPr>
          <a:xfrm>
            <a:off x="411161" y="5272884"/>
            <a:ext cx="3623622" cy="1957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8881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AE22B-39B0-0F2B-14C6-C199AA7AC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54AD6-2E11-5ABE-1EC8-0628C23B2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Filtering phrases</a:t>
            </a:r>
          </a:p>
        </p:txBody>
      </p:sp>
      <p:pic>
        <p:nvPicPr>
          <p:cNvPr id="4" name="Picture 3" descr="A computer code with text&#10;&#10;Description automatically generated with medium confidence">
            <a:extLst>
              <a:ext uri="{FF2B5EF4-FFF2-40B4-BE49-F238E27FC236}">
                <a16:creationId xmlns:a16="http://schemas.microsoft.com/office/drawing/2014/main" id="{5B27D9AE-BD23-170E-86F5-0E254DEBA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65" y="2009776"/>
            <a:ext cx="7979247" cy="3278187"/>
          </a:xfrm>
          <a:prstGeom prst="rect">
            <a:avLst/>
          </a:prstGeom>
        </p:spPr>
      </p:pic>
      <p:pic>
        <p:nvPicPr>
          <p:cNvPr id="6" name="Picture 5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839C56AF-F0B4-6E18-D0FB-E30B0120BA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570037"/>
            <a:ext cx="4232275" cy="449390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347016-A80C-4636-505C-772D58E2352E}"/>
              </a:ext>
            </a:extLst>
          </p:cNvPr>
          <p:cNvSpPr txBox="1"/>
          <p:nvPr/>
        </p:nvSpPr>
        <p:spPr>
          <a:xfrm>
            <a:off x="457200" y="1181100"/>
            <a:ext cx="38449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Joins change shape of the data</a:t>
            </a:r>
          </a:p>
          <a:p>
            <a:r>
              <a:rPr lang="en-US" dirty="0"/>
              <a:t>This gets awkward…</a:t>
            </a:r>
          </a:p>
        </p:txBody>
      </p:sp>
      <p:pic>
        <p:nvPicPr>
          <p:cNvPr id="5" name="Picture 4" descr="A close-up of a computer code&#10;&#10;Description automatically generated">
            <a:extLst>
              <a:ext uri="{FF2B5EF4-FFF2-40B4-BE49-F238E27FC236}">
                <a16:creationId xmlns:a16="http://schemas.microsoft.com/office/drawing/2014/main" id="{2644F14A-D4E3-CA94-C75C-1B5AA1EC1D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725" y="5657980"/>
            <a:ext cx="5190201" cy="1042623"/>
          </a:xfrm>
          <a:prstGeom prst="rect">
            <a:avLst/>
          </a:prstGeom>
        </p:spPr>
      </p:pic>
      <p:pic>
        <p:nvPicPr>
          <p:cNvPr id="7" name="Picture 6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24F3E206-2797-61BA-8AEE-08251AECDB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5297" y="1069979"/>
            <a:ext cx="4251326" cy="54940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93426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7C417-A9D5-B439-7FEC-F8C3C7744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A81E6-A000-7745-8821-768759441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Filtering phrases</a:t>
            </a:r>
          </a:p>
        </p:txBody>
      </p:sp>
      <p:pic>
        <p:nvPicPr>
          <p:cNvPr id="5" name="Picture 4" descr="A computer code with text&#10;&#10;Description automatically generated with medium confidence">
            <a:extLst>
              <a:ext uri="{FF2B5EF4-FFF2-40B4-BE49-F238E27FC236}">
                <a16:creationId xmlns:a16="http://schemas.microsoft.com/office/drawing/2014/main" id="{4EA799BD-2F36-DE34-7E06-3671248A6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409700"/>
            <a:ext cx="8524277" cy="4548188"/>
          </a:xfrm>
          <a:prstGeom prst="rect">
            <a:avLst/>
          </a:prstGeom>
        </p:spPr>
      </p:pic>
      <p:pic>
        <p:nvPicPr>
          <p:cNvPr id="8" name="Picture 7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2AF3FD9C-6FFD-BA9B-2200-47DF12B17D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2537" y="1066799"/>
            <a:ext cx="4251326" cy="54940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14647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PageRank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92157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</a:t>
            </a:r>
            <a:r>
              <a:rPr lang="en-US" dirty="0">
                <a:latin typeface="Arial"/>
              </a:rPr>
              <a:t>’</a:t>
            </a:r>
            <a:r>
              <a:rPr lang="en-US" dirty="0"/>
              <a:t>s PageRank</a:t>
            </a:r>
          </a:p>
        </p:txBody>
      </p:sp>
      <p:sp>
        <p:nvSpPr>
          <p:cNvPr id="102405" name="Text Box 5"/>
          <p:cNvSpPr txBox="1">
            <a:spLocks noChangeArrowheads="1"/>
          </p:cNvSpPr>
          <p:nvPr/>
        </p:nvSpPr>
        <p:spPr bwMode="auto">
          <a:xfrm>
            <a:off x="2209800" y="2819400"/>
            <a:ext cx="609600" cy="58737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000" b="0"/>
              <a:t>web site xxx</a:t>
            </a:r>
          </a:p>
        </p:txBody>
      </p:sp>
      <p:sp>
        <p:nvSpPr>
          <p:cNvPr id="102406" name="Text Box 6"/>
          <p:cNvSpPr txBox="1">
            <a:spLocks noChangeArrowheads="1"/>
          </p:cNvSpPr>
          <p:nvPr/>
        </p:nvSpPr>
        <p:spPr bwMode="auto">
          <a:xfrm>
            <a:off x="2971800" y="4114800"/>
            <a:ext cx="914400" cy="434975"/>
          </a:xfrm>
          <a:prstGeom prst="rect">
            <a:avLst/>
          </a:prstGeom>
          <a:solidFill>
            <a:schemeClr val="tx1">
              <a:alpha val="61000"/>
            </a:schemeClr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000" b="0"/>
              <a:t>web site yyyy</a:t>
            </a:r>
          </a:p>
        </p:txBody>
      </p:sp>
      <p:sp>
        <p:nvSpPr>
          <p:cNvPr id="102407" name="Text Box 7"/>
          <p:cNvSpPr txBox="1">
            <a:spLocks noChangeArrowheads="1"/>
          </p:cNvSpPr>
          <p:nvPr/>
        </p:nvSpPr>
        <p:spPr bwMode="auto">
          <a:xfrm>
            <a:off x="3429000" y="2971800"/>
            <a:ext cx="914400" cy="434975"/>
          </a:xfrm>
          <a:prstGeom prst="rect">
            <a:avLst/>
          </a:prstGeom>
          <a:solidFill>
            <a:srgbClr val="C0C0C0">
              <a:alpha val="97000"/>
            </a:srgbClr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000" b="0"/>
              <a:t>web site a b c d e f g</a:t>
            </a:r>
          </a:p>
        </p:txBody>
      </p:sp>
      <p:sp>
        <p:nvSpPr>
          <p:cNvPr id="102408" name="Text Box 8"/>
          <p:cNvSpPr txBox="1">
            <a:spLocks noChangeArrowheads="1"/>
          </p:cNvSpPr>
          <p:nvPr/>
        </p:nvSpPr>
        <p:spPr bwMode="auto">
          <a:xfrm>
            <a:off x="4876800" y="3756025"/>
            <a:ext cx="914400" cy="739775"/>
          </a:xfrm>
          <a:prstGeom prst="rect">
            <a:avLst/>
          </a:prstGeom>
          <a:solidFill>
            <a:schemeClr val="bg2">
              <a:alpha val="81000"/>
            </a:schemeClr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000" b="0"/>
              <a:t>web </a:t>
            </a:r>
          </a:p>
          <a:p>
            <a:pPr algn="l">
              <a:spcBef>
                <a:spcPct val="50000"/>
              </a:spcBef>
            </a:pPr>
            <a:r>
              <a:rPr lang="en-US" sz="1000" b="0"/>
              <a:t>site </a:t>
            </a:r>
          </a:p>
          <a:p>
            <a:pPr algn="l">
              <a:spcBef>
                <a:spcPct val="50000"/>
              </a:spcBef>
            </a:pPr>
            <a:r>
              <a:rPr lang="en-US" sz="1000" b="0"/>
              <a:t>pdq pdq ..</a:t>
            </a:r>
          </a:p>
        </p:txBody>
      </p:sp>
      <p:sp>
        <p:nvSpPr>
          <p:cNvPr id="102409" name="Text Box 9"/>
          <p:cNvSpPr txBox="1">
            <a:spLocks noChangeArrowheads="1"/>
          </p:cNvSpPr>
          <p:nvPr/>
        </p:nvSpPr>
        <p:spPr bwMode="auto">
          <a:xfrm>
            <a:off x="3581400" y="5432425"/>
            <a:ext cx="914400" cy="434975"/>
          </a:xfrm>
          <a:prstGeom prst="rect">
            <a:avLst/>
          </a:prstGeom>
          <a:solidFill>
            <a:schemeClr val="bg2">
              <a:alpha val="82001"/>
            </a:schemeClr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000" b="0"/>
              <a:t>web site yyyy</a:t>
            </a:r>
          </a:p>
        </p:txBody>
      </p:sp>
      <p:sp>
        <p:nvSpPr>
          <p:cNvPr id="102410" name="Line 10"/>
          <p:cNvSpPr>
            <a:spLocks noChangeShapeType="1"/>
          </p:cNvSpPr>
          <p:nvPr/>
        </p:nvSpPr>
        <p:spPr bwMode="auto">
          <a:xfrm>
            <a:off x="3505200" y="4648200"/>
            <a:ext cx="4572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11" name="Line 11"/>
          <p:cNvSpPr>
            <a:spLocks noChangeShapeType="1"/>
          </p:cNvSpPr>
          <p:nvPr/>
        </p:nvSpPr>
        <p:spPr bwMode="auto">
          <a:xfrm flipV="1">
            <a:off x="3957638" y="4268788"/>
            <a:ext cx="841375" cy="730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12" name="Line 12"/>
          <p:cNvSpPr>
            <a:spLocks noChangeShapeType="1"/>
          </p:cNvSpPr>
          <p:nvPr/>
        </p:nvSpPr>
        <p:spPr bwMode="auto">
          <a:xfrm flipH="1">
            <a:off x="3581400" y="3505200"/>
            <a:ext cx="152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13" name="Line 13"/>
          <p:cNvSpPr>
            <a:spLocks noChangeShapeType="1"/>
          </p:cNvSpPr>
          <p:nvPr/>
        </p:nvSpPr>
        <p:spPr bwMode="auto">
          <a:xfrm>
            <a:off x="2590800" y="3505200"/>
            <a:ext cx="533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14" name="Line 14"/>
          <p:cNvSpPr>
            <a:spLocks noChangeShapeType="1"/>
          </p:cNvSpPr>
          <p:nvPr/>
        </p:nvSpPr>
        <p:spPr bwMode="auto">
          <a:xfrm flipH="1">
            <a:off x="4038600" y="3962400"/>
            <a:ext cx="6858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15" name="Line 15"/>
          <p:cNvSpPr>
            <a:spLocks noChangeShapeType="1"/>
          </p:cNvSpPr>
          <p:nvPr/>
        </p:nvSpPr>
        <p:spPr bwMode="auto">
          <a:xfrm flipH="1" flipV="1">
            <a:off x="3352800" y="4724400"/>
            <a:ext cx="2286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16" name="Line 16"/>
          <p:cNvSpPr>
            <a:spLocks noChangeShapeType="1"/>
          </p:cNvSpPr>
          <p:nvPr/>
        </p:nvSpPr>
        <p:spPr bwMode="auto">
          <a:xfrm flipV="1">
            <a:off x="1752600" y="4572000"/>
            <a:ext cx="9906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17" name="Text Box 17"/>
          <p:cNvSpPr txBox="1">
            <a:spLocks noChangeArrowheads="1"/>
          </p:cNvSpPr>
          <p:nvPr/>
        </p:nvSpPr>
        <p:spPr bwMode="auto">
          <a:xfrm>
            <a:off x="685800" y="4594225"/>
            <a:ext cx="914400" cy="434975"/>
          </a:xfrm>
          <a:prstGeom prst="rect">
            <a:avLst/>
          </a:prstGeom>
          <a:solidFill>
            <a:srgbClr val="C0C0C0">
              <a:alpha val="97000"/>
            </a:srgbClr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000" b="0"/>
              <a:t>web site a b c d e f g</a:t>
            </a:r>
          </a:p>
        </p:txBody>
      </p:sp>
      <p:sp>
        <p:nvSpPr>
          <p:cNvPr id="102418" name="Text Box 18"/>
          <p:cNvSpPr txBox="1">
            <a:spLocks noChangeArrowheads="1"/>
          </p:cNvSpPr>
          <p:nvPr/>
        </p:nvSpPr>
        <p:spPr bwMode="auto">
          <a:xfrm>
            <a:off x="4724400" y="2079625"/>
            <a:ext cx="609600" cy="58737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000" b="0"/>
              <a:t>web site xxx</a:t>
            </a:r>
          </a:p>
        </p:txBody>
      </p:sp>
      <p:sp>
        <p:nvSpPr>
          <p:cNvPr id="102419" name="Line 19"/>
          <p:cNvSpPr>
            <a:spLocks noChangeShapeType="1"/>
          </p:cNvSpPr>
          <p:nvPr/>
        </p:nvSpPr>
        <p:spPr bwMode="auto">
          <a:xfrm flipH="1">
            <a:off x="4114800" y="2514600"/>
            <a:ext cx="45720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20" name="Line 20"/>
          <p:cNvSpPr>
            <a:spLocks noChangeShapeType="1"/>
          </p:cNvSpPr>
          <p:nvPr/>
        </p:nvSpPr>
        <p:spPr bwMode="auto">
          <a:xfrm>
            <a:off x="5105400" y="2743200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21" name="Text Box 21"/>
          <p:cNvSpPr txBox="1">
            <a:spLocks noChangeArrowheads="1"/>
          </p:cNvSpPr>
          <p:nvPr/>
        </p:nvSpPr>
        <p:spPr bwMode="auto">
          <a:xfrm>
            <a:off x="6019800" y="1600200"/>
            <a:ext cx="2743200" cy="327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b="0" dirty="0" err="1"/>
              <a:t>Inlinks</a:t>
            </a:r>
            <a:r>
              <a:rPr lang="en-US" b="0" dirty="0"/>
              <a:t> are</a:t>
            </a:r>
            <a:r>
              <a:rPr lang="en-US" dirty="0">
                <a:latin typeface="Arial"/>
              </a:rPr>
              <a:t> “</a:t>
            </a:r>
            <a:r>
              <a:rPr lang="en-US" b="0" dirty="0"/>
              <a:t>good</a:t>
            </a:r>
            <a:r>
              <a:rPr lang="en-US" dirty="0">
                <a:latin typeface="Arial"/>
              </a:rPr>
              <a:t>” </a:t>
            </a:r>
            <a:r>
              <a:rPr lang="en-US" b="0" dirty="0"/>
              <a:t>(recommendations)</a:t>
            </a:r>
          </a:p>
          <a:p>
            <a:pPr algn="l">
              <a:spcBef>
                <a:spcPct val="50000"/>
              </a:spcBef>
            </a:pPr>
            <a:r>
              <a:rPr lang="en-US" b="0" dirty="0" err="1"/>
              <a:t>Inlinks</a:t>
            </a:r>
            <a:r>
              <a:rPr lang="en-US" b="0" dirty="0"/>
              <a:t> from a </a:t>
            </a:r>
            <a:r>
              <a:rPr lang="en-US" dirty="0">
                <a:latin typeface="Arial"/>
              </a:rPr>
              <a:t>“</a:t>
            </a:r>
            <a:r>
              <a:rPr lang="en-US" b="0" dirty="0"/>
              <a:t>good</a:t>
            </a:r>
            <a:r>
              <a:rPr lang="en-US" dirty="0">
                <a:latin typeface="Arial"/>
              </a:rPr>
              <a:t>”</a:t>
            </a:r>
            <a:r>
              <a:rPr lang="en-US" b="0" dirty="0"/>
              <a:t> site are better than </a:t>
            </a:r>
            <a:r>
              <a:rPr lang="en-US" b="0" dirty="0" err="1"/>
              <a:t>inlinks</a:t>
            </a:r>
            <a:r>
              <a:rPr lang="en-US" b="0" dirty="0"/>
              <a:t> from a</a:t>
            </a:r>
            <a:r>
              <a:rPr lang="en-US" dirty="0">
                <a:latin typeface="Arial"/>
              </a:rPr>
              <a:t> “</a:t>
            </a:r>
            <a:r>
              <a:rPr lang="en-US" b="0" dirty="0"/>
              <a:t>bad</a:t>
            </a:r>
            <a:r>
              <a:rPr lang="en-US" dirty="0">
                <a:latin typeface="Arial"/>
              </a:rPr>
              <a:t>” </a:t>
            </a:r>
            <a:r>
              <a:rPr lang="en-US" b="0" dirty="0"/>
              <a:t>site</a:t>
            </a:r>
          </a:p>
          <a:p>
            <a:pPr algn="l">
              <a:spcBef>
                <a:spcPct val="50000"/>
              </a:spcBef>
            </a:pPr>
            <a:r>
              <a:rPr lang="en-US" b="0" dirty="0"/>
              <a:t>but </a:t>
            </a:r>
            <a:r>
              <a:rPr lang="en-US" b="0" dirty="0" err="1"/>
              <a:t>inlinks</a:t>
            </a:r>
            <a:r>
              <a:rPr lang="en-US" b="0" dirty="0"/>
              <a:t> from sites with many </a:t>
            </a:r>
            <a:r>
              <a:rPr lang="en-US" b="0" dirty="0" err="1"/>
              <a:t>outlinks</a:t>
            </a:r>
            <a:r>
              <a:rPr lang="en-US" b="0" dirty="0"/>
              <a:t> are not as “good</a:t>
            </a:r>
            <a:r>
              <a:rPr lang="en-US" dirty="0">
                <a:latin typeface="Arial"/>
              </a:rPr>
              <a:t>”</a:t>
            </a:r>
            <a:r>
              <a:rPr lang="en-US" b="0" dirty="0"/>
              <a:t>...</a:t>
            </a:r>
          </a:p>
          <a:p>
            <a:pPr algn="l">
              <a:spcBef>
                <a:spcPct val="50000"/>
              </a:spcBef>
            </a:pPr>
            <a:r>
              <a:rPr lang="en-US" dirty="0">
                <a:latin typeface="Arial"/>
              </a:rPr>
              <a:t>“</a:t>
            </a:r>
            <a:r>
              <a:rPr lang="en-US" b="0" dirty="0"/>
              <a:t>Good</a:t>
            </a:r>
            <a:r>
              <a:rPr lang="en-US" dirty="0">
                <a:latin typeface="Arial"/>
              </a:rPr>
              <a:t> “ </a:t>
            </a:r>
            <a:r>
              <a:rPr lang="en-US" b="0" dirty="0"/>
              <a:t>and </a:t>
            </a:r>
            <a:r>
              <a:rPr lang="en-US" dirty="0">
                <a:latin typeface="Arial"/>
              </a:rPr>
              <a:t>“</a:t>
            </a:r>
            <a:r>
              <a:rPr lang="en-US" b="0" dirty="0"/>
              <a:t>bad</a:t>
            </a:r>
            <a:r>
              <a:rPr lang="en-US" dirty="0">
                <a:latin typeface="Arial"/>
              </a:rPr>
              <a:t>”</a:t>
            </a:r>
            <a:r>
              <a:rPr lang="en-US" b="0" dirty="0"/>
              <a:t> are relative.</a:t>
            </a:r>
          </a:p>
        </p:txBody>
      </p:sp>
      <p:sp>
        <p:nvSpPr>
          <p:cNvPr id="102422" name="Line 22"/>
          <p:cNvSpPr>
            <a:spLocks noChangeShapeType="1"/>
          </p:cNvSpPr>
          <p:nvPr/>
        </p:nvSpPr>
        <p:spPr bwMode="auto">
          <a:xfrm>
            <a:off x="1219200" y="1905000"/>
            <a:ext cx="8382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23" name="Line 23"/>
          <p:cNvSpPr>
            <a:spLocks noChangeShapeType="1"/>
          </p:cNvSpPr>
          <p:nvPr/>
        </p:nvSpPr>
        <p:spPr bwMode="auto">
          <a:xfrm flipH="1">
            <a:off x="1905000" y="5715000"/>
            <a:ext cx="15240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24" name="Line 24"/>
          <p:cNvSpPr>
            <a:spLocks noChangeShapeType="1"/>
          </p:cNvSpPr>
          <p:nvPr/>
        </p:nvSpPr>
        <p:spPr bwMode="auto">
          <a:xfrm flipV="1">
            <a:off x="2971800" y="1981200"/>
            <a:ext cx="914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25" name="Line 25"/>
          <p:cNvSpPr>
            <a:spLocks noChangeShapeType="1"/>
          </p:cNvSpPr>
          <p:nvPr/>
        </p:nvSpPr>
        <p:spPr bwMode="auto">
          <a:xfrm flipH="1" flipV="1">
            <a:off x="1752600" y="5029200"/>
            <a:ext cx="15240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27" name="Line 27"/>
          <p:cNvSpPr>
            <a:spLocks noChangeShapeType="1"/>
          </p:cNvSpPr>
          <p:nvPr/>
        </p:nvSpPr>
        <p:spPr bwMode="auto">
          <a:xfrm>
            <a:off x="2971800" y="32004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28" name="Text Box 28"/>
          <p:cNvSpPr txBox="1">
            <a:spLocks noChangeArrowheads="1"/>
          </p:cNvSpPr>
          <p:nvPr/>
        </p:nvSpPr>
        <p:spPr bwMode="auto">
          <a:xfrm>
            <a:off x="762000" y="2743200"/>
            <a:ext cx="609600" cy="587375"/>
          </a:xfrm>
          <a:prstGeom prst="rect">
            <a:avLst/>
          </a:prstGeom>
          <a:solidFill>
            <a:srgbClr val="000000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000" b="0"/>
              <a:t>web site xxx</a:t>
            </a:r>
          </a:p>
        </p:txBody>
      </p:sp>
      <p:sp>
        <p:nvSpPr>
          <p:cNvPr id="102429" name="Line 29"/>
          <p:cNvSpPr>
            <a:spLocks noChangeShapeType="1"/>
          </p:cNvSpPr>
          <p:nvPr/>
        </p:nvSpPr>
        <p:spPr bwMode="auto">
          <a:xfrm>
            <a:off x="1524000" y="3048000"/>
            <a:ext cx="609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30" name="Line 30"/>
          <p:cNvSpPr>
            <a:spLocks noChangeShapeType="1"/>
          </p:cNvSpPr>
          <p:nvPr/>
        </p:nvSpPr>
        <p:spPr bwMode="auto">
          <a:xfrm>
            <a:off x="1524000" y="3352800"/>
            <a:ext cx="12954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31" name="Line 31"/>
          <p:cNvSpPr>
            <a:spLocks noChangeShapeType="1"/>
          </p:cNvSpPr>
          <p:nvPr/>
        </p:nvSpPr>
        <p:spPr bwMode="auto">
          <a:xfrm>
            <a:off x="1371600" y="3429000"/>
            <a:ext cx="2057400" cy="1981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32" name="Line 32"/>
          <p:cNvSpPr>
            <a:spLocks noChangeShapeType="1"/>
          </p:cNvSpPr>
          <p:nvPr/>
        </p:nvSpPr>
        <p:spPr bwMode="auto">
          <a:xfrm>
            <a:off x="1143000" y="3429000"/>
            <a:ext cx="0" cy="1066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33" name="Line 33"/>
          <p:cNvSpPr>
            <a:spLocks noChangeShapeType="1"/>
          </p:cNvSpPr>
          <p:nvPr/>
        </p:nvSpPr>
        <p:spPr bwMode="auto">
          <a:xfrm>
            <a:off x="1524000" y="3200400"/>
            <a:ext cx="32004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34" name="Line 34"/>
          <p:cNvSpPr>
            <a:spLocks noChangeShapeType="1"/>
          </p:cNvSpPr>
          <p:nvPr/>
        </p:nvSpPr>
        <p:spPr bwMode="auto">
          <a:xfrm flipV="1">
            <a:off x="1524000" y="2286000"/>
            <a:ext cx="30480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35" name="Line 35"/>
          <p:cNvSpPr>
            <a:spLocks noChangeShapeType="1"/>
          </p:cNvSpPr>
          <p:nvPr/>
        </p:nvSpPr>
        <p:spPr bwMode="auto">
          <a:xfrm flipV="1">
            <a:off x="1447800" y="1752600"/>
            <a:ext cx="9906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36" name="Line 36"/>
          <p:cNvSpPr>
            <a:spLocks noChangeShapeType="1"/>
          </p:cNvSpPr>
          <p:nvPr/>
        </p:nvSpPr>
        <p:spPr bwMode="auto">
          <a:xfrm flipH="1">
            <a:off x="457200" y="3429000"/>
            <a:ext cx="4572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37" name="Line 37"/>
          <p:cNvSpPr>
            <a:spLocks noChangeShapeType="1"/>
          </p:cNvSpPr>
          <p:nvPr/>
        </p:nvSpPr>
        <p:spPr bwMode="auto">
          <a:xfrm flipH="1">
            <a:off x="152400" y="3352800"/>
            <a:ext cx="4572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38" name="Line 38"/>
          <p:cNvSpPr>
            <a:spLocks noChangeShapeType="1"/>
          </p:cNvSpPr>
          <p:nvPr/>
        </p:nvSpPr>
        <p:spPr bwMode="auto">
          <a:xfrm flipV="1">
            <a:off x="1143000" y="1676400"/>
            <a:ext cx="3810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39" name="Line 39"/>
          <p:cNvSpPr>
            <a:spLocks noChangeShapeType="1"/>
          </p:cNvSpPr>
          <p:nvPr/>
        </p:nvSpPr>
        <p:spPr bwMode="auto">
          <a:xfrm flipH="1" flipV="1">
            <a:off x="685800" y="1143000"/>
            <a:ext cx="15240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40" name="Line 40"/>
          <p:cNvSpPr>
            <a:spLocks noChangeShapeType="1"/>
          </p:cNvSpPr>
          <p:nvPr/>
        </p:nvSpPr>
        <p:spPr bwMode="auto">
          <a:xfrm flipH="1" flipV="1">
            <a:off x="228600" y="2209800"/>
            <a:ext cx="3810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41" name="Line 41"/>
          <p:cNvSpPr>
            <a:spLocks noChangeShapeType="1"/>
          </p:cNvSpPr>
          <p:nvPr/>
        </p:nvSpPr>
        <p:spPr bwMode="auto">
          <a:xfrm flipH="1" flipV="1">
            <a:off x="0" y="2971800"/>
            <a:ext cx="609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42" name="Line 42"/>
          <p:cNvSpPr>
            <a:spLocks noChangeShapeType="1"/>
          </p:cNvSpPr>
          <p:nvPr/>
        </p:nvSpPr>
        <p:spPr bwMode="auto">
          <a:xfrm>
            <a:off x="1371600" y="2057400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93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2" grpId="0" animBg="1"/>
      <p:bldP spid="102428" grpId="0" animBg="1"/>
      <p:bldP spid="102429" grpId="0" animBg="1"/>
      <p:bldP spid="102430" grpId="0" animBg="1"/>
      <p:bldP spid="102431" grpId="0" animBg="1"/>
      <p:bldP spid="102432" grpId="0" animBg="1"/>
      <p:bldP spid="102433" grpId="0" animBg="1"/>
      <p:bldP spid="102434" grpId="0" animBg="1"/>
      <p:bldP spid="102435" grpId="0" animBg="1"/>
      <p:bldP spid="102436" grpId="0" animBg="1"/>
      <p:bldP spid="102437" grpId="0" animBg="1"/>
      <p:bldP spid="102438" grpId="0" animBg="1"/>
      <p:bldP spid="102439" grpId="0" animBg="1"/>
      <p:bldP spid="102440" grpId="0" animBg="1"/>
      <p:bldP spid="10244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</a:t>
            </a:r>
            <a:r>
              <a:rPr lang="en-US" dirty="0">
                <a:latin typeface="Arial"/>
              </a:rPr>
              <a:t>’</a:t>
            </a:r>
            <a:r>
              <a:rPr lang="en-US" dirty="0"/>
              <a:t>s PageRank</a:t>
            </a:r>
          </a:p>
        </p:txBody>
      </p:sp>
      <p:sp>
        <p:nvSpPr>
          <p:cNvPr id="130051" name="Text Box 3"/>
          <p:cNvSpPr txBox="1">
            <a:spLocks noChangeArrowheads="1"/>
          </p:cNvSpPr>
          <p:nvPr/>
        </p:nvSpPr>
        <p:spPr bwMode="auto">
          <a:xfrm>
            <a:off x="2209800" y="2819400"/>
            <a:ext cx="609600" cy="58737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000" b="0"/>
              <a:t>web site xxx</a:t>
            </a:r>
          </a:p>
        </p:txBody>
      </p:sp>
      <p:sp>
        <p:nvSpPr>
          <p:cNvPr id="130052" name="Text Box 4"/>
          <p:cNvSpPr txBox="1">
            <a:spLocks noChangeArrowheads="1"/>
          </p:cNvSpPr>
          <p:nvPr/>
        </p:nvSpPr>
        <p:spPr bwMode="auto">
          <a:xfrm>
            <a:off x="2971800" y="4114800"/>
            <a:ext cx="914400" cy="434975"/>
          </a:xfrm>
          <a:prstGeom prst="rect">
            <a:avLst/>
          </a:prstGeom>
          <a:solidFill>
            <a:schemeClr val="tx1">
              <a:alpha val="61000"/>
            </a:schemeClr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000" b="0"/>
              <a:t>web site yyyy</a:t>
            </a:r>
          </a:p>
        </p:txBody>
      </p:sp>
      <p:sp>
        <p:nvSpPr>
          <p:cNvPr id="130053" name="Text Box 5"/>
          <p:cNvSpPr txBox="1">
            <a:spLocks noChangeArrowheads="1"/>
          </p:cNvSpPr>
          <p:nvPr/>
        </p:nvSpPr>
        <p:spPr bwMode="auto">
          <a:xfrm>
            <a:off x="3429000" y="2971800"/>
            <a:ext cx="914400" cy="434975"/>
          </a:xfrm>
          <a:prstGeom prst="rect">
            <a:avLst/>
          </a:prstGeom>
          <a:solidFill>
            <a:srgbClr val="C0C0C0">
              <a:alpha val="97000"/>
            </a:srgbClr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000" b="0"/>
              <a:t>web site a b c d e f g</a:t>
            </a:r>
          </a:p>
        </p:txBody>
      </p:sp>
      <p:sp>
        <p:nvSpPr>
          <p:cNvPr id="130054" name="Text Box 6"/>
          <p:cNvSpPr txBox="1">
            <a:spLocks noChangeArrowheads="1"/>
          </p:cNvSpPr>
          <p:nvPr/>
        </p:nvSpPr>
        <p:spPr bwMode="auto">
          <a:xfrm>
            <a:off x="4876800" y="3756025"/>
            <a:ext cx="914400" cy="739775"/>
          </a:xfrm>
          <a:prstGeom prst="rect">
            <a:avLst/>
          </a:prstGeom>
          <a:solidFill>
            <a:schemeClr val="bg2">
              <a:alpha val="81000"/>
            </a:schemeClr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000" b="0"/>
              <a:t>web </a:t>
            </a:r>
          </a:p>
          <a:p>
            <a:pPr algn="l">
              <a:spcBef>
                <a:spcPct val="50000"/>
              </a:spcBef>
            </a:pPr>
            <a:r>
              <a:rPr lang="en-US" sz="1000" b="0"/>
              <a:t>site </a:t>
            </a:r>
          </a:p>
          <a:p>
            <a:pPr algn="l">
              <a:spcBef>
                <a:spcPct val="50000"/>
              </a:spcBef>
            </a:pPr>
            <a:r>
              <a:rPr lang="en-US" sz="1000" b="0"/>
              <a:t>pdq pdq ..</a:t>
            </a:r>
          </a:p>
        </p:txBody>
      </p:sp>
      <p:sp>
        <p:nvSpPr>
          <p:cNvPr id="130055" name="Text Box 7"/>
          <p:cNvSpPr txBox="1">
            <a:spLocks noChangeArrowheads="1"/>
          </p:cNvSpPr>
          <p:nvPr/>
        </p:nvSpPr>
        <p:spPr bwMode="auto">
          <a:xfrm>
            <a:off x="3581400" y="5432425"/>
            <a:ext cx="914400" cy="434975"/>
          </a:xfrm>
          <a:prstGeom prst="rect">
            <a:avLst/>
          </a:prstGeom>
          <a:solidFill>
            <a:schemeClr val="bg2">
              <a:alpha val="82001"/>
            </a:schemeClr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000" b="0"/>
              <a:t>web site yyyy</a:t>
            </a:r>
          </a:p>
        </p:txBody>
      </p:sp>
      <p:sp>
        <p:nvSpPr>
          <p:cNvPr id="130056" name="Line 8"/>
          <p:cNvSpPr>
            <a:spLocks noChangeShapeType="1"/>
          </p:cNvSpPr>
          <p:nvPr/>
        </p:nvSpPr>
        <p:spPr bwMode="auto">
          <a:xfrm>
            <a:off x="3505200" y="4648200"/>
            <a:ext cx="4572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57" name="Line 9"/>
          <p:cNvSpPr>
            <a:spLocks noChangeShapeType="1"/>
          </p:cNvSpPr>
          <p:nvPr/>
        </p:nvSpPr>
        <p:spPr bwMode="auto">
          <a:xfrm flipV="1">
            <a:off x="3957638" y="4268788"/>
            <a:ext cx="841375" cy="730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58" name="Line 10"/>
          <p:cNvSpPr>
            <a:spLocks noChangeShapeType="1"/>
          </p:cNvSpPr>
          <p:nvPr/>
        </p:nvSpPr>
        <p:spPr bwMode="auto">
          <a:xfrm flipH="1">
            <a:off x="3581400" y="3505200"/>
            <a:ext cx="152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59" name="Line 11"/>
          <p:cNvSpPr>
            <a:spLocks noChangeShapeType="1"/>
          </p:cNvSpPr>
          <p:nvPr/>
        </p:nvSpPr>
        <p:spPr bwMode="auto">
          <a:xfrm>
            <a:off x="2590800" y="3505200"/>
            <a:ext cx="533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60" name="Line 12"/>
          <p:cNvSpPr>
            <a:spLocks noChangeShapeType="1"/>
          </p:cNvSpPr>
          <p:nvPr/>
        </p:nvSpPr>
        <p:spPr bwMode="auto">
          <a:xfrm flipH="1">
            <a:off x="4038600" y="3962400"/>
            <a:ext cx="6858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61" name="Line 13"/>
          <p:cNvSpPr>
            <a:spLocks noChangeShapeType="1"/>
          </p:cNvSpPr>
          <p:nvPr/>
        </p:nvSpPr>
        <p:spPr bwMode="auto">
          <a:xfrm flipH="1" flipV="1">
            <a:off x="3352800" y="4724400"/>
            <a:ext cx="2286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62" name="Line 14"/>
          <p:cNvSpPr>
            <a:spLocks noChangeShapeType="1"/>
          </p:cNvSpPr>
          <p:nvPr/>
        </p:nvSpPr>
        <p:spPr bwMode="auto">
          <a:xfrm flipV="1">
            <a:off x="1752600" y="4572000"/>
            <a:ext cx="9906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63" name="Text Box 15"/>
          <p:cNvSpPr txBox="1">
            <a:spLocks noChangeArrowheads="1"/>
          </p:cNvSpPr>
          <p:nvPr/>
        </p:nvSpPr>
        <p:spPr bwMode="auto">
          <a:xfrm>
            <a:off x="685800" y="4594225"/>
            <a:ext cx="914400" cy="434975"/>
          </a:xfrm>
          <a:prstGeom prst="rect">
            <a:avLst/>
          </a:prstGeom>
          <a:solidFill>
            <a:srgbClr val="C0C0C0">
              <a:alpha val="97000"/>
            </a:srgbClr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000" b="0"/>
              <a:t>web site a b c d e f g</a:t>
            </a:r>
          </a:p>
        </p:txBody>
      </p:sp>
      <p:sp>
        <p:nvSpPr>
          <p:cNvPr id="130064" name="Text Box 16"/>
          <p:cNvSpPr txBox="1">
            <a:spLocks noChangeArrowheads="1"/>
          </p:cNvSpPr>
          <p:nvPr/>
        </p:nvSpPr>
        <p:spPr bwMode="auto">
          <a:xfrm>
            <a:off x="4724400" y="2079625"/>
            <a:ext cx="609600" cy="58737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000" b="0"/>
              <a:t>web site xxx</a:t>
            </a:r>
          </a:p>
        </p:txBody>
      </p:sp>
      <p:sp>
        <p:nvSpPr>
          <p:cNvPr id="130065" name="Line 17"/>
          <p:cNvSpPr>
            <a:spLocks noChangeShapeType="1"/>
          </p:cNvSpPr>
          <p:nvPr/>
        </p:nvSpPr>
        <p:spPr bwMode="auto">
          <a:xfrm flipH="1">
            <a:off x="4114800" y="2514600"/>
            <a:ext cx="45720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66" name="Line 18"/>
          <p:cNvSpPr>
            <a:spLocks noChangeShapeType="1"/>
          </p:cNvSpPr>
          <p:nvPr/>
        </p:nvSpPr>
        <p:spPr bwMode="auto">
          <a:xfrm>
            <a:off x="5105400" y="2743200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67" name="Text Box 19"/>
          <p:cNvSpPr txBox="1">
            <a:spLocks noChangeArrowheads="1"/>
          </p:cNvSpPr>
          <p:nvPr/>
        </p:nvSpPr>
        <p:spPr bwMode="auto">
          <a:xfrm>
            <a:off x="6019800" y="2133600"/>
            <a:ext cx="297180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000" b="0" dirty="0"/>
              <a:t>Imagine a </a:t>
            </a:r>
            <a:r>
              <a:rPr lang="en-US" sz="2000" dirty="0">
                <a:latin typeface="Arial"/>
              </a:rPr>
              <a:t>“</a:t>
            </a:r>
            <a:r>
              <a:rPr lang="en-US" sz="2000" b="0" dirty="0" err="1"/>
              <a:t>pagehopper</a:t>
            </a:r>
            <a:r>
              <a:rPr lang="en-US" sz="2000" dirty="0">
                <a:latin typeface="Arial"/>
              </a:rPr>
              <a:t>”</a:t>
            </a:r>
            <a:r>
              <a:rPr lang="en-US" sz="2000" b="0" dirty="0"/>
              <a:t> that always either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sz="2000" b="0" dirty="0"/>
              <a:t> follows a random link, or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sz="2000" b="0" dirty="0"/>
              <a:t> jumps to random page</a:t>
            </a:r>
          </a:p>
        </p:txBody>
      </p:sp>
      <p:sp>
        <p:nvSpPr>
          <p:cNvPr id="130068" name="Line 20"/>
          <p:cNvSpPr>
            <a:spLocks noChangeShapeType="1"/>
          </p:cNvSpPr>
          <p:nvPr/>
        </p:nvSpPr>
        <p:spPr bwMode="auto">
          <a:xfrm>
            <a:off x="1219200" y="1905000"/>
            <a:ext cx="8382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69" name="Line 21"/>
          <p:cNvSpPr>
            <a:spLocks noChangeShapeType="1"/>
          </p:cNvSpPr>
          <p:nvPr/>
        </p:nvSpPr>
        <p:spPr bwMode="auto">
          <a:xfrm flipH="1">
            <a:off x="1905000" y="5715000"/>
            <a:ext cx="15240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70" name="Line 22"/>
          <p:cNvSpPr>
            <a:spLocks noChangeShapeType="1"/>
          </p:cNvSpPr>
          <p:nvPr/>
        </p:nvSpPr>
        <p:spPr bwMode="auto">
          <a:xfrm flipV="1">
            <a:off x="2971800" y="1981200"/>
            <a:ext cx="914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71" name="Line 23"/>
          <p:cNvSpPr>
            <a:spLocks noChangeShapeType="1"/>
          </p:cNvSpPr>
          <p:nvPr/>
        </p:nvSpPr>
        <p:spPr bwMode="auto">
          <a:xfrm flipH="1" flipV="1">
            <a:off x="1752600" y="5029200"/>
            <a:ext cx="15240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72" name="Line 24"/>
          <p:cNvSpPr>
            <a:spLocks noChangeShapeType="1"/>
          </p:cNvSpPr>
          <p:nvPr/>
        </p:nvSpPr>
        <p:spPr bwMode="auto">
          <a:xfrm>
            <a:off x="2971800" y="32004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74" name="AutoShape 26"/>
          <p:cNvSpPr>
            <a:spLocks noChangeArrowheads="1"/>
          </p:cNvSpPr>
          <p:nvPr/>
        </p:nvSpPr>
        <p:spPr bwMode="auto">
          <a:xfrm>
            <a:off x="8077200" y="2590800"/>
            <a:ext cx="304800" cy="304800"/>
          </a:xfrm>
          <a:prstGeom prst="smileyFace">
            <a:avLst>
              <a:gd name="adj" fmla="val 4653"/>
            </a:avLst>
          </a:prstGeom>
          <a:solidFill>
            <a:srgbClr val="008000">
              <a:alpha val="3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75" name="AutoShape 27"/>
          <p:cNvSpPr>
            <a:spLocks noChangeArrowheads="1"/>
          </p:cNvSpPr>
          <p:nvPr/>
        </p:nvSpPr>
        <p:spPr bwMode="auto">
          <a:xfrm>
            <a:off x="5105400" y="1905000"/>
            <a:ext cx="304800" cy="304800"/>
          </a:xfrm>
          <a:prstGeom prst="smileyFace">
            <a:avLst>
              <a:gd name="adj" fmla="val 4653"/>
            </a:avLst>
          </a:prstGeom>
          <a:solidFill>
            <a:srgbClr val="008000">
              <a:alpha val="3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77" name="AutoShape 29"/>
          <p:cNvSpPr>
            <a:spLocks noChangeArrowheads="1"/>
          </p:cNvSpPr>
          <p:nvPr/>
        </p:nvSpPr>
        <p:spPr bwMode="auto">
          <a:xfrm>
            <a:off x="5486400" y="3657600"/>
            <a:ext cx="304800" cy="304800"/>
          </a:xfrm>
          <a:prstGeom prst="smileyFace">
            <a:avLst>
              <a:gd name="adj" fmla="val 4653"/>
            </a:avLst>
          </a:prstGeom>
          <a:solidFill>
            <a:srgbClr val="008000">
              <a:alpha val="3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78" name="AutoShape 30"/>
          <p:cNvSpPr>
            <a:spLocks noChangeArrowheads="1"/>
          </p:cNvSpPr>
          <p:nvPr/>
        </p:nvSpPr>
        <p:spPr bwMode="auto">
          <a:xfrm>
            <a:off x="3886200" y="3810000"/>
            <a:ext cx="304800" cy="304800"/>
          </a:xfrm>
          <a:prstGeom prst="smileyFace">
            <a:avLst>
              <a:gd name="adj" fmla="val 4653"/>
            </a:avLst>
          </a:prstGeom>
          <a:solidFill>
            <a:srgbClr val="008000">
              <a:alpha val="3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79" name="AutoShape 31"/>
          <p:cNvSpPr>
            <a:spLocks noChangeArrowheads="1"/>
          </p:cNvSpPr>
          <p:nvPr/>
        </p:nvSpPr>
        <p:spPr bwMode="auto">
          <a:xfrm>
            <a:off x="4038600" y="5257800"/>
            <a:ext cx="304800" cy="304800"/>
          </a:xfrm>
          <a:prstGeom prst="smileyFace">
            <a:avLst>
              <a:gd name="adj" fmla="val 4653"/>
            </a:avLst>
          </a:prstGeom>
          <a:solidFill>
            <a:srgbClr val="008000">
              <a:alpha val="3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80" name="AutoShape 32"/>
          <p:cNvSpPr>
            <a:spLocks noChangeArrowheads="1"/>
          </p:cNvSpPr>
          <p:nvPr/>
        </p:nvSpPr>
        <p:spPr bwMode="auto">
          <a:xfrm>
            <a:off x="2438400" y="2514600"/>
            <a:ext cx="304800" cy="304800"/>
          </a:xfrm>
          <a:prstGeom prst="smileyFace">
            <a:avLst>
              <a:gd name="adj" fmla="val 4653"/>
            </a:avLst>
          </a:prstGeom>
          <a:solidFill>
            <a:srgbClr val="008000">
              <a:alpha val="3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81" name="AutoShape 33"/>
          <p:cNvSpPr>
            <a:spLocks noChangeArrowheads="1"/>
          </p:cNvSpPr>
          <p:nvPr/>
        </p:nvSpPr>
        <p:spPr bwMode="auto">
          <a:xfrm>
            <a:off x="3581400" y="2743200"/>
            <a:ext cx="304800" cy="304800"/>
          </a:xfrm>
          <a:prstGeom prst="smileyFace">
            <a:avLst>
              <a:gd name="adj" fmla="val 4653"/>
            </a:avLst>
          </a:prstGeom>
          <a:solidFill>
            <a:srgbClr val="008000">
              <a:alpha val="3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82" name="AutoShape 34"/>
          <p:cNvSpPr>
            <a:spLocks noChangeArrowheads="1"/>
          </p:cNvSpPr>
          <p:nvPr/>
        </p:nvSpPr>
        <p:spPr bwMode="auto">
          <a:xfrm>
            <a:off x="3276600" y="3810000"/>
            <a:ext cx="304800" cy="304800"/>
          </a:xfrm>
          <a:prstGeom prst="smileyFace">
            <a:avLst>
              <a:gd name="adj" fmla="val 4653"/>
            </a:avLst>
          </a:prstGeom>
          <a:solidFill>
            <a:srgbClr val="008000">
              <a:alpha val="3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83" name="AutoShape 35"/>
          <p:cNvSpPr>
            <a:spLocks noChangeArrowheads="1"/>
          </p:cNvSpPr>
          <p:nvPr/>
        </p:nvSpPr>
        <p:spPr bwMode="auto">
          <a:xfrm>
            <a:off x="4648200" y="4343400"/>
            <a:ext cx="304800" cy="304800"/>
          </a:xfrm>
          <a:prstGeom prst="smileyFace">
            <a:avLst>
              <a:gd name="adj" fmla="val 4653"/>
            </a:avLst>
          </a:prstGeom>
          <a:solidFill>
            <a:srgbClr val="008000">
              <a:alpha val="3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84" name="AutoShape 36"/>
          <p:cNvSpPr>
            <a:spLocks noChangeArrowheads="1"/>
          </p:cNvSpPr>
          <p:nvPr/>
        </p:nvSpPr>
        <p:spPr bwMode="auto">
          <a:xfrm>
            <a:off x="3657600" y="4419600"/>
            <a:ext cx="304800" cy="304800"/>
          </a:xfrm>
          <a:prstGeom prst="smileyFace">
            <a:avLst>
              <a:gd name="adj" fmla="val 4653"/>
            </a:avLst>
          </a:prstGeom>
          <a:solidFill>
            <a:srgbClr val="008000">
              <a:alpha val="3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004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0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0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0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0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0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0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67" grpId="0"/>
      <p:bldP spid="130074" grpId="0" animBg="1"/>
      <p:bldP spid="130075" grpId="0" animBg="1"/>
      <p:bldP spid="130077" grpId="0" animBg="1"/>
      <p:bldP spid="130078" grpId="0" animBg="1"/>
      <p:bldP spid="130079" grpId="0" animBg="1"/>
      <p:bldP spid="130080" grpId="0" animBg="1"/>
      <p:bldP spid="130081" grpId="0" animBg="1"/>
      <p:bldP spid="130082" grpId="0" animBg="1"/>
      <p:bldP spid="130083" grpId="0" animBg="1"/>
      <p:bldP spid="13008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Google</a:t>
            </a:r>
            <a:r>
              <a:rPr lang="ja-JP" altLang="en-US">
                <a:latin typeface="Arial"/>
              </a:rPr>
              <a:t>’</a:t>
            </a:r>
            <a:r>
              <a:rPr lang="en-US" dirty="0"/>
              <a:t>s PageRank</a:t>
            </a:r>
            <a:br>
              <a:rPr lang="en-US" dirty="0"/>
            </a:br>
            <a:r>
              <a:rPr lang="en-US" sz="1800" dirty="0"/>
              <a:t>(Brin &amp; Page, http://www-</a:t>
            </a:r>
            <a:r>
              <a:rPr lang="en-US" sz="1800" dirty="0" err="1"/>
              <a:t>db.stanford.edu</a:t>
            </a:r>
            <a:r>
              <a:rPr lang="en-US" sz="1800" dirty="0"/>
              <a:t>/~backrub/</a:t>
            </a:r>
            <a:r>
              <a:rPr lang="en-US" sz="1800" dirty="0" err="1"/>
              <a:t>google.html</a:t>
            </a:r>
            <a:r>
              <a:rPr lang="en-US" sz="1800" dirty="0"/>
              <a:t>)</a:t>
            </a:r>
          </a:p>
        </p:txBody>
      </p:sp>
      <p:sp>
        <p:nvSpPr>
          <p:cNvPr id="131075" name="Text Box 3"/>
          <p:cNvSpPr txBox="1">
            <a:spLocks noChangeArrowheads="1"/>
          </p:cNvSpPr>
          <p:nvPr/>
        </p:nvSpPr>
        <p:spPr bwMode="auto">
          <a:xfrm>
            <a:off x="2209800" y="2819400"/>
            <a:ext cx="609600" cy="58737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000" b="0"/>
              <a:t>web site xxx</a:t>
            </a:r>
          </a:p>
        </p:txBody>
      </p:sp>
      <p:sp>
        <p:nvSpPr>
          <p:cNvPr id="131076" name="Text Box 4"/>
          <p:cNvSpPr txBox="1">
            <a:spLocks noChangeArrowheads="1"/>
          </p:cNvSpPr>
          <p:nvPr/>
        </p:nvSpPr>
        <p:spPr bwMode="auto">
          <a:xfrm>
            <a:off x="2971800" y="4114800"/>
            <a:ext cx="914400" cy="434975"/>
          </a:xfrm>
          <a:prstGeom prst="rect">
            <a:avLst/>
          </a:prstGeom>
          <a:solidFill>
            <a:schemeClr val="tx1">
              <a:alpha val="61000"/>
            </a:schemeClr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000" b="0"/>
              <a:t>web site yyyy</a:t>
            </a:r>
          </a:p>
        </p:txBody>
      </p:sp>
      <p:sp>
        <p:nvSpPr>
          <p:cNvPr id="131077" name="Text Box 5"/>
          <p:cNvSpPr txBox="1">
            <a:spLocks noChangeArrowheads="1"/>
          </p:cNvSpPr>
          <p:nvPr/>
        </p:nvSpPr>
        <p:spPr bwMode="auto">
          <a:xfrm>
            <a:off x="3429000" y="2971800"/>
            <a:ext cx="914400" cy="434975"/>
          </a:xfrm>
          <a:prstGeom prst="rect">
            <a:avLst/>
          </a:prstGeom>
          <a:solidFill>
            <a:srgbClr val="C0C0C0">
              <a:alpha val="97000"/>
            </a:srgbClr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000" b="0"/>
              <a:t>web site a b c d e f g</a:t>
            </a:r>
          </a:p>
        </p:txBody>
      </p:sp>
      <p:sp>
        <p:nvSpPr>
          <p:cNvPr id="131078" name="Text Box 6"/>
          <p:cNvSpPr txBox="1">
            <a:spLocks noChangeArrowheads="1"/>
          </p:cNvSpPr>
          <p:nvPr/>
        </p:nvSpPr>
        <p:spPr bwMode="auto">
          <a:xfrm>
            <a:off x="4876800" y="3756025"/>
            <a:ext cx="914400" cy="739775"/>
          </a:xfrm>
          <a:prstGeom prst="rect">
            <a:avLst/>
          </a:prstGeom>
          <a:solidFill>
            <a:schemeClr val="bg2">
              <a:alpha val="81000"/>
            </a:schemeClr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000" b="0"/>
              <a:t>web </a:t>
            </a:r>
          </a:p>
          <a:p>
            <a:pPr algn="l">
              <a:spcBef>
                <a:spcPct val="50000"/>
              </a:spcBef>
            </a:pPr>
            <a:r>
              <a:rPr lang="en-US" sz="1000" b="0"/>
              <a:t>site </a:t>
            </a:r>
          </a:p>
          <a:p>
            <a:pPr algn="l">
              <a:spcBef>
                <a:spcPct val="50000"/>
              </a:spcBef>
            </a:pPr>
            <a:r>
              <a:rPr lang="en-US" sz="1000" b="0"/>
              <a:t>pdq pdq ..</a:t>
            </a:r>
          </a:p>
        </p:txBody>
      </p:sp>
      <p:sp>
        <p:nvSpPr>
          <p:cNvPr id="131079" name="Text Box 7"/>
          <p:cNvSpPr txBox="1">
            <a:spLocks noChangeArrowheads="1"/>
          </p:cNvSpPr>
          <p:nvPr/>
        </p:nvSpPr>
        <p:spPr bwMode="auto">
          <a:xfrm>
            <a:off x="3581400" y="5432425"/>
            <a:ext cx="914400" cy="434975"/>
          </a:xfrm>
          <a:prstGeom prst="rect">
            <a:avLst/>
          </a:prstGeom>
          <a:solidFill>
            <a:schemeClr val="bg2">
              <a:alpha val="82001"/>
            </a:schemeClr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000" b="0"/>
              <a:t>web site yyyy</a:t>
            </a:r>
          </a:p>
        </p:txBody>
      </p:sp>
      <p:sp>
        <p:nvSpPr>
          <p:cNvPr id="131080" name="Line 8"/>
          <p:cNvSpPr>
            <a:spLocks noChangeShapeType="1"/>
          </p:cNvSpPr>
          <p:nvPr/>
        </p:nvSpPr>
        <p:spPr bwMode="auto">
          <a:xfrm>
            <a:off x="3505200" y="4648200"/>
            <a:ext cx="4572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81" name="Line 9"/>
          <p:cNvSpPr>
            <a:spLocks noChangeShapeType="1"/>
          </p:cNvSpPr>
          <p:nvPr/>
        </p:nvSpPr>
        <p:spPr bwMode="auto">
          <a:xfrm flipV="1">
            <a:off x="3957638" y="4268788"/>
            <a:ext cx="841375" cy="730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82" name="Line 10"/>
          <p:cNvSpPr>
            <a:spLocks noChangeShapeType="1"/>
          </p:cNvSpPr>
          <p:nvPr/>
        </p:nvSpPr>
        <p:spPr bwMode="auto">
          <a:xfrm flipH="1">
            <a:off x="3581400" y="3505200"/>
            <a:ext cx="152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83" name="Line 11"/>
          <p:cNvSpPr>
            <a:spLocks noChangeShapeType="1"/>
          </p:cNvSpPr>
          <p:nvPr/>
        </p:nvSpPr>
        <p:spPr bwMode="auto">
          <a:xfrm>
            <a:off x="2590800" y="3505200"/>
            <a:ext cx="533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84" name="Line 12"/>
          <p:cNvSpPr>
            <a:spLocks noChangeShapeType="1"/>
          </p:cNvSpPr>
          <p:nvPr/>
        </p:nvSpPr>
        <p:spPr bwMode="auto">
          <a:xfrm flipH="1">
            <a:off x="4038600" y="3962400"/>
            <a:ext cx="6858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85" name="Line 13"/>
          <p:cNvSpPr>
            <a:spLocks noChangeShapeType="1"/>
          </p:cNvSpPr>
          <p:nvPr/>
        </p:nvSpPr>
        <p:spPr bwMode="auto">
          <a:xfrm flipH="1" flipV="1">
            <a:off x="3352800" y="4724400"/>
            <a:ext cx="2286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86" name="Line 14"/>
          <p:cNvSpPr>
            <a:spLocks noChangeShapeType="1"/>
          </p:cNvSpPr>
          <p:nvPr/>
        </p:nvSpPr>
        <p:spPr bwMode="auto">
          <a:xfrm flipV="1">
            <a:off x="1752600" y="4572000"/>
            <a:ext cx="9906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87" name="Text Box 15"/>
          <p:cNvSpPr txBox="1">
            <a:spLocks noChangeArrowheads="1"/>
          </p:cNvSpPr>
          <p:nvPr/>
        </p:nvSpPr>
        <p:spPr bwMode="auto">
          <a:xfrm>
            <a:off x="685800" y="4594225"/>
            <a:ext cx="914400" cy="434975"/>
          </a:xfrm>
          <a:prstGeom prst="rect">
            <a:avLst/>
          </a:prstGeom>
          <a:solidFill>
            <a:srgbClr val="C0C0C0">
              <a:alpha val="97000"/>
            </a:srgbClr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000" b="0"/>
              <a:t>web site a b c d e f g</a:t>
            </a:r>
          </a:p>
        </p:txBody>
      </p:sp>
      <p:sp>
        <p:nvSpPr>
          <p:cNvPr id="131088" name="Text Box 16"/>
          <p:cNvSpPr txBox="1">
            <a:spLocks noChangeArrowheads="1"/>
          </p:cNvSpPr>
          <p:nvPr/>
        </p:nvSpPr>
        <p:spPr bwMode="auto">
          <a:xfrm>
            <a:off x="4724400" y="2079625"/>
            <a:ext cx="609600" cy="58737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000" b="0"/>
              <a:t>web site xxx</a:t>
            </a:r>
          </a:p>
        </p:txBody>
      </p:sp>
      <p:sp>
        <p:nvSpPr>
          <p:cNvPr id="131089" name="Line 17"/>
          <p:cNvSpPr>
            <a:spLocks noChangeShapeType="1"/>
          </p:cNvSpPr>
          <p:nvPr/>
        </p:nvSpPr>
        <p:spPr bwMode="auto">
          <a:xfrm flipH="1">
            <a:off x="4114800" y="2514600"/>
            <a:ext cx="45720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90" name="Line 18"/>
          <p:cNvSpPr>
            <a:spLocks noChangeShapeType="1"/>
          </p:cNvSpPr>
          <p:nvPr/>
        </p:nvSpPr>
        <p:spPr bwMode="auto">
          <a:xfrm>
            <a:off x="5105400" y="2743200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91" name="Text Box 19"/>
          <p:cNvSpPr txBox="1">
            <a:spLocks noChangeArrowheads="1"/>
          </p:cNvSpPr>
          <p:nvPr/>
        </p:nvSpPr>
        <p:spPr bwMode="auto">
          <a:xfrm>
            <a:off x="6019800" y="2133600"/>
            <a:ext cx="2971800" cy="405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000" b="0"/>
              <a:t>Imagine a </a:t>
            </a:r>
            <a:r>
              <a:rPr lang="ja-JP" altLang="en-US" sz="2000" b="0">
                <a:latin typeface="Arial"/>
              </a:rPr>
              <a:t>“</a:t>
            </a:r>
            <a:r>
              <a:rPr lang="en-US" sz="2000" b="0"/>
              <a:t>pagehopper</a:t>
            </a:r>
            <a:r>
              <a:rPr lang="ja-JP" altLang="en-US" sz="2000" b="0">
                <a:latin typeface="Arial"/>
              </a:rPr>
              <a:t>”</a:t>
            </a:r>
            <a:r>
              <a:rPr lang="en-US" sz="2000" b="0"/>
              <a:t> that always either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sz="2000" b="0"/>
              <a:t> follows a random link, or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sz="2000" b="0"/>
              <a:t> jumps to random page</a:t>
            </a:r>
          </a:p>
          <a:p>
            <a:pPr algn="l">
              <a:spcBef>
                <a:spcPct val="50000"/>
              </a:spcBef>
            </a:pPr>
            <a:r>
              <a:rPr lang="en-US" sz="2000" b="0"/>
              <a:t>PageRank ranks pages by the amount of time the pagehopper spends on a page: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sz="2000" b="0"/>
              <a:t> or, if there were many pagehoppers, PageRank is the expected </a:t>
            </a:r>
            <a:r>
              <a:rPr lang="ja-JP" altLang="en-US" sz="2000" b="0">
                <a:latin typeface="Arial"/>
              </a:rPr>
              <a:t>“</a:t>
            </a:r>
            <a:r>
              <a:rPr lang="en-US" sz="2000" b="0"/>
              <a:t>crowd size</a:t>
            </a:r>
            <a:r>
              <a:rPr lang="ja-JP" altLang="en-US" sz="2000" b="0">
                <a:latin typeface="Arial"/>
              </a:rPr>
              <a:t>”</a:t>
            </a:r>
            <a:endParaRPr lang="en-US" sz="2000" b="0"/>
          </a:p>
        </p:txBody>
      </p:sp>
      <p:sp>
        <p:nvSpPr>
          <p:cNvPr id="131092" name="Line 20"/>
          <p:cNvSpPr>
            <a:spLocks noChangeShapeType="1"/>
          </p:cNvSpPr>
          <p:nvPr/>
        </p:nvSpPr>
        <p:spPr bwMode="auto">
          <a:xfrm>
            <a:off x="1219200" y="1905000"/>
            <a:ext cx="8382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93" name="Line 21"/>
          <p:cNvSpPr>
            <a:spLocks noChangeShapeType="1"/>
          </p:cNvSpPr>
          <p:nvPr/>
        </p:nvSpPr>
        <p:spPr bwMode="auto">
          <a:xfrm flipH="1">
            <a:off x="1905000" y="5715000"/>
            <a:ext cx="15240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94" name="Line 22"/>
          <p:cNvSpPr>
            <a:spLocks noChangeShapeType="1"/>
          </p:cNvSpPr>
          <p:nvPr/>
        </p:nvSpPr>
        <p:spPr bwMode="auto">
          <a:xfrm flipV="1">
            <a:off x="2971800" y="1981200"/>
            <a:ext cx="914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95" name="Line 23"/>
          <p:cNvSpPr>
            <a:spLocks noChangeShapeType="1"/>
          </p:cNvSpPr>
          <p:nvPr/>
        </p:nvSpPr>
        <p:spPr bwMode="auto">
          <a:xfrm flipH="1" flipV="1">
            <a:off x="1752600" y="5029200"/>
            <a:ext cx="15240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96" name="Line 24"/>
          <p:cNvSpPr>
            <a:spLocks noChangeShapeType="1"/>
          </p:cNvSpPr>
          <p:nvPr/>
        </p:nvSpPr>
        <p:spPr bwMode="auto">
          <a:xfrm>
            <a:off x="2971800" y="32004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98" name="AutoShape 26"/>
          <p:cNvSpPr>
            <a:spLocks noChangeArrowheads="1"/>
          </p:cNvSpPr>
          <p:nvPr/>
        </p:nvSpPr>
        <p:spPr bwMode="auto">
          <a:xfrm>
            <a:off x="5105400" y="1905000"/>
            <a:ext cx="304800" cy="304800"/>
          </a:xfrm>
          <a:prstGeom prst="smileyFace">
            <a:avLst>
              <a:gd name="adj" fmla="val 4653"/>
            </a:avLst>
          </a:prstGeom>
          <a:solidFill>
            <a:srgbClr val="008000">
              <a:alpha val="3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1099" name="AutoShape 27"/>
          <p:cNvSpPr>
            <a:spLocks noChangeArrowheads="1"/>
          </p:cNvSpPr>
          <p:nvPr/>
        </p:nvSpPr>
        <p:spPr bwMode="auto">
          <a:xfrm>
            <a:off x="5486400" y="3657600"/>
            <a:ext cx="304800" cy="304800"/>
          </a:xfrm>
          <a:prstGeom prst="smileyFace">
            <a:avLst>
              <a:gd name="adj" fmla="val 4653"/>
            </a:avLst>
          </a:prstGeom>
          <a:solidFill>
            <a:srgbClr val="008000">
              <a:alpha val="3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1100" name="AutoShape 28"/>
          <p:cNvSpPr>
            <a:spLocks noChangeArrowheads="1"/>
          </p:cNvSpPr>
          <p:nvPr/>
        </p:nvSpPr>
        <p:spPr bwMode="auto">
          <a:xfrm>
            <a:off x="3886200" y="3810000"/>
            <a:ext cx="304800" cy="304800"/>
          </a:xfrm>
          <a:prstGeom prst="smileyFace">
            <a:avLst>
              <a:gd name="adj" fmla="val 4653"/>
            </a:avLst>
          </a:prstGeom>
          <a:solidFill>
            <a:srgbClr val="008000">
              <a:alpha val="3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1101" name="AutoShape 29"/>
          <p:cNvSpPr>
            <a:spLocks noChangeArrowheads="1"/>
          </p:cNvSpPr>
          <p:nvPr/>
        </p:nvSpPr>
        <p:spPr bwMode="auto">
          <a:xfrm>
            <a:off x="4038600" y="5257800"/>
            <a:ext cx="304800" cy="304800"/>
          </a:xfrm>
          <a:prstGeom prst="smileyFace">
            <a:avLst>
              <a:gd name="adj" fmla="val 4653"/>
            </a:avLst>
          </a:prstGeom>
          <a:solidFill>
            <a:srgbClr val="008000">
              <a:alpha val="3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1102" name="AutoShape 30"/>
          <p:cNvSpPr>
            <a:spLocks noChangeArrowheads="1"/>
          </p:cNvSpPr>
          <p:nvPr/>
        </p:nvSpPr>
        <p:spPr bwMode="auto">
          <a:xfrm>
            <a:off x="2438400" y="2514600"/>
            <a:ext cx="304800" cy="304800"/>
          </a:xfrm>
          <a:prstGeom prst="smileyFace">
            <a:avLst>
              <a:gd name="adj" fmla="val 4653"/>
            </a:avLst>
          </a:prstGeom>
          <a:solidFill>
            <a:srgbClr val="008000">
              <a:alpha val="3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1103" name="AutoShape 31"/>
          <p:cNvSpPr>
            <a:spLocks noChangeArrowheads="1"/>
          </p:cNvSpPr>
          <p:nvPr/>
        </p:nvSpPr>
        <p:spPr bwMode="auto">
          <a:xfrm>
            <a:off x="3581400" y="2743200"/>
            <a:ext cx="304800" cy="304800"/>
          </a:xfrm>
          <a:prstGeom prst="smileyFace">
            <a:avLst>
              <a:gd name="adj" fmla="val 4653"/>
            </a:avLst>
          </a:prstGeom>
          <a:solidFill>
            <a:srgbClr val="008000">
              <a:alpha val="3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1104" name="AutoShape 32"/>
          <p:cNvSpPr>
            <a:spLocks noChangeArrowheads="1"/>
          </p:cNvSpPr>
          <p:nvPr/>
        </p:nvSpPr>
        <p:spPr bwMode="auto">
          <a:xfrm>
            <a:off x="3276600" y="3810000"/>
            <a:ext cx="304800" cy="304800"/>
          </a:xfrm>
          <a:prstGeom prst="smileyFace">
            <a:avLst>
              <a:gd name="adj" fmla="val 4653"/>
            </a:avLst>
          </a:prstGeom>
          <a:solidFill>
            <a:srgbClr val="008000">
              <a:alpha val="3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1105" name="AutoShape 33"/>
          <p:cNvSpPr>
            <a:spLocks noChangeArrowheads="1"/>
          </p:cNvSpPr>
          <p:nvPr/>
        </p:nvSpPr>
        <p:spPr bwMode="auto">
          <a:xfrm>
            <a:off x="4648200" y="4343400"/>
            <a:ext cx="304800" cy="304800"/>
          </a:xfrm>
          <a:prstGeom prst="smileyFace">
            <a:avLst>
              <a:gd name="adj" fmla="val 4653"/>
            </a:avLst>
          </a:prstGeom>
          <a:solidFill>
            <a:srgbClr val="008000">
              <a:alpha val="3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1106" name="AutoShape 34"/>
          <p:cNvSpPr>
            <a:spLocks noChangeArrowheads="1"/>
          </p:cNvSpPr>
          <p:nvPr/>
        </p:nvSpPr>
        <p:spPr bwMode="auto">
          <a:xfrm>
            <a:off x="3657600" y="4419600"/>
            <a:ext cx="304800" cy="304800"/>
          </a:xfrm>
          <a:prstGeom prst="smileyFace">
            <a:avLst>
              <a:gd name="adj" fmla="val 4653"/>
            </a:avLst>
          </a:prstGeom>
          <a:solidFill>
            <a:srgbClr val="008000">
              <a:alpha val="3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1108" name="AutoShape 36"/>
          <p:cNvSpPr>
            <a:spLocks noChangeArrowheads="1"/>
          </p:cNvSpPr>
          <p:nvPr/>
        </p:nvSpPr>
        <p:spPr bwMode="auto">
          <a:xfrm>
            <a:off x="2286000" y="3352800"/>
            <a:ext cx="304800" cy="304800"/>
          </a:xfrm>
          <a:prstGeom prst="smileyFace">
            <a:avLst>
              <a:gd name="adj" fmla="val 4653"/>
            </a:avLst>
          </a:prstGeom>
          <a:solidFill>
            <a:srgbClr val="008000">
              <a:alpha val="3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1109" name="AutoShape 37"/>
          <p:cNvSpPr>
            <a:spLocks noChangeArrowheads="1"/>
          </p:cNvSpPr>
          <p:nvPr/>
        </p:nvSpPr>
        <p:spPr bwMode="auto">
          <a:xfrm>
            <a:off x="3581400" y="4038600"/>
            <a:ext cx="304800" cy="304800"/>
          </a:xfrm>
          <a:prstGeom prst="smileyFace">
            <a:avLst>
              <a:gd name="adj" fmla="val 4653"/>
            </a:avLst>
          </a:prstGeom>
          <a:solidFill>
            <a:srgbClr val="008000">
              <a:alpha val="3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1110" name="AutoShape 38"/>
          <p:cNvSpPr>
            <a:spLocks noChangeArrowheads="1"/>
          </p:cNvSpPr>
          <p:nvPr/>
        </p:nvSpPr>
        <p:spPr bwMode="auto">
          <a:xfrm>
            <a:off x="3505200" y="5181600"/>
            <a:ext cx="304800" cy="304800"/>
          </a:xfrm>
          <a:prstGeom prst="smileyFace">
            <a:avLst>
              <a:gd name="adj" fmla="val 4653"/>
            </a:avLst>
          </a:prstGeom>
          <a:solidFill>
            <a:srgbClr val="008000">
              <a:alpha val="3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1111" name="AutoShape 39"/>
          <p:cNvSpPr>
            <a:spLocks noChangeArrowheads="1"/>
          </p:cNvSpPr>
          <p:nvPr/>
        </p:nvSpPr>
        <p:spPr bwMode="auto">
          <a:xfrm>
            <a:off x="1600200" y="4495800"/>
            <a:ext cx="304800" cy="304800"/>
          </a:xfrm>
          <a:prstGeom prst="smileyFace">
            <a:avLst>
              <a:gd name="adj" fmla="val 4653"/>
            </a:avLst>
          </a:prstGeom>
          <a:solidFill>
            <a:srgbClr val="008000">
              <a:alpha val="3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1112" name="AutoShape 40"/>
          <p:cNvSpPr>
            <a:spLocks noChangeArrowheads="1"/>
          </p:cNvSpPr>
          <p:nvPr/>
        </p:nvSpPr>
        <p:spPr bwMode="auto">
          <a:xfrm>
            <a:off x="2667000" y="4191000"/>
            <a:ext cx="304800" cy="304800"/>
          </a:xfrm>
          <a:prstGeom prst="smileyFace">
            <a:avLst>
              <a:gd name="adj" fmla="val 4653"/>
            </a:avLst>
          </a:prstGeom>
          <a:solidFill>
            <a:srgbClr val="008000">
              <a:alpha val="3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1113" name="AutoShape 41"/>
          <p:cNvSpPr>
            <a:spLocks noChangeArrowheads="1"/>
          </p:cNvSpPr>
          <p:nvPr/>
        </p:nvSpPr>
        <p:spPr bwMode="auto">
          <a:xfrm>
            <a:off x="1219200" y="5029200"/>
            <a:ext cx="304800" cy="304800"/>
          </a:xfrm>
          <a:prstGeom prst="smileyFace">
            <a:avLst>
              <a:gd name="adj" fmla="val 4653"/>
            </a:avLst>
          </a:prstGeom>
          <a:solidFill>
            <a:srgbClr val="008000">
              <a:alpha val="3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1114" name="AutoShape 42"/>
          <p:cNvSpPr>
            <a:spLocks noChangeArrowheads="1"/>
          </p:cNvSpPr>
          <p:nvPr/>
        </p:nvSpPr>
        <p:spPr bwMode="auto">
          <a:xfrm>
            <a:off x="2971800" y="4343400"/>
            <a:ext cx="304800" cy="304800"/>
          </a:xfrm>
          <a:prstGeom prst="smileyFace">
            <a:avLst>
              <a:gd name="adj" fmla="val 4653"/>
            </a:avLst>
          </a:prstGeom>
          <a:solidFill>
            <a:srgbClr val="008000">
              <a:alpha val="3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1115" name="AutoShape 43"/>
          <p:cNvSpPr>
            <a:spLocks noChangeArrowheads="1"/>
          </p:cNvSpPr>
          <p:nvPr/>
        </p:nvSpPr>
        <p:spPr bwMode="auto">
          <a:xfrm>
            <a:off x="4191000" y="5562600"/>
            <a:ext cx="304800" cy="304800"/>
          </a:xfrm>
          <a:prstGeom prst="smileyFace">
            <a:avLst>
              <a:gd name="adj" fmla="val 4653"/>
            </a:avLst>
          </a:prstGeom>
          <a:solidFill>
            <a:srgbClr val="008000">
              <a:alpha val="3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1116" name="AutoShape 44"/>
          <p:cNvSpPr>
            <a:spLocks noChangeArrowheads="1"/>
          </p:cNvSpPr>
          <p:nvPr/>
        </p:nvSpPr>
        <p:spPr bwMode="auto">
          <a:xfrm>
            <a:off x="3276600" y="4191000"/>
            <a:ext cx="304800" cy="304800"/>
          </a:xfrm>
          <a:prstGeom prst="smileyFace">
            <a:avLst>
              <a:gd name="adj" fmla="val 4653"/>
            </a:avLst>
          </a:prstGeom>
          <a:solidFill>
            <a:srgbClr val="008000">
              <a:alpha val="30000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84909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PageRank in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Let </a:t>
            </a:r>
            <a:r>
              <a:rPr lang="en-US" b="1" dirty="0"/>
              <a:t>u </a:t>
            </a:r>
            <a:r>
              <a:rPr lang="en-US" dirty="0"/>
              <a:t>= (1/N, …, 1/N)</a:t>
            </a:r>
          </a:p>
          <a:p>
            <a:pPr lvl="1"/>
            <a:r>
              <a:rPr lang="en-US" dirty="0"/>
              <a:t>dimension = #nodes N</a:t>
            </a:r>
          </a:p>
          <a:p>
            <a:r>
              <a:rPr lang="en-US" dirty="0"/>
              <a:t>Let A = adjacency matrix: [</a:t>
            </a:r>
            <a:r>
              <a:rPr lang="en-US" dirty="0" err="1"/>
              <a:t>a</a:t>
            </a:r>
            <a:r>
              <a:rPr lang="en-US" baseline="-25000" dirty="0" err="1"/>
              <a:t>ij</a:t>
            </a:r>
            <a:r>
              <a:rPr lang="en-US" dirty="0"/>
              <a:t>=1 </a:t>
            </a:r>
            <a:r>
              <a:rPr lang="en-US" dirty="0">
                <a:sym typeface="Wingdings"/>
              </a:rPr>
              <a:t> </a:t>
            </a:r>
            <a:r>
              <a:rPr lang="en-US" dirty="0" err="1">
                <a:sym typeface="Wingdings"/>
              </a:rPr>
              <a:t>i</a:t>
            </a:r>
            <a:r>
              <a:rPr lang="en-US" dirty="0">
                <a:sym typeface="Wingdings"/>
              </a:rPr>
              <a:t> links to j]</a:t>
            </a:r>
          </a:p>
          <a:p>
            <a:r>
              <a:rPr lang="en-US" dirty="0">
                <a:sym typeface="Wingdings"/>
              </a:rPr>
              <a:t>Let W = [</a:t>
            </a:r>
            <a:r>
              <a:rPr lang="en-US" dirty="0" err="1">
                <a:sym typeface="Wingdings"/>
              </a:rPr>
              <a:t>w</a:t>
            </a:r>
            <a:r>
              <a:rPr lang="en-US" baseline="-25000" dirty="0" err="1">
                <a:sym typeface="Wingdings"/>
              </a:rPr>
              <a:t>ij</a:t>
            </a:r>
            <a:r>
              <a:rPr lang="en-US" dirty="0">
                <a:sym typeface="Wingdings"/>
              </a:rPr>
              <a:t> = </a:t>
            </a:r>
            <a:r>
              <a:rPr lang="en-US" dirty="0" err="1">
                <a:sym typeface="Wingdings"/>
              </a:rPr>
              <a:t>a</a:t>
            </a:r>
            <a:r>
              <a:rPr lang="en-US" baseline="-25000" dirty="0" err="1">
                <a:sym typeface="Wingdings"/>
              </a:rPr>
              <a:t>ij</a:t>
            </a:r>
            <a:r>
              <a:rPr lang="en-US" dirty="0">
                <a:sym typeface="Wingdings"/>
              </a:rPr>
              <a:t>/</a:t>
            </a:r>
            <a:r>
              <a:rPr lang="en-US" dirty="0" err="1">
                <a:sym typeface="Wingdings"/>
              </a:rPr>
              <a:t>outdegree</a:t>
            </a:r>
            <a:r>
              <a:rPr lang="en-US" dirty="0">
                <a:sym typeface="Wingdings"/>
              </a:rPr>
              <a:t>(</a:t>
            </a:r>
            <a:r>
              <a:rPr lang="en-US" dirty="0" err="1">
                <a:sym typeface="Wingdings"/>
              </a:rPr>
              <a:t>i</a:t>
            </a:r>
            <a:r>
              <a:rPr lang="en-US" dirty="0">
                <a:sym typeface="Wingdings"/>
              </a:rPr>
              <a:t>)]</a:t>
            </a:r>
          </a:p>
          <a:p>
            <a:pPr lvl="1"/>
            <a:r>
              <a:rPr lang="en-US" dirty="0" err="1">
                <a:sym typeface="Wingdings"/>
              </a:rPr>
              <a:t>w</a:t>
            </a:r>
            <a:r>
              <a:rPr lang="en-US" baseline="-25000" dirty="0" err="1">
                <a:sym typeface="Wingdings"/>
              </a:rPr>
              <a:t>ij</a:t>
            </a:r>
            <a:r>
              <a:rPr lang="en-US" dirty="0">
                <a:sym typeface="Wingdings"/>
              </a:rPr>
              <a:t> is probability of jump from </a:t>
            </a:r>
            <a:r>
              <a:rPr lang="en-US" dirty="0" err="1">
                <a:sym typeface="Wingdings"/>
              </a:rPr>
              <a:t>i</a:t>
            </a:r>
            <a:r>
              <a:rPr lang="en-US" dirty="0">
                <a:sym typeface="Wingdings"/>
              </a:rPr>
              <a:t> to j</a:t>
            </a:r>
          </a:p>
          <a:p>
            <a:r>
              <a:rPr lang="en-US" dirty="0"/>
              <a:t>Let </a:t>
            </a:r>
            <a:r>
              <a:rPr lang="en-US" b="1" dirty="0"/>
              <a:t>v</a:t>
            </a:r>
            <a:r>
              <a:rPr lang="en-US" baseline="30000" dirty="0"/>
              <a:t>0</a:t>
            </a:r>
            <a:r>
              <a:rPr lang="en-US" dirty="0"/>
              <a:t> = (1,1,….,1) </a:t>
            </a:r>
          </a:p>
          <a:p>
            <a:pPr lvl="1"/>
            <a:r>
              <a:rPr lang="en-US" dirty="0"/>
              <a:t>or anything else you want</a:t>
            </a:r>
          </a:p>
          <a:p>
            <a:r>
              <a:rPr lang="en-US" dirty="0"/>
              <a:t>Repeat until converged:</a:t>
            </a:r>
          </a:p>
          <a:p>
            <a:pPr lvl="1"/>
            <a:r>
              <a:rPr lang="en-US" dirty="0"/>
              <a:t>Let </a:t>
            </a:r>
            <a:r>
              <a:rPr lang="en-US" b="1" dirty="0"/>
              <a:t>v</a:t>
            </a:r>
            <a:r>
              <a:rPr lang="en-US" baseline="30000" dirty="0"/>
              <a:t>t+1 </a:t>
            </a:r>
            <a:r>
              <a:rPr lang="en-US" dirty="0"/>
              <a:t>= c</a:t>
            </a:r>
            <a:r>
              <a:rPr lang="en-US" b="1" dirty="0"/>
              <a:t>u</a:t>
            </a:r>
            <a:r>
              <a:rPr lang="en-US" dirty="0"/>
              <a:t> + (1-c)</a:t>
            </a:r>
            <a:r>
              <a:rPr lang="en-US" b="1" dirty="0"/>
              <a:t> </a:t>
            </a:r>
            <a:r>
              <a:rPr lang="en-US" b="1" dirty="0" err="1"/>
              <a:t>v</a:t>
            </a:r>
            <a:r>
              <a:rPr lang="en-US" baseline="30000" dirty="0" err="1"/>
              <a:t>t</a:t>
            </a:r>
            <a:r>
              <a:rPr lang="en-US" b="1" dirty="0" err="1"/>
              <a:t>W</a:t>
            </a:r>
            <a:endParaRPr lang="en-US" baseline="30000" dirty="0"/>
          </a:p>
          <a:p>
            <a:pPr lvl="2"/>
            <a:r>
              <a:rPr lang="en-US" sz="2400" dirty="0"/>
              <a:t>c is probability of jumping “anywhere randomly”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55673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PageRank in Spark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50391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43A8C-3DD4-2C8C-470D-4CA7F62E1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Slow Implementation</a:t>
            </a:r>
          </a:p>
        </p:txBody>
      </p:sp>
      <p:pic>
        <p:nvPicPr>
          <p:cNvPr id="4" name="Picture 3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0CCE8356-59AA-D2ED-15F1-8F3493FF4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11" y="1330325"/>
            <a:ext cx="8276403" cy="397033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6D5E34A-C111-8282-CB02-C644035E2E73}"/>
              </a:ext>
            </a:extLst>
          </p:cNvPr>
          <p:cNvSpPr/>
          <p:nvPr/>
        </p:nvSpPr>
        <p:spPr>
          <a:xfrm>
            <a:off x="1114425" y="1330325"/>
            <a:ext cx="4657725" cy="54133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F5398E-8486-3818-5021-956FF58950CF}"/>
              </a:ext>
            </a:extLst>
          </p:cNvPr>
          <p:cNvSpPr/>
          <p:nvPr/>
        </p:nvSpPr>
        <p:spPr>
          <a:xfrm>
            <a:off x="2243137" y="1600994"/>
            <a:ext cx="5372101" cy="54133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6A36F6-32F9-A0B6-E853-48DDE18AC933}"/>
              </a:ext>
            </a:extLst>
          </p:cNvPr>
          <p:cNvSpPr txBox="1"/>
          <p:nvPr/>
        </p:nvSpPr>
        <p:spPr>
          <a:xfrm>
            <a:off x="5772150" y="1188005"/>
            <a:ext cx="3700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nodes: list of string ids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6AF7CA-7099-C564-A543-99576E4FE52B}"/>
              </a:ext>
            </a:extLst>
          </p:cNvPr>
          <p:cNvSpPr txBox="1"/>
          <p:nvPr/>
        </p:nvSpPr>
        <p:spPr>
          <a:xfrm>
            <a:off x="2353977" y="1686997"/>
            <a:ext cx="5111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outlinks_by_node</a:t>
            </a:r>
            <a:r>
              <a:rPr lang="en-US" dirty="0">
                <a:solidFill>
                  <a:srgbClr val="0070C0"/>
                </a:solidFill>
              </a:rPr>
              <a:t>: list of (</a:t>
            </a:r>
            <a:r>
              <a:rPr lang="en-US" dirty="0" err="1">
                <a:solidFill>
                  <a:srgbClr val="0070C0"/>
                </a:solidFill>
              </a:rPr>
              <a:t>src</a:t>
            </a:r>
            <a:r>
              <a:rPr lang="en-US" dirty="0">
                <a:solidFill>
                  <a:srgbClr val="0070C0"/>
                </a:solidFill>
              </a:rPr>
              <a:t>, [out1, .. ])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2D0DB3-BC63-75DD-6048-786C640EB38D}"/>
              </a:ext>
            </a:extLst>
          </p:cNvPr>
          <p:cNvSpPr txBox="1"/>
          <p:nvPr/>
        </p:nvSpPr>
        <p:spPr>
          <a:xfrm>
            <a:off x="5772150" y="2284652"/>
            <a:ext cx="1834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v</a:t>
            </a:r>
            <a:r>
              <a:rPr lang="en-US" baseline="30000" dirty="0">
                <a:solidFill>
                  <a:srgbClr val="0070C0"/>
                </a:solidFill>
              </a:rPr>
              <a:t>0</a:t>
            </a:r>
            <a:r>
              <a:rPr lang="en-US" dirty="0">
                <a:solidFill>
                  <a:srgbClr val="0070C0"/>
                </a:solidFill>
              </a:rPr>
              <a:t> = (1,1,….,1)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1D7670-C412-2BD6-58B3-176707A92D00}"/>
              </a:ext>
            </a:extLst>
          </p:cNvPr>
          <p:cNvSpPr txBox="1"/>
          <p:nvPr/>
        </p:nvSpPr>
        <p:spPr>
          <a:xfrm>
            <a:off x="7110752" y="3032395"/>
            <a:ext cx="1701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(1-c)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v</a:t>
            </a:r>
            <a:r>
              <a:rPr lang="en-US" baseline="30000" dirty="0" err="1">
                <a:solidFill>
                  <a:srgbClr val="0070C0"/>
                </a:solidFill>
              </a:rPr>
              <a:t>t</a:t>
            </a:r>
            <a:r>
              <a:rPr lang="en-US" b="1" dirty="0" err="1">
                <a:solidFill>
                  <a:srgbClr val="0070C0"/>
                </a:solidFill>
              </a:rPr>
              <a:t>W</a:t>
            </a:r>
            <a:endParaRPr lang="en-US" baseline="30000" dirty="0">
              <a:solidFill>
                <a:srgbClr val="0070C0"/>
              </a:solidFill>
            </a:endParaRP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EFB143-EA09-DD02-0B4F-B71FB4B2D9D6}"/>
              </a:ext>
            </a:extLst>
          </p:cNvPr>
          <p:cNvSpPr txBox="1"/>
          <p:nvPr/>
        </p:nvSpPr>
        <p:spPr>
          <a:xfrm>
            <a:off x="4766872" y="5300663"/>
            <a:ext cx="32228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v</a:t>
            </a:r>
            <a:r>
              <a:rPr lang="en-US" baseline="30000" dirty="0">
                <a:solidFill>
                  <a:srgbClr val="0070C0"/>
                </a:solidFill>
              </a:rPr>
              <a:t>t+1 </a:t>
            </a:r>
            <a:r>
              <a:rPr lang="en-US" dirty="0">
                <a:solidFill>
                  <a:srgbClr val="0070C0"/>
                </a:solidFill>
              </a:rPr>
              <a:t>= c</a:t>
            </a:r>
            <a:r>
              <a:rPr lang="en-US" b="1" dirty="0">
                <a:solidFill>
                  <a:srgbClr val="0070C0"/>
                </a:solidFill>
              </a:rPr>
              <a:t>u</a:t>
            </a:r>
            <a:r>
              <a:rPr lang="en-US" dirty="0">
                <a:solidFill>
                  <a:srgbClr val="0070C0"/>
                </a:solidFill>
              </a:rPr>
              <a:t> + (1-c)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v</a:t>
            </a:r>
            <a:r>
              <a:rPr lang="en-US" baseline="30000" dirty="0" err="1">
                <a:solidFill>
                  <a:srgbClr val="0070C0"/>
                </a:solidFill>
              </a:rPr>
              <a:t>t</a:t>
            </a:r>
            <a:r>
              <a:rPr lang="en-US" b="1" dirty="0" err="1">
                <a:solidFill>
                  <a:srgbClr val="0070C0"/>
                </a:solidFill>
              </a:rPr>
              <a:t>W</a:t>
            </a:r>
            <a:endParaRPr lang="en-US" baseline="30000" dirty="0">
              <a:solidFill>
                <a:srgbClr val="0070C0"/>
              </a:solidFill>
            </a:endParaRP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AE6A2D-2A65-5D23-D896-288CD2143C69}"/>
              </a:ext>
            </a:extLst>
          </p:cNvPr>
          <p:cNvSpPr txBox="1"/>
          <p:nvPr/>
        </p:nvSpPr>
        <p:spPr>
          <a:xfrm>
            <a:off x="6685943" y="4697333"/>
            <a:ext cx="3222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</a:t>
            </a:r>
            <a:r>
              <a:rPr lang="en-US" b="1" dirty="0">
                <a:solidFill>
                  <a:srgbClr val="0070C0"/>
                </a:solidFill>
              </a:rPr>
              <a:t>u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28FC6C-E06A-C45E-08A6-59F43A7848B0}"/>
              </a:ext>
            </a:extLst>
          </p:cNvPr>
          <p:cNvSpPr txBox="1"/>
          <p:nvPr/>
        </p:nvSpPr>
        <p:spPr>
          <a:xfrm>
            <a:off x="5589831" y="2699544"/>
            <a:ext cx="40330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  <a:sym typeface="Wingdings"/>
              </a:rPr>
              <a:t>w</a:t>
            </a:r>
            <a:r>
              <a:rPr lang="en-US" baseline="-25000" dirty="0" err="1">
                <a:solidFill>
                  <a:srgbClr val="0070C0"/>
                </a:solidFill>
                <a:sym typeface="Wingdings"/>
              </a:rPr>
              <a:t>ij</a:t>
            </a:r>
            <a:r>
              <a:rPr lang="en-US" dirty="0">
                <a:solidFill>
                  <a:srgbClr val="0070C0"/>
                </a:solidFill>
                <a:sym typeface="Wingdings"/>
              </a:rPr>
              <a:t> is probability of jump from </a:t>
            </a:r>
            <a:r>
              <a:rPr lang="en-US" dirty="0" err="1">
                <a:solidFill>
                  <a:srgbClr val="0070C0"/>
                </a:solidFill>
                <a:sym typeface="Wingdings"/>
              </a:rPr>
              <a:t>i</a:t>
            </a:r>
            <a:r>
              <a:rPr lang="en-US" dirty="0">
                <a:solidFill>
                  <a:srgbClr val="0070C0"/>
                </a:solidFill>
                <a:sym typeface="Wingdings"/>
              </a:rPr>
              <a:t> to j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0B2A86-34EC-7BD7-2B4B-F73D2F463223}"/>
              </a:ext>
            </a:extLst>
          </p:cNvPr>
          <p:cNvSpPr txBox="1"/>
          <p:nvPr/>
        </p:nvSpPr>
        <p:spPr>
          <a:xfrm>
            <a:off x="7709189" y="4261098"/>
            <a:ext cx="1701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(1-c)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v</a:t>
            </a:r>
            <a:r>
              <a:rPr lang="en-US" baseline="30000" dirty="0" err="1">
                <a:solidFill>
                  <a:srgbClr val="0070C0"/>
                </a:solidFill>
              </a:rPr>
              <a:t>t</a:t>
            </a:r>
            <a:r>
              <a:rPr lang="en-US" b="1" dirty="0" err="1">
                <a:solidFill>
                  <a:srgbClr val="0070C0"/>
                </a:solidFill>
              </a:rPr>
              <a:t>W</a:t>
            </a:r>
            <a:endParaRPr lang="en-US" b="1" dirty="0">
              <a:solidFill>
                <a:srgbClr val="0070C0"/>
              </a:solidFill>
            </a:endParaRPr>
          </a:p>
          <a:p>
            <a:r>
              <a:rPr lang="en-US" b="1" baseline="30000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after sum</a:t>
            </a:r>
            <a:endParaRPr lang="en-US" baseline="30000" dirty="0">
              <a:solidFill>
                <a:srgbClr val="0070C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994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5AA11-85AE-7075-7B4F-52EAF9BAA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6E0C5-065D-E12F-5E5A-E5C6B873D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Slow Implementation</a:t>
            </a:r>
          </a:p>
        </p:txBody>
      </p:sp>
      <p:pic>
        <p:nvPicPr>
          <p:cNvPr id="4" name="Picture 3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10203E87-9D77-5A7F-F671-6AD3026347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616"/>
          <a:stretch/>
        </p:blipFill>
        <p:spPr>
          <a:xfrm>
            <a:off x="410397" y="1196276"/>
            <a:ext cx="8276403" cy="1643063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965639B-D2A2-121F-8705-BFE1F8501F3B}"/>
              </a:ext>
            </a:extLst>
          </p:cNvPr>
          <p:cNvGrpSpPr/>
          <p:nvPr/>
        </p:nvGrpSpPr>
        <p:grpSpPr>
          <a:xfrm>
            <a:off x="600075" y="3186102"/>
            <a:ext cx="3971925" cy="3439903"/>
            <a:chOff x="600075" y="3186102"/>
            <a:chExt cx="3971925" cy="343990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9EFDE72-AD36-D141-C211-AB4FEE5AC9D2}"/>
                </a:ext>
              </a:extLst>
            </p:cNvPr>
            <p:cNvSpPr txBox="1"/>
            <p:nvPr/>
          </p:nvSpPr>
          <p:spPr>
            <a:xfrm>
              <a:off x="600075" y="3186102"/>
              <a:ext cx="1143000" cy="3693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outlinks</a:t>
              </a:r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F6D7A73-C0C8-3956-36F6-F5BA7D4E25B3}"/>
                </a:ext>
              </a:extLst>
            </p:cNvPr>
            <p:cNvSpPr txBox="1"/>
            <p:nvPr/>
          </p:nvSpPr>
          <p:spPr>
            <a:xfrm>
              <a:off x="2466975" y="3186102"/>
              <a:ext cx="1143000" cy="3693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scores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0D10383-C7AF-EB45-8917-082C2D001FCE}"/>
                </a:ext>
              </a:extLst>
            </p:cNvPr>
            <p:cNvSpPr txBox="1"/>
            <p:nvPr/>
          </p:nvSpPr>
          <p:spPr>
            <a:xfrm>
              <a:off x="1562100" y="4224327"/>
              <a:ext cx="1143000" cy="3693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hops	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00C5B1F-BFCE-EEB6-B344-A177F8F4AB08}"/>
                </a:ext>
              </a:extLst>
            </p:cNvPr>
            <p:cNvSpPr txBox="1"/>
            <p:nvPr/>
          </p:nvSpPr>
          <p:spPr>
            <a:xfrm>
              <a:off x="3429000" y="4224327"/>
              <a:ext cx="1143000" cy="3693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resets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1D55289-2037-3747-D273-8439AC1934F1}"/>
                </a:ext>
              </a:extLst>
            </p:cNvPr>
            <p:cNvSpPr txBox="1"/>
            <p:nvPr/>
          </p:nvSpPr>
          <p:spPr>
            <a:xfrm>
              <a:off x="2500312" y="5227961"/>
              <a:ext cx="1143000" cy="3693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scores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5D47E0F-B37D-8C5B-F4A4-7BA537FAAB73}"/>
                </a:ext>
              </a:extLst>
            </p:cNvPr>
            <p:cNvCxnSpPr>
              <a:cxnSpLocks/>
            </p:cNvCxnSpPr>
            <p:nvPr/>
          </p:nvCxnSpPr>
          <p:spPr>
            <a:xfrm>
              <a:off x="1171575" y="3555434"/>
              <a:ext cx="714375" cy="56673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BA63FD3-02F1-C789-4BDF-3D207048A70E}"/>
                </a:ext>
              </a:extLst>
            </p:cNvPr>
            <p:cNvCxnSpPr>
              <a:cxnSpLocks/>
            </p:cNvCxnSpPr>
            <p:nvPr/>
          </p:nvCxnSpPr>
          <p:spPr>
            <a:xfrm>
              <a:off x="3071812" y="3555433"/>
              <a:ext cx="714375" cy="56673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55F99B0-7786-9B78-6D76-923FDB3C9B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97919" y="3564423"/>
              <a:ext cx="614362" cy="60882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BB5C775-2329-50CA-40E9-078732C64730}"/>
                </a:ext>
              </a:extLst>
            </p:cNvPr>
            <p:cNvCxnSpPr>
              <a:cxnSpLocks/>
            </p:cNvCxnSpPr>
            <p:nvPr/>
          </p:nvCxnSpPr>
          <p:spPr>
            <a:xfrm>
              <a:off x="2202656" y="4597408"/>
              <a:ext cx="714375" cy="56673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919FCAE-36A4-CD49-01F6-0C0AF22CC9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29000" y="4606397"/>
              <a:ext cx="614362" cy="60882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A46DB17-38F1-3154-8884-6F926CFFA7A4}"/>
                </a:ext>
              </a:extLst>
            </p:cNvPr>
            <p:cNvSpPr txBox="1"/>
            <p:nvPr/>
          </p:nvSpPr>
          <p:spPr>
            <a:xfrm>
              <a:off x="3038475" y="6256673"/>
              <a:ext cx="3905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5C5757E3-A0F4-E50C-C279-E0217B266AE8}"/>
                </a:ext>
              </a:extLst>
            </p:cNvPr>
            <p:cNvCxnSpPr>
              <a:cxnSpLocks/>
            </p:cNvCxnSpPr>
            <p:nvPr/>
          </p:nvCxnSpPr>
          <p:spPr>
            <a:xfrm>
              <a:off x="3098006" y="5622744"/>
              <a:ext cx="714375" cy="56673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75035DC-4235-742A-7614-722E5CE691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24113" y="5631734"/>
              <a:ext cx="614362" cy="60882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944B094E-9B1D-AB2E-3095-8EEDCFA2DC57}"/>
              </a:ext>
            </a:extLst>
          </p:cNvPr>
          <p:cNvSpPr txBox="1"/>
          <p:nvPr/>
        </p:nvSpPr>
        <p:spPr>
          <a:xfrm>
            <a:off x="5500690" y="3186102"/>
            <a:ext cx="27289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10 iterations on small graph locally is 10min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5 iterations is 30sec</a:t>
            </a:r>
          </a:p>
        </p:txBody>
      </p:sp>
    </p:spTree>
    <p:extLst>
      <p:ext uri="{BB962C8B-B14F-4D97-AF65-F5344CB8AC3E}">
        <p14:creationId xmlns:p14="http://schemas.microsoft.com/office/powerpoint/2010/main" val="2370970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BD361-12A1-1F10-A8D9-538BF8423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7491F-2C93-4F58-2C51-CBABC5BE7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Slow Implementation</a:t>
            </a:r>
          </a:p>
        </p:txBody>
      </p:sp>
      <p:pic>
        <p:nvPicPr>
          <p:cNvPr id="4" name="Picture 3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4E5C324B-89A4-7CA8-6A8D-CDA0B5BCA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11" y="1330325"/>
            <a:ext cx="8276403" cy="397033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6488D1E-44D1-747E-2F33-66B0109AB6C5}"/>
              </a:ext>
            </a:extLst>
          </p:cNvPr>
          <p:cNvSpPr/>
          <p:nvPr/>
        </p:nvSpPr>
        <p:spPr>
          <a:xfrm>
            <a:off x="1114425" y="1330325"/>
            <a:ext cx="4657725" cy="54133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C8EC89-A612-F0F3-418B-F8B1F971A7C6}"/>
              </a:ext>
            </a:extLst>
          </p:cNvPr>
          <p:cNvSpPr/>
          <p:nvPr/>
        </p:nvSpPr>
        <p:spPr>
          <a:xfrm>
            <a:off x="2243137" y="1600994"/>
            <a:ext cx="5372101" cy="54133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81887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666ED-2E70-C46B-41FC-64CF52266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18E36-8A85-806F-7D46-3EF400D56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Fixing A Slow Implementation</a:t>
            </a:r>
          </a:p>
        </p:txBody>
      </p:sp>
      <p:pic>
        <p:nvPicPr>
          <p:cNvPr id="4" name="Picture 3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FB2AE89B-50C8-3522-2CD4-401E05B3A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11" y="1330325"/>
            <a:ext cx="8276403" cy="397033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C358DAB-C9F5-A024-A943-882900463226}"/>
              </a:ext>
            </a:extLst>
          </p:cNvPr>
          <p:cNvSpPr/>
          <p:nvPr/>
        </p:nvSpPr>
        <p:spPr>
          <a:xfrm>
            <a:off x="1114425" y="1330325"/>
            <a:ext cx="4657725" cy="54133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6DFB49-0771-1B8F-A968-A7DEBA43B3C3}"/>
              </a:ext>
            </a:extLst>
          </p:cNvPr>
          <p:cNvSpPr/>
          <p:nvPr/>
        </p:nvSpPr>
        <p:spPr>
          <a:xfrm>
            <a:off x="2243137" y="1600994"/>
            <a:ext cx="5372101" cy="54133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65E676C-5169-94F7-72C4-246ACD58FBA7}"/>
              </a:ext>
            </a:extLst>
          </p:cNvPr>
          <p:cNvCxnSpPr/>
          <p:nvPr/>
        </p:nvCxnSpPr>
        <p:spPr>
          <a:xfrm rot="10800000">
            <a:off x="3432749" y="2608289"/>
            <a:ext cx="2653259" cy="2248526"/>
          </a:xfrm>
          <a:prstGeom prst="bentConnector3">
            <a:avLst>
              <a:gd name="adj1" fmla="val -9293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025774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99CA4-09DB-8CFC-80D8-D3A69F28C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A4C9F-91EC-998C-E217-50BF23771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Keeping </a:t>
            </a:r>
            <a:r>
              <a:rPr lang="en-US" dirty="0"/>
              <a:t>v </a:t>
            </a:r>
            <a:r>
              <a:rPr lang="en-US" b="0" dirty="0"/>
              <a:t>in memory</a:t>
            </a:r>
          </a:p>
        </p:txBody>
      </p:sp>
      <p:pic>
        <p:nvPicPr>
          <p:cNvPr id="7" name="Picture 6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111BFBE7-071D-A1C1-0BB5-AC1253F2F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21" y="1304924"/>
            <a:ext cx="8953279" cy="4835525"/>
          </a:xfrm>
          <a:prstGeom prst="rect">
            <a:avLst/>
          </a:prstGeom>
        </p:spPr>
      </p:pic>
      <p:sp>
        <p:nvSpPr>
          <p:cNvPr id="8" name="Rectangular Callout 7">
            <a:extLst>
              <a:ext uri="{FF2B5EF4-FFF2-40B4-BE49-F238E27FC236}">
                <a16:creationId xmlns:a16="http://schemas.microsoft.com/office/drawing/2014/main" id="{DF319B66-BB69-96BA-0D48-F59B9B7CFB53}"/>
              </a:ext>
            </a:extLst>
          </p:cNvPr>
          <p:cNvSpPr/>
          <p:nvPr/>
        </p:nvSpPr>
        <p:spPr>
          <a:xfrm>
            <a:off x="5257800" y="1514474"/>
            <a:ext cx="3557587" cy="2607821"/>
          </a:xfrm>
          <a:prstGeom prst="wedgeRectCallout">
            <a:avLst>
              <a:gd name="adj1" fmla="val -92316"/>
              <a:gd name="adj2" fmla="val 95842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Convert </a:t>
            </a:r>
            <a:r>
              <a:rPr lang="en-US" sz="1600" b="1" dirty="0"/>
              <a:t>values </a:t>
            </a:r>
            <a:r>
              <a:rPr lang="en-US" sz="1600" dirty="0"/>
              <a:t>to “combiner” </a:t>
            </a:r>
            <a:r>
              <a:rPr lang="en-US" sz="1600" b="1" dirty="0"/>
              <a:t>(accumulator type)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Merge </a:t>
            </a:r>
            <a:r>
              <a:rPr lang="en-US" sz="1600" b="1" dirty="0"/>
              <a:t>value </a:t>
            </a:r>
            <a:r>
              <a:rPr lang="en-US" sz="1600" dirty="0"/>
              <a:t>with </a:t>
            </a:r>
            <a:r>
              <a:rPr lang="en-US" sz="1600" b="1" dirty="0"/>
              <a:t>accumulator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Separately merge two </a:t>
            </a:r>
            <a:r>
              <a:rPr lang="en-US" sz="1600" b="1" dirty="0"/>
              <a:t>accumulators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Leads to important optimizations because </a:t>
            </a:r>
            <a:r>
              <a:rPr lang="en-US" sz="1600" b="1" dirty="0"/>
              <a:t>combine</a:t>
            </a:r>
            <a:r>
              <a:rPr lang="en-US" sz="1600" dirty="0"/>
              <a:t> can happen on mapper side</a:t>
            </a:r>
          </a:p>
        </p:txBody>
      </p:sp>
      <p:sp>
        <p:nvSpPr>
          <p:cNvPr id="3" name="Rectangular Callout 2">
            <a:extLst>
              <a:ext uri="{FF2B5EF4-FFF2-40B4-BE49-F238E27FC236}">
                <a16:creationId xmlns:a16="http://schemas.microsoft.com/office/drawing/2014/main" id="{056F3308-F677-3A8E-F848-4A1492B147F0}"/>
              </a:ext>
            </a:extLst>
          </p:cNvPr>
          <p:cNvSpPr/>
          <p:nvPr/>
        </p:nvSpPr>
        <p:spPr>
          <a:xfrm>
            <a:off x="4572000" y="934465"/>
            <a:ext cx="1800069" cy="617095"/>
          </a:xfrm>
          <a:prstGeom prst="wedgeRectCallout">
            <a:avLst>
              <a:gd name="adj1" fmla="val -81490"/>
              <a:gd name="adj2" fmla="val 178433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Explicit closure</a:t>
            </a:r>
          </a:p>
        </p:txBody>
      </p:sp>
    </p:spTree>
    <p:extLst>
      <p:ext uri="{BB962C8B-B14F-4D97-AF65-F5344CB8AC3E}">
        <p14:creationId xmlns:p14="http://schemas.microsoft.com/office/powerpoint/2010/main" val="2474515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3026569"/>
            <a:ext cx="8648700" cy="8048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An example from Ron </a:t>
            </a:r>
            <a:r>
              <a:rPr lang="en-US" dirty="0" err="1"/>
              <a:t>Bekkerman</a:t>
            </a:r>
            <a:br>
              <a:rPr lang="en-US" dirty="0"/>
            </a:br>
            <a:r>
              <a:rPr lang="en-US" dirty="0"/>
              <a:t>k-means in Map-Reduce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29291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i="1" dirty="0"/>
              <a:t>k</a:t>
            </a:r>
            <a:r>
              <a:rPr lang="en-US" dirty="0"/>
              <a:t>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An EM-like algorithm:</a:t>
            </a:r>
          </a:p>
          <a:p>
            <a:r>
              <a:rPr lang="en-US" dirty="0"/>
              <a:t>Initialize </a:t>
            </a:r>
            <a:r>
              <a:rPr lang="en-US" i="1" dirty="0">
                <a:latin typeface="Times New Roman" pitchFamily="18" charset="0"/>
              </a:rPr>
              <a:t>k</a:t>
            </a:r>
            <a:r>
              <a:rPr lang="en-US" dirty="0"/>
              <a:t> cluster </a:t>
            </a:r>
            <a:r>
              <a:rPr lang="en-US" dirty="0" err="1"/>
              <a:t>centroids</a:t>
            </a:r>
            <a:endParaRPr lang="en-US" dirty="0"/>
          </a:p>
          <a:p>
            <a:r>
              <a:rPr lang="en-US" dirty="0"/>
              <a:t>E-step: associate each data instance with the closest </a:t>
            </a:r>
            <a:r>
              <a:rPr lang="en-US" dirty="0" err="1"/>
              <a:t>centroid</a:t>
            </a:r>
            <a:endParaRPr lang="en-US" dirty="0"/>
          </a:p>
          <a:p>
            <a:pPr lvl="1"/>
            <a:r>
              <a:rPr lang="en-US" dirty="0"/>
              <a:t>Find “expected values” of cluster assignments given the data and centroids</a:t>
            </a:r>
          </a:p>
          <a:p>
            <a:r>
              <a:rPr lang="en-US" dirty="0"/>
              <a:t>M-step: recalculate </a:t>
            </a:r>
            <a:r>
              <a:rPr lang="en-US" dirty="0" err="1"/>
              <a:t>centroids</a:t>
            </a:r>
            <a:r>
              <a:rPr lang="en-US" dirty="0"/>
              <a:t> as an average of the associated data instances</a:t>
            </a:r>
          </a:p>
          <a:p>
            <a:pPr lvl="1"/>
            <a:r>
              <a:rPr lang="en-US" dirty="0"/>
              <a:t>Find new centroids that “maximize that expectation”</a:t>
            </a:r>
          </a:p>
          <a:p>
            <a:r>
              <a:rPr lang="en-US" dirty="0"/>
              <a:t>And repeat…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8674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i="1" dirty="0"/>
              <a:t>k</a:t>
            </a:r>
            <a:r>
              <a:rPr lang="en-US" dirty="0"/>
              <a:t>-means Clustering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828800" y="1143000"/>
            <a:ext cx="5486400" cy="5486400"/>
          </a:xfrm>
          <a:prstGeom prst="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/>
          <p:cNvSpPr/>
          <p:nvPr/>
        </p:nvSpPr>
        <p:spPr>
          <a:xfrm>
            <a:off x="2362200" y="1600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/>
          <p:cNvSpPr/>
          <p:nvPr/>
        </p:nvSpPr>
        <p:spPr>
          <a:xfrm>
            <a:off x="3429000" y="1752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/>
          <p:cNvSpPr/>
          <p:nvPr/>
        </p:nvSpPr>
        <p:spPr>
          <a:xfrm>
            <a:off x="2590800" y="1676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/>
          <p:cNvSpPr/>
          <p:nvPr/>
        </p:nvSpPr>
        <p:spPr>
          <a:xfrm>
            <a:off x="3581400" y="1600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/>
          <p:cNvSpPr/>
          <p:nvPr/>
        </p:nvSpPr>
        <p:spPr>
          <a:xfrm>
            <a:off x="6248400" y="2971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/>
          <p:cNvSpPr/>
          <p:nvPr/>
        </p:nvSpPr>
        <p:spPr>
          <a:xfrm>
            <a:off x="5638800" y="2514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/>
          <p:cNvSpPr/>
          <p:nvPr/>
        </p:nvSpPr>
        <p:spPr>
          <a:xfrm>
            <a:off x="4114800" y="1524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/>
          <p:cNvSpPr/>
          <p:nvPr/>
        </p:nvSpPr>
        <p:spPr>
          <a:xfrm>
            <a:off x="2209800" y="2286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/>
          <p:cNvSpPr/>
          <p:nvPr/>
        </p:nvSpPr>
        <p:spPr>
          <a:xfrm>
            <a:off x="3124200" y="2209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/>
          <p:cNvSpPr/>
          <p:nvPr/>
        </p:nvSpPr>
        <p:spPr>
          <a:xfrm>
            <a:off x="3429000" y="2286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/>
          <p:cNvSpPr/>
          <p:nvPr/>
        </p:nvSpPr>
        <p:spPr>
          <a:xfrm>
            <a:off x="2819400" y="1981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/>
          <p:cNvSpPr/>
          <p:nvPr/>
        </p:nvSpPr>
        <p:spPr>
          <a:xfrm>
            <a:off x="3810000" y="1981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/>
          <p:cNvSpPr/>
          <p:nvPr/>
        </p:nvSpPr>
        <p:spPr>
          <a:xfrm>
            <a:off x="5867400" y="2895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/>
          <p:cNvSpPr/>
          <p:nvPr/>
        </p:nvSpPr>
        <p:spPr>
          <a:xfrm>
            <a:off x="5791200" y="1828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/>
          <p:cNvSpPr/>
          <p:nvPr/>
        </p:nvSpPr>
        <p:spPr>
          <a:xfrm>
            <a:off x="4343400" y="1981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/>
          <p:cNvSpPr/>
          <p:nvPr/>
        </p:nvSpPr>
        <p:spPr>
          <a:xfrm>
            <a:off x="2438400" y="1981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/>
          <p:cNvSpPr/>
          <p:nvPr/>
        </p:nvSpPr>
        <p:spPr>
          <a:xfrm>
            <a:off x="3657600" y="2514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/>
          <p:cNvSpPr/>
          <p:nvPr/>
        </p:nvSpPr>
        <p:spPr>
          <a:xfrm>
            <a:off x="3124200" y="2514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/>
          <p:cNvSpPr/>
          <p:nvPr/>
        </p:nvSpPr>
        <p:spPr>
          <a:xfrm>
            <a:off x="2819400" y="2286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/>
          <p:cNvSpPr/>
          <p:nvPr/>
        </p:nvSpPr>
        <p:spPr>
          <a:xfrm>
            <a:off x="3733800" y="2286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/>
          <p:cNvSpPr/>
          <p:nvPr/>
        </p:nvSpPr>
        <p:spPr>
          <a:xfrm>
            <a:off x="5943600" y="2362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/>
          <p:cNvSpPr/>
          <p:nvPr/>
        </p:nvSpPr>
        <p:spPr>
          <a:xfrm>
            <a:off x="5181600" y="3048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/>
          <p:cNvSpPr/>
          <p:nvPr/>
        </p:nvSpPr>
        <p:spPr>
          <a:xfrm>
            <a:off x="4114800" y="2438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/>
          <p:cNvSpPr/>
          <p:nvPr/>
        </p:nvSpPr>
        <p:spPr>
          <a:xfrm>
            <a:off x="22098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/>
          <p:cNvSpPr/>
          <p:nvPr/>
        </p:nvSpPr>
        <p:spPr>
          <a:xfrm>
            <a:off x="3429000" y="4191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/>
          <p:cNvSpPr/>
          <p:nvPr/>
        </p:nvSpPr>
        <p:spPr>
          <a:xfrm>
            <a:off x="28956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/>
          <p:cNvSpPr/>
          <p:nvPr/>
        </p:nvSpPr>
        <p:spPr>
          <a:xfrm>
            <a:off x="2590800" y="2514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/>
          <p:cNvSpPr/>
          <p:nvPr/>
        </p:nvSpPr>
        <p:spPr>
          <a:xfrm>
            <a:off x="3733800" y="2819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/>
          <p:cNvSpPr/>
          <p:nvPr/>
        </p:nvSpPr>
        <p:spPr>
          <a:xfrm>
            <a:off x="67056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/>
          <p:cNvSpPr/>
          <p:nvPr/>
        </p:nvSpPr>
        <p:spPr>
          <a:xfrm>
            <a:off x="5791200" y="3810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/>
          <p:cNvSpPr/>
          <p:nvPr/>
        </p:nvSpPr>
        <p:spPr>
          <a:xfrm>
            <a:off x="4191000" y="2819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/>
          <p:cNvSpPr/>
          <p:nvPr/>
        </p:nvSpPr>
        <p:spPr>
          <a:xfrm>
            <a:off x="2438400" y="2819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/>
          <p:cNvSpPr/>
          <p:nvPr/>
        </p:nvSpPr>
        <p:spPr>
          <a:xfrm>
            <a:off x="3429000" y="2819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/>
          <p:cNvSpPr/>
          <p:nvPr/>
        </p:nvSpPr>
        <p:spPr>
          <a:xfrm>
            <a:off x="3124200" y="2819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/>
          <p:cNvSpPr/>
          <p:nvPr/>
        </p:nvSpPr>
        <p:spPr>
          <a:xfrm>
            <a:off x="3886200" y="3124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119"/>
          <p:cNvSpPr/>
          <p:nvPr/>
        </p:nvSpPr>
        <p:spPr>
          <a:xfrm>
            <a:off x="6400800" y="2133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/>
          <p:cNvSpPr/>
          <p:nvPr/>
        </p:nvSpPr>
        <p:spPr>
          <a:xfrm>
            <a:off x="58674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/>
          <p:cNvSpPr/>
          <p:nvPr/>
        </p:nvSpPr>
        <p:spPr>
          <a:xfrm>
            <a:off x="5943600" y="3352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/>
          <p:cNvSpPr/>
          <p:nvPr/>
        </p:nvSpPr>
        <p:spPr>
          <a:xfrm>
            <a:off x="2438400" y="3429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/>
          <p:cNvSpPr/>
          <p:nvPr/>
        </p:nvSpPr>
        <p:spPr>
          <a:xfrm>
            <a:off x="3276600" y="3124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/>
          <p:cNvSpPr/>
          <p:nvPr/>
        </p:nvSpPr>
        <p:spPr>
          <a:xfrm>
            <a:off x="3200400" y="3429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/>
          <p:cNvSpPr/>
          <p:nvPr/>
        </p:nvSpPr>
        <p:spPr>
          <a:xfrm>
            <a:off x="2819400" y="3200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Oval 126"/>
          <p:cNvSpPr/>
          <p:nvPr/>
        </p:nvSpPr>
        <p:spPr>
          <a:xfrm>
            <a:off x="3733800" y="3505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val 127"/>
          <p:cNvSpPr/>
          <p:nvPr/>
        </p:nvSpPr>
        <p:spPr>
          <a:xfrm>
            <a:off x="61722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/>
          <p:cNvSpPr/>
          <p:nvPr/>
        </p:nvSpPr>
        <p:spPr>
          <a:xfrm>
            <a:off x="6553200" y="3200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/>
          <p:cNvSpPr/>
          <p:nvPr/>
        </p:nvSpPr>
        <p:spPr>
          <a:xfrm>
            <a:off x="3276600" y="5410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Oval 131"/>
          <p:cNvSpPr/>
          <p:nvPr/>
        </p:nvSpPr>
        <p:spPr>
          <a:xfrm>
            <a:off x="4800600" y="5410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/>
          <p:cNvSpPr/>
          <p:nvPr/>
        </p:nvSpPr>
        <p:spPr>
          <a:xfrm>
            <a:off x="3886200" y="5029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/>
          <p:cNvSpPr/>
          <p:nvPr/>
        </p:nvSpPr>
        <p:spPr>
          <a:xfrm>
            <a:off x="5867400" y="5638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val 134"/>
          <p:cNvSpPr/>
          <p:nvPr/>
        </p:nvSpPr>
        <p:spPr>
          <a:xfrm>
            <a:off x="4419600" y="5105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/>
          <p:cNvSpPr/>
          <p:nvPr/>
        </p:nvSpPr>
        <p:spPr>
          <a:xfrm>
            <a:off x="5181600" y="4724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/>
          <p:cNvSpPr/>
          <p:nvPr/>
        </p:nvSpPr>
        <p:spPr>
          <a:xfrm>
            <a:off x="5105400" y="5105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/>
          <p:cNvSpPr/>
          <p:nvPr/>
        </p:nvSpPr>
        <p:spPr>
          <a:xfrm>
            <a:off x="4724400" y="6172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/>
          <p:cNvSpPr/>
          <p:nvPr/>
        </p:nvSpPr>
        <p:spPr>
          <a:xfrm>
            <a:off x="5181600" y="5334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/>
          <p:cNvSpPr/>
          <p:nvPr/>
        </p:nvSpPr>
        <p:spPr>
          <a:xfrm>
            <a:off x="5486400" y="5943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Oval 141"/>
          <p:cNvSpPr/>
          <p:nvPr/>
        </p:nvSpPr>
        <p:spPr>
          <a:xfrm>
            <a:off x="4267200" y="5638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Oval 142"/>
          <p:cNvSpPr/>
          <p:nvPr/>
        </p:nvSpPr>
        <p:spPr>
          <a:xfrm>
            <a:off x="4953000" y="5638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Oval 143"/>
          <p:cNvSpPr/>
          <p:nvPr/>
        </p:nvSpPr>
        <p:spPr>
          <a:xfrm>
            <a:off x="5410200" y="5562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/>
          <p:cNvSpPr/>
          <p:nvPr/>
        </p:nvSpPr>
        <p:spPr>
          <a:xfrm>
            <a:off x="5638800" y="5181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Oval 145"/>
          <p:cNvSpPr/>
          <p:nvPr/>
        </p:nvSpPr>
        <p:spPr>
          <a:xfrm>
            <a:off x="4876800" y="5181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/>
          <p:cNvSpPr/>
          <p:nvPr/>
        </p:nvSpPr>
        <p:spPr>
          <a:xfrm>
            <a:off x="5943600" y="4876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Oval 117"/>
          <p:cNvSpPr/>
          <p:nvPr/>
        </p:nvSpPr>
        <p:spPr>
          <a:xfrm>
            <a:off x="2743200" y="3886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/>
          <p:cNvSpPr/>
          <p:nvPr/>
        </p:nvSpPr>
        <p:spPr>
          <a:xfrm>
            <a:off x="5029200" y="2209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/>
          <p:cNvSpPr/>
          <p:nvPr/>
        </p:nvSpPr>
        <p:spPr>
          <a:xfrm rot="21407003">
            <a:off x="1978867" y="1140656"/>
            <a:ext cx="2768645" cy="3196723"/>
          </a:xfrm>
          <a:prstGeom prst="ellipse">
            <a:avLst/>
          </a:prstGeom>
          <a:noFill/>
          <a:ln w="38100">
            <a:solidFill>
              <a:srgbClr val="CC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/>
          <p:cNvSpPr/>
          <p:nvPr/>
        </p:nvSpPr>
        <p:spPr>
          <a:xfrm rot="223987">
            <a:off x="5102132" y="1776204"/>
            <a:ext cx="1785562" cy="2244747"/>
          </a:xfrm>
          <a:prstGeom prst="ellipse">
            <a:avLst/>
          </a:prstGeom>
          <a:noFill/>
          <a:ln w="38100">
            <a:solidFill>
              <a:srgbClr val="CC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/>
          <p:cNvSpPr/>
          <p:nvPr/>
        </p:nvSpPr>
        <p:spPr>
          <a:xfrm rot="5400000">
            <a:off x="3787430" y="4061170"/>
            <a:ext cx="1797737" cy="2819401"/>
          </a:xfrm>
          <a:prstGeom prst="ellipse">
            <a:avLst/>
          </a:prstGeom>
          <a:noFill/>
          <a:ln w="3810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/>
          <p:cNvSpPr txBox="1"/>
          <p:nvPr/>
        </p:nvSpPr>
        <p:spPr>
          <a:xfrm>
            <a:off x="5867400" y="4267200"/>
            <a:ext cx="1219200" cy="306467"/>
          </a:xfrm>
          <a:prstGeom prst="wedgeRoundRectCallout">
            <a:avLst>
              <a:gd name="adj1" fmla="val -35126"/>
              <a:gd name="adj2" fmla="val 151355"/>
              <a:gd name="adj3" fmla="val 16667"/>
            </a:avLst>
          </a:prstGeom>
          <a:noFill/>
          <a:ln w="38100">
            <a:solidFill>
              <a:schemeClr val="accent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b="1" dirty="0" err="1"/>
              <a:t>centroids</a:t>
            </a:r>
            <a:endParaRPr lang="en-US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6841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500" fill="hold"/>
                                        <p:tgtEl>
                                          <p:spTgt spid="13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" dur="500" fill="hold"/>
                                        <p:tgtEl>
                                          <p:spTgt spid="11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500" fill="hold"/>
                                        <p:tgtEl>
                                          <p:spTgt spid="13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2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34" dur="2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2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50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66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7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8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90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94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9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10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106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11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11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11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2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26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7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30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1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34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38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42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3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46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7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50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1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54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5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58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62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3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66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7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70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74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5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78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9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8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86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90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1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94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5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98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9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02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06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7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10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1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14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7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1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1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22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3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5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26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7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9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30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1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3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34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5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7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38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9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1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42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3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5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46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50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3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54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5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7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58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9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1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62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5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66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7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9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70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1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29325E-6 L 0.03334 -0.12211 " pathEditMode="relative" rAng="0" ptsTypes="AA">
                                      <p:cBhvr>
                                        <p:cTn id="275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0" y="-6100"/>
                                    </p:animMotion>
                                  </p:childTnLst>
                                </p:cTn>
                              </p:par>
                              <p:par>
                                <p:cTn id="276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33333E-6 L 0.03334 0.02223 " pathEditMode="relative" rAng="0" ptsTypes="AA">
                                      <p:cBhvr>
                                        <p:cTn id="277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0" y="1100"/>
                                    </p:animMotion>
                                  </p:childTnLst>
                                </p:cTn>
                              </p:par>
                              <p:par>
                                <p:cTn id="278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2.22222E-6 L -0.08333 0.06667 " pathEditMode="relative" rAng="0" ptsTypes="AA">
                                      <p:cBhvr>
                                        <p:cTn id="279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00" y="3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3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84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5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7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8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9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1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9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96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30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30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30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1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312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5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316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7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9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320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1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3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324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5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35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333 0.06667 L -0.125 0.07778 " pathEditMode="relative" rAng="0" ptsTypes="AA">
                                      <p:cBhvr>
                                        <p:cTn id="329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00" y="600"/>
                                    </p:animMotion>
                                  </p:childTnLst>
                                </p:cTn>
                              </p:par>
                              <p:par>
                                <p:cTn id="330" presetID="63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334 0.02223 L 0.09167 0.06667 " pathEditMode="relative" rAng="0" ptsTypes="AA">
                                      <p:cBhvr>
                                        <p:cTn id="331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00" y="2200"/>
                                    </p:animMotion>
                                  </p:childTnLst>
                                </p:cTn>
                              </p:par>
                              <p:par>
                                <p:cTn id="332" presetID="64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334 -0.12222 L 0.05834 -0.17778 " pathEditMode="relative" rAng="0" ptsTypes="AA">
                                      <p:cBhvr>
                                        <p:cTn id="333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0" y="-2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indefinite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33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1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342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3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8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" grpId="0" animBg="1"/>
      <p:bldP spid="137" grpId="1" animBg="1"/>
      <p:bldP spid="137" grpId="2" animBg="1"/>
      <p:bldP spid="118" grpId="0" animBg="1"/>
      <p:bldP spid="118" grpId="1" animBg="1"/>
      <p:bldP spid="118" grpId="2" animBg="1"/>
      <p:bldP spid="130" grpId="0" animBg="1"/>
      <p:bldP spid="130" grpId="1" animBg="1"/>
      <p:bldP spid="130" grpId="2" animBg="1"/>
      <p:bldP spid="147" grpId="0" animBg="1"/>
      <p:bldP spid="148" grpId="0" animBg="1"/>
      <p:bldP spid="149" grpId="0" animBg="1"/>
      <p:bldP spid="70" grpId="0" animBg="1"/>
      <p:bldP spid="70" grpId="1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296E6-390D-1674-3446-8F6B5A86B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9DC80-6D62-CC64-D12E-AACA31C13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8C03D-0AB1-49B8-C22B-15897583D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4906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5E7D7-C47A-0705-B9F5-51636AC8D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9E2AA-91D5-A89C-D7A8-D5C2C729F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i="1" dirty="0"/>
              <a:t>k</a:t>
            </a:r>
            <a:r>
              <a:rPr lang="en-US" dirty="0"/>
              <a:t>-means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84323-1205-DA78-A246-429A74BCD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r>
              <a:rPr lang="en-US" dirty="0"/>
              <a:t>An EM-like algorithm:</a:t>
            </a:r>
          </a:p>
          <a:p>
            <a:r>
              <a:rPr lang="en-US" dirty="0"/>
              <a:t>Initialize </a:t>
            </a:r>
            <a:r>
              <a:rPr lang="en-US" i="1" dirty="0">
                <a:latin typeface="Times New Roman" pitchFamily="18" charset="0"/>
              </a:rPr>
              <a:t>k</a:t>
            </a:r>
            <a:r>
              <a:rPr lang="en-US" dirty="0"/>
              <a:t> cluster </a:t>
            </a:r>
            <a:r>
              <a:rPr lang="en-US" dirty="0" err="1"/>
              <a:t>centroids</a:t>
            </a:r>
            <a:endParaRPr lang="en-US" dirty="0"/>
          </a:p>
          <a:p>
            <a:r>
              <a:rPr lang="en-US" dirty="0"/>
              <a:t>E-step: associate each data instance with the closest </a:t>
            </a:r>
            <a:r>
              <a:rPr lang="en-US" dirty="0" err="1"/>
              <a:t>centroid</a:t>
            </a:r>
            <a:endParaRPr lang="en-US" dirty="0"/>
          </a:p>
          <a:p>
            <a:r>
              <a:rPr lang="en-US" dirty="0"/>
              <a:t>M-step: recalculate centroids as an average of the associated data instances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F05CC-171F-4934-6BD2-7B14E01B9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477858"/>
      </p:ext>
    </p:extLst>
  </p:cSld>
  <p:clrMapOvr>
    <a:masterClrMapping/>
  </p:clrMapOvr>
  <p:transition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Rectangle 292"/>
          <p:cNvSpPr/>
          <p:nvPr/>
        </p:nvSpPr>
        <p:spPr>
          <a:xfrm>
            <a:off x="1828800" y="1143000"/>
            <a:ext cx="5486400" cy="5486400"/>
          </a:xfrm>
          <a:prstGeom prst="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Parallelizing </a:t>
            </a:r>
            <a:r>
              <a:rPr lang="en-US" i="1" dirty="0"/>
              <a:t>k</a:t>
            </a:r>
            <a:r>
              <a:rPr lang="en-US" dirty="0"/>
              <a:t>-means</a:t>
            </a:r>
          </a:p>
        </p:txBody>
      </p:sp>
      <p:sp>
        <p:nvSpPr>
          <p:cNvPr id="50" name="Oval 49"/>
          <p:cNvSpPr/>
          <p:nvPr/>
        </p:nvSpPr>
        <p:spPr>
          <a:xfrm>
            <a:off x="2362200" y="1600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/>
          <p:cNvSpPr/>
          <p:nvPr/>
        </p:nvSpPr>
        <p:spPr>
          <a:xfrm>
            <a:off x="3429000" y="1752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/>
          <p:cNvSpPr/>
          <p:nvPr/>
        </p:nvSpPr>
        <p:spPr>
          <a:xfrm>
            <a:off x="3048000" y="1828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/>
          <p:cNvSpPr/>
          <p:nvPr/>
        </p:nvSpPr>
        <p:spPr>
          <a:xfrm>
            <a:off x="2819400" y="1524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Oval 295"/>
          <p:cNvSpPr/>
          <p:nvPr/>
        </p:nvSpPr>
        <p:spPr>
          <a:xfrm>
            <a:off x="3581400" y="1600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Oval 296"/>
          <p:cNvSpPr/>
          <p:nvPr/>
        </p:nvSpPr>
        <p:spPr>
          <a:xfrm>
            <a:off x="6248400" y="2971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8" name="Oval 297"/>
          <p:cNvSpPr/>
          <p:nvPr/>
        </p:nvSpPr>
        <p:spPr>
          <a:xfrm>
            <a:off x="5638800" y="2514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Oval 298"/>
          <p:cNvSpPr/>
          <p:nvPr/>
        </p:nvSpPr>
        <p:spPr>
          <a:xfrm>
            <a:off x="4114800" y="1524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" name="Oval 299"/>
          <p:cNvSpPr/>
          <p:nvPr/>
        </p:nvSpPr>
        <p:spPr>
          <a:xfrm>
            <a:off x="2209800" y="2286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Oval 300"/>
          <p:cNvSpPr/>
          <p:nvPr/>
        </p:nvSpPr>
        <p:spPr>
          <a:xfrm>
            <a:off x="3124200" y="2209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2" name="Oval 301"/>
          <p:cNvSpPr/>
          <p:nvPr/>
        </p:nvSpPr>
        <p:spPr>
          <a:xfrm>
            <a:off x="3429000" y="2286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Oval 302"/>
          <p:cNvSpPr/>
          <p:nvPr/>
        </p:nvSpPr>
        <p:spPr>
          <a:xfrm>
            <a:off x="2819400" y="1981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" name="Oval 303"/>
          <p:cNvSpPr/>
          <p:nvPr/>
        </p:nvSpPr>
        <p:spPr>
          <a:xfrm>
            <a:off x="3810000" y="1981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5" name="Oval 304"/>
          <p:cNvSpPr/>
          <p:nvPr/>
        </p:nvSpPr>
        <p:spPr>
          <a:xfrm>
            <a:off x="5867400" y="2895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6" name="Oval 305"/>
          <p:cNvSpPr/>
          <p:nvPr/>
        </p:nvSpPr>
        <p:spPr>
          <a:xfrm>
            <a:off x="5791200" y="1828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" name="Oval 306"/>
          <p:cNvSpPr/>
          <p:nvPr/>
        </p:nvSpPr>
        <p:spPr>
          <a:xfrm>
            <a:off x="4343400" y="1981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" name="Oval 307"/>
          <p:cNvSpPr/>
          <p:nvPr/>
        </p:nvSpPr>
        <p:spPr>
          <a:xfrm>
            <a:off x="2438400" y="1981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" name="Oval 308"/>
          <p:cNvSpPr/>
          <p:nvPr/>
        </p:nvSpPr>
        <p:spPr>
          <a:xfrm>
            <a:off x="3657600" y="2514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" name="Oval 309"/>
          <p:cNvSpPr/>
          <p:nvPr/>
        </p:nvSpPr>
        <p:spPr>
          <a:xfrm>
            <a:off x="3124200" y="2514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Oval 310"/>
          <p:cNvSpPr/>
          <p:nvPr/>
        </p:nvSpPr>
        <p:spPr>
          <a:xfrm>
            <a:off x="2819400" y="2286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Oval 311"/>
          <p:cNvSpPr/>
          <p:nvPr/>
        </p:nvSpPr>
        <p:spPr>
          <a:xfrm>
            <a:off x="3733800" y="2286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" name="Oval 312"/>
          <p:cNvSpPr/>
          <p:nvPr/>
        </p:nvSpPr>
        <p:spPr>
          <a:xfrm>
            <a:off x="5943600" y="2362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4" name="Oval 313"/>
          <p:cNvSpPr/>
          <p:nvPr/>
        </p:nvSpPr>
        <p:spPr>
          <a:xfrm>
            <a:off x="5181600" y="3048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5" name="Oval 314"/>
          <p:cNvSpPr/>
          <p:nvPr/>
        </p:nvSpPr>
        <p:spPr>
          <a:xfrm>
            <a:off x="4114800" y="2438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" name="Oval 315"/>
          <p:cNvSpPr/>
          <p:nvPr/>
        </p:nvSpPr>
        <p:spPr>
          <a:xfrm>
            <a:off x="22098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Oval 316"/>
          <p:cNvSpPr/>
          <p:nvPr/>
        </p:nvSpPr>
        <p:spPr>
          <a:xfrm>
            <a:off x="3429000" y="4191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" name="Oval 317"/>
          <p:cNvSpPr/>
          <p:nvPr/>
        </p:nvSpPr>
        <p:spPr>
          <a:xfrm>
            <a:off x="28956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" name="Oval 318"/>
          <p:cNvSpPr/>
          <p:nvPr/>
        </p:nvSpPr>
        <p:spPr>
          <a:xfrm>
            <a:off x="2590800" y="2514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0" name="Oval 319"/>
          <p:cNvSpPr/>
          <p:nvPr/>
        </p:nvSpPr>
        <p:spPr>
          <a:xfrm>
            <a:off x="3733800" y="2819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" name="Oval 320"/>
          <p:cNvSpPr/>
          <p:nvPr/>
        </p:nvSpPr>
        <p:spPr>
          <a:xfrm>
            <a:off x="67056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" name="Oval 321"/>
          <p:cNvSpPr/>
          <p:nvPr/>
        </p:nvSpPr>
        <p:spPr>
          <a:xfrm>
            <a:off x="5715000" y="3505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3" name="Oval 322"/>
          <p:cNvSpPr/>
          <p:nvPr/>
        </p:nvSpPr>
        <p:spPr>
          <a:xfrm>
            <a:off x="4191000" y="2819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4" name="Oval 323"/>
          <p:cNvSpPr/>
          <p:nvPr/>
        </p:nvSpPr>
        <p:spPr>
          <a:xfrm>
            <a:off x="2438400" y="2819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5" name="Oval 324"/>
          <p:cNvSpPr/>
          <p:nvPr/>
        </p:nvSpPr>
        <p:spPr>
          <a:xfrm>
            <a:off x="3429000" y="2819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" name="Oval 325"/>
          <p:cNvSpPr/>
          <p:nvPr/>
        </p:nvSpPr>
        <p:spPr>
          <a:xfrm>
            <a:off x="3124200" y="2819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" name="Oval 326"/>
          <p:cNvSpPr/>
          <p:nvPr/>
        </p:nvSpPr>
        <p:spPr>
          <a:xfrm>
            <a:off x="2743200" y="3886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8" name="Oval 327"/>
          <p:cNvSpPr/>
          <p:nvPr/>
        </p:nvSpPr>
        <p:spPr>
          <a:xfrm>
            <a:off x="3886200" y="3124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" name="Oval 328"/>
          <p:cNvSpPr/>
          <p:nvPr/>
        </p:nvSpPr>
        <p:spPr>
          <a:xfrm>
            <a:off x="6400800" y="2133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" name="Oval 329"/>
          <p:cNvSpPr/>
          <p:nvPr/>
        </p:nvSpPr>
        <p:spPr>
          <a:xfrm>
            <a:off x="58674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" name="Oval 330"/>
          <p:cNvSpPr/>
          <p:nvPr/>
        </p:nvSpPr>
        <p:spPr>
          <a:xfrm>
            <a:off x="5943600" y="3352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" name="Oval 331"/>
          <p:cNvSpPr/>
          <p:nvPr/>
        </p:nvSpPr>
        <p:spPr>
          <a:xfrm>
            <a:off x="2438400" y="3429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" name="Oval 332"/>
          <p:cNvSpPr/>
          <p:nvPr/>
        </p:nvSpPr>
        <p:spPr>
          <a:xfrm>
            <a:off x="3276600" y="3124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4" name="Oval 333"/>
          <p:cNvSpPr/>
          <p:nvPr/>
        </p:nvSpPr>
        <p:spPr>
          <a:xfrm>
            <a:off x="3200400" y="3429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5" name="Oval 334"/>
          <p:cNvSpPr/>
          <p:nvPr/>
        </p:nvSpPr>
        <p:spPr>
          <a:xfrm>
            <a:off x="2819400" y="3200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6" name="Oval 335"/>
          <p:cNvSpPr/>
          <p:nvPr/>
        </p:nvSpPr>
        <p:spPr>
          <a:xfrm>
            <a:off x="3733800" y="3505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" name="Oval 336"/>
          <p:cNvSpPr/>
          <p:nvPr/>
        </p:nvSpPr>
        <p:spPr>
          <a:xfrm>
            <a:off x="61722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8" name="Oval 337"/>
          <p:cNvSpPr/>
          <p:nvPr/>
        </p:nvSpPr>
        <p:spPr>
          <a:xfrm>
            <a:off x="6553200" y="3276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9" name="Oval 338"/>
          <p:cNvSpPr/>
          <p:nvPr/>
        </p:nvSpPr>
        <p:spPr>
          <a:xfrm>
            <a:off x="5029200" y="2209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0" name="Oval 339"/>
          <p:cNvSpPr/>
          <p:nvPr/>
        </p:nvSpPr>
        <p:spPr>
          <a:xfrm>
            <a:off x="3276600" y="5410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1" name="Oval 340"/>
          <p:cNvSpPr/>
          <p:nvPr/>
        </p:nvSpPr>
        <p:spPr>
          <a:xfrm>
            <a:off x="4800600" y="5410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2" name="Oval 341"/>
          <p:cNvSpPr/>
          <p:nvPr/>
        </p:nvSpPr>
        <p:spPr>
          <a:xfrm>
            <a:off x="3886200" y="5029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3" name="Oval 342"/>
          <p:cNvSpPr/>
          <p:nvPr/>
        </p:nvSpPr>
        <p:spPr>
          <a:xfrm>
            <a:off x="5867400" y="5638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4" name="Oval 343"/>
          <p:cNvSpPr/>
          <p:nvPr/>
        </p:nvSpPr>
        <p:spPr>
          <a:xfrm>
            <a:off x="4419600" y="5105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5" name="Oval 344"/>
          <p:cNvSpPr/>
          <p:nvPr/>
        </p:nvSpPr>
        <p:spPr>
          <a:xfrm>
            <a:off x="5181600" y="4724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6" name="Oval 345"/>
          <p:cNvSpPr/>
          <p:nvPr/>
        </p:nvSpPr>
        <p:spPr>
          <a:xfrm>
            <a:off x="5943600" y="4876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7" name="Oval 346"/>
          <p:cNvSpPr/>
          <p:nvPr/>
        </p:nvSpPr>
        <p:spPr>
          <a:xfrm>
            <a:off x="5105400" y="5105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8" name="Oval 347"/>
          <p:cNvSpPr/>
          <p:nvPr/>
        </p:nvSpPr>
        <p:spPr>
          <a:xfrm>
            <a:off x="4724400" y="6172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9" name="Oval 348"/>
          <p:cNvSpPr/>
          <p:nvPr/>
        </p:nvSpPr>
        <p:spPr>
          <a:xfrm>
            <a:off x="5181600" y="5334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0" name="Oval 349"/>
          <p:cNvSpPr/>
          <p:nvPr/>
        </p:nvSpPr>
        <p:spPr>
          <a:xfrm>
            <a:off x="5486400" y="5943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1" name="Oval 350"/>
          <p:cNvSpPr/>
          <p:nvPr/>
        </p:nvSpPr>
        <p:spPr>
          <a:xfrm>
            <a:off x="4267200" y="5638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2" name="Oval 351"/>
          <p:cNvSpPr/>
          <p:nvPr/>
        </p:nvSpPr>
        <p:spPr>
          <a:xfrm>
            <a:off x="4953000" y="5638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3" name="Oval 352"/>
          <p:cNvSpPr/>
          <p:nvPr/>
        </p:nvSpPr>
        <p:spPr>
          <a:xfrm>
            <a:off x="5410200" y="5562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4" name="Oval 353"/>
          <p:cNvSpPr/>
          <p:nvPr/>
        </p:nvSpPr>
        <p:spPr>
          <a:xfrm>
            <a:off x="5638800" y="5181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5" name="Oval 354"/>
          <p:cNvSpPr/>
          <p:nvPr/>
        </p:nvSpPr>
        <p:spPr>
          <a:xfrm>
            <a:off x="4876800" y="5181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4536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500" fill="hold"/>
                                        <p:tgtEl>
                                          <p:spTgt spid="33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" dur="500" fill="hold"/>
                                        <p:tgtEl>
                                          <p:spTgt spid="32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500" fill="hold"/>
                                        <p:tgtEl>
                                          <p:spTgt spid="34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" grpId="0" animBg="1"/>
      <p:bldP spid="339" grpId="0" animBg="1"/>
      <p:bldP spid="346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1828800" y="1143000"/>
            <a:ext cx="5486400" cy="5486400"/>
            <a:chOff x="1828800" y="1143000"/>
            <a:chExt cx="5486400" cy="5486400"/>
          </a:xfrm>
        </p:grpSpPr>
        <p:sp>
          <p:nvSpPr>
            <p:cNvPr id="91" name="Oval 90"/>
            <p:cNvSpPr/>
            <p:nvPr/>
          </p:nvSpPr>
          <p:spPr>
            <a:xfrm>
              <a:off x="3429000" y="1752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/>
            <p:cNvSpPr/>
            <p:nvPr/>
          </p:nvSpPr>
          <p:spPr>
            <a:xfrm>
              <a:off x="3048000" y="18288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" name="Oval 298"/>
            <p:cNvSpPr/>
            <p:nvPr/>
          </p:nvSpPr>
          <p:spPr>
            <a:xfrm>
              <a:off x="4114800" y="1524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3" name="Oval 302"/>
            <p:cNvSpPr/>
            <p:nvPr/>
          </p:nvSpPr>
          <p:spPr>
            <a:xfrm>
              <a:off x="2819400" y="1981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4" name="Oval 303"/>
            <p:cNvSpPr/>
            <p:nvPr/>
          </p:nvSpPr>
          <p:spPr>
            <a:xfrm>
              <a:off x="3810000" y="1981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" name="Oval 304"/>
            <p:cNvSpPr/>
            <p:nvPr/>
          </p:nvSpPr>
          <p:spPr>
            <a:xfrm>
              <a:off x="5867400" y="2895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" name="Oval 307"/>
            <p:cNvSpPr/>
            <p:nvPr/>
          </p:nvSpPr>
          <p:spPr>
            <a:xfrm>
              <a:off x="2438400" y="1981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" name="Oval 309"/>
            <p:cNvSpPr/>
            <p:nvPr/>
          </p:nvSpPr>
          <p:spPr>
            <a:xfrm>
              <a:off x="3124200" y="2514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" name="Oval 311"/>
            <p:cNvSpPr/>
            <p:nvPr/>
          </p:nvSpPr>
          <p:spPr>
            <a:xfrm>
              <a:off x="3733800" y="2286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" name="Oval 312"/>
            <p:cNvSpPr/>
            <p:nvPr/>
          </p:nvSpPr>
          <p:spPr>
            <a:xfrm>
              <a:off x="5943600" y="2362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" name="Oval 313"/>
            <p:cNvSpPr/>
            <p:nvPr/>
          </p:nvSpPr>
          <p:spPr>
            <a:xfrm>
              <a:off x="5181600" y="3048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Oval 318"/>
            <p:cNvSpPr/>
            <p:nvPr/>
          </p:nvSpPr>
          <p:spPr>
            <a:xfrm>
              <a:off x="2590800" y="2514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0" name="Oval 319"/>
            <p:cNvSpPr/>
            <p:nvPr/>
          </p:nvSpPr>
          <p:spPr>
            <a:xfrm>
              <a:off x="3733800" y="28194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" name="Oval 320"/>
            <p:cNvSpPr/>
            <p:nvPr/>
          </p:nvSpPr>
          <p:spPr>
            <a:xfrm>
              <a:off x="6705600" y="2667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3" name="Oval 322"/>
            <p:cNvSpPr/>
            <p:nvPr/>
          </p:nvSpPr>
          <p:spPr>
            <a:xfrm>
              <a:off x="4191000" y="28194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4" name="Oval 323"/>
            <p:cNvSpPr/>
            <p:nvPr/>
          </p:nvSpPr>
          <p:spPr>
            <a:xfrm>
              <a:off x="2438400" y="28194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6" name="Oval 325"/>
            <p:cNvSpPr/>
            <p:nvPr/>
          </p:nvSpPr>
          <p:spPr>
            <a:xfrm>
              <a:off x="3124200" y="28194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" name="Oval 330"/>
            <p:cNvSpPr/>
            <p:nvPr/>
          </p:nvSpPr>
          <p:spPr>
            <a:xfrm>
              <a:off x="5943600" y="33528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2" name="Oval 331"/>
            <p:cNvSpPr/>
            <p:nvPr/>
          </p:nvSpPr>
          <p:spPr>
            <a:xfrm>
              <a:off x="2438400" y="3429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4" name="Oval 333"/>
            <p:cNvSpPr/>
            <p:nvPr/>
          </p:nvSpPr>
          <p:spPr>
            <a:xfrm>
              <a:off x="3200400" y="3429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" name="Oval 335"/>
            <p:cNvSpPr/>
            <p:nvPr/>
          </p:nvSpPr>
          <p:spPr>
            <a:xfrm>
              <a:off x="3733800" y="3505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" name="Oval 336"/>
            <p:cNvSpPr/>
            <p:nvPr/>
          </p:nvSpPr>
          <p:spPr>
            <a:xfrm>
              <a:off x="6172200" y="2667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" name="Oval 339"/>
            <p:cNvSpPr/>
            <p:nvPr/>
          </p:nvSpPr>
          <p:spPr>
            <a:xfrm>
              <a:off x="3276600" y="5410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1" name="Oval 340"/>
            <p:cNvSpPr/>
            <p:nvPr/>
          </p:nvSpPr>
          <p:spPr>
            <a:xfrm>
              <a:off x="4800600" y="5410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3" name="Oval 342"/>
            <p:cNvSpPr/>
            <p:nvPr/>
          </p:nvSpPr>
          <p:spPr>
            <a:xfrm>
              <a:off x="5867400" y="56388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4" name="Oval 343"/>
            <p:cNvSpPr/>
            <p:nvPr/>
          </p:nvSpPr>
          <p:spPr>
            <a:xfrm>
              <a:off x="4419600" y="51054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" name="Oval 344"/>
            <p:cNvSpPr/>
            <p:nvPr/>
          </p:nvSpPr>
          <p:spPr>
            <a:xfrm>
              <a:off x="5181600" y="47244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9" name="Oval 348"/>
            <p:cNvSpPr/>
            <p:nvPr/>
          </p:nvSpPr>
          <p:spPr>
            <a:xfrm>
              <a:off x="5181600" y="5334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0" name="Oval 349"/>
            <p:cNvSpPr/>
            <p:nvPr/>
          </p:nvSpPr>
          <p:spPr>
            <a:xfrm>
              <a:off x="5486400" y="5943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" name="Oval 350"/>
            <p:cNvSpPr/>
            <p:nvPr/>
          </p:nvSpPr>
          <p:spPr>
            <a:xfrm>
              <a:off x="4267200" y="56388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1828800" y="1143000"/>
              <a:ext cx="5486400" cy="5486400"/>
            </a:xfrm>
            <a:prstGeom prst="rect">
              <a:avLst/>
            </a:prstGeom>
            <a:noFill/>
            <a:ln w="381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/>
            <p:cNvSpPr/>
            <p:nvPr/>
          </p:nvSpPr>
          <p:spPr>
            <a:xfrm>
              <a:off x="2703489" y="384904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>
            <a:xfrm>
              <a:off x="4992392" y="2185491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/>
            <p:cNvSpPr/>
            <p:nvPr/>
          </p:nvSpPr>
          <p:spPr>
            <a:xfrm>
              <a:off x="5906792" y="4869783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Parallelizing </a:t>
            </a:r>
            <a:r>
              <a:rPr lang="en-US" i="1" dirty="0"/>
              <a:t>k</a:t>
            </a:r>
            <a:r>
              <a:rPr lang="en-US" dirty="0"/>
              <a:t>-means</a:t>
            </a:r>
          </a:p>
        </p:txBody>
      </p:sp>
      <p:grpSp>
        <p:nvGrpSpPr>
          <p:cNvPr id="76" name="Group 75"/>
          <p:cNvGrpSpPr/>
          <p:nvPr/>
        </p:nvGrpSpPr>
        <p:grpSpPr>
          <a:xfrm>
            <a:off x="1828800" y="1143000"/>
            <a:ext cx="5486400" cy="5486400"/>
            <a:chOff x="1828800" y="1143000"/>
            <a:chExt cx="5486400" cy="5486400"/>
          </a:xfrm>
        </p:grpSpPr>
        <p:sp>
          <p:nvSpPr>
            <p:cNvPr id="293" name="Rectangle 292"/>
            <p:cNvSpPr/>
            <p:nvPr/>
          </p:nvSpPr>
          <p:spPr>
            <a:xfrm>
              <a:off x="1828800" y="1143000"/>
              <a:ext cx="5486400" cy="5486400"/>
            </a:xfrm>
            <a:prstGeom prst="rect">
              <a:avLst/>
            </a:prstGeom>
            <a:noFill/>
            <a:ln w="381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/>
            <p:cNvSpPr/>
            <p:nvPr/>
          </p:nvSpPr>
          <p:spPr>
            <a:xfrm>
              <a:off x="2362200" y="1600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/>
            <p:cNvSpPr/>
            <p:nvPr/>
          </p:nvSpPr>
          <p:spPr>
            <a:xfrm>
              <a:off x="2819400" y="1524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Oval 295"/>
            <p:cNvSpPr/>
            <p:nvPr/>
          </p:nvSpPr>
          <p:spPr>
            <a:xfrm>
              <a:off x="3581400" y="1600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Oval 296"/>
            <p:cNvSpPr/>
            <p:nvPr/>
          </p:nvSpPr>
          <p:spPr>
            <a:xfrm>
              <a:off x="6248400" y="29718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" name="Oval 297"/>
            <p:cNvSpPr/>
            <p:nvPr/>
          </p:nvSpPr>
          <p:spPr>
            <a:xfrm>
              <a:off x="5638800" y="2514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" name="Oval 299"/>
            <p:cNvSpPr/>
            <p:nvPr/>
          </p:nvSpPr>
          <p:spPr>
            <a:xfrm>
              <a:off x="2209800" y="2286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" name="Oval 300"/>
            <p:cNvSpPr/>
            <p:nvPr/>
          </p:nvSpPr>
          <p:spPr>
            <a:xfrm>
              <a:off x="3124200" y="22098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" name="Oval 301"/>
            <p:cNvSpPr/>
            <p:nvPr/>
          </p:nvSpPr>
          <p:spPr>
            <a:xfrm>
              <a:off x="3429000" y="2286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" name="Oval 305"/>
            <p:cNvSpPr/>
            <p:nvPr/>
          </p:nvSpPr>
          <p:spPr>
            <a:xfrm>
              <a:off x="5791200" y="18288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" name="Oval 306"/>
            <p:cNvSpPr/>
            <p:nvPr/>
          </p:nvSpPr>
          <p:spPr>
            <a:xfrm>
              <a:off x="4343400" y="1981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" name="Oval 308"/>
            <p:cNvSpPr/>
            <p:nvPr/>
          </p:nvSpPr>
          <p:spPr>
            <a:xfrm>
              <a:off x="3657600" y="2514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" name="Oval 310"/>
            <p:cNvSpPr/>
            <p:nvPr/>
          </p:nvSpPr>
          <p:spPr>
            <a:xfrm>
              <a:off x="2819400" y="2286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5" name="Oval 314"/>
            <p:cNvSpPr/>
            <p:nvPr/>
          </p:nvSpPr>
          <p:spPr>
            <a:xfrm>
              <a:off x="4114800" y="24384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" name="Oval 315"/>
            <p:cNvSpPr/>
            <p:nvPr/>
          </p:nvSpPr>
          <p:spPr>
            <a:xfrm>
              <a:off x="2209800" y="2667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7" name="Oval 316"/>
            <p:cNvSpPr/>
            <p:nvPr/>
          </p:nvSpPr>
          <p:spPr>
            <a:xfrm>
              <a:off x="3429000" y="4191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8" name="Oval 317"/>
            <p:cNvSpPr/>
            <p:nvPr/>
          </p:nvSpPr>
          <p:spPr>
            <a:xfrm>
              <a:off x="2895600" y="2667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" name="Oval 321"/>
            <p:cNvSpPr/>
            <p:nvPr/>
          </p:nvSpPr>
          <p:spPr>
            <a:xfrm>
              <a:off x="5715000" y="3505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" name="Oval 324"/>
            <p:cNvSpPr/>
            <p:nvPr/>
          </p:nvSpPr>
          <p:spPr>
            <a:xfrm>
              <a:off x="3429000" y="28194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7" name="Oval 326"/>
            <p:cNvSpPr/>
            <p:nvPr/>
          </p:nvSpPr>
          <p:spPr>
            <a:xfrm>
              <a:off x="2705461" y="3845558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8" name="Oval 327"/>
            <p:cNvSpPr/>
            <p:nvPr/>
          </p:nvSpPr>
          <p:spPr>
            <a:xfrm>
              <a:off x="3886200" y="3124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9" name="Oval 328"/>
            <p:cNvSpPr/>
            <p:nvPr/>
          </p:nvSpPr>
          <p:spPr>
            <a:xfrm>
              <a:off x="6400800" y="2133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0" name="Oval 329"/>
            <p:cNvSpPr/>
            <p:nvPr/>
          </p:nvSpPr>
          <p:spPr>
            <a:xfrm>
              <a:off x="5867400" y="2667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" name="Oval 332"/>
            <p:cNvSpPr/>
            <p:nvPr/>
          </p:nvSpPr>
          <p:spPr>
            <a:xfrm>
              <a:off x="3276600" y="3124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" name="Oval 334"/>
            <p:cNvSpPr/>
            <p:nvPr/>
          </p:nvSpPr>
          <p:spPr>
            <a:xfrm>
              <a:off x="2819400" y="32004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" name="Oval 337"/>
            <p:cNvSpPr/>
            <p:nvPr/>
          </p:nvSpPr>
          <p:spPr>
            <a:xfrm>
              <a:off x="6553200" y="3276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" name="Oval 338"/>
            <p:cNvSpPr/>
            <p:nvPr/>
          </p:nvSpPr>
          <p:spPr>
            <a:xfrm>
              <a:off x="4994364" y="2182009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" name="Oval 341"/>
            <p:cNvSpPr/>
            <p:nvPr/>
          </p:nvSpPr>
          <p:spPr>
            <a:xfrm>
              <a:off x="3886200" y="5029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6" name="Oval 345"/>
            <p:cNvSpPr/>
            <p:nvPr/>
          </p:nvSpPr>
          <p:spPr>
            <a:xfrm>
              <a:off x="5908764" y="4854871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7" name="Oval 346"/>
            <p:cNvSpPr/>
            <p:nvPr/>
          </p:nvSpPr>
          <p:spPr>
            <a:xfrm>
              <a:off x="5105400" y="51054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8" name="Oval 347"/>
            <p:cNvSpPr/>
            <p:nvPr/>
          </p:nvSpPr>
          <p:spPr>
            <a:xfrm>
              <a:off x="4724400" y="6172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" name="Oval 351"/>
            <p:cNvSpPr/>
            <p:nvPr/>
          </p:nvSpPr>
          <p:spPr>
            <a:xfrm>
              <a:off x="4953000" y="56388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3" name="Oval 352"/>
            <p:cNvSpPr/>
            <p:nvPr/>
          </p:nvSpPr>
          <p:spPr>
            <a:xfrm>
              <a:off x="5410200" y="5562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4" name="Oval 353"/>
            <p:cNvSpPr/>
            <p:nvPr/>
          </p:nvSpPr>
          <p:spPr>
            <a:xfrm>
              <a:off x="5638800" y="5181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5" name="Oval 354"/>
            <p:cNvSpPr/>
            <p:nvPr/>
          </p:nvSpPr>
          <p:spPr>
            <a:xfrm>
              <a:off x="4876800" y="5181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5249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" fill="hold"/>
                                        <p:tgtEl>
                                          <p:spTgt spid="76"/>
                                        </p:tgtEl>
                                      </p:cBhvr>
                                      <p:by x="66000" y="66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500" fill="hold"/>
                                        <p:tgtEl>
                                          <p:spTgt spid="75"/>
                                        </p:tgtEl>
                                      </p:cBhvr>
                                      <p:by x="66000" y="66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1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Oval 90"/>
          <p:cNvSpPr/>
          <p:nvPr/>
        </p:nvSpPr>
        <p:spPr>
          <a:xfrm>
            <a:off x="1526211" y="2472615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/>
          <p:cNvSpPr/>
          <p:nvPr/>
        </p:nvSpPr>
        <p:spPr>
          <a:xfrm>
            <a:off x="1274751" y="2522907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Oval 298"/>
          <p:cNvSpPr/>
          <p:nvPr/>
        </p:nvSpPr>
        <p:spPr>
          <a:xfrm>
            <a:off x="1978839" y="2321739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Oval 302"/>
          <p:cNvSpPr/>
          <p:nvPr/>
        </p:nvSpPr>
        <p:spPr>
          <a:xfrm>
            <a:off x="1123875" y="2623491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" name="Oval 303"/>
          <p:cNvSpPr/>
          <p:nvPr/>
        </p:nvSpPr>
        <p:spPr>
          <a:xfrm>
            <a:off x="1777671" y="2623491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5" name="Oval 304"/>
          <p:cNvSpPr/>
          <p:nvPr/>
        </p:nvSpPr>
        <p:spPr>
          <a:xfrm>
            <a:off x="3135555" y="3226995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" name="Oval 307"/>
          <p:cNvSpPr/>
          <p:nvPr/>
        </p:nvSpPr>
        <p:spPr>
          <a:xfrm>
            <a:off x="872415" y="2623491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" name="Oval 309"/>
          <p:cNvSpPr/>
          <p:nvPr/>
        </p:nvSpPr>
        <p:spPr>
          <a:xfrm>
            <a:off x="1325043" y="2975535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Oval 311"/>
          <p:cNvSpPr/>
          <p:nvPr/>
        </p:nvSpPr>
        <p:spPr>
          <a:xfrm>
            <a:off x="1727379" y="2824659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" name="Oval 312"/>
          <p:cNvSpPr/>
          <p:nvPr/>
        </p:nvSpPr>
        <p:spPr>
          <a:xfrm>
            <a:off x="3185847" y="2874951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4" name="Oval 313"/>
          <p:cNvSpPr/>
          <p:nvPr/>
        </p:nvSpPr>
        <p:spPr>
          <a:xfrm>
            <a:off x="2682927" y="3327579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" name="Oval 318"/>
          <p:cNvSpPr/>
          <p:nvPr/>
        </p:nvSpPr>
        <p:spPr>
          <a:xfrm>
            <a:off x="972999" y="2975535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0" name="Oval 319"/>
          <p:cNvSpPr/>
          <p:nvPr/>
        </p:nvSpPr>
        <p:spPr>
          <a:xfrm>
            <a:off x="1727379" y="3176703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" name="Oval 320"/>
          <p:cNvSpPr/>
          <p:nvPr/>
        </p:nvSpPr>
        <p:spPr>
          <a:xfrm>
            <a:off x="3688767" y="3076119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3" name="Oval 322"/>
          <p:cNvSpPr/>
          <p:nvPr/>
        </p:nvSpPr>
        <p:spPr>
          <a:xfrm>
            <a:off x="2029131" y="3176703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4" name="Oval 323"/>
          <p:cNvSpPr/>
          <p:nvPr/>
        </p:nvSpPr>
        <p:spPr>
          <a:xfrm>
            <a:off x="872415" y="3176703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" name="Oval 325"/>
          <p:cNvSpPr/>
          <p:nvPr/>
        </p:nvSpPr>
        <p:spPr>
          <a:xfrm>
            <a:off x="1325043" y="3176703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" name="Oval 330"/>
          <p:cNvSpPr/>
          <p:nvPr/>
        </p:nvSpPr>
        <p:spPr>
          <a:xfrm>
            <a:off x="3185847" y="3528747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" name="Oval 331"/>
          <p:cNvSpPr/>
          <p:nvPr/>
        </p:nvSpPr>
        <p:spPr>
          <a:xfrm>
            <a:off x="872415" y="3579039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4" name="Oval 333"/>
          <p:cNvSpPr/>
          <p:nvPr/>
        </p:nvSpPr>
        <p:spPr>
          <a:xfrm>
            <a:off x="1375335" y="3579039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6" name="Oval 335"/>
          <p:cNvSpPr/>
          <p:nvPr/>
        </p:nvSpPr>
        <p:spPr>
          <a:xfrm>
            <a:off x="1727379" y="3629331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" name="Oval 336"/>
          <p:cNvSpPr/>
          <p:nvPr/>
        </p:nvSpPr>
        <p:spPr>
          <a:xfrm>
            <a:off x="3336723" y="3076119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0" name="Oval 339"/>
          <p:cNvSpPr/>
          <p:nvPr/>
        </p:nvSpPr>
        <p:spPr>
          <a:xfrm>
            <a:off x="1425627" y="4886631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1" name="Oval 340"/>
          <p:cNvSpPr/>
          <p:nvPr/>
        </p:nvSpPr>
        <p:spPr>
          <a:xfrm>
            <a:off x="2431467" y="4886631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3" name="Oval 342"/>
          <p:cNvSpPr/>
          <p:nvPr/>
        </p:nvSpPr>
        <p:spPr>
          <a:xfrm>
            <a:off x="3135555" y="5037507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4" name="Oval 343"/>
          <p:cNvSpPr/>
          <p:nvPr/>
        </p:nvSpPr>
        <p:spPr>
          <a:xfrm>
            <a:off x="2180007" y="4685463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5" name="Oval 344"/>
          <p:cNvSpPr/>
          <p:nvPr/>
        </p:nvSpPr>
        <p:spPr>
          <a:xfrm>
            <a:off x="2682927" y="4434003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9" name="Oval 348"/>
          <p:cNvSpPr/>
          <p:nvPr/>
        </p:nvSpPr>
        <p:spPr>
          <a:xfrm>
            <a:off x="2682927" y="4836339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0" name="Oval 349"/>
          <p:cNvSpPr/>
          <p:nvPr/>
        </p:nvSpPr>
        <p:spPr>
          <a:xfrm>
            <a:off x="2884095" y="5238675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1" name="Oval 350"/>
          <p:cNvSpPr/>
          <p:nvPr/>
        </p:nvSpPr>
        <p:spPr>
          <a:xfrm>
            <a:off x="2079423" y="5037507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70079" y="2070279"/>
            <a:ext cx="3621024" cy="3621024"/>
          </a:xfrm>
          <a:prstGeom prst="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1047374" y="3856265"/>
            <a:ext cx="150876" cy="1508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/>
          <p:cNvSpPr/>
          <p:nvPr/>
        </p:nvSpPr>
        <p:spPr>
          <a:xfrm>
            <a:off x="2558050" y="2758323"/>
            <a:ext cx="150876" cy="1508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3161554" y="4529956"/>
            <a:ext cx="150876" cy="1508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Parallelizing </a:t>
            </a:r>
            <a:r>
              <a:rPr lang="en-US" i="1" dirty="0"/>
              <a:t>k</a:t>
            </a:r>
            <a:r>
              <a:rPr lang="en-US" dirty="0"/>
              <a:t>-means</a:t>
            </a:r>
          </a:p>
        </p:txBody>
      </p:sp>
      <p:sp>
        <p:nvSpPr>
          <p:cNvPr id="293" name="Rectangle 292"/>
          <p:cNvSpPr/>
          <p:nvPr/>
        </p:nvSpPr>
        <p:spPr>
          <a:xfrm>
            <a:off x="5041005" y="2066544"/>
            <a:ext cx="3621024" cy="3621024"/>
          </a:xfrm>
          <a:prstGeom prst="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5393049" y="2368296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/>
          <p:cNvSpPr/>
          <p:nvPr/>
        </p:nvSpPr>
        <p:spPr>
          <a:xfrm>
            <a:off x="5694801" y="2318004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Oval 295"/>
          <p:cNvSpPr/>
          <p:nvPr/>
        </p:nvSpPr>
        <p:spPr>
          <a:xfrm>
            <a:off x="6197721" y="2368296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Oval 296"/>
          <p:cNvSpPr/>
          <p:nvPr/>
        </p:nvSpPr>
        <p:spPr>
          <a:xfrm>
            <a:off x="7957941" y="3273552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8" name="Oval 297"/>
          <p:cNvSpPr/>
          <p:nvPr/>
        </p:nvSpPr>
        <p:spPr>
          <a:xfrm>
            <a:off x="7555605" y="2971800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" name="Oval 299"/>
          <p:cNvSpPr/>
          <p:nvPr/>
        </p:nvSpPr>
        <p:spPr>
          <a:xfrm>
            <a:off x="5292465" y="2820924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Oval 300"/>
          <p:cNvSpPr/>
          <p:nvPr/>
        </p:nvSpPr>
        <p:spPr>
          <a:xfrm>
            <a:off x="5895969" y="2770632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2" name="Oval 301"/>
          <p:cNvSpPr/>
          <p:nvPr/>
        </p:nvSpPr>
        <p:spPr>
          <a:xfrm>
            <a:off x="6097137" y="2820924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6" name="Oval 305"/>
          <p:cNvSpPr/>
          <p:nvPr/>
        </p:nvSpPr>
        <p:spPr>
          <a:xfrm>
            <a:off x="7656189" y="2519172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" name="Oval 306"/>
          <p:cNvSpPr/>
          <p:nvPr/>
        </p:nvSpPr>
        <p:spPr>
          <a:xfrm>
            <a:off x="6700641" y="2619756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" name="Oval 308"/>
          <p:cNvSpPr/>
          <p:nvPr/>
        </p:nvSpPr>
        <p:spPr>
          <a:xfrm>
            <a:off x="6248013" y="2971800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Oval 310"/>
          <p:cNvSpPr/>
          <p:nvPr/>
        </p:nvSpPr>
        <p:spPr>
          <a:xfrm>
            <a:off x="5694801" y="2820924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5" name="Oval 314"/>
          <p:cNvSpPr/>
          <p:nvPr/>
        </p:nvSpPr>
        <p:spPr>
          <a:xfrm>
            <a:off x="6549765" y="2921508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" name="Oval 315"/>
          <p:cNvSpPr/>
          <p:nvPr/>
        </p:nvSpPr>
        <p:spPr>
          <a:xfrm>
            <a:off x="5292465" y="3072384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Oval 316"/>
          <p:cNvSpPr/>
          <p:nvPr/>
        </p:nvSpPr>
        <p:spPr>
          <a:xfrm>
            <a:off x="6097137" y="4078224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" name="Oval 317"/>
          <p:cNvSpPr/>
          <p:nvPr/>
        </p:nvSpPr>
        <p:spPr>
          <a:xfrm>
            <a:off x="5745093" y="3072384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" name="Oval 321"/>
          <p:cNvSpPr/>
          <p:nvPr/>
        </p:nvSpPr>
        <p:spPr>
          <a:xfrm>
            <a:off x="7605897" y="3625596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5" name="Oval 324"/>
          <p:cNvSpPr/>
          <p:nvPr/>
        </p:nvSpPr>
        <p:spPr>
          <a:xfrm>
            <a:off x="6097137" y="3172968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" name="Oval 326"/>
          <p:cNvSpPr/>
          <p:nvPr/>
        </p:nvSpPr>
        <p:spPr>
          <a:xfrm>
            <a:off x="5619601" y="3850232"/>
            <a:ext cx="150876" cy="1508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8" name="Oval 327"/>
          <p:cNvSpPr/>
          <p:nvPr/>
        </p:nvSpPr>
        <p:spPr>
          <a:xfrm>
            <a:off x="6398889" y="3374136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" name="Oval 328"/>
          <p:cNvSpPr/>
          <p:nvPr/>
        </p:nvSpPr>
        <p:spPr>
          <a:xfrm>
            <a:off x="8058525" y="2720340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" name="Oval 329"/>
          <p:cNvSpPr/>
          <p:nvPr/>
        </p:nvSpPr>
        <p:spPr>
          <a:xfrm>
            <a:off x="7706481" y="3072384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" name="Oval 332"/>
          <p:cNvSpPr/>
          <p:nvPr/>
        </p:nvSpPr>
        <p:spPr>
          <a:xfrm>
            <a:off x="5996553" y="3374136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5" name="Oval 334"/>
          <p:cNvSpPr/>
          <p:nvPr/>
        </p:nvSpPr>
        <p:spPr>
          <a:xfrm>
            <a:off x="5694801" y="3424428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8" name="Oval 337"/>
          <p:cNvSpPr/>
          <p:nvPr/>
        </p:nvSpPr>
        <p:spPr>
          <a:xfrm>
            <a:off x="8159109" y="3474720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9" name="Oval 338"/>
          <p:cNvSpPr/>
          <p:nvPr/>
        </p:nvSpPr>
        <p:spPr>
          <a:xfrm>
            <a:off x="7130277" y="2752290"/>
            <a:ext cx="150876" cy="1508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2" name="Oval 341"/>
          <p:cNvSpPr/>
          <p:nvPr/>
        </p:nvSpPr>
        <p:spPr>
          <a:xfrm>
            <a:off x="6398889" y="4631436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6" name="Oval 345"/>
          <p:cNvSpPr/>
          <p:nvPr/>
        </p:nvSpPr>
        <p:spPr>
          <a:xfrm>
            <a:off x="7733781" y="4516379"/>
            <a:ext cx="150876" cy="1508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7" name="Oval 346"/>
          <p:cNvSpPr/>
          <p:nvPr/>
        </p:nvSpPr>
        <p:spPr>
          <a:xfrm>
            <a:off x="7203561" y="4681728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8" name="Oval 347"/>
          <p:cNvSpPr/>
          <p:nvPr/>
        </p:nvSpPr>
        <p:spPr>
          <a:xfrm>
            <a:off x="6952101" y="5385816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2" name="Oval 351"/>
          <p:cNvSpPr/>
          <p:nvPr/>
        </p:nvSpPr>
        <p:spPr>
          <a:xfrm>
            <a:off x="7102977" y="5033772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3" name="Oval 352"/>
          <p:cNvSpPr/>
          <p:nvPr/>
        </p:nvSpPr>
        <p:spPr>
          <a:xfrm>
            <a:off x="7404729" y="4983480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4" name="Oval 353"/>
          <p:cNvSpPr/>
          <p:nvPr/>
        </p:nvSpPr>
        <p:spPr>
          <a:xfrm>
            <a:off x="7555605" y="4732020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5" name="Oval 354"/>
          <p:cNvSpPr/>
          <p:nvPr/>
        </p:nvSpPr>
        <p:spPr>
          <a:xfrm>
            <a:off x="7052685" y="4732020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1828800" y="1143000"/>
            <a:ext cx="5486400" cy="54864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2" name="Group 91"/>
          <p:cNvGrpSpPr/>
          <p:nvPr/>
        </p:nvGrpSpPr>
        <p:grpSpPr>
          <a:xfrm>
            <a:off x="5039949" y="2065488"/>
            <a:ext cx="3621024" cy="3621024"/>
            <a:chOff x="5039949" y="2065488"/>
            <a:chExt cx="3621024" cy="3621024"/>
          </a:xfrm>
        </p:grpSpPr>
        <p:sp>
          <p:nvSpPr>
            <p:cNvPr id="83" name="Oval 82"/>
            <p:cNvSpPr/>
            <p:nvPr/>
          </p:nvSpPr>
          <p:spPr>
            <a:xfrm>
              <a:off x="5826126" y="3218956"/>
              <a:ext cx="150876" cy="15087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/>
            <p:cNvSpPr/>
            <p:nvPr/>
          </p:nvSpPr>
          <p:spPr>
            <a:xfrm>
              <a:off x="7222238" y="4854857"/>
              <a:ext cx="150876" cy="15087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/>
            <p:cNvSpPr/>
            <p:nvPr/>
          </p:nvSpPr>
          <p:spPr>
            <a:xfrm>
              <a:off x="7310694" y="2967442"/>
              <a:ext cx="150876" cy="15087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5039949" y="2065488"/>
              <a:ext cx="3621024" cy="3621024"/>
            </a:xfrm>
            <a:prstGeom prst="rect">
              <a:avLst/>
            </a:prstGeom>
            <a:noFill/>
            <a:ln w="381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472220" y="2069223"/>
            <a:ext cx="3621024" cy="3621024"/>
            <a:chOff x="472220" y="2069223"/>
            <a:chExt cx="3621024" cy="3621024"/>
          </a:xfrm>
        </p:grpSpPr>
        <p:sp>
          <p:nvSpPr>
            <p:cNvPr id="79" name="Oval 78"/>
            <p:cNvSpPr/>
            <p:nvPr/>
          </p:nvSpPr>
          <p:spPr>
            <a:xfrm>
              <a:off x="1231746" y="3340449"/>
              <a:ext cx="150876" cy="15087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/>
            <p:cNvSpPr/>
            <p:nvPr/>
          </p:nvSpPr>
          <p:spPr>
            <a:xfrm>
              <a:off x="2477589" y="2968508"/>
              <a:ext cx="150876" cy="15087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/>
            <p:cNvSpPr/>
            <p:nvPr/>
          </p:nvSpPr>
          <p:spPr>
            <a:xfrm>
              <a:off x="2556454" y="4904947"/>
              <a:ext cx="150876" cy="15087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472220" y="2069223"/>
              <a:ext cx="3621024" cy="3621024"/>
            </a:xfrm>
            <a:prstGeom prst="rect">
              <a:avLst/>
            </a:prstGeom>
            <a:noFill/>
            <a:ln w="381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Oval 93"/>
          <p:cNvSpPr/>
          <p:nvPr/>
        </p:nvSpPr>
        <p:spPr>
          <a:xfrm>
            <a:off x="3001677" y="2969794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/>
          <p:cNvSpPr/>
          <p:nvPr/>
        </p:nvSpPr>
        <p:spPr>
          <a:xfrm>
            <a:off x="5058759" y="2503984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/>
          <p:cNvSpPr/>
          <p:nvPr/>
        </p:nvSpPr>
        <p:spPr>
          <a:xfrm>
            <a:off x="5058757" y="5370025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3453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5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5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5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5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5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5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5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5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5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" dur="5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5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67" dur="5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5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5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5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" dur="5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75" dur="5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500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79" dur="500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500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50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50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87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5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91" dur="5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" dur="50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95" dur="50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5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99" dur="5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5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5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03" dur="5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5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500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07" dur="500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" dur="500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" dur="500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11" dur="500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" dur="500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5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15" dur="5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5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500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19" dur="500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" dur="500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23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27" dur="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5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31" dur="5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2" dur="5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" dur="5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35" dur="5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6" dur="5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5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39" dur="5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5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43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4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47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8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5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51" dur="5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5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5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55" dur="5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6" dur="5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" dur="500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59" dur="500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0" dur="500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63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5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67" dur="5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8" dur="5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" dur="5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71" dur="5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2" dur="5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175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5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179" dur="5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0" dur="5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" dur="5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183" dur="5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4" dur="5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187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19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4" dur="5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195" dur="5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6" dur="5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5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199" dur="5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5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" dur="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203" dur="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4" dur="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6" dur="50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207" dur="50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8" dur="50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5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211" dur="5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" dur="5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" dur="5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215" dur="5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6" dur="5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8" dur="5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219" dur="5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0" dur="5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5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223" dur="5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5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6" dur="500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27" dur="500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8" dur="500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0" dur="5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31" dur="5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2" dur="5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50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35" dur="50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50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8" dur="50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39" dur="50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0" dur="50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2" dur="500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43" dur="500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4" dur="500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5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47" dur="5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" dur="5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2.22222E-6 L 0.02309 -0.0919 " pathEditMode="relative" rAng="0" ptsTypes="AA">
                                      <p:cBhvr>
                                        <p:cTn id="252" dur="5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00" y="-4600"/>
                                    </p:animMotion>
                                  </p:childTnLst>
                                </p:cTn>
                              </p:par>
                              <p:par>
                                <p:cTn id="253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1.48148E-6 L 0.02049 0.0331 " pathEditMode="relative" rAng="0" ptsTypes="AA">
                                      <p:cBhvr>
                                        <p:cTn id="254" dur="5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0" y="1600"/>
                                    </p:animMotion>
                                  </p:childTnLst>
                                </p:cTn>
                              </p:par>
                              <p:par>
                                <p:cTn id="25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4.44444E-6 L -0.05677 0.05139 " pathEditMode="relative" rAng="0" ptsTypes="AA">
                                      <p:cBhvr>
                                        <p:cTn id="256" dur="5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00" y="2600"/>
                                    </p:animMotion>
                                  </p:childTnLst>
                                </p:cTn>
                              </p:par>
                              <p:par>
                                <p:cTn id="25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1.85185E-6 L 0.02101 -0.07593 " pathEditMode="relative" rAng="0" ptsTypes="AA">
                                      <p:cBhvr>
                                        <p:cTn id="25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0" y="-3800"/>
                                    </p:animMotion>
                                  </p:childTnLst>
                                </p:cTn>
                              </p:par>
                              <p:par>
                                <p:cTn id="25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4.44444E-6 L -0.00851 0.03195 " pathEditMode="relative" rAng="0" ptsTypes="AA">
                                      <p:cBhvr>
                                        <p:cTn id="26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0" y="1600"/>
                                    </p:animMotion>
                                  </p:childTnLst>
                                </p:cTn>
                              </p:par>
                              <p:par>
                                <p:cTn id="26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2.22222E-6 L -0.06684 0.05555 " pathEditMode="relative" rAng="0" ptsTypes="AA">
                                      <p:cBhvr>
                                        <p:cTn id="26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00" y="2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270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27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4" dur="500" fill="hold"/>
                                        <p:tgtEl>
                                          <p:spTgt spid="9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7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6" dur="500" fill="hold"/>
                                        <p:tgtEl>
                                          <p:spTgt spid="9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500"/>
                            </p:stCondLst>
                            <p:childTnLst>
                              <p:par>
                                <p:cTn id="2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2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5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3" grpId="0" animBg="1"/>
      <p:bldP spid="74" grpId="0" animBg="1"/>
      <p:bldP spid="327" grpId="0" animBg="1"/>
      <p:bldP spid="339" grpId="0" animBg="1"/>
      <p:bldP spid="346" grpId="0" animBg="1"/>
      <p:bldP spid="93" grpId="0" animBg="1"/>
      <p:bldP spid="94" grpId="0" animBg="1"/>
      <p:bldP spid="95" grpId="0" animBg="1"/>
      <p:bldP spid="96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k</a:t>
            </a:r>
            <a:r>
              <a:rPr lang="en-US" dirty="0"/>
              <a:t>-means on </a:t>
            </a:r>
            <a:r>
              <a:rPr lang="en-US" dirty="0" err="1"/>
              <a:t>MapReduce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390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Mappers read data partitions + centroids</a:t>
            </a:r>
          </a:p>
          <a:p>
            <a:r>
              <a:rPr lang="en-US" dirty="0" err="1"/>
              <a:t>Mappers</a:t>
            </a:r>
            <a:r>
              <a:rPr lang="en-US" dirty="0"/>
              <a:t> </a:t>
            </a:r>
            <a:r>
              <a:rPr lang="en-US" b="1" dirty="0"/>
              <a:t>assign data instances </a:t>
            </a:r>
            <a:r>
              <a:rPr lang="en-US" dirty="0"/>
              <a:t>to clusters</a:t>
            </a:r>
          </a:p>
          <a:p>
            <a:r>
              <a:rPr lang="en-US" dirty="0" err="1"/>
              <a:t>Mappers</a:t>
            </a:r>
            <a:r>
              <a:rPr lang="en-US" dirty="0"/>
              <a:t> </a:t>
            </a:r>
            <a:r>
              <a:rPr lang="en-US" b="1" dirty="0"/>
              <a:t>compute new local </a:t>
            </a:r>
            <a:r>
              <a:rPr lang="en-US" b="1" dirty="0" err="1"/>
              <a:t>centroids</a:t>
            </a:r>
            <a:r>
              <a:rPr lang="en-US" b="1" dirty="0"/>
              <a:t> </a:t>
            </a:r>
            <a:r>
              <a:rPr lang="en-US" dirty="0"/>
              <a:t>and local cluster sizes</a:t>
            </a:r>
          </a:p>
          <a:p>
            <a:r>
              <a:rPr lang="en-US" dirty="0"/>
              <a:t>Reducers </a:t>
            </a:r>
            <a:r>
              <a:rPr lang="en-US" b="1" dirty="0"/>
              <a:t>aggregate local </a:t>
            </a:r>
            <a:r>
              <a:rPr lang="en-US" b="1" dirty="0" err="1"/>
              <a:t>centroids</a:t>
            </a:r>
            <a:r>
              <a:rPr lang="en-US" b="1" dirty="0"/>
              <a:t> </a:t>
            </a:r>
            <a:r>
              <a:rPr lang="en-US" dirty="0"/>
              <a:t>(weighted by local cluster sizes) into new global </a:t>
            </a:r>
            <a:r>
              <a:rPr lang="en-US" dirty="0" err="1"/>
              <a:t>centroids</a:t>
            </a:r>
            <a:endParaRPr lang="en-US" dirty="0"/>
          </a:p>
          <a:p>
            <a:r>
              <a:rPr lang="en-US" dirty="0"/>
              <a:t>Reducers </a:t>
            </a:r>
            <a:r>
              <a:rPr lang="en-US" b="1" dirty="0"/>
              <a:t>write the new </a:t>
            </a:r>
            <a:r>
              <a:rPr lang="en-US" b="1" dirty="0" err="1"/>
              <a:t>centroids</a:t>
            </a:r>
            <a:endParaRPr lang="en-US" b="1" dirty="0"/>
          </a:p>
        </p:txBody>
      </p:sp>
      <p:sp>
        <p:nvSpPr>
          <p:cNvPr id="5" name="Circular Arrow 4"/>
          <p:cNvSpPr/>
          <p:nvPr/>
        </p:nvSpPr>
        <p:spPr>
          <a:xfrm rot="3925217" flipH="1">
            <a:off x="5240918" y="2424358"/>
            <a:ext cx="4431004" cy="3872169"/>
          </a:xfrm>
          <a:prstGeom prst="circularArrow">
            <a:avLst>
              <a:gd name="adj1" fmla="val 4215"/>
              <a:gd name="adj2" fmla="val 971679"/>
              <a:gd name="adj3" fmla="val 17905064"/>
              <a:gd name="adj4" fmla="val 8037137"/>
              <a:gd name="adj5" fmla="val 80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1219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1B9E7-6332-B5CC-14DF-58C74E04C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74C12-54C5-7420-89A5-192DBA6C5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6AF48-4293-D630-52A6-BCB77155C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39000"/>
            <a:ext cx="5054252" cy="2507323"/>
          </a:xfrm>
        </p:spPr>
        <p:txBody>
          <a:bodyPr>
            <a:normAutofit fontScale="55000" lnSpcReduction="20000"/>
          </a:bodyPr>
          <a:lstStyle/>
          <a:p>
            <a:r>
              <a:rPr lang="en-US" dirty="0" err="1"/>
              <a:t>Mappers</a:t>
            </a:r>
            <a:r>
              <a:rPr lang="en-US" dirty="0"/>
              <a:t> read data portions and </a:t>
            </a:r>
            <a:r>
              <a:rPr lang="en-US" dirty="0" err="1"/>
              <a:t>centroids</a:t>
            </a:r>
            <a:endParaRPr lang="en-US" dirty="0"/>
          </a:p>
          <a:p>
            <a:r>
              <a:rPr lang="en-US" dirty="0" err="1"/>
              <a:t>Mappers</a:t>
            </a:r>
            <a:r>
              <a:rPr lang="en-US" dirty="0"/>
              <a:t> </a:t>
            </a:r>
            <a:r>
              <a:rPr lang="en-US" b="1" dirty="0"/>
              <a:t>assign data instances </a:t>
            </a:r>
            <a:r>
              <a:rPr lang="en-US" dirty="0"/>
              <a:t>to clusters</a:t>
            </a:r>
          </a:p>
          <a:p>
            <a:r>
              <a:rPr lang="en-US" dirty="0" err="1"/>
              <a:t>Mappers</a:t>
            </a:r>
            <a:r>
              <a:rPr lang="en-US" dirty="0"/>
              <a:t> </a:t>
            </a:r>
            <a:r>
              <a:rPr lang="en-US" b="1" dirty="0"/>
              <a:t>compute new local </a:t>
            </a:r>
            <a:r>
              <a:rPr lang="en-US" b="1" dirty="0" err="1"/>
              <a:t>centroids</a:t>
            </a:r>
            <a:r>
              <a:rPr lang="en-US" b="1" dirty="0"/>
              <a:t> </a:t>
            </a:r>
            <a:r>
              <a:rPr lang="en-US" dirty="0"/>
              <a:t>and local cluster sizes</a:t>
            </a:r>
          </a:p>
          <a:p>
            <a:r>
              <a:rPr lang="en-US" dirty="0"/>
              <a:t>Reducers </a:t>
            </a:r>
            <a:r>
              <a:rPr lang="en-US" b="1" dirty="0"/>
              <a:t>aggregate local </a:t>
            </a:r>
            <a:r>
              <a:rPr lang="en-US" b="1" dirty="0" err="1"/>
              <a:t>centroids</a:t>
            </a:r>
            <a:r>
              <a:rPr lang="en-US" b="1" dirty="0"/>
              <a:t> </a:t>
            </a:r>
            <a:r>
              <a:rPr lang="en-US" dirty="0"/>
              <a:t>(weighted by local cluster sizes) into new global </a:t>
            </a:r>
            <a:r>
              <a:rPr lang="en-US" dirty="0" err="1"/>
              <a:t>centroids</a:t>
            </a:r>
            <a:endParaRPr lang="en-US" dirty="0"/>
          </a:p>
          <a:p>
            <a:r>
              <a:rPr lang="en-US" dirty="0"/>
              <a:t>Reducers </a:t>
            </a:r>
            <a:r>
              <a:rPr lang="en-US" b="1" dirty="0"/>
              <a:t>write the new </a:t>
            </a:r>
            <a:r>
              <a:rPr lang="en-US" b="1" dirty="0" err="1"/>
              <a:t>centroids</a:t>
            </a:r>
            <a:endParaRPr lang="en-US" b="1" dirty="0"/>
          </a:p>
        </p:txBody>
      </p:sp>
      <p:sp>
        <p:nvSpPr>
          <p:cNvPr id="5" name="Circular Arrow 4">
            <a:extLst>
              <a:ext uri="{FF2B5EF4-FFF2-40B4-BE49-F238E27FC236}">
                <a16:creationId xmlns:a16="http://schemas.microsoft.com/office/drawing/2014/main" id="{C8713D35-BC5C-FA57-ACEB-5B463E483C80}"/>
              </a:ext>
            </a:extLst>
          </p:cNvPr>
          <p:cNvSpPr/>
          <p:nvPr/>
        </p:nvSpPr>
        <p:spPr>
          <a:xfrm rot="3925217" flipH="1">
            <a:off x="3721640" y="1962127"/>
            <a:ext cx="2207077" cy="2061068"/>
          </a:xfrm>
          <a:prstGeom prst="circularArrow">
            <a:avLst>
              <a:gd name="adj1" fmla="val 4215"/>
              <a:gd name="adj2" fmla="val 971679"/>
              <a:gd name="adj3" fmla="val 17905064"/>
              <a:gd name="adj4" fmla="val 8037137"/>
              <a:gd name="adj5" fmla="val 80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DA0F4-0DE8-4D39-5DA3-C318AE607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76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A595AA-EB6C-4A67-E227-56AD56B35B9E}"/>
              </a:ext>
            </a:extLst>
          </p:cNvPr>
          <p:cNvSpPr txBox="1"/>
          <p:nvPr/>
        </p:nvSpPr>
        <p:spPr>
          <a:xfrm>
            <a:off x="657225" y="4114800"/>
            <a:ext cx="76581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What should be in memory and what should be in an RDD?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How many Shuffle-Sorts are needed for one pass?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Assume we can map through documents</a:t>
            </a:r>
          </a:p>
        </p:txBody>
      </p:sp>
    </p:spTree>
    <p:extLst>
      <p:ext uri="{BB962C8B-B14F-4D97-AF65-F5344CB8AC3E}">
        <p14:creationId xmlns:p14="http://schemas.microsoft.com/office/powerpoint/2010/main" val="2477448382"/>
      </p:ext>
    </p:extLst>
  </p:cSld>
  <p:clrMapOvr>
    <a:masterClrMapping/>
  </p:clrMapOvr>
  <p:transition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58ACC-43CA-9CEF-3077-4E1FD5A72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6153E-1764-8E5D-A5CD-B877A3E67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26A9C-3835-2041-F637-6EF100ADF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39000"/>
            <a:ext cx="5054252" cy="2507323"/>
          </a:xfrm>
        </p:spPr>
        <p:txBody>
          <a:bodyPr>
            <a:normAutofit fontScale="55000" lnSpcReduction="20000"/>
          </a:bodyPr>
          <a:lstStyle/>
          <a:p>
            <a:r>
              <a:rPr lang="en-US" dirty="0" err="1"/>
              <a:t>Mappers</a:t>
            </a:r>
            <a:r>
              <a:rPr lang="en-US" dirty="0"/>
              <a:t> read data portions and </a:t>
            </a:r>
            <a:r>
              <a:rPr lang="en-US" dirty="0" err="1"/>
              <a:t>centroids</a:t>
            </a:r>
            <a:endParaRPr lang="en-US" dirty="0"/>
          </a:p>
          <a:p>
            <a:r>
              <a:rPr lang="en-US" dirty="0" err="1"/>
              <a:t>Mappers</a:t>
            </a:r>
            <a:r>
              <a:rPr lang="en-US" dirty="0"/>
              <a:t> </a:t>
            </a:r>
            <a:r>
              <a:rPr lang="en-US" b="1" dirty="0"/>
              <a:t>assign data instances </a:t>
            </a:r>
            <a:r>
              <a:rPr lang="en-US" dirty="0"/>
              <a:t>to clusters</a:t>
            </a:r>
          </a:p>
          <a:p>
            <a:r>
              <a:rPr lang="en-US" dirty="0" err="1"/>
              <a:t>Mappers</a:t>
            </a:r>
            <a:r>
              <a:rPr lang="en-US" dirty="0"/>
              <a:t> </a:t>
            </a:r>
            <a:r>
              <a:rPr lang="en-US" b="1" dirty="0"/>
              <a:t>compute new local </a:t>
            </a:r>
            <a:r>
              <a:rPr lang="en-US" b="1" dirty="0" err="1"/>
              <a:t>centroids</a:t>
            </a:r>
            <a:r>
              <a:rPr lang="en-US" b="1" dirty="0"/>
              <a:t> </a:t>
            </a:r>
            <a:r>
              <a:rPr lang="en-US" dirty="0"/>
              <a:t>and local cluster sizes</a:t>
            </a:r>
          </a:p>
          <a:p>
            <a:r>
              <a:rPr lang="en-US" dirty="0"/>
              <a:t>Reducers </a:t>
            </a:r>
            <a:r>
              <a:rPr lang="en-US" b="1" dirty="0"/>
              <a:t>aggregate local </a:t>
            </a:r>
            <a:r>
              <a:rPr lang="en-US" b="1" dirty="0" err="1"/>
              <a:t>centroids</a:t>
            </a:r>
            <a:r>
              <a:rPr lang="en-US" b="1" dirty="0"/>
              <a:t> </a:t>
            </a:r>
            <a:r>
              <a:rPr lang="en-US" dirty="0"/>
              <a:t>(weighted by local cluster sizes) into new global </a:t>
            </a:r>
            <a:r>
              <a:rPr lang="en-US" dirty="0" err="1"/>
              <a:t>centroids</a:t>
            </a:r>
            <a:endParaRPr lang="en-US" dirty="0"/>
          </a:p>
          <a:p>
            <a:r>
              <a:rPr lang="en-US" dirty="0"/>
              <a:t>Reducers </a:t>
            </a:r>
            <a:r>
              <a:rPr lang="en-US" b="1" dirty="0"/>
              <a:t>write the new </a:t>
            </a:r>
            <a:r>
              <a:rPr lang="en-US" b="1" dirty="0" err="1"/>
              <a:t>centroids</a:t>
            </a:r>
            <a:endParaRPr lang="en-US" b="1" dirty="0"/>
          </a:p>
        </p:txBody>
      </p:sp>
      <p:sp>
        <p:nvSpPr>
          <p:cNvPr id="5" name="Circular Arrow 4">
            <a:extLst>
              <a:ext uri="{FF2B5EF4-FFF2-40B4-BE49-F238E27FC236}">
                <a16:creationId xmlns:a16="http://schemas.microsoft.com/office/drawing/2014/main" id="{185BD5D7-3BA6-DA43-7FA3-83A5A493063A}"/>
              </a:ext>
            </a:extLst>
          </p:cNvPr>
          <p:cNvSpPr/>
          <p:nvPr/>
        </p:nvSpPr>
        <p:spPr>
          <a:xfrm rot="3925217" flipH="1">
            <a:off x="3721640" y="1962127"/>
            <a:ext cx="2207077" cy="2061068"/>
          </a:xfrm>
          <a:prstGeom prst="circularArrow">
            <a:avLst>
              <a:gd name="adj1" fmla="val 4215"/>
              <a:gd name="adj2" fmla="val 971679"/>
              <a:gd name="adj3" fmla="val 17905064"/>
              <a:gd name="adj4" fmla="val 8037137"/>
              <a:gd name="adj5" fmla="val 80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5B611-3E5A-9933-9D2B-29AC91DC6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77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61BDE1-BC6D-D966-9CF0-32F5008E56A8}"/>
              </a:ext>
            </a:extLst>
          </p:cNvPr>
          <p:cNvSpPr txBox="1"/>
          <p:nvPr/>
        </p:nvSpPr>
        <p:spPr>
          <a:xfrm>
            <a:off x="657225" y="4114800"/>
            <a:ext cx="76581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Sketch: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Map only: With all centroids in mapper memory, assign each doc to a centroid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outputting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docid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 centroid index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(Shuffle-sort: Count number of docs per centroid)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Map-Reduce: join docs to centroids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Map-Reduce: average doc weights for each centroid</a:t>
            </a:r>
          </a:p>
        </p:txBody>
      </p:sp>
    </p:spTree>
    <p:extLst>
      <p:ext uri="{BB962C8B-B14F-4D97-AF65-F5344CB8AC3E}">
        <p14:creationId xmlns:p14="http://schemas.microsoft.com/office/powerpoint/2010/main" val="9373151"/>
      </p:ext>
    </p:extLst>
  </p:cSld>
  <p:clrMapOvr>
    <a:masterClrMapping/>
  </p:clrMapOvr>
  <p:transition>
    <p:fade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k</a:t>
            </a:r>
            <a:r>
              <a:rPr lang="en-US" dirty="0"/>
              <a:t>-means in Apache Pig: input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Assume we need to cluster documents</a:t>
            </a:r>
          </a:p>
          <a:p>
            <a:pPr lvl="1"/>
            <a:r>
              <a:rPr lang="en-US" dirty="0"/>
              <a:t>Stored in a 3-column table </a:t>
            </a:r>
            <a:r>
              <a:rPr lang="en-US" i="1" dirty="0">
                <a:latin typeface="Times New Roman" pitchFamily="18" charset="0"/>
              </a:rPr>
              <a:t>D</a:t>
            </a:r>
            <a:r>
              <a:rPr lang="en-US" dirty="0">
                <a:latin typeface="Times New Roman" pitchFamily="18" charset="0"/>
              </a:rPr>
              <a:t>:</a:t>
            </a:r>
            <a:endParaRPr lang="en-US" i="1" dirty="0">
              <a:latin typeface="Times New Roman" pitchFamily="18" charset="0"/>
            </a:endParaRPr>
          </a:p>
          <a:p>
            <a:endParaRPr lang="en-US" dirty="0"/>
          </a:p>
          <a:p>
            <a:endParaRPr lang="en-US" dirty="0"/>
          </a:p>
          <a:p>
            <a:pPr lvl="3"/>
            <a:endParaRPr lang="en-US" dirty="0"/>
          </a:p>
          <a:p>
            <a:pPr lvl="4">
              <a:buNone/>
            </a:pPr>
            <a:endParaRPr lang="en-US" dirty="0"/>
          </a:p>
          <a:p>
            <a:r>
              <a:rPr lang="en-US" dirty="0"/>
              <a:t>Initial </a:t>
            </a:r>
            <a:r>
              <a:rPr lang="en-US" dirty="0" err="1"/>
              <a:t>centroids</a:t>
            </a:r>
            <a:r>
              <a:rPr lang="en-US" dirty="0"/>
              <a:t> are </a:t>
            </a:r>
            <a:r>
              <a:rPr lang="en-US" i="1" dirty="0">
                <a:latin typeface="Times New Roman" pitchFamily="18" charset="0"/>
              </a:rPr>
              <a:t>k</a:t>
            </a:r>
            <a:r>
              <a:rPr lang="en-US" dirty="0"/>
              <a:t> randomly chosen docs</a:t>
            </a:r>
          </a:p>
          <a:p>
            <a:pPr lvl="1"/>
            <a:r>
              <a:rPr lang="en-US" dirty="0"/>
              <a:t>Stored in table </a:t>
            </a:r>
            <a:r>
              <a:rPr lang="en-US" i="1" dirty="0">
                <a:latin typeface="Times New Roman" pitchFamily="18" charset="0"/>
              </a:rPr>
              <a:t>C</a:t>
            </a:r>
            <a:r>
              <a:rPr lang="en-US" dirty="0"/>
              <a:t> in the same format as above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2819400"/>
          <a:ext cx="573447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1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1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1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r>
                        <a:rPr lang="en-US" sz="2400" dirty="0"/>
                        <a:t>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doc1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Carnegie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doc1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Mellon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884323"/>
      </p:ext>
    </p:extLst>
  </p:cSld>
  <p:clrMapOvr>
    <a:masterClrMapping/>
  </p:clrMapOvr>
  <p:transition>
    <p:fad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k</a:t>
            </a:r>
            <a:r>
              <a:rPr lang="en-US" dirty="0"/>
              <a:t>-means in Apache Pig: E-step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524000"/>
            <a:ext cx="8305800" cy="5016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Calibri"/>
                <a:cs typeface="Calibri"/>
              </a:rPr>
              <a:t>D_C</a:t>
            </a:r>
            <a:r>
              <a:rPr lang="en-US" sz="2400" dirty="0">
                <a:latin typeface="Calibri"/>
                <a:cs typeface="Calibri"/>
              </a:rPr>
              <a:t> = </a:t>
            </a:r>
            <a:r>
              <a:rPr lang="en-US" sz="2400" b="1" dirty="0">
                <a:latin typeface="Calibri"/>
                <a:cs typeface="Calibri"/>
              </a:rPr>
              <a:t>JOIN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C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BY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w</a:t>
            </a:r>
            <a:r>
              <a:rPr lang="en-US" sz="2400" dirty="0">
                <a:latin typeface="Calibri"/>
                <a:cs typeface="Calibri"/>
              </a:rPr>
              <a:t>, </a:t>
            </a:r>
            <a:r>
              <a:rPr lang="en-US" sz="2400" i="1" dirty="0">
                <a:latin typeface="Calibri"/>
                <a:cs typeface="Calibri"/>
              </a:rPr>
              <a:t>D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BY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w</a:t>
            </a:r>
            <a:r>
              <a:rPr lang="en-US" sz="2400" dirty="0">
                <a:latin typeface="Calibri"/>
                <a:cs typeface="Calibri"/>
              </a:rPr>
              <a:t>;</a:t>
            </a:r>
          </a:p>
          <a:p>
            <a:r>
              <a:rPr lang="en-US" sz="2400" i="1" dirty="0">
                <a:latin typeface="Calibri"/>
                <a:cs typeface="Calibri"/>
              </a:rPr>
              <a:t>PROD</a:t>
            </a:r>
            <a:r>
              <a:rPr lang="en-US" sz="2400" dirty="0">
                <a:latin typeface="Calibri"/>
                <a:cs typeface="Calibri"/>
              </a:rPr>
              <a:t> = </a:t>
            </a:r>
            <a:r>
              <a:rPr lang="en-US" sz="2400" b="1" dirty="0">
                <a:latin typeface="Calibri"/>
                <a:cs typeface="Calibri"/>
              </a:rPr>
              <a:t>FOREACH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D_C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GENERATE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d</a:t>
            </a:r>
            <a:r>
              <a:rPr lang="en-US" sz="2400" dirty="0">
                <a:latin typeface="Calibri"/>
                <a:cs typeface="Calibri"/>
              </a:rPr>
              <a:t>, </a:t>
            </a:r>
            <a:r>
              <a:rPr lang="en-US" sz="2400" i="1" dirty="0">
                <a:latin typeface="Calibri"/>
                <a:cs typeface="Calibri"/>
              </a:rPr>
              <a:t>c</a:t>
            </a:r>
            <a:r>
              <a:rPr lang="en-US" sz="2400" dirty="0">
                <a:latin typeface="Calibri"/>
                <a:cs typeface="Calibri"/>
              </a:rPr>
              <a:t>, </a:t>
            </a:r>
            <a:r>
              <a:rPr lang="en-US" sz="2400" i="1" dirty="0">
                <a:latin typeface="Calibri"/>
                <a:cs typeface="Calibri"/>
              </a:rPr>
              <a:t>i</a:t>
            </a:r>
            <a:r>
              <a:rPr lang="en-US" sz="2400" i="1" baseline="-25000" dirty="0">
                <a:latin typeface="Calibri"/>
                <a:cs typeface="Calibri"/>
              </a:rPr>
              <a:t>d</a:t>
            </a:r>
            <a:r>
              <a:rPr lang="en-US" sz="2400" i="1" dirty="0">
                <a:latin typeface="Calibri"/>
                <a:cs typeface="Calibri"/>
              </a:rPr>
              <a:t> * </a:t>
            </a:r>
            <a:r>
              <a:rPr lang="en-US" sz="2400" i="1" dirty="0" err="1">
                <a:latin typeface="Calibri"/>
                <a:cs typeface="Calibri"/>
              </a:rPr>
              <a:t>i</a:t>
            </a:r>
            <a:r>
              <a:rPr lang="en-US" sz="2400" i="1" baseline="-25000" dirty="0" err="1">
                <a:latin typeface="Calibri"/>
                <a:cs typeface="Calibri"/>
              </a:rPr>
              <a:t>c</a:t>
            </a:r>
            <a:r>
              <a:rPr lang="en-US" sz="2400" i="1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AS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 err="1">
                <a:latin typeface="Calibri"/>
                <a:cs typeface="Calibri"/>
              </a:rPr>
              <a:t>i</a:t>
            </a:r>
            <a:r>
              <a:rPr lang="en-US" sz="2400" i="1" baseline="-25000" dirty="0" err="1">
                <a:latin typeface="Calibri"/>
                <a:cs typeface="Calibri"/>
              </a:rPr>
              <a:t>d</a:t>
            </a:r>
            <a:r>
              <a:rPr lang="en-US" sz="2400" i="1" dirty="0" err="1">
                <a:latin typeface="Calibri"/>
                <a:cs typeface="Calibri"/>
              </a:rPr>
              <a:t>i</a:t>
            </a:r>
            <a:r>
              <a:rPr lang="en-US" sz="2400" i="1" baseline="-25000" dirty="0" err="1">
                <a:latin typeface="Calibri"/>
                <a:cs typeface="Calibri"/>
              </a:rPr>
              <a:t>c</a:t>
            </a:r>
            <a:r>
              <a:rPr lang="en-US" sz="2400" i="1" baseline="-2500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;</a:t>
            </a:r>
          </a:p>
          <a:p>
            <a:endParaRPr lang="en-US" sz="1400" dirty="0">
              <a:latin typeface="Calibri"/>
              <a:cs typeface="Calibri"/>
            </a:endParaRPr>
          </a:p>
          <a:p>
            <a:r>
              <a:rPr lang="en-US" sz="2400" i="1" dirty="0" err="1">
                <a:latin typeface="Calibri"/>
                <a:cs typeface="Calibri"/>
              </a:rPr>
              <a:t>PROD</a:t>
            </a:r>
            <a:r>
              <a:rPr lang="en-US" sz="2400" i="1" baseline="-25000" dirty="0" err="1">
                <a:latin typeface="Calibri"/>
                <a:cs typeface="Calibri"/>
              </a:rPr>
              <a:t>g</a:t>
            </a:r>
            <a:r>
              <a:rPr lang="en-US" sz="2400" dirty="0">
                <a:latin typeface="Calibri"/>
                <a:cs typeface="Calibri"/>
              </a:rPr>
              <a:t> = </a:t>
            </a:r>
            <a:r>
              <a:rPr lang="en-US" sz="2400" b="1" dirty="0">
                <a:latin typeface="Calibri"/>
                <a:cs typeface="Calibri"/>
              </a:rPr>
              <a:t>GROUP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PROD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BY</a:t>
            </a:r>
            <a:r>
              <a:rPr lang="en-US" sz="2400" dirty="0">
                <a:latin typeface="Calibri"/>
                <a:cs typeface="Calibri"/>
              </a:rPr>
              <a:t> (</a:t>
            </a:r>
            <a:r>
              <a:rPr lang="en-US" sz="2400" i="1" dirty="0">
                <a:latin typeface="Calibri"/>
                <a:cs typeface="Calibri"/>
              </a:rPr>
              <a:t>d</a:t>
            </a:r>
            <a:r>
              <a:rPr lang="en-US" sz="2400" dirty="0">
                <a:latin typeface="Calibri"/>
                <a:cs typeface="Calibri"/>
              </a:rPr>
              <a:t>, </a:t>
            </a:r>
            <a:r>
              <a:rPr lang="en-US" sz="2400" i="1" dirty="0">
                <a:latin typeface="Calibri"/>
                <a:cs typeface="Calibri"/>
              </a:rPr>
              <a:t>c</a:t>
            </a:r>
            <a:r>
              <a:rPr lang="en-US" sz="2400" dirty="0">
                <a:latin typeface="Calibri"/>
                <a:cs typeface="Calibri"/>
              </a:rPr>
              <a:t>);</a:t>
            </a:r>
          </a:p>
          <a:p>
            <a:r>
              <a:rPr lang="en-US" sz="2400" i="1" dirty="0">
                <a:latin typeface="Calibri"/>
                <a:cs typeface="Calibri"/>
              </a:rPr>
              <a:t>DOT_PROD</a:t>
            </a:r>
            <a:r>
              <a:rPr lang="en-US" sz="2400" dirty="0">
                <a:latin typeface="Calibri"/>
                <a:cs typeface="Calibri"/>
              </a:rPr>
              <a:t> = </a:t>
            </a:r>
            <a:r>
              <a:rPr lang="en-US" sz="2400" b="1" dirty="0">
                <a:latin typeface="Calibri"/>
                <a:cs typeface="Calibri"/>
              </a:rPr>
              <a:t>FOREACH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 err="1">
                <a:latin typeface="Calibri"/>
                <a:cs typeface="Calibri"/>
              </a:rPr>
              <a:t>PROD</a:t>
            </a:r>
            <a:r>
              <a:rPr lang="en-US" sz="2400" i="1" baseline="-25000" dirty="0" err="1">
                <a:latin typeface="Calibri"/>
                <a:cs typeface="Calibri"/>
              </a:rPr>
              <a:t>g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GENERATE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d</a:t>
            </a:r>
            <a:r>
              <a:rPr lang="en-US" sz="2400" dirty="0">
                <a:latin typeface="Calibri"/>
                <a:cs typeface="Calibri"/>
              </a:rPr>
              <a:t>, </a:t>
            </a:r>
            <a:r>
              <a:rPr lang="en-US" sz="2400" i="1" dirty="0">
                <a:latin typeface="Calibri"/>
                <a:cs typeface="Calibri"/>
              </a:rPr>
              <a:t>c</a:t>
            </a:r>
            <a:r>
              <a:rPr lang="en-US" sz="2400" dirty="0">
                <a:latin typeface="Calibri"/>
                <a:cs typeface="Calibri"/>
              </a:rPr>
              <a:t>, SUM(</a:t>
            </a:r>
            <a:r>
              <a:rPr lang="en-US" sz="2400" i="1" dirty="0" err="1">
                <a:latin typeface="Calibri"/>
                <a:cs typeface="Calibri"/>
              </a:rPr>
              <a:t>i</a:t>
            </a:r>
            <a:r>
              <a:rPr lang="en-US" sz="2400" i="1" baseline="-25000" dirty="0" err="1">
                <a:latin typeface="Calibri"/>
                <a:cs typeface="Calibri"/>
              </a:rPr>
              <a:t>d</a:t>
            </a:r>
            <a:r>
              <a:rPr lang="en-US" sz="2400" i="1" dirty="0" err="1">
                <a:latin typeface="Calibri"/>
                <a:cs typeface="Calibri"/>
              </a:rPr>
              <a:t>i</a:t>
            </a:r>
            <a:r>
              <a:rPr lang="en-US" sz="2400" i="1" baseline="-25000" dirty="0" err="1">
                <a:latin typeface="Calibri"/>
                <a:cs typeface="Calibri"/>
              </a:rPr>
              <a:t>c</a:t>
            </a:r>
            <a:r>
              <a:rPr lang="en-US" sz="2400" dirty="0">
                <a:latin typeface="Calibri"/>
                <a:cs typeface="Calibri"/>
              </a:rPr>
              <a:t>) </a:t>
            </a:r>
            <a:r>
              <a:rPr lang="en-US" sz="2400" b="1" dirty="0">
                <a:latin typeface="Calibri"/>
                <a:cs typeface="Calibri"/>
              </a:rPr>
              <a:t>AS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 err="1">
                <a:latin typeface="Calibri"/>
                <a:cs typeface="Calibri"/>
              </a:rPr>
              <a:t>d</a:t>
            </a:r>
            <a:r>
              <a:rPr lang="en-US" sz="2400" dirty="0" err="1">
                <a:latin typeface="Calibri"/>
                <a:cs typeface="Calibri"/>
              </a:rPr>
              <a:t>X</a:t>
            </a:r>
            <a:r>
              <a:rPr lang="en-US" sz="2400" i="1" dirty="0" err="1">
                <a:latin typeface="Calibri"/>
                <a:cs typeface="Calibri"/>
              </a:rPr>
              <a:t>c</a:t>
            </a:r>
            <a:r>
              <a:rPr lang="en-US" sz="2400" dirty="0">
                <a:latin typeface="Calibri"/>
                <a:cs typeface="Calibri"/>
              </a:rPr>
              <a:t>;</a:t>
            </a:r>
          </a:p>
          <a:p>
            <a:endParaRPr lang="en-US" sz="1400" dirty="0">
              <a:latin typeface="Calibri"/>
              <a:cs typeface="Calibri"/>
            </a:endParaRPr>
          </a:p>
          <a:p>
            <a:r>
              <a:rPr lang="en-US" sz="2400" i="1" dirty="0">
                <a:latin typeface="Calibri"/>
                <a:cs typeface="Calibri"/>
              </a:rPr>
              <a:t>SQR</a:t>
            </a:r>
            <a:r>
              <a:rPr lang="en-US" sz="2400" dirty="0">
                <a:latin typeface="Calibri"/>
                <a:cs typeface="Calibri"/>
              </a:rPr>
              <a:t> = </a:t>
            </a:r>
            <a:r>
              <a:rPr lang="en-US" sz="2400" b="1" dirty="0">
                <a:latin typeface="Calibri"/>
                <a:cs typeface="Calibri"/>
              </a:rPr>
              <a:t>FOREACH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C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GENERATE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c</a:t>
            </a:r>
            <a:r>
              <a:rPr lang="en-US" sz="2400" dirty="0">
                <a:latin typeface="Calibri"/>
                <a:cs typeface="Calibri"/>
              </a:rPr>
              <a:t>, </a:t>
            </a:r>
            <a:r>
              <a:rPr lang="en-US" sz="2400" i="1" dirty="0" err="1">
                <a:latin typeface="Calibri"/>
                <a:cs typeface="Calibri"/>
              </a:rPr>
              <a:t>i</a:t>
            </a:r>
            <a:r>
              <a:rPr lang="en-US" sz="2400" i="1" baseline="-25000" dirty="0" err="1">
                <a:latin typeface="Calibri"/>
                <a:cs typeface="Calibri"/>
              </a:rPr>
              <a:t>c</a:t>
            </a:r>
            <a:r>
              <a:rPr lang="en-US" sz="2400" i="1" dirty="0">
                <a:latin typeface="Calibri"/>
                <a:cs typeface="Calibri"/>
              </a:rPr>
              <a:t> * </a:t>
            </a:r>
            <a:r>
              <a:rPr lang="en-US" sz="2400" i="1" dirty="0" err="1">
                <a:latin typeface="Calibri"/>
                <a:cs typeface="Calibri"/>
              </a:rPr>
              <a:t>i</a:t>
            </a:r>
            <a:r>
              <a:rPr lang="en-US" sz="2400" i="1" baseline="-25000" dirty="0" err="1">
                <a:latin typeface="Calibri"/>
                <a:cs typeface="Calibri"/>
              </a:rPr>
              <a:t>c</a:t>
            </a:r>
            <a:r>
              <a:rPr lang="en-US" sz="2400" i="1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AS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i</a:t>
            </a:r>
            <a:r>
              <a:rPr lang="en-US" sz="2400" i="1" baseline="-25000" dirty="0">
                <a:latin typeface="Calibri"/>
                <a:cs typeface="Calibri"/>
              </a:rPr>
              <a:t>c</a:t>
            </a:r>
            <a:r>
              <a:rPr lang="en-US" sz="2400" i="1" baseline="30000" dirty="0">
                <a:latin typeface="Calibri"/>
                <a:cs typeface="Calibri"/>
              </a:rPr>
              <a:t>2</a:t>
            </a:r>
            <a:r>
              <a:rPr lang="en-US" sz="2400" dirty="0">
                <a:latin typeface="Calibri"/>
                <a:cs typeface="Calibri"/>
              </a:rPr>
              <a:t>;</a:t>
            </a:r>
          </a:p>
          <a:p>
            <a:r>
              <a:rPr lang="en-US" sz="2400" i="1" dirty="0" err="1">
                <a:latin typeface="Calibri"/>
                <a:cs typeface="Calibri"/>
              </a:rPr>
              <a:t>SQR</a:t>
            </a:r>
            <a:r>
              <a:rPr lang="en-US" sz="2400" i="1" baseline="-25000" dirty="0" err="1">
                <a:latin typeface="Calibri"/>
                <a:cs typeface="Calibri"/>
              </a:rPr>
              <a:t>g</a:t>
            </a:r>
            <a:r>
              <a:rPr lang="en-US" sz="2400" dirty="0">
                <a:latin typeface="Calibri"/>
                <a:cs typeface="Calibri"/>
              </a:rPr>
              <a:t> = </a:t>
            </a:r>
            <a:r>
              <a:rPr lang="en-US" sz="2400" b="1" dirty="0">
                <a:latin typeface="Calibri"/>
                <a:cs typeface="Calibri"/>
              </a:rPr>
              <a:t>GROUP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SQR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BY</a:t>
            </a:r>
            <a:r>
              <a:rPr lang="en-US" sz="2400" dirty="0">
                <a:latin typeface="Calibri"/>
                <a:cs typeface="Calibri"/>
              </a:rPr>
              <a:t> c;</a:t>
            </a:r>
          </a:p>
          <a:p>
            <a:r>
              <a:rPr lang="en-US" sz="2400" i="1" dirty="0">
                <a:latin typeface="Calibri"/>
                <a:cs typeface="Calibri"/>
              </a:rPr>
              <a:t>LEN_C </a:t>
            </a:r>
            <a:r>
              <a:rPr lang="en-US" sz="2400" dirty="0">
                <a:latin typeface="Calibri"/>
                <a:cs typeface="Calibri"/>
              </a:rPr>
              <a:t>= </a:t>
            </a:r>
            <a:r>
              <a:rPr lang="en-US" sz="2400" b="1" dirty="0">
                <a:latin typeface="Calibri"/>
                <a:cs typeface="Calibri"/>
              </a:rPr>
              <a:t>FOREACH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 err="1">
                <a:latin typeface="Calibri"/>
                <a:cs typeface="Calibri"/>
              </a:rPr>
              <a:t>SQR</a:t>
            </a:r>
            <a:r>
              <a:rPr lang="en-US" sz="2400" i="1" baseline="-25000" dirty="0" err="1">
                <a:latin typeface="Calibri"/>
                <a:cs typeface="Calibri"/>
              </a:rPr>
              <a:t>g</a:t>
            </a:r>
            <a:r>
              <a:rPr lang="en-US" sz="2400" i="1" baseline="-2500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GENERATE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c</a:t>
            </a:r>
            <a:r>
              <a:rPr lang="en-US" sz="2400" dirty="0">
                <a:latin typeface="Calibri"/>
                <a:cs typeface="Calibri"/>
              </a:rPr>
              <a:t>, SQRT(SUM(</a:t>
            </a:r>
            <a:r>
              <a:rPr lang="en-US" sz="2400" i="1" dirty="0">
                <a:latin typeface="Calibri"/>
                <a:cs typeface="Calibri"/>
              </a:rPr>
              <a:t>i</a:t>
            </a:r>
            <a:r>
              <a:rPr lang="en-US" sz="2400" i="1" baseline="-25000" dirty="0">
                <a:latin typeface="Calibri"/>
                <a:cs typeface="Calibri"/>
              </a:rPr>
              <a:t>c</a:t>
            </a:r>
            <a:r>
              <a:rPr lang="en-US" sz="2400" i="1" baseline="30000" dirty="0">
                <a:latin typeface="Calibri"/>
                <a:cs typeface="Calibri"/>
              </a:rPr>
              <a:t>2</a:t>
            </a:r>
            <a:r>
              <a:rPr lang="en-US" sz="2400" dirty="0">
                <a:latin typeface="Calibri"/>
                <a:cs typeface="Calibri"/>
              </a:rPr>
              <a:t>)) </a:t>
            </a:r>
            <a:r>
              <a:rPr lang="en-US" sz="2400" b="1" dirty="0">
                <a:latin typeface="Calibri"/>
                <a:cs typeface="Calibri"/>
              </a:rPr>
              <a:t>AS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 err="1">
                <a:latin typeface="Calibri"/>
                <a:cs typeface="Calibri"/>
              </a:rPr>
              <a:t>len</a:t>
            </a:r>
            <a:r>
              <a:rPr lang="en-US" sz="2400" i="1" baseline="-25000" dirty="0" err="1">
                <a:latin typeface="Calibri"/>
                <a:cs typeface="Calibri"/>
              </a:rPr>
              <a:t>c</a:t>
            </a:r>
            <a:r>
              <a:rPr lang="en-US" sz="2400" dirty="0">
                <a:latin typeface="Calibri"/>
                <a:cs typeface="Calibri"/>
              </a:rPr>
              <a:t>;</a:t>
            </a:r>
          </a:p>
          <a:p>
            <a:endParaRPr lang="en-US" sz="1400" dirty="0">
              <a:latin typeface="Calibri"/>
              <a:cs typeface="Calibri"/>
            </a:endParaRPr>
          </a:p>
          <a:p>
            <a:r>
              <a:rPr lang="en-US" sz="2400" i="1" dirty="0">
                <a:latin typeface="Calibri"/>
                <a:cs typeface="Calibri"/>
              </a:rPr>
              <a:t>DOT_LEN</a:t>
            </a:r>
            <a:r>
              <a:rPr lang="en-US" sz="2400" dirty="0">
                <a:latin typeface="Calibri"/>
                <a:cs typeface="Calibri"/>
              </a:rPr>
              <a:t> = </a:t>
            </a:r>
            <a:r>
              <a:rPr lang="en-US" sz="2400" b="1" dirty="0">
                <a:latin typeface="Calibri"/>
                <a:cs typeface="Calibri"/>
              </a:rPr>
              <a:t>JOIN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LEN_C  </a:t>
            </a:r>
            <a:r>
              <a:rPr lang="en-US" sz="2400" b="1" dirty="0">
                <a:latin typeface="Calibri"/>
                <a:cs typeface="Calibri"/>
              </a:rPr>
              <a:t>BY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c</a:t>
            </a:r>
            <a:r>
              <a:rPr lang="en-US" sz="2400" dirty="0">
                <a:latin typeface="Calibri"/>
                <a:cs typeface="Calibri"/>
              </a:rPr>
              <a:t>, </a:t>
            </a:r>
            <a:r>
              <a:rPr lang="en-US" sz="2400" i="1" dirty="0">
                <a:latin typeface="Calibri"/>
                <a:cs typeface="Calibri"/>
              </a:rPr>
              <a:t>DOT_PROD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BY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c</a:t>
            </a:r>
            <a:r>
              <a:rPr lang="en-US" sz="2400" dirty="0">
                <a:latin typeface="Calibri"/>
                <a:cs typeface="Calibri"/>
              </a:rPr>
              <a:t>;</a:t>
            </a:r>
          </a:p>
          <a:p>
            <a:r>
              <a:rPr lang="en-US" sz="2400" i="1" dirty="0">
                <a:latin typeface="Calibri"/>
                <a:cs typeface="Calibri"/>
              </a:rPr>
              <a:t>SIM</a:t>
            </a:r>
            <a:r>
              <a:rPr lang="en-US" sz="2400" dirty="0">
                <a:latin typeface="Calibri"/>
                <a:cs typeface="Calibri"/>
              </a:rPr>
              <a:t> = </a:t>
            </a:r>
            <a:r>
              <a:rPr lang="en-US" sz="2400" b="1" dirty="0">
                <a:latin typeface="Calibri"/>
                <a:cs typeface="Calibri"/>
              </a:rPr>
              <a:t>FOREACH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DOT_LEN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GENERATE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d</a:t>
            </a:r>
            <a:r>
              <a:rPr lang="en-US" sz="2400" dirty="0">
                <a:latin typeface="Calibri"/>
                <a:cs typeface="Calibri"/>
              </a:rPr>
              <a:t>, </a:t>
            </a:r>
            <a:r>
              <a:rPr lang="en-US" sz="2400" i="1" dirty="0">
                <a:latin typeface="Calibri"/>
                <a:cs typeface="Calibri"/>
              </a:rPr>
              <a:t>c</a:t>
            </a:r>
            <a:r>
              <a:rPr lang="en-US" sz="2400" dirty="0">
                <a:latin typeface="Calibri"/>
                <a:cs typeface="Calibri"/>
              </a:rPr>
              <a:t>, </a:t>
            </a:r>
            <a:r>
              <a:rPr lang="en-US" sz="2400" i="1" dirty="0" err="1">
                <a:latin typeface="Calibri"/>
                <a:cs typeface="Calibri"/>
              </a:rPr>
              <a:t>d</a:t>
            </a:r>
            <a:r>
              <a:rPr lang="en-US" sz="2400" dirty="0" err="1">
                <a:latin typeface="Calibri"/>
                <a:cs typeface="Calibri"/>
              </a:rPr>
              <a:t>X</a:t>
            </a:r>
            <a:r>
              <a:rPr lang="en-US" sz="2400" i="1" dirty="0" err="1">
                <a:latin typeface="Calibri"/>
                <a:cs typeface="Calibri"/>
              </a:rPr>
              <a:t>c</a:t>
            </a:r>
            <a:r>
              <a:rPr lang="en-US" sz="2400" i="1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/ </a:t>
            </a:r>
            <a:r>
              <a:rPr lang="en-US" sz="2400" i="1" dirty="0" err="1">
                <a:latin typeface="Calibri"/>
                <a:cs typeface="Calibri"/>
              </a:rPr>
              <a:t>len</a:t>
            </a:r>
            <a:r>
              <a:rPr lang="en-US" sz="2400" i="1" baseline="-25000" dirty="0" err="1">
                <a:latin typeface="Calibri"/>
                <a:cs typeface="Calibri"/>
              </a:rPr>
              <a:t>c</a:t>
            </a:r>
            <a:r>
              <a:rPr lang="en-US" sz="2400" dirty="0">
                <a:latin typeface="Calibri"/>
                <a:cs typeface="Calibri"/>
              </a:rPr>
              <a:t>;</a:t>
            </a:r>
          </a:p>
          <a:p>
            <a:endParaRPr lang="en-US" sz="1400" dirty="0">
              <a:latin typeface="Calibri"/>
              <a:cs typeface="Calibri"/>
            </a:endParaRPr>
          </a:p>
          <a:p>
            <a:r>
              <a:rPr lang="en-US" sz="2400" i="1" dirty="0" err="1">
                <a:latin typeface="Calibri"/>
                <a:cs typeface="Calibri"/>
              </a:rPr>
              <a:t>SIM</a:t>
            </a:r>
            <a:r>
              <a:rPr lang="en-US" sz="2400" i="1" baseline="-25000" dirty="0" err="1">
                <a:latin typeface="Calibri"/>
                <a:cs typeface="Calibri"/>
              </a:rPr>
              <a:t>g</a:t>
            </a:r>
            <a:r>
              <a:rPr lang="en-US" sz="2400" dirty="0">
                <a:latin typeface="Calibri"/>
                <a:cs typeface="Calibri"/>
              </a:rPr>
              <a:t> = </a:t>
            </a:r>
            <a:r>
              <a:rPr lang="en-US" sz="2400" b="1" dirty="0">
                <a:latin typeface="Calibri"/>
                <a:cs typeface="Calibri"/>
              </a:rPr>
              <a:t>GROUP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SIM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BY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d</a:t>
            </a:r>
            <a:r>
              <a:rPr lang="en-US" sz="2400" dirty="0">
                <a:latin typeface="Calibri"/>
                <a:cs typeface="Calibri"/>
              </a:rPr>
              <a:t>;</a:t>
            </a:r>
          </a:p>
          <a:p>
            <a:r>
              <a:rPr lang="en-US" sz="2400" i="1" dirty="0">
                <a:latin typeface="Calibri"/>
                <a:cs typeface="Calibri"/>
              </a:rPr>
              <a:t>CLUSTERS </a:t>
            </a:r>
            <a:r>
              <a:rPr lang="en-US" sz="2400" dirty="0">
                <a:latin typeface="Calibri"/>
                <a:cs typeface="Calibri"/>
              </a:rPr>
              <a:t>= </a:t>
            </a:r>
            <a:r>
              <a:rPr lang="en-US" sz="2400" b="1" dirty="0">
                <a:latin typeface="Calibri"/>
                <a:cs typeface="Calibri"/>
              </a:rPr>
              <a:t>FOREACH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 err="1">
                <a:latin typeface="Calibri"/>
                <a:cs typeface="Calibri"/>
              </a:rPr>
              <a:t>SIM</a:t>
            </a:r>
            <a:r>
              <a:rPr lang="en-US" sz="2400" i="1" baseline="-25000" dirty="0" err="1">
                <a:latin typeface="Calibri"/>
                <a:cs typeface="Calibri"/>
              </a:rPr>
              <a:t>g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GENERATE</a:t>
            </a:r>
            <a:r>
              <a:rPr lang="en-US" sz="2400" dirty="0">
                <a:latin typeface="Calibri"/>
                <a:cs typeface="Calibri"/>
              </a:rPr>
              <a:t> TOP(1, 2, </a:t>
            </a:r>
            <a:r>
              <a:rPr lang="en-US" sz="2400" i="1" dirty="0">
                <a:latin typeface="Calibri"/>
                <a:cs typeface="Calibri"/>
              </a:rPr>
              <a:t>SIM</a:t>
            </a:r>
            <a:r>
              <a:rPr lang="en-US" sz="2400" dirty="0">
                <a:latin typeface="Calibri"/>
                <a:cs typeface="Calibri"/>
              </a:rPr>
              <a:t>);</a:t>
            </a:r>
          </a:p>
        </p:txBody>
      </p:sp>
      <p:sp>
        <p:nvSpPr>
          <p:cNvPr id="12" name="Oval 11"/>
          <p:cNvSpPr/>
          <p:nvPr/>
        </p:nvSpPr>
        <p:spPr>
          <a:xfrm>
            <a:off x="1322504" y="1419522"/>
            <a:ext cx="914400" cy="7620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008304" y="4619922"/>
            <a:ext cx="914400" cy="7620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703504" y="2410122"/>
            <a:ext cx="1143000" cy="7620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551104" y="3705522"/>
            <a:ext cx="1143000" cy="7620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474904" y="5534322"/>
            <a:ext cx="1143000" cy="7620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58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8" grpId="0" animBg="1"/>
      <p:bldP spid="9" grpId="0" animBg="1"/>
      <p:bldP spid="13" grpId="0" animBg="1"/>
      <p:bldP spid="1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k</a:t>
            </a:r>
            <a:r>
              <a:rPr lang="en-US" dirty="0"/>
              <a:t>-means in Apache Pig: M-step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24000"/>
            <a:ext cx="84582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Calibri"/>
                <a:cs typeface="Calibri"/>
              </a:rPr>
              <a:t>D_C_W </a:t>
            </a:r>
            <a:r>
              <a:rPr lang="en-US" sz="2400" dirty="0">
                <a:latin typeface="Calibri"/>
                <a:cs typeface="Calibri"/>
              </a:rPr>
              <a:t>=</a:t>
            </a:r>
            <a:r>
              <a:rPr lang="en-US" sz="2400" i="1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JOIN</a:t>
            </a:r>
            <a:r>
              <a:rPr lang="en-US" sz="2400" i="1" dirty="0">
                <a:latin typeface="Calibri"/>
                <a:cs typeface="Calibri"/>
              </a:rPr>
              <a:t> CLUSTERS </a:t>
            </a:r>
            <a:r>
              <a:rPr lang="en-US" sz="2400" b="1" dirty="0">
                <a:latin typeface="Calibri"/>
                <a:cs typeface="Calibri"/>
              </a:rPr>
              <a:t>BY</a:t>
            </a:r>
            <a:r>
              <a:rPr lang="en-US" sz="2400" i="1" dirty="0">
                <a:latin typeface="Calibri"/>
                <a:cs typeface="Calibri"/>
              </a:rPr>
              <a:t> d</a:t>
            </a:r>
            <a:r>
              <a:rPr lang="en-US" sz="2400" dirty="0">
                <a:latin typeface="Calibri"/>
                <a:cs typeface="Calibri"/>
              </a:rPr>
              <a:t>,</a:t>
            </a:r>
            <a:r>
              <a:rPr lang="en-US" sz="2400" i="1" dirty="0">
                <a:latin typeface="Calibri"/>
                <a:cs typeface="Calibri"/>
              </a:rPr>
              <a:t> D </a:t>
            </a:r>
            <a:r>
              <a:rPr lang="en-US" sz="2400" b="1" dirty="0">
                <a:latin typeface="Calibri"/>
                <a:cs typeface="Calibri"/>
              </a:rPr>
              <a:t>BY</a:t>
            </a:r>
            <a:r>
              <a:rPr lang="en-US" sz="2400" i="1" dirty="0">
                <a:latin typeface="Calibri"/>
                <a:cs typeface="Calibri"/>
              </a:rPr>
              <a:t> d</a:t>
            </a:r>
            <a:r>
              <a:rPr lang="en-US" sz="2400" dirty="0">
                <a:latin typeface="Calibri"/>
                <a:cs typeface="Calibri"/>
              </a:rPr>
              <a:t>;</a:t>
            </a:r>
          </a:p>
          <a:p>
            <a:endParaRPr lang="en-US" sz="2400" i="1" dirty="0">
              <a:latin typeface="Calibri"/>
              <a:cs typeface="Calibri"/>
            </a:endParaRPr>
          </a:p>
          <a:p>
            <a:r>
              <a:rPr lang="en-US" sz="2400" i="1" dirty="0" err="1">
                <a:latin typeface="Calibri"/>
                <a:cs typeface="Calibri"/>
              </a:rPr>
              <a:t>D_C_W</a:t>
            </a:r>
            <a:r>
              <a:rPr lang="en-US" sz="2400" i="1" baseline="-25000" dirty="0" err="1">
                <a:latin typeface="Calibri"/>
                <a:cs typeface="Calibri"/>
              </a:rPr>
              <a:t>g</a:t>
            </a:r>
            <a:r>
              <a:rPr lang="en-US" sz="2400" i="1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=</a:t>
            </a:r>
            <a:r>
              <a:rPr lang="en-US" sz="2400" i="1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GROUP</a:t>
            </a:r>
            <a:r>
              <a:rPr lang="en-US" sz="2400" i="1" dirty="0">
                <a:latin typeface="Calibri"/>
                <a:cs typeface="Calibri"/>
              </a:rPr>
              <a:t> D_C_W </a:t>
            </a:r>
            <a:r>
              <a:rPr lang="en-US" sz="2400" b="1" dirty="0">
                <a:latin typeface="Calibri"/>
                <a:cs typeface="Calibri"/>
              </a:rPr>
              <a:t>BY</a:t>
            </a:r>
            <a:r>
              <a:rPr lang="en-US" sz="2400" i="1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(</a:t>
            </a:r>
            <a:r>
              <a:rPr lang="en-US" sz="2400" i="1" dirty="0">
                <a:latin typeface="Calibri"/>
                <a:cs typeface="Calibri"/>
              </a:rPr>
              <a:t>c</a:t>
            </a:r>
            <a:r>
              <a:rPr lang="en-US" sz="2400" dirty="0">
                <a:latin typeface="Calibri"/>
                <a:cs typeface="Calibri"/>
              </a:rPr>
              <a:t>,</a:t>
            </a:r>
            <a:r>
              <a:rPr lang="en-US" sz="2400" i="1" dirty="0">
                <a:latin typeface="Calibri"/>
                <a:cs typeface="Calibri"/>
              </a:rPr>
              <a:t> w</a:t>
            </a:r>
            <a:r>
              <a:rPr lang="en-US" sz="2400" dirty="0">
                <a:latin typeface="Calibri"/>
                <a:cs typeface="Calibri"/>
              </a:rPr>
              <a:t>);</a:t>
            </a:r>
          </a:p>
          <a:p>
            <a:r>
              <a:rPr lang="en-US" sz="2400" i="1" dirty="0">
                <a:latin typeface="Calibri"/>
                <a:cs typeface="Calibri"/>
              </a:rPr>
              <a:t>SUMS </a:t>
            </a:r>
            <a:r>
              <a:rPr lang="en-US" sz="2400" dirty="0">
                <a:latin typeface="Calibri"/>
                <a:cs typeface="Calibri"/>
              </a:rPr>
              <a:t>=</a:t>
            </a:r>
            <a:r>
              <a:rPr lang="en-US" sz="2400" i="1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FOREACH</a:t>
            </a:r>
            <a:r>
              <a:rPr lang="en-US" sz="2400" i="1" dirty="0">
                <a:latin typeface="Calibri"/>
                <a:cs typeface="Calibri"/>
              </a:rPr>
              <a:t> </a:t>
            </a:r>
            <a:r>
              <a:rPr lang="en-US" sz="2400" i="1" dirty="0" err="1">
                <a:latin typeface="Calibri"/>
                <a:cs typeface="Calibri"/>
              </a:rPr>
              <a:t>D_C_W</a:t>
            </a:r>
            <a:r>
              <a:rPr lang="en-US" sz="2400" i="1" baseline="-25000" dirty="0" err="1">
                <a:latin typeface="Calibri"/>
                <a:cs typeface="Calibri"/>
              </a:rPr>
              <a:t>g</a:t>
            </a:r>
            <a:r>
              <a:rPr lang="en-US" sz="2400" i="1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GENERATE</a:t>
            </a:r>
            <a:r>
              <a:rPr lang="en-US" sz="2400" i="1" dirty="0">
                <a:latin typeface="Calibri"/>
                <a:cs typeface="Calibri"/>
              </a:rPr>
              <a:t> c</a:t>
            </a:r>
            <a:r>
              <a:rPr lang="en-US" sz="2400" dirty="0">
                <a:latin typeface="Calibri"/>
                <a:cs typeface="Calibri"/>
              </a:rPr>
              <a:t>,</a:t>
            </a:r>
            <a:r>
              <a:rPr lang="en-US" sz="2400" i="1" dirty="0">
                <a:latin typeface="Calibri"/>
                <a:cs typeface="Calibri"/>
              </a:rPr>
              <a:t> w</a:t>
            </a:r>
            <a:r>
              <a:rPr lang="en-US" sz="2400" dirty="0">
                <a:latin typeface="Calibri"/>
                <a:cs typeface="Calibri"/>
              </a:rPr>
              <a:t>,</a:t>
            </a:r>
            <a:r>
              <a:rPr lang="en-US" sz="2400" i="1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SUM(</a:t>
            </a:r>
            <a:r>
              <a:rPr lang="en-US" sz="2400" i="1" dirty="0">
                <a:latin typeface="Calibri"/>
                <a:cs typeface="Calibri"/>
              </a:rPr>
              <a:t>i</a:t>
            </a:r>
            <a:r>
              <a:rPr lang="en-US" sz="2400" i="1" baseline="-25000" dirty="0">
                <a:latin typeface="Calibri"/>
                <a:cs typeface="Calibri"/>
              </a:rPr>
              <a:t>d</a:t>
            </a:r>
            <a:r>
              <a:rPr lang="en-US" sz="2400" dirty="0">
                <a:latin typeface="Calibri"/>
                <a:cs typeface="Calibri"/>
              </a:rPr>
              <a:t>) </a:t>
            </a:r>
            <a:r>
              <a:rPr lang="en-US" sz="2400" b="1" dirty="0">
                <a:latin typeface="Calibri"/>
                <a:cs typeface="Calibri"/>
              </a:rPr>
              <a:t>AS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sum</a:t>
            </a:r>
            <a:r>
              <a:rPr lang="en-US" sz="2400" dirty="0">
                <a:latin typeface="Calibri"/>
                <a:cs typeface="Calibri"/>
              </a:rPr>
              <a:t>;</a:t>
            </a:r>
          </a:p>
          <a:p>
            <a:endParaRPr lang="en-US" sz="2400" i="1" dirty="0">
              <a:latin typeface="Calibri"/>
              <a:cs typeface="Calibri"/>
            </a:endParaRPr>
          </a:p>
          <a:p>
            <a:r>
              <a:rPr lang="en-US" sz="2400" i="1" dirty="0" err="1">
                <a:latin typeface="Calibri"/>
                <a:cs typeface="Calibri"/>
              </a:rPr>
              <a:t>D_C_W</a:t>
            </a:r>
            <a:r>
              <a:rPr lang="en-US" sz="2400" i="1" baseline="-25000" dirty="0" err="1">
                <a:latin typeface="Calibri"/>
                <a:cs typeface="Calibri"/>
              </a:rPr>
              <a:t>gg</a:t>
            </a:r>
            <a:r>
              <a:rPr lang="en-US" sz="2400" i="1" baseline="-2500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= </a:t>
            </a:r>
            <a:r>
              <a:rPr lang="en-US" sz="2400" b="1" dirty="0">
                <a:latin typeface="Calibri"/>
                <a:cs typeface="Calibri"/>
              </a:rPr>
              <a:t>GROUP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D_C_W </a:t>
            </a:r>
            <a:r>
              <a:rPr lang="en-US" sz="2400" b="1" dirty="0">
                <a:latin typeface="Calibri"/>
                <a:cs typeface="Calibri"/>
              </a:rPr>
              <a:t>BY</a:t>
            </a:r>
            <a:r>
              <a:rPr lang="en-US" sz="2400" i="1" dirty="0">
                <a:latin typeface="Calibri"/>
                <a:cs typeface="Calibri"/>
              </a:rPr>
              <a:t> c</a:t>
            </a:r>
            <a:r>
              <a:rPr lang="en-US" sz="2400" dirty="0">
                <a:latin typeface="Calibri"/>
                <a:cs typeface="Calibri"/>
              </a:rPr>
              <a:t>;</a:t>
            </a:r>
          </a:p>
          <a:p>
            <a:r>
              <a:rPr lang="en-US" sz="2400" i="1" dirty="0">
                <a:latin typeface="Calibri"/>
                <a:cs typeface="Calibri"/>
              </a:rPr>
              <a:t>SIZES </a:t>
            </a:r>
            <a:r>
              <a:rPr lang="en-US" sz="2400" dirty="0">
                <a:latin typeface="Calibri"/>
                <a:cs typeface="Calibri"/>
              </a:rPr>
              <a:t>= </a:t>
            </a:r>
            <a:r>
              <a:rPr lang="en-US" sz="2400" b="1" dirty="0">
                <a:latin typeface="Calibri"/>
                <a:cs typeface="Calibri"/>
              </a:rPr>
              <a:t>FOREACH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 err="1">
                <a:latin typeface="Calibri"/>
                <a:cs typeface="Calibri"/>
              </a:rPr>
              <a:t>D_C_W</a:t>
            </a:r>
            <a:r>
              <a:rPr lang="en-US" sz="2400" i="1" baseline="-25000" dirty="0" err="1">
                <a:latin typeface="Calibri"/>
                <a:cs typeface="Calibri"/>
              </a:rPr>
              <a:t>gg</a:t>
            </a:r>
            <a:r>
              <a:rPr lang="en-US" sz="2400" i="1" baseline="-2500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GENERATE</a:t>
            </a:r>
            <a:r>
              <a:rPr lang="en-US" sz="2400" i="1" dirty="0">
                <a:latin typeface="Calibri"/>
                <a:cs typeface="Calibri"/>
              </a:rPr>
              <a:t> c</a:t>
            </a:r>
            <a:r>
              <a:rPr lang="en-US" sz="2400" dirty="0">
                <a:latin typeface="Calibri"/>
                <a:cs typeface="Calibri"/>
              </a:rPr>
              <a:t>, COUNT(</a:t>
            </a:r>
            <a:r>
              <a:rPr lang="en-US" sz="2400" i="1" dirty="0">
                <a:latin typeface="Calibri"/>
                <a:cs typeface="Calibri"/>
              </a:rPr>
              <a:t>D_C_W</a:t>
            </a:r>
            <a:r>
              <a:rPr lang="en-US" sz="2400" dirty="0">
                <a:latin typeface="Calibri"/>
                <a:cs typeface="Calibri"/>
              </a:rPr>
              <a:t>)</a:t>
            </a:r>
            <a:r>
              <a:rPr lang="en-US" sz="2400" i="1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AS</a:t>
            </a:r>
            <a:r>
              <a:rPr lang="en-US" sz="2400" i="1" dirty="0">
                <a:latin typeface="Calibri"/>
                <a:cs typeface="Calibri"/>
              </a:rPr>
              <a:t> size</a:t>
            </a:r>
            <a:r>
              <a:rPr lang="en-US" sz="2400" dirty="0">
                <a:latin typeface="Calibri"/>
                <a:cs typeface="Calibri"/>
              </a:rPr>
              <a:t>;</a:t>
            </a:r>
          </a:p>
          <a:p>
            <a:endParaRPr lang="en-US" sz="2400" i="1" dirty="0">
              <a:latin typeface="Calibri"/>
              <a:cs typeface="Calibri"/>
            </a:endParaRPr>
          </a:p>
          <a:p>
            <a:r>
              <a:rPr lang="en-US" sz="2400" i="1" dirty="0">
                <a:latin typeface="Calibri"/>
                <a:cs typeface="Calibri"/>
              </a:rPr>
              <a:t>SUMS_SIZES </a:t>
            </a:r>
            <a:r>
              <a:rPr lang="en-US" sz="2400" dirty="0">
                <a:latin typeface="Calibri"/>
                <a:cs typeface="Calibri"/>
              </a:rPr>
              <a:t>= </a:t>
            </a:r>
            <a:r>
              <a:rPr lang="en-US" sz="2400" b="1" dirty="0">
                <a:latin typeface="Calibri"/>
                <a:cs typeface="Calibri"/>
              </a:rPr>
              <a:t>JOIN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SIZES </a:t>
            </a:r>
            <a:r>
              <a:rPr lang="en-US" sz="2400" b="1" dirty="0">
                <a:latin typeface="Calibri"/>
                <a:cs typeface="Calibri"/>
              </a:rPr>
              <a:t>BY</a:t>
            </a:r>
            <a:r>
              <a:rPr lang="en-US" sz="2400" i="1" dirty="0">
                <a:latin typeface="Calibri"/>
                <a:cs typeface="Calibri"/>
              </a:rPr>
              <a:t> c</a:t>
            </a:r>
            <a:r>
              <a:rPr lang="en-US" sz="2400" dirty="0">
                <a:latin typeface="Calibri"/>
                <a:cs typeface="Calibri"/>
              </a:rPr>
              <a:t>,</a:t>
            </a:r>
            <a:r>
              <a:rPr lang="en-US" sz="2400" i="1" dirty="0">
                <a:latin typeface="Calibri"/>
                <a:cs typeface="Calibri"/>
              </a:rPr>
              <a:t> SUMS </a:t>
            </a:r>
            <a:r>
              <a:rPr lang="en-US" sz="2400" b="1" dirty="0">
                <a:latin typeface="Calibri"/>
                <a:cs typeface="Calibri"/>
              </a:rPr>
              <a:t>BY</a:t>
            </a:r>
            <a:r>
              <a:rPr lang="en-US" sz="2400" i="1" dirty="0">
                <a:latin typeface="Calibri"/>
                <a:cs typeface="Calibri"/>
              </a:rPr>
              <a:t> c</a:t>
            </a:r>
            <a:r>
              <a:rPr lang="en-US" sz="2400" dirty="0">
                <a:latin typeface="Calibri"/>
                <a:cs typeface="Calibri"/>
              </a:rPr>
              <a:t>;</a:t>
            </a:r>
          </a:p>
          <a:p>
            <a:r>
              <a:rPr lang="en-US" sz="2400" i="1" dirty="0">
                <a:latin typeface="Calibri"/>
                <a:cs typeface="Calibri"/>
              </a:rPr>
              <a:t>C </a:t>
            </a:r>
            <a:r>
              <a:rPr lang="en-US" sz="2400" dirty="0">
                <a:latin typeface="Calibri"/>
                <a:cs typeface="Calibri"/>
              </a:rPr>
              <a:t>= </a:t>
            </a:r>
            <a:r>
              <a:rPr lang="en-US" sz="2400" b="1" dirty="0">
                <a:latin typeface="Calibri"/>
                <a:cs typeface="Calibri"/>
              </a:rPr>
              <a:t>FOREACH</a:t>
            </a:r>
            <a:r>
              <a:rPr lang="en-US" sz="2400" dirty="0">
                <a:latin typeface="Calibri"/>
                <a:cs typeface="Calibri"/>
              </a:rPr>
              <a:t>  </a:t>
            </a:r>
            <a:r>
              <a:rPr lang="en-US" sz="2400" i="1" dirty="0">
                <a:latin typeface="Calibri"/>
                <a:cs typeface="Calibri"/>
              </a:rPr>
              <a:t>SUMS_SIZES  </a:t>
            </a:r>
            <a:r>
              <a:rPr lang="en-US" sz="2400" b="1" dirty="0">
                <a:latin typeface="Calibri"/>
                <a:cs typeface="Calibri"/>
              </a:rPr>
              <a:t>GENERATE</a:t>
            </a:r>
            <a:r>
              <a:rPr lang="en-US" sz="2400" i="1" dirty="0">
                <a:latin typeface="Calibri"/>
                <a:cs typeface="Calibri"/>
              </a:rPr>
              <a:t> c</a:t>
            </a:r>
            <a:r>
              <a:rPr lang="en-US" sz="2400" dirty="0">
                <a:latin typeface="Calibri"/>
                <a:cs typeface="Calibri"/>
              </a:rPr>
              <a:t>, </a:t>
            </a:r>
            <a:r>
              <a:rPr lang="en-US" sz="2400" i="1" dirty="0">
                <a:latin typeface="Calibri"/>
                <a:cs typeface="Calibri"/>
              </a:rPr>
              <a:t>w</a:t>
            </a:r>
            <a:r>
              <a:rPr lang="en-US" sz="2400" dirty="0">
                <a:latin typeface="Calibri"/>
                <a:cs typeface="Calibri"/>
              </a:rPr>
              <a:t>,</a:t>
            </a:r>
            <a:r>
              <a:rPr lang="en-US" sz="2400" i="1" dirty="0">
                <a:latin typeface="Calibri"/>
                <a:cs typeface="Calibri"/>
              </a:rPr>
              <a:t> sum </a:t>
            </a:r>
            <a:r>
              <a:rPr lang="en-US" sz="2400" dirty="0">
                <a:latin typeface="Calibri"/>
                <a:cs typeface="Calibri"/>
              </a:rPr>
              <a:t>/ </a:t>
            </a:r>
            <a:r>
              <a:rPr lang="en-US" sz="2400" i="1" dirty="0">
                <a:latin typeface="Calibri"/>
                <a:cs typeface="Calibri"/>
              </a:rPr>
              <a:t>size </a:t>
            </a:r>
            <a:r>
              <a:rPr lang="en-US" sz="2400" b="1" dirty="0">
                <a:latin typeface="Calibri"/>
                <a:cs typeface="Calibri"/>
              </a:rPr>
              <a:t>AS</a:t>
            </a:r>
            <a:r>
              <a:rPr lang="en-US" sz="2400" i="1" dirty="0">
                <a:latin typeface="Calibri"/>
                <a:cs typeface="Calibri"/>
              </a:rPr>
              <a:t> </a:t>
            </a:r>
            <a:r>
              <a:rPr lang="en-US" sz="2400" i="1" dirty="0" err="1">
                <a:latin typeface="Calibri"/>
                <a:cs typeface="Calibri"/>
              </a:rPr>
              <a:t>i</a:t>
            </a:r>
            <a:r>
              <a:rPr lang="en-US" sz="2400" i="1" baseline="-25000" dirty="0" err="1">
                <a:latin typeface="Calibri"/>
                <a:cs typeface="Calibri"/>
              </a:rPr>
              <a:t>c</a:t>
            </a:r>
            <a:r>
              <a:rPr lang="en-US" sz="2400" i="1" baseline="-2500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;</a:t>
            </a:r>
          </a:p>
        </p:txBody>
      </p:sp>
      <p:sp>
        <p:nvSpPr>
          <p:cNvPr id="5" name="Oval 4"/>
          <p:cNvSpPr/>
          <p:nvPr/>
        </p:nvSpPr>
        <p:spPr>
          <a:xfrm>
            <a:off x="1828800" y="3200400"/>
            <a:ext cx="1143000" cy="7620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752600" y="2133600"/>
            <a:ext cx="1143000" cy="7620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209800" y="4267200"/>
            <a:ext cx="914400" cy="7620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00200" y="1371600"/>
            <a:ext cx="914400" cy="7620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2041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34270-EA0E-D77A-01B3-AC4036516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 in Spark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DAD526-DFCC-D3D6-0789-E33D0A129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E0E71A-416C-C17D-4CB3-EAECD6EF7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98210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k</a:t>
            </a:r>
            <a:r>
              <a:rPr lang="en-US" dirty="0"/>
              <a:t>-means on </a:t>
            </a:r>
            <a:r>
              <a:rPr lang="en-US" dirty="0" err="1"/>
              <a:t>MapReduce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39000"/>
            <a:ext cx="8229600" cy="4525963"/>
          </a:xfrm>
        </p:spPr>
        <p:txBody>
          <a:bodyPr/>
          <a:lstStyle/>
          <a:p>
            <a:r>
              <a:rPr lang="en-US" dirty="0" err="1"/>
              <a:t>Mappers</a:t>
            </a:r>
            <a:r>
              <a:rPr lang="en-US" dirty="0"/>
              <a:t> read data portions and </a:t>
            </a:r>
            <a:r>
              <a:rPr lang="en-US" dirty="0" err="1"/>
              <a:t>centroids</a:t>
            </a:r>
            <a:endParaRPr lang="en-US" dirty="0"/>
          </a:p>
          <a:p>
            <a:r>
              <a:rPr lang="en-US" dirty="0" err="1"/>
              <a:t>Mappers</a:t>
            </a:r>
            <a:r>
              <a:rPr lang="en-US" dirty="0"/>
              <a:t> </a:t>
            </a:r>
            <a:r>
              <a:rPr lang="en-US" b="1" dirty="0"/>
              <a:t>assign data instances </a:t>
            </a:r>
            <a:r>
              <a:rPr lang="en-US" dirty="0"/>
              <a:t>to clusters</a:t>
            </a:r>
          </a:p>
          <a:p>
            <a:r>
              <a:rPr lang="en-US" dirty="0" err="1"/>
              <a:t>Mappers</a:t>
            </a:r>
            <a:r>
              <a:rPr lang="en-US" dirty="0"/>
              <a:t> </a:t>
            </a:r>
            <a:r>
              <a:rPr lang="en-US" b="1" dirty="0"/>
              <a:t>compute new local </a:t>
            </a:r>
            <a:r>
              <a:rPr lang="en-US" b="1" dirty="0" err="1"/>
              <a:t>centroids</a:t>
            </a:r>
            <a:r>
              <a:rPr lang="en-US" b="1" dirty="0"/>
              <a:t> </a:t>
            </a:r>
            <a:r>
              <a:rPr lang="en-US" dirty="0"/>
              <a:t>and local cluster sizes</a:t>
            </a:r>
          </a:p>
          <a:p>
            <a:r>
              <a:rPr lang="en-US" dirty="0"/>
              <a:t>Reducers </a:t>
            </a:r>
            <a:r>
              <a:rPr lang="en-US" b="1" dirty="0"/>
              <a:t>aggregate local </a:t>
            </a:r>
            <a:r>
              <a:rPr lang="en-US" b="1" dirty="0" err="1"/>
              <a:t>centroids</a:t>
            </a:r>
            <a:r>
              <a:rPr lang="en-US" b="1" dirty="0"/>
              <a:t> </a:t>
            </a:r>
            <a:r>
              <a:rPr lang="en-US" dirty="0"/>
              <a:t>(weighted by local cluster sizes) into new global </a:t>
            </a:r>
            <a:r>
              <a:rPr lang="en-US" dirty="0" err="1"/>
              <a:t>centroids</a:t>
            </a:r>
            <a:endParaRPr lang="en-US" dirty="0"/>
          </a:p>
          <a:p>
            <a:r>
              <a:rPr lang="en-US" dirty="0"/>
              <a:t>Reducers </a:t>
            </a:r>
            <a:r>
              <a:rPr lang="en-US" b="1" dirty="0"/>
              <a:t>write the new </a:t>
            </a:r>
            <a:r>
              <a:rPr lang="en-US" b="1" dirty="0" err="1"/>
              <a:t>centroids</a:t>
            </a:r>
            <a:endParaRPr lang="en-US" b="1" dirty="0"/>
          </a:p>
        </p:txBody>
      </p:sp>
      <p:sp>
        <p:nvSpPr>
          <p:cNvPr id="5" name="Circular Arrow 4"/>
          <p:cNvSpPr/>
          <p:nvPr/>
        </p:nvSpPr>
        <p:spPr>
          <a:xfrm rot="3925217" flipH="1">
            <a:off x="5240918" y="2424358"/>
            <a:ext cx="4431004" cy="3872169"/>
          </a:xfrm>
          <a:prstGeom prst="circularArrow">
            <a:avLst>
              <a:gd name="adj1" fmla="val 4215"/>
              <a:gd name="adj2" fmla="val 971679"/>
              <a:gd name="adj3" fmla="val 17905064"/>
              <a:gd name="adj4" fmla="val 8037137"/>
              <a:gd name="adj5" fmla="val 80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82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CE01B1-6145-B606-B305-681FEF762E45}"/>
              </a:ext>
            </a:extLst>
          </p:cNvPr>
          <p:cNvSpPr txBox="1"/>
          <p:nvPr/>
        </p:nvSpPr>
        <p:spPr>
          <a:xfrm>
            <a:off x="1100138" y="2644170"/>
            <a:ext cx="6043612" cy="15696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200" dirty="0"/>
              <a:t>Need to compute distance (inner product) between every instance and every centroid.</a:t>
            </a:r>
          </a:p>
        </p:txBody>
      </p:sp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73E5850D-5A49-E232-B97F-61074F9842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1514034"/>
              </p:ext>
            </p:extLst>
          </p:nvPr>
        </p:nvGraphicFramePr>
        <p:xfrm>
          <a:off x="1235529" y="4341812"/>
          <a:ext cx="6613071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87240" imgH="583920" progId="Equation.3">
                  <p:embed/>
                </p:oleObj>
              </mc:Choice>
              <mc:Fallback>
                <p:oleObj name="Equation" r:id="rId3" imgW="1587240" imgH="583920" progId="Equation.3">
                  <p:embed/>
                  <p:pic>
                    <p:nvPicPr>
                      <p:cNvPr id="8" name="Object 2">
                        <a:extLst>
                          <a:ext uri="{FF2B5EF4-FFF2-40B4-BE49-F238E27FC236}">
                            <a16:creationId xmlns:a16="http://schemas.microsoft.com/office/drawing/2014/main" id="{73E5850D-5A49-E232-B97F-61074F9842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5529" y="4341812"/>
                        <a:ext cx="6613071" cy="2286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8575">
                        <a:solidFill>
                          <a:schemeClr val="accent1"/>
                        </a:solidFill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3779121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A90F1E-756B-E257-5671-D43F8EE9F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83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F4DC739-F6BC-995F-3633-3DF248F95D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320782"/>
              </p:ext>
            </p:extLst>
          </p:nvPr>
        </p:nvGraphicFramePr>
        <p:xfrm>
          <a:off x="638848" y="355218"/>
          <a:ext cx="5734470" cy="223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1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1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1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r>
                        <a:rPr lang="en-US" sz="2400" dirty="0"/>
                        <a:t>Doc 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doc1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Carnegie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doc1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Mellon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826297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1AC42DF-152C-DB40-07D2-CC9848F479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879907"/>
              </p:ext>
            </p:extLst>
          </p:nvPr>
        </p:nvGraphicFramePr>
        <p:xfrm>
          <a:off x="638848" y="2900981"/>
          <a:ext cx="573447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1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1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1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9367">
                <a:tc>
                  <a:txBody>
                    <a:bodyPr/>
                    <a:lstStyle/>
                    <a:p>
                      <a:r>
                        <a:rPr lang="en-US" sz="2400" dirty="0"/>
                        <a:t>Centroid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doc1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Carnegie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0.854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doc1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Mellon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1.275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92421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075FBCD-9075-86A8-4944-D32E612E5795}"/>
              </a:ext>
            </a:extLst>
          </p:cNvPr>
          <p:cNvSpPr txBox="1"/>
          <p:nvPr/>
        </p:nvSpPr>
        <p:spPr>
          <a:xfrm>
            <a:off x="818730" y="5398774"/>
            <a:ext cx="53673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Computing all pairwise distances is sparse matrix multiplication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0DE323-264B-2900-84F1-4281D020F48F}"/>
              </a:ext>
            </a:extLst>
          </p:cNvPr>
          <p:cNvSpPr txBox="1"/>
          <p:nvPr/>
        </p:nvSpPr>
        <p:spPr>
          <a:xfrm>
            <a:off x="6385688" y="1196464"/>
            <a:ext cx="2644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A[</a:t>
            </a:r>
            <a:r>
              <a:rPr lang="en-US" sz="2000" dirty="0" err="1"/>
              <a:t>docid,word</a:t>
            </a:r>
            <a:r>
              <a:rPr lang="en-US" sz="2000" dirty="0"/>
              <a:t>]=count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27700F-8805-104B-83C4-E38E8C658EFA}"/>
              </a:ext>
            </a:extLst>
          </p:cNvPr>
          <p:cNvSpPr txBox="1"/>
          <p:nvPr/>
        </p:nvSpPr>
        <p:spPr>
          <a:xfrm>
            <a:off x="6373318" y="3776407"/>
            <a:ext cx="27706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B[</a:t>
            </a:r>
            <a:r>
              <a:rPr lang="en-US" sz="2000" dirty="0" err="1"/>
              <a:t>docid,word</a:t>
            </a:r>
            <a:r>
              <a:rPr lang="en-US" sz="2000" dirty="0"/>
              <a:t>]=weight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16F334-D8B8-6635-4C89-640FF8562807}"/>
              </a:ext>
            </a:extLst>
          </p:cNvPr>
          <p:cNvSpPr txBox="1"/>
          <p:nvPr/>
        </p:nvSpPr>
        <p:spPr>
          <a:xfrm>
            <a:off x="6548857" y="5674233"/>
            <a:ext cx="25951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 = </a:t>
            </a:r>
            <a:r>
              <a:rPr lang="en-US" sz="2000" dirty="0" err="1"/>
              <a:t>A.dot</a:t>
            </a:r>
            <a:r>
              <a:rPr lang="en-US" sz="2000" dirty="0"/>
              <a:t>(B.T)</a:t>
            </a:r>
          </a:p>
        </p:txBody>
      </p:sp>
    </p:spTree>
    <p:extLst>
      <p:ext uri="{BB962C8B-B14F-4D97-AF65-F5344CB8AC3E}">
        <p14:creationId xmlns:p14="http://schemas.microsoft.com/office/powerpoint/2010/main" val="156751609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143CC6-C678-E07B-B58A-6AC511493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84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6135D2-711A-1F68-27A0-74D6ECF1E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564" y="0"/>
            <a:ext cx="5956300" cy="584200"/>
          </a:xfrm>
          <a:prstGeom prst="rect">
            <a:avLst/>
          </a:prstGeom>
        </p:spPr>
      </p:pic>
      <p:pic>
        <p:nvPicPr>
          <p:cNvPr id="8" name="Picture 7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4EEBF7F8-5158-2FEF-23F2-B259E87D96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564" y="584200"/>
            <a:ext cx="6385178" cy="463187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5D22EBB-C459-E487-2804-8DEB11CC896C}"/>
              </a:ext>
            </a:extLst>
          </p:cNvPr>
          <p:cNvSpPr/>
          <p:nvPr/>
        </p:nvSpPr>
        <p:spPr>
          <a:xfrm>
            <a:off x="751114" y="743858"/>
            <a:ext cx="4408714" cy="42454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black and red text&#10;&#10;Description automatically generated">
            <a:extLst>
              <a:ext uri="{FF2B5EF4-FFF2-40B4-BE49-F238E27FC236}">
                <a16:creationId xmlns:a16="http://schemas.microsoft.com/office/drawing/2014/main" id="{997B6C9D-8003-E245-273A-4BBE3EEFEEA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143"/>
          <a:stretch/>
        </p:blipFill>
        <p:spPr>
          <a:xfrm>
            <a:off x="336549" y="5216071"/>
            <a:ext cx="5740400" cy="1603828"/>
          </a:xfrm>
          <a:prstGeom prst="rect">
            <a:avLst/>
          </a:prstGeom>
        </p:spPr>
      </p:pic>
      <p:pic>
        <p:nvPicPr>
          <p:cNvPr id="13" name="Picture 12" descr="A number with numbers in a row&#10;&#10;Description automatically generated with medium confidence">
            <a:extLst>
              <a:ext uri="{FF2B5EF4-FFF2-40B4-BE49-F238E27FC236}">
                <a16:creationId xmlns:a16="http://schemas.microsoft.com/office/drawing/2014/main" id="{F7B6ED96-0C19-9720-5C9A-1949A4F3D6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1727" y="259442"/>
            <a:ext cx="2311400" cy="52752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35243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8279</TotalTime>
  <Words>4495</Words>
  <Application>Microsoft Macintosh PowerPoint</Application>
  <PresentationFormat>On-screen Show (4:3)</PresentationFormat>
  <Paragraphs>974</Paragraphs>
  <Slides>84</Slides>
  <Notes>48</Notes>
  <HiddenSlides>3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94" baseType="lpstr">
      <vt:lpstr>Arial</vt:lpstr>
      <vt:lpstr>Book Antiqua</vt:lpstr>
      <vt:lpstr>Calibri</vt:lpstr>
      <vt:lpstr>Cambria Math</vt:lpstr>
      <vt:lpstr>Courier New</vt:lpstr>
      <vt:lpstr>Lucida Sans</vt:lpstr>
      <vt:lpstr>Times New Roman</vt:lpstr>
      <vt:lpstr>Wingdings</vt:lpstr>
      <vt:lpstr>Office Theme</vt:lpstr>
      <vt:lpstr>Equation</vt:lpstr>
      <vt:lpstr>10-605 / 10-405 Map-Reduce and Spark Sample Workflows</vt:lpstr>
      <vt:lpstr>Announcements</vt:lpstr>
      <vt:lpstr>Map-Reduce: An Origin Story</vt:lpstr>
      <vt:lpstr>PowerPoint Presentation</vt:lpstr>
      <vt:lpstr>PowerPoint Presentation</vt:lpstr>
      <vt:lpstr>Handling large corpora</vt:lpstr>
      <vt:lpstr>PowerPoint Presentation</vt:lpstr>
      <vt:lpstr>PowerPoint Presentation</vt:lpstr>
      <vt:lpstr>PowerPoint Presentation</vt:lpstr>
      <vt:lpstr>Unix Sort</vt:lpstr>
      <vt:lpstr>Large-vocabulary word count with sorting</vt:lpstr>
      <vt:lpstr>Large-vocabulary word count</vt:lpstr>
      <vt:lpstr>Large-vocabulary word count</vt:lpstr>
      <vt:lpstr>Large-vocabulary word count</vt:lpstr>
      <vt:lpstr>Large-vocabulary word count</vt:lpstr>
      <vt:lpstr>Large-vocabulary word count</vt:lpstr>
      <vt:lpstr>Parallelizing Stream And Sort</vt:lpstr>
      <vt:lpstr>Next step: Doing ”Stream and Sort” In Parallel</vt:lpstr>
      <vt:lpstr>Stream and Sort Counting  Distributed Counting</vt:lpstr>
      <vt:lpstr>Stream and Sort Counting  Distributed Counting</vt:lpstr>
      <vt:lpstr>Stream and Sort Counting  Distributed Counting</vt:lpstr>
      <vt:lpstr>PowerPoint Presentation</vt:lpstr>
      <vt:lpstr>Stream and Sort Counting  Distributed Counting</vt:lpstr>
      <vt:lpstr>Stream and Sort Counting  Distributed Counting</vt:lpstr>
      <vt:lpstr>Stream and Sort Counting  Distributed Counting</vt:lpstr>
      <vt:lpstr>Stream and Sort Counting  Distributed Counting</vt:lpstr>
      <vt:lpstr>Map-Reduce is Distributed Stream-and-Sort:  Map, Shuffle-Sort, Reduce</vt:lpstr>
      <vt:lpstr>More About Spark</vt:lpstr>
      <vt:lpstr>Spark is MapReduce++</vt:lpstr>
      <vt:lpstr>Many Things Are Built On Spark</vt:lpstr>
      <vt:lpstr>Why is Caching in Memory Important?</vt:lpstr>
      <vt:lpstr>PowerPoint Presentation</vt:lpstr>
      <vt:lpstr>Why is Caching in Memory Important?</vt:lpstr>
      <vt:lpstr>Why Transformations and Actions?</vt:lpstr>
      <vt:lpstr>Why Transformations and Actions?</vt:lpstr>
      <vt:lpstr>Cost of Transformations</vt:lpstr>
      <vt:lpstr>Cost of Transformations</vt:lpstr>
      <vt:lpstr>Communication without RDDs</vt:lpstr>
      <vt:lpstr>Communication without RDDs</vt:lpstr>
      <vt:lpstr>Communication without RDDs</vt:lpstr>
      <vt:lpstr>Communication without RDDs</vt:lpstr>
      <vt:lpstr>Communication without RDDs</vt:lpstr>
      <vt:lpstr>Some SAMPLE MR WORKFLOWS</vt:lpstr>
      <vt:lpstr>Comparing COUNTS in Two Corpora</vt:lpstr>
      <vt:lpstr>Classic PySpark examples: wordcount</vt:lpstr>
      <vt:lpstr>PowerPoint Presentation</vt:lpstr>
      <vt:lpstr>PowerPoint Presentation</vt:lpstr>
      <vt:lpstr>Comparing Bigrams</vt:lpstr>
      <vt:lpstr>Scoring bigrams as phrases</vt:lpstr>
      <vt:lpstr>Comparing Phrases</vt:lpstr>
      <vt:lpstr>Comparing bigrams and compute filter by phrasiness</vt:lpstr>
      <vt:lpstr>The pipeline – basic counts</vt:lpstr>
      <vt:lpstr>The pipeline w/o filtering</vt:lpstr>
      <vt:lpstr>Filtering phrases</vt:lpstr>
      <vt:lpstr>Filtering phrases</vt:lpstr>
      <vt:lpstr>PageRank</vt:lpstr>
      <vt:lpstr>Google’s PageRank</vt:lpstr>
      <vt:lpstr>Google’s PageRank</vt:lpstr>
      <vt:lpstr>Google’s PageRank (Brin &amp; Page, http://www-db.stanford.edu/~backrub/google.html)</vt:lpstr>
      <vt:lpstr>PageRank in Memory</vt:lpstr>
      <vt:lpstr>PageRank in Spark</vt:lpstr>
      <vt:lpstr>A Slow Implementation</vt:lpstr>
      <vt:lpstr>A Slow Implementation</vt:lpstr>
      <vt:lpstr>A Slow Implementation</vt:lpstr>
      <vt:lpstr>Fixing A Slow Implementation</vt:lpstr>
      <vt:lpstr>Keeping v in memory</vt:lpstr>
      <vt:lpstr>An example from Ron Bekkerman k-means in Map-Reduce</vt:lpstr>
      <vt:lpstr>Example: k-means clustering</vt:lpstr>
      <vt:lpstr>k-means Clustering</vt:lpstr>
      <vt:lpstr>PowerPoint Presentation</vt:lpstr>
      <vt:lpstr>Example: k-means clustering</vt:lpstr>
      <vt:lpstr>Parallelizing k-means</vt:lpstr>
      <vt:lpstr>Parallelizing k-means</vt:lpstr>
      <vt:lpstr>Parallelizing k-means</vt:lpstr>
      <vt:lpstr>k-means on MapReduce</vt:lpstr>
      <vt:lpstr>Questions</vt:lpstr>
      <vt:lpstr>Questions</vt:lpstr>
      <vt:lpstr>k-means in Apache Pig: input data</vt:lpstr>
      <vt:lpstr>k-means in Apache Pig: E-step</vt:lpstr>
      <vt:lpstr>k-means in Apache Pig: M-step</vt:lpstr>
      <vt:lpstr>Matrix Multiplication in Spark</vt:lpstr>
      <vt:lpstr>k-means on MapReduce</vt:lpstr>
      <vt:lpstr>PowerPoint Presentation</vt:lpstr>
      <vt:lpstr>PowerPoint Presentation</vt:lpstr>
    </vt:vector>
  </TitlesOfParts>
  <Company>Carnegie Mellon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from Big Datasets</dc:title>
  <dc:creator>William Cohen</dc:creator>
  <cp:lastModifiedBy>William W Cohen</cp:lastModifiedBy>
  <cp:revision>591</cp:revision>
  <dcterms:created xsi:type="dcterms:W3CDTF">2012-01-03T16:05:59Z</dcterms:created>
  <dcterms:modified xsi:type="dcterms:W3CDTF">2025-01-22T19:14:23Z</dcterms:modified>
</cp:coreProperties>
</file>