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421" r:id="rId2"/>
    <p:sldId id="517" r:id="rId3"/>
    <p:sldId id="457" r:id="rId4"/>
    <p:sldId id="510" r:id="rId5"/>
    <p:sldId id="511" r:id="rId6"/>
    <p:sldId id="514" r:id="rId7"/>
    <p:sldId id="543" r:id="rId8"/>
    <p:sldId id="542" r:id="rId9"/>
    <p:sldId id="544" r:id="rId10"/>
    <p:sldId id="545" r:id="rId11"/>
    <p:sldId id="546" r:id="rId12"/>
    <p:sldId id="449" r:id="rId13"/>
    <p:sldId id="503" r:id="rId14"/>
    <p:sldId id="475" r:id="rId15"/>
    <p:sldId id="474" r:id="rId16"/>
    <p:sldId id="327" r:id="rId17"/>
    <p:sldId id="364" r:id="rId18"/>
    <p:sldId id="369" r:id="rId19"/>
    <p:sldId id="370" r:id="rId20"/>
    <p:sldId id="550" r:id="rId21"/>
    <p:sldId id="371" r:id="rId22"/>
    <p:sldId id="519" r:id="rId23"/>
    <p:sldId id="365" r:id="rId24"/>
    <p:sldId id="518" r:id="rId25"/>
    <p:sldId id="476" r:id="rId26"/>
    <p:sldId id="477" r:id="rId27"/>
    <p:sldId id="478" r:id="rId28"/>
    <p:sldId id="479" r:id="rId29"/>
    <p:sldId id="480" r:id="rId30"/>
    <p:sldId id="520" r:id="rId31"/>
    <p:sldId id="481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521" r:id="rId41"/>
    <p:sldId id="278" r:id="rId42"/>
    <p:sldId id="279" r:id="rId43"/>
    <p:sldId id="280" r:id="rId44"/>
    <p:sldId id="281" r:id="rId45"/>
    <p:sldId id="282" r:id="rId46"/>
    <p:sldId id="283" r:id="rId47"/>
    <p:sldId id="549" r:id="rId48"/>
    <p:sldId id="284" r:id="rId49"/>
    <p:sldId id="285" r:id="rId50"/>
    <p:sldId id="286" r:id="rId51"/>
    <p:sldId id="547" r:id="rId52"/>
    <p:sldId id="548" r:id="rId53"/>
    <p:sldId id="482" r:id="rId54"/>
    <p:sldId id="483" r:id="rId55"/>
    <p:sldId id="484" r:id="rId56"/>
    <p:sldId id="485" r:id="rId57"/>
    <p:sldId id="486" r:id="rId58"/>
    <p:sldId id="423" r:id="rId59"/>
    <p:sldId id="551" r:id="rId60"/>
    <p:sldId id="487" r:id="rId61"/>
    <p:sldId id="489" r:id="rId62"/>
    <p:sldId id="552" r:id="rId63"/>
    <p:sldId id="488" r:id="rId64"/>
    <p:sldId id="490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12B5"/>
    <a:srgbClr val="EA1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44" autoAdjust="0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132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8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8963-C6D4-C9C5-7163-B92C2909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96071-C963-AC91-0C99-A81DFE82F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E3585-B580-DC75-42C7-695C892CF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5D8E8-CE95-1C2A-9A51-A1E3D7128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09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97DC-9EDA-2D15-4A61-EF827181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9392A-E363-D607-75FB-A1DBC23D0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84955-6BAE-0DB0-9EAD-804BAFDD6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5E756-A80F-D09A-3C7B-C5F869FB2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01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68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L1-norm of a is sort of like size of set k</a:t>
            </a:r>
          </a:p>
          <a:p>
            <a:r>
              <a:rPr lang="en-US" dirty="0"/>
              <a:t>m = 1/k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41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7FFA-D5A1-D665-D1E9-5FE7E1C9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D50D1-9156-3198-A2F1-F8CFCB309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8EFF1-3732-1BCB-2501-AE56E834A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FA158-303C-C879-9A5F-573AF235D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60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839B-3021-934A-E317-46B8B483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CF76B-208A-D352-3F97-EF5258958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1F155-D639-D0C8-83EB-F6A9B7C5B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write Markov </a:t>
            </a:r>
            <a:r>
              <a:rPr lang="en-US" dirty="0" err="1"/>
              <a:t>ineq</a:t>
            </a:r>
            <a:r>
              <a:rPr lang="en-US" dirty="0"/>
              <a:t> as P(X &gt;= </a:t>
            </a:r>
            <a:r>
              <a:rPr lang="en-US" dirty="0" err="1"/>
              <a:t>cE</a:t>
            </a:r>
            <a:r>
              <a:rPr lang="en-US" dirty="0"/>
              <a:t>[X]) &lt; (1 / c E[X]) * E[X] = 1/c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788D8-F9B0-6D1D-4A79-0E710B0CF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3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3BF84-53E4-864A-EEA2-9D2BA4D0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3C6CF-68C2-1F3A-C7E3-AF42372B4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4B018-6393-E1B0-3BB7-E8730951E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 hash table would do this in constant time and storage</a:t>
            </a:r>
          </a:p>
          <a:p>
            <a:r>
              <a:rPr lang="en-US" dirty="0"/>
              <a:t>the hash trick does this </a:t>
            </a:r>
            <a:r>
              <a:rPr lang="en-US"/>
              <a:t>as</a:t>
            </a:r>
            <a:r>
              <a:rPr lang="en-US" baseline="0"/>
              <a:t> well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E27B7-7020-0829-1BDA-9561E178BE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8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is dot product </a:t>
            </a:r>
            <a:r>
              <a:rPr lang="en-US" b="1" dirty="0"/>
              <a:t>w . x1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33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distances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25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/pdf/1307.2982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39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C346-2D9D-C03E-C83F-26659570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1B81D-601B-523E-A49E-70F3BFEB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5ED98-AD24-EB2B-073D-4D2EE91A2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/pdf/1307.2982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57255-99D9-41A1-0569-1B47E466F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67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4179-3436-45AD-3D17-281778E1B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C162B-53A2-28D0-CDBF-E8CD0F507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CE8CC-FFE5-FA9A-9047-50CD54F94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/pdf/1307.2982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FB9B8-F892-6A5B-006D-C04199693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86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D31C7-D999-ECEB-BF6B-2B4A11BB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717DB-8A8E-71E5-56F2-D65C71109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36A17-A9BC-670E-8B70-01BA747C9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/pdf/1307.2982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872A8-ED71-AF41-605A-7CC972071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93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A034-F977-E010-97E6-F17198D2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3E029-80CA-33E6-7392-B0C6F20B4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CD72A-AC45-A0C3-3810-36F9F35B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/pdf/1307.2982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8A460-AE0A-822B-FD23-361323246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51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D734F-7834-8C05-53BD-C44E0FC1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E857C-4C2D-4E47-7251-D89270652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8BD38-BF56-2A23-AF3D-D7904F887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/pdf/1307.2982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06BF8-785D-D0B2-A64C-A078BFF03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66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23C8-C7FA-1795-E7D0-C519184B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3768E-FFE6-845D-A919-9DCE9EB15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DF523-A01B-F784-60A2-8117E977E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/abs/1908.10396 - </a:t>
            </a:r>
            <a:r>
              <a:rPr lang="en-US" dirty="0" err="1"/>
              <a:t>sanjiv</a:t>
            </a:r>
            <a:r>
              <a:rPr lang="en-US" dirty="0"/>
              <a:t> paper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18EED-FFF8-6371-8E36-28750DA23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37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A8E3-1795-D480-C62A-3135CC2B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7B41-278D-5D16-C603-3925F308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9204-5A66-43CA-4E42-8047F0F2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49" y="1257300"/>
            <a:ext cx="8463151" cy="5308600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Scalable computation on clusters</a:t>
            </a:r>
          </a:p>
          <a:p>
            <a:pPr lvl="1"/>
            <a:r>
              <a:rPr lang="en-US" sz="2000" dirty="0"/>
              <a:t>MapReduce, Spark and iteration, Spark workflows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Learning as optimization</a:t>
            </a:r>
          </a:p>
          <a:p>
            <a:pPr lvl="1"/>
            <a:r>
              <a:rPr lang="en-US" sz="2000" dirty="0"/>
              <a:t>MLE for binomials, linear regression, logistic regression, k-means clustering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Tools: </a:t>
            </a:r>
            <a:r>
              <a:rPr lang="en-US" sz="2000" dirty="0"/>
              <a:t>exact solutions, gradient descent (batch, parallel, stochastic), EM and EM-like methods (for k-means)</a:t>
            </a:r>
          </a:p>
          <a:p>
            <a:r>
              <a:rPr lang="en-US" sz="2000" dirty="0"/>
              <a:t>“Craft” of ML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feature extraction / augmentation/ kernels</a:t>
            </a:r>
            <a:endParaRPr lang="en-US" sz="1700" dirty="0"/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regularization and sparsity hyperparameter tuning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the hash trick and efficient SGD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distributed ML – interaction with sparsity,  </a:t>
            </a:r>
            <a:r>
              <a:rPr lang="en-US" sz="2000" dirty="0" err="1"/>
              <a:t>AllReduce</a:t>
            </a:r>
            <a:endParaRPr lang="en-US" sz="2000" dirty="0"/>
          </a:p>
          <a:p>
            <a:r>
              <a:rPr lang="en-US" sz="2000" b="1" dirty="0">
                <a:solidFill>
                  <a:srgbClr val="0070C0"/>
                </a:solidFill>
              </a:rPr>
              <a:t>Tool:  </a:t>
            </a:r>
            <a:r>
              <a:rPr lang="en-US" sz="2000" dirty="0"/>
              <a:t>Randomized algorithms</a:t>
            </a:r>
          </a:p>
          <a:p>
            <a:pPr lvl="1"/>
            <a:r>
              <a:rPr lang="en-US" sz="2000" dirty="0"/>
              <a:t>Bloom filter (a randomized set)</a:t>
            </a:r>
          </a:p>
          <a:p>
            <a:pPr lvl="1"/>
            <a:r>
              <a:rPr lang="en-US" sz="2000" dirty="0"/>
              <a:t>Count-Min sketch (a randomized mapping x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i="1" dirty="0">
                <a:sym typeface="Wingdings" pitchFamily="2" charset="2"/>
              </a:rPr>
              <a:t>R+ </a:t>
            </a:r>
            <a:r>
              <a:rPr lang="en-US" sz="2000" dirty="0">
                <a:sym typeface="Wingdings" pitchFamily="2" charset="2"/>
              </a:rPr>
              <a:t>)</a:t>
            </a:r>
          </a:p>
          <a:p>
            <a:pPr lvl="1"/>
            <a:r>
              <a:rPr lang="en-US" sz="2000" b="1" dirty="0">
                <a:sym typeface="Wingdings" pitchFamily="2" charset="2"/>
              </a:rPr>
              <a:t>Today</a:t>
            </a:r>
            <a:r>
              <a:rPr lang="en-US" sz="2000" dirty="0">
                <a:sym typeface="Wingdings" pitchFamily="2" charset="2"/>
              </a:rPr>
              <a:t>: locality sensitive hashing (LSH)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D1BB-99F1-2961-B28B-512B020D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9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 / Count-min sketch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D20C45-838B-3E2B-FE85-04191C25B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00" y="1096962"/>
            <a:ext cx="8803121" cy="546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0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6D2B-BDE7-2535-5353-7C703F86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0655-945D-FA51-6B3A-5D122540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filters:  the math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16F07-9AA3-314A-848C-FDB3866F7E5B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38A00-34AE-9769-6E43-598D86EE5B6A}"/>
              </a:ext>
            </a:extLst>
          </p:cNvPr>
          <p:cNvSpPr txBox="1"/>
          <p:nvPr/>
        </p:nvSpPr>
        <p:spPr>
          <a:xfrm>
            <a:off x="400049" y="1424342"/>
            <a:ext cx="241458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(1) Assume for all a,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x: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D8739E9-7BB2-E1AC-9859-2897FE619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847" y="1977323"/>
            <a:ext cx="4089400" cy="825500"/>
          </a:xfrm>
          <a:prstGeom prst="rect">
            <a:avLst/>
          </a:prstGeom>
        </p:spPr>
      </p:pic>
      <p:pic>
        <p:nvPicPr>
          <p:cNvPr id="8" name="Picture 7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2B05BDC9-6BB6-0F77-432C-BA66F2716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578" y="1130742"/>
            <a:ext cx="2527300" cy="812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0AAEDC-04C9-3EC2-D93F-F189B3FE3E38}"/>
              </a:ext>
            </a:extLst>
          </p:cNvPr>
          <p:cNvSpPr txBox="1"/>
          <p:nvPr/>
        </p:nvSpPr>
        <p:spPr>
          <a:xfrm>
            <a:off x="400049" y="2205407"/>
            <a:ext cx="30718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(2) Assume for all a, b,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j, x, x’:</a:t>
            </a:r>
          </a:p>
        </p:txBody>
      </p:sp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A6FA33A-80C9-BC3C-6EA0-5800B1530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2874592"/>
            <a:ext cx="8388830" cy="39834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41F890-703B-0F75-C3CF-F4B6B15D922B}"/>
              </a:ext>
            </a:extLst>
          </p:cNvPr>
          <p:cNvSpPr txBox="1"/>
          <p:nvPr/>
        </p:nvSpPr>
        <p:spPr>
          <a:xfrm>
            <a:off x="0" y="3529295"/>
            <a:ext cx="2814637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up to k elements of set of size 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7D9A1-1B0A-C87C-93D8-99044550D8B1}"/>
              </a:ext>
            </a:extLst>
          </p:cNvPr>
          <p:cNvSpPr txBox="1"/>
          <p:nvPr/>
        </p:nvSpPr>
        <p:spPr>
          <a:xfrm>
            <a:off x="6869829" y="1227814"/>
            <a:ext cx="20158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Probability over random choice of </a:t>
            </a:r>
            <a:r>
              <a:rPr lang="en-US" i="1" dirty="0"/>
              <a:t>h</a:t>
            </a:r>
            <a:r>
              <a:rPr lang="en-US" i="1" baseline="-25000" dirty="0"/>
              <a:t>i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68C44-ADB1-6159-6C59-2A7A1DCCF0E0}"/>
              </a:ext>
            </a:extLst>
          </p:cNvPr>
          <p:cNvSpPr txBox="1"/>
          <p:nvPr/>
        </p:nvSpPr>
        <p:spPr>
          <a:xfrm>
            <a:off x="4342394" y="6412011"/>
            <a:ext cx="282993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…then repeatedly apply (2) </a:t>
            </a:r>
          </a:p>
        </p:txBody>
      </p:sp>
    </p:spTree>
    <p:extLst>
      <p:ext uri="{BB962C8B-B14F-4D97-AF65-F5344CB8AC3E}">
        <p14:creationId xmlns:p14="http://schemas.microsoft.com/office/powerpoint/2010/main" val="103951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E8DE-3BBA-9E78-B31C-53EDCCD3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4537-18A7-F53F-7DF1-9E1AFE7A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Bloom filters:  the math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0F834-6695-4841-7158-572EB41B85DE}"/>
              </a:ext>
            </a:extLst>
          </p:cNvPr>
          <p:cNvSpPr txBox="1"/>
          <p:nvPr/>
        </p:nvSpPr>
        <p:spPr>
          <a:xfrm>
            <a:off x="7988881" y="19810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241AAA36-6C4B-6F52-DD66-E347625EE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874592"/>
            <a:ext cx="8388830" cy="3983408"/>
          </a:xfrm>
          <a:prstGeom prst="rect">
            <a:avLst/>
          </a:prstGeom>
        </p:spPr>
      </p:pic>
      <p:pic>
        <p:nvPicPr>
          <p:cNvPr id="6" name="Picture 5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79226768-BB31-D770-E4ED-23E60A1A0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6" y="1080391"/>
            <a:ext cx="7607300" cy="977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D6A50-0882-77F5-D5E1-0982B71BC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51" y="1976394"/>
            <a:ext cx="6184900" cy="736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4CC2CF-596A-51BD-97E8-122B8358C76B}"/>
              </a:ext>
            </a:extLst>
          </p:cNvPr>
          <p:cNvSpPr/>
          <p:nvPr/>
        </p:nvSpPr>
        <p:spPr>
          <a:xfrm>
            <a:off x="279400" y="1080391"/>
            <a:ext cx="8388830" cy="163260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1311F-0D71-1F31-B4D8-D815499F2640}"/>
              </a:ext>
            </a:extLst>
          </p:cNvPr>
          <p:cNvSpPr txBox="1"/>
          <p:nvPr/>
        </p:nvSpPr>
        <p:spPr>
          <a:xfrm>
            <a:off x="6155431" y="3729037"/>
            <a:ext cx="42960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&lt; 𝛿</a:t>
            </a:r>
          </a:p>
        </p:txBody>
      </p:sp>
    </p:spTree>
    <p:extLst>
      <p:ext uri="{BB962C8B-B14F-4D97-AF65-F5344CB8AC3E}">
        <p14:creationId xmlns:p14="http://schemas.microsoft.com/office/powerpoint/2010/main" val="22270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E7A9-E41D-F9C9-FAE3-7D005361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C446-4EC4-75CF-D3F8-A7A889BB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Count-min sketch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828ADF-4236-A029-EB19-1DAD80AF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450263" cy="11612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Suppose </a:t>
            </a:r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i="1" dirty="0"/>
              <a:t>x</a:t>
            </a:r>
            <a:r>
              <a:rPr lang="en-US" dirty="0"/>
              <a:t>] is the value that </a:t>
            </a:r>
            <a:r>
              <a:rPr lang="en-US" i="1" dirty="0"/>
              <a:t>x</a:t>
            </a:r>
            <a:r>
              <a:rPr lang="en-US" dirty="0"/>
              <a:t> “should have” in the sketch: i.e., if the increment calls for </a:t>
            </a:r>
            <a:r>
              <a:rPr lang="en-US" i="1" dirty="0"/>
              <a:t>x </a:t>
            </a:r>
            <a:r>
              <a:rPr lang="en-US" dirty="0"/>
              <a:t> were with values </a:t>
            </a:r>
            <a:r>
              <a:rPr lang="en-US" i="1" dirty="0"/>
              <a:t>v</a:t>
            </a:r>
            <a:r>
              <a:rPr lang="en-US" i="1" baseline="-25000" dirty="0"/>
              <a:t>1</a:t>
            </a:r>
            <a:r>
              <a:rPr lang="en-US" i="1" dirty="0"/>
              <a:t>, …, </a:t>
            </a:r>
            <a:r>
              <a:rPr lang="en-US" i="1" dirty="0" err="1"/>
              <a:t>v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dirty="0"/>
              <a:t>then</a:t>
            </a:r>
            <a:endParaRPr lang="en-US" i="1" baseline="-25000" dirty="0"/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E7F69EED-CF06-6B1F-204B-7F2E2831B6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41"/>
          <a:stretch/>
        </p:blipFill>
        <p:spPr>
          <a:xfrm>
            <a:off x="3759200" y="2037954"/>
            <a:ext cx="2334199" cy="957262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8B5D246-0FCB-6BF7-AC77-001BC057E871}"/>
              </a:ext>
            </a:extLst>
          </p:cNvPr>
          <p:cNvSpPr txBox="1">
            <a:spLocks/>
          </p:cNvSpPr>
          <p:nvPr/>
        </p:nvSpPr>
        <p:spPr>
          <a:xfrm>
            <a:off x="279400" y="3207544"/>
            <a:ext cx="8185724" cy="6552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 the same argument used for the Bloom filter:</a:t>
            </a:r>
            <a:endParaRPr lang="en-US" i="1" baseline="-25000" dirty="0"/>
          </a:p>
        </p:txBody>
      </p:sp>
      <p:pic>
        <p:nvPicPr>
          <p:cNvPr id="10" name="Picture 9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8FBD947-7E6B-9018-68D6-BA26830D4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68763"/>
            <a:ext cx="9081137" cy="162163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118AC4D-A332-A4B2-8181-A9EB780228C1}"/>
              </a:ext>
            </a:extLst>
          </p:cNvPr>
          <p:cNvSpPr/>
          <p:nvPr/>
        </p:nvSpPr>
        <p:spPr>
          <a:xfrm>
            <a:off x="2300288" y="4956189"/>
            <a:ext cx="2371725" cy="96043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8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B8A7-DF13-12F3-A2F6-48F4B483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52D5-D131-7A67-8A68-672ABA8B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Count-min sketch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066966-FECB-F3A7-B11C-D555832F3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450263" cy="11612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Suppose </a:t>
            </a:r>
            <a:r>
              <a:rPr lang="en-US" b="1" dirty="0"/>
              <a:t>a</a:t>
            </a:r>
            <a:r>
              <a:rPr lang="en-US" dirty="0"/>
              <a:t>[</a:t>
            </a:r>
            <a:r>
              <a:rPr lang="en-US" i="1" dirty="0"/>
              <a:t>x</a:t>
            </a:r>
            <a:r>
              <a:rPr lang="en-US" dirty="0"/>
              <a:t>] is the value that </a:t>
            </a:r>
            <a:r>
              <a:rPr lang="en-US" i="1" dirty="0"/>
              <a:t>x</a:t>
            </a:r>
            <a:r>
              <a:rPr lang="en-US" dirty="0"/>
              <a:t> “should have” in the sketch: i.e., if the increment calls for </a:t>
            </a:r>
            <a:r>
              <a:rPr lang="en-US" i="1" dirty="0"/>
              <a:t>x </a:t>
            </a:r>
            <a:r>
              <a:rPr lang="en-US" dirty="0"/>
              <a:t> were with values </a:t>
            </a:r>
            <a:r>
              <a:rPr lang="en-US" i="1" dirty="0"/>
              <a:t>v</a:t>
            </a:r>
            <a:r>
              <a:rPr lang="en-US" i="1" baseline="-25000" dirty="0"/>
              <a:t>1</a:t>
            </a:r>
            <a:r>
              <a:rPr lang="en-US" i="1" dirty="0"/>
              <a:t>, …, </a:t>
            </a:r>
            <a:r>
              <a:rPr lang="en-US" i="1" dirty="0" err="1"/>
              <a:t>v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dirty="0"/>
              <a:t>then</a:t>
            </a:r>
            <a:endParaRPr lang="en-US" i="1" baseline="-25000" dirty="0"/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6BB28405-84F8-4DD8-6E72-86060C9C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41"/>
          <a:stretch/>
        </p:blipFill>
        <p:spPr>
          <a:xfrm>
            <a:off x="3759200" y="2037954"/>
            <a:ext cx="2334199" cy="957262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25E6E18-D6EC-A014-80F6-AE98C5738D1C}"/>
              </a:ext>
            </a:extLst>
          </p:cNvPr>
          <p:cNvSpPr txBox="1">
            <a:spLocks/>
          </p:cNvSpPr>
          <p:nvPr/>
        </p:nvSpPr>
        <p:spPr>
          <a:xfrm>
            <a:off x="279400" y="3207544"/>
            <a:ext cx="8185724" cy="6552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 the similar argument used for the Bloom filter:</a:t>
            </a:r>
            <a:endParaRPr lang="en-US" i="1" baseline="-25000" dirty="0"/>
          </a:p>
        </p:txBody>
      </p:sp>
      <p:pic>
        <p:nvPicPr>
          <p:cNvPr id="4" name="Picture 3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1D8105B4-CFF0-E0D5-10E4-48F8A0787B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360"/>
          <a:stretch/>
        </p:blipFill>
        <p:spPr>
          <a:xfrm>
            <a:off x="279400" y="3862785"/>
            <a:ext cx="8630092" cy="139501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93CA7AD-6333-2567-9C91-4E417A087736}"/>
              </a:ext>
            </a:extLst>
          </p:cNvPr>
          <p:cNvSpPr/>
          <p:nvPr/>
        </p:nvSpPr>
        <p:spPr>
          <a:xfrm>
            <a:off x="2354659" y="4560292"/>
            <a:ext cx="2809081" cy="96043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0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197F2-4C5C-091B-34E0-A98688F48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6500-A860-164E-76B1-12EE052B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CM-Sketch:  the math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B0B97-91C1-E04C-0743-99C32E77D27F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360394F9-CCAF-92BF-38CD-EEA9885EF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60"/>
          <a:stretch/>
        </p:blipFill>
        <p:spPr>
          <a:xfrm>
            <a:off x="234508" y="1054157"/>
            <a:ext cx="8630092" cy="139501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7A7E584-D528-8D7F-96C4-113AAEA1C1E8}"/>
              </a:ext>
            </a:extLst>
          </p:cNvPr>
          <p:cNvGrpSpPr/>
          <p:nvPr/>
        </p:nvGrpSpPr>
        <p:grpSpPr>
          <a:xfrm>
            <a:off x="238384" y="2477216"/>
            <a:ext cx="8689716" cy="4380784"/>
            <a:chOff x="238384" y="2477216"/>
            <a:chExt cx="8689716" cy="4380784"/>
          </a:xfrm>
        </p:grpSpPr>
        <p:pic>
          <p:nvPicPr>
            <p:cNvPr id="12" name="Picture 11" descr="A math equations on a white background&#10;&#10;AI-generated content may be incorrect.">
              <a:extLst>
                <a:ext uri="{FF2B5EF4-FFF2-40B4-BE49-F238E27FC236}">
                  <a16:creationId xmlns:a16="http://schemas.microsoft.com/office/drawing/2014/main" id="{A0C333FA-00EA-85C3-AD48-33CEC28BB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9400" y="2874592"/>
              <a:ext cx="8388830" cy="398340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2D9D3C-CC08-DDDE-A47E-46E35034B206}"/>
                </a:ext>
              </a:extLst>
            </p:cNvPr>
            <p:cNvSpPr txBox="1"/>
            <p:nvPr/>
          </p:nvSpPr>
          <p:spPr>
            <a:xfrm>
              <a:off x="4342394" y="6412011"/>
              <a:ext cx="2829931" cy="30777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/>
                <a:t>…then repeatedly apply (2)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AC83B6-FC0B-8FD4-61D7-5F8FBDF24302}"/>
                </a:ext>
              </a:extLst>
            </p:cNvPr>
            <p:cNvSpPr/>
            <p:nvPr/>
          </p:nvSpPr>
          <p:spPr>
            <a:xfrm>
              <a:off x="256954" y="2818504"/>
              <a:ext cx="8671146" cy="4039496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9B0900-8753-1AAA-0AA4-0E8F237DE184}"/>
                </a:ext>
              </a:extLst>
            </p:cNvPr>
            <p:cNvSpPr txBox="1"/>
            <p:nvPr/>
          </p:nvSpPr>
          <p:spPr>
            <a:xfrm>
              <a:off x="238384" y="2477216"/>
              <a:ext cx="2128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recap of BF math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BC79FDC-EEE5-28E2-A064-6EA32D087D58}"/>
              </a:ext>
            </a:extLst>
          </p:cNvPr>
          <p:cNvSpPr txBox="1"/>
          <p:nvPr/>
        </p:nvSpPr>
        <p:spPr>
          <a:xfrm>
            <a:off x="925512" y="5437872"/>
            <a:ext cx="7096605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(excess in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[h(x)] due to collisions with other x’) &gt; 𝜺 ||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||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&lt;  1/e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E40B-D680-8C2E-97B7-001C8E12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21A1-D822-30CE-8B2D-C0558E77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CM-Sketch:  the math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16743-82B4-3B9B-219B-10B3837E338A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E1B958EE-05A1-1169-8990-1D1833F74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60"/>
          <a:stretch/>
        </p:blipFill>
        <p:spPr>
          <a:xfrm>
            <a:off x="234508" y="1054157"/>
            <a:ext cx="8630092" cy="1395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12489D-08E7-526D-EC3F-B6D63DC77707}"/>
              </a:ext>
            </a:extLst>
          </p:cNvPr>
          <p:cNvSpPr txBox="1"/>
          <p:nvPr/>
        </p:nvSpPr>
        <p:spPr>
          <a:xfrm>
            <a:off x="623888" y="4897556"/>
            <a:ext cx="7529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Expectation is: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DCCFB-4D46-607E-7ADB-6FA0F591E83A}"/>
              </a:ext>
            </a:extLst>
          </p:cNvPr>
          <p:cNvSpPr txBox="1"/>
          <p:nvPr/>
        </p:nvSpPr>
        <p:spPr>
          <a:xfrm>
            <a:off x="1001252" y="3429001"/>
            <a:ext cx="697117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(excess in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[h(x)] due to collisions with other x’) &gt; 𝜺 ||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||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&lt;  1/e</a:t>
            </a:r>
          </a:p>
        </p:txBody>
      </p:sp>
      <p:pic>
        <p:nvPicPr>
          <p:cNvPr id="10" name="Picture 9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5C5AB1C5-00FD-ECCA-2DA2-3242BD6B5E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4" t="16050" r="1890"/>
          <a:stretch/>
        </p:blipFill>
        <p:spPr>
          <a:xfrm>
            <a:off x="2528887" y="4865866"/>
            <a:ext cx="2400301" cy="863600"/>
          </a:xfrm>
          <a:prstGeom prst="rect">
            <a:avLst/>
          </a:prstGeom>
        </p:spPr>
      </p:pic>
      <p:pic>
        <p:nvPicPr>
          <p:cNvPr id="18" name="Picture 17" descr="A close up of a text&#10;&#10;AI-generated content may be incorrect.">
            <a:extLst>
              <a:ext uri="{FF2B5EF4-FFF2-40B4-BE49-F238E27FC236}">
                <a16:creationId xmlns:a16="http://schemas.microsoft.com/office/drawing/2014/main" id="{0646C9AF-C208-1F2F-D1FA-AB92416D66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0" r="1397"/>
          <a:stretch/>
        </p:blipFill>
        <p:spPr>
          <a:xfrm>
            <a:off x="647700" y="3924820"/>
            <a:ext cx="6677026" cy="863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078728-328E-3CEA-7B0A-73B4A8F0663D}"/>
              </a:ext>
            </a:extLst>
          </p:cNvPr>
          <p:cNvSpPr txBox="1"/>
          <p:nvPr/>
        </p:nvSpPr>
        <p:spPr>
          <a:xfrm>
            <a:off x="784797" y="2801464"/>
            <a:ext cx="7529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Goal: show that for a particular hash function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25D266-A2A6-8994-2686-ABD5B403C64D}"/>
              </a:ext>
            </a:extLst>
          </p:cNvPr>
          <p:cNvSpPr txBox="1"/>
          <p:nvPr/>
        </p:nvSpPr>
        <p:spPr>
          <a:xfrm>
            <a:off x="623888" y="5839499"/>
            <a:ext cx="2805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 the goal is  to show:</a:t>
            </a:r>
          </a:p>
        </p:txBody>
      </p:sp>
      <p:pic>
        <p:nvPicPr>
          <p:cNvPr id="22" name="Picture 21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F7A77F8E-EB47-0F70-369D-38B025B79C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3726"/>
          <a:stretch/>
        </p:blipFill>
        <p:spPr>
          <a:xfrm>
            <a:off x="3306764" y="5757009"/>
            <a:ext cx="3322636" cy="86925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7A6502-428C-2F99-F8A2-58345566D0DE}"/>
              </a:ext>
            </a:extLst>
          </p:cNvPr>
          <p:cNvSpPr txBox="1"/>
          <p:nvPr/>
        </p:nvSpPr>
        <p:spPr>
          <a:xfrm>
            <a:off x="6629400" y="5936076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 1/e</a:t>
            </a:r>
          </a:p>
        </p:txBody>
      </p:sp>
      <p:pic>
        <p:nvPicPr>
          <p:cNvPr id="26" name="Picture 25" descr="A black math symbols on a white background&#10;&#10;AI-generated content may be incorrect.">
            <a:extLst>
              <a:ext uri="{FF2B5EF4-FFF2-40B4-BE49-F238E27FC236}">
                <a16:creationId xmlns:a16="http://schemas.microsoft.com/office/drawing/2014/main" id="{2C6275CF-1D6E-10A7-5754-7D2384EC3D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68" t="11806" r="5150" b="25235"/>
          <a:stretch/>
        </p:blipFill>
        <p:spPr>
          <a:xfrm>
            <a:off x="5105402" y="4824941"/>
            <a:ext cx="2795587" cy="759599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648DBD8-E412-1670-8EC8-2A1209B382DF}"/>
              </a:ext>
            </a:extLst>
          </p:cNvPr>
          <p:cNvSpPr txBox="1"/>
          <p:nvPr/>
        </p:nvSpPr>
        <p:spPr>
          <a:xfrm>
            <a:off x="7515226" y="4115047"/>
            <a:ext cx="1412874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Markov</a:t>
            </a:r>
          </a:p>
          <a:p>
            <a:pPr algn="ctr"/>
            <a:r>
              <a:rPr lang="en-US" dirty="0"/>
              <a:t>inequality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F417F-EB61-AECE-A255-1127B28B5CD7}"/>
              </a:ext>
            </a:extLst>
          </p:cNvPr>
          <p:cNvSpPr txBox="1"/>
          <p:nvPr/>
        </p:nvSpPr>
        <p:spPr>
          <a:xfrm>
            <a:off x="6122988" y="3825876"/>
            <a:ext cx="2805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hash function </a:t>
            </a:r>
            <a:r>
              <a:rPr lang="en-US" i="1" dirty="0"/>
              <a:t>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0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9" grpId="0"/>
      <p:bldP spid="20" grpId="0"/>
      <p:bldP spid="23" grpId="0"/>
      <p:bldP spid="27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5484-3CF9-1A58-0B16-8E6D67DF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8913-A2FD-8FCA-24DE-220ADFD2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CM-Sketch:  the Markov Inequality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C8242-68BA-B291-3544-2BBACB510E64}"/>
              </a:ext>
            </a:extLst>
          </p:cNvPr>
          <p:cNvSpPr txBox="1"/>
          <p:nvPr/>
        </p:nvSpPr>
        <p:spPr>
          <a:xfrm>
            <a:off x="3986213" y="1096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A black math symbols on a white background&#10;&#10;AI-generated content may be incorrect.">
            <a:extLst>
              <a:ext uri="{FF2B5EF4-FFF2-40B4-BE49-F238E27FC236}">
                <a16:creationId xmlns:a16="http://schemas.microsoft.com/office/drawing/2014/main" id="{9FE55132-AFBA-FB89-00DF-987608F278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68" t="11806" r="5150" b="25235"/>
          <a:stretch/>
        </p:blipFill>
        <p:spPr>
          <a:xfrm>
            <a:off x="1004889" y="1281628"/>
            <a:ext cx="2795587" cy="759599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42FBA3-7CCC-FFCE-33C3-C094D75E0BA0}"/>
              </a:ext>
            </a:extLst>
          </p:cNvPr>
          <p:cNvSpPr txBox="1"/>
          <p:nvPr/>
        </p:nvSpPr>
        <p:spPr>
          <a:xfrm>
            <a:off x="4170943" y="1281628"/>
            <a:ext cx="3336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X is a random variable that has </a:t>
            </a:r>
            <a:r>
              <a:rPr lang="en-US" b="1" dirty="0"/>
              <a:t>non-negative</a:t>
            </a:r>
            <a:r>
              <a:rPr lang="en-US" dirty="0"/>
              <a:t> real values</a:t>
            </a:r>
          </a:p>
        </p:txBody>
      </p:sp>
      <p:pic>
        <p:nvPicPr>
          <p:cNvPr id="11" name="Picture 10" descr="A close up of black text&#10;&#10;AI-generated content may be incorrect.">
            <a:extLst>
              <a:ext uri="{FF2B5EF4-FFF2-40B4-BE49-F238E27FC236}">
                <a16:creationId xmlns:a16="http://schemas.microsoft.com/office/drawing/2014/main" id="{C5725DD9-022C-6894-2BB8-39AA745BD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93" y="3534629"/>
            <a:ext cx="7277100" cy="1155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F79F48-E05B-0450-F8CE-A9C786EA6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93" y="2719116"/>
            <a:ext cx="7772400" cy="60425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03909A-901E-9C95-2FCE-86ED743A4D67}"/>
              </a:ext>
            </a:extLst>
          </p:cNvPr>
          <p:cNvCxnSpPr>
            <a:cxnSpLocks/>
          </p:cNvCxnSpPr>
          <p:nvPr/>
        </p:nvCxnSpPr>
        <p:spPr>
          <a:xfrm flipH="1">
            <a:off x="1955800" y="3111316"/>
            <a:ext cx="246279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0825559-5210-8396-DAB9-AFE814C395EF}"/>
              </a:ext>
            </a:extLst>
          </p:cNvPr>
          <p:cNvSpPr txBox="1"/>
          <p:nvPr/>
        </p:nvSpPr>
        <p:spPr>
          <a:xfrm flipH="1">
            <a:off x="1357312" y="2861706"/>
            <a:ext cx="30003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≥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F49A5D-6656-C1DD-ACCB-995466B979AA}"/>
              </a:ext>
            </a:extLst>
          </p:cNvPr>
          <p:cNvCxnSpPr>
            <a:cxnSpLocks/>
          </p:cNvCxnSpPr>
          <p:nvPr/>
        </p:nvCxnSpPr>
        <p:spPr>
          <a:xfrm flipH="1">
            <a:off x="4847722" y="3021243"/>
            <a:ext cx="1457828" cy="1122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4C76C50-7F93-DE2C-27F2-6E4628F53350}"/>
              </a:ext>
            </a:extLst>
          </p:cNvPr>
          <p:cNvSpPr txBox="1"/>
          <p:nvPr/>
        </p:nvSpPr>
        <p:spPr>
          <a:xfrm flipH="1">
            <a:off x="4831051" y="3198168"/>
            <a:ext cx="14744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</a:rPr>
              <a:t>c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170B7C6-3873-CEC4-E0A6-5A072D9E040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8211" b="25192"/>
          <a:stretch/>
        </p:blipFill>
        <p:spPr>
          <a:xfrm>
            <a:off x="3402052" y="5446603"/>
            <a:ext cx="851906" cy="418028"/>
          </a:xfrm>
          <a:prstGeom prst="rect">
            <a:avLst/>
          </a:prstGeom>
        </p:spPr>
      </p:pic>
      <p:sp>
        <p:nvSpPr>
          <p:cNvPr id="34" name="Down Arrow 33">
            <a:extLst>
              <a:ext uri="{FF2B5EF4-FFF2-40B4-BE49-F238E27FC236}">
                <a16:creationId xmlns:a16="http://schemas.microsoft.com/office/drawing/2014/main" id="{D6AA1A92-72CE-C3E9-9FA2-C8ACFB249125}"/>
              </a:ext>
            </a:extLst>
          </p:cNvPr>
          <p:cNvSpPr/>
          <p:nvPr/>
        </p:nvSpPr>
        <p:spPr>
          <a:xfrm>
            <a:off x="4418593" y="4576194"/>
            <a:ext cx="429129" cy="65303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DB9288F-FA16-CAA3-7D2D-8CB311DE9F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3393" t="12269"/>
          <a:stretch/>
        </p:blipFill>
        <p:spPr>
          <a:xfrm>
            <a:off x="4253958" y="5469880"/>
            <a:ext cx="2645356" cy="4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7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967A-3151-783B-7F99-E28BB811F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9973-7B03-D52C-CE48-C7877767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Count-min sketch result: recap</a:t>
            </a:r>
          </a:p>
        </p:txBody>
      </p:sp>
      <p:pic>
        <p:nvPicPr>
          <p:cNvPr id="4" name="Picture 3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7476F73C-1BAC-262F-659D-FAD39D138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360"/>
          <a:stretch/>
        </p:blipFill>
        <p:spPr>
          <a:xfrm>
            <a:off x="256954" y="1833960"/>
            <a:ext cx="8630092" cy="139501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699D6C1-73B0-93F9-18F6-7177967C8BE6}"/>
              </a:ext>
            </a:extLst>
          </p:cNvPr>
          <p:cNvSpPr/>
          <p:nvPr/>
        </p:nvSpPr>
        <p:spPr>
          <a:xfrm>
            <a:off x="2203515" y="2592389"/>
            <a:ext cx="2700338" cy="960439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1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Application of a Count-Min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1" y="1257300"/>
            <a:ext cx="8012530" cy="28143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Problem: find the semantic orientation of a review (positive or negative) using a large corpus.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/>
              <a:t>positive words co-occur more frequently than expected near other positive words; likewise for negative words</a:t>
            </a:r>
          </a:p>
          <a:p>
            <a:pPr lvl="1"/>
            <a:r>
              <a:rPr lang="en-US" dirty="0"/>
              <a:t>so pick a few </a:t>
            </a:r>
            <a:r>
              <a:rPr lang="en-US" dirty="0" err="1"/>
              <a:t>pos</a:t>
            </a:r>
            <a:r>
              <a:rPr lang="en-US" dirty="0"/>
              <a:t>/</a:t>
            </a:r>
            <a:r>
              <a:rPr lang="en-US" dirty="0" err="1"/>
              <a:t>neg</a:t>
            </a:r>
            <a:r>
              <a:rPr lang="en-US" dirty="0"/>
              <a:t> seeds and compute</a:t>
            </a:r>
          </a:p>
        </p:txBody>
      </p:sp>
      <p:pic>
        <p:nvPicPr>
          <p:cNvPr id="4" name="Picture 3" descr="Screen Shot 2014-02-26 at 10.26.2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0" y="5233804"/>
            <a:ext cx="7086600" cy="81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1094"/>
          <a:stretch/>
        </p:blipFill>
        <p:spPr>
          <a:xfrm>
            <a:off x="2076075" y="4323749"/>
            <a:ext cx="3685321" cy="8353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19475" y="4211687"/>
            <a:ext cx="1101855" cy="5042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25765" y="4323749"/>
            <a:ext cx="793710" cy="158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8209" y="4027021"/>
            <a:ext cx="173755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x appears near y</a:t>
            </a:r>
          </a:p>
        </p:txBody>
      </p:sp>
    </p:spTree>
    <p:extLst>
      <p:ext uri="{BB962C8B-B14F-4D97-AF65-F5344CB8AC3E}">
        <p14:creationId xmlns:p14="http://schemas.microsoft.com/office/powerpoint/2010/main" val="187093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Application of a Count-Min Sketch</a:t>
            </a:r>
          </a:p>
        </p:txBody>
      </p:sp>
      <p:pic>
        <p:nvPicPr>
          <p:cNvPr id="4" name="Picture 3" descr="Screen Shot 2014-02-26 at 10.26.2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0" y="2749607"/>
            <a:ext cx="7086600" cy="81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1094"/>
          <a:stretch/>
        </p:blipFill>
        <p:spPr>
          <a:xfrm>
            <a:off x="2076075" y="1839552"/>
            <a:ext cx="3685321" cy="8353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19475" y="1727490"/>
            <a:ext cx="1101855" cy="5042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25765" y="1839552"/>
            <a:ext cx="793710" cy="158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8209" y="1542824"/>
            <a:ext cx="173755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x appears near 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55" y="4545079"/>
            <a:ext cx="8723320" cy="6996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340" y="3837790"/>
            <a:ext cx="6845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Turney, 2002 used two seeds, “excellent” and “poor”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21" y="5520114"/>
            <a:ext cx="8662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general, SO(w) can be written in terms of logs of products of counters for w, with and without seeds</a:t>
            </a:r>
          </a:p>
        </p:txBody>
      </p:sp>
    </p:spTree>
    <p:extLst>
      <p:ext uri="{BB962C8B-B14F-4D97-AF65-F5344CB8AC3E}">
        <p14:creationId xmlns:p14="http://schemas.microsoft.com/office/powerpoint/2010/main" val="28509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Application of a Count-Min Sketch</a:t>
            </a:r>
          </a:p>
        </p:txBody>
      </p:sp>
      <p:pic>
        <p:nvPicPr>
          <p:cNvPr id="9" name="Picture 8" descr="Screen Shot 2014-02-26 at 10.32.4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9988"/>
            <a:ext cx="9144000" cy="32227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4206" y="1454200"/>
            <a:ext cx="6427624" cy="1200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CM-CU:  CM with “conservative update” - for </a:t>
            </a:r>
            <a:r>
              <a:rPr lang="en-US" sz="2400" i="1" dirty="0"/>
              <a:t>&lt;</a:t>
            </a:r>
            <a:r>
              <a:rPr lang="en-US" sz="2400" i="1" dirty="0" err="1"/>
              <a:t>j,+c</a:t>
            </a:r>
            <a:r>
              <a:rPr lang="en-US" sz="2400" i="1" dirty="0"/>
              <a:t>&gt; </a:t>
            </a:r>
            <a:r>
              <a:rPr lang="en-US" sz="2400" dirty="0"/>
              <a:t>increment counters just enough to make the new estimate for </a:t>
            </a:r>
            <a:r>
              <a:rPr lang="en-US" sz="2400" i="1" dirty="0"/>
              <a:t>j</a:t>
            </a:r>
            <a:r>
              <a:rPr lang="en-US" sz="2400" dirty="0"/>
              <a:t> grow by </a:t>
            </a:r>
            <a:r>
              <a:rPr lang="en-US" sz="2400" i="1" dirty="0"/>
              <a:t>c</a:t>
            </a:r>
            <a:r>
              <a:rPr lang="en-US" sz="2400" dirty="0"/>
              <a:t>  </a:t>
            </a:r>
          </a:p>
        </p:txBody>
      </p:sp>
      <p:cxnSp>
        <p:nvCxnSpPr>
          <p:cNvPr id="15" name="Straight Arrow Connector 14"/>
          <p:cNvCxnSpPr>
            <a:stCxn id="12" idx="2"/>
          </p:cNvCxnSpPr>
          <p:nvPr/>
        </p:nvCxnSpPr>
        <p:spPr>
          <a:xfrm>
            <a:off x="4258018" y="2654528"/>
            <a:ext cx="0" cy="8246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7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Locality Sensitive Hashing (LSH)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90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  <a:p>
            <a:pPr lvl="1"/>
            <a:r>
              <a:rPr lang="en-US" dirty="0"/>
              <a:t>map feature vector </a:t>
            </a:r>
            <a:r>
              <a:rPr lang="en-US" b="1" dirty="0" err="1"/>
              <a:t>x</a:t>
            </a:r>
            <a:r>
              <a:rPr lang="en-US" b="1" dirty="0"/>
              <a:t> </a:t>
            </a:r>
            <a:r>
              <a:rPr lang="en-US" dirty="0"/>
              <a:t>to bit vector</a:t>
            </a:r>
            <a:r>
              <a:rPr lang="en-US" b="1" dirty="0"/>
              <a:t> </a:t>
            </a:r>
            <a:r>
              <a:rPr lang="en-US" b="1" dirty="0" err="1"/>
              <a:t>bx</a:t>
            </a:r>
            <a:endParaRPr lang="en-US" dirty="0"/>
          </a:p>
          <a:p>
            <a:pPr lvl="1"/>
            <a:r>
              <a:rPr lang="en-US" dirty="0"/>
              <a:t>ensure that </a:t>
            </a:r>
            <a:r>
              <a:rPr lang="en-US" b="1" dirty="0" err="1"/>
              <a:t>bx</a:t>
            </a:r>
            <a:r>
              <a:rPr lang="en-US" b="1" dirty="0"/>
              <a:t> </a:t>
            </a:r>
            <a:r>
              <a:rPr lang="en-US" dirty="0"/>
              <a:t>preserves “similarity”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352" y="1181100"/>
            <a:ext cx="5367409" cy="5367409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Projections</a:t>
            </a:r>
          </a:p>
        </p:txBody>
      </p:sp>
    </p:spTree>
    <p:extLst>
      <p:ext uri="{BB962C8B-B14F-4D97-AF65-F5344CB8AC3E}">
        <p14:creationId xmlns:p14="http://schemas.microsoft.com/office/powerpoint/2010/main" val="3894528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projections</a:t>
            </a:r>
          </a:p>
        </p:txBody>
      </p:sp>
      <p:sp>
        <p:nvSpPr>
          <p:cNvPr id="4" name="Oval 13"/>
          <p:cNvSpPr>
            <a:spLocks noChangeArrowheads="1"/>
          </p:cNvSpPr>
          <p:nvPr/>
        </p:nvSpPr>
        <p:spPr bwMode="auto">
          <a:xfrm>
            <a:off x="3052245" y="2661457"/>
            <a:ext cx="2360505" cy="233284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17" descr="cir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39"/>
          <a:stretch>
            <a:fillRect/>
          </a:stretch>
        </p:blipFill>
        <p:spPr bwMode="auto">
          <a:xfrm rot="2725339">
            <a:off x="3431433" y="2779817"/>
            <a:ext cx="2438143" cy="1227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20"/>
          <p:cNvSpPr>
            <a:spLocks noChangeShapeType="1"/>
          </p:cNvSpPr>
          <p:nvPr/>
        </p:nvSpPr>
        <p:spPr bwMode="auto">
          <a:xfrm>
            <a:off x="3052245" y="2661457"/>
            <a:ext cx="2557214" cy="2527245"/>
          </a:xfrm>
          <a:prstGeom prst="line">
            <a:avLst/>
          </a:prstGeom>
          <a:noFill/>
          <a:ln w="3048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rot="16200000">
            <a:off x="4232498" y="1762436"/>
            <a:ext cx="0" cy="4130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4232498" y="1786642"/>
            <a:ext cx="0" cy="40824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21"/>
          <p:cNvSpPr>
            <a:spLocks noChangeShapeType="1"/>
          </p:cNvSpPr>
          <p:nvPr/>
        </p:nvSpPr>
        <p:spPr bwMode="auto">
          <a:xfrm flipV="1">
            <a:off x="4232498" y="2564256"/>
            <a:ext cx="1376961" cy="126362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855537" y="2467054"/>
            <a:ext cx="2852277" cy="28188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5216042" y="2369852"/>
            <a:ext cx="299161" cy="33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600" dirty="0"/>
              <a:t>u</a:t>
            </a:r>
          </a:p>
        </p:txBody>
      </p:sp>
      <p:sp>
        <p:nvSpPr>
          <p:cNvPr id="12" name="Line 23"/>
          <p:cNvSpPr>
            <a:spLocks noChangeShapeType="1"/>
          </p:cNvSpPr>
          <p:nvPr/>
        </p:nvSpPr>
        <p:spPr bwMode="auto">
          <a:xfrm flipH="1">
            <a:off x="2855537" y="3827878"/>
            <a:ext cx="1376961" cy="1263622"/>
          </a:xfrm>
          <a:prstGeom prst="line">
            <a:avLst/>
          </a:prstGeom>
          <a:noFill/>
          <a:ln w="9525">
            <a:solidFill>
              <a:srgbClr val="0000FF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2953891" y="4838371"/>
            <a:ext cx="364731" cy="36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200" dirty="0"/>
              <a:t>-</a:t>
            </a:r>
            <a:r>
              <a:rPr lang="en-US" dirty="0"/>
              <a:t>u</a:t>
            </a:r>
          </a:p>
        </p:txBody>
      </p:sp>
      <p:sp>
        <p:nvSpPr>
          <p:cNvPr id="14" name="AutoShape 25"/>
          <p:cNvSpPr>
            <a:spLocks/>
          </p:cNvSpPr>
          <p:nvPr/>
        </p:nvSpPr>
        <p:spPr bwMode="auto">
          <a:xfrm rot="2320195">
            <a:off x="5709863" y="5233253"/>
            <a:ext cx="98354" cy="247054"/>
          </a:xfrm>
          <a:prstGeom prst="rightBrace">
            <a:avLst>
              <a:gd name="adj1" fmla="val 211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5707814" y="5285904"/>
            <a:ext cx="403663" cy="400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600" dirty="0">
                <a:latin typeface="Times New Roman" charset="0"/>
                <a:cs typeface="Times New Roman" charset="0"/>
              </a:rPr>
              <a:t>2</a:t>
            </a:r>
            <a:r>
              <a:rPr lang="el-GR" sz="2000" dirty="0">
                <a:latin typeface="Times New Roman" charset="0"/>
                <a:cs typeface="Times New Roman" charset="0"/>
              </a:rPr>
              <a:t>γ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819801" y="2803962"/>
            <a:ext cx="1175289" cy="1030190"/>
            <a:chOff x="6583032" y="2577517"/>
            <a:chExt cx="1175289" cy="1030190"/>
          </a:xfrm>
        </p:grpSpPr>
        <p:sp>
          <p:nvSpPr>
            <p:cNvPr id="16" name="TextBox 15"/>
            <p:cNvSpPr txBox="1"/>
            <p:nvPr/>
          </p:nvSpPr>
          <p:spPr>
            <a:xfrm>
              <a:off x="6583032" y="26614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432" y="28138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87832" y="25775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40232" y="27299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81653" y="30859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4053" y="32383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86453" y="30020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38853" y="31544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57991" y="2801473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 rot="10565245">
            <a:off x="3346626" y="3727186"/>
            <a:ext cx="1153694" cy="1030190"/>
            <a:chOff x="6583032" y="2577517"/>
            <a:chExt cx="1153694" cy="1030190"/>
          </a:xfrm>
        </p:grpSpPr>
        <p:sp>
          <p:nvSpPr>
            <p:cNvPr id="28" name="TextBox 27"/>
            <p:cNvSpPr txBox="1"/>
            <p:nvPr/>
          </p:nvSpPr>
          <p:spPr>
            <a:xfrm>
              <a:off x="6583032" y="26614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35432" y="28138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87832" y="25775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040232" y="27299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981653" y="30859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34053" y="32383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86453" y="30020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75116" y="31544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57991" y="2801473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729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projections</a:t>
            </a: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rot="16200000">
            <a:off x="2522642" y="1947102"/>
            <a:ext cx="0" cy="4130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2522642" y="1971308"/>
            <a:ext cx="0" cy="40824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1904358" y="1971307"/>
            <a:ext cx="1189599" cy="3900219"/>
          </a:xfrm>
          <a:prstGeom prst="line">
            <a:avLst/>
          </a:prstGeom>
          <a:noFill/>
          <a:ln w="3810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2109945" y="2988628"/>
            <a:ext cx="1175289" cy="1030190"/>
            <a:chOff x="6583032" y="2577517"/>
            <a:chExt cx="1175289" cy="1030190"/>
          </a:xfrm>
        </p:grpSpPr>
        <p:sp>
          <p:nvSpPr>
            <p:cNvPr id="16" name="TextBox 15"/>
            <p:cNvSpPr txBox="1"/>
            <p:nvPr/>
          </p:nvSpPr>
          <p:spPr>
            <a:xfrm>
              <a:off x="6583032" y="26614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432" y="28138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87832" y="25775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40232" y="27299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81653" y="30859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4053" y="32383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86453" y="30020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38853" y="31544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57991" y="2801473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 rot="10565245">
            <a:off x="1636770" y="3911852"/>
            <a:ext cx="1153694" cy="1030190"/>
            <a:chOff x="6583032" y="2577517"/>
            <a:chExt cx="1153694" cy="1030190"/>
          </a:xfrm>
        </p:grpSpPr>
        <p:sp>
          <p:nvSpPr>
            <p:cNvPr id="28" name="TextBox 27"/>
            <p:cNvSpPr txBox="1"/>
            <p:nvPr/>
          </p:nvSpPr>
          <p:spPr>
            <a:xfrm>
              <a:off x="6583032" y="26614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35432" y="28138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87832" y="25775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040232" y="27299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981653" y="30859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34053" y="32383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86453" y="30020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75116" y="31544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57991" y="2801473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2896256" y="3307991"/>
            <a:ext cx="304800" cy="216932"/>
          </a:xfrm>
          <a:prstGeom prst="ellipse">
            <a:avLst/>
          </a:prstGeom>
          <a:noFill/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cxnSpLocks/>
          </p:cNvCxnSpPr>
          <p:nvPr/>
        </p:nvCxnSpPr>
        <p:spPr>
          <a:xfrm flipH="1">
            <a:off x="2448159" y="3492657"/>
            <a:ext cx="448097" cy="1841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377E1D-5A83-033A-4A3D-C0554951E83A}"/>
              </a:ext>
            </a:extLst>
          </p:cNvPr>
          <p:cNvSpPr txBox="1"/>
          <p:nvPr/>
        </p:nvSpPr>
        <p:spPr>
          <a:xfrm>
            <a:off x="3099193" y="5317529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unit weight vector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3FB58-5D94-D84B-CBBD-08B1DB9E8D2E}"/>
              </a:ext>
            </a:extLst>
          </p:cNvPr>
          <p:cNvSpPr txBox="1"/>
          <p:nvPr/>
        </p:nvSpPr>
        <p:spPr>
          <a:xfrm>
            <a:off x="3352497" y="298862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943E9461-E534-565F-0D3F-45F64F490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38" y="1522025"/>
            <a:ext cx="3743961" cy="2333493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43684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1050-2A61-0B40-A671-D7490826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1FA6-AE26-D21F-6CFB-74BB5C338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projections</a:t>
            </a: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27DC948F-24AB-310E-7890-D72ED195343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232498" y="1762436"/>
            <a:ext cx="0" cy="4130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489F4D56-0473-94DC-8E4F-20BDB520BA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2498" y="1786642"/>
            <a:ext cx="0" cy="40824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B94D73F4-667E-E4AE-97CC-3CF20F71A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827" y="3312420"/>
            <a:ext cx="4276379" cy="1380166"/>
          </a:xfrm>
          <a:prstGeom prst="line">
            <a:avLst/>
          </a:prstGeom>
          <a:noFill/>
          <a:ln w="3810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5570EC-C00F-2B56-0112-127E64C62458}"/>
              </a:ext>
            </a:extLst>
          </p:cNvPr>
          <p:cNvGrpSpPr/>
          <p:nvPr/>
        </p:nvGrpSpPr>
        <p:grpSpPr>
          <a:xfrm>
            <a:off x="3819801" y="2803962"/>
            <a:ext cx="1175289" cy="1030190"/>
            <a:chOff x="6583032" y="2577517"/>
            <a:chExt cx="1175289" cy="10301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B35C26-AC74-82BB-3577-40C2800BE848}"/>
                </a:ext>
              </a:extLst>
            </p:cNvPr>
            <p:cNvSpPr txBox="1"/>
            <p:nvPr/>
          </p:nvSpPr>
          <p:spPr>
            <a:xfrm>
              <a:off x="6583032" y="26614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235003-45DC-11C1-ECB5-425FD33FB1F5}"/>
                </a:ext>
              </a:extLst>
            </p:cNvPr>
            <p:cNvSpPr txBox="1"/>
            <p:nvPr/>
          </p:nvSpPr>
          <p:spPr>
            <a:xfrm>
              <a:off x="6735432" y="28138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B5E744-CD10-AC3C-9A4F-C2F34BCA31B4}"/>
                </a:ext>
              </a:extLst>
            </p:cNvPr>
            <p:cNvSpPr txBox="1"/>
            <p:nvPr/>
          </p:nvSpPr>
          <p:spPr>
            <a:xfrm>
              <a:off x="6887832" y="25775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32A23E-0A20-0A3E-CD90-7033314E3691}"/>
                </a:ext>
              </a:extLst>
            </p:cNvPr>
            <p:cNvSpPr txBox="1"/>
            <p:nvPr/>
          </p:nvSpPr>
          <p:spPr>
            <a:xfrm>
              <a:off x="7040232" y="27299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E9FAE4-9B25-ABB3-9035-C4DA8CE49940}"/>
                </a:ext>
              </a:extLst>
            </p:cNvPr>
            <p:cNvSpPr txBox="1"/>
            <p:nvPr/>
          </p:nvSpPr>
          <p:spPr>
            <a:xfrm>
              <a:off x="6981653" y="30859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B77A3D-1DCE-D5B8-F8D1-F4426DFF9C7D}"/>
                </a:ext>
              </a:extLst>
            </p:cNvPr>
            <p:cNvSpPr txBox="1"/>
            <p:nvPr/>
          </p:nvSpPr>
          <p:spPr>
            <a:xfrm>
              <a:off x="7134053" y="32383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1C1193-91D5-8952-7DF9-0B5E4B7C1AAC}"/>
                </a:ext>
              </a:extLst>
            </p:cNvPr>
            <p:cNvSpPr txBox="1"/>
            <p:nvPr/>
          </p:nvSpPr>
          <p:spPr>
            <a:xfrm>
              <a:off x="7286453" y="30020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6C6211-923F-FEE8-D114-33B4EE6ED2B6}"/>
                </a:ext>
              </a:extLst>
            </p:cNvPr>
            <p:cNvSpPr txBox="1"/>
            <p:nvPr/>
          </p:nvSpPr>
          <p:spPr>
            <a:xfrm>
              <a:off x="7438853" y="31544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C22E36-4ED4-4082-2AFF-FCF4B91C0C52}"/>
                </a:ext>
              </a:extLst>
            </p:cNvPr>
            <p:cNvSpPr txBox="1"/>
            <p:nvPr/>
          </p:nvSpPr>
          <p:spPr>
            <a:xfrm>
              <a:off x="7357991" y="2801473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F3DA6DC-3843-A65C-E1C2-211F901F383A}"/>
              </a:ext>
            </a:extLst>
          </p:cNvPr>
          <p:cNvGrpSpPr/>
          <p:nvPr/>
        </p:nvGrpSpPr>
        <p:grpSpPr>
          <a:xfrm rot="10565245">
            <a:off x="3346626" y="3727186"/>
            <a:ext cx="1153694" cy="1030190"/>
            <a:chOff x="6583032" y="2577517"/>
            <a:chExt cx="1153694" cy="103019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93569F-24B0-0784-28E7-5E3030698D71}"/>
                </a:ext>
              </a:extLst>
            </p:cNvPr>
            <p:cNvSpPr txBox="1"/>
            <p:nvPr/>
          </p:nvSpPr>
          <p:spPr>
            <a:xfrm>
              <a:off x="6583032" y="26614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A93AF2-1712-D861-DCD3-684CF5C35246}"/>
                </a:ext>
              </a:extLst>
            </p:cNvPr>
            <p:cNvSpPr txBox="1"/>
            <p:nvPr/>
          </p:nvSpPr>
          <p:spPr>
            <a:xfrm>
              <a:off x="6735432" y="28138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D697F8-77AB-7CC0-5F70-E1E0DB2832C7}"/>
                </a:ext>
              </a:extLst>
            </p:cNvPr>
            <p:cNvSpPr txBox="1"/>
            <p:nvPr/>
          </p:nvSpPr>
          <p:spPr>
            <a:xfrm>
              <a:off x="6887832" y="25775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1EC0716-1937-8A1E-B1F0-13728D75C738}"/>
                </a:ext>
              </a:extLst>
            </p:cNvPr>
            <p:cNvSpPr txBox="1"/>
            <p:nvPr/>
          </p:nvSpPr>
          <p:spPr>
            <a:xfrm>
              <a:off x="7040232" y="27299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A8FD067-CA5C-7B0D-773E-F32C2D0E339E}"/>
                </a:ext>
              </a:extLst>
            </p:cNvPr>
            <p:cNvSpPr txBox="1"/>
            <p:nvPr/>
          </p:nvSpPr>
          <p:spPr>
            <a:xfrm>
              <a:off x="6981653" y="30859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C03920-729A-9851-F93F-D6C828751B24}"/>
                </a:ext>
              </a:extLst>
            </p:cNvPr>
            <p:cNvSpPr txBox="1"/>
            <p:nvPr/>
          </p:nvSpPr>
          <p:spPr>
            <a:xfrm>
              <a:off x="7134053" y="32383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EDD36CD-0CEB-B429-113B-131F0157F4D6}"/>
                </a:ext>
              </a:extLst>
            </p:cNvPr>
            <p:cNvSpPr txBox="1"/>
            <p:nvPr/>
          </p:nvSpPr>
          <p:spPr>
            <a:xfrm>
              <a:off x="7286453" y="30020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84F23EA-C2AF-E9ED-0F6E-3857074054BE}"/>
                </a:ext>
              </a:extLst>
            </p:cNvPr>
            <p:cNvSpPr txBox="1"/>
            <p:nvPr/>
          </p:nvSpPr>
          <p:spPr>
            <a:xfrm>
              <a:off x="7475116" y="31544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98D5FF4-03F4-FACB-BCBE-4BCD4546B588}"/>
                </a:ext>
              </a:extLst>
            </p:cNvPr>
            <p:cNvSpPr txBox="1"/>
            <p:nvPr/>
          </p:nvSpPr>
          <p:spPr>
            <a:xfrm>
              <a:off x="7357991" y="2801473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2070802F-2707-4821-F3C2-6852C894F744}"/>
              </a:ext>
            </a:extLst>
          </p:cNvPr>
          <p:cNvSpPr/>
          <p:nvPr/>
        </p:nvSpPr>
        <p:spPr>
          <a:xfrm>
            <a:off x="4690290" y="3464820"/>
            <a:ext cx="304800" cy="216932"/>
          </a:xfrm>
          <a:prstGeom prst="ellipse">
            <a:avLst/>
          </a:prstGeom>
          <a:noFill/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914F0-975D-5BAC-EE88-FEED447B629C}"/>
              </a:ext>
            </a:extLst>
          </p:cNvPr>
          <p:cNvSpPr txBox="1"/>
          <p:nvPr/>
        </p:nvSpPr>
        <p:spPr>
          <a:xfrm>
            <a:off x="6435445" y="1490165"/>
            <a:ext cx="2454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two points.</a:t>
            </a:r>
          </a:p>
          <a:p>
            <a:endParaRPr lang="en-US" sz="2400" dirty="0"/>
          </a:p>
          <a:p>
            <a:r>
              <a:rPr lang="en-US" sz="2400" dirty="0"/>
              <a:t>If they are close their projections will always be close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F26B24-7712-E0DF-61BF-15154F73B56B}"/>
              </a:ext>
            </a:extLst>
          </p:cNvPr>
          <p:cNvCxnSpPr/>
          <p:nvPr/>
        </p:nvCxnSpPr>
        <p:spPr>
          <a:xfrm flipH="1">
            <a:off x="4664372" y="3616962"/>
            <a:ext cx="152400" cy="408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52F62C-F2F7-4C99-099A-AED54CB4CEE7}"/>
              </a:ext>
            </a:extLst>
          </p:cNvPr>
          <p:cNvGrpSpPr/>
          <p:nvPr/>
        </p:nvGrpSpPr>
        <p:grpSpPr>
          <a:xfrm>
            <a:off x="4451684" y="3331128"/>
            <a:ext cx="367014" cy="622737"/>
            <a:chOff x="4816772" y="3617220"/>
            <a:chExt cx="330718" cy="56087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63D2FB-1AA3-AB06-2499-D292583C7104}"/>
                </a:ext>
              </a:extLst>
            </p:cNvPr>
            <p:cNvSpPr/>
            <p:nvPr/>
          </p:nvSpPr>
          <p:spPr>
            <a:xfrm>
              <a:off x="4842690" y="3617220"/>
              <a:ext cx="304800" cy="216932"/>
            </a:xfrm>
            <a:prstGeom prst="ellipse">
              <a:avLst/>
            </a:prstGeom>
            <a:noFill/>
            <a:ln w="28575" cmpd="sng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8BA4C52-66C4-BA00-B878-7F3BBCE865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6772" y="3769362"/>
              <a:ext cx="152400" cy="4087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8563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projections</a:t>
            </a: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rot="16200000">
            <a:off x="4232498" y="1762436"/>
            <a:ext cx="0" cy="4130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4232498" y="1786642"/>
            <a:ext cx="0" cy="40824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>
            <a:off x="2565827" y="3312420"/>
            <a:ext cx="4276379" cy="1380166"/>
          </a:xfrm>
          <a:prstGeom prst="line">
            <a:avLst/>
          </a:prstGeom>
          <a:noFill/>
          <a:ln w="3810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3819801" y="2803962"/>
            <a:ext cx="1175289" cy="1030190"/>
            <a:chOff x="6583032" y="2577517"/>
            <a:chExt cx="1175289" cy="1030190"/>
          </a:xfrm>
        </p:grpSpPr>
        <p:sp>
          <p:nvSpPr>
            <p:cNvPr id="16" name="TextBox 15"/>
            <p:cNvSpPr txBox="1"/>
            <p:nvPr/>
          </p:nvSpPr>
          <p:spPr>
            <a:xfrm>
              <a:off x="6583032" y="26614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35432" y="28138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87832" y="25775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40232" y="27299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81653" y="30859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4053" y="32383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86453" y="30020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438853" y="31544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57991" y="2801473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 rot="10565245">
            <a:off x="3346626" y="3727186"/>
            <a:ext cx="1153694" cy="1030190"/>
            <a:chOff x="6583032" y="2577517"/>
            <a:chExt cx="1153694" cy="1030190"/>
          </a:xfrm>
        </p:grpSpPr>
        <p:sp>
          <p:nvSpPr>
            <p:cNvPr id="28" name="TextBox 27"/>
            <p:cNvSpPr txBox="1"/>
            <p:nvPr/>
          </p:nvSpPr>
          <p:spPr>
            <a:xfrm>
              <a:off x="6583032" y="26614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35432" y="28138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87832" y="25775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040232" y="27299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981653" y="30859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34053" y="32383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86453" y="30020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75116" y="31544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57991" y="2801473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4690290" y="3464820"/>
            <a:ext cx="304800" cy="216932"/>
          </a:xfrm>
          <a:prstGeom prst="ellipse">
            <a:avLst/>
          </a:prstGeom>
          <a:noFill/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3324603" y="3873549"/>
            <a:ext cx="304800" cy="216932"/>
          </a:xfrm>
          <a:prstGeom prst="ellipse">
            <a:avLst/>
          </a:prstGeom>
          <a:noFill/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942896" y="1282355"/>
            <a:ext cx="42011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two points.</a:t>
            </a:r>
          </a:p>
          <a:p>
            <a:endParaRPr lang="en-US" sz="2400" dirty="0"/>
          </a:p>
          <a:p>
            <a:r>
              <a:rPr lang="en-US" sz="2400" dirty="0"/>
              <a:t>If they are distant their projections might be distant …</a:t>
            </a: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4664372" y="3616962"/>
            <a:ext cx="152400" cy="408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462358" y="3597812"/>
            <a:ext cx="152400" cy="408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1932DF-887A-EAE6-C3F2-B80679B19598}"/>
              </a:ext>
            </a:extLst>
          </p:cNvPr>
          <p:cNvSpPr txBox="1"/>
          <p:nvPr/>
        </p:nvSpPr>
        <p:spPr>
          <a:xfrm>
            <a:off x="147433" y="4503748"/>
            <a:ext cx="3181871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When will the projections be close?</a:t>
            </a:r>
            <a:endParaRPr lang="el-GR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196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6B42-E438-8968-5212-8F3231DE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F449-C53D-360B-E2C1-A84E3219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projections</a:t>
            </a: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C9A51E35-1108-5F90-8E99-0EE23F2481A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232498" y="1762436"/>
            <a:ext cx="0" cy="41308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49DC186-E0C7-B2E6-189B-A9684BF51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2498" y="1786642"/>
            <a:ext cx="0" cy="40824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4CDB64A1-EBD5-C4E1-5F4D-1D723643F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214" y="1786641"/>
            <a:ext cx="1189599" cy="3900219"/>
          </a:xfrm>
          <a:prstGeom prst="line">
            <a:avLst/>
          </a:prstGeom>
          <a:noFill/>
          <a:ln w="38100" cmpd="sng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0D1F63-038E-F13D-749F-5597A56DA93F}"/>
              </a:ext>
            </a:extLst>
          </p:cNvPr>
          <p:cNvGrpSpPr/>
          <p:nvPr/>
        </p:nvGrpSpPr>
        <p:grpSpPr>
          <a:xfrm>
            <a:off x="3819801" y="2803962"/>
            <a:ext cx="1175289" cy="1030190"/>
            <a:chOff x="6583032" y="2577517"/>
            <a:chExt cx="1175289" cy="10301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17469E-2C61-C8F2-D8DA-B4043B806CDE}"/>
                </a:ext>
              </a:extLst>
            </p:cNvPr>
            <p:cNvSpPr txBox="1"/>
            <p:nvPr/>
          </p:nvSpPr>
          <p:spPr>
            <a:xfrm>
              <a:off x="6583032" y="26614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A9948F-4A54-E667-944C-F34D710C28F0}"/>
                </a:ext>
              </a:extLst>
            </p:cNvPr>
            <p:cNvSpPr txBox="1"/>
            <p:nvPr/>
          </p:nvSpPr>
          <p:spPr>
            <a:xfrm>
              <a:off x="6735432" y="281385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CBD8C9-445E-265B-B464-37AFCD7B0D86}"/>
                </a:ext>
              </a:extLst>
            </p:cNvPr>
            <p:cNvSpPr txBox="1"/>
            <p:nvPr/>
          </p:nvSpPr>
          <p:spPr>
            <a:xfrm>
              <a:off x="6887832" y="25775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43D637-08D1-459D-81B3-B326B07F3171}"/>
                </a:ext>
              </a:extLst>
            </p:cNvPr>
            <p:cNvSpPr txBox="1"/>
            <p:nvPr/>
          </p:nvSpPr>
          <p:spPr>
            <a:xfrm>
              <a:off x="7040232" y="272991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1F68252-00AE-DD12-8D19-03C5EC9E9D50}"/>
                </a:ext>
              </a:extLst>
            </p:cNvPr>
            <p:cNvSpPr txBox="1"/>
            <p:nvPr/>
          </p:nvSpPr>
          <p:spPr>
            <a:xfrm>
              <a:off x="6981653" y="30859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3C2DE2-DCA9-AB14-FA5E-3A62C5292EF8}"/>
                </a:ext>
              </a:extLst>
            </p:cNvPr>
            <p:cNvSpPr txBox="1"/>
            <p:nvPr/>
          </p:nvSpPr>
          <p:spPr>
            <a:xfrm>
              <a:off x="7134053" y="323837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86F3D5-7F2E-8E38-AC8B-918D3F380A16}"/>
                </a:ext>
              </a:extLst>
            </p:cNvPr>
            <p:cNvSpPr txBox="1"/>
            <p:nvPr/>
          </p:nvSpPr>
          <p:spPr>
            <a:xfrm>
              <a:off x="7286453" y="30020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67252F-6E91-5807-74C6-57E5FA17F619}"/>
                </a:ext>
              </a:extLst>
            </p:cNvPr>
            <p:cNvSpPr txBox="1"/>
            <p:nvPr/>
          </p:nvSpPr>
          <p:spPr>
            <a:xfrm>
              <a:off x="7438853" y="315443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E381A0-A713-C31C-9082-C9E646D51B79}"/>
                </a:ext>
              </a:extLst>
            </p:cNvPr>
            <p:cNvSpPr txBox="1"/>
            <p:nvPr/>
          </p:nvSpPr>
          <p:spPr>
            <a:xfrm>
              <a:off x="7357991" y="2801473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</a:rPr>
                <a:t>+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C06038-F064-C750-A7E9-DBFE9B40DB99}"/>
              </a:ext>
            </a:extLst>
          </p:cNvPr>
          <p:cNvGrpSpPr/>
          <p:nvPr/>
        </p:nvGrpSpPr>
        <p:grpSpPr>
          <a:xfrm rot="10565245">
            <a:off x="3346626" y="3727186"/>
            <a:ext cx="1153694" cy="1030190"/>
            <a:chOff x="6583032" y="2577517"/>
            <a:chExt cx="1153694" cy="103019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6BA65DA-F3CF-2CF7-E55D-C0661A65B578}"/>
                </a:ext>
              </a:extLst>
            </p:cNvPr>
            <p:cNvSpPr txBox="1"/>
            <p:nvPr/>
          </p:nvSpPr>
          <p:spPr>
            <a:xfrm>
              <a:off x="6583032" y="26614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CA4A40-C73C-ACAE-30D2-6B42C7B08AA9}"/>
                </a:ext>
              </a:extLst>
            </p:cNvPr>
            <p:cNvSpPr txBox="1"/>
            <p:nvPr/>
          </p:nvSpPr>
          <p:spPr>
            <a:xfrm>
              <a:off x="6735432" y="281385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E842C3-0E47-1E66-A86D-1D7986072ED8}"/>
                </a:ext>
              </a:extLst>
            </p:cNvPr>
            <p:cNvSpPr txBox="1"/>
            <p:nvPr/>
          </p:nvSpPr>
          <p:spPr>
            <a:xfrm>
              <a:off x="6887832" y="25775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07D92F-49F6-8DD1-3BE7-E96F5FABC4D8}"/>
                </a:ext>
              </a:extLst>
            </p:cNvPr>
            <p:cNvSpPr txBox="1"/>
            <p:nvPr/>
          </p:nvSpPr>
          <p:spPr>
            <a:xfrm>
              <a:off x="7040232" y="272991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0E2D5D-2E7C-5EA9-3FFE-E39531F730AB}"/>
                </a:ext>
              </a:extLst>
            </p:cNvPr>
            <p:cNvSpPr txBox="1"/>
            <p:nvPr/>
          </p:nvSpPr>
          <p:spPr>
            <a:xfrm>
              <a:off x="6981653" y="30859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DFB8D2-D311-32F3-60F5-E57C28E445D2}"/>
                </a:ext>
              </a:extLst>
            </p:cNvPr>
            <p:cNvSpPr txBox="1"/>
            <p:nvPr/>
          </p:nvSpPr>
          <p:spPr>
            <a:xfrm>
              <a:off x="7134053" y="323837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278FA9D-E31B-27CE-24AD-798C3F3589EE}"/>
                </a:ext>
              </a:extLst>
            </p:cNvPr>
            <p:cNvSpPr txBox="1"/>
            <p:nvPr/>
          </p:nvSpPr>
          <p:spPr>
            <a:xfrm>
              <a:off x="7286453" y="30020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70A554-71DB-7A2D-4F13-4150660C5E9E}"/>
                </a:ext>
              </a:extLst>
            </p:cNvPr>
            <p:cNvSpPr txBox="1"/>
            <p:nvPr/>
          </p:nvSpPr>
          <p:spPr>
            <a:xfrm>
              <a:off x="7475116" y="315443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0BCCA0-F1AD-5F0B-A668-E0A2F6978B83}"/>
                </a:ext>
              </a:extLst>
            </p:cNvPr>
            <p:cNvSpPr txBox="1"/>
            <p:nvPr/>
          </p:nvSpPr>
          <p:spPr>
            <a:xfrm>
              <a:off x="7357991" y="2801473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A44BDF26-F7A2-F122-19C6-B2B12BD71FA1}"/>
              </a:ext>
            </a:extLst>
          </p:cNvPr>
          <p:cNvSpPr/>
          <p:nvPr/>
        </p:nvSpPr>
        <p:spPr>
          <a:xfrm>
            <a:off x="4690290" y="3464820"/>
            <a:ext cx="304800" cy="216932"/>
          </a:xfrm>
          <a:prstGeom prst="ellipse">
            <a:avLst/>
          </a:prstGeom>
          <a:noFill/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EC539A-2F52-B58C-FC82-6612278A9FB7}"/>
              </a:ext>
            </a:extLst>
          </p:cNvPr>
          <p:cNvSpPr/>
          <p:nvPr/>
        </p:nvSpPr>
        <p:spPr>
          <a:xfrm>
            <a:off x="3324603" y="3873549"/>
            <a:ext cx="304800" cy="216932"/>
          </a:xfrm>
          <a:prstGeom prst="ellipse">
            <a:avLst/>
          </a:prstGeom>
          <a:noFill/>
          <a:ln w="28575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F6F4B-45CF-3F0A-5178-EAF89C5E18D7}"/>
              </a:ext>
            </a:extLst>
          </p:cNvPr>
          <p:cNvSpPr txBox="1"/>
          <p:nvPr/>
        </p:nvSpPr>
        <p:spPr>
          <a:xfrm>
            <a:off x="6435445" y="1490165"/>
            <a:ext cx="2454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make two points “close” we need to project to a direction nearly orthogonal to the line between them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5446BEA-719C-792B-7E6E-28847C1742B5}"/>
              </a:ext>
            </a:extLst>
          </p:cNvPr>
          <p:cNvGrpSpPr/>
          <p:nvPr/>
        </p:nvGrpSpPr>
        <p:grpSpPr>
          <a:xfrm>
            <a:off x="3614215" y="3649486"/>
            <a:ext cx="1076075" cy="287604"/>
            <a:chOff x="3614215" y="3649486"/>
            <a:chExt cx="1076075" cy="287604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E5B98C2-568D-5BFC-E09F-463BFE98FEB4}"/>
                </a:ext>
              </a:extLst>
            </p:cNvPr>
            <p:cNvCxnSpPr>
              <a:stCxn id="22" idx="3"/>
            </p:cNvCxnSpPr>
            <p:nvPr/>
          </p:nvCxnSpPr>
          <p:spPr>
            <a:xfrm flipH="1">
              <a:off x="4242193" y="3649486"/>
              <a:ext cx="448097" cy="1841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9D2BE3B-3D02-8553-D702-9A8EF4522A19}"/>
                </a:ext>
              </a:extLst>
            </p:cNvPr>
            <p:cNvCxnSpPr/>
            <p:nvPr/>
          </p:nvCxnSpPr>
          <p:spPr>
            <a:xfrm flipH="1">
              <a:off x="3614215" y="3681752"/>
              <a:ext cx="604207" cy="2553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051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Goal: </a:t>
            </a:r>
          </a:p>
          <a:p>
            <a:pPr lvl="1"/>
            <a:r>
              <a:rPr lang="en-US" dirty="0"/>
              <a:t>map feature vector </a:t>
            </a:r>
            <a:r>
              <a:rPr lang="en-US" b="1" dirty="0" err="1"/>
              <a:t>x</a:t>
            </a:r>
            <a:r>
              <a:rPr lang="en-US" b="1" dirty="0"/>
              <a:t> </a:t>
            </a:r>
            <a:r>
              <a:rPr lang="en-US" dirty="0"/>
              <a:t>to bit vector</a:t>
            </a:r>
            <a:r>
              <a:rPr lang="en-US" b="1" dirty="0"/>
              <a:t> </a:t>
            </a:r>
            <a:r>
              <a:rPr lang="en-US" b="1" dirty="0" err="1"/>
              <a:t>bx</a:t>
            </a:r>
            <a:endParaRPr lang="en-US" dirty="0"/>
          </a:p>
          <a:p>
            <a:pPr lvl="1"/>
            <a:r>
              <a:rPr lang="en-US" dirty="0"/>
              <a:t>ensure that </a:t>
            </a:r>
            <a:r>
              <a:rPr lang="en-US" b="1" dirty="0" err="1"/>
              <a:t>bx</a:t>
            </a:r>
            <a:r>
              <a:rPr lang="en-US" b="1" dirty="0"/>
              <a:t> </a:t>
            </a:r>
            <a:r>
              <a:rPr lang="en-US" dirty="0"/>
              <a:t>preserves “similarity”</a:t>
            </a:r>
          </a:p>
          <a:p>
            <a:r>
              <a:rPr lang="en-US" dirty="0"/>
              <a:t>Basic idea: use </a:t>
            </a:r>
            <a:r>
              <a:rPr lang="en-US" i="1" dirty="0"/>
              <a:t>random projections </a:t>
            </a:r>
            <a:r>
              <a:rPr lang="en-US" dirty="0"/>
              <a:t>of </a:t>
            </a:r>
            <a:r>
              <a:rPr lang="en-US" b="1" dirty="0"/>
              <a:t>x</a:t>
            </a:r>
            <a:endParaRPr lang="en-US" dirty="0"/>
          </a:p>
          <a:p>
            <a:pPr lvl="1"/>
            <a:r>
              <a:rPr lang="en-US" dirty="0"/>
              <a:t>Repeat many times:</a:t>
            </a:r>
          </a:p>
          <a:p>
            <a:pPr lvl="2"/>
            <a:r>
              <a:rPr lang="en-US" dirty="0"/>
              <a:t>Pick a random </a:t>
            </a:r>
            <a:r>
              <a:rPr lang="en-US" dirty="0" err="1"/>
              <a:t>hyperplane</a:t>
            </a:r>
            <a:r>
              <a:rPr lang="en-US" dirty="0"/>
              <a:t> </a:t>
            </a:r>
            <a:r>
              <a:rPr lang="en-US" b="1" dirty="0"/>
              <a:t>r</a:t>
            </a:r>
            <a:r>
              <a:rPr lang="en-US" dirty="0"/>
              <a:t> by picking random weights for each feature (say from a Gaussian)</a:t>
            </a:r>
            <a:endParaRPr lang="en-US" b="1" dirty="0"/>
          </a:p>
          <a:p>
            <a:pPr lvl="2"/>
            <a:r>
              <a:rPr lang="en-US" dirty="0"/>
              <a:t>Compute the inner product of </a:t>
            </a:r>
            <a:r>
              <a:rPr lang="en-US" b="1" dirty="0"/>
              <a:t>r </a:t>
            </a:r>
            <a:r>
              <a:rPr lang="en-US" dirty="0"/>
              <a:t>with </a:t>
            </a:r>
            <a:r>
              <a:rPr lang="en-US" b="1" dirty="0"/>
              <a:t>x</a:t>
            </a:r>
          </a:p>
          <a:p>
            <a:pPr lvl="2"/>
            <a:r>
              <a:rPr lang="en-US" dirty="0"/>
              <a:t>Record if </a:t>
            </a:r>
            <a:r>
              <a:rPr lang="en-US" b="1" dirty="0"/>
              <a:t>x</a:t>
            </a:r>
            <a:r>
              <a:rPr lang="en-US" dirty="0"/>
              <a:t> is “close to” </a:t>
            </a:r>
            <a:r>
              <a:rPr lang="en-US" b="1" dirty="0"/>
              <a:t>r</a:t>
            </a:r>
            <a:r>
              <a:rPr lang="en-US" dirty="0"/>
              <a:t> (</a:t>
            </a:r>
            <a:r>
              <a:rPr lang="en-US" b="1" dirty="0" err="1"/>
              <a:t>r.x</a:t>
            </a:r>
            <a:r>
              <a:rPr lang="en-US" dirty="0"/>
              <a:t>&gt;=0)</a:t>
            </a:r>
          </a:p>
          <a:p>
            <a:pPr lvl="3"/>
            <a:r>
              <a:rPr lang="en-US" dirty="0"/>
              <a:t> the next bit in </a:t>
            </a:r>
            <a:r>
              <a:rPr lang="en-US" b="1" dirty="0" err="1"/>
              <a:t>bx</a:t>
            </a:r>
            <a:endParaRPr lang="en-US" b="1" dirty="0"/>
          </a:p>
          <a:p>
            <a:pPr lvl="2"/>
            <a:r>
              <a:rPr lang="en-US" dirty="0"/>
              <a:t>Theory says that if </a:t>
            </a:r>
            <a:r>
              <a:rPr lang="en-US" b="1" dirty="0"/>
              <a:t>x’ </a:t>
            </a:r>
            <a:r>
              <a:rPr lang="en-US" dirty="0"/>
              <a:t>and </a:t>
            </a:r>
            <a:r>
              <a:rPr lang="en-US" b="1" dirty="0"/>
              <a:t>x </a:t>
            </a:r>
            <a:r>
              <a:rPr lang="en-US" dirty="0"/>
              <a:t>have small cosine distance then </a:t>
            </a:r>
            <a:r>
              <a:rPr lang="en-US" b="1" dirty="0"/>
              <a:t>bx </a:t>
            </a:r>
            <a:r>
              <a:rPr lang="en-US" dirty="0"/>
              <a:t>and </a:t>
            </a:r>
            <a:r>
              <a:rPr lang="en-US" b="1" dirty="0"/>
              <a:t>bx’ </a:t>
            </a:r>
            <a:r>
              <a:rPr lang="en-US" dirty="0"/>
              <a:t>will have small Hamming distance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422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2-18 at 10.49.2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051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27815" y="5900493"/>
            <a:ext cx="242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[Slides: Ben van </a:t>
            </a:r>
            <a:r>
              <a:rPr lang="en-US" dirty="0" err="1"/>
              <a:t>Durme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18664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2-18 at 10.49.5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27815" y="5900493"/>
            <a:ext cx="242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[Slides: Ben van </a:t>
            </a:r>
            <a:r>
              <a:rPr lang="en-US" dirty="0" err="1"/>
              <a:t>Durme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69209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2-18 at 10.50.2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848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27815" y="5900493"/>
            <a:ext cx="242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[Slides: Ben van </a:t>
            </a:r>
            <a:r>
              <a:rPr lang="en-US" dirty="0" err="1"/>
              <a:t>Durme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94920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2-18 at 10.51.1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076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4278" y="6357693"/>
            <a:ext cx="2421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[Slides: Ben van </a:t>
            </a:r>
            <a:r>
              <a:rPr lang="en-US" dirty="0" err="1"/>
              <a:t>Durme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51032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2-18 at 10.51.2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079020"/>
          </a:xfrm>
          <a:prstGeom prst="rect">
            <a:avLst/>
          </a:prstGeom>
        </p:spPr>
      </p:pic>
      <p:pic>
        <p:nvPicPr>
          <p:cNvPr id="3" name="Picture 2" descr="Screen Shot 2013-02-18 at 10.52.02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188" y="4896094"/>
            <a:ext cx="4214811" cy="19619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AFC2E5-F17C-81B4-8CA3-844951F07D94}"/>
              </a:ext>
            </a:extLst>
          </p:cNvPr>
          <p:cNvSpPr txBox="1"/>
          <p:nvPr/>
        </p:nvSpPr>
        <p:spPr>
          <a:xfrm>
            <a:off x="200025" y="5314950"/>
            <a:ext cx="4214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unit-length vectors cosine similarity = dot product similarity</a:t>
            </a:r>
          </a:p>
        </p:txBody>
      </p:sp>
    </p:spTree>
    <p:extLst>
      <p:ext uri="{BB962C8B-B14F-4D97-AF65-F5344CB8AC3E}">
        <p14:creationId xmlns:p14="http://schemas.microsoft.com/office/powerpoint/2010/main" val="1741493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2-18 at 10.52.3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27"/>
            <a:ext cx="9144000" cy="52289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3EF197-CFD9-5688-DDE0-0F908334D848}"/>
              </a:ext>
            </a:extLst>
          </p:cNvPr>
          <p:cNvSpPr txBox="1"/>
          <p:nvPr/>
        </p:nvSpPr>
        <p:spPr>
          <a:xfrm>
            <a:off x="957263" y="5486400"/>
            <a:ext cx="712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“Collisions are your friend” – they indicate similarity</a:t>
            </a:r>
          </a:p>
        </p:txBody>
      </p:sp>
    </p:spTree>
    <p:extLst>
      <p:ext uri="{BB962C8B-B14F-4D97-AF65-F5344CB8AC3E}">
        <p14:creationId xmlns:p14="http://schemas.microsoft.com/office/powerpoint/2010/main" val="3963754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A8ADE01-8C28-DB2F-FC15-D749B94CA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6" y="723900"/>
            <a:ext cx="8622627" cy="434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59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Compact storage of data</a:t>
            </a:r>
          </a:p>
          <a:p>
            <a:pPr lvl="1"/>
            <a:r>
              <a:rPr lang="en-US" dirty="0"/>
              <a:t>and we can still compute similarities</a:t>
            </a:r>
          </a:p>
          <a:p>
            <a:r>
              <a:rPr lang="en-US" dirty="0"/>
              <a:t>LSH also gives very fast approximations:</a:t>
            </a:r>
          </a:p>
          <a:p>
            <a:pPr lvl="1"/>
            <a:r>
              <a:rPr lang="en-US" dirty="0" err="1"/>
              <a:t>approx</a:t>
            </a:r>
            <a:r>
              <a:rPr lang="en-US" dirty="0"/>
              <a:t> nearest neighbor method</a:t>
            </a:r>
          </a:p>
          <a:p>
            <a:pPr lvl="2"/>
            <a:r>
              <a:rPr lang="en-US" dirty="0"/>
              <a:t>just look at other items with </a:t>
            </a:r>
            <a:r>
              <a:rPr lang="en-US" b="1" dirty="0" err="1"/>
              <a:t>bx</a:t>
            </a:r>
            <a:r>
              <a:rPr lang="en-US" b="1" dirty="0"/>
              <a:t>’</a:t>
            </a:r>
            <a:r>
              <a:rPr lang="en-US" dirty="0"/>
              <a:t>=</a:t>
            </a:r>
            <a:r>
              <a:rPr lang="en-US" b="1" dirty="0" err="1"/>
              <a:t>bx</a:t>
            </a:r>
            <a:endParaRPr lang="en-US" b="1" dirty="0"/>
          </a:p>
          <a:p>
            <a:pPr lvl="2"/>
            <a:r>
              <a:rPr lang="en-US" dirty="0"/>
              <a:t>also very fast nearest-neighbor methods for Hamming distance</a:t>
            </a:r>
          </a:p>
          <a:p>
            <a:pPr lvl="1"/>
            <a:r>
              <a:rPr lang="en-US" dirty="0"/>
              <a:t>very fast clustering</a:t>
            </a:r>
          </a:p>
          <a:p>
            <a:pPr lvl="2"/>
            <a:r>
              <a:rPr lang="en-US" dirty="0"/>
              <a:t>cluster = all things with same </a:t>
            </a:r>
            <a:r>
              <a:rPr lang="en-US" b="1" dirty="0" err="1"/>
              <a:t>bx</a:t>
            </a:r>
            <a:r>
              <a:rPr lang="en-US" dirty="0"/>
              <a:t> vector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46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Extension/Application:</a:t>
            </a:r>
            <a:br>
              <a:rPr lang="en-US" dirty="0"/>
            </a:br>
            <a:r>
              <a:rPr lang="en-US" dirty="0"/>
              <a:t>Online LSH and Pooling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00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3-02-18 at 10.42.3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04439"/>
          </a:xfrm>
          <a:prstGeom prst="rect">
            <a:avLst/>
          </a:prstGeom>
        </p:spPr>
      </p:pic>
      <p:pic>
        <p:nvPicPr>
          <p:cNvPr id="5" name="Picture 4" descr="Screen Shot 2013-02-18 at 10.46.07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" t="8911" b="29693"/>
          <a:stretch/>
        </p:blipFill>
        <p:spPr>
          <a:xfrm>
            <a:off x="1047750" y="2928938"/>
            <a:ext cx="6889749" cy="2460625"/>
          </a:xfrm>
          <a:prstGeom prst="rect">
            <a:avLst/>
          </a:prstGeom>
        </p:spPr>
      </p:pic>
      <p:pic>
        <p:nvPicPr>
          <p:cNvPr id="6" name="Picture 5" descr="Screen Shot 2013-02-18 at 10.48.55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813"/>
            <a:ext cx="9144000" cy="203537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12BB1-7390-2D99-F3A1-D43DA909E27F}"/>
              </a:ext>
            </a:extLst>
          </p:cNvPr>
          <p:cNvSpPr txBox="1"/>
          <p:nvPr/>
        </p:nvSpPr>
        <p:spPr>
          <a:xfrm>
            <a:off x="6858000" y="1757363"/>
            <a:ext cx="14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2010</a:t>
            </a:r>
          </a:p>
        </p:txBody>
      </p:sp>
    </p:spTree>
    <p:extLst>
      <p:ext uri="{BB962C8B-B14F-4D97-AF65-F5344CB8AC3E}">
        <p14:creationId xmlns:p14="http://schemas.microsoft.com/office/powerpoint/2010/main" val="185591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Naïve algorithm:</a:t>
            </a:r>
          </a:p>
          <a:p>
            <a:pPr lvl="1"/>
            <a:r>
              <a:rPr lang="en-US" dirty="0"/>
              <a:t>Initialization:</a:t>
            </a:r>
          </a:p>
          <a:p>
            <a:pPr lvl="2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 to </a:t>
            </a:r>
            <a:r>
              <a:rPr lang="en-US" dirty="0" err="1"/>
              <a:t>outputBits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For each feature </a:t>
            </a:r>
            <a:r>
              <a:rPr lang="en-US" i="1" dirty="0"/>
              <a:t>f:</a:t>
            </a:r>
          </a:p>
          <a:p>
            <a:pPr lvl="4"/>
            <a:r>
              <a:rPr lang="en-US" dirty="0"/>
              <a:t>Draw r(</a:t>
            </a:r>
            <a:r>
              <a:rPr lang="en-US" dirty="0" err="1"/>
              <a:t>f,i</a:t>
            </a:r>
            <a:r>
              <a:rPr lang="en-US" dirty="0"/>
              <a:t>) ~ Normal(0,1)</a:t>
            </a:r>
          </a:p>
          <a:p>
            <a:pPr lvl="1"/>
            <a:r>
              <a:rPr lang="en-US" dirty="0"/>
              <a:t>Given an instance </a:t>
            </a:r>
            <a:r>
              <a:rPr lang="en-US" b="1" dirty="0"/>
              <a:t>x</a:t>
            </a:r>
            <a:endParaRPr lang="en-US" dirty="0"/>
          </a:p>
          <a:p>
            <a:pPr lvl="2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 to </a:t>
            </a:r>
            <a:r>
              <a:rPr lang="en-US" dirty="0" err="1"/>
              <a:t>outputBits</a:t>
            </a:r>
            <a:r>
              <a:rPr lang="en-US" dirty="0"/>
              <a:t>:</a:t>
            </a:r>
          </a:p>
          <a:p>
            <a:pPr marL="1371600" lvl="3" indent="0">
              <a:buNone/>
            </a:pPr>
            <a:r>
              <a:rPr lang="en-US" dirty="0"/>
              <a:t>LSH[</a:t>
            </a:r>
            <a:r>
              <a:rPr lang="en-US" dirty="0" err="1"/>
              <a:t>i</a:t>
            </a:r>
            <a:r>
              <a:rPr lang="en-US" dirty="0"/>
              <a:t>] = </a:t>
            </a:r>
          </a:p>
          <a:p>
            <a:pPr marL="1371600" lvl="3" indent="0">
              <a:buNone/>
            </a:pPr>
            <a:r>
              <a:rPr lang="en-US" dirty="0"/>
              <a:t>    sum(</a:t>
            </a:r>
            <a:r>
              <a:rPr lang="en-US" b="1" dirty="0"/>
              <a:t>x</a:t>
            </a:r>
            <a:r>
              <a:rPr lang="en-US" dirty="0"/>
              <a:t>[</a:t>
            </a:r>
            <a:r>
              <a:rPr lang="en-US" i="1" dirty="0"/>
              <a:t>f </a:t>
            </a:r>
            <a:r>
              <a:rPr lang="en-US" dirty="0"/>
              <a:t>]*r[</a:t>
            </a:r>
            <a:r>
              <a:rPr lang="en-US" dirty="0" err="1"/>
              <a:t>i,</a:t>
            </a:r>
            <a:r>
              <a:rPr lang="en-US" i="1" dirty="0" err="1"/>
              <a:t>f</a:t>
            </a:r>
            <a:r>
              <a:rPr lang="en-US" i="1" dirty="0"/>
              <a:t> </a:t>
            </a:r>
            <a:r>
              <a:rPr lang="en-US" dirty="0"/>
              <a:t>] for</a:t>
            </a:r>
            <a:r>
              <a:rPr lang="en-US" i="1" dirty="0"/>
              <a:t> f  </a:t>
            </a:r>
            <a:r>
              <a:rPr lang="en-US" dirty="0"/>
              <a:t>with non-zero weight in </a:t>
            </a:r>
            <a:r>
              <a:rPr lang="en-US" b="1" dirty="0"/>
              <a:t>x) </a:t>
            </a:r>
            <a:r>
              <a:rPr lang="en-US" dirty="0"/>
              <a:t>&gt; 0 ? 1 : 0</a:t>
            </a:r>
          </a:p>
          <a:p>
            <a:pPr lvl="2"/>
            <a:r>
              <a:rPr lang="en-US" dirty="0"/>
              <a:t>Return the bit-vector LSH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38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But: storing the </a:t>
            </a:r>
            <a:r>
              <a:rPr lang="en-US" i="1" dirty="0"/>
              <a:t>k classifiers</a:t>
            </a:r>
            <a:r>
              <a:rPr lang="en-US" dirty="0"/>
              <a:t> is expensive in high dimensions</a:t>
            </a:r>
          </a:p>
          <a:p>
            <a:pPr lvl="1"/>
            <a:r>
              <a:rPr lang="en-US" dirty="0"/>
              <a:t>For each of 256 bits, a dense vector of weights for every feature in the vocabulary</a:t>
            </a:r>
          </a:p>
          <a:p>
            <a:r>
              <a:rPr lang="en-US" dirty="0"/>
              <a:t>Storing seeds and random number generators:</a:t>
            </a:r>
          </a:p>
          <a:p>
            <a:pPr lvl="1"/>
            <a:r>
              <a:rPr lang="en-US" dirty="0"/>
              <a:t>Possible but somewhat fragile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08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“pooling” </a:t>
            </a:r>
            <a:r>
              <a:rPr lang="en-US" sz="2800" dirty="0"/>
              <a:t>(van </a:t>
            </a:r>
            <a:r>
              <a:rPr lang="en-US" sz="2800" dirty="0" err="1"/>
              <a:t>Durme</a:t>
            </a:r>
            <a:r>
              <a:rPr lang="en-US" sz="28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500" dirty="0"/>
              <a:t>Alternative algorithm:</a:t>
            </a:r>
          </a:p>
          <a:p>
            <a:pPr lvl="1"/>
            <a:r>
              <a:rPr lang="en-US" sz="4500" dirty="0"/>
              <a:t>Initialization:</a:t>
            </a:r>
          </a:p>
          <a:p>
            <a:pPr lvl="2"/>
            <a:r>
              <a:rPr lang="en-US" sz="4500" dirty="0"/>
              <a:t>Create a pool:</a:t>
            </a:r>
          </a:p>
          <a:p>
            <a:pPr lvl="3"/>
            <a:r>
              <a:rPr lang="en-US" sz="3200" dirty="0"/>
              <a:t>Pick a random seed </a:t>
            </a:r>
            <a:r>
              <a:rPr lang="en-US" sz="3200" i="1" dirty="0"/>
              <a:t>s</a:t>
            </a:r>
            <a:endParaRPr lang="en-US" sz="3200" dirty="0"/>
          </a:p>
          <a:p>
            <a:pPr lvl="3"/>
            <a:r>
              <a:rPr lang="en-US" sz="3200" dirty="0"/>
              <a:t>For </a:t>
            </a:r>
            <a:r>
              <a:rPr lang="en-US" sz="3200" dirty="0" err="1"/>
              <a:t>i</a:t>
            </a:r>
            <a:r>
              <a:rPr lang="en-US" sz="3200" dirty="0"/>
              <a:t>=1 to </a:t>
            </a:r>
            <a:r>
              <a:rPr lang="en-US" sz="3200" dirty="0" err="1"/>
              <a:t>poolSize</a:t>
            </a:r>
            <a:r>
              <a:rPr lang="en-US" sz="3200" dirty="0"/>
              <a:t>:</a:t>
            </a:r>
          </a:p>
          <a:p>
            <a:pPr lvl="4"/>
            <a:r>
              <a:rPr lang="en-US" sz="3200" dirty="0"/>
              <a:t>Draw pool[</a:t>
            </a:r>
            <a:r>
              <a:rPr lang="en-US" sz="3200" dirty="0" err="1"/>
              <a:t>i</a:t>
            </a:r>
            <a:r>
              <a:rPr lang="en-US" sz="3200" dirty="0"/>
              <a:t>] ~ Normal(0,1)</a:t>
            </a:r>
          </a:p>
          <a:p>
            <a:pPr lvl="2"/>
            <a:r>
              <a:rPr lang="en-US" sz="4500" dirty="0"/>
              <a:t>For </a:t>
            </a:r>
            <a:r>
              <a:rPr lang="en-US" sz="4500" dirty="0" err="1"/>
              <a:t>i</a:t>
            </a:r>
            <a:r>
              <a:rPr lang="en-US" sz="4500" dirty="0"/>
              <a:t>=1 to </a:t>
            </a:r>
            <a:r>
              <a:rPr lang="en-US" sz="4500" dirty="0" err="1"/>
              <a:t>outputBits</a:t>
            </a:r>
            <a:r>
              <a:rPr lang="en-US" sz="4500" dirty="0"/>
              <a:t>:</a:t>
            </a:r>
          </a:p>
          <a:p>
            <a:pPr lvl="3"/>
            <a:r>
              <a:rPr lang="en-US" sz="3200" dirty="0"/>
              <a:t>Devise a random hash function hash(</a:t>
            </a:r>
            <a:r>
              <a:rPr lang="en-US" sz="3200" dirty="0" err="1"/>
              <a:t>i,</a:t>
            </a:r>
            <a:r>
              <a:rPr lang="en-US" sz="3200" i="1" dirty="0" err="1"/>
              <a:t>f</a:t>
            </a:r>
            <a:r>
              <a:rPr lang="en-US" sz="3200" i="1" dirty="0"/>
              <a:t>): </a:t>
            </a:r>
            <a:endParaRPr lang="en-US" sz="3200" dirty="0"/>
          </a:p>
          <a:p>
            <a:pPr lvl="1"/>
            <a:r>
              <a:rPr lang="en-US" sz="4500" dirty="0"/>
              <a:t>Given an instance </a:t>
            </a:r>
            <a:r>
              <a:rPr lang="en-US" sz="4500" b="1" dirty="0"/>
              <a:t>x</a:t>
            </a:r>
            <a:endParaRPr lang="en-US" sz="4500" dirty="0"/>
          </a:p>
          <a:p>
            <a:pPr lvl="2"/>
            <a:r>
              <a:rPr lang="en-US" sz="4500" dirty="0"/>
              <a:t>For </a:t>
            </a:r>
            <a:r>
              <a:rPr lang="en-US" sz="4500" dirty="0" err="1"/>
              <a:t>i</a:t>
            </a:r>
            <a:r>
              <a:rPr lang="en-US" sz="4500" dirty="0"/>
              <a:t>=1 to </a:t>
            </a:r>
            <a:r>
              <a:rPr lang="en-US" sz="4500" dirty="0" err="1"/>
              <a:t>outputBits</a:t>
            </a:r>
            <a:r>
              <a:rPr lang="en-US" sz="4500" dirty="0"/>
              <a:t>:</a:t>
            </a:r>
          </a:p>
          <a:p>
            <a:pPr marL="1371600" lvl="3" indent="0">
              <a:buNone/>
            </a:pPr>
            <a:r>
              <a:rPr lang="en-US" sz="4400" dirty="0"/>
              <a:t>LSH[</a:t>
            </a:r>
            <a:r>
              <a:rPr lang="en-US" sz="4400" dirty="0" err="1"/>
              <a:t>i</a:t>
            </a:r>
            <a:r>
              <a:rPr lang="en-US" sz="4400" dirty="0"/>
              <a:t>] = sum(</a:t>
            </a:r>
          </a:p>
          <a:p>
            <a:pPr marL="1371600" lvl="3" indent="0">
              <a:buNone/>
            </a:pPr>
            <a:r>
              <a:rPr lang="en-US" sz="4400" b="1" dirty="0"/>
              <a:t>      x</a:t>
            </a:r>
            <a:r>
              <a:rPr lang="en-US" sz="4400" dirty="0"/>
              <a:t>[f] * pool[hash(</a:t>
            </a:r>
            <a:r>
              <a:rPr lang="en-US" sz="4400" dirty="0" err="1"/>
              <a:t>i</a:t>
            </a:r>
            <a:r>
              <a:rPr lang="en-US" sz="4400" dirty="0"/>
              <a:t>, </a:t>
            </a:r>
            <a:r>
              <a:rPr lang="en-US" sz="4400" i="1" dirty="0"/>
              <a:t>f </a:t>
            </a:r>
            <a:r>
              <a:rPr lang="en-US" sz="4400" dirty="0"/>
              <a:t>) % </a:t>
            </a:r>
            <a:r>
              <a:rPr lang="en-US" sz="4400" dirty="0" err="1"/>
              <a:t>poolSize</a:t>
            </a:r>
            <a:r>
              <a:rPr lang="en-US" sz="4400" dirty="0"/>
              <a:t>] for</a:t>
            </a:r>
            <a:r>
              <a:rPr lang="en-US" sz="4400" i="1" dirty="0"/>
              <a:t> f  </a:t>
            </a:r>
            <a:r>
              <a:rPr lang="en-US" sz="4400" dirty="0"/>
              <a:t>in </a:t>
            </a:r>
            <a:r>
              <a:rPr lang="en-US" sz="4400" b="1" dirty="0"/>
              <a:t>x) </a:t>
            </a:r>
            <a:r>
              <a:rPr lang="en-US" sz="4400" dirty="0"/>
              <a:t>&gt; 0 ? </a:t>
            </a:r>
          </a:p>
          <a:p>
            <a:pPr marL="1371600" lvl="3" indent="0">
              <a:buNone/>
            </a:pPr>
            <a:r>
              <a:rPr lang="en-US" sz="4400" dirty="0"/>
              <a:t>1 : 0</a:t>
            </a:r>
          </a:p>
          <a:p>
            <a:pPr lvl="2"/>
            <a:r>
              <a:rPr lang="en-US" sz="4500" dirty="0"/>
              <a:t>Return the bit-vector LSH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73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3-02-18 at 10.54.5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49" y="0"/>
            <a:ext cx="7161278" cy="6858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7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ideas: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with pooling, this is a compact re-encoding of the data</a:t>
            </a:r>
          </a:p>
          <a:p>
            <a:pPr lvl="2"/>
            <a:r>
              <a:rPr lang="en-US" dirty="0"/>
              <a:t>you don’t need to store the </a:t>
            </a:r>
            <a:r>
              <a:rPr lang="en-US" b="1" dirty="0"/>
              <a:t>r</a:t>
            </a:r>
            <a:r>
              <a:rPr lang="en-US" dirty="0"/>
              <a:t>’s, just the pool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04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Locality Sensitive Hashing (LSH) in an On-line Setting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133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using a Count-Min Sketch</a:t>
            </a:r>
          </a:p>
        </p:txBody>
      </p:sp>
      <p:pic>
        <p:nvPicPr>
          <p:cNvPr id="4" name="Picture 3" descr="Screen Shot 2014-02-26 at 10.26.2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0" y="2749607"/>
            <a:ext cx="7086600" cy="81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1094"/>
          <a:stretch/>
        </p:blipFill>
        <p:spPr>
          <a:xfrm>
            <a:off x="2076075" y="1839552"/>
            <a:ext cx="3685321" cy="8353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19475" y="1727490"/>
            <a:ext cx="1101855" cy="5042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25765" y="1839552"/>
            <a:ext cx="793710" cy="158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8209" y="1542824"/>
            <a:ext cx="173755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x appears near 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55" y="4545079"/>
            <a:ext cx="8723320" cy="6996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340" y="3837790"/>
            <a:ext cx="6845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Turney, 2002 used two seeds, “excellent” and “poor”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21" y="5520114"/>
            <a:ext cx="8662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general, SO(w) can be written in terms of logs of products of counters for w, with and without seeds</a:t>
            </a:r>
          </a:p>
        </p:txBody>
      </p:sp>
    </p:spTree>
    <p:extLst>
      <p:ext uri="{BB962C8B-B14F-4D97-AF65-F5344CB8AC3E}">
        <p14:creationId xmlns:p14="http://schemas.microsoft.com/office/powerpoint/2010/main" val="325444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ideas: online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3837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This SO trick is based on another common task: </a:t>
            </a:r>
            <a:r>
              <a:rPr lang="en-US" b="1" dirty="0"/>
              <a:t>distributional clustering</a:t>
            </a:r>
          </a:p>
          <a:p>
            <a:pPr lvl="1"/>
            <a:r>
              <a:rPr lang="en-US" dirty="0"/>
              <a:t>for a word </a:t>
            </a:r>
            <a:r>
              <a:rPr lang="en-US" i="1" dirty="0"/>
              <a:t>w, </a:t>
            </a:r>
            <a:r>
              <a:rPr lang="en-US" b="1" i="1" dirty="0"/>
              <a:t>v</a:t>
            </a:r>
            <a:r>
              <a:rPr lang="en-US" i="1" dirty="0"/>
              <a:t>(w) </a:t>
            </a:r>
            <a:r>
              <a:rPr lang="en-US" dirty="0"/>
              <a:t>is sparse vector of words that co-occur with </a:t>
            </a:r>
            <a:r>
              <a:rPr lang="en-US" i="1" dirty="0"/>
              <a:t>w</a:t>
            </a:r>
          </a:p>
          <a:p>
            <a:pPr lvl="1"/>
            <a:r>
              <a:rPr lang="en-US" dirty="0"/>
              <a:t>cluster the </a:t>
            </a:r>
            <a:r>
              <a:rPr lang="en-US" i="1" dirty="0"/>
              <a:t>v(w)’s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0263" y="3799804"/>
            <a:ext cx="8864600" cy="17543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…guards at </a:t>
            </a:r>
            <a:r>
              <a:rPr lang="en-US" u="sng" dirty="0" err="1"/>
              <a:t>Pentonville</a:t>
            </a:r>
            <a:r>
              <a:rPr lang="en-US" u="sng" dirty="0"/>
              <a:t> prison in North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discovered that an escape </a:t>
            </a:r>
            <a:r>
              <a:rPr lang="en-US" dirty="0"/>
              <a:t>attempt…</a:t>
            </a:r>
          </a:p>
          <a:p>
            <a:endParaRPr lang="en-US" dirty="0"/>
          </a:p>
          <a:p>
            <a:r>
              <a:rPr lang="en-US" u="sng" dirty="0"/>
              <a:t>An American Werewolf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is to be remade </a:t>
            </a:r>
            <a:r>
              <a:rPr lang="en-US" dirty="0"/>
              <a:t>by the son of the original director…</a:t>
            </a:r>
          </a:p>
          <a:p>
            <a:endParaRPr lang="en-US" dirty="0"/>
          </a:p>
          <a:p>
            <a:r>
              <a:rPr lang="en-US" dirty="0"/>
              <a:t>…UK pop up shop </a:t>
            </a:r>
            <a:r>
              <a:rPr lang="en-US" u="sng" dirty="0"/>
              <a:t>on Monmouth Street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today and on Friday </a:t>
            </a:r>
            <a:r>
              <a:rPr lang="en-US" dirty="0"/>
              <a:t>the brand…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9322" y="5847145"/>
            <a:ext cx="88646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="1" dirty="0"/>
              <a:t>(London):  </a:t>
            </a:r>
            <a:r>
              <a:rPr lang="en-US" dirty="0" err="1"/>
              <a:t>Pentonville</a:t>
            </a:r>
            <a:r>
              <a:rPr lang="en-US" dirty="0"/>
              <a:t>, prison, in, North, …. and, on Friday </a:t>
            </a:r>
            <a:r>
              <a:rPr lang="en-US" b="1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5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ideas: online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385629" cy="25194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Common task: distributional clustering</a:t>
            </a:r>
          </a:p>
          <a:p>
            <a:pPr lvl="1"/>
            <a:r>
              <a:rPr lang="en-US" dirty="0"/>
              <a:t>for a word </a:t>
            </a:r>
            <a:r>
              <a:rPr lang="en-US" i="1" dirty="0"/>
              <a:t>w, </a:t>
            </a:r>
            <a:r>
              <a:rPr lang="en-US" b="1" i="1" dirty="0"/>
              <a:t>v</a:t>
            </a:r>
            <a:r>
              <a:rPr lang="en-US" i="1" dirty="0"/>
              <a:t>(w) </a:t>
            </a:r>
            <a:r>
              <a:rPr lang="en-US" dirty="0"/>
              <a:t>is sparse vector of words that co-occur with </a:t>
            </a:r>
            <a:r>
              <a:rPr lang="en-US" i="1" dirty="0"/>
              <a:t>w</a:t>
            </a:r>
          </a:p>
          <a:p>
            <a:pPr lvl="1"/>
            <a:r>
              <a:rPr lang="en-US" dirty="0"/>
              <a:t>cluster the </a:t>
            </a:r>
            <a:r>
              <a:rPr lang="en-US" i="1" dirty="0"/>
              <a:t>v(w)’</a:t>
            </a:r>
            <a:r>
              <a:rPr lang="en-US" dirty="0"/>
              <a:t>s </a:t>
            </a:r>
            <a:r>
              <a:rPr lang="mr-IN" dirty="0"/>
              <a:t>–</a:t>
            </a:r>
            <a:r>
              <a:rPr lang="en-US" dirty="0"/>
              <a:t> or here, compute similarities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3776773"/>
            <a:ext cx="9215120" cy="2749757"/>
            <a:chOff x="0" y="3776773"/>
            <a:chExt cx="9215120" cy="2749757"/>
          </a:xfrm>
        </p:grpSpPr>
        <p:pic>
          <p:nvPicPr>
            <p:cNvPr id="5" name="Picture 4" descr="Screen Shot 2016-11-08 at 11.35.34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4315"/>
            <a:stretch/>
          </p:blipFill>
          <p:spPr>
            <a:xfrm>
              <a:off x="0" y="3776773"/>
              <a:ext cx="9144000" cy="1018747"/>
            </a:xfrm>
            <a:prstGeom prst="rect">
              <a:avLst/>
            </a:prstGeom>
          </p:spPr>
        </p:pic>
        <p:pic>
          <p:nvPicPr>
            <p:cNvPr id="6" name="Picture 5" descr="Screen Shot 2016-11-08 at 11.35.34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032" b="42080"/>
            <a:stretch/>
          </p:blipFill>
          <p:spPr>
            <a:xfrm>
              <a:off x="71120" y="4938115"/>
              <a:ext cx="9144000" cy="772160"/>
            </a:xfrm>
            <a:prstGeom prst="rect">
              <a:avLst/>
            </a:prstGeom>
          </p:spPr>
        </p:pic>
        <p:pic>
          <p:nvPicPr>
            <p:cNvPr id="7" name="Picture 6" descr="Screen Shot 2016-11-08 at 11.35.34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433"/>
            <a:stretch/>
          </p:blipFill>
          <p:spPr>
            <a:xfrm>
              <a:off x="0" y="5710275"/>
              <a:ext cx="9144000" cy="816255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1656907" y="400814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similar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55" y="492995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similar 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55" y="571027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similar to:</a:t>
            </a:r>
          </a:p>
        </p:txBody>
      </p:sp>
    </p:spTree>
    <p:extLst>
      <p:ext uri="{BB962C8B-B14F-4D97-AF65-F5344CB8AC3E}">
        <p14:creationId xmlns:p14="http://schemas.microsoft.com/office/powerpoint/2010/main" val="1847289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ideas: online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task: distributional clustering</a:t>
            </a:r>
          </a:p>
          <a:p>
            <a:pPr lvl="1"/>
            <a:r>
              <a:rPr lang="en-US" dirty="0"/>
              <a:t>for a word </a:t>
            </a:r>
            <a:r>
              <a:rPr lang="en-US" i="1" dirty="0"/>
              <a:t>w, </a:t>
            </a:r>
            <a:r>
              <a:rPr lang="en-US" b="1" i="1" dirty="0"/>
              <a:t>v</a:t>
            </a:r>
            <a:r>
              <a:rPr lang="en-US" i="1" dirty="0"/>
              <a:t>(w) </a:t>
            </a:r>
            <a:r>
              <a:rPr lang="en-US" dirty="0"/>
              <a:t>is </a:t>
            </a:r>
            <a:r>
              <a:rPr lang="en-US" b="1" u="sng" dirty="0"/>
              <a:t>sparse</a:t>
            </a:r>
            <a:r>
              <a:rPr lang="en-US" b="1" dirty="0"/>
              <a:t> </a:t>
            </a:r>
            <a:r>
              <a:rPr lang="en-US" dirty="0"/>
              <a:t>vector of words that co-occur with </a:t>
            </a:r>
            <a:r>
              <a:rPr lang="en-US" i="1" dirty="0"/>
              <a:t>w</a:t>
            </a:r>
          </a:p>
          <a:p>
            <a:pPr lvl="1"/>
            <a:r>
              <a:rPr lang="en-US" dirty="0"/>
              <a:t>cluster the </a:t>
            </a:r>
            <a:r>
              <a:rPr lang="en-US" i="1" dirty="0"/>
              <a:t>v(w)’</a:t>
            </a:r>
            <a:r>
              <a:rPr lang="en-US" dirty="0"/>
              <a:t>s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Rectangular Callout 8"/>
          <p:cNvSpPr/>
          <p:nvPr/>
        </p:nvSpPr>
        <p:spPr>
          <a:xfrm>
            <a:off x="4691270" y="4034140"/>
            <a:ext cx="3419060" cy="2322209"/>
          </a:xfrm>
          <a:prstGeom prst="wedgeRectCallout">
            <a:avLst>
              <a:gd name="adj1" fmla="val -24290"/>
              <a:gd name="adj2" fmla="val -12381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v(w) is very similar to a word embedding (</a:t>
            </a:r>
            <a:r>
              <a:rPr lang="en-US" sz="3200" dirty="0" err="1"/>
              <a:t>eg</a:t>
            </a:r>
            <a:r>
              <a:rPr lang="en-US" sz="3200" dirty="0"/>
              <a:t>, from word2vec or </a:t>
            </a:r>
            <a:r>
              <a:rPr lang="en-US" sz="3200" dirty="0" err="1"/>
              <a:t>GloVE</a:t>
            </a:r>
            <a:r>
              <a:rPr lang="en-US" sz="32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783" y="3856416"/>
            <a:ext cx="43191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Levy, Omer, </a:t>
            </a:r>
            <a:r>
              <a:rPr lang="en-US" sz="2400" dirty="0" err="1"/>
              <a:t>Yoav</a:t>
            </a:r>
            <a:r>
              <a:rPr lang="en-US" sz="2400" dirty="0"/>
              <a:t> Goldberg, and </a:t>
            </a:r>
            <a:r>
              <a:rPr lang="en-US" sz="2400" dirty="0" err="1"/>
              <a:t>Ido</a:t>
            </a:r>
            <a:r>
              <a:rPr lang="en-US" sz="2400" dirty="0"/>
              <a:t> Dagan. "Improving distributional similarity with lessons learned from word </a:t>
            </a:r>
            <a:r>
              <a:rPr lang="en-US" sz="2400" dirty="0" err="1"/>
              <a:t>embeddings</a:t>
            </a:r>
            <a:r>
              <a:rPr lang="en-US" sz="2400" dirty="0"/>
              <a:t>." </a:t>
            </a:r>
            <a:r>
              <a:rPr lang="en-US" sz="2400" i="1" dirty="0"/>
              <a:t>Transactions of the Association for Computational Linguistics</a:t>
            </a:r>
            <a:r>
              <a:rPr lang="en-US" sz="2400" dirty="0"/>
              <a:t> 3 (2015): 211-225.</a:t>
            </a:r>
          </a:p>
        </p:txBody>
      </p:sp>
    </p:spTree>
    <p:extLst>
      <p:ext uri="{BB962C8B-B14F-4D97-AF65-F5344CB8AC3E}">
        <p14:creationId xmlns:p14="http://schemas.microsoft.com/office/powerpoint/2010/main" val="12289704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ideas: online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3837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Construct LSH(</a:t>
            </a:r>
            <a:r>
              <a:rPr lang="en-US" b="1" i="1" dirty="0"/>
              <a:t>v</a:t>
            </a:r>
            <a:r>
              <a:rPr lang="en-US" i="1" dirty="0"/>
              <a:t>(w))</a:t>
            </a:r>
            <a:r>
              <a:rPr lang="en-US" dirty="0"/>
              <a:t> for each word </a:t>
            </a:r>
            <a:r>
              <a:rPr lang="en-US" i="1" dirty="0"/>
              <a:t>w </a:t>
            </a:r>
            <a:r>
              <a:rPr lang="en-US" dirty="0"/>
              <a:t>in the corpus</a:t>
            </a:r>
          </a:p>
          <a:p>
            <a:pPr lvl="1"/>
            <a:r>
              <a:rPr lang="en-US" dirty="0"/>
              <a:t>stream through the corpus </a:t>
            </a:r>
            <a:r>
              <a:rPr lang="en-US" i="1" dirty="0"/>
              <a:t>once</a:t>
            </a:r>
          </a:p>
          <a:p>
            <a:pPr lvl="1"/>
            <a:r>
              <a:rPr lang="en-US" dirty="0"/>
              <a:t>use minimal amount of memory</a:t>
            </a:r>
          </a:p>
          <a:p>
            <a:pPr lvl="1"/>
            <a:r>
              <a:rPr lang="en-US" dirty="0"/>
              <a:t>ideally no more than size of output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1450" y="3578720"/>
            <a:ext cx="8864600" cy="17543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…guards at </a:t>
            </a:r>
            <a:r>
              <a:rPr lang="en-US" u="sng" dirty="0" err="1"/>
              <a:t>Pentonville</a:t>
            </a:r>
            <a:r>
              <a:rPr lang="en-US" u="sng" dirty="0"/>
              <a:t> prison in North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discovered that an escape </a:t>
            </a:r>
            <a:r>
              <a:rPr lang="en-US" dirty="0"/>
              <a:t>attempt…</a:t>
            </a:r>
          </a:p>
          <a:p>
            <a:endParaRPr lang="en-US" dirty="0"/>
          </a:p>
          <a:p>
            <a:r>
              <a:rPr lang="en-US" u="sng" dirty="0"/>
              <a:t>An American Werewolf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is to be remade </a:t>
            </a:r>
            <a:r>
              <a:rPr lang="en-US" dirty="0"/>
              <a:t>by the son of the original director…</a:t>
            </a:r>
          </a:p>
          <a:p>
            <a:endParaRPr lang="en-US" dirty="0"/>
          </a:p>
          <a:p>
            <a:r>
              <a:rPr lang="en-US" dirty="0"/>
              <a:t>…UK pop up shop </a:t>
            </a:r>
            <a:r>
              <a:rPr lang="en-US" u="sng" dirty="0"/>
              <a:t>on Monmouth Street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today and on Friday </a:t>
            </a:r>
            <a:r>
              <a:rPr lang="en-US" dirty="0"/>
              <a:t>the brand…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71450" y="5503864"/>
            <a:ext cx="886460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="1" dirty="0"/>
              <a:t>(</a:t>
            </a:r>
            <a:r>
              <a:rPr lang="en-US" dirty="0"/>
              <a:t>London</a:t>
            </a:r>
            <a:r>
              <a:rPr lang="en-US" b="1" dirty="0"/>
              <a:t>):  </a:t>
            </a:r>
            <a:r>
              <a:rPr lang="en-US" dirty="0" err="1"/>
              <a:t>Pentonville</a:t>
            </a:r>
            <a:r>
              <a:rPr lang="en-US" dirty="0"/>
              <a:t>, prison, in, North, …. and, on Friday</a:t>
            </a:r>
          </a:p>
          <a:p>
            <a:r>
              <a:rPr lang="en-US" dirty="0"/>
              <a:t>LSH(v</a:t>
            </a:r>
            <a:r>
              <a:rPr lang="en-US" b="1" dirty="0"/>
              <a:t>(</a:t>
            </a:r>
            <a:r>
              <a:rPr lang="en-US" dirty="0"/>
              <a:t>London</a:t>
            </a:r>
            <a:r>
              <a:rPr lang="en-US" b="1" dirty="0"/>
              <a:t>)</a:t>
            </a:r>
            <a:r>
              <a:rPr lang="en-US" dirty="0">
                <a:sym typeface="Wingdings"/>
              </a:rPr>
              <a:t>):        </a:t>
            </a:r>
            <a:r>
              <a:rPr lang="en-US" dirty="0">
                <a:latin typeface="Cambria Math" charset="0"/>
                <a:ea typeface="Cambria Math" charset="0"/>
                <a:cs typeface="Cambria Math" charset="0"/>
                <a:sym typeface="Wingdings"/>
              </a:rPr>
              <a:t>0101101010111011101</a:t>
            </a:r>
          </a:p>
          <a:p>
            <a:r>
              <a:rPr lang="en-US" b="1" dirty="0">
                <a:latin typeface="Cambria Math" charset="0"/>
                <a:ea typeface="Cambria Math" charset="0"/>
                <a:cs typeface="Cambria Math" charset="0"/>
                <a:sym typeface="Wingdings"/>
              </a:rPr>
              <a:t>LSH(v(Monmouth)): </a:t>
            </a:r>
            <a:r>
              <a:rPr lang="en-US" dirty="0">
                <a:latin typeface="Cambria Math" charset="0"/>
                <a:ea typeface="Cambria Math" charset="0"/>
                <a:cs typeface="Cambria Math" charset="0"/>
                <a:sym typeface="Wingdings"/>
              </a:rPr>
              <a:t>0111101000110010111</a:t>
            </a:r>
          </a:p>
          <a:p>
            <a:r>
              <a:rPr lang="mr-IN" b="1" dirty="0">
                <a:latin typeface="Cambria Math" charset="0"/>
                <a:ea typeface="Cambria Math" charset="0"/>
                <a:cs typeface="Cambria Math" charset="0"/>
                <a:sym typeface="Wingdings"/>
              </a:rPr>
              <a:t>…</a:t>
            </a:r>
            <a:endParaRPr lang="en-US" b="1" dirty="0">
              <a:latin typeface="Cambria Math" charset="0"/>
              <a:ea typeface="Cambria Math" charset="0"/>
              <a:cs typeface="Cambria Math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741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3-02-18 at 10.53.4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30875" cy="3149794"/>
          </a:xfrm>
          <a:prstGeom prst="rect">
            <a:avLst/>
          </a:prstGeom>
        </p:spPr>
      </p:pic>
      <p:pic>
        <p:nvPicPr>
          <p:cNvPr id="5" name="Picture 4" descr="Screen Shot 2013-02-18 at 10.53.5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9794"/>
            <a:ext cx="9144000" cy="2076037"/>
          </a:xfrm>
          <a:prstGeom prst="rect">
            <a:avLst/>
          </a:prstGeom>
        </p:spPr>
      </p:pic>
      <p:pic>
        <p:nvPicPr>
          <p:cNvPr id="6" name="Picture 5" descr="Screen Shot 2013-02-18 at 10.54.26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7510"/>
            <a:ext cx="9144000" cy="179535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680" y="142732"/>
            <a:ext cx="3445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v is context vector; d is vocab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4318" y="880480"/>
            <a:ext cx="2746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/>
              <a:t>r</a:t>
            </a:r>
            <a:r>
              <a:rPr lang="en-US" sz="2000" i="1" baseline="-25000" dirty="0" err="1"/>
              <a:t>i</a:t>
            </a:r>
            <a:r>
              <a:rPr lang="en-US" sz="2000" i="1" dirty="0"/>
              <a:t> is </a:t>
            </a:r>
            <a:r>
              <a:rPr lang="en-US" sz="2000" i="1" dirty="0" err="1"/>
              <a:t>i-th</a:t>
            </a:r>
            <a:r>
              <a:rPr lang="en-US" sz="2000" i="1" dirty="0"/>
              <a:t> random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4692" y="2370474"/>
            <a:ext cx="2966027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i="1" dirty="0"/>
              <a:t>h</a:t>
            </a:r>
            <a:r>
              <a:rPr lang="en-US" sz="2000" i="1" baseline="-25000" dirty="0"/>
              <a:t>i</a:t>
            </a:r>
            <a:r>
              <a:rPr lang="en-US" sz="2000" i="1" dirty="0"/>
              <a:t>(v) </a:t>
            </a:r>
            <a:r>
              <a:rPr lang="en-US" sz="2000" i="1" dirty="0" err="1"/>
              <a:t>i-th</a:t>
            </a:r>
            <a:r>
              <a:rPr lang="en-US" sz="2000" i="1" dirty="0"/>
              <a:t> bit of LSH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4340" y="3436556"/>
            <a:ext cx="5529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because context vector is sum of </a:t>
            </a:r>
            <a:r>
              <a:rPr lang="en-US" sz="2000" i="1" dirty="0"/>
              <a:t>mention contexts</a:t>
            </a:r>
          </a:p>
        </p:txBody>
      </p:sp>
      <p:pic>
        <p:nvPicPr>
          <p:cNvPr id="10" name="Picture 9" descr="Untitled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414" y="461908"/>
            <a:ext cx="5879792" cy="180461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08000" y="4773414"/>
            <a:ext cx="6675120" cy="1180346"/>
            <a:chOff x="508000" y="4773414"/>
            <a:chExt cx="6675120" cy="1180346"/>
          </a:xfrm>
        </p:grpSpPr>
        <p:sp>
          <p:nvSpPr>
            <p:cNvPr id="11" name="Oval 10"/>
            <p:cNvSpPr/>
            <p:nvPr/>
          </p:nvSpPr>
          <p:spPr>
            <a:xfrm>
              <a:off x="6664960" y="5225831"/>
              <a:ext cx="518160" cy="727929"/>
            </a:xfrm>
            <a:prstGeom prst="ellipse">
              <a:avLst/>
            </a:prstGeom>
            <a:noFill/>
            <a:ln w="28575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3627120" y="5047510"/>
              <a:ext cx="3037840" cy="28492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08000" y="4773414"/>
              <a:ext cx="29585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these come one by one as we stream thru the corpus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022414" y="5930194"/>
            <a:ext cx="2839599" cy="436547"/>
            <a:chOff x="6022414" y="5970722"/>
            <a:chExt cx="2839599" cy="436547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6022414" y="5970722"/>
              <a:ext cx="1954637" cy="10325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6728413" y="6037937"/>
              <a:ext cx="21336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keep this as H[w][</a:t>
              </a:r>
              <a:r>
                <a:rPr lang="en-US" dirty="0" err="1"/>
                <a:t>i</a:t>
              </a:r>
              <a:r>
                <a:rPr lang="en-US" dirty="0"/>
                <a:t>]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DA8D25E-DE46-72E6-73A6-084DF2E41210}"/>
              </a:ext>
            </a:extLst>
          </p:cNvPr>
          <p:cNvSpPr txBox="1"/>
          <p:nvPr/>
        </p:nvSpPr>
        <p:spPr>
          <a:xfrm>
            <a:off x="6172200" y="6368548"/>
            <a:ext cx="2133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threshold later on</a:t>
            </a:r>
          </a:p>
        </p:txBody>
      </p:sp>
    </p:spTree>
    <p:extLst>
      <p:ext uri="{BB962C8B-B14F-4D97-AF65-F5344CB8AC3E}">
        <p14:creationId xmlns:p14="http://schemas.microsoft.com/office/powerpoint/2010/main" val="192311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4-02-25 at 3.56.3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21" y="0"/>
            <a:ext cx="5581245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Oval Callout 3"/>
          <p:cNvSpPr/>
          <p:nvPr/>
        </p:nvSpPr>
        <p:spPr>
          <a:xfrm>
            <a:off x="4821899" y="4583575"/>
            <a:ext cx="1944635" cy="436531"/>
          </a:xfrm>
          <a:prstGeom prst="wedgeEllipseCallout">
            <a:avLst>
              <a:gd name="adj1" fmla="val -52908"/>
              <a:gd name="adj2" fmla="val -6022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j-</a:t>
            </a:r>
            <a:r>
              <a:rPr lang="en-US" dirty="0" err="1"/>
              <a:t>th</a:t>
            </a:r>
            <a:r>
              <a:rPr lang="en-US" dirty="0"/>
              <a:t> hash of </a:t>
            </a:r>
            <a:r>
              <a:rPr lang="en-US" i="1" dirty="0"/>
              <a:t>f</a:t>
            </a:r>
            <a:r>
              <a:rPr lang="en-US" i="1" baseline="-25000" dirty="0"/>
              <a:t>i</a:t>
            </a:r>
            <a:endParaRPr lang="en-US" dirty="0"/>
          </a:p>
        </p:txBody>
      </p:sp>
      <p:sp>
        <p:nvSpPr>
          <p:cNvPr id="5" name="Oval Callout 4"/>
          <p:cNvSpPr/>
          <p:nvPr/>
        </p:nvSpPr>
        <p:spPr>
          <a:xfrm>
            <a:off x="5360648" y="3032291"/>
            <a:ext cx="3326152" cy="549247"/>
          </a:xfrm>
          <a:prstGeom prst="wedgeEllipseCallout">
            <a:avLst>
              <a:gd name="adj1" fmla="val -80310"/>
              <a:gd name="adj2" fmla="val 17501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of </a:t>
            </a:r>
            <a:r>
              <a:rPr lang="en-US" i="1" dirty="0"/>
              <a:t>f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in </a:t>
            </a:r>
            <a:r>
              <a:rPr lang="en-US" i="1" dirty="0" err="1"/>
              <a:t>r</a:t>
            </a:r>
            <a:r>
              <a:rPr lang="en-US" i="1" baseline="-25000" dirty="0" err="1"/>
              <a:t>j</a:t>
            </a:r>
            <a:endParaRPr lang="en-US" i="1" dirty="0"/>
          </a:p>
        </p:txBody>
      </p:sp>
      <p:pic>
        <p:nvPicPr>
          <p:cNvPr id="6" name="Picture 5" descr="Screen Shot 2013-02-18 at 10.54.26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72" t="13945" r="13033" b="49620"/>
          <a:stretch/>
        </p:blipFill>
        <p:spPr>
          <a:xfrm>
            <a:off x="5360648" y="5385268"/>
            <a:ext cx="1706517" cy="562686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3909113" y="4583575"/>
            <a:ext cx="1451535" cy="9127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3552F4-1FF2-4EAB-0512-909EDB9CE773}"/>
              </a:ext>
            </a:extLst>
          </p:cNvPr>
          <p:cNvSpPr txBox="1"/>
          <p:nvPr/>
        </p:nvSpPr>
        <p:spPr>
          <a:xfrm>
            <a:off x="871538" y="4800600"/>
            <a:ext cx="2857500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compress H[w][j] to bits</a:t>
            </a:r>
          </a:p>
        </p:txBody>
      </p:sp>
    </p:spTree>
    <p:extLst>
      <p:ext uri="{BB962C8B-B14F-4D97-AF65-F5344CB8AC3E}">
        <p14:creationId xmlns:p14="http://schemas.microsoft.com/office/powerpoint/2010/main" val="4251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DA3C-8107-B062-2A4C-5036CE72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D36CC-776A-CC66-FBF9-7CE8CDF9A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Tricks in this paper</a:t>
            </a:r>
          </a:p>
          <a:p>
            <a:pPr lvl="1"/>
            <a:r>
              <a:rPr lang="en-US" dirty="0"/>
              <a:t>saving calls to random() with pooling</a:t>
            </a:r>
          </a:p>
          <a:p>
            <a:pPr lvl="1"/>
            <a:r>
              <a:rPr lang="en-US" dirty="0"/>
              <a:t>computing word distribution vectors incrementally</a:t>
            </a:r>
          </a:p>
          <a:p>
            <a:pPr lvl="2"/>
            <a:r>
              <a:rPr lang="en-US" sz="3200" dirty="0"/>
              <a:t>and at each increment compress, via random projection, to </a:t>
            </a:r>
            <a:r>
              <a:rPr lang="en-US" sz="3200" i="1" dirty="0"/>
              <a:t>d </a:t>
            </a:r>
            <a:r>
              <a:rPr lang="en-US" sz="3200" dirty="0"/>
              <a:t>real numbers</a:t>
            </a:r>
          </a:p>
          <a:p>
            <a:pPr lvl="1"/>
            <a:r>
              <a:rPr lang="en-US" dirty="0"/>
              <a:t>thresholding the random projections to a bit</a:t>
            </a:r>
          </a:p>
        </p:txBody>
      </p:sp>
    </p:spTree>
    <p:extLst>
      <p:ext uri="{BB962C8B-B14F-4D97-AF65-F5344CB8AC3E}">
        <p14:creationId xmlns:p14="http://schemas.microsoft.com/office/powerpoint/2010/main" val="4957794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Corpus: 700M+ tokens, 1.1M distinct bigrams</a:t>
            </a:r>
          </a:p>
          <a:p>
            <a:r>
              <a:rPr lang="en-US" dirty="0"/>
              <a:t>For each, build a feature vector of words that co-occur near it, using on-line LSH</a:t>
            </a:r>
          </a:p>
          <a:p>
            <a:r>
              <a:rPr lang="en-US" dirty="0"/>
              <a:t>Check results with 50,000 actual 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891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pic>
        <p:nvPicPr>
          <p:cNvPr id="5" name="Picture 4" descr="Screen Shot 2014-02-25 at 4.01.2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922" y="1698335"/>
            <a:ext cx="5252950" cy="494798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206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2-18 at 10.56.0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" y="119054"/>
            <a:ext cx="9144000" cy="45452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1759881"/>
            <a:ext cx="6463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16</a:t>
            </a:r>
          </a:p>
          <a:p>
            <a:r>
              <a:rPr lang="en-US" sz="2400" dirty="0"/>
              <a:t>32</a:t>
            </a:r>
          </a:p>
          <a:p>
            <a:r>
              <a:rPr lang="en-US" sz="2400" dirty="0"/>
              <a:t>64</a:t>
            </a:r>
          </a:p>
          <a:p>
            <a:r>
              <a:rPr lang="en-US" sz="2400" dirty="0"/>
              <a:t>128</a:t>
            </a:r>
          </a:p>
          <a:p>
            <a:r>
              <a:rPr lang="en-US" sz="24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16320038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Applications and Alternatives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887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7935913" cy="271462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LSH can be used to </a:t>
            </a:r>
            <a:r>
              <a:rPr lang="en-US" b="1" dirty="0"/>
              <a:t>compress </a:t>
            </a:r>
            <a:r>
              <a:rPr lang="en-US" dirty="0"/>
              <a:t>a set of vectors</a:t>
            </a:r>
          </a:p>
          <a:p>
            <a:pPr lvl="1"/>
            <a:r>
              <a:rPr lang="en-US" dirty="0"/>
              <a:t>while preserving some information about their similarity</a:t>
            </a:r>
          </a:p>
          <a:p>
            <a:r>
              <a:rPr lang="en-US" dirty="0"/>
              <a:t>LSH can also be used to </a:t>
            </a:r>
            <a:r>
              <a:rPr lang="en-US" b="1" dirty="0"/>
              <a:t>index </a:t>
            </a:r>
            <a:r>
              <a:rPr lang="en-US" dirty="0"/>
              <a:t>a set of vectors</a:t>
            </a:r>
          </a:p>
          <a:p>
            <a:pPr lvl="1"/>
            <a:r>
              <a:rPr lang="en-US" dirty="0"/>
              <a:t>k-NN search maps a query vector </a:t>
            </a:r>
            <a:r>
              <a:rPr lang="en-US" b="1" dirty="0" err="1"/>
              <a:t>qx</a:t>
            </a:r>
            <a:r>
              <a:rPr lang="en-US" b="1" dirty="0"/>
              <a:t> </a:t>
            </a:r>
            <a:r>
              <a:rPr lang="en-US" dirty="0"/>
              <a:t>to the k most similar vectors </a:t>
            </a:r>
            <a:r>
              <a:rPr lang="en-US" b="1" dirty="0"/>
              <a:t>x</a:t>
            </a:r>
            <a:r>
              <a:rPr lang="en-US" baseline="-25000" dirty="0"/>
              <a:t>1</a:t>
            </a:r>
            <a:r>
              <a:rPr lang="en-US" b="1" dirty="0"/>
              <a:t>,…,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in a collection</a:t>
            </a:r>
          </a:p>
        </p:txBody>
      </p:sp>
      <p:pic>
        <p:nvPicPr>
          <p:cNvPr id="4" name="Picture 3" descr="Screen Shot 2013-02-18 at 10.56.02 AM.png">
            <a:extLst>
              <a:ext uri="{FF2B5EF4-FFF2-40B4-BE49-F238E27FC236}">
                <a16:creationId xmlns:a16="http://schemas.microsoft.com/office/drawing/2014/main" id="{8DC33942-097A-5B4C-E25D-6181E1172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17" r="2361"/>
          <a:stretch/>
        </p:blipFill>
        <p:spPr>
          <a:xfrm>
            <a:off x="1024491" y="4118171"/>
            <a:ext cx="8050213" cy="3454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6E2F8-E20D-F8BC-387C-3B1ECB5F6508}"/>
              </a:ext>
            </a:extLst>
          </p:cNvPr>
          <p:cNvSpPr txBox="1"/>
          <p:nvPr/>
        </p:nvSpPr>
        <p:spPr>
          <a:xfrm>
            <a:off x="1024491" y="4875775"/>
            <a:ext cx="6463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16</a:t>
            </a:r>
          </a:p>
          <a:p>
            <a:r>
              <a:rPr lang="en-US" sz="2400" dirty="0"/>
              <a:t>32</a:t>
            </a:r>
          </a:p>
          <a:p>
            <a:r>
              <a:rPr lang="en-US" sz="2400" dirty="0"/>
              <a:t>64</a:t>
            </a:r>
          </a:p>
          <a:p>
            <a:r>
              <a:rPr lang="en-US" sz="2400" dirty="0"/>
              <a:t>128</a:t>
            </a:r>
          </a:p>
          <a:p>
            <a:r>
              <a:rPr lang="en-US" sz="24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1233675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F2E3-BFF9-B3B5-DAAE-057B97BB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2A03-68D4-EFD0-47D9-AB4F68AA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LSH: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3EEA0-0B88-5B17-104D-FB656C7E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7935913" cy="27146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LSH can be used to </a:t>
            </a:r>
            <a:r>
              <a:rPr lang="en-US" b="1" dirty="0"/>
              <a:t>compress </a:t>
            </a:r>
            <a:r>
              <a:rPr lang="en-US" dirty="0"/>
              <a:t>a set of vectors</a:t>
            </a:r>
          </a:p>
          <a:p>
            <a:pPr lvl="1"/>
            <a:r>
              <a:rPr lang="en-US" dirty="0"/>
              <a:t>while preserving some information about their similarity</a:t>
            </a:r>
          </a:p>
          <a:p>
            <a:r>
              <a:rPr lang="en-US" dirty="0"/>
              <a:t>LSH can also be used to </a:t>
            </a:r>
            <a:r>
              <a:rPr lang="en-US" b="1" dirty="0"/>
              <a:t>index </a:t>
            </a:r>
            <a:r>
              <a:rPr lang="en-US" dirty="0"/>
              <a:t>a set of vectors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approximate</a:t>
            </a:r>
            <a:r>
              <a:rPr lang="en-US" dirty="0"/>
              <a:t> k-NN search maps a query vector </a:t>
            </a:r>
            <a:r>
              <a:rPr lang="en-US" b="1" dirty="0" err="1"/>
              <a:t>qx</a:t>
            </a:r>
            <a:r>
              <a:rPr lang="en-US" b="1" dirty="0"/>
              <a:t> </a:t>
            </a:r>
            <a:r>
              <a:rPr lang="en-US" dirty="0"/>
              <a:t>to an </a:t>
            </a:r>
            <a:r>
              <a:rPr lang="en-US" dirty="0">
                <a:solidFill>
                  <a:srgbClr val="0070C0"/>
                </a:solidFill>
              </a:rPr>
              <a:t>approximation</a:t>
            </a:r>
            <a:r>
              <a:rPr lang="en-US" dirty="0"/>
              <a:t> of the k most similar vectors </a:t>
            </a:r>
            <a:r>
              <a:rPr lang="en-US" b="1" dirty="0"/>
              <a:t>x</a:t>
            </a:r>
            <a:r>
              <a:rPr lang="en-US" baseline="-25000" dirty="0"/>
              <a:t>1</a:t>
            </a:r>
            <a:r>
              <a:rPr lang="en-US" b="1" dirty="0"/>
              <a:t>,…,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in a collection</a:t>
            </a:r>
          </a:p>
        </p:txBody>
      </p:sp>
      <p:pic>
        <p:nvPicPr>
          <p:cNvPr id="4" name="Picture 3" descr="Screen Shot 2013-02-18 at 10.56.02 AM.png">
            <a:extLst>
              <a:ext uri="{FF2B5EF4-FFF2-40B4-BE49-F238E27FC236}">
                <a16:creationId xmlns:a16="http://schemas.microsoft.com/office/drawing/2014/main" id="{DE61D9ED-037C-C845-9A8D-683C03387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17" r="2361"/>
          <a:stretch/>
        </p:blipFill>
        <p:spPr>
          <a:xfrm>
            <a:off x="1024491" y="4118171"/>
            <a:ext cx="8050213" cy="3454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7D86DF-C620-5D67-48DA-A5A5AA3C7352}"/>
              </a:ext>
            </a:extLst>
          </p:cNvPr>
          <p:cNvSpPr txBox="1"/>
          <p:nvPr/>
        </p:nvSpPr>
        <p:spPr>
          <a:xfrm>
            <a:off x="1024491" y="4875775"/>
            <a:ext cx="6463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16</a:t>
            </a:r>
          </a:p>
          <a:p>
            <a:r>
              <a:rPr lang="en-US" sz="2400" dirty="0"/>
              <a:t>32</a:t>
            </a:r>
          </a:p>
          <a:p>
            <a:r>
              <a:rPr lang="en-US" sz="2400" dirty="0"/>
              <a:t>64</a:t>
            </a:r>
          </a:p>
          <a:p>
            <a:r>
              <a:rPr lang="en-US" sz="2400" dirty="0"/>
              <a:t>128</a:t>
            </a:r>
          </a:p>
          <a:p>
            <a:r>
              <a:rPr lang="en-US" sz="24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8058151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8B97-4B34-6420-F9B8-B070D641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CF25-868F-AA44-8B8B-62A0B126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 for k-NN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2B43-3064-5615-819D-61C51E30E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7935913" cy="44719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LSH can be used to </a:t>
            </a:r>
            <a:r>
              <a:rPr lang="en-US" b="1" dirty="0"/>
              <a:t>compress </a:t>
            </a:r>
            <a:r>
              <a:rPr lang="en-US" dirty="0"/>
              <a:t>a set of vectors</a:t>
            </a:r>
          </a:p>
          <a:p>
            <a:pPr lvl="1"/>
            <a:r>
              <a:rPr lang="en-US" dirty="0"/>
              <a:t>while preserving some information about their similarity</a:t>
            </a:r>
          </a:p>
          <a:p>
            <a:r>
              <a:rPr lang="en-US" dirty="0"/>
              <a:t>LSH can also be used to </a:t>
            </a:r>
            <a:r>
              <a:rPr lang="en-US" b="1" dirty="0"/>
              <a:t>index </a:t>
            </a:r>
            <a:r>
              <a:rPr lang="en-US" dirty="0"/>
              <a:t>a set of vectors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approximate</a:t>
            </a:r>
            <a:r>
              <a:rPr lang="en-US" dirty="0"/>
              <a:t> k-NN search maps a query vector </a:t>
            </a:r>
            <a:r>
              <a:rPr lang="en-US" b="1" dirty="0" err="1"/>
              <a:t>qx</a:t>
            </a:r>
            <a:r>
              <a:rPr lang="en-US" b="1" dirty="0"/>
              <a:t> </a:t>
            </a:r>
            <a:r>
              <a:rPr lang="en-US" dirty="0"/>
              <a:t>to an </a:t>
            </a:r>
            <a:r>
              <a:rPr lang="en-US" dirty="0">
                <a:solidFill>
                  <a:srgbClr val="0070C0"/>
                </a:solidFill>
              </a:rPr>
              <a:t>approximation</a:t>
            </a:r>
            <a:r>
              <a:rPr lang="en-US" dirty="0"/>
              <a:t> of the k most similar vectors </a:t>
            </a:r>
            <a:r>
              <a:rPr lang="en-US" b="1" dirty="0"/>
              <a:t>x</a:t>
            </a:r>
            <a:r>
              <a:rPr lang="en-US" baseline="-25000" dirty="0"/>
              <a:t>1</a:t>
            </a:r>
            <a:r>
              <a:rPr lang="en-US" b="1" dirty="0"/>
              <a:t>,…,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in a collection</a:t>
            </a:r>
          </a:p>
          <a:p>
            <a:pPr lvl="1"/>
            <a:r>
              <a:rPr lang="en-US" dirty="0"/>
              <a:t>vectors in the same LSH bin as </a:t>
            </a:r>
            <a:r>
              <a:rPr lang="en-US" b="1" dirty="0" err="1"/>
              <a:t>qx</a:t>
            </a:r>
            <a:r>
              <a:rPr lang="en-US" b="1" dirty="0"/>
              <a:t> </a:t>
            </a:r>
            <a:r>
              <a:rPr lang="en-US" dirty="0"/>
              <a:t>will be similar</a:t>
            </a:r>
          </a:p>
          <a:p>
            <a:pPr lvl="1"/>
            <a:r>
              <a:rPr lang="en-US" dirty="0"/>
              <a:t>more generally: vectors with low Hamming distance with be similar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7500-D1EB-2356-E679-C779DE7CAA6B}"/>
              </a:ext>
            </a:extLst>
          </p:cNvPr>
          <p:cNvSpPr txBox="1"/>
          <p:nvPr/>
        </p:nvSpPr>
        <p:spPr>
          <a:xfrm>
            <a:off x="814388" y="5572123"/>
            <a:ext cx="740092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An </a:t>
            </a:r>
            <a:r>
              <a:rPr lang="en-US" sz="2400" b="1" dirty="0"/>
              <a:t>inverted index </a:t>
            </a:r>
            <a:r>
              <a:rPr lang="en-US" sz="2400" dirty="0"/>
              <a:t>mapping LSH bitstrings </a:t>
            </a:r>
            <a:r>
              <a:rPr lang="en-US" sz="2400" b="1" dirty="0"/>
              <a:t>b </a:t>
            </a:r>
            <a:r>
              <a:rPr lang="en-US" sz="2400" dirty="0"/>
              <a:t>to vectors that map to </a:t>
            </a:r>
            <a:r>
              <a:rPr lang="en-US" sz="2400" b="1" dirty="0"/>
              <a:t>b </a:t>
            </a:r>
            <a:r>
              <a:rPr lang="en-US" sz="2400" dirty="0"/>
              <a:t>is a useful tool for fast k-NN algorithms</a:t>
            </a:r>
          </a:p>
        </p:txBody>
      </p:sp>
    </p:spTree>
    <p:extLst>
      <p:ext uri="{BB962C8B-B14F-4D97-AF65-F5344CB8AC3E}">
        <p14:creationId xmlns:p14="http://schemas.microsoft.com/office/powerpoint/2010/main" val="14508541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CAEEC-0C2C-F8EE-808C-709FD8C8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00425-8201-CA03-EF63-E9241350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 for k-NN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F1C7-B82E-D61F-F111-38A9E49E5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1"/>
            <a:ext cx="8164512" cy="56006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Subproblem: given a bit vector </a:t>
            </a:r>
            <a:r>
              <a:rPr lang="en-US" b="1" dirty="0"/>
              <a:t>q</a:t>
            </a:r>
            <a:r>
              <a:rPr lang="en-US" dirty="0"/>
              <a:t> find the closest </a:t>
            </a:r>
            <a:r>
              <a:rPr lang="en-US" b="1" dirty="0"/>
              <a:t>bit vector, h, </a:t>
            </a:r>
            <a:r>
              <a:rPr lang="en-US" dirty="0"/>
              <a:t>in a collection</a:t>
            </a:r>
          </a:p>
          <a:p>
            <a:r>
              <a:rPr lang="en-US" dirty="0"/>
              <a:t>We could look at all buckets with Hamming distance 0, then 1, then 2, … but there are 2</a:t>
            </a:r>
            <a:r>
              <a:rPr lang="en-US" baseline="30000" dirty="0"/>
              <a:t>k</a:t>
            </a:r>
            <a:r>
              <a:rPr lang="en-US" dirty="0"/>
              <a:t> buckets of distance k</a:t>
            </a:r>
          </a:p>
          <a:p>
            <a:r>
              <a:rPr lang="en-US" b="1" dirty="0"/>
              <a:t>Multi-index hashing </a:t>
            </a:r>
            <a:r>
              <a:rPr lang="en-US" dirty="0"/>
              <a:t>is better approach</a:t>
            </a:r>
          </a:p>
          <a:p>
            <a:pPr lvl="1"/>
            <a:r>
              <a:rPr lang="en-US" dirty="0"/>
              <a:t>start out with a long code </a:t>
            </a:r>
            <a:r>
              <a:rPr lang="en-US" b="1" dirty="0"/>
              <a:t>h</a:t>
            </a:r>
          </a:p>
          <a:p>
            <a:pPr lvl="1"/>
            <a:r>
              <a:rPr lang="en-US" dirty="0"/>
              <a:t>break it into </a:t>
            </a:r>
            <a:r>
              <a:rPr lang="en-US" i="1" dirty="0"/>
              <a:t>m </a:t>
            </a:r>
            <a:r>
              <a:rPr lang="en-US" dirty="0"/>
              <a:t>equal-size bitstrings </a:t>
            </a:r>
            <a:r>
              <a:rPr lang="en-US" b="1" dirty="0"/>
              <a:t>h</a:t>
            </a:r>
            <a:r>
              <a:rPr lang="en-US" baseline="30000" dirty="0"/>
              <a:t>(1)</a:t>
            </a:r>
            <a:r>
              <a:rPr lang="en-US" dirty="0"/>
              <a:t>, …, </a:t>
            </a:r>
            <a:r>
              <a:rPr lang="en-US" b="1" dirty="0"/>
              <a:t>h</a:t>
            </a:r>
            <a:r>
              <a:rPr lang="en-US" baseline="30000" dirty="0"/>
              <a:t>(m)</a:t>
            </a:r>
          </a:p>
          <a:p>
            <a:pPr lvl="1"/>
            <a:r>
              <a:rPr lang="en-US" dirty="0"/>
              <a:t>claim: if Hamming(</a:t>
            </a:r>
            <a:r>
              <a:rPr lang="en-US" b="1" dirty="0" err="1"/>
              <a:t>h,g</a:t>
            </a:r>
            <a:r>
              <a:rPr lang="en-US" dirty="0"/>
              <a:t>) &lt; </a:t>
            </a:r>
            <a:r>
              <a:rPr lang="en-US" i="1" dirty="0"/>
              <a:t>r</a:t>
            </a:r>
            <a:r>
              <a:rPr lang="en-US" dirty="0"/>
              <a:t>, then for some z, Hamming(</a:t>
            </a:r>
            <a:r>
              <a:rPr lang="en-US" b="1" dirty="0"/>
              <a:t>h</a:t>
            </a:r>
            <a:r>
              <a:rPr lang="en-US" baseline="30000" dirty="0"/>
              <a:t>(z)</a:t>
            </a:r>
            <a:r>
              <a:rPr lang="en-US" b="1" dirty="0"/>
              <a:t>,g</a:t>
            </a:r>
            <a:r>
              <a:rPr lang="en-US" baseline="30000" dirty="0"/>
              <a:t> (z)</a:t>
            </a:r>
            <a:r>
              <a:rPr lang="en-US" dirty="0"/>
              <a:t>) &lt; </a:t>
            </a:r>
            <a:r>
              <a:rPr lang="en-US" i="1" dirty="0"/>
              <a:t>r/m</a:t>
            </a:r>
          </a:p>
          <a:p>
            <a:pPr lvl="1"/>
            <a:endParaRPr lang="en-US" i="1" dirty="0"/>
          </a:p>
          <a:p>
            <a:r>
              <a:rPr lang="en-US" dirty="0"/>
              <a:t>Example if m=4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b="1" dirty="0"/>
              <a:t>h </a:t>
            </a:r>
            <a:r>
              <a:rPr lang="en-US" dirty="0"/>
              <a:t>and </a:t>
            </a:r>
            <a:r>
              <a:rPr lang="en-US" b="1" dirty="0"/>
              <a:t>g </a:t>
            </a:r>
            <a:r>
              <a:rPr lang="en-US" dirty="0"/>
              <a:t>differ in 3 bits </a:t>
            </a:r>
            <a:r>
              <a:rPr lang="en-US" dirty="0">
                <a:sym typeface="Wingdings" pitchFamily="2" charset="2"/>
              </a:rPr>
              <a:t> one of the four sub-bitstrings has </a:t>
            </a:r>
            <a:r>
              <a:rPr lang="en-US" dirty="0"/>
              <a:t>Hamming(</a:t>
            </a:r>
            <a:r>
              <a:rPr lang="en-US" b="1" dirty="0"/>
              <a:t>h</a:t>
            </a:r>
            <a:r>
              <a:rPr lang="en-US" baseline="30000" dirty="0"/>
              <a:t>(z)</a:t>
            </a:r>
            <a:r>
              <a:rPr lang="en-US" b="1" dirty="0"/>
              <a:t>,g</a:t>
            </a:r>
            <a:r>
              <a:rPr lang="en-US" baseline="30000" dirty="0"/>
              <a:t> (z)</a:t>
            </a:r>
            <a:r>
              <a:rPr lang="en-US" dirty="0"/>
              <a:t>) &lt;= 1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b="1" dirty="0"/>
              <a:t>h </a:t>
            </a:r>
            <a:r>
              <a:rPr lang="en-US" dirty="0"/>
              <a:t>and </a:t>
            </a:r>
            <a:r>
              <a:rPr lang="en-US" b="1" dirty="0"/>
              <a:t>g </a:t>
            </a:r>
            <a:r>
              <a:rPr lang="en-US" dirty="0"/>
              <a:t>differ in 7 bits </a:t>
            </a:r>
            <a:r>
              <a:rPr lang="en-US" dirty="0">
                <a:sym typeface="Wingdings" pitchFamily="2" charset="2"/>
              </a:rPr>
              <a:t> one of the four sub-bitstrings has </a:t>
            </a:r>
            <a:r>
              <a:rPr lang="en-US" dirty="0"/>
              <a:t>Hamming(</a:t>
            </a:r>
            <a:r>
              <a:rPr lang="en-US" b="1" dirty="0"/>
              <a:t>h</a:t>
            </a:r>
            <a:r>
              <a:rPr lang="en-US" baseline="30000" dirty="0"/>
              <a:t>(z)</a:t>
            </a:r>
            <a:r>
              <a:rPr lang="en-US" b="1" dirty="0"/>
              <a:t>,g</a:t>
            </a:r>
            <a:r>
              <a:rPr lang="en-US" baseline="30000" dirty="0"/>
              <a:t> (z)</a:t>
            </a:r>
            <a:r>
              <a:rPr lang="en-US" dirty="0"/>
              <a:t>) &lt;= 1</a:t>
            </a:r>
            <a:endParaRPr lang="en-US" i="1" dirty="0"/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b="1" dirty="0"/>
          </a:p>
          <a:p>
            <a:pPr marL="457200" lvl="1" indent="0">
              <a:buNone/>
            </a:pPr>
            <a:endParaRPr lang="en-US" i="1" dirty="0"/>
          </a:p>
          <a:p>
            <a:pPr lvl="1"/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494104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20C3-8805-5B36-283B-4510E45B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7FBC-12CB-88CC-4A3E-90336E6EC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LSH for k-NN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8AE94-AC1E-CA92-2C3D-4886ECD38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2643188"/>
            <a:ext cx="8107363" cy="40433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Multi-index hashing </a:t>
            </a:r>
            <a:r>
              <a:rPr lang="en-US" dirty="0"/>
              <a:t>is better approach</a:t>
            </a:r>
          </a:p>
          <a:p>
            <a:pPr lvl="1"/>
            <a:r>
              <a:rPr lang="en-US" dirty="0"/>
              <a:t>start out with a long code </a:t>
            </a:r>
            <a:r>
              <a:rPr lang="en-US" b="1" dirty="0"/>
              <a:t>h – </a:t>
            </a:r>
            <a:r>
              <a:rPr lang="en-US" dirty="0"/>
              <a:t>say </a:t>
            </a:r>
            <a:r>
              <a:rPr lang="en-US" i="1" dirty="0"/>
              <a:t>n  </a:t>
            </a:r>
            <a:r>
              <a:rPr lang="en-US" dirty="0"/>
              <a:t>bits</a:t>
            </a:r>
          </a:p>
          <a:p>
            <a:pPr lvl="1"/>
            <a:r>
              <a:rPr lang="en-US" dirty="0"/>
              <a:t>break it into </a:t>
            </a:r>
            <a:r>
              <a:rPr lang="en-US" i="1" dirty="0"/>
              <a:t>m </a:t>
            </a:r>
            <a:r>
              <a:rPr lang="en-US" dirty="0"/>
              <a:t>equal-size bitstrings </a:t>
            </a:r>
            <a:r>
              <a:rPr lang="en-US" b="1" dirty="0"/>
              <a:t>h</a:t>
            </a:r>
            <a:r>
              <a:rPr lang="en-US" baseline="30000" dirty="0"/>
              <a:t>(1)</a:t>
            </a:r>
            <a:r>
              <a:rPr lang="en-US" dirty="0"/>
              <a:t>, …, </a:t>
            </a:r>
            <a:r>
              <a:rPr lang="en-US" b="1" dirty="0"/>
              <a:t>h</a:t>
            </a:r>
            <a:r>
              <a:rPr lang="en-US" baseline="30000" dirty="0"/>
              <a:t>(m)</a:t>
            </a:r>
          </a:p>
          <a:p>
            <a:pPr lvl="1"/>
            <a:r>
              <a:rPr lang="en-US" dirty="0"/>
              <a:t>claim: if Hamming(</a:t>
            </a:r>
            <a:r>
              <a:rPr lang="en-US" b="1" dirty="0" err="1"/>
              <a:t>h,g</a:t>
            </a:r>
            <a:r>
              <a:rPr lang="en-US" dirty="0"/>
              <a:t>) &lt; </a:t>
            </a:r>
            <a:r>
              <a:rPr lang="en-US" i="1" dirty="0"/>
              <a:t>r</a:t>
            </a:r>
            <a:r>
              <a:rPr lang="en-US" dirty="0"/>
              <a:t>, then for some z, Hamming(</a:t>
            </a:r>
            <a:r>
              <a:rPr lang="en-US" b="1" dirty="0"/>
              <a:t>h</a:t>
            </a:r>
            <a:r>
              <a:rPr lang="en-US" baseline="30000" dirty="0"/>
              <a:t>(z)</a:t>
            </a:r>
            <a:r>
              <a:rPr lang="en-US" b="1" dirty="0"/>
              <a:t>,g</a:t>
            </a:r>
            <a:r>
              <a:rPr lang="en-US" baseline="30000" dirty="0"/>
              <a:t> (z)</a:t>
            </a:r>
            <a:r>
              <a:rPr lang="en-US" dirty="0"/>
              <a:t>) &lt; </a:t>
            </a:r>
            <a:r>
              <a:rPr lang="en-US" i="1" dirty="0"/>
              <a:t>r/m</a:t>
            </a:r>
          </a:p>
          <a:p>
            <a:pPr lvl="1"/>
            <a:endParaRPr lang="en-US" i="1" dirty="0"/>
          </a:p>
          <a:p>
            <a:r>
              <a:rPr lang="en-US" dirty="0"/>
              <a:t>Example if m=4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b="1" dirty="0"/>
              <a:t>h </a:t>
            </a:r>
            <a:r>
              <a:rPr lang="en-US" dirty="0"/>
              <a:t>and </a:t>
            </a:r>
            <a:r>
              <a:rPr lang="en-US" b="1" dirty="0"/>
              <a:t>g </a:t>
            </a:r>
            <a:r>
              <a:rPr lang="en-US" dirty="0"/>
              <a:t>differ in 3 bits </a:t>
            </a:r>
            <a:r>
              <a:rPr lang="en-US" dirty="0">
                <a:sym typeface="Wingdings" pitchFamily="2" charset="2"/>
              </a:rPr>
              <a:t> one of the four sub-bitstrings has </a:t>
            </a:r>
            <a:r>
              <a:rPr lang="en-US" dirty="0"/>
              <a:t>Hamming(</a:t>
            </a:r>
            <a:r>
              <a:rPr lang="en-US" b="1" dirty="0"/>
              <a:t>h</a:t>
            </a:r>
            <a:r>
              <a:rPr lang="en-US" baseline="30000" dirty="0"/>
              <a:t>(z)</a:t>
            </a:r>
            <a:r>
              <a:rPr lang="en-US" b="1" dirty="0"/>
              <a:t>,g</a:t>
            </a:r>
            <a:r>
              <a:rPr lang="en-US" baseline="30000" dirty="0"/>
              <a:t> (z)</a:t>
            </a:r>
            <a:r>
              <a:rPr lang="en-US" dirty="0"/>
              <a:t>) &lt;= 1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b="1" dirty="0"/>
              <a:t>h </a:t>
            </a:r>
            <a:r>
              <a:rPr lang="en-US" dirty="0"/>
              <a:t>and </a:t>
            </a:r>
            <a:r>
              <a:rPr lang="en-US" b="1" dirty="0"/>
              <a:t>g </a:t>
            </a:r>
            <a:r>
              <a:rPr lang="en-US" dirty="0"/>
              <a:t>differ in 7 bits </a:t>
            </a:r>
            <a:r>
              <a:rPr lang="en-US" dirty="0">
                <a:sym typeface="Wingdings" pitchFamily="2" charset="2"/>
              </a:rPr>
              <a:t> one of the four sub-bitstrings has </a:t>
            </a:r>
            <a:r>
              <a:rPr lang="en-US" dirty="0"/>
              <a:t>Hamming(</a:t>
            </a:r>
            <a:r>
              <a:rPr lang="en-US" b="1" dirty="0"/>
              <a:t>h</a:t>
            </a:r>
            <a:r>
              <a:rPr lang="en-US" baseline="30000" dirty="0"/>
              <a:t>(z)</a:t>
            </a:r>
            <a:r>
              <a:rPr lang="en-US" b="1" dirty="0"/>
              <a:t>,g</a:t>
            </a:r>
            <a:r>
              <a:rPr lang="en-US" baseline="30000" dirty="0"/>
              <a:t> (z)</a:t>
            </a:r>
            <a:r>
              <a:rPr lang="en-US" dirty="0"/>
              <a:t>) &lt;= 1</a:t>
            </a:r>
            <a:endParaRPr lang="en-US" i="1" dirty="0"/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b="1" dirty="0"/>
          </a:p>
          <a:p>
            <a:pPr marL="457200" lvl="1" indent="0">
              <a:buNone/>
            </a:pPr>
            <a:endParaRPr lang="en-US" i="1" dirty="0"/>
          </a:p>
          <a:p>
            <a:pPr lvl="1"/>
            <a:endParaRPr lang="en-US" i="1" dirty="0"/>
          </a:p>
          <a:p>
            <a:endParaRPr lang="en-US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BBA24-C1C6-D5A7-31A3-39748D1DD862}"/>
              </a:ext>
            </a:extLst>
          </p:cNvPr>
          <p:cNvSpPr txBox="1"/>
          <p:nvPr/>
        </p:nvSpPr>
        <p:spPr>
          <a:xfrm>
            <a:off x="550861" y="1122342"/>
            <a:ext cx="8107363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Old: look at buckets with Hamming distance 0 to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then 1, …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 2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New: look at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subbuckets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Hamming distance 0 to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(z)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then 1 …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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m*2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n/m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Fast in practice!</a:t>
            </a:r>
          </a:p>
        </p:txBody>
      </p:sp>
    </p:spTree>
    <p:extLst>
      <p:ext uri="{BB962C8B-B14F-4D97-AF65-F5344CB8AC3E}">
        <p14:creationId xmlns:p14="http://schemas.microsoft.com/office/powerpoint/2010/main" val="14980700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1589-76E4-8FD4-2C2C-C1C98A91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544F-13FF-57E4-62E2-9B4A5BA3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for k-NN search</a:t>
            </a:r>
          </a:p>
        </p:txBody>
      </p:sp>
    </p:spTree>
    <p:extLst>
      <p:ext uri="{BB962C8B-B14F-4D97-AF65-F5344CB8AC3E}">
        <p14:creationId xmlns:p14="http://schemas.microsoft.com/office/powerpoint/2010/main" val="20882339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590800" y="1676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5791200" y="3810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65532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 rot="21407003">
            <a:off x="1978867" y="1140656"/>
            <a:ext cx="2768645" cy="3196723"/>
          </a:xfrm>
          <a:prstGeom prst="ellipse">
            <a:avLst/>
          </a:prstGeom>
          <a:noFill/>
          <a:ln w="38100"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 rot="223987">
            <a:off x="5102132" y="1776204"/>
            <a:ext cx="1785562" cy="2244747"/>
          </a:xfrm>
          <a:prstGeom prst="ellipse">
            <a:avLst/>
          </a:prstGeom>
          <a:noFill/>
          <a:ln w="38100"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 rot="5400000">
            <a:off x="3787430" y="4061170"/>
            <a:ext cx="1797737" cy="2819401"/>
          </a:xfrm>
          <a:prstGeom prst="ellipse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867400" y="4267200"/>
            <a:ext cx="1219200" cy="306467"/>
          </a:xfrm>
          <a:prstGeom prst="wedgeRoundRectCallout">
            <a:avLst>
              <a:gd name="adj1" fmla="val -35126"/>
              <a:gd name="adj2" fmla="val 151355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17A9D4-9044-3A84-E665-9D6840F47923}"/>
              </a:ext>
            </a:extLst>
          </p:cNvPr>
          <p:cNvSpPr txBox="1"/>
          <p:nvPr/>
        </p:nvSpPr>
        <p:spPr>
          <a:xfrm>
            <a:off x="242888" y="3810000"/>
            <a:ext cx="1343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vector </a:t>
            </a:r>
            <a:r>
              <a:rPr lang="en-US" b="1" dirty="0"/>
              <a:t>x </a:t>
            </a:r>
            <a:r>
              <a:rPr lang="en-US" dirty="0"/>
              <a:t>is mapped to a unique centroid</a:t>
            </a:r>
          </a:p>
        </p:txBody>
      </p:sp>
    </p:spTree>
    <p:extLst>
      <p:ext uri="{BB962C8B-B14F-4D97-AF65-F5344CB8AC3E}">
        <p14:creationId xmlns:p14="http://schemas.microsoft.com/office/powerpoint/2010/main" val="1234684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3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29325E-6 L 0.03334 -0.12211 " pathEditMode="relative" rAng="0" ptsTypes="AA">
                                      <p:cBhvr>
                                        <p:cTn id="27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-6100"/>
                                    </p:animMotion>
                                  </p:childTnLst>
                                </p:cTn>
                              </p:par>
                              <p:par>
                                <p:cTn id="27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03334 0.02223 " pathEditMode="relative" rAng="0" ptsTypes="AA">
                                      <p:cBhvr>
                                        <p:cTn id="27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1100"/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08333 0.06667 " pathEditMode="relative" rAng="0" ptsTypes="AA">
                                      <p:cBhvr>
                                        <p:cTn id="27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1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33 0.06667 L -0.125 0.07778 " pathEditMode="relative" rAng="0" ptsTypes="AA">
                                      <p:cBhvr>
                                        <p:cTn id="32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" y="600"/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0.02223 L 0.09167 0.06667 " pathEditMode="relative" rAng="0" ptsTypes="AA">
                                      <p:cBhvr>
                                        <p:cTn id="33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2200"/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-0.12222 L 0.05834 -0.17778 " pathEditMode="relative" rAng="0" ptsTypes="AA">
                                      <p:cBhvr>
                                        <p:cTn id="33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" y="-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  <p:bldP spid="137" grpId="2" animBg="1"/>
      <p:bldP spid="118" grpId="0" animBg="1"/>
      <p:bldP spid="118" grpId="1" animBg="1"/>
      <p:bldP spid="118" grpId="2" animBg="1"/>
      <p:bldP spid="130" grpId="0" animBg="1"/>
      <p:bldP spid="130" grpId="1" animBg="1"/>
      <p:bldP spid="130" grpId="2" animBg="1"/>
      <p:bldP spid="147" grpId="0" animBg="1"/>
      <p:bldP spid="148" grpId="0" animBg="1"/>
      <p:bldP spid="149" grpId="0" animBg="1"/>
      <p:bldP spid="70" grpId="0" animBg="1"/>
      <p:bldP spid="70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E4C5F-82BF-DC78-3ADE-D4B21836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and k-NN</a:t>
            </a:r>
          </a:p>
        </p:txBody>
      </p:sp>
      <p:pic>
        <p:nvPicPr>
          <p:cNvPr id="6" name="Picture 5" descr="A group of circles with different colored dots&#10;&#10;AI-generated content may be incorrect.">
            <a:extLst>
              <a:ext uri="{FF2B5EF4-FFF2-40B4-BE49-F238E27FC236}">
                <a16:creationId xmlns:a16="http://schemas.microsoft.com/office/drawing/2014/main" id="{FD0D941C-A794-9FD3-3EE2-26129FDC8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918" y="1109663"/>
            <a:ext cx="5720082" cy="5595223"/>
          </a:xfrm>
          <a:prstGeom prst="rect">
            <a:avLst/>
          </a:prstGeom>
        </p:spPr>
      </p:pic>
      <p:sp>
        <p:nvSpPr>
          <p:cNvPr id="7" name="5-Point Star 6">
            <a:extLst>
              <a:ext uri="{FF2B5EF4-FFF2-40B4-BE49-F238E27FC236}">
                <a16:creationId xmlns:a16="http://schemas.microsoft.com/office/drawing/2014/main" id="{2A98332E-1A30-6FD8-5BAF-9BE322AECFA8}"/>
              </a:ext>
            </a:extLst>
          </p:cNvPr>
          <p:cNvSpPr/>
          <p:nvPr/>
        </p:nvSpPr>
        <p:spPr>
          <a:xfrm>
            <a:off x="4500562" y="3538117"/>
            <a:ext cx="242887" cy="236102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0A9463-2B61-17D8-24CE-CE3325BF5DB6}"/>
              </a:ext>
            </a:extLst>
          </p:cNvPr>
          <p:cNvSpPr txBox="1"/>
          <p:nvPr/>
        </p:nvSpPr>
        <p:spPr>
          <a:xfrm>
            <a:off x="171450" y="1643063"/>
            <a:ext cx="29860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Find centroid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closest to </a:t>
            </a:r>
            <a:r>
              <a:rPr lang="en-US" b="1" dirty="0" err="1"/>
              <a:t>qx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element </a:t>
            </a:r>
            <a:r>
              <a:rPr lang="en-US" b="1" dirty="0"/>
              <a:t>x</a:t>
            </a:r>
            <a:r>
              <a:rPr lang="en-US" dirty="0"/>
              <a:t> in cluster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closest to </a:t>
            </a:r>
            <a:r>
              <a:rPr lang="en-US" b="1" dirty="0" err="1"/>
              <a:t>qx</a:t>
            </a:r>
            <a:r>
              <a:rPr lang="en-US" i="1" dirty="0"/>
              <a:t> </a:t>
            </a:r>
          </a:p>
          <a:p>
            <a:endParaRPr lang="en-US" dirty="0"/>
          </a:p>
        </p:txBody>
      </p:sp>
      <p:sp>
        <p:nvSpPr>
          <p:cNvPr id="10" name="5-Point Star 9">
            <a:extLst>
              <a:ext uri="{FF2B5EF4-FFF2-40B4-BE49-F238E27FC236}">
                <a16:creationId xmlns:a16="http://schemas.microsoft.com/office/drawing/2014/main" id="{7477835F-590D-DE63-0E90-E0D3E9B3DE10}"/>
              </a:ext>
            </a:extLst>
          </p:cNvPr>
          <p:cNvSpPr/>
          <p:nvPr/>
        </p:nvSpPr>
        <p:spPr>
          <a:xfrm>
            <a:off x="5510212" y="4619205"/>
            <a:ext cx="242887" cy="236102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8208F-FFEE-AF51-573D-0295F3401729}"/>
              </a:ext>
            </a:extLst>
          </p:cNvPr>
          <p:cNvSpPr txBox="1"/>
          <p:nvPr/>
        </p:nvSpPr>
        <p:spPr>
          <a:xfrm>
            <a:off x="304640" y="3310470"/>
            <a:ext cx="2986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guaranteed to find the closest neighbor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663BF-EBE7-CC3C-2B32-A58FFC10B9EE}"/>
              </a:ext>
            </a:extLst>
          </p:cNvPr>
          <p:cNvSpPr txBox="1"/>
          <p:nvPr/>
        </p:nvSpPr>
        <p:spPr>
          <a:xfrm>
            <a:off x="304640" y="4146880"/>
            <a:ext cx="29860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make guarantees using the triangle inequality if you precompute distances between </a:t>
            </a:r>
            <a:r>
              <a:rPr lang="en-US" b="1" dirty="0"/>
              <a:t>x </a:t>
            </a:r>
            <a:r>
              <a:rPr lang="en-US" dirty="0"/>
              <a:t>and its centroid and check multiple centroids</a:t>
            </a:r>
          </a:p>
        </p:txBody>
      </p:sp>
    </p:spTree>
    <p:extLst>
      <p:ext uri="{BB962C8B-B14F-4D97-AF65-F5344CB8AC3E}">
        <p14:creationId xmlns:p14="http://schemas.microsoft.com/office/powerpoint/2010/main" val="416929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/>
      <p:bldP spid="1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9481F-AF18-9BBF-770A-2700E275D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A1A5-31C0-C38F-C8A6-F765727AC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J-means for k-NN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A8402-7BC4-E020-E8A0-1F82D392F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648700" cy="518636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Does J-means help you find points close to </a:t>
            </a:r>
            <a:r>
              <a:rPr lang="en-US" b="1" dirty="0" err="1"/>
              <a:t>qx</a:t>
            </a:r>
            <a:r>
              <a:rPr lang="en-US" dirty="0"/>
              <a:t>?</a:t>
            </a:r>
          </a:p>
          <a:p>
            <a:r>
              <a:rPr lang="en-US" dirty="0"/>
              <a:t>After you have learned the j clusters of n objects</a:t>
            </a:r>
          </a:p>
          <a:p>
            <a:pPr lvl="1"/>
            <a:r>
              <a:rPr lang="en-US" dirty="0"/>
              <a:t>Find centroid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closest to </a:t>
            </a:r>
            <a:r>
              <a:rPr lang="en-US" b="1" dirty="0" err="1"/>
              <a:t>qx</a:t>
            </a:r>
            <a:endParaRPr lang="en-US" b="1" dirty="0"/>
          </a:p>
          <a:p>
            <a:pPr lvl="2"/>
            <a:r>
              <a:rPr lang="en-US" dirty="0"/>
              <a:t>O(J) distance computations</a:t>
            </a:r>
          </a:p>
          <a:p>
            <a:pPr lvl="1"/>
            <a:r>
              <a:rPr lang="en-US" dirty="0"/>
              <a:t>Find element </a:t>
            </a:r>
            <a:r>
              <a:rPr lang="en-US" b="1" dirty="0"/>
              <a:t>x</a:t>
            </a:r>
            <a:r>
              <a:rPr lang="en-US" dirty="0"/>
              <a:t> in cluster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closest to </a:t>
            </a:r>
            <a:r>
              <a:rPr lang="en-US" b="1" dirty="0" err="1"/>
              <a:t>qx</a:t>
            </a:r>
            <a:r>
              <a:rPr lang="en-US" i="1" dirty="0"/>
              <a:t> </a:t>
            </a:r>
          </a:p>
          <a:p>
            <a:pPr lvl="2"/>
            <a:r>
              <a:rPr lang="en-US" dirty="0"/>
              <a:t>O(N/J) distance computations</a:t>
            </a:r>
          </a:p>
          <a:p>
            <a:r>
              <a:rPr lang="en-US" dirty="0"/>
              <a:t>Overall comparison</a:t>
            </a:r>
          </a:p>
          <a:p>
            <a:pPr lvl="2"/>
            <a:r>
              <a:rPr lang="en-US" dirty="0"/>
              <a:t>if J=sqrt(N):  O(J) + O(N/J) beats O(N)</a:t>
            </a:r>
          </a:p>
          <a:p>
            <a:endParaRPr lang="en-US" dirty="0"/>
          </a:p>
          <a:p>
            <a:r>
              <a:rPr lang="en-US" dirty="0"/>
              <a:t>If this isn’t enough you can try running J-means internally in each cluster and so on</a:t>
            </a:r>
          </a:p>
          <a:p>
            <a:pPr lvl="1"/>
            <a:r>
              <a:rPr lang="en-US" dirty="0"/>
              <a:t>Build a tree of depth d</a:t>
            </a:r>
          </a:p>
          <a:p>
            <a:pPr lvl="2"/>
            <a:r>
              <a:rPr lang="en-US" dirty="0"/>
              <a:t>O(d J ) * O(N / </a:t>
            </a:r>
            <a:r>
              <a:rPr lang="en-US" dirty="0" err="1"/>
              <a:t>J</a:t>
            </a:r>
            <a:r>
              <a:rPr lang="en-US" baseline="30000" dirty="0" err="1"/>
              <a:t>d</a:t>
            </a:r>
            <a:r>
              <a:rPr lang="en-US" dirty="0"/>
              <a:t>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5683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341B-8579-4B30-71CA-82CC9CC3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97FE-B779-A0E8-9F33-C372DF22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9727B-91A1-3929-FDC6-FFF1D6EFF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648700" cy="5186364"/>
          </a:xfrm>
        </p:spPr>
        <p:txBody>
          <a:bodyPr>
            <a:normAutofit fontScale="92500"/>
          </a:bodyPr>
          <a:lstStyle/>
          <a:p>
            <a:r>
              <a:rPr lang="en-US" dirty="0"/>
              <a:t>We can use the same data structure to either</a:t>
            </a:r>
          </a:p>
          <a:p>
            <a:pPr lvl="1"/>
            <a:r>
              <a:rPr lang="en-US" dirty="0"/>
              <a:t>find approximate k-NN’s to </a:t>
            </a:r>
            <a:r>
              <a:rPr lang="en-US" b="1" dirty="0" err="1"/>
              <a:t>qx</a:t>
            </a:r>
            <a:endParaRPr lang="en-US" dirty="0"/>
          </a:p>
          <a:p>
            <a:pPr lvl="1"/>
            <a:r>
              <a:rPr lang="en-US" dirty="0"/>
              <a:t>map </a:t>
            </a:r>
            <a:r>
              <a:rPr lang="en-US" b="1" dirty="0" err="1"/>
              <a:t>qx</a:t>
            </a:r>
            <a:r>
              <a:rPr lang="en-US" dirty="0"/>
              <a:t> to a </a:t>
            </a:r>
            <a:r>
              <a:rPr lang="en-US" b="1" dirty="0"/>
              <a:t>centroid </a:t>
            </a:r>
            <a:r>
              <a:rPr lang="en-US" dirty="0"/>
              <a:t>that is similar</a:t>
            </a:r>
          </a:p>
          <a:p>
            <a:pPr lvl="2"/>
            <a:r>
              <a:rPr lang="en-US" dirty="0"/>
              <a:t>centroid is an approximate encoding of </a:t>
            </a:r>
            <a:r>
              <a:rPr lang="en-US" b="1" dirty="0" err="1"/>
              <a:t>qz</a:t>
            </a:r>
            <a:endParaRPr lang="en-US" dirty="0"/>
          </a:p>
          <a:p>
            <a:r>
              <a:rPr lang="en-US" dirty="0"/>
              <a:t>With a hierarchical clustering and millions of centroids this will be a </a:t>
            </a:r>
            <a:r>
              <a:rPr lang="en-US" b="1" dirty="0"/>
              <a:t>good</a:t>
            </a:r>
            <a:r>
              <a:rPr lang="en-US" dirty="0"/>
              <a:t> approximation of </a:t>
            </a:r>
            <a:r>
              <a:rPr lang="en-US" b="1" dirty="0" err="1"/>
              <a:t>qx</a:t>
            </a:r>
            <a:endParaRPr lang="en-US" b="1" dirty="0"/>
          </a:p>
          <a:p>
            <a:pPr lvl="1"/>
            <a:r>
              <a:rPr lang="en-US" dirty="0"/>
              <a:t>but it is compact to describe (as a path through the J-means tree)</a:t>
            </a:r>
          </a:p>
          <a:p>
            <a:pPr lvl="1"/>
            <a:r>
              <a:rPr lang="en-US" dirty="0"/>
              <a:t>so k-means also </a:t>
            </a:r>
            <a:r>
              <a:rPr lang="en-US" b="1" dirty="0"/>
              <a:t>compresses</a:t>
            </a:r>
            <a:r>
              <a:rPr lang="en-US" dirty="0"/>
              <a:t> a set of </a:t>
            </a:r>
            <a:r>
              <a:rPr lang="en-US" b="1" dirty="0"/>
              <a:t>vectors</a:t>
            </a:r>
            <a:r>
              <a:rPr lang="en-US" dirty="0"/>
              <a:t>, like LSH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306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AF5C58E-97EF-2489-552A-C3F87268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quantization for k-NN search</a:t>
            </a:r>
          </a:p>
        </p:txBody>
      </p:sp>
      <p:pic>
        <p:nvPicPr>
          <p:cNvPr id="1026" name="Picture 2" descr="Product quantization on two-dimensional vectors.">
            <a:extLst>
              <a:ext uri="{FF2B5EF4-FFF2-40B4-BE49-F238E27FC236}">
                <a16:creationId xmlns:a16="http://schemas.microsoft.com/office/drawing/2014/main" id="{6FD6DABB-E28D-7485-F1DC-597CF89F1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63738"/>
            <a:ext cx="9144000" cy="293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0890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CC79-13A0-789B-D2A6-50CC136E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4379-BCD5-6972-F498-B71F4534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quantization for k-NN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F3A9D-A49D-B77A-EFFA-9D3E30D8D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8"/>
            <a:ext cx="8648700" cy="560070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Another trick:</a:t>
            </a:r>
          </a:p>
          <a:p>
            <a:pPr lvl="1"/>
            <a:r>
              <a:rPr lang="en-US" dirty="0"/>
              <a:t>split </a:t>
            </a:r>
            <a:r>
              <a:rPr lang="en-US" b="1" dirty="0"/>
              <a:t>x</a:t>
            </a:r>
            <a:r>
              <a:rPr lang="en-US" dirty="0"/>
              <a:t> into </a:t>
            </a:r>
            <a:r>
              <a:rPr lang="en-US" i="1" dirty="0"/>
              <a:t>m </a:t>
            </a:r>
            <a:r>
              <a:rPr lang="en-US" dirty="0"/>
              <a:t>equal-size vectors </a:t>
            </a:r>
            <a:r>
              <a:rPr lang="en-US" b="1" dirty="0"/>
              <a:t>x</a:t>
            </a:r>
            <a:r>
              <a:rPr lang="en-US" baseline="30000" dirty="0"/>
              <a:t>(1)</a:t>
            </a:r>
            <a:r>
              <a:rPr lang="en-US" dirty="0"/>
              <a:t>, …, </a:t>
            </a:r>
            <a:r>
              <a:rPr lang="en-US" b="1" dirty="0"/>
              <a:t>x</a:t>
            </a:r>
            <a:r>
              <a:rPr lang="en-US" baseline="30000" dirty="0"/>
              <a:t>(m)</a:t>
            </a:r>
            <a:endParaRPr lang="en-US" dirty="0"/>
          </a:p>
          <a:p>
            <a:pPr lvl="2"/>
            <a:r>
              <a:rPr lang="en-US" dirty="0"/>
              <a:t>just like we did with bitstrings for multi-index hashing</a:t>
            </a:r>
          </a:p>
          <a:p>
            <a:pPr lvl="1"/>
            <a:r>
              <a:rPr lang="en-US" dirty="0"/>
              <a:t>build a J-means indices for each of the </a:t>
            </a:r>
            <a:r>
              <a:rPr lang="en-US" i="1" dirty="0"/>
              <a:t>m </a:t>
            </a:r>
            <a:r>
              <a:rPr lang="en-US" dirty="0"/>
              <a:t>sets of </a:t>
            </a:r>
            <a:r>
              <a:rPr lang="en-US" dirty="0" err="1"/>
              <a:t>subvectors</a:t>
            </a:r>
            <a:endParaRPr lang="en-US" dirty="0"/>
          </a:p>
          <a:p>
            <a:pPr lvl="1"/>
            <a:r>
              <a:rPr lang="en-US" dirty="0"/>
              <a:t>to “encode” </a:t>
            </a:r>
            <a:r>
              <a:rPr lang="en-US" b="1" dirty="0" err="1"/>
              <a:t>qx</a:t>
            </a:r>
            <a:r>
              <a:rPr lang="en-US" dirty="0"/>
              <a:t> find closest centroids to </a:t>
            </a:r>
            <a:r>
              <a:rPr lang="en-US" b="1" dirty="0" err="1"/>
              <a:t>qx</a:t>
            </a:r>
            <a:r>
              <a:rPr lang="en-US" baseline="30000" dirty="0"/>
              <a:t>(1)</a:t>
            </a:r>
            <a:r>
              <a:rPr lang="en-US" dirty="0"/>
              <a:t>, …, </a:t>
            </a:r>
            <a:r>
              <a:rPr lang="en-US" b="1" dirty="0" err="1"/>
              <a:t>qx</a:t>
            </a:r>
            <a:r>
              <a:rPr lang="en-US" baseline="30000" dirty="0"/>
              <a:t>(m)</a:t>
            </a:r>
          </a:p>
          <a:p>
            <a:pPr lvl="2"/>
            <a:r>
              <a:rPr lang="en-US" dirty="0"/>
              <a:t>call them </a:t>
            </a:r>
            <a:r>
              <a:rPr lang="en-US" b="1" dirty="0"/>
              <a:t>c</a:t>
            </a:r>
            <a:r>
              <a:rPr lang="en-US" baseline="30000" dirty="0"/>
              <a:t>(1)</a:t>
            </a:r>
            <a:r>
              <a:rPr lang="en-US" dirty="0"/>
              <a:t>, …, </a:t>
            </a:r>
            <a:r>
              <a:rPr lang="en-US" b="1" dirty="0"/>
              <a:t>c</a:t>
            </a:r>
            <a:r>
              <a:rPr lang="en-US" baseline="30000" dirty="0"/>
              <a:t>(m)</a:t>
            </a:r>
          </a:p>
          <a:p>
            <a:pPr lvl="2"/>
            <a:r>
              <a:rPr lang="en-US" dirty="0"/>
              <a:t>call the concatenation </a:t>
            </a:r>
            <a:r>
              <a:rPr lang="en-US" b="1" dirty="0"/>
              <a:t>c</a:t>
            </a:r>
          </a:p>
          <a:p>
            <a:pPr lvl="1"/>
            <a:r>
              <a:rPr lang="en-US" dirty="0"/>
              <a:t>there are </a:t>
            </a:r>
            <a:r>
              <a:rPr lang="en-US" dirty="0" err="1"/>
              <a:t>J</a:t>
            </a:r>
            <a:r>
              <a:rPr lang="en-US" baseline="30000" dirty="0" err="1"/>
              <a:t>m</a:t>
            </a:r>
            <a:r>
              <a:rPr lang="en-US" dirty="0"/>
              <a:t> possible </a:t>
            </a:r>
            <a:r>
              <a:rPr lang="en-US" b="1" dirty="0"/>
              <a:t>c</a:t>
            </a:r>
            <a:r>
              <a:rPr lang="en-US" dirty="0"/>
              <a:t>’s</a:t>
            </a:r>
            <a:r>
              <a:rPr lang="en-US" b="1" dirty="0"/>
              <a:t> </a:t>
            </a:r>
            <a:endParaRPr lang="en-US" dirty="0"/>
          </a:p>
          <a:p>
            <a:r>
              <a:rPr lang="en-US" dirty="0"/>
              <a:t>The larger space of encodings means PQ can be very accurate</a:t>
            </a:r>
          </a:p>
          <a:p>
            <a:r>
              <a:rPr lang="en-US" dirty="0"/>
              <a:t>Theory says that the encoding loss is lower for </a:t>
            </a:r>
            <a:r>
              <a:rPr lang="en-US" b="1" dirty="0" err="1"/>
              <a:t>qx,c</a:t>
            </a:r>
            <a:r>
              <a:rPr lang="en-US" dirty="0"/>
              <a:t> pairs that are highly similar</a:t>
            </a:r>
          </a:p>
          <a:p>
            <a:pPr lvl="1"/>
            <a:r>
              <a:rPr lang="en-US" dirty="0"/>
              <a:t>there are the important ones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345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6567-AA0A-2E69-F583-041077A9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Recent Survey</a:t>
            </a:r>
          </a:p>
        </p:txBody>
      </p:sp>
      <p:pic>
        <p:nvPicPr>
          <p:cNvPr id="8" name="Picture 7" descr="A close-up of a book&#10;&#10;AI-generated content may be incorrect.">
            <a:extLst>
              <a:ext uri="{FF2B5EF4-FFF2-40B4-BE49-F238E27FC236}">
                <a16:creationId xmlns:a16="http://schemas.microsoft.com/office/drawing/2014/main" id="{DD1D41E2-6212-B772-8B9A-DA12CAE11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33" y="1465018"/>
            <a:ext cx="8696134" cy="3585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7B702D-0A4C-5EE2-5197-C42E4E282D51}"/>
              </a:ext>
            </a:extLst>
          </p:cNvPr>
          <p:cNvSpPr txBox="1"/>
          <p:nvPr/>
        </p:nvSpPr>
        <p:spPr>
          <a:xfrm>
            <a:off x="5357813" y="5186363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2517928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5437</TotalTime>
  <Words>2976</Words>
  <Application>Microsoft Macintosh PowerPoint</Application>
  <PresentationFormat>On-screen Show (4:3)</PresentationFormat>
  <Paragraphs>472</Paragraphs>
  <Slides>64</Slides>
  <Notes>16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Cambria Math</vt:lpstr>
      <vt:lpstr>Gill Sans MT</vt:lpstr>
      <vt:lpstr>Times New Roman</vt:lpstr>
      <vt:lpstr>Wingdings</vt:lpstr>
      <vt:lpstr>Office Theme</vt:lpstr>
      <vt:lpstr>10-605 / 10-405</vt:lpstr>
      <vt:lpstr>Recap: the course so far</vt:lpstr>
      <vt:lpstr>Bloom filter / Count-min sketch</vt:lpstr>
      <vt:lpstr>Bloom filters:  the math</vt:lpstr>
      <vt:lpstr>Bloom filters:  the math</vt:lpstr>
      <vt:lpstr>Count-min sketch results</vt:lpstr>
      <vt:lpstr>Count-min sketch results</vt:lpstr>
      <vt:lpstr>CM-Sketch:  the math</vt:lpstr>
      <vt:lpstr>CM-Sketch:  the math</vt:lpstr>
      <vt:lpstr>CM-Sketch:  the Markov Inequality</vt:lpstr>
      <vt:lpstr>Count-min sketch result: recap</vt:lpstr>
      <vt:lpstr>An Application of a Count-Min Sketch</vt:lpstr>
      <vt:lpstr>An Application of a Count-Min Sketch</vt:lpstr>
      <vt:lpstr>An Application of a Count-Min Sketch</vt:lpstr>
      <vt:lpstr>Locality Sensitive Hashing (LSH)</vt:lpstr>
      <vt:lpstr>LSH: key ideas</vt:lpstr>
      <vt:lpstr>Random Projections</vt:lpstr>
      <vt:lpstr>Random projections</vt:lpstr>
      <vt:lpstr>Random projections</vt:lpstr>
      <vt:lpstr>Random projections</vt:lpstr>
      <vt:lpstr>Random projections</vt:lpstr>
      <vt:lpstr>Random projections</vt:lpstr>
      <vt:lpstr>LSH: key ideas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LSH applications</vt:lpstr>
      <vt:lpstr>Extension/Application: Online LSH and Pooling</vt:lpstr>
      <vt:lpstr>PowerPoint Presentation</vt:lpstr>
      <vt:lpstr>LSH algorithm</vt:lpstr>
      <vt:lpstr>LSH algorithm</vt:lpstr>
      <vt:lpstr>LSH: “pooling” (van Durme)</vt:lpstr>
      <vt:lpstr>PowerPoint Presentation</vt:lpstr>
      <vt:lpstr>LSH: key ideas: pooling</vt:lpstr>
      <vt:lpstr>Locality Sensitive Hashing (LSH) in an On-line Setting</vt:lpstr>
      <vt:lpstr>Recap: using a Count-Min Sketch</vt:lpstr>
      <vt:lpstr>LSH: key ideas: online computation</vt:lpstr>
      <vt:lpstr>LSH: key ideas: online computation</vt:lpstr>
      <vt:lpstr>LSH: key ideas: online computation</vt:lpstr>
      <vt:lpstr>LSH: key ideas: online computation</vt:lpstr>
      <vt:lpstr>PowerPoint Presentation</vt:lpstr>
      <vt:lpstr>PowerPoint Presentation</vt:lpstr>
      <vt:lpstr>Comments</vt:lpstr>
      <vt:lpstr>Experiment</vt:lpstr>
      <vt:lpstr>Experiment</vt:lpstr>
      <vt:lpstr>PowerPoint Presentation</vt:lpstr>
      <vt:lpstr>LSH: Applications and Alternatives</vt:lpstr>
      <vt:lpstr>LSH: key ideas</vt:lpstr>
      <vt:lpstr>LSH: key ideas</vt:lpstr>
      <vt:lpstr>LSH for k-NN search</vt:lpstr>
      <vt:lpstr>LSH for k-NN search</vt:lpstr>
      <vt:lpstr>LSH for k-NN search</vt:lpstr>
      <vt:lpstr>k-means for k-NN search</vt:lpstr>
      <vt:lpstr>k-means Clustering</vt:lpstr>
      <vt:lpstr>k-means and k-NN</vt:lpstr>
      <vt:lpstr>J-means for k-NN search</vt:lpstr>
      <vt:lpstr>Vector quantization</vt:lpstr>
      <vt:lpstr>Product quantization for k-NN search</vt:lpstr>
      <vt:lpstr>Product quantization for k-NN search</vt:lpstr>
      <vt:lpstr>A Recent Survey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386</cp:revision>
  <dcterms:created xsi:type="dcterms:W3CDTF">2012-02-26T21:25:59Z</dcterms:created>
  <dcterms:modified xsi:type="dcterms:W3CDTF">2025-02-10T17:07:30Z</dcterms:modified>
</cp:coreProperties>
</file>