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6"/>
  </p:notesMasterIdLst>
  <p:sldIdLst>
    <p:sldId id="375" r:id="rId2"/>
    <p:sldId id="581" r:id="rId3"/>
    <p:sldId id="582" r:id="rId4"/>
    <p:sldId id="376" r:id="rId5"/>
    <p:sldId id="509" r:id="rId6"/>
    <p:sldId id="530" r:id="rId7"/>
    <p:sldId id="547" r:id="rId8"/>
    <p:sldId id="511" r:id="rId9"/>
    <p:sldId id="514" r:id="rId10"/>
    <p:sldId id="516" r:id="rId11"/>
    <p:sldId id="548" r:id="rId12"/>
    <p:sldId id="520" r:id="rId13"/>
    <p:sldId id="522" r:id="rId14"/>
    <p:sldId id="377" r:id="rId15"/>
    <p:sldId id="552" r:id="rId16"/>
    <p:sldId id="528" r:id="rId17"/>
    <p:sldId id="529" r:id="rId18"/>
    <p:sldId id="378" r:id="rId19"/>
    <p:sldId id="534" r:id="rId20"/>
    <p:sldId id="535" r:id="rId21"/>
    <p:sldId id="537" r:id="rId22"/>
    <p:sldId id="583" r:id="rId23"/>
    <p:sldId id="379" r:id="rId24"/>
    <p:sldId id="553" r:id="rId25"/>
    <p:sldId id="538" r:id="rId26"/>
    <p:sldId id="539" r:id="rId27"/>
    <p:sldId id="554" r:id="rId28"/>
    <p:sldId id="541" r:id="rId29"/>
    <p:sldId id="540" r:id="rId30"/>
    <p:sldId id="584" r:id="rId31"/>
    <p:sldId id="555" r:id="rId32"/>
    <p:sldId id="556" r:id="rId33"/>
    <p:sldId id="557" r:id="rId34"/>
    <p:sldId id="558" r:id="rId35"/>
    <p:sldId id="380" r:id="rId36"/>
    <p:sldId id="381" r:id="rId37"/>
    <p:sldId id="382" r:id="rId38"/>
    <p:sldId id="383" r:id="rId39"/>
    <p:sldId id="384" r:id="rId40"/>
    <p:sldId id="385" r:id="rId41"/>
    <p:sldId id="585" r:id="rId42"/>
    <p:sldId id="588" r:id="rId43"/>
    <p:sldId id="589" r:id="rId44"/>
    <p:sldId id="426" r:id="rId45"/>
    <p:sldId id="401" r:id="rId46"/>
    <p:sldId id="406" r:id="rId47"/>
    <p:sldId id="408" r:id="rId48"/>
    <p:sldId id="407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  <p:sldId id="586" r:id="rId58"/>
    <p:sldId id="417" r:id="rId59"/>
    <p:sldId id="418" r:id="rId60"/>
    <p:sldId id="419" r:id="rId61"/>
    <p:sldId id="420" r:id="rId62"/>
    <p:sldId id="421" r:id="rId63"/>
    <p:sldId id="422" r:id="rId64"/>
    <p:sldId id="423" r:id="rId65"/>
    <p:sldId id="424" r:id="rId66"/>
    <p:sldId id="425" r:id="rId67"/>
    <p:sldId id="587" r:id="rId68"/>
    <p:sldId id="448" r:id="rId69"/>
    <p:sldId id="441" r:id="rId70"/>
    <p:sldId id="442" r:id="rId71"/>
    <p:sldId id="475" r:id="rId72"/>
    <p:sldId id="476" r:id="rId73"/>
    <p:sldId id="278" r:id="rId74"/>
    <p:sldId id="443" r:id="rId75"/>
    <p:sldId id="444" r:id="rId76"/>
    <p:sldId id="445" r:id="rId77"/>
    <p:sldId id="446" r:id="rId78"/>
    <p:sldId id="447" r:id="rId79"/>
    <p:sldId id="449" r:id="rId80"/>
    <p:sldId id="450" r:id="rId81"/>
    <p:sldId id="457" r:id="rId82"/>
    <p:sldId id="458" r:id="rId83"/>
    <p:sldId id="452" r:id="rId84"/>
    <p:sldId id="453" r:id="rId85"/>
    <p:sldId id="454" r:id="rId86"/>
    <p:sldId id="455" r:id="rId87"/>
    <p:sldId id="451" r:id="rId88"/>
    <p:sldId id="468" r:id="rId89"/>
    <p:sldId id="469" r:id="rId90"/>
    <p:sldId id="456" r:id="rId91"/>
    <p:sldId id="459" r:id="rId92"/>
    <p:sldId id="461" r:id="rId93"/>
    <p:sldId id="460" r:id="rId94"/>
    <p:sldId id="462" r:id="rId95"/>
    <p:sldId id="463" r:id="rId96"/>
    <p:sldId id="464" r:id="rId97"/>
    <p:sldId id="465" r:id="rId98"/>
    <p:sldId id="466" r:id="rId99"/>
    <p:sldId id="467" r:id="rId100"/>
    <p:sldId id="472" r:id="rId101"/>
    <p:sldId id="470" r:id="rId102"/>
    <p:sldId id="471" r:id="rId103"/>
    <p:sldId id="473" r:id="rId104"/>
    <p:sldId id="474" r:id="rId10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1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9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6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71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1FFED-CF79-13ED-A321-A2653CAA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ABF50-E48D-67F6-041A-5E86A37A6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AD15C-A4D2-7D27-C375-E9BCC17CA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A7D60-DF0E-061B-DBA3-6E1E52539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BE7DE-7285-B906-642B-2442CFA9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C675D-D53D-0617-A88A-FC07405B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6EE21-7FD9-F4F2-A3B3-4F2A7837B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479C-1E21-AF2C-FF90-6205983B3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4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494C-350E-DBBC-F880-70C9AB53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DBAF0-A6A2-96F0-77F6-92AF96B7B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52C47-2124-308F-4A43-0AB95A62A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0A8FC-714A-E806-757F-0E1B83CA5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6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4679-1382-D39C-8F11-B7EBE1D3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9618F-8916-AC8C-BF30-391BD29B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BE6E1-49E8-3187-DBEB-C76C3F051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/pdf/2212.08153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E127D-2E76-279D-8A33-2B31366A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35B2-8ABE-8CE8-717D-B9131C28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56228-1198-9CA9-1C8E-50D7E4F4B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FD68-80D4-0906-C7D7-055E898E5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47AF-6489-4B00-11B6-0A7F1558A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23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48BA-6C75-8001-A0C4-B2CB36C4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F6C1B-9775-C34D-CE11-C347B5EBE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67047-883A-EACE-C293-44AAAB417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10F32-DC98-21A8-9D69-B09651C57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30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4768-C949-A471-FFFD-E645E649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EDD07-F3DC-DF5E-97CE-79AA7DA2A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8A96F-FF14-F234-702B-E29F973A3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ADCF-DD6E-1395-C3CF-1E0D34D09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04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CA88-A5EC-A122-D670-58E703759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528FB-56E8-4C01-1771-742629D46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6BF0E-D509-7B07-7BFB-317A5A10A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LateInteraction</a:t>
            </a:r>
            <a:r>
              <a:rPr lang="en-US" dirty="0"/>
              <a:t> Memory </a:t>
            </a:r>
            <a:r>
              <a:rPr lang="en-US" dirty="0" err="1"/>
              <a:t>Reranker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/pdf/2306.10231</a:t>
            </a:r>
          </a:p>
          <a:p>
            <a:r>
              <a:rPr lang="en-US" dirty="0"/>
              <a:t>https://</a:t>
            </a:r>
            <a:r>
              <a:rPr lang="en-US" dirty="0" err="1"/>
              <a:t>storage.prod.researchhub.com</a:t>
            </a:r>
            <a:r>
              <a:rPr lang="en-US" dirty="0"/>
              <a:t>/uploads/papers/2022/08/12/2208.03299v1.pdf – ppl dis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8755D-CFAC-460D-41ED-52BF86DB0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6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17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/pdf/2212.10947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32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/pdf/2409.15355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52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arxiv.org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/pdf/2503.08640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1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/pdf/2208.03306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90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7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A8C56-B5CD-B207-D200-49AA1CBA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99C4B-B64F-5305-1D45-29EC5E6D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EF13A-4686-097B-294B-BB347E0B0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D81D3-8528-42EA-7F9D-C1FF0FD4E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26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EB20D-8DFF-C14D-512B-5133B508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421EB-99A3-9A34-3F12-BDD41EE80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7591D-DAD5-2D46-3D8B-99818429C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084BA-A832-0633-8691-1F04B6A8F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86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C11C-F7B4-E870-6FF2-0C4D8403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C2B27-2C9C-C041-D5D8-6813BE506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22501-A31F-0248-BE08-AD6827032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A9AE2-982B-6B70-84A7-471160A51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06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8E905-5E0E-38BC-B546-A0C86640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70016-8CBD-22D7-590F-84125E9E4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D01AB-7D2D-AEB4-2FF7-C8653190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0791C-0836-7238-DF0F-2316E9E86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9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4703-1E0B-3EF6-B645-00733133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BDE6B-01FB-B9B5-6850-B2D35AE5B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37F39-CD4E-D887-5CCA-37AE965F1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F1182-A867-2153-C757-3A101D510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328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773F-1127-C910-93B0-92202CBD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D2655-F1F3-A0BF-0FFC-78E0F30FF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6F8AC-D4A8-CD33-DA3F-D4DAADB3A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GPT3 clone but small (1.3B)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08CC7-57B7-6DC8-E3D7-0851BE1DE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3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581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/pdf/2504.02263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9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73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23A8-95B7-214F-2597-830ED92B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F1A50-8483-760E-3EB7-00E994E93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8F35F-2FF1-0A20-22D9-2666B04B9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  <a:p>
            <a:r>
              <a:rPr lang="en-US" dirty="0"/>
              <a:t>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EBD41-466C-399E-AFD0-D60E198F0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543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266E-1928-D5BE-5910-E7B7BE5C4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F364B-EDB4-6CBA-0E0A-05C598EC6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4D077-12D8-A422-E018-295701236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  <a:p>
            <a:r>
              <a:rPr lang="en-US" dirty="0"/>
              <a:t>trivia has leaked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3C2BD-36B8-239F-CE72-8C27A980F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135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E91A-7770-E65F-E505-D6EA20F9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8A1CE-AA49-867D-D2FE-336621BE8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F3F21-6096-B697-FFF6-5EAD42C68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  <a:p>
            <a:r>
              <a:rPr lang="en-US" dirty="0"/>
              <a:t>trivia has leaked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F0D24-7B44-BA9F-D987-1F056FDAD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3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7721-1D07-90E9-F9CF-BF3CD562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881EE-CC0B-DB3F-1D21-68644A8EB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F9780-C2B4-F4C3-061A-14E3B61DA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  <a:p>
            <a:r>
              <a:rPr lang="en-US" dirty="0"/>
              <a:t>trivia has leaked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13335-3DE2-CE80-BE62-507DC0C2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598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1BDB-04E1-D333-0C78-7722F289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4FD1D-9F30-B9E0-621C-3CD57276A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2C987-8A3E-E59A-0248-A281CBA39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/pdf/2403.07816</a:t>
            </a:r>
          </a:p>
          <a:p>
            <a:r>
              <a:rPr lang="en-US" dirty="0"/>
              <a:t>trivia has leaked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A1A36-7913-9FB9-CEE4-EE2E7E86F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82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780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8AC1-31B4-9E3B-EAD1-5D35FD5C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DD57D-0F89-F700-F7E0-BCC756532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533CF-490D-CBDF-E92D-7C91CF18E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42B6-A4FC-5A77-7AA3-5CC8C7BB2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23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/pdf/1402.3722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3008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embedding sims to 0,1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234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0AF79-33E4-511F-5E12-8D42C034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20FFA-D4C2-6136-7E22-4664D72E1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8A422-5C98-B358-8E9F-E9142F798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embedding sims to 0,1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33972-FBB8-4850-3072-FEA81EA81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398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E3011-5BF3-C84C-22D5-C7028506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89312-6964-304D-BEF6-79B81D960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A0BB5-893F-B53C-418D-69A9DE54B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aclanthology.org</a:t>
            </a:r>
            <a:r>
              <a:rPr lang="en-US" dirty="0"/>
              <a:t>/W14-1618.pdf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BD5B4-1112-2542-989C-C24F6A58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511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/pdf/2212.04089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7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7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A46A-5D61-343F-F48C-684BF23D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6239C-CE2C-DFF9-D13F-319AC3B0A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17BD5-65C3-688A-C994-45C490455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/pdf/2212.04089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92BE-3861-9928-F0BD-9DDE63A31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069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895-6824-D389-E316-BBDE281E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D95F2-ED97-208C-BE2E-D79EECB53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4752D-C7D2-F19B-190B-EB79D3698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4BFF5-B458-FB95-03BD-7BF60295C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9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1E2C9-DF32-880C-C7FD-014FBD50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30122-E5B2-06CA-41C2-4D8D52A6B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E9502-0666-961D-B425-112776741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C437-4E9D-71C6-505E-0DB4A59E1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63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75D-34CE-B62F-3AAA-41FFD4BE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0F5D-57BA-E7FC-F432-D823B55A9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3D192-F6E8-9CBC-55D6-031C1DC11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/paper/2023/file/d28077e5ff52034cd35b4aa15320caea-Paper-Conference.pdf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26BE-8FB2-F06E-2D44-E03DF73D9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447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www.researchgate.net</a:t>
            </a:r>
            <a:r>
              <a:rPr lang="en-US" dirty="0"/>
              <a:t>/profile/Leshem-Choshen-2/publication/371291070_Resolving_Interference_When_Merging_Models/links/6481cc4a79a722376518d1d6/Resolving-Interference-When-Merging-</a:t>
            </a:r>
            <a:r>
              <a:rPr lang="en-US" dirty="0" err="1"/>
              <a:t>Models.pdf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047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/pdf/2307.13269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495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/pdf/2402.05859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4/14/25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hyperlink" Target="https://arxiv.org/pdf/2504.02263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69.png"/><Relationship Id="rId4" Type="http://schemas.openxmlformats.org/officeDocument/2006/relationships/image" Target="../media/image7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DE55-053D-2ECC-360F-B54D1279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30D4-147C-DC98-8202-D1D621D6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EEE0-DDC2-59D2-3B48-9A4E0A854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Review of how to learn retrievers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Contrastive learning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DPR and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Contreiver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Using decoder-only LLMs for retrieval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query expansion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generating encodings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Retrieval-augmented generation (RAG)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original RAG paper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fusion-in-decoder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) paper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 case study: optimizing inference for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FiD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Systems: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FiDO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LUMEN</a:t>
            </a:r>
            <a:r>
              <a:rPr lang="en-US" dirty="0"/>
              <a:t>, GLIMMER</a:t>
            </a:r>
          </a:p>
          <a:p>
            <a:r>
              <a:rPr lang="en-US" dirty="0"/>
              <a:t>Incorporating principles from RAG, </a:t>
            </a:r>
            <a:r>
              <a:rPr lang="en-US" dirty="0" err="1"/>
              <a:t>FiD</a:t>
            </a:r>
            <a:r>
              <a:rPr lang="en-US" dirty="0"/>
              <a:t> in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380128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E0C7-2277-C9EE-94E9-A8062F44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8136-1591-7F07-C9B5-B2CB596A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396B-F012-42ED-435C-DFB78406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/>
              <a:t>Decoder-only systems related to RAG/</a:t>
            </a:r>
            <a:r>
              <a:rPr lang="en-US" dirty="0" err="1"/>
              <a:t>FiD</a:t>
            </a:r>
            <a:r>
              <a:rPr lang="en-US" dirty="0"/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/>
              <a:t>Branch-train-merge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17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Augmented LLMs</a:t>
            </a:r>
            <a:br>
              <a:rPr lang="en-US" dirty="0"/>
            </a:br>
            <a:r>
              <a:rPr lang="en-US" dirty="0"/>
              <a:t>A 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636B-D0F5-D6D5-DD0A-25DF343C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trieval Augmented Generation Techniques">
            <a:extLst>
              <a:ext uri="{FF2B5EF4-FFF2-40B4-BE49-F238E27FC236}">
                <a16:creationId xmlns:a16="http://schemas.microsoft.com/office/drawing/2014/main" id="{6170DF3F-9708-5286-9369-4DBE06713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4000" cy="538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C64A68-5609-59B2-60A7-5CF26B9F2477}"/>
              </a:ext>
            </a:extLst>
          </p:cNvPr>
          <p:cNvSpPr txBox="1"/>
          <p:nvPr/>
        </p:nvSpPr>
        <p:spPr>
          <a:xfrm>
            <a:off x="5772150" y="3959781"/>
            <a:ext cx="3214687" cy="2031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Access new information (not available during model pretraining)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Better access “long tail” information that is mentioned infrequently in pre-training documents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35D14-C427-3350-115C-7061E8C21C59}"/>
              </a:ext>
            </a:extLst>
          </p:cNvPr>
          <p:cNvSpPr txBox="1"/>
          <p:nvPr/>
        </p:nvSpPr>
        <p:spPr>
          <a:xfrm>
            <a:off x="5344940" y="6096555"/>
            <a:ext cx="321468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Needs strong retrieval</a:t>
            </a:r>
          </a:p>
        </p:txBody>
      </p:sp>
    </p:spTree>
    <p:extLst>
      <p:ext uri="{BB962C8B-B14F-4D97-AF65-F5344CB8AC3E}">
        <p14:creationId xmlns:p14="http://schemas.microsoft.com/office/powerpoint/2010/main" val="3212583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18CF-DD6D-6F32-9FA6-C53A4122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F47D-6B92-6B9C-1A3F-F82CD8E5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Recap</a:t>
            </a:r>
            <a:r>
              <a:rPr lang="en-US" sz="3200" dirty="0"/>
              <a:t>: The Dense Passage Retriever (DPR)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43C6-1890-D034-AD2B-8E22C5FE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0263" cy="50577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Process several QA datasets to get triples:</a:t>
            </a:r>
          </a:p>
          <a:p>
            <a:pPr lvl="1"/>
            <a:r>
              <a:rPr lang="en-US" dirty="0"/>
              <a:t>(question, gold passage id, gold answer span)</a:t>
            </a:r>
          </a:p>
          <a:p>
            <a:r>
              <a:rPr lang="en-US" dirty="0"/>
              <a:t>Triples give positive question/passage examples </a:t>
            </a:r>
            <a:r>
              <a:rPr lang="en-US" i="1" dirty="0"/>
              <a:t>(q</a:t>
            </a:r>
            <a:r>
              <a:rPr lang="en-US" i="1" baseline="-25000" dirty="0"/>
              <a:t>i</a:t>
            </a:r>
            <a:r>
              <a:rPr lang="en-US" i="1" dirty="0"/>
              <a:t>, p</a:t>
            </a:r>
            <a:r>
              <a:rPr lang="en-US" i="1" baseline="-25000" dirty="0"/>
              <a:t>i</a:t>
            </a:r>
            <a:r>
              <a:rPr lang="en-US" i="1" dirty="0"/>
              <a:t>) </a:t>
            </a:r>
            <a:r>
              <a:rPr lang="en-US" dirty="0"/>
              <a:t>encoded in d=768 dimensions by pre-trained BERT</a:t>
            </a:r>
          </a:p>
          <a:p>
            <a:r>
              <a:rPr lang="en-US" b="1" dirty="0"/>
              <a:t>Q</a:t>
            </a:r>
            <a:r>
              <a:rPr lang="en-US" dirty="0"/>
              <a:t> is mini-batch of B questions, </a:t>
            </a:r>
            <a:r>
              <a:rPr lang="en-US" b="1" dirty="0"/>
              <a:t>P </a:t>
            </a:r>
            <a:r>
              <a:rPr lang="en-US" dirty="0"/>
              <a:t>is B passages, S = QP</a:t>
            </a:r>
            <a:r>
              <a:rPr lang="en-US" baseline="30000" dirty="0"/>
              <a:t>T </a:t>
            </a:r>
            <a:r>
              <a:rPr lang="en-US" dirty="0"/>
              <a:t>is (B x B) matrix of similarity scores</a:t>
            </a:r>
          </a:p>
          <a:p>
            <a:pPr lvl="1"/>
            <a:r>
              <a:rPr lang="en-US" dirty="0"/>
              <a:t>score is positive for</a:t>
            </a:r>
            <a:r>
              <a:rPr lang="en-US" i="1" dirty="0"/>
              <a:t> q</a:t>
            </a:r>
            <a:r>
              <a:rPr lang="en-US" i="1" baseline="-25000" dirty="0"/>
              <a:t>i</a:t>
            </a:r>
            <a:r>
              <a:rPr lang="en-US" i="1" dirty="0"/>
              <a:t>,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i="1" baseline="-25000" dirty="0"/>
              <a:t> 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dirty="0"/>
              <a:t>=j</a:t>
            </a:r>
          </a:p>
          <a:p>
            <a:pPr lvl="2"/>
            <a:r>
              <a:rPr lang="en-US" dirty="0"/>
              <a:t>“in-batch negatives” trick</a:t>
            </a:r>
          </a:p>
          <a:p>
            <a:pPr lvl="1"/>
            <a:r>
              <a:rPr lang="en-US" dirty="0"/>
              <a:t>also add as additional hard negatives</a:t>
            </a:r>
          </a:p>
          <a:p>
            <a:pPr lvl="2"/>
            <a:r>
              <a:rPr lang="en-US" dirty="0"/>
              <a:t>1-2 passages with high TFIDF score to </a:t>
            </a:r>
            <a:r>
              <a:rPr lang="en-US" i="1" dirty="0"/>
              <a:t>q </a:t>
            </a:r>
            <a:r>
              <a:rPr lang="en-US" dirty="0"/>
              <a:t>which do </a:t>
            </a:r>
            <a:r>
              <a:rPr lang="en-US" b="1" u="sng" dirty="0"/>
              <a:t>not</a:t>
            </a:r>
            <a:r>
              <a:rPr lang="en-US" b="1" dirty="0"/>
              <a:t> </a:t>
            </a:r>
            <a:r>
              <a:rPr lang="en-US" dirty="0"/>
              <a:t> contain the answer span</a:t>
            </a:r>
          </a:p>
        </p:txBody>
      </p:sp>
    </p:spTree>
    <p:extLst>
      <p:ext uri="{BB962C8B-B14F-4D97-AF65-F5344CB8AC3E}">
        <p14:creationId xmlns:p14="http://schemas.microsoft.com/office/powerpoint/2010/main" val="73000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16BE-AA2F-2FAD-555A-89AD8F2F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872C-BCF2-2999-B9AD-D2C348EE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</a:t>
            </a:r>
            <a:r>
              <a:rPr lang="en-US" dirty="0" err="1"/>
              <a:t>Contriever</a:t>
            </a:r>
            <a:r>
              <a:rPr lang="en-US" dirty="0"/>
              <a:t> vs DPR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899B-7BBB-9E74-80D3-1A225AA33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Same NT-</a:t>
            </a:r>
            <a:r>
              <a:rPr lang="en-US" dirty="0" err="1"/>
              <a:t>Xent</a:t>
            </a:r>
            <a:r>
              <a:rPr lang="en-US" dirty="0"/>
              <a:t> contrastive loss</a:t>
            </a:r>
          </a:p>
          <a:p>
            <a:r>
              <a:rPr lang="en-US" dirty="0"/>
              <a:t>One BERT encoder instead of two</a:t>
            </a:r>
          </a:p>
          <a:p>
            <a:r>
              <a:rPr lang="en-US" dirty="0"/>
              <a:t>Data augmentation tricks explored</a:t>
            </a:r>
          </a:p>
          <a:p>
            <a:pPr lvl="1"/>
            <a:r>
              <a:rPr lang="en-US" dirty="0"/>
              <a:t>Independent cropping</a:t>
            </a:r>
          </a:p>
          <a:p>
            <a:pPr lvl="1"/>
            <a:r>
              <a:rPr lang="en-US" dirty="0"/>
              <a:t>Random token deletion</a:t>
            </a:r>
          </a:p>
          <a:p>
            <a:r>
              <a:rPr lang="en-US" dirty="0"/>
              <a:t>Negatives were from</a:t>
            </a:r>
          </a:p>
          <a:p>
            <a:pPr lvl="1"/>
            <a:r>
              <a:rPr lang="en-US" dirty="0"/>
              <a:t>in-batch negatives</a:t>
            </a:r>
          </a:p>
          <a:p>
            <a:pPr lvl="1"/>
            <a:r>
              <a:rPr lang="en-US" dirty="0"/>
              <a:t>momentum contrast (</a:t>
            </a:r>
            <a:r>
              <a:rPr lang="en-US" dirty="0" err="1"/>
              <a:t>MoCo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MoCo</a:t>
            </a:r>
            <a:r>
              <a:rPr lang="en-US" dirty="0"/>
              <a:t>: dynamic dictionary queue and averaging last two models to find hard negatives</a:t>
            </a:r>
          </a:p>
        </p:txBody>
      </p:sp>
    </p:spTree>
    <p:extLst>
      <p:ext uri="{BB962C8B-B14F-4D97-AF65-F5344CB8AC3E}">
        <p14:creationId xmlns:p14="http://schemas.microsoft.com/office/powerpoint/2010/main" val="221491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067C-3861-D0B8-6B0A-BDEB6A2B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984F-A115-D08C-6886-1D3C2EC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The OG RAG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F0747-CA24-33B0-C0B8-D06B2A1A0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5" r="3104"/>
          <a:stretch/>
        </p:blipFill>
        <p:spPr>
          <a:xfrm>
            <a:off x="29091" y="1766887"/>
            <a:ext cx="9085818" cy="4076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3275E-41AB-852B-0520-5DE2BDF9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20" b="19750"/>
          <a:stretch/>
        </p:blipFill>
        <p:spPr>
          <a:xfrm>
            <a:off x="511779" y="5870102"/>
            <a:ext cx="4419600" cy="28907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161553-27F9-93BF-AC28-F825113963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8953"/>
          <a:stretch/>
        </p:blipFill>
        <p:spPr>
          <a:xfrm>
            <a:off x="5519995" y="5963638"/>
            <a:ext cx="3492500" cy="28907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74CC8-6EED-84F6-16EE-DF847522641D}"/>
              </a:ext>
            </a:extLst>
          </p:cNvPr>
          <p:cNvSpPr txBox="1"/>
          <p:nvPr/>
        </p:nvSpPr>
        <p:spPr>
          <a:xfrm>
            <a:off x="2364109" y="6214030"/>
            <a:ext cx="196279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returns top K docs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EAE30C-6304-0559-77B9-698611595E17}"/>
              </a:ext>
            </a:extLst>
          </p:cNvPr>
          <p:cNvGrpSpPr/>
          <p:nvPr/>
        </p:nvGrpSpPr>
        <p:grpSpPr>
          <a:xfrm>
            <a:off x="58182" y="1740373"/>
            <a:ext cx="9085818" cy="4076701"/>
            <a:chOff x="58182" y="1740373"/>
            <a:chExt cx="9085818" cy="40767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C23CEE-8508-EEE8-5273-20460BEC3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95" r="3104"/>
            <a:stretch/>
          </p:blipFill>
          <p:spPr>
            <a:xfrm>
              <a:off x="58182" y="1740373"/>
              <a:ext cx="9085818" cy="407670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28AC86-FA32-6A2B-7F42-C1817302711D}"/>
                </a:ext>
              </a:extLst>
            </p:cNvPr>
            <p:cNvSpPr/>
            <p:nvPr/>
          </p:nvSpPr>
          <p:spPr>
            <a:xfrm>
              <a:off x="457200" y="3369733"/>
              <a:ext cx="1134533" cy="111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B491A2-545E-ABFD-1D02-C03E7B192613}"/>
                </a:ext>
              </a:extLst>
            </p:cNvPr>
            <p:cNvSpPr/>
            <p:nvPr/>
          </p:nvSpPr>
          <p:spPr>
            <a:xfrm>
              <a:off x="1861457" y="4275667"/>
              <a:ext cx="3472543" cy="21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29B36D-FD55-23CD-DD8B-F13414676489}"/>
                </a:ext>
              </a:extLst>
            </p:cNvPr>
            <p:cNvSpPr/>
            <p:nvPr/>
          </p:nvSpPr>
          <p:spPr>
            <a:xfrm>
              <a:off x="4004733" y="3992258"/>
              <a:ext cx="1820334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038DA3-54AE-2A3A-FAB3-715F9DDDE183}"/>
                </a:ext>
              </a:extLst>
            </p:cNvPr>
            <p:cNvSpPr/>
            <p:nvPr/>
          </p:nvSpPr>
          <p:spPr>
            <a:xfrm>
              <a:off x="5241806" y="3806717"/>
              <a:ext cx="491067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D3AAA8-DB5A-AC3E-8D1B-B6BEC24610E4}"/>
                </a:ext>
              </a:extLst>
            </p:cNvPr>
            <p:cNvSpPr/>
            <p:nvPr/>
          </p:nvSpPr>
          <p:spPr>
            <a:xfrm>
              <a:off x="5426863" y="3616078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3065E1-05FD-9159-8196-B6F53465AECC}"/>
                </a:ext>
              </a:extLst>
            </p:cNvPr>
            <p:cNvSpPr/>
            <p:nvPr/>
          </p:nvSpPr>
          <p:spPr>
            <a:xfrm>
              <a:off x="5917930" y="3850553"/>
              <a:ext cx="335101" cy="283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D9088D65-0AA2-88B5-CC2B-00CAE6D34E3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rot="16200000" flipH="1">
              <a:off x="1195560" y="3198640"/>
              <a:ext cx="235710" cy="577897"/>
            </a:xfrm>
            <a:prstGeom prst="bentConnector4">
              <a:avLst>
                <a:gd name="adj1" fmla="val 101494"/>
                <a:gd name="adj2" fmla="val 51243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4D3A96-A00F-9478-4DA5-3AF75391A370}"/>
              </a:ext>
            </a:extLst>
          </p:cNvPr>
          <p:cNvSpPr txBox="1"/>
          <p:nvPr/>
        </p:nvSpPr>
        <p:spPr>
          <a:xfrm>
            <a:off x="4326902" y="1782499"/>
            <a:ext cx="82086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sort of</a:t>
            </a:r>
          </a:p>
        </p:txBody>
      </p:sp>
    </p:spTree>
    <p:extLst>
      <p:ext uri="{BB962C8B-B14F-4D97-AF65-F5344CB8AC3E}">
        <p14:creationId xmlns:p14="http://schemas.microsoft.com/office/powerpoint/2010/main" val="77712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04E-F997-B0CE-8DE6-162ED268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BBDF-B379-7853-EEAA-6C19D66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The OG RAG paper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0CAE-B5A8-1663-0E12-D87D95D9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20" b="19750"/>
          <a:stretch/>
        </p:blipFill>
        <p:spPr>
          <a:xfrm>
            <a:off x="564743" y="5817074"/>
            <a:ext cx="4419600" cy="28907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DE756-BA30-E5F4-162D-4784EC17FE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8953"/>
          <a:stretch/>
        </p:blipFill>
        <p:spPr>
          <a:xfrm>
            <a:off x="5519995" y="5817074"/>
            <a:ext cx="3492500" cy="28907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522CDA-D9E2-65E6-A5F1-54A6D5DF094E}"/>
              </a:ext>
            </a:extLst>
          </p:cNvPr>
          <p:cNvSpPr txBox="1"/>
          <p:nvPr/>
        </p:nvSpPr>
        <p:spPr>
          <a:xfrm>
            <a:off x="2364109" y="6214030"/>
            <a:ext cx="196279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returns top K docs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1387F-5192-B94B-3D5C-761EBE341B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0" t="4342" r="4540" b="14939"/>
          <a:stretch/>
        </p:blipFill>
        <p:spPr>
          <a:xfrm>
            <a:off x="2661053" y="4542931"/>
            <a:ext cx="6025747" cy="8134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F34605-14C7-507B-79A7-ACCD9B5C928B}"/>
              </a:ext>
            </a:extLst>
          </p:cNvPr>
          <p:cNvSpPr txBox="1"/>
          <p:nvPr/>
        </p:nvSpPr>
        <p:spPr>
          <a:xfrm>
            <a:off x="457200" y="5331774"/>
            <a:ext cx="151355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based on DPR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8E7602-813C-B017-4260-98E010BEE80A}"/>
              </a:ext>
            </a:extLst>
          </p:cNvPr>
          <p:cNvSpPr txBox="1"/>
          <p:nvPr/>
        </p:nvSpPr>
        <p:spPr>
          <a:xfrm>
            <a:off x="5519995" y="6197488"/>
            <a:ext cx="34925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based on BART</a:t>
            </a:r>
          </a:p>
          <a:p>
            <a:pPr algn="ctr"/>
            <a:r>
              <a:rPr lang="en-US" dirty="0"/>
              <a:t>(BERT-sized encoder-decoder)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14D8CC-D9FA-7327-B7B8-DD71F8B48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1297068"/>
            <a:ext cx="4175750" cy="64242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1D0B49-3A5F-E8EA-0B90-B034C0292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809" y="2610753"/>
            <a:ext cx="2260600" cy="571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C45DD4-5A0E-5656-7F41-17E231AB24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138" r="5888"/>
          <a:stretch/>
        </p:blipFill>
        <p:spPr>
          <a:xfrm>
            <a:off x="1272896" y="2045935"/>
            <a:ext cx="2282891" cy="501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BD82F5-4ABE-F702-A3ED-2E3A99970B6D}"/>
              </a:ext>
            </a:extLst>
          </p:cNvPr>
          <p:cNvSpPr txBox="1"/>
          <p:nvPr/>
        </p:nvSpPr>
        <p:spPr>
          <a:xfrm>
            <a:off x="3746795" y="2112097"/>
            <a:ext cx="19271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updated in training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E5AE3-B38E-5AB8-C7BE-3DAA25277FE2}"/>
              </a:ext>
            </a:extLst>
          </p:cNvPr>
          <p:cNvSpPr txBox="1"/>
          <p:nvPr/>
        </p:nvSpPr>
        <p:spPr>
          <a:xfrm>
            <a:off x="3746794" y="2679213"/>
            <a:ext cx="221631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frozen – not updated!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901268-69EF-774D-8E74-4E0190E87429}"/>
                  </a:ext>
                </a:extLst>
              </p:cNvPr>
              <p:cNvSpPr txBox="1"/>
              <p:nvPr/>
            </p:nvSpPr>
            <p:spPr>
              <a:xfrm>
                <a:off x="4175605" y="3406475"/>
                <a:ext cx="3937103" cy="8712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901268-69EF-774D-8E74-4E0190E87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605" y="3406475"/>
                <a:ext cx="3937103" cy="871264"/>
              </a:xfrm>
              <a:prstGeom prst="rect">
                <a:avLst/>
              </a:prstGeom>
              <a:blipFill>
                <a:blip r:embed="rId8"/>
                <a:stretch>
                  <a:fillRect t="-91549" b="-146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E6444A-B5C9-1565-709F-F2B0F6A98F47}"/>
              </a:ext>
            </a:extLst>
          </p:cNvPr>
          <p:cNvSpPr txBox="1"/>
          <p:nvPr/>
        </p:nvSpPr>
        <p:spPr>
          <a:xfrm>
            <a:off x="2276583" y="3354409"/>
            <a:ext cx="1706561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Even simpler decoding strategy</a:t>
            </a:r>
          </a:p>
        </p:txBody>
      </p:sp>
    </p:spTree>
    <p:extLst>
      <p:ext uri="{BB962C8B-B14F-4D97-AF65-F5344CB8AC3E}">
        <p14:creationId xmlns:p14="http://schemas.microsoft.com/office/powerpoint/2010/main" val="416196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7D8D-7AD1-C4E9-CEBD-9132EBD7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Discussion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FE37-0B8F-D275-D551-4989B187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8"/>
            <a:ext cx="8393113" cy="54864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RAG is now generic term for using retrieval as preprocessing step for LLMs</a:t>
            </a:r>
          </a:p>
          <a:p>
            <a:pPr lvl="1"/>
            <a:r>
              <a:rPr lang="en-US" dirty="0"/>
              <a:t>Simplest case is fixed retriever, and appending all docs to the question to form LLM input </a:t>
            </a:r>
          </a:p>
          <a:p>
            <a:pPr lvl="1"/>
            <a:r>
              <a:rPr lang="en-US" dirty="0"/>
              <a:t>No custom learner / model / model-combination!</a:t>
            </a:r>
          </a:p>
          <a:p>
            <a:pPr lvl="1"/>
            <a:r>
              <a:rPr lang="en-US" dirty="0"/>
              <a:t>Simple case improves </a:t>
            </a:r>
            <a:r>
              <a:rPr lang="en-US" b="1" u="sng" dirty="0"/>
              <a:t>immediately</a:t>
            </a:r>
            <a:r>
              <a:rPr lang="en-US" dirty="0"/>
              <a:t> whenever</a:t>
            </a:r>
          </a:p>
          <a:p>
            <a:pPr lvl="2"/>
            <a:r>
              <a:rPr lang="en-US" dirty="0"/>
              <a:t>LLM improves</a:t>
            </a:r>
          </a:p>
          <a:p>
            <a:pPr lvl="2"/>
            <a:r>
              <a:rPr lang="en-US" dirty="0"/>
              <a:t>retriever improves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Appending docs scales poorly when many documents are used</a:t>
            </a:r>
          </a:p>
          <a:p>
            <a:pPr lvl="2"/>
            <a:r>
              <a:rPr lang="en-US" dirty="0"/>
              <a:t>but there are some tricks to improve that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91B0A3-CCA7-A32E-C330-60796FF542E8}"/>
                  </a:ext>
                </a:extLst>
              </p:cNvPr>
              <p:cNvSpPr txBox="1"/>
              <p:nvPr/>
            </p:nvSpPr>
            <p:spPr>
              <a:xfrm>
                <a:off x="4332768" y="4000499"/>
                <a:ext cx="3937103" cy="8712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91B0A3-CCA7-A32E-C330-60796FF54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768" y="4000499"/>
                <a:ext cx="3937103" cy="871264"/>
              </a:xfrm>
              <a:prstGeom prst="rect">
                <a:avLst/>
              </a:prstGeom>
              <a:blipFill>
                <a:blip r:embed="rId2"/>
                <a:stretch>
                  <a:fillRect t="-88889" b="-143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458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7D8D-7AD1-C4E9-CEBD-9132EBD7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Discussion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FE37-0B8F-D275-D551-4989B187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8"/>
            <a:ext cx="8393113" cy="548640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RAG is now generic term for using retrieval as preprocessing step for LLMs</a:t>
            </a:r>
          </a:p>
          <a:p>
            <a:pPr lvl="1"/>
            <a:r>
              <a:rPr lang="en-US" dirty="0"/>
              <a:t>Simplest case is fixed retriever, and appending all docs to the question to form LLM input </a:t>
            </a:r>
          </a:p>
          <a:p>
            <a:pPr lvl="1"/>
            <a:r>
              <a:rPr lang="en-US" dirty="0"/>
              <a:t>No custom learner / model / model-combination!</a:t>
            </a:r>
          </a:p>
          <a:p>
            <a:pPr lvl="1"/>
            <a:r>
              <a:rPr lang="en-US" dirty="0"/>
              <a:t>Simple case improves </a:t>
            </a:r>
            <a:r>
              <a:rPr lang="en-US" b="1" u="sng" dirty="0"/>
              <a:t>immediately</a:t>
            </a:r>
            <a:r>
              <a:rPr lang="en-US" dirty="0"/>
              <a:t> whenever</a:t>
            </a:r>
          </a:p>
          <a:p>
            <a:pPr lvl="2"/>
            <a:r>
              <a:rPr lang="en-US" dirty="0"/>
              <a:t>LLM improves</a:t>
            </a:r>
          </a:p>
          <a:p>
            <a:pPr lvl="2"/>
            <a:r>
              <a:rPr lang="en-US" dirty="0"/>
              <a:t>retriever improves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Appending docs scales poorly when many documents are used</a:t>
            </a:r>
          </a:p>
          <a:p>
            <a:pPr lvl="2"/>
            <a:r>
              <a:rPr lang="en-US" dirty="0"/>
              <a:t>but there are some tricks to improve that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 err="1">
                <a:sym typeface="Wingdings" pitchFamily="2" charset="2"/>
              </a:rPr>
              <a:t>FiD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3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08D1-363E-7E75-8988-D035A2C2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CDEA-1C2B-EB8D-572A-57AC7CC2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52B25-B659-2661-4982-ED4544C92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1457"/>
            <a:ext cx="8648700" cy="31718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open-book QA, often</a:t>
            </a:r>
          </a:p>
          <a:p>
            <a:pPr lvl="1"/>
            <a:r>
              <a:rPr lang="en-US" dirty="0"/>
              <a:t>Questions </a:t>
            </a:r>
            <a:r>
              <a:rPr lang="en-US" i="1" dirty="0"/>
              <a:t>q </a:t>
            </a:r>
            <a:r>
              <a:rPr lang="en-US" dirty="0"/>
              <a:t>and answer </a:t>
            </a:r>
            <a:r>
              <a:rPr lang="en-US" i="1" dirty="0"/>
              <a:t>a </a:t>
            </a:r>
            <a:r>
              <a:rPr lang="en-US" dirty="0"/>
              <a:t>are short: k=O(10)</a:t>
            </a:r>
          </a:p>
          <a:p>
            <a:pPr lvl="1"/>
            <a:r>
              <a:rPr lang="en-US" dirty="0"/>
              <a:t>Passages are longer: m=O(100)</a:t>
            </a:r>
          </a:p>
          <a:p>
            <a:r>
              <a:rPr lang="en-US" dirty="0"/>
              <a:t>Retrieving and appending N passages: </a:t>
            </a:r>
          </a:p>
          <a:p>
            <a:pPr lvl="1"/>
            <a:r>
              <a:rPr lang="en-US" dirty="0"/>
              <a:t>Encoder = O(Nm + k)</a:t>
            </a:r>
            <a:r>
              <a:rPr lang="en-US" baseline="30000" dirty="0"/>
              <a:t>2</a:t>
            </a:r>
          </a:p>
          <a:p>
            <a:pPr lvl="1"/>
            <a:r>
              <a:rPr lang="en-US" dirty="0"/>
              <a:t>Decoder = O(k * (Nm + k))</a:t>
            </a:r>
          </a:p>
          <a:p>
            <a:r>
              <a:rPr lang="en-US" dirty="0"/>
              <a:t>Trick: </a:t>
            </a:r>
          </a:p>
          <a:p>
            <a:pPr lvl="1"/>
            <a:r>
              <a:rPr lang="en-US" dirty="0"/>
              <a:t>cross-encode </a:t>
            </a:r>
            <a:r>
              <a:rPr lang="en-US" i="1" dirty="0"/>
              <a:t>q</a:t>
            </a:r>
            <a:r>
              <a:rPr lang="en-US" dirty="0"/>
              <a:t> with </a:t>
            </a:r>
            <a:r>
              <a:rPr lang="en-US" i="1" dirty="0"/>
              <a:t>each </a:t>
            </a:r>
            <a:r>
              <a:rPr lang="en-US" dirty="0"/>
              <a:t>passage separately: O(N(</a:t>
            </a:r>
            <a:r>
              <a:rPr lang="en-US" dirty="0" err="1"/>
              <a:t>k+m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decode, attending to all: O(k * N(m + k))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F0671-29A1-3FB9-7AF4-9F4B808E7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4710112"/>
            <a:ext cx="8772528" cy="1462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1FDE5-FC69-FA83-C7DD-09D2D44D3E8F}"/>
              </a:ext>
            </a:extLst>
          </p:cNvPr>
          <p:cNvSpPr txBox="1"/>
          <p:nvPr/>
        </p:nvSpPr>
        <p:spPr>
          <a:xfrm>
            <a:off x="5177095" y="2580372"/>
            <a:ext cx="233813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2 </a:t>
            </a:r>
            <a:r>
              <a:rPr lang="en-US" dirty="0"/>
              <a:t>m</a:t>
            </a:r>
            <a:r>
              <a:rPr lang="en-US" baseline="30000" dirty="0"/>
              <a:t>2</a:t>
            </a:r>
            <a:r>
              <a:rPr lang="en-US" dirty="0"/>
              <a:t>)   ignoring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906E3-56E7-579E-AEA8-E3802BA49180}"/>
              </a:ext>
            </a:extLst>
          </p:cNvPr>
          <p:cNvSpPr txBox="1"/>
          <p:nvPr/>
        </p:nvSpPr>
        <p:spPr>
          <a:xfrm>
            <a:off x="5177095" y="2965708"/>
            <a:ext cx="10855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76236-76D3-5832-BA49-684BBF6AACD7}"/>
              </a:ext>
            </a:extLst>
          </p:cNvPr>
          <p:cNvSpPr txBox="1"/>
          <p:nvPr/>
        </p:nvSpPr>
        <p:spPr>
          <a:xfrm>
            <a:off x="7942521" y="3615571"/>
            <a:ext cx="104432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A63F4-67C5-A8BE-AE2D-81B1C4683A2A}"/>
              </a:ext>
            </a:extLst>
          </p:cNvPr>
          <p:cNvSpPr txBox="1"/>
          <p:nvPr/>
        </p:nvSpPr>
        <p:spPr>
          <a:xfrm>
            <a:off x="7515225" y="4081952"/>
            <a:ext cx="108559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O(N</a:t>
            </a:r>
            <a:r>
              <a:rPr lang="en-US" baseline="30000" dirty="0"/>
              <a:t> </a:t>
            </a:r>
            <a:r>
              <a:rPr lang="en-US" dirty="0"/>
              <a:t>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A55CD-5C8A-B587-E4C1-49E88154843F}"/>
              </a:ext>
            </a:extLst>
          </p:cNvPr>
          <p:cNvSpPr txBox="1"/>
          <p:nvPr/>
        </p:nvSpPr>
        <p:spPr>
          <a:xfrm>
            <a:off x="4881285" y="5803706"/>
            <a:ext cx="324830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quadratic in N </a:t>
            </a:r>
            <a:r>
              <a:rPr lang="en-US" dirty="0">
                <a:sym typeface="Wingdings" pitchFamily="2" charset="2"/>
              </a:rPr>
              <a:t> linear in N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F6295-8AA0-D1E5-7E48-16E88C952D57}"/>
              </a:ext>
            </a:extLst>
          </p:cNvPr>
          <p:cNvSpPr txBox="1"/>
          <p:nvPr/>
        </p:nvSpPr>
        <p:spPr>
          <a:xfrm>
            <a:off x="5132903" y="6196568"/>
            <a:ext cx="324830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 afford to retrieve more docs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6DE3D-024D-8849-5ABC-C56C552CF9D7}"/>
              </a:ext>
            </a:extLst>
          </p:cNvPr>
          <p:cNvSpPr txBox="1"/>
          <p:nvPr/>
        </p:nvSpPr>
        <p:spPr>
          <a:xfrm>
            <a:off x="387629" y="6211669"/>
            <a:ext cx="362346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lose cross-attention between tokens in different passages</a:t>
            </a:r>
          </a:p>
        </p:txBody>
      </p:sp>
    </p:spTree>
    <p:extLst>
      <p:ext uri="{BB962C8B-B14F-4D97-AF65-F5344CB8AC3E}">
        <p14:creationId xmlns:p14="http://schemas.microsoft.com/office/powerpoint/2010/main" val="238261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F0D4-A973-4092-F17E-2593336A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1918-3CA2-4CCD-6D6E-839EFF93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</a:t>
            </a:r>
            <a:r>
              <a:rPr lang="en-US" dirty="0" err="1"/>
              <a:t>FiD</a:t>
            </a:r>
            <a:r>
              <a:rPr lang="en-US" dirty="0"/>
              <a:t>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03FF2-E7E7-F6D3-FDE8-4328469CE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29"/>
          <a:stretch/>
        </p:blipFill>
        <p:spPr>
          <a:xfrm>
            <a:off x="1362073" y="2455068"/>
            <a:ext cx="6929438" cy="26461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CCF51C-5A73-14D6-7F5C-213A65C3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2745"/>
          <a:stretch/>
        </p:blipFill>
        <p:spPr>
          <a:xfrm>
            <a:off x="1404936" y="1548605"/>
            <a:ext cx="6929438" cy="9064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58D5D9-8223-C2CA-7688-2B57B622D09E}"/>
              </a:ext>
            </a:extLst>
          </p:cNvPr>
          <p:cNvSpPr txBox="1"/>
          <p:nvPr/>
        </p:nvSpPr>
        <p:spPr>
          <a:xfrm>
            <a:off x="221458" y="4300537"/>
            <a:ext cx="126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 = 100 passages</a:t>
            </a:r>
          </a:p>
        </p:txBody>
      </p:sp>
    </p:spTree>
    <p:extLst>
      <p:ext uri="{BB962C8B-B14F-4D97-AF65-F5344CB8AC3E}">
        <p14:creationId xmlns:p14="http://schemas.microsoft.com/office/powerpoint/2010/main" val="133707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B9E-B45B-0BB3-0D9C-F5417E00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</a:t>
            </a:r>
            <a:r>
              <a:rPr lang="en-US" dirty="0" err="1"/>
              <a:t>FiD</a:t>
            </a:r>
            <a:r>
              <a:rPr lang="en-US" dirty="0"/>
              <a:t> Optimized (</a:t>
            </a:r>
            <a:r>
              <a:rPr lang="en-US" dirty="0" err="1"/>
              <a:t>FiDO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901C3-3C66-079D-0FC3-BFE7C938A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71" y="2315437"/>
            <a:ext cx="8922231" cy="2556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A8D596-C545-2E39-58A6-C3B71C69F260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A64F60-753D-FF1B-3EE8-CFBDDD86F9C5}"/>
              </a:ext>
            </a:extLst>
          </p:cNvPr>
          <p:cNvSpPr/>
          <p:nvPr/>
        </p:nvSpPr>
        <p:spPr>
          <a:xfrm>
            <a:off x="3793525" y="2940908"/>
            <a:ext cx="1556952" cy="48809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4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9308-C924-2859-3C0C-90A3E801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9AF1-F8BD-9DC9-D05B-F510FC19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Recap</a:t>
            </a:r>
            <a:r>
              <a:rPr lang="en-US" dirty="0"/>
              <a:t>: Fusion in Decoder (</a:t>
            </a:r>
            <a:r>
              <a:rPr lang="en-US" dirty="0" err="1"/>
              <a:t>FiD</a:t>
            </a:r>
            <a:r>
              <a:rPr lang="en-US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E2074-48FA-04D6-D860-0D9D6A8CBE88}"/>
              </a:ext>
            </a:extLst>
          </p:cNvPr>
          <p:cNvSpPr txBox="1"/>
          <p:nvPr/>
        </p:nvSpPr>
        <p:spPr>
          <a:xfrm>
            <a:off x="245625" y="1365892"/>
            <a:ext cx="362204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FLOP analysis:  Encoder is 6x as expensive as decoder!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D54D49-D867-71E4-173B-CD2425F4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870" y="1368799"/>
            <a:ext cx="4079876" cy="2933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236D87-3E72-30A5-C52A-4778A270136B}"/>
              </a:ext>
            </a:extLst>
          </p:cNvPr>
          <p:cNvSpPr txBox="1"/>
          <p:nvPr/>
        </p:nvSpPr>
        <p:spPr>
          <a:xfrm>
            <a:off x="543929" y="3979587"/>
            <a:ext cx="317783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…but at inference time decoding is slowest.  Why?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24F6E-3207-C85D-173F-4D91250E0101}"/>
              </a:ext>
            </a:extLst>
          </p:cNvPr>
          <p:cNvSpPr txBox="1"/>
          <p:nvPr/>
        </p:nvSpPr>
        <p:spPr>
          <a:xfrm>
            <a:off x="6714329" y="4909787"/>
            <a:ext cx="2310715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What’s the fix?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E7EEB-F941-B520-9972-916B29180D47}"/>
              </a:ext>
            </a:extLst>
          </p:cNvPr>
          <p:cNvSpPr txBox="1"/>
          <p:nvPr/>
        </p:nvSpPr>
        <p:spPr>
          <a:xfrm>
            <a:off x="543929" y="2164080"/>
            <a:ext cx="3177832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Predicted by counting FLOPS for all the </a:t>
            </a:r>
            <a:r>
              <a:rPr lang="en-US" dirty="0" err="1"/>
              <a:t>matmuls</a:t>
            </a:r>
            <a:r>
              <a:rPr lang="en-US" dirty="0"/>
              <a:t> and assuming </a:t>
            </a: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 &lt;&lt; n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 &lt;&lt; 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i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tokens in decoder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tokens in all encoder input</a:t>
            </a:r>
            <a:endParaRPr lang="en-US" sz="1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C23CF-076B-CAED-CF87-77FD89900AF4}"/>
              </a:ext>
            </a:extLst>
          </p:cNvPr>
          <p:cNvSpPr txBox="1"/>
          <p:nvPr/>
        </p:nvSpPr>
        <p:spPr>
          <a:xfrm>
            <a:off x="543929" y="4880972"/>
            <a:ext cx="317783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Predicted by memory/FLOPs: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44C7C-7E4B-68C5-B80C-EB2EC269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04" y="5597191"/>
            <a:ext cx="1866900" cy="64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CC9D2-81D6-5999-D42F-46BDA6068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203" y="5518686"/>
            <a:ext cx="1790700" cy="673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AEB9CC-9323-1F1B-69E5-05D34125B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098" y="5505358"/>
            <a:ext cx="2032000" cy="673100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C038DB20-C7B4-9156-045D-CFCC7CAB086B}"/>
              </a:ext>
            </a:extLst>
          </p:cNvPr>
          <p:cNvSpPr/>
          <p:nvPr/>
        </p:nvSpPr>
        <p:spPr>
          <a:xfrm rot="5400000">
            <a:off x="1379220" y="562723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2D087-05CA-F6D0-1D55-0F0FD5550CB7}"/>
              </a:ext>
            </a:extLst>
          </p:cNvPr>
          <p:cNvSpPr txBox="1"/>
          <p:nvPr/>
        </p:nvSpPr>
        <p:spPr>
          <a:xfrm>
            <a:off x="184682" y="651245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Multilayer perceptron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113042C-C655-77DD-237B-D8428E33D308}"/>
              </a:ext>
            </a:extLst>
          </p:cNvPr>
          <p:cNvSpPr/>
          <p:nvPr/>
        </p:nvSpPr>
        <p:spPr>
          <a:xfrm rot="5400000">
            <a:off x="3598442" y="562723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A6767-230C-2C9D-4B4D-D91D29737825}"/>
              </a:ext>
            </a:extLst>
          </p:cNvPr>
          <p:cNvSpPr txBox="1"/>
          <p:nvPr/>
        </p:nvSpPr>
        <p:spPr>
          <a:xfrm>
            <a:off x="2403904" y="651245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self-attention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D71BCF3-C23B-5A3F-92F3-3C99542625B4}"/>
              </a:ext>
            </a:extLst>
          </p:cNvPr>
          <p:cNvSpPr/>
          <p:nvPr/>
        </p:nvSpPr>
        <p:spPr>
          <a:xfrm rot="5400000">
            <a:off x="5899682" y="5642472"/>
            <a:ext cx="243840" cy="15087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55A2E-3450-1088-D7B9-7964CA97D05B}"/>
              </a:ext>
            </a:extLst>
          </p:cNvPr>
          <p:cNvSpPr txBox="1"/>
          <p:nvPr/>
        </p:nvSpPr>
        <p:spPr>
          <a:xfrm>
            <a:off x="4705144" y="6527692"/>
            <a:ext cx="257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cross-attention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AEEFC3-1858-33D1-1771-818DF5791A75}"/>
              </a:ext>
            </a:extLst>
          </p:cNvPr>
          <p:cNvSpPr/>
          <p:nvPr/>
        </p:nvSpPr>
        <p:spPr>
          <a:xfrm>
            <a:off x="6294120" y="5505358"/>
            <a:ext cx="451382" cy="6864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8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3C51-131A-11E8-6E7E-3B53E778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AFFA-F159-32C3-61EB-5DC3B7F3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Recap</a:t>
            </a:r>
            <a:r>
              <a:rPr lang="en-US" sz="3200" dirty="0"/>
              <a:t>: Fusion in Decoder Optimized (</a:t>
            </a:r>
            <a:r>
              <a:rPr lang="en-US" sz="3200" dirty="0" err="1"/>
              <a:t>FiDO</a:t>
            </a:r>
            <a:r>
              <a:rPr lang="en-US" sz="3200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31BBD-16C6-C0CD-2527-FA222C1C9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5801360" cy="479298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Speeding up performance:</a:t>
            </a:r>
          </a:p>
          <a:p>
            <a:pPr lvl="1"/>
            <a:r>
              <a:rPr lang="en-US" dirty="0"/>
              <a:t>Layer sparse attention (LSA): perform cross attention only on every K-</a:t>
            </a:r>
            <a:r>
              <a:rPr lang="en-US" dirty="0" err="1"/>
              <a:t>th</a:t>
            </a:r>
            <a:r>
              <a:rPr lang="en-US" dirty="0"/>
              <a:t> layer (K=6)</a:t>
            </a:r>
          </a:p>
          <a:p>
            <a:pPr lvl="2"/>
            <a:r>
              <a:rPr lang="en-US" dirty="0"/>
              <a:t>Load fewer key-value entries from encoder on avg</a:t>
            </a:r>
          </a:p>
          <a:p>
            <a:pPr lvl="1"/>
            <a:r>
              <a:rPr lang="en-US" dirty="0"/>
              <a:t>Multi-query attention (MQ)</a:t>
            </a:r>
          </a:p>
          <a:p>
            <a:pPr lvl="2"/>
            <a:r>
              <a:rPr lang="en-US" dirty="0"/>
              <a:t>Creates fewer key-value entries</a:t>
            </a:r>
          </a:p>
          <a:p>
            <a:r>
              <a:rPr lang="en-US" dirty="0"/>
              <a:t>Compensate for performance loss:</a:t>
            </a:r>
          </a:p>
          <a:p>
            <a:pPr lvl="1"/>
            <a:r>
              <a:rPr lang="en-US" dirty="0"/>
              <a:t>Scale the decoder up!</a:t>
            </a:r>
          </a:p>
          <a:p>
            <a:pPr lvl="2"/>
            <a:r>
              <a:rPr lang="en-US" dirty="0"/>
              <a:t>Use T5-XL decoder with T5-Base encoder,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8F198-2CEF-4766-462E-F5F3918E3652}"/>
              </a:ext>
            </a:extLst>
          </p:cNvPr>
          <p:cNvSpPr txBox="1"/>
          <p:nvPr/>
        </p:nvSpPr>
        <p:spPr>
          <a:xfrm>
            <a:off x="6781800" y="1630680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7270A-542A-E4F7-0DEE-251F9D2E1A53}"/>
              </a:ext>
            </a:extLst>
          </p:cNvPr>
          <p:cNvSpPr txBox="1"/>
          <p:nvPr/>
        </p:nvSpPr>
        <p:spPr>
          <a:xfrm>
            <a:off x="6781800" y="3469124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DA643-F74C-7F95-037A-EF9D8751B3F9}"/>
              </a:ext>
            </a:extLst>
          </p:cNvPr>
          <p:cNvSpPr txBox="1"/>
          <p:nvPr/>
        </p:nvSpPr>
        <p:spPr>
          <a:xfrm>
            <a:off x="6781800" y="4903013"/>
            <a:ext cx="184404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342230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166B8-282D-7046-6D18-902BD848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5AF3-2C5B-CE04-F380-4EB4793D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Recap</a:t>
            </a:r>
            <a:r>
              <a:rPr lang="en-US" sz="3200" dirty="0"/>
              <a:t>: Fusion in Decoder Optimized (</a:t>
            </a:r>
            <a:r>
              <a:rPr lang="en-US" sz="3200" dirty="0" err="1"/>
              <a:t>FiDO</a:t>
            </a:r>
            <a:r>
              <a:rPr lang="en-US" sz="3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484F8-10CE-4781-36AE-A335720575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54"/>
          <a:stretch/>
        </p:blipFill>
        <p:spPr>
          <a:xfrm>
            <a:off x="0" y="1316837"/>
            <a:ext cx="9037320" cy="2265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5B295C-1E53-CFCF-2217-D7892119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3801821"/>
            <a:ext cx="7092950" cy="30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5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01E6-2BFE-ACD6-EB21-8232211B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52C0-172A-788A-9606-C7F473EF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Recap</a:t>
            </a:r>
            <a:r>
              <a:rPr lang="en-US" sz="4000" dirty="0"/>
              <a:t>: </a:t>
            </a:r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C5A41-D96B-1E8E-AE43-604951E43152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6C816-DB4C-0190-C067-6EBBA44F1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9" y="2279560"/>
            <a:ext cx="8909959" cy="263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15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F583F-2AA5-8444-B472-23DC3897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9421-384E-CF00-F5E1-35DCAE15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Recap</a:t>
            </a:r>
            <a:r>
              <a:rPr lang="en-US" sz="4000" dirty="0"/>
              <a:t>: </a:t>
            </a:r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95347-BBA9-1CD8-8A29-03768977D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1" y="1529589"/>
            <a:ext cx="9050685" cy="2955914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369FD57E-2066-F9A2-EC7E-7CA3E8E6845A}"/>
              </a:ext>
            </a:extLst>
          </p:cNvPr>
          <p:cNvSpPr/>
          <p:nvPr/>
        </p:nvSpPr>
        <p:spPr>
          <a:xfrm rot="5400000">
            <a:off x="2497438" y="2459134"/>
            <a:ext cx="481915" cy="49179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8CEC8-E73B-34A8-64AE-E4108EDA2DA9}"/>
              </a:ext>
            </a:extLst>
          </p:cNvPr>
          <p:cNvSpPr txBox="1"/>
          <p:nvPr/>
        </p:nvSpPr>
        <p:spPr>
          <a:xfrm>
            <a:off x="1437774" y="5342178"/>
            <a:ext cx="2693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first N-K layers of the </a:t>
            </a:r>
            <a:r>
              <a:rPr lang="en-US" dirty="0" err="1"/>
              <a:t>FiD</a:t>
            </a:r>
            <a:r>
              <a:rPr lang="en-US" dirty="0"/>
              <a:t> encoder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5270F8B-60A9-910A-E861-84481BF0FA44}"/>
              </a:ext>
            </a:extLst>
          </p:cNvPr>
          <p:cNvSpPr/>
          <p:nvPr/>
        </p:nvSpPr>
        <p:spPr>
          <a:xfrm rot="5400000">
            <a:off x="5922046" y="4253884"/>
            <a:ext cx="352027" cy="11986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7F905-4F19-2787-53FC-99A2903AF23C}"/>
              </a:ext>
            </a:extLst>
          </p:cNvPr>
          <p:cNvSpPr txBox="1"/>
          <p:nvPr/>
        </p:nvSpPr>
        <p:spPr>
          <a:xfrm>
            <a:off x="5012454" y="5350757"/>
            <a:ext cx="205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K layers of the </a:t>
            </a:r>
            <a:r>
              <a:rPr lang="en-US" dirty="0" err="1"/>
              <a:t>FiD</a:t>
            </a:r>
            <a:r>
              <a:rPr lang="en-US" dirty="0"/>
              <a:t> encoder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7F56A9A0-82A9-DA41-1BE5-F80515EAFDAF}"/>
              </a:ext>
            </a:extLst>
          </p:cNvPr>
          <p:cNvSpPr/>
          <p:nvPr/>
        </p:nvSpPr>
        <p:spPr>
          <a:xfrm rot="5400000">
            <a:off x="8136305" y="4313266"/>
            <a:ext cx="352027" cy="1079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B6D6D-9EB3-4576-B1CD-140B31EFACCB}"/>
              </a:ext>
            </a:extLst>
          </p:cNvPr>
          <p:cNvSpPr txBox="1"/>
          <p:nvPr/>
        </p:nvSpPr>
        <p:spPr>
          <a:xfrm>
            <a:off x="7414054" y="5325760"/>
            <a:ext cx="164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FiD</a:t>
            </a:r>
            <a:r>
              <a:rPr lang="en-US" dirty="0"/>
              <a:t> decoder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13391F-623E-F59C-1C35-D8BAEF3B12AD}"/>
              </a:ext>
            </a:extLst>
          </p:cNvPr>
          <p:cNvSpPr txBox="1"/>
          <p:nvPr/>
        </p:nvSpPr>
        <p:spPr>
          <a:xfrm>
            <a:off x="596848" y="6025116"/>
            <a:ext cx="3765087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Passages are encoded and stored off-line for every document</a:t>
            </a:r>
          </a:p>
        </p:txBody>
      </p:sp>
    </p:spTree>
    <p:extLst>
      <p:ext uri="{BB962C8B-B14F-4D97-AF65-F5344CB8AC3E}">
        <p14:creationId xmlns:p14="http://schemas.microsoft.com/office/powerpoint/2010/main" val="127918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2" grpId="0" animBg="1"/>
      <p:bldP spid="15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1085-EDFE-2180-8DD7-7498A83F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Recap</a:t>
            </a:r>
            <a:r>
              <a:rPr lang="en-US" sz="4000" dirty="0"/>
              <a:t>: </a:t>
            </a:r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9BAD7-01FB-189C-BE91-7ACD81775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04530"/>
            <a:ext cx="9247923" cy="29944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D9E9F8-5D6D-68E7-79BA-F9E9B3F03562}"/>
              </a:ext>
            </a:extLst>
          </p:cNvPr>
          <p:cNvSpPr txBox="1"/>
          <p:nvPr/>
        </p:nvSpPr>
        <p:spPr>
          <a:xfrm>
            <a:off x="1569308" y="4905632"/>
            <a:ext cx="62895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As you scale up you can do a larger fraction of the work off-line</a:t>
            </a:r>
          </a:p>
        </p:txBody>
      </p:sp>
    </p:spTree>
    <p:extLst>
      <p:ext uri="{BB962C8B-B14F-4D97-AF65-F5344CB8AC3E}">
        <p14:creationId xmlns:p14="http://schemas.microsoft.com/office/powerpoint/2010/main" val="352139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CD07-91CE-D7DE-3233-90D7D259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0096-66D3-3288-13A2-4B31DEEF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Recap</a:t>
            </a:r>
            <a:r>
              <a:rPr lang="en-US" sz="4000" dirty="0"/>
              <a:t>: </a:t>
            </a:r>
            <a:r>
              <a:rPr lang="en-US" dirty="0"/>
              <a:t>LUMEN: 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5840C-38AF-EE41-4509-CCA8AC9AB20A}"/>
              </a:ext>
            </a:extLst>
          </p:cNvPr>
          <p:cNvSpPr txBox="1"/>
          <p:nvPr/>
        </p:nvSpPr>
        <p:spPr>
          <a:xfrm>
            <a:off x="1186248" y="4465601"/>
            <a:ext cx="715456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Using 2/3 offline and 1/3 live is better than doing everything off-line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0CEAA-E4A3-59B8-F571-A178E8230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3036"/>
            <a:ext cx="7772400" cy="266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5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F944-3BC1-1138-5123-772D728B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1B03-56D4-4D89-6D74-8EAC3549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23CA-DCDB-25D4-8023-A37B101B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Some new RAG systems</a:t>
            </a:r>
          </a:p>
          <a:p>
            <a:pPr lvl="3"/>
            <a:r>
              <a:rPr lang="en-US" dirty="0">
                <a:solidFill>
                  <a:srgbClr val="0070C0"/>
                </a:solidFill>
              </a:rPr>
              <a:t>GLIMMER</a:t>
            </a:r>
          </a:p>
          <a:p>
            <a:pPr lvl="3"/>
            <a:r>
              <a:rPr lang="en-US" dirty="0"/>
              <a:t>Decoder-only systems related to RAG/</a:t>
            </a:r>
            <a:r>
              <a:rPr lang="en-US" dirty="0" err="1"/>
              <a:t>FiD</a:t>
            </a:r>
            <a:r>
              <a:rPr lang="en-US" dirty="0"/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/>
              <a:t>Branch-train-merge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42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2621-0186-6380-1E6F-1798A23D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9DF2-1053-E03D-684A-1C2D987E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GLIMMER: LUMEN with reranking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0E603-94C6-5C0A-CA76-0A42C812E508}"/>
              </a:ext>
            </a:extLst>
          </p:cNvPr>
          <p:cNvSpPr txBox="1"/>
          <p:nvPr/>
        </p:nvSpPr>
        <p:spPr>
          <a:xfrm>
            <a:off x="7572375" y="19431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048A4-2A94-F1D4-5104-2E33996C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7294"/>
            <a:ext cx="7772400" cy="17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922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FD63-E587-4CFF-EE6F-413F0ACC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8C5B-664C-D645-3BE4-43D18570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39" y="141068"/>
            <a:ext cx="4476554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Recap: Cross-Encoders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742D8-4123-4FD1-0CF1-AD2FAA7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10365"/>
          <a:stretch/>
        </p:blipFill>
        <p:spPr>
          <a:xfrm>
            <a:off x="728663" y="1096962"/>
            <a:ext cx="3287381" cy="2659868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C0813B-2B24-3E6A-4234-6006DE61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4" y="3955610"/>
            <a:ext cx="7772400" cy="23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F10D5-AD0F-06E9-11C7-86E0FF6A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70" r="9522" b="19412"/>
          <a:stretch/>
        </p:blipFill>
        <p:spPr>
          <a:xfrm>
            <a:off x="4603750" y="1096962"/>
            <a:ext cx="3886200" cy="2659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3BF1A0-0EB3-93B9-3A0D-D30166A780E7}"/>
              </a:ext>
            </a:extLst>
          </p:cNvPr>
          <p:cNvSpPr txBox="1"/>
          <p:nvPr/>
        </p:nvSpPr>
        <p:spPr>
          <a:xfrm>
            <a:off x="5592473" y="3756830"/>
            <a:ext cx="8511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4BCDD-AFC6-F562-F867-07CECFDBD186}"/>
              </a:ext>
            </a:extLst>
          </p:cNvPr>
          <p:cNvSpPr txBox="1"/>
          <p:nvPr/>
        </p:nvSpPr>
        <p:spPr>
          <a:xfrm>
            <a:off x="6979875" y="3770944"/>
            <a:ext cx="151007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i-th</a:t>
            </a:r>
            <a:r>
              <a:rPr lang="en-US" dirty="0"/>
              <a:t>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BFDD2-4729-015D-51BD-BEEFCCBE716B}"/>
              </a:ext>
            </a:extLst>
          </p:cNvPr>
          <p:cNvSpPr txBox="1"/>
          <p:nvPr/>
        </p:nvSpPr>
        <p:spPr>
          <a:xfrm>
            <a:off x="4755954" y="4837925"/>
            <a:ext cx="130016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c2, …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en-US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254757-4A36-589C-4ABD-BAEE6195C684}"/>
              </a:ext>
            </a:extLst>
          </p:cNvPr>
          <p:cNvCxnSpPr/>
          <p:nvPr/>
        </p:nvCxnSpPr>
        <p:spPr>
          <a:xfrm flipV="1">
            <a:off x="2671763" y="4257675"/>
            <a:ext cx="2920710" cy="985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9F947C-6477-ECEE-0D80-B5D21BD9E85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056115" y="4324942"/>
            <a:ext cx="1746264" cy="697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Up Arrow 17">
            <a:extLst>
              <a:ext uri="{FF2B5EF4-FFF2-40B4-BE49-F238E27FC236}">
                <a16:creationId xmlns:a16="http://schemas.microsoft.com/office/drawing/2014/main" id="{06493D06-F250-2991-B113-52DB1C4FDDEE}"/>
              </a:ext>
            </a:extLst>
          </p:cNvPr>
          <p:cNvSpPr/>
          <p:nvPr/>
        </p:nvSpPr>
        <p:spPr>
          <a:xfrm>
            <a:off x="4956508" y="931636"/>
            <a:ext cx="635965" cy="52863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5788A-54DB-830D-C7C2-4935E98865A9}"/>
              </a:ext>
            </a:extLst>
          </p:cNvPr>
          <p:cNvSpPr txBox="1"/>
          <p:nvPr/>
        </p:nvSpPr>
        <p:spPr>
          <a:xfrm>
            <a:off x="5036775" y="498232"/>
            <a:ext cx="369288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relevance of </a:t>
            </a:r>
            <a:r>
              <a:rPr lang="en-US" dirty="0" err="1"/>
              <a:t>i-th</a:t>
            </a:r>
            <a:r>
              <a:rPr lang="en-US" dirty="0"/>
              <a:t> candidate to query</a:t>
            </a:r>
          </a:p>
        </p:txBody>
      </p:sp>
    </p:spTree>
    <p:extLst>
      <p:ext uri="{BB962C8B-B14F-4D97-AF65-F5344CB8AC3E}">
        <p14:creationId xmlns:p14="http://schemas.microsoft.com/office/powerpoint/2010/main" val="766135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E706-EE57-D07F-4BE8-3FCD3567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EA29-D71A-0517-768A-3745F217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LUMEN=</a:t>
            </a:r>
            <a:r>
              <a:rPr lang="en-US" dirty="0" err="1"/>
              <a:t>FiD</a:t>
            </a:r>
            <a:r>
              <a:rPr lang="en-US" dirty="0"/>
              <a:t> with caching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1B2BF6-734C-54EC-89B4-0BB2D5D6F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87" y="1275172"/>
            <a:ext cx="7530070" cy="2459288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926C25F4-EDE8-D689-E6D9-ECEDD96C7619}"/>
              </a:ext>
            </a:extLst>
          </p:cNvPr>
          <p:cNvSpPr/>
          <p:nvPr/>
        </p:nvSpPr>
        <p:spPr>
          <a:xfrm rot="5400000">
            <a:off x="5733535" y="3653178"/>
            <a:ext cx="358346" cy="8773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5F4E1-2381-A0D4-F949-E2FDE96B63EF}"/>
              </a:ext>
            </a:extLst>
          </p:cNvPr>
          <p:cNvSpPr txBox="1"/>
          <p:nvPr/>
        </p:nvSpPr>
        <p:spPr>
          <a:xfrm>
            <a:off x="4083908" y="4376189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Similar to cross-encoding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DB060-296D-C44C-3A80-3A18A62FB3EB}"/>
              </a:ext>
            </a:extLst>
          </p:cNvPr>
          <p:cNvSpPr txBox="1"/>
          <p:nvPr/>
        </p:nvSpPr>
        <p:spPr>
          <a:xfrm>
            <a:off x="4083908" y="4850694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Except for using LUMEN’s trick of pre-computing the first few layers of the encodings independently </a:t>
            </a:r>
          </a:p>
        </p:txBody>
      </p:sp>
    </p:spTree>
    <p:extLst>
      <p:ext uri="{BB962C8B-B14F-4D97-AF65-F5344CB8AC3E}">
        <p14:creationId xmlns:p14="http://schemas.microsoft.com/office/powerpoint/2010/main" val="193963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9F20-055E-BA9C-49C7-96903FB2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53322-E984-9DD7-EAD6-5F2A0BC0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48C28-BCEC-F174-B925-F5A35689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2" y="1274376"/>
            <a:ext cx="8633876" cy="31617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80A1068F-38EC-9F38-4F42-930E2E07A31D}"/>
              </a:ext>
            </a:extLst>
          </p:cNvPr>
          <p:cNvSpPr/>
          <p:nvPr/>
        </p:nvSpPr>
        <p:spPr>
          <a:xfrm>
            <a:off x="5547360" y="4436076"/>
            <a:ext cx="2743200" cy="776004"/>
          </a:xfrm>
          <a:prstGeom prst="wedgeRoundRectCallout">
            <a:avLst>
              <a:gd name="adj1" fmla="val -31330"/>
              <a:gd name="adj2" fmla="val -132600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Trained with “perplexity distillation loss”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B2A7A-9223-8144-750D-017E1E868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81" y="4776263"/>
            <a:ext cx="4406900" cy="901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233324-2077-548E-A150-12620AF737A6}"/>
              </a:ext>
            </a:extLst>
          </p:cNvPr>
          <p:cNvSpPr txBox="1"/>
          <p:nvPr/>
        </p:nvSpPr>
        <p:spPr>
          <a:xfrm>
            <a:off x="1402581" y="5677963"/>
            <a:ext cx="3291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log </a:t>
            </a:r>
            <a:r>
              <a:rPr lang="en-US" i="1" dirty="0" err="1"/>
              <a:t>p</a:t>
            </a:r>
            <a:r>
              <a:rPr lang="en-US" i="1" baseline="-25000" dirty="0" err="1"/>
              <a:t>LM</a:t>
            </a:r>
            <a:r>
              <a:rPr lang="en-US" i="1" dirty="0"/>
              <a:t> = </a:t>
            </a:r>
            <a:r>
              <a:rPr lang="en-US" dirty="0"/>
              <a:t>perplexity of answer </a:t>
            </a:r>
            <a:r>
              <a:rPr lang="en-US" i="1" dirty="0"/>
              <a:t>a </a:t>
            </a:r>
            <a:r>
              <a:rPr lang="en-US" dirty="0"/>
              <a:t>for a decoder using only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i="1" dirty="0"/>
              <a:t>,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943D7-6A6A-233C-F242-A9C60EAF723F}"/>
              </a:ext>
            </a:extLst>
          </p:cNvPr>
          <p:cNvSpPr txBox="1"/>
          <p:nvPr/>
        </p:nvSpPr>
        <p:spPr>
          <a:xfrm>
            <a:off x="-198119" y="6381234"/>
            <a:ext cx="934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 to reduce KL between predicted scores and </a:t>
            </a:r>
            <a:r>
              <a:rPr lang="en-US" i="1" dirty="0"/>
              <a:t>p</a:t>
            </a:r>
            <a:r>
              <a:rPr lang="en-US" i="1" baseline="-25000" dirty="0"/>
              <a:t>k</a:t>
            </a:r>
            <a:r>
              <a:rPr lang="en-US" dirty="0"/>
              <a:t> – w a temperature in the </a:t>
            </a:r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FA6E66-523F-357A-7ACB-010E0E75AF8F}"/>
              </a:ext>
            </a:extLst>
          </p:cNvPr>
          <p:cNvSpPr/>
          <p:nvPr/>
        </p:nvSpPr>
        <p:spPr>
          <a:xfrm>
            <a:off x="4953000" y="1274376"/>
            <a:ext cx="2133600" cy="26727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0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2761E-4AD9-49B3-607F-434709EA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CDCB-76B2-7585-CA08-1895FD34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BEF92-9368-4F17-04A1-96C337E9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2" y="1274376"/>
            <a:ext cx="8633876" cy="31617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E68B77F-9A4C-76F3-A05A-A8B9FC012156}"/>
              </a:ext>
            </a:extLst>
          </p:cNvPr>
          <p:cNvSpPr/>
          <p:nvPr/>
        </p:nvSpPr>
        <p:spPr>
          <a:xfrm>
            <a:off x="4015740" y="4761282"/>
            <a:ext cx="1874520" cy="1644684"/>
          </a:xfrm>
          <a:prstGeom prst="wedgeRoundRectCallout">
            <a:avLst>
              <a:gd name="adj1" fmla="val 55662"/>
              <a:gd name="adj2" fmla="val -12148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Trained with “perplexity distillation loss”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2FF972-F714-9212-CAB2-2F1EDC88D6CA}"/>
              </a:ext>
            </a:extLst>
          </p:cNvPr>
          <p:cNvSpPr/>
          <p:nvPr/>
        </p:nvSpPr>
        <p:spPr>
          <a:xfrm>
            <a:off x="4953000" y="1274376"/>
            <a:ext cx="2133600" cy="267278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C7B47EC5-F2B9-A929-9521-5F049DA1DFF8}"/>
              </a:ext>
            </a:extLst>
          </p:cNvPr>
          <p:cNvSpPr/>
          <p:nvPr/>
        </p:nvSpPr>
        <p:spPr>
          <a:xfrm>
            <a:off x="6667500" y="4761282"/>
            <a:ext cx="1874520" cy="1644684"/>
          </a:xfrm>
          <a:prstGeom prst="wedgeRoundRectCallout">
            <a:avLst>
              <a:gd name="adj1" fmla="val -49216"/>
              <a:gd name="adj2" fmla="val -11962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Only the top few documents are presented to the decoder</a:t>
            </a:r>
          </a:p>
        </p:txBody>
      </p:sp>
    </p:spTree>
    <p:extLst>
      <p:ext uri="{BB962C8B-B14F-4D97-AF65-F5344CB8AC3E}">
        <p14:creationId xmlns:p14="http://schemas.microsoft.com/office/powerpoint/2010/main" val="89563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84E8-2AC4-D30A-33BB-5C20299A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6491-313B-0F2F-3EF8-C6FF17F2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E398C-9788-CA34-A0D1-FC153EAC09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777"/>
          <a:stretch/>
        </p:blipFill>
        <p:spPr>
          <a:xfrm>
            <a:off x="152400" y="1350751"/>
            <a:ext cx="8584010" cy="25981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BF7186-90F3-DEBB-CA91-D9FBEA6C4CA4}"/>
              </a:ext>
            </a:extLst>
          </p:cNvPr>
          <p:cNvSpPr txBox="1"/>
          <p:nvPr/>
        </p:nvSpPr>
        <p:spPr>
          <a:xfrm>
            <a:off x="2407920" y="3931920"/>
            <a:ext cx="17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top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B273E-9561-9A52-0171-A2088CBBABA5}"/>
              </a:ext>
            </a:extLst>
          </p:cNvPr>
          <p:cNvSpPr txBox="1"/>
          <p:nvPr/>
        </p:nvSpPr>
        <p:spPr>
          <a:xfrm>
            <a:off x="5715000" y="3948946"/>
            <a:ext cx="172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 25 retrieved</a:t>
            </a:r>
          </a:p>
        </p:txBody>
      </p:sp>
    </p:spTree>
    <p:extLst>
      <p:ext uri="{BB962C8B-B14F-4D97-AF65-F5344CB8AC3E}">
        <p14:creationId xmlns:p14="http://schemas.microsoft.com/office/powerpoint/2010/main" val="2620971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2864-8C7B-9EE0-ED76-9CD62F38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47AC-E867-E40E-4D74-AF37CF2A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GLIMMER=LUMEN with reranking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0DB0-2BDD-1EE3-1624-82A01234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77" y="1515102"/>
            <a:ext cx="8775524" cy="4321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EE098-1371-D160-2169-870200DAE084}"/>
              </a:ext>
            </a:extLst>
          </p:cNvPr>
          <p:cNvSpPr txBox="1"/>
          <p:nvPr/>
        </p:nvSpPr>
        <p:spPr>
          <a:xfrm>
            <a:off x="1615439" y="5959388"/>
            <a:ext cx="635882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Average performance on multiple tasks from the KILT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CE7C8-25E5-241D-720D-E835E6C32254}"/>
              </a:ext>
            </a:extLst>
          </p:cNvPr>
          <p:cNvSpPr txBox="1"/>
          <p:nvPr/>
        </p:nvSpPr>
        <p:spPr>
          <a:xfrm>
            <a:off x="1615439" y="6451188"/>
            <a:ext cx="635882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Retrieve 25 passages, </a:t>
            </a:r>
            <a:r>
              <a:rPr lang="en-US" dirty="0" err="1"/>
              <a:t>rerank</a:t>
            </a:r>
            <a:r>
              <a:rPr lang="en-US" dirty="0"/>
              <a:t>, and decode with top 5</a:t>
            </a:r>
          </a:p>
        </p:txBody>
      </p:sp>
    </p:spTree>
    <p:extLst>
      <p:ext uri="{BB962C8B-B14F-4D97-AF65-F5344CB8AC3E}">
        <p14:creationId xmlns:p14="http://schemas.microsoft.com/office/powerpoint/2010/main" val="146973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CE49-A945-151B-4AA8-EEC093ED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7E92-8A7C-8CB2-59FF-32364159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6A40-F4DF-B145-619E-4E1A7E09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>
                <a:solidFill>
                  <a:srgbClr val="0070C0"/>
                </a:solidFill>
              </a:rPr>
              <a:t>Decoder-only systems related to RAG/</a:t>
            </a:r>
            <a:r>
              <a:rPr lang="en-US" dirty="0" err="1">
                <a:solidFill>
                  <a:srgbClr val="0070C0"/>
                </a:solidFill>
              </a:rPr>
              <a:t>FiD</a:t>
            </a:r>
            <a:r>
              <a:rPr lang="en-US" dirty="0">
                <a:solidFill>
                  <a:srgbClr val="0070C0"/>
                </a:solidFill>
              </a:rPr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/>
              <a:t>Branch-train-merge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775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8A72-4DDD-9F58-95F3-83D7AF17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FiD</a:t>
            </a:r>
            <a:r>
              <a:rPr lang="en-US" dirty="0"/>
              <a:t>” WITH DECODER-ONLY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0EF5-A5C6-5C27-028A-BD676A49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60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7BD5-7312-8C82-D8F9-8E796318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ideas in </a:t>
            </a:r>
            <a:r>
              <a:rPr lang="en-US" dirty="0" err="1"/>
              <a:t>FiD</a:t>
            </a:r>
            <a:r>
              <a:rPr lang="en-US" dirty="0"/>
              <a:t> and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692D-7A4D-B007-A6E0-6230B8F96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650946" cy="478515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encoder</a:t>
            </a:r>
          </a:p>
          <a:p>
            <a:pPr lvl="1"/>
            <a:r>
              <a:rPr lang="en-US" dirty="0"/>
              <a:t>cross-encoder q+p1, q+p2, … </a:t>
            </a:r>
            <a:r>
              <a:rPr lang="en-US" b="1" u="sng" dirty="0"/>
              <a:t>separately</a:t>
            </a:r>
          </a:p>
          <a:p>
            <a:pPr lvl="2"/>
            <a:r>
              <a:rPr lang="en-US" dirty="0"/>
              <a:t>restricting cross-attention</a:t>
            </a:r>
            <a:endParaRPr lang="en-US" b="1" u="sng" dirty="0"/>
          </a:p>
          <a:p>
            <a:r>
              <a:rPr lang="en-US" dirty="0"/>
              <a:t>In decoder</a:t>
            </a:r>
          </a:p>
          <a:p>
            <a:pPr lvl="1"/>
            <a:r>
              <a:rPr lang="en-US" dirty="0"/>
              <a:t>attend to everything as you generate</a:t>
            </a:r>
          </a:p>
          <a:p>
            <a:r>
              <a:rPr lang="en-US" dirty="0"/>
              <a:t>Extensions</a:t>
            </a:r>
          </a:p>
          <a:p>
            <a:pPr lvl="1"/>
            <a:r>
              <a:rPr lang="en-US" dirty="0" err="1"/>
              <a:t>FiDO</a:t>
            </a:r>
            <a:r>
              <a:rPr lang="en-US" dirty="0"/>
              <a:t>: optimize performance to avoid decoder bottlenecks</a:t>
            </a:r>
          </a:p>
          <a:p>
            <a:pPr lvl="1"/>
            <a:r>
              <a:rPr lang="en-US" dirty="0"/>
              <a:t>LUMEN: pre-compute encoder outputs</a:t>
            </a:r>
          </a:p>
          <a:p>
            <a:pPr lvl="1"/>
            <a:r>
              <a:rPr lang="en-US" dirty="0"/>
              <a:t>GLIMMER: add reranking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D0B30B-732B-1D9E-30D5-C59267546C8A}"/>
              </a:ext>
            </a:extLst>
          </p:cNvPr>
          <p:cNvSpPr txBox="1"/>
          <p:nvPr/>
        </p:nvSpPr>
        <p:spPr>
          <a:xfrm>
            <a:off x="5263975" y="3331859"/>
            <a:ext cx="3664125" cy="1015663"/>
          </a:xfrm>
          <a:prstGeom prst="rect">
            <a:avLst/>
          </a:prstGeom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FlashAttention</a:t>
            </a:r>
            <a:r>
              <a:rPr lang="en-US" sz="2000" dirty="0"/>
              <a:t> (2023) and </a:t>
            </a:r>
            <a:r>
              <a:rPr lang="en-US" sz="2000" dirty="0" err="1"/>
              <a:t>FlexAttention</a:t>
            </a:r>
            <a:r>
              <a:rPr lang="en-US" sz="2000" dirty="0"/>
              <a:t> (2024)—also improve decoder bottlenecks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DB3EE-7DE6-2838-E374-8BD1BA8C4EA5}"/>
              </a:ext>
            </a:extLst>
          </p:cNvPr>
          <p:cNvSpPr txBox="1"/>
          <p:nvPr/>
        </p:nvSpPr>
        <p:spPr>
          <a:xfrm>
            <a:off x="5070389" y="1907059"/>
            <a:ext cx="3794211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Parallel Context Windows (PCW) - 2023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552AC-01F2-FE4E-3E81-FB01AD33EF06}"/>
              </a:ext>
            </a:extLst>
          </p:cNvPr>
          <p:cNvSpPr txBox="1"/>
          <p:nvPr/>
        </p:nvSpPr>
        <p:spPr>
          <a:xfrm>
            <a:off x="5263977" y="4501410"/>
            <a:ext cx="315097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TurboRAG</a:t>
            </a:r>
            <a:r>
              <a:rPr lang="en-US" sz="2000" dirty="0"/>
              <a:t>, </a:t>
            </a:r>
            <a:r>
              <a:rPr lang="en-US" sz="2000" dirty="0" err="1"/>
              <a:t>Blockwise</a:t>
            </a:r>
            <a:r>
              <a:rPr lang="en-US" sz="2000" dirty="0"/>
              <a:t> Sparse Attention - 2024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C80742-CE27-0E4A-BC03-A84B90AA5722}"/>
              </a:ext>
            </a:extLst>
          </p:cNvPr>
          <p:cNvSpPr txBox="1"/>
          <p:nvPr/>
        </p:nvSpPr>
        <p:spPr>
          <a:xfrm>
            <a:off x="5263976" y="5209296"/>
            <a:ext cx="315097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Dynamic </a:t>
            </a:r>
            <a:r>
              <a:rPr lang="en-US" sz="2000" dirty="0" err="1"/>
              <a:t>Blockwise</a:t>
            </a:r>
            <a:r>
              <a:rPr lang="en-US" sz="2000" dirty="0"/>
              <a:t> Sparse Attention - 2025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31CD1-65A5-9779-98DB-9232483BA9EE}"/>
              </a:ext>
            </a:extLst>
          </p:cNvPr>
          <p:cNvSpPr txBox="1"/>
          <p:nvPr/>
        </p:nvSpPr>
        <p:spPr>
          <a:xfrm>
            <a:off x="4930347" y="1096962"/>
            <a:ext cx="3934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Analog for decoder-only LLMs</a:t>
            </a:r>
          </a:p>
        </p:txBody>
      </p:sp>
    </p:spTree>
    <p:extLst>
      <p:ext uri="{BB962C8B-B14F-4D97-AF65-F5344CB8AC3E}">
        <p14:creationId xmlns:p14="http://schemas.microsoft.com/office/powerpoint/2010/main" val="35338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9560A-25C9-FD0B-10D7-213E65D4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2589"/>
            <a:ext cx="7772400" cy="1695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11971E-30D1-A6C0-6108-6C727BFEAB22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FB511-B23B-CA5B-ACE5-6927632BC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687" y="2126821"/>
            <a:ext cx="4940300" cy="4478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33E8A6-5599-1B81-9639-D23051631CA4}"/>
              </a:ext>
            </a:extLst>
          </p:cNvPr>
          <p:cNvSpPr txBox="1"/>
          <p:nvPr/>
        </p:nvSpPr>
        <p:spPr>
          <a:xfrm>
            <a:off x="414338" y="2126821"/>
            <a:ext cx="36893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test input for ICL,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 believe also output tokens are task tokens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cross-attend within a context window, and cross-attend between task tokens and all context windows.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7C8D1-1AB6-57D9-A118-CFB31415CEA0}"/>
              </a:ext>
            </a:extLst>
          </p:cNvPr>
          <p:cNvSpPr txBox="1"/>
          <p:nvPr/>
        </p:nvSpPr>
        <p:spPr>
          <a:xfrm>
            <a:off x="414338" y="5715000"/>
            <a:ext cx="368934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Very similar to </a:t>
            </a:r>
            <a:r>
              <a:rPr lang="en-US" dirty="0" err="1"/>
              <a:t>FiD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question/answer are task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post-training required</a:t>
            </a:r>
          </a:p>
        </p:txBody>
      </p:sp>
    </p:spTree>
    <p:extLst>
      <p:ext uri="{BB962C8B-B14F-4D97-AF65-F5344CB8AC3E}">
        <p14:creationId xmlns:p14="http://schemas.microsoft.com/office/powerpoint/2010/main" val="239658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D478-44D1-C504-8888-2FD5F97C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38362-E80E-4D37-BAFC-DEE7E484A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2589"/>
            <a:ext cx="7772400" cy="16950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B0BD2C-8A6E-9447-614A-7E30E712139A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2199B-41EB-D75F-1082-B1FA9D5A75BF}"/>
              </a:ext>
            </a:extLst>
          </p:cNvPr>
          <p:cNvSpPr txBox="1"/>
          <p:nvPr/>
        </p:nvSpPr>
        <p:spPr>
          <a:xfrm>
            <a:off x="414338" y="2126821"/>
            <a:ext cx="36893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test input for ICL, 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 believe also output tokens are task tokens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cross-attend within a context window, and cross-attend between task tokens and all context windows.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0774C-55F5-B781-BFFB-2F76FA3A42CD}"/>
              </a:ext>
            </a:extLst>
          </p:cNvPr>
          <p:cNvSpPr txBox="1"/>
          <p:nvPr/>
        </p:nvSpPr>
        <p:spPr>
          <a:xfrm>
            <a:off x="414338" y="5715000"/>
            <a:ext cx="368934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Very similar to </a:t>
            </a:r>
            <a:r>
              <a:rPr lang="en-US" dirty="0" err="1"/>
              <a:t>FiD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question/answer are task tokens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618AD-818A-6221-8DC6-E4898CC4630A}"/>
              </a:ext>
            </a:extLst>
          </p:cNvPr>
          <p:cNvSpPr txBox="1"/>
          <p:nvPr/>
        </p:nvSpPr>
        <p:spPr>
          <a:xfrm>
            <a:off x="4572000" y="2286000"/>
            <a:ext cx="405765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results for NQ (vs conventional RAG system) and ICL (especially classification with many classes)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FBC5B-1907-2946-C181-AFFB65EB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079" y="3338158"/>
            <a:ext cx="3275748" cy="2204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595B00-821F-B14A-4BE1-1A9154DDE4FE}"/>
              </a:ext>
            </a:extLst>
          </p:cNvPr>
          <p:cNvSpPr txBox="1"/>
          <p:nvPr/>
        </p:nvSpPr>
        <p:spPr>
          <a:xfrm>
            <a:off x="4571999" y="5665620"/>
            <a:ext cx="431482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Implemented with attention masks rather than parallel generation of keys and values</a:t>
            </a:r>
          </a:p>
        </p:txBody>
      </p:sp>
    </p:spTree>
    <p:extLst>
      <p:ext uri="{BB962C8B-B14F-4D97-AF65-F5344CB8AC3E}">
        <p14:creationId xmlns:p14="http://schemas.microsoft.com/office/powerpoint/2010/main" val="4150417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8ABE09-35F8-A5FE-59E7-19E8F6A9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474"/>
            <a:ext cx="7772400" cy="19730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BB6F91-9FE3-344C-2218-6B75E4A2F584}"/>
              </a:ext>
            </a:extLst>
          </p:cNvPr>
          <p:cNvSpPr txBox="1"/>
          <p:nvPr/>
        </p:nvSpPr>
        <p:spPr>
          <a:xfrm>
            <a:off x="7372350" y="164306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72065-801F-4B60-B3FA-AA4D6ABD5CE0}"/>
              </a:ext>
            </a:extLst>
          </p:cNvPr>
          <p:cNvSpPr txBox="1"/>
          <p:nvPr/>
        </p:nvSpPr>
        <p:spPr>
          <a:xfrm>
            <a:off x="685800" y="2484009"/>
            <a:ext cx="81581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tokens</a:t>
            </a:r>
            <a:r>
              <a:rPr lang="en-US" dirty="0"/>
              <a:t>: retrieved document(s) for RAG, </a:t>
            </a:r>
            <a:r>
              <a:rPr lang="en-US" strike="sngStrike" dirty="0"/>
              <a:t>in-context examples,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tokens:  </a:t>
            </a:r>
            <a:r>
              <a:rPr lang="en-US" dirty="0"/>
              <a:t>question for RAG, </a:t>
            </a:r>
            <a:r>
              <a:rPr lang="en-US" strike="sngStrike" dirty="0"/>
              <a:t>test input for ICL, …</a:t>
            </a:r>
          </a:p>
          <a:p>
            <a:endParaRPr lang="en-US" dirty="0"/>
          </a:p>
          <a:p>
            <a:r>
              <a:rPr lang="en-US" b="1" dirty="0"/>
              <a:t>Key idea</a:t>
            </a:r>
            <a:r>
              <a:rPr lang="en-US" dirty="0"/>
              <a:t>: same as PCW </a:t>
            </a:r>
            <a:r>
              <a:rPr lang="en-US" b="1" dirty="0"/>
              <a:t>except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the independently-produced KV pairs of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KV pairs for relevant docs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fine-tune for a short time (100-1000 steps)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29F4C-08E7-EDF6-B7B4-C0348B8CD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2" y="4769792"/>
            <a:ext cx="8746029" cy="1831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A7854-1BA8-CEEB-E457-0528589742AB}"/>
              </a:ext>
            </a:extLst>
          </p:cNvPr>
          <p:cNvSpPr txBox="1"/>
          <p:nvPr/>
        </p:nvSpPr>
        <p:spPr>
          <a:xfrm>
            <a:off x="5214937" y="3996232"/>
            <a:ext cx="324326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TTFT = Time To First Token</a:t>
            </a:r>
          </a:p>
          <a:p>
            <a:r>
              <a:rPr lang="en-US" dirty="0"/>
              <a:t>FLOPS also for first token</a:t>
            </a:r>
          </a:p>
        </p:txBody>
      </p:sp>
    </p:spTree>
    <p:extLst>
      <p:ext uri="{BB962C8B-B14F-4D97-AF65-F5344CB8AC3E}">
        <p14:creationId xmlns:p14="http://schemas.microsoft.com/office/powerpoint/2010/main" val="67021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91FC0B-F249-BEB3-A46A-2B7CBEB33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773"/>
            <a:ext cx="7772400" cy="2512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09776D-DDC7-AE51-6C53-2718C06C8BBF}"/>
              </a:ext>
            </a:extLst>
          </p:cNvPr>
          <p:cNvSpPr txBox="1"/>
          <p:nvPr/>
        </p:nvSpPr>
        <p:spPr>
          <a:xfrm>
            <a:off x="7472362" y="1030843"/>
            <a:ext cx="985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C4CE3-2945-8250-D615-B242B7F51EDC}"/>
              </a:ext>
            </a:extLst>
          </p:cNvPr>
          <p:cNvSpPr txBox="1"/>
          <p:nvPr/>
        </p:nvSpPr>
        <p:spPr>
          <a:xfrm>
            <a:off x="685801" y="2484009"/>
            <a:ext cx="4686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idea</a:t>
            </a:r>
            <a:r>
              <a:rPr lang="en-US" dirty="0"/>
              <a:t>: same as Block-Attention </a:t>
            </a:r>
            <a:r>
              <a:rPr lang="en-US" b="1" dirty="0"/>
              <a:t>except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experiments are on ICL instead of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the independently-produced KV pairs of the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 addition of KV pairs computed for retrieved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retrieve ICL examples with BM25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fine-tuning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clever use of </a:t>
            </a:r>
            <a:r>
              <a:rPr lang="en-US" dirty="0" err="1"/>
              <a:t>StreamingLLM</a:t>
            </a:r>
            <a:r>
              <a:rPr lang="en-US" dirty="0"/>
              <a:t> trick of “attention sink”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don’t mess with position encodings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9DD01-EAB7-7375-8D73-0F55729A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38" r="48983" b="7094"/>
          <a:stretch/>
        </p:blipFill>
        <p:spPr>
          <a:xfrm>
            <a:off x="5123657" y="2287245"/>
            <a:ext cx="3582988" cy="31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75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4457-CAF5-45C5-B5A0-BB74AC8F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DD8D-47EB-E410-710C-056262491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Baseline: many-shot learning</a:t>
            </a:r>
          </a:p>
          <a:p>
            <a:r>
              <a:rPr lang="en-US" dirty="0"/>
              <a:t>Given </a:t>
            </a:r>
            <a:r>
              <a:rPr lang="en-US" i="1" dirty="0"/>
              <a:t>n</a:t>
            </a:r>
            <a:r>
              <a:rPr lang="en-US" dirty="0"/>
              <a:t> ICL examples</a:t>
            </a:r>
          </a:p>
          <a:p>
            <a:pPr lvl="1"/>
            <a:r>
              <a:rPr lang="en-US" dirty="0"/>
              <a:t>encode </a:t>
            </a:r>
            <a:r>
              <a:rPr lang="en-US" i="1" dirty="0"/>
              <a:t>n/k </a:t>
            </a:r>
            <a:r>
              <a:rPr lang="en-US" dirty="0"/>
              <a:t>blocks of ICL examples containing</a:t>
            </a:r>
          </a:p>
          <a:p>
            <a:pPr lvl="2"/>
            <a:r>
              <a:rPr lang="en-US" i="1" dirty="0"/>
              <a:t>k </a:t>
            </a:r>
            <a:r>
              <a:rPr lang="en-US" dirty="0"/>
              <a:t>demonstrations</a:t>
            </a:r>
          </a:p>
          <a:p>
            <a:pPr lvl="2"/>
            <a:r>
              <a:rPr lang="en-US" dirty="0"/>
              <a:t>a shared “anchor block”</a:t>
            </a:r>
          </a:p>
          <a:p>
            <a:pPr lvl="1"/>
            <a:r>
              <a:rPr lang="en-US" dirty="0"/>
              <a:t>load all blocks into a KV cache</a:t>
            </a:r>
          </a:p>
          <a:p>
            <a:pPr lvl="1"/>
            <a:r>
              <a:rPr lang="en-US" dirty="0"/>
              <a:t>add the usual positional encoding features</a:t>
            </a:r>
          </a:p>
          <a:p>
            <a:r>
              <a:rPr lang="en-US" dirty="0"/>
              <a:t>Implemented with </a:t>
            </a:r>
            <a:r>
              <a:rPr lang="en-US" dirty="0" err="1"/>
              <a:t>FlexAttention</a:t>
            </a:r>
            <a:endParaRPr lang="en-US" dirty="0"/>
          </a:p>
          <a:p>
            <a:pPr lvl="1"/>
            <a:r>
              <a:rPr lang="en-US" dirty="0"/>
              <a:t>Doesn’t actually encode the masked blocks </a:t>
            </a:r>
          </a:p>
          <a:p>
            <a:pPr lvl="1"/>
            <a:endParaRPr lang="en-US" dirty="0"/>
          </a:p>
          <a:p>
            <a:r>
              <a:rPr lang="en-US" dirty="0"/>
              <a:t>50 examples/block, 30k and 90k training examples for classification tasks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284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4EFB-4B0B-96B6-189C-F36A0DD6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E528-9EEA-5C6C-1A3A-1C2929C9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571A-7C17-E9DA-3C01-7DC96A63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2"/>
            <a:ext cx="8350250" cy="29003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Dynamic</a:t>
            </a:r>
            <a:r>
              <a:rPr lang="en-US" dirty="0"/>
              <a:t> example selection</a:t>
            </a:r>
          </a:p>
          <a:p>
            <a:r>
              <a:rPr lang="en-US" dirty="0"/>
              <a:t>Given a query </a:t>
            </a:r>
            <a:r>
              <a:rPr lang="en-US" i="1" dirty="0"/>
              <a:t>q*</a:t>
            </a:r>
          </a:p>
          <a:p>
            <a:pPr lvl="1"/>
            <a:r>
              <a:rPr lang="en-US" dirty="0"/>
              <a:t>retrieve </a:t>
            </a:r>
            <a:r>
              <a:rPr lang="en-US" i="1" dirty="0"/>
              <a:t>m&lt;n</a:t>
            </a:r>
            <a:r>
              <a:rPr lang="en-US" dirty="0"/>
              <a:t>  encoded blocks (with BM25)</a:t>
            </a:r>
          </a:p>
          <a:p>
            <a:pPr lvl="1"/>
            <a:r>
              <a:rPr lang="en-US" dirty="0"/>
              <a:t>load retrieved blocks and anchor block into a KV cache and add positional encoding</a:t>
            </a:r>
          </a:p>
          <a:p>
            <a:pPr lvl="1"/>
            <a:endParaRPr lang="en-US" dirty="0"/>
          </a:p>
          <a:p>
            <a:r>
              <a:rPr lang="en-US" dirty="0"/>
              <a:t>retrieve 30% of the available training examples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427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548-E955-5441-40BB-F33A43B1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0F536-AF18-0853-9AE5-4C6C25E2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8951"/>
            <a:ext cx="7772400" cy="4414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53B22E-B663-1AAD-F233-49362FF4555E}"/>
              </a:ext>
            </a:extLst>
          </p:cNvPr>
          <p:cNvSpPr txBox="1"/>
          <p:nvPr/>
        </p:nvSpPr>
        <p:spPr>
          <a:xfrm>
            <a:off x="2814638" y="6200775"/>
            <a:ext cx="4800600" cy="382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latency including set-up time</a:t>
            </a:r>
          </a:p>
        </p:txBody>
      </p:sp>
    </p:spTree>
    <p:extLst>
      <p:ext uri="{BB962C8B-B14F-4D97-AF65-F5344CB8AC3E}">
        <p14:creationId xmlns:p14="http://schemas.microsoft.com/office/powerpoint/2010/main" val="1459870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DF6F5-443B-3ADA-D836-3A5F6331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D108-AA86-C992-543C-57F71C6C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DBSA: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2EBCD-B869-1377-1BF3-307ECA09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18" y="1181100"/>
            <a:ext cx="6786563" cy="514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34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5892-A82F-4E8C-0D81-22DABFBE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AECAC-DC7B-6B06-0BAE-7267C615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589B-39B3-E8FF-73D8-FB9825332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>
                <a:solidFill>
                  <a:srgbClr val="0070C0"/>
                </a:solidFill>
              </a:rPr>
              <a:t>Decoder-only systems related to RAG/</a:t>
            </a:r>
            <a:r>
              <a:rPr lang="en-US" dirty="0" err="1">
                <a:solidFill>
                  <a:srgbClr val="0070C0"/>
                </a:solidFill>
              </a:rPr>
              <a:t>FiD</a:t>
            </a:r>
            <a:r>
              <a:rPr lang="en-US" dirty="0">
                <a:solidFill>
                  <a:srgbClr val="0070C0"/>
                </a:solidFill>
              </a:rPr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Branch-train-merge</a:t>
            </a:r>
            <a:r>
              <a:rPr lang="en-US" sz="2600" dirty="0"/>
              <a:t>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0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4C35-2459-5996-6BBA-C12349A1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C2E7-8190-B48F-50C4-C1114F9B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RAG/</a:t>
            </a:r>
            <a:r>
              <a:rPr lang="en-US" dirty="0" err="1"/>
              <a:t>FiD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3160-2CB1-9B3F-958C-8EC8CF2E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Recent history (going 3-4 years back)</a:t>
            </a:r>
          </a:p>
          <a:p>
            <a:pPr lvl="1"/>
            <a:r>
              <a:rPr lang="en-US" sz="2400" dirty="0"/>
              <a:t>(Mostly) modular retrieval, reranking, generation augmented by retrieved context</a:t>
            </a:r>
          </a:p>
          <a:p>
            <a:pPr lvl="1"/>
            <a:r>
              <a:rPr lang="en-US" sz="2400" dirty="0"/>
              <a:t>then closer integration of the components in LLM systems</a:t>
            </a:r>
          </a:p>
          <a:p>
            <a:pPr lvl="2"/>
            <a:r>
              <a:rPr lang="en-US" sz="2400" dirty="0"/>
              <a:t>mainly for better </a:t>
            </a:r>
            <a:r>
              <a:rPr lang="en-US" sz="2400" u="sng" dirty="0"/>
              <a:t>efficiency</a:t>
            </a:r>
          </a:p>
          <a:p>
            <a:pPr lvl="2"/>
            <a:r>
              <a:rPr lang="en-US" sz="2400" u="sng" dirty="0"/>
              <a:t>secondarily</a:t>
            </a:r>
            <a:r>
              <a:rPr lang="en-US" sz="2400" dirty="0"/>
              <a:t> for better outputs</a:t>
            </a:r>
          </a:p>
          <a:p>
            <a:r>
              <a:rPr lang="en-US" sz="2400" dirty="0"/>
              <a:t>Current work</a:t>
            </a:r>
          </a:p>
          <a:p>
            <a:pPr lvl="1"/>
            <a:r>
              <a:rPr lang="en-US" sz="2400" dirty="0"/>
              <a:t>integration of similar ideas into decoder-only LLM</a:t>
            </a:r>
          </a:p>
          <a:p>
            <a:pPr lvl="2"/>
            <a:r>
              <a:rPr lang="en-US" sz="2400" dirty="0"/>
              <a:t>use of key-value caching</a:t>
            </a:r>
          </a:p>
          <a:p>
            <a:pPr lvl="2"/>
            <a:r>
              <a:rPr lang="en-US" sz="2400" dirty="0"/>
              <a:t>use of fast flexible restricted attention schemes</a:t>
            </a:r>
          </a:p>
          <a:p>
            <a:pPr lvl="2"/>
            <a:r>
              <a:rPr lang="en-US" sz="2400" dirty="0"/>
              <a:t>still active area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78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02E1-3995-4D9C-A447-745CE6EA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8EEB-5CBE-9559-3F8D-73A6BA6F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BA35-29D7-6632-16B8-2F3798C7E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/>
              <a:t>Decoder-only systems related to RAG/</a:t>
            </a:r>
            <a:r>
              <a:rPr lang="en-US" dirty="0" err="1"/>
              <a:t>FiD</a:t>
            </a:r>
            <a:r>
              <a:rPr lang="en-US" dirty="0"/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Branch-train-merge</a:t>
            </a:r>
            <a:r>
              <a:rPr lang="en-US" sz="2600" dirty="0"/>
              <a:t> and -mix: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545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112C-D88B-83F7-F4A7-0B8FBFD8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Branch-Train-Merge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C3214-E3FC-CBFB-C5F6-5B2EB7698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80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0E15-0A6A-3011-4702-EB4F69E8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18C5-4185-E38E-7512-F8D0C76F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2ED5-9B8C-7A54-3A9C-C78E3DAA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F399-7183-4559-4761-788C043F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6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35FE-2755-D5B3-0993-8E6E7B60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C2CA-04CF-A4BB-42E5-D55D9174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Comparing synchronization approaches for perceptron 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6DA6C-5B26-3B12-3837-A78EA640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7" name="Picture 6" descr="Screen Shot 2012-02-06 at 2.22.28 PM.png">
            <a:extLst>
              <a:ext uri="{FF2B5EF4-FFF2-40B4-BE49-F238E27FC236}">
                <a16:creationId xmlns:a16="http://schemas.microsoft.com/office/drawing/2014/main" id="{4F2E1F9A-E363-8FE0-B7C3-CCEF84213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33460"/>
          <a:stretch/>
        </p:blipFill>
        <p:spPr>
          <a:xfrm>
            <a:off x="-1" y="1479571"/>
            <a:ext cx="7625574" cy="5086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FA2AF-2DBF-9E62-49A7-24DC562371C6}"/>
              </a:ext>
            </a:extLst>
          </p:cNvPr>
          <p:cNvSpPr txBox="1"/>
          <p:nvPr/>
        </p:nvSpPr>
        <p:spPr>
          <a:xfrm>
            <a:off x="2528888" y="3743325"/>
            <a:ext cx="312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one model on 1/p of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58AB3-E975-3C05-7250-9DFF4E7CF626}"/>
              </a:ext>
            </a:extLst>
          </p:cNvPr>
          <p:cNvSpPr txBox="1"/>
          <p:nvPr/>
        </p:nvSpPr>
        <p:spPr>
          <a:xfrm>
            <a:off x="2528888" y="2930009"/>
            <a:ext cx="462915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 averaging with no synchronization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1B2C7-F06E-2A15-495D-4528AE7EF6E5}"/>
              </a:ext>
            </a:extLst>
          </p:cNvPr>
          <p:cNvSpPr txBox="1"/>
          <p:nvPr/>
        </p:nvSpPr>
        <p:spPr>
          <a:xfrm>
            <a:off x="3812787" y="2048699"/>
            <a:ext cx="296901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iterative  parameter mixing</a:t>
            </a:r>
          </a:p>
        </p:txBody>
      </p:sp>
    </p:spTree>
    <p:extLst>
      <p:ext uri="{BB962C8B-B14F-4D97-AF65-F5344CB8AC3E}">
        <p14:creationId xmlns:p14="http://schemas.microsoft.com/office/powerpoint/2010/main" val="1037469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4FBC-6C9A-99EC-DF03-CC16B7D9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871A-9954-1492-46A8-F60BD8E2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Recap: Comparing synchronization approaches for SGD and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BAAC1-C627-D935-5F3B-1E316DF2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1E2D8-03C2-80E5-257D-2ECFB58A341C}"/>
              </a:ext>
            </a:extLst>
          </p:cNvPr>
          <p:cNvSpPr txBox="1"/>
          <p:nvPr/>
        </p:nvSpPr>
        <p:spPr>
          <a:xfrm>
            <a:off x="3219450" y="5933318"/>
            <a:ext cx="462915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100 model average, no synchronization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B655C6-1164-5251-DD25-C03426C3E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2" y="1096962"/>
            <a:ext cx="6222562" cy="47277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CADAD3-0882-8C72-B95D-5369B00840CB}"/>
              </a:ext>
            </a:extLst>
          </p:cNvPr>
          <p:cNvSpPr txBox="1"/>
          <p:nvPr/>
        </p:nvSpPr>
        <p:spPr>
          <a:xfrm>
            <a:off x="4154294" y="4852471"/>
            <a:ext cx="462915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 model average, no synchronization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E70DC-EE63-B442-C4B2-CEF41E1C8629}"/>
              </a:ext>
            </a:extLst>
          </p:cNvPr>
          <p:cNvSpPr txBox="1"/>
          <p:nvPr/>
        </p:nvSpPr>
        <p:spPr>
          <a:xfrm>
            <a:off x="1834956" y="4184532"/>
            <a:ext cx="107969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 model</a:t>
            </a:r>
          </a:p>
        </p:txBody>
      </p:sp>
    </p:spTree>
    <p:extLst>
      <p:ext uri="{BB962C8B-B14F-4D97-AF65-F5344CB8AC3E}">
        <p14:creationId xmlns:p14="http://schemas.microsoft.com/office/powerpoint/2010/main" val="2016016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F417-F1C2-5537-7F63-F286D019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14A5-4600-8519-B134-BB2C9345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06C8-49F7-5C17-BD50-F382B32C1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b="1" dirty="0"/>
              <a:t>never</a:t>
            </a:r>
            <a:r>
              <a:rPr lang="en-US" dirty="0"/>
              <a:t>: just average at the end</a:t>
            </a:r>
          </a:p>
          <a:p>
            <a:pPr lvl="2"/>
            <a:r>
              <a:rPr lang="en-US" dirty="0"/>
              <a:t>“Embarrassingly parallel”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4A28-6F28-FB49-A02C-02F570C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56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BF8D1E-88D5-451D-18E9-70E97D476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3" y="342900"/>
            <a:ext cx="8382949" cy="3914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8D182D-1F1C-9A7D-C0E6-7406E22232AD}"/>
              </a:ext>
            </a:extLst>
          </p:cNvPr>
          <p:cNvSpPr txBox="1"/>
          <p:nvPr/>
        </p:nvSpPr>
        <p:spPr>
          <a:xfrm>
            <a:off x="7429500" y="100013"/>
            <a:ext cx="1243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23340118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A957-48CE-DD38-AEA3-797E2311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Key ideas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B3BF99-8586-3E9C-A90E-2CAFF0DE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6961"/>
            <a:ext cx="8791097" cy="4375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99BEB2-CABF-B37A-E75B-B0CCA1628BB9}"/>
              </a:ext>
            </a:extLst>
          </p:cNvPr>
          <p:cNvSpPr txBox="1"/>
          <p:nvPr/>
        </p:nvSpPr>
        <p:spPr>
          <a:xfrm>
            <a:off x="6428581" y="5062578"/>
            <a:ext cx="20002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ELM = expert 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27176-1C46-D1FF-5C03-B44B41788D96}"/>
              </a:ext>
            </a:extLst>
          </p:cNvPr>
          <p:cNvSpPr txBox="1"/>
          <p:nvPr/>
        </p:nvSpPr>
        <p:spPr>
          <a:xfrm>
            <a:off x="5865095" y="5540244"/>
            <a:ext cx="299878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ELMForest</a:t>
            </a:r>
            <a:r>
              <a:rPr lang="en-US" dirty="0"/>
              <a:t> = group of ELMs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DDEAE-E679-12FF-7453-9885083A13E3}"/>
              </a:ext>
            </a:extLst>
          </p:cNvPr>
          <p:cNvSpPr txBox="1"/>
          <p:nvPr/>
        </p:nvSpPr>
        <p:spPr>
          <a:xfrm>
            <a:off x="3331130" y="5299374"/>
            <a:ext cx="212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…,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𝜃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317F6-9613-F55E-FB50-F87453235BB0}"/>
              </a:ext>
            </a:extLst>
          </p:cNvPr>
          <p:cNvSpPr txBox="1"/>
          <p:nvPr/>
        </p:nvSpPr>
        <p:spPr>
          <a:xfrm>
            <a:off x="2814638" y="2835569"/>
            <a:ext cx="212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 GPT </a:t>
            </a:r>
            <a:r>
              <a:rPr lang="en-US" sz="2400" dirty="0"/>
              <a:t>𝜃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6848A6-2B2C-050C-0C30-13B27C26B148}"/>
              </a:ext>
            </a:extLst>
          </p:cNvPr>
          <p:cNvSpPr txBox="1"/>
          <p:nvPr/>
        </p:nvSpPr>
        <p:spPr>
          <a:xfrm>
            <a:off x="7552531" y="3153284"/>
            <a:ext cx="97710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merge?</a:t>
            </a:r>
          </a:p>
        </p:txBody>
      </p:sp>
    </p:spTree>
    <p:extLst>
      <p:ext uri="{BB962C8B-B14F-4D97-AF65-F5344CB8AC3E}">
        <p14:creationId xmlns:p14="http://schemas.microsoft.com/office/powerpoint/2010/main" val="93467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A516-14AC-9FA7-EE98-E943360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64D3-78CC-26D8-3D7A-C1675D69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47D0C-878D-F574-05A5-3FC676A0B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299"/>
            <a:ext cx="8493125" cy="14001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Merge option 1: at </a:t>
            </a:r>
            <a:r>
              <a:rPr lang="en-US" b="1" dirty="0"/>
              <a:t>inference</a:t>
            </a:r>
            <a:r>
              <a:rPr lang="en-US" dirty="0"/>
              <a:t> time</a:t>
            </a:r>
          </a:p>
          <a:p>
            <a:pPr lvl="1"/>
            <a:r>
              <a:rPr lang="en-US" i="1" dirty="0"/>
              <a:t>D:</a:t>
            </a:r>
            <a:r>
              <a:rPr lang="en-US" dirty="0"/>
              <a:t>  a  domain for inference—assume it’s an existing domain 1..n</a:t>
            </a:r>
          </a:p>
          <a:p>
            <a:pPr lvl="1"/>
            <a:r>
              <a:rPr lang="en-US" b="1" i="1" dirty="0"/>
              <a:t>x</a:t>
            </a:r>
            <a:r>
              <a:rPr lang="en-US" i="1" baseline="-25000" dirty="0"/>
              <a:t>&lt;t </a:t>
            </a:r>
            <a:r>
              <a:rPr lang="en-US" i="1" dirty="0"/>
              <a:t>: </a:t>
            </a:r>
            <a:r>
              <a:rPr lang="en-US" dirty="0"/>
              <a:t>a text prefix—eval is mostly on perplexity/LM</a:t>
            </a:r>
          </a:p>
          <a:p>
            <a:pPr lvl="1"/>
            <a:r>
              <a:rPr lang="en-US" i="1" dirty="0" err="1"/>
              <a:t>X</a:t>
            </a:r>
            <a:r>
              <a:rPr lang="en-US" i="1" baseline="-25000" dirty="0" err="1"/>
              <a:t>t</a:t>
            </a:r>
            <a:r>
              <a:rPr lang="en-US" i="1" dirty="0"/>
              <a:t> : </a:t>
            </a:r>
            <a:r>
              <a:rPr lang="en-US" dirty="0"/>
              <a:t>probability distribution over next token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BFE1B-8DA6-140A-E0BA-40744673B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7" y="2657475"/>
            <a:ext cx="7572080" cy="1282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3809E7-6DAC-B868-F8C0-339429F8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75" r="45269"/>
          <a:stretch/>
        </p:blipFill>
        <p:spPr>
          <a:xfrm>
            <a:off x="996303" y="3581411"/>
            <a:ext cx="5608054" cy="1522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91F220-73C1-8165-FB51-674847E2BD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35" r="1417"/>
          <a:stretch/>
        </p:blipFill>
        <p:spPr>
          <a:xfrm>
            <a:off x="2810231" y="4864113"/>
            <a:ext cx="4827565" cy="1522411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0E71ADC2-478E-A21B-2389-1DFED589FD8E}"/>
              </a:ext>
            </a:extLst>
          </p:cNvPr>
          <p:cNvSpPr/>
          <p:nvPr/>
        </p:nvSpPr>
        <p:spPr>
          <a:xfrm>
            <a:off x="689917" y="5625318"/>
            <a:ext cx="1953271" cy="632607"/>
          </a:xfrm>
          <a:prstGeom prst="wedgeRoundRectCallout">
            <a:avLst>
              <a:gd name="adj1" fmla="val 22323"/>
              <a:gd name="adj2" fmla="val -18819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Domain posterior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9A8C-3B47-C2A2-B6AE-80FECB9462F4}"/>
              </a:ext>
            </a:extLst>
          </p:cNvPr>
          <p:cNvSpPr txBox="1"/>
          <p:nvPr/>
        </p:nvSpPr>
        <p:spPr>
          <a:xfrm>
            <a:off x="1100137" y="6381233"/>
            <a:ext cx="335756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Using just top k=3 domains is 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529706-E3E7-0544-CF34-36D451392907}"/>
              </a:ext>
            </a:extLst>
          </p:cNvPr>
          <p:cNvSpPr txBox="1"/>
          <p:nvPr/>
        </p:nvSpPr>
        <p:spPr>
          <a:xfrm>
            <a:off x="6771400" y="3549175"/>
            <a:ext cx="2366167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Preferred approach: exponential moving average of the domain posterior, update every 1000 tokens</a:t>
            </a:r>
          </a:p>
        </p:txBody>
      </p:sp>
    </p:spTree>
    <p:extLst>
      <p:ext uri="{BB962C8B-B14F-4D97-AF65-F5344CB8AC3E}">
        <p14:creationId xmlns:p14="http://schemas.microsoft.com/office/powerpoint/2010/main" val="221688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A100-5B4C-B041-3FA0-5D873F0A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7197-2303-ED7D-DE68-C0114C83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Key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84B6D-9F34-9EE9-4FD9-7B827608E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299"/>
            <a:ext cx="8493125" cy="14001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Merge option 2:  </a:t>
            </a:r>
            <a:r>
              <a:rPr lang="en-US" b="1" dirty="0"/>
              <a:t>parameter averaging</a:t>
            </a:r>
            <a:endParaRPr lang="en-US" dirty="0"/>
          </a:p>
          <a:p>
            <a:pPr lvl="1"/>
            <a:r>
              <a:rPr lang="en-US" dirty="0"/>
              <a:t>preferred approach: weight by domain posterior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91ACA-CF08-D733-7714-AB2A2CA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7" y="2657475"/>
            <a:ext cx="7572080" cy="1282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3759FA-CB43-C4CA-49A9-969959FF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75" r="45269"/>
          <a:stretch/>
        </p:blipFill>
        <p:spPr>
          <a:xfrm>
            <a:off x="996303" y="3581411"/>
            <a:ext cx="5608054" cy="1522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837891-4BBA-7664-C18E-83BD8BA0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35" r="1417"/>
          <a:stretch/>
        </p:blipFill>
        <p:spPr>
          <a:xfrm>
            <a:off x="3320132" y="4864113"/>
            <a:ext cx="4827565" cy="1522411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D76EF1F5-D79E-2AD0-917F-3B228B9E0D3D}"/>
              </a:ext>
            </a:extLst>
          </p:cNvPr>
          <p:cNvSpPr/>
          <p:nvPr/>
        </p:nvSpPr>
        <p:spPr>
          <a:xfrm>
            <a:off x="689917" y="5625318"/>
            <a:ext cx="1953271" cy="632607"/>
          </a:xfrm>
          <a:prstGeom prst="wedgeRoundRectCallout">
            <a:avLst>
              <a:gd name="adj1" fmla="val 22323"/>
              <a:gd name="adj2" fmla="val -18819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Domain posterior</a:t>
            </a:r>
          </a:p>
        </p:txBody>
      </p:sp>
    </p:spTree>
    <p:extLst>
      <p:ext uri="{BB962C8B-B14F-4D97-AF65-F5344CB8AC3E}">
        <p14:creationId xmlns:p14="http://schemas.microsoft.com/office/powerpoint/2010/main" val="5815117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5BA75-074A-B012-A15F-3D81B5F2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3B5A-43AE-F35A-655E-E66AC465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Key ideas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B5AEB3-F140-0361-E0F8-0955BA309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6961"/>
            <a:ext cx="8791097" cy="4375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A566C-626C-6383-41F3-82A4AEAFBA14}"/>
              </a:ext>
            </a:extLst>
          </p:cNvPr>
          <p:cNvSpPr txBox="1"/>
          <p:nvPr/>
        </p:nvSpPr>
        <p:spPr>
          <a:xfrm>
            <a:off x="6428581" y="5062578"/>
            <a:ext cx="20002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ELM = expert 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1391A-7732-D544-7290-5A786FBB27F7}"/>
              </a:ext>
            </a:extLst>
          </p:cNvPr>
          <p:cNvSpPr txBox="1"/>
          <p:nvPr/>
        </p:nvSpPr>
        <p:spPr>
          <a:xfrm>
            <a:off x="5865095" y="5540244"/>
            <a:ext cx="299878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ELMForest</a:t>
            </a:r>
            <a:r>
              <a:rPr lang="en-US" dirty="0"/>
              <a:t> = group of ELMs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B0AE2-D6E2-4171-5F46-97487FADA627}"/>
              </a:ext>
            </a:extLst>
          </p:cNvPr>
          <p:cNvSpPr txBox="1"/>
          <p:nvPr/>
        </p:nvSpPr>
        <p:spPr>
          <a:xfrm>
            <a:off x="3331130" y="5299374"/>
            <a:ext cx="212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𝜃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…,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𝜃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A1C64-23A9-148C-8068-7CB0CFE6A43A}"/>
              </a:ext>
            </a:extLst>
          </p:cNvPr>
          <p:cNvSpPr txBox="1"/>
          <p:nvPr/>
        </p:nvSpPr>
        <p:spPr>
          <a:xfrm>
            <a:off x="2814638" y="2835569"/>
            <a:ext cx="2128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 GPT </a:t>
            </a:r>
            <a:r>
              <a:rPr lang="en-US" sz="2400" dirty="0"/>
              <a:t>𝜃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12074-23F7-2C62-EC07-84CDD1E17208}"/>
              </a:ext>
            </a:extLst>
          </p:cNvPr>
          <p:cNvSpPr txBox="1"/>
          <p:nvPr/>
        </p:nvSpPr>
        <p:spPr>
          <a:xfrm>
            <a:off x="6120086" y="1319934"/>
            <a:ext cx="248880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merged with parameter averaging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73E72F-6160-F0A7-8D09-85002C38C1CA}"/>
              </a:ext>
            </a:extLst>
          </p:cNvPr>
          <p:cNvCxnSpPr/>
          <p:nvPr/>
        </p:nvCxnSpPr>
        <p:spPr>
          <a:xfrm flipH="1">
            <a:off x="5686425" y="1985963"/>
            <a:ext cx="357188" cy="185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1ACE44-632E-BB23-E899-D19768B753ED}"/>
              </a:ext>
            </a:extLst>
          </p:cNvPr>
          <p:cNvCxnSpPr/>
          <p:nvPr/>
        </p:nvCxnSpPr>
        <p:spPr>
          <a:xfrm>
            <a:off x="5000623" y="2286000"/>
            <a:ext cx="8072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F9F1BB-8603-73BA-7538-8600FCF74CFB}"/>
              </a:ext>
            </a:extLst>
          </p:cNvPr>
          <p:cNvCxnSpPr>
            <a:cxnSpLocks/>
          </p:cNvCxnSpPr>
          <p:nvPr/>
        </p:nvCxnSpPr>
        <p:spPr>
          <a:xfrm>
            <a:off x="3586163" y="2495552"/>
            <a:ext cx="6738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1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2062-BF48-F566-75D8-06DE7648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3AD3-6B5E-B776-FC3D-B78F3C32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Experiments with 8 domains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14087-525E-BBC4-E136-573DAACC7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415" y="1354137"/>
            <a:ext cx="5891169" cy="2417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2097E1-C4D3-15EC-D374-62EC6EFF19AB}"/>
              </a:ext>
            </a:extLst>
          </p:cNvPr>
          <p:cNvSpPr txBox="1"/>
          <p:nvPr/>
        </p:nvSpPr>
        <p:spPr>
          <a:xfrm>
            <a:off x="1514475" y="3771900"/>
            <a:ext cx="589116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compute-matched perplexity with 8 train/8 eval domains</a:t>
            </a:r>
          </a:p>
          <a:p>
            <a:pPr algn="ctr"/>
            <a:r>
              <a:rPr lang="en-US" dirty="0"/>
              <a:t>50% of compute for “seed” model 𝜃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inference-time</a:t>
            </a:r>
            <a:r>
              <a:rPr lang="en-US" dirty="0"/>
              <a:t> model merging</a:t>
            </a:r>
          </a:p>
        </p:txBody>
      </p:sp>
    </p:spTree>
    <p:extLst>
      <p:ext uri="{BB962C8B-B14F-4D97-AF65-F5344CB8AC3E}">
        <p14:creationId xmlns:p14="http://schemas.microsoft.com/office/powerpoint/2010/main" val="25399833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D5CB-D58C-F814-2DA9-D9893561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63660-314A-B8E6-3D0F-5EC05762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Experiments with 8 domains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2A7C3-DFC6-41F0-003C-738345274F0B}"/>
              </a:ext>
            </a:extLst>
          </p:cNvPr>
          <p:cNvSpPr txBox="1"/>
          <p:nvPr/>
        </p:nvSpPr>
        <p:spPr>
          <a:xfrm>
            <a:off x="1626415" y="5512792"/>
            <a:ext cx="589116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compute-matched perplexity with 8 train/8 eval domains</a:t>
            </a:r>
          </a:p>
          <a:p>
            <a:pPr algn="ctr"/>
            <a:r>
              <a:rPr lang="en-US" dirty="0"/>
              <a:t>50% of compute for “seed” model 𝜃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parameter mixing</a:t>
            </a:r>
            <a:r>
              <a:rPr lang="en-US" dirty="0"/>
              <a:t> model merging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EAD15-C4A6-1D33-2CA9-53C5131D0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9" y="1096962"/>
            <a:ext cx="8400405" cy="41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368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ECDC-1B3F-9F8A-4A9C-AC04E7D3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C1A9-A341-7767-92BC-6FCBAB70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BTM: Training costs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28B65-97DE-46B3-0522-15D82027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1011"/>
            <a:ext cx="9121074" cy="37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62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7DC5-4BF8-8C55-1C44-8D74A693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AA67-DEDE-EFBC-4475-C951BADE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B0C43-DB10-CBD3-049D-F420730D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/>
              <a:t>Decoder-only systems related to RAG/</a:t>
            </a:r>
            <a:r>
              <a:rPr lang="en-US" dirty="0" err="1"/>
              <a:t>FiD</a:t>
            </a:r>
            <a:r>
              <a:rPr lang="en-US" dirty="0"/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Branch-train-merge: very  parallel LLM pre-training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Branch-train-</a:t>
            </a:r>
            <a:r>
              <a:rPr lang="en-US" sz="2600" b="1" u="sng" dirty="0">
                <a:solidFill>
                  <a:srgbClr val="0070C0"/>
                </a:solidFill>
              </a:rPr>
              <a:t>mix</a:t>
            </a:r>
            <a:r>
              <a:rPr lang="en-US" sz="2600" dirty="0">
                <a:solidFill>
                  <a:srgbClr val="0070C0"/>
                </a:solidFill>
              </a:rPr>
              <a:t>: very  parallel LLM pre-training</a:t>
            </a:r>
          </a:p>
          <a:p>
            <a:pPr lvl="1"/>
            <a:r>
              <a:rPr lang="en-US" sz="2600" dirty="0"/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2677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447F64-3F34-258D-8D97-6D78CBDB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98237"/>
            <a:ext cx="7772400" cy="16896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EA577C-C433-173D-A7F3-CF373436DE59}"/>
              </a:ext>
            </a:extLst>
          </p:cNvPr>
          <p:cNvSpPr txBox="1"/>
          <p:nvPr/>
        </p:nvSpPr>
        <p:spPr>
          <a:xfrm>
            <a:off x="6415088" y="385763"/>
            <a:ext cx="178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76336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46E8-43D3-D05C-3B79-BDC1398C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Background: Mixture of Experts (</a:t>
            </a:r>
            <a:r>
              <a:rPr lang="en-US" dirty="0" err="1"/>
              <a:t>MoE</a:t>
            </a:r>
            <a:r>
              <a:rPr lang="en-US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5C5CA-9975-823D-6225-660E85D26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92" b="12587"/>
          <a:stretch/>
        </p:blipFill>
        <p:spPr>
          <a:xfrm>
            <a:off x="2447925" y="3088697"/>
            <a:ext cx="4813301" cy="3587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E9578A-F767-FB21-82B9-7CBA73255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280" y="3905095"/>
            <a:ext cx="2578100" cy="1003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1F38BD-648C-CE7B-E804-5D326B194FC5}"/>
              </a:ext>
            </a:extLst>
          </p:cNvPr>
          <p:cNvSpPr txBox="1"/>
          <p:nvPr/>
        </p:nvSpPr>
        <p:spPr>
          <a:xfrm>
            <a:off x="1273970" y="3047303"/>
            <a:ext cx="1160463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combine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52D4B-1079-3BA9-5E79-3CC094937B2C}"/>
              </a:ext>
            </a:extLst>
          </p:cNvPr>
          <p:cNvSpPr txBox="1"/>
          <p:nvPr/>
        </p:nvSpPr>
        <p:spPr>
          <a:xfrm>
            <a:off x="1216817" y="3478113"/>
            <a:ext cx="1160463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with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1ED737-2FFA-7ECC-06AE-D62D43B601E0}"/>
              </a:ext>
            </a:extLst>
          </p:cNvPr>
          <p:cNvGrpSpPr/>
          <p:nvPr/>
        </p:nvGrpSpPr>
        <p:grpSpPr>
          <a:xfrm>
            <a:off x="1770061" y="5054469"/>
            <a:ext cx="4670426" cy="400110"/>
            <a:chOff x="2319337" y="3804525"/>
            <a:chExt cx="4670426" cy="400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D72F90-A9F3-EB51-EBD5-0B79CEE1A0A9}"/>
                </a:ext>
              </a:extLst>
            </p:cNvPr>
            <p:cNvSpPr txBox="1"/>
            <p:nvPr/>
          </p:nvSpPr>
          <p:spPr>
            <a:xfrm>
              <a:off x="2319337" y="3804525"/>
              <a:ext cx="3838575" cy="4001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where in training G(x) = SoftMax</a:t>
              </a:r>
              <a:endParaRPr lang="en-US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E1A2CC8-B198-A8F3-1928-5407A65A5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1823" t="1" r="3572" b="23279"/>
            <a:stretch/>
          </p:blipFill>
          <p:spPr>
            <a:xfrm>
              <a:off x="6032501" y="3826440"/>
              <a:ext cx="957262" cy="326613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60AD84-B190-D65C-2A9B-E723A5EF30FA}"/>
              </a:ext>
            </a:extLst>
          </p:cNvPr>
          <p:cNvGrpSpPr/>
          <p:nvPr/>
        </p:nvGrpSpPr>
        <p:grpSpPr>
          <a:xfrm>
            <a:off x="1797048" y="5608105"/>
            <a:ext cx="5947198" cy="419846"/>
            <a:chOff x="2346324" y="4358161"/>
            <a:chExt cx="5947198" cy="4198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B21EEA-8227-20AC-F793-6A869FFF2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97422" y="4395455"/>
              <a:ext cx="3496100" cy="38255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5AF07C-7D75-2DF7-4BA6-DFA83C9E7D62}"/>
                </a:ext>
              </a:extLst>
            </p:cNvPr>
            <p:cNvSpPr txBox="1"/>
            <p:nvPr/>
          </p:nvSpPr>
          <p:spPr>
            <a:xfrm>
              <a:off x="2346324" y="4358161"/>
              <a:ext cx="2551113" cy="4001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and at inference time</a:t>
              </a:r>
              <a:endParaRPr lang="en-US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E2B4E3D-D5D1-3941-FA07-2794434ADC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82" y="1229859"/>
            <a:ext cx="6943725" cy="17686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2DCF4F-B9C7-8D4E-2462-5DBA80A1B4ED}"/>
              </a:ext>
            </a:extLst>
          </p:cNvPr>
          <p:cNvSpPr txBox="1"/>
          <p:nvPr/>
        </p:nvSpPr>
        <p:spPr>
          <a:xfrm>
            <a:off x="4014788" y="6229350"/>
            <a:ext cx="478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graphics: </a:t>
            </a:r>
            <a:r>
              <a:rPr lang="en-US" dirty="0">
                <a:hlinkClick r:id="rId7"/>
              </a:rPr>
              <a:t>https://arxiv.org/pdf/2504.02263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968963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45FB-D682-8F94-F949-42C62EDC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C46A-D326-843A-D914-E5019FFE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Expert Parallelism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3D05EA-62B8-F122-EF42-C8506EDD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2" y="1229859"/>
            <a:ext cx="6943725" cy="1768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9FA23F-B97D-6BD9-5F0E-39A8F2D267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41"/>
          <a:stretch/>
        </p:blipFill>
        <p:spPr>
          <a:xfrm>
            <a:off x="979476" y="4242316"/>
            <a:ext cx="6689731" cy="20058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7E9F88-4D5D-9D38-207E-EA29BBADFFF1}"/>
              </a:ext>
            </a:extLst>
          </p:cNvPr>
          <p:cNvSpPr txBox="1"/>
          <p:nvPr/>
        </p:nvSpPr>
        <p:spPr>
          <a:xfrm>
            <a:off x="1157287" y="3047302"/>
            <a:ext cx="682942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This can be parallelized!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Each processor hosts a subset of the experts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All-to-all communication before and after the expert 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08829-F12E-4723-6036-12551E061158}"/>
              </a:ext>
            </a:extLst>
          </p:cNvPr>
          <p:cNvSpPr txBox="1"/>
          <p:nvPr/>
        </p:nvSpPr>
        <p:spPr>
          <a:xfrm>
            <a:off x="1157287" y="6248175"/>
            <a:ext cx="682942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Often need to train to “balance” the experts with an extra loss term</a:t>
            </a:r>
          </a:p>
        </p:txBody>
      </p:sp>
    </p:spTree>
    <p:extLst>
      <p:ext uri="{BB962C8B-B14F-4D97-AF65-F5344CB8AC3E}">
        <p14:creationId xmlns:p14="http://schemas.microsoft.com/office/powerpoint/2010/main" val="393665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C92D-101F-A6DF-315E-71745744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CC90-846E-D9F3-EC87-86F22592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Expert Parallelism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E43BB-DBC7-EFEF-01C7-E3DF290A2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3036"/>
            <a:ext cx="3400068" cy="50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1F7C55-CC3C-57C2-7B8E-0F1013B85C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41" b="16999"/>
          <a:stretch/>
        </p:blipFill>
        <p:spPr>
          <a:xfrm>
            <a:off x="4397012" y="2517575"/>
            <a:ext cx="4289788" cy="1054300"/>
          </a:xfrm>
          <a:prstGeom prst="rect">
            <a:avLst/>
          </a:prstGeom>
          <a:ln w="285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2A06FCE9-A86A-1135-2CA7-8C48E7BCFA9F}"/>
              </a:ext>
            </a:extLst>
          </p:cNvPr>
          <p:cNvSpPr/>
          <p:nvPr/>
        </p:nvSpPr>
        <p:spPr>
          <a:xfrm>
            <a:off x="3529013" y="2900363"/>
            <a:ext cx="785812" cy="242887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CD237-FD6A-9684-C10E-E3D6CAA12344}"/>
              </a:ext>
            </a:extLst>
          </p:cNvPr>
          <p:cNvSpPr txBox="1"/>
          <p:nvPr/>
        </p:nvSpPr>
        <p:spPr>
          <a:xfrm>
            <a:off x="4393117" y="1493636"/>
            <a:ext cx="428978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 Transformers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is used for the FFN layers  so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tokens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are routed to the experts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17F87-3B51-9571-C3B2-F88473795265}"/>
              </a:ext>
            </a:extLst>
          </p:cNvPr>
          <p:cNvSpPr txBox="1"/>
          <p:nvPr/>
        </p:nvSpPr>
        <p:spPr>
          <a:xfrm>
            <a:off x="4714874" y="3948715"/>
            <a:ext cx="3968031" cy="175432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Switch Transformers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1T param model from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OG ChatGPT (according to rumors)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Mixtral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models (Early 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Llama 4 series (last week)</a:t>
            </a:r>
          </a:p>
        </p:txBody>
      </p:sp>
    </p:spTree>
    <p:extLst>
      <p:ext uri="{BB962C8B-B14F-4D97-AF65-F5344CB8AC3E}">
        <p14:creationId xmlns:p14="http://schemas.microsoft.com/office/powerpoint/2010/main" val="8435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3B81-7CD5-C879-D16B-511E0061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36043A-659C-5FCA-6A65-C5DE1BB2F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681301"/>
            <a:ext cx="7772400" cy="16896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8906D9-8948-6BBA-FAC8-8DA5EC289E7A}"/>
              </a:ext>
            </a:extLst>
          </p:cNvPr>
          <p:cNvSpPr txBox="1"/>
          <p:nvPr/>
        </p:nvSpPr>
        <p:spPr>
          <a:xfrm>
            <a:off x="6415088" y="228054"/>
            <a:ext cx="178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07660-E5CC-C9E3-1EF1-CA37D2D64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454868"/>
            <a:ext cx="7772400" cy="26841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023B80-08FF-1409-278E-E0987C7A0E3E}"/>
              </a:ext>
            </a:extLst>
          </p:cNvPr>
          <p:cNvSpPr txBox="1"/>
          <p:nvPr/>
        </p:nvSpPr>
        <p:spPr>
          <a:xfrm>
            <a:off x="1028699" y="5222916"/>
            <a:ext cx="6829426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Branch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as in Branch-train-merge</a:t>
            </a: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Mix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the expert LMs 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Making each FFN an expert for the corresponding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FFN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Parameter averaging all other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Finetune everything (notice gates have new parameters)</a:t>
            </a:r>
          </a:p>
        </p:txBody>
      </p:sp>
    </p:spTree>
    <p:extLst>
      <p:ext uri="{BB962C8B-B14F-4D97-AF65-F5344CB8AC3E}">
        <p14:creationId xmlns:p14="http://schemas.microsoft.com/office/powerpoint/2010/main" val="305260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5DD5-78A0-8D9E-3C51-2D7A352A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268CD6-21E4-00BC-2AA3-E01D0C4C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BTX details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D322F4-77BF-761C-A7E1-ED484CA0D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54317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Llama-2 7B</a:t>
            </a:r>
          </a:p>
          <a:p>
            <a:r>
              <a:rPr lang="en-US" dirty="0"/>
              <a:t>Train experts on three domains</a:t>
            </a:r>
          </a:p>
          <a:p>
            <a:pPr lvl="1"/>
            <a:r>
              <a:rPr lang="en-US" dirty="0"/>
              <a:t>Math (201B tokens)</a:t>
            </a:r>
          </a:p>
          <a:p>
            <a:pPr lvl="1"/>
            <a:r>
              <a:rPr lang="en-US" dirty="0"/>
              <a:t>Code (210B tokens)</a:t>
            </a:r>
          </a:p>
          <a:p>
            <a:pPr lvl="1"/>
            <a:r>
              <a:rPr lang="en-US" dirty="0"/>
              <a:t>Wikipedia (42B tokens)</a:t>
            </a:r>
          </a:p>
          <a:p>
            <a:pPr lvl="1"/>
            <a:r>
              <a:rPr lang="en-US" dirty="0"/>
              <a:t>and also keep the old model as a fourth expert</a:t>
            </a:r>
          </a:p>
          <a:p>
            <a:r>
              <a:rPr lang="en-US" dirty="0"/>
              <a:t>Finetune another 80B tokens</a:t>
            </a:r>
          </a:p>
          <a:p>
            <a:r>
              <a:rPr lang="en-US" dirty="0"/>
              <a:t>Evaluate on benchmark tasks (not perplexity)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356638-8EA0-68E7-0B05-204A7B1A8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2" y="3800475"/>
            <a:ext cx="9109808" cy="2368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9B6311-0CA1-4303-8588-893D11A23271}"/>
              </a:ext>
            </a:extLst>
          </p:cNvPr>
          <p:cNvSpPr txBox="1"/>
          <p:nvPr/>
        </p:nvSpPr>
        <p:spPr>
          <a:xfrm>
            <a:off x="2960687" y="6154758"/>
            <a:ext cx="328612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experts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155246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7F18-34D0-C816-7572-D3131987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A93D10-93D9-C009-5292-9C4879DB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BTX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3600C-1958-A8A8-343E-09464992A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18" y="1394099"/>
            <a:ext cx="9142369" cy="36779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BFAA05-6923-3B31-847E-6CA31F48C3FE}"/>
              </a:ext>
            </a:extLst>
          </p:cNvPr>
          <p:cNvSpPr txBox="1"/>
          <p:nvPr/>
        </p:nvSpPr>
        <p:spPr>
          <a:xfrm>
            <a:off x="1543050" y="2376507"/>
            <a:ext cx="192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math specialist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C4C36D-399F-439F-D8EF-518468B87ADF}"/>
              </a:ext>
            </a:extLst>
          </p:cNvPr>
          <p:cNvSpPr txBox="1"/>
          <p:nvPr/>
        </p:nvSpPr>
        <p:spPr>
          <a:xfrm>
            <a:off x="1423988" y="3383529"/>
            <a:ext cx="192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“data matched”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B5C9BD-562D-9812-CFD1-A9A0A7ED84CD}"/>
              </a:ext>
            </a:extLst>
          </p:cNvPr>
          <p:cNvSpPr txBox="1"/>
          <p:nvPr/>
        </p:nvSpPr>
        <p:spPr>
          <a:xfrm>
            <a:off x="876300" y="5094570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BTX with no parallel training stage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68710-CE42-0142-D575-AB9C84E55184}"/>
              </a:ext>
            </a:extLst>
          </p:cNvPr>
          <p:cNvSpPr txBox="1"/>
          <p:nvPr/>
        </p:nvSpPr>
        <p:spPr>
          <a:xfrm>
            <a:off x="2917823" y="3643868"/>
            <a:ext cx="67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5314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7805-3CA3-A215-B66B-08348CC1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0F9A79-B4B0-56EE-385C-D0FE135E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BTX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670493-80C8-2AB3-8A64-9384BBD6D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" y="1500188"/>
            <a:ext cx="9022573" cy="38861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3A8B915-53AD-FBF8-DAF3-4F1FF48BCA7D}"/>
              </a:ext>
            </a:extLst>
          </p:cNvPr>
          <p:cNvSpPr/>
          <p:nvPr/>
        </p:nvSpPr>
        <p:spPr>
          <a:xfrm>
            <a:off x="3957638" y="2486025"/>
            <a:ext cx="1171575" cy="10715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4C9-EFD9-DF31-8AA8-5C894FCA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9648ED-501F-1DF3-D288-CED2B6D6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BTX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08EE3-05D7-B9AC-3682-C8DAC79E7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" y="1108074"/>
            <a:ext cx="8952044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69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A83A-8E5A-DA82-0A5B-615B9DC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F118-9B34-F6BA-8601-5276362B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–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4161-240F-A8EB-2D6F-5453D8A12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RAG</a:t>
            </a:r>
          </a:p>
          <a:p>
            <a:pPr lvl="1"/>
            <a:r>
              <a:rPr lang="en-US" dirty="0"/>
              <a:t>Quick Review of last week</a:t>
            </a:r>
          </a:p>
          <a:p>
            <a:pPr lvl="2"/>
            <a:r>
              <a:rPr lang="en-US" dirty="0"/>
              <a:t>Contrastive learning</a:t>
            </a:r>
          </a:p>
          <a:p>
            <a:pPr lvl="2"/>
            <a:r>
              <a:rPr lang="en-US" dirty="0"/>
              <a:t>DPR and </a:t>
            </a:r>
            <a:r>
              <a:rPr lang="en-US" dirty="0" err="1"/>
              <a:t>Contreiver</a:t>
            </a:r>
            <a:r>
              <a:rPr lang="en-US" dirty="0"/>
              <a:t>, RAG, </a:t>
            </a:r>
            <a:r>
              <a:rPr lang="en-US" dirty="0" err="1"/>
              <a:t>FiD</a:t>
            </a:r>
            <a:endParaRPr lang="en-US" dirty="0"/>
          </a:p>
          <a:p>
            <a:pPr lvl="2"/>
            <a:r>
              <a:rPr lang="en-US" dirty="0"/>
              <a:t>A case study: optimizing inference for </a:t>
            </a:r>
            <a:r>
              <a:rPr lang="en-US" dirty="0" err="1"/>
              <a:t>FiD</a:t>
            </a:r>
            <a:endParaRPr lang="en-US" dirty="0"/>
          </a:p>
          <a:p>
            <a:pPr lvl="3"/>
            <a:r>
              <a:rPr lang="en-US" dirty="0" err="1"/>
              <a:t>FiDO</a:t>
            </a:r>
            <a:endParaRPr lang="en-US" dirty="0"/>
          </a:p>
          <a:p>
            <a:pPr lvl="3"/>
            <a:r>
              <a:rPr lang="en-US" dirty="0"/>
              <a:t>LUMEN</a:t>
            </a:r>
          </a:p>
          <a:p>
            <a:pPr lvl="1"/>
            <a:r>
              <a:rPr lang="en-US" dirty="0"/>
              <a:t>Some new RAG systems</a:t>
            </a:r>
          </a:p>
          <a:p>
            <a:pPr lvl="3"/>
            <a:r>
              <a:rPr lang="en-US" dirty="0"/>
              <a:t>GLIMMER</a:t>
            </a:r>
          </a:p>
          <a:p>
            <a:pPr lvl="3"/>
            <a:r>
              <a:rPr lang="en-US" dirty="0"/>
              <a:t>Decoder-only systems related to RAG/</a:t>
            </a:r>
            <a:r>
              <a:rPr lang="en-US" dirty="0" err="1"/>
              <a:t>FiD</a:t>
            </a:r>
            <a:r>
              <a:rPr lang="en-US" dirty="0"/>
              <a:t> (new work)</a:t>
            </a:r>
          </a:p>
          <a:p>
            <a:r>
              <a:rPr lang="en-US" dirty="0"/>
              <a:t>“Embarrassingly parallel” ML tricks</a:t>
            </a:r>
            <a:r>
              <a:rPr lang="en-US" sz="2600" dirty="0"/>
              <a:t> (new work)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Branch-train-merge: very  parallel LLM pre-training</a:t>
            </a:r>
          </a:p>
          <a:p>
            <a:pPr lvl="1"/>
            <a:r>
              <a:rPr lang="en-US" sz="2600" dirty="0">
                <a:solidFill>
                  <a:srgbClr val="002060"/>
                </a:solidFill>
              </a:rPr>
              <a:t>Branch-train-mix: very  parallel LLM pre-training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</a:rPr>
              <a:t>Task vectors: very parallel LLM fine-tuning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891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669B-0A4E-14AC-A31D-90E54C04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vectors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4D365-7FAA-192B-CBD9-74B78CE4F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63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skip-gram embeddings (word2vec)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5061" t="3792"/>
          <a:stretch/>
        </p:blipFill>
        <p:spPr>
          <a:xfrm>
            <a:off x="2392662" y="1396566"/>
            <a:ext cx="4195667" cy="5229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86600"/>
            <a:ext cx="1769165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positive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dirty="0"/>
              <a:t>examples are pairs of words w(t), w(</a:t>
            </a:r>
            <a:r>
              <a:rPr lang="en-US" dirty="0" err="1"/>
              <a:t>t+j</a:t>
            </a:r>
            <a:r>
              <a:rPr lang="en-US" dirty="0"/>
              <a:t>) that co-occur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002" y="4495704"/>
            <a:ext cx="278955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data:</a:t>
            </a:r>
          </a:p>
          <a:p>
            <a:r>
              <a:rPr lang="en-US" dirty="0">
                <a:solidFill>
                  <a:srgbClr val="FF0000"/>
                </a:solidFill>
              </a:rPr>
              <a:t>negative</a:t>
            </a:r>
            <a:r>
              <a:rPr lang="en-US" dirty="0"/>
              <a:t> examples are </a:t>
            </a:r>
            <a:r>
              <a:rPr lang="en-US" b="1" dirty="0"/>
              <a:t>samples</a:t>
            </a:r>
            <a:r>
              <a:rPr lang="en-US" dirty="0"/>
              <a:t> of pairs of words w(t), w(</a:t>
            </a:r>
            <a:r>
              <a:rPr lang="en-US" dirty="0" err="1"/>
              <a:t>t+j</a:t>
            </a:r>
            <a:r>
              <a:rPr lang="en-US" dirty="0"/>
              <a:t>) that don’t co-occur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7050" y="2402739"/>
            <a:ext cx="278955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want to train over a very large corpus (100M words+) and hundreds+ dimensions</a:t>
            </a:r>
          </a:p>
        </p:txBody>
      </p:sp>
    </p:spTree>
    <p:extLst>
      <p:ext uri="{BB962C8B-B14F-4D97-AF65-F5344CB8AC3E}">
        <p14:creationId xmlns:p14="http://schemas.microsoft.com/office/powerpoint/2010/main" val="3194707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Results from word2vec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100"/>
            <a:ext cx="9144000" cy="3201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06529-6099-7E32-4138-C308B87F9D55}"/>
              </a:ext>
            </a:extLst>
          </p:cNvPr>
          <p:cNvSpPr txBox="1"/>
          <p:nvPr/>
        </p:nvSpPr>
        <p:spPr>
          <a:xfrm>
            <a:off x="1714499" y="5314950"/>
            <a:ext cx="6104283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 number of properties of word2vec were surprising and mysterious! </a:t>
            </a:r>
            <a:r>
              <a:rPr lang="en-US" dirty="0"/>
              <a:t>until they were explained by Omer Levy and Yoav Goldberg a couple of years later</a:t>
            </a:r>
          </a:p>
        </p:txBody>
      </p:sp>
    </p:spTree>
    <p:extLst>
      <p:ext uri="{BB962C8B-B14F-4D97-AF65-F5344CB8AC3E}">
        <p14:creationId xmlns:p14="http://schemas.microsoft.com/office/powerpoint/2010/main" val="40378781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D15E-D77B-939B-B3E2-FB3111AF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7B6B9-3799-6526-2258-48A6C06E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2" y="528812"/>
            <a:ext cx="7772400" cy="1983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08A608-90DA-1F5A-F3E3-E49A288CE4DA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</p:spTree>
    <p:extLst>
      <p:ext uri="{BB962C8B-B14F-4D97-AF65-F5344CB8AC3E}">
        <p14:creationId xmlns:p14="http://schemas.microsoft.com/office/powerpoint/2010/main" val="42801532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B5EC-6CB1-4FB5-C712-97204302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032CA-722F-77ED-D5AA-CD310622D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925F5-7530-1009-6118-2D140DD909E7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65161C-52DF-F1D6-BA9D-C9DFE4F1B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68"/>
          <a:stretch/>
        </p:blipFill>
        <p:spPr>
          <a:xfrm>
            <a:off x="3711161" y="2301251"/>
            <a:ext cx="4279900" cy="39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D4CB01-B59D-DBCE-E882-8779B8CB3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320577"/>
            <a:ext cx="1219200" cy="35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A690FF-4B03-77D7-4629-99F685780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72" y="3473857"/>
            <a:ext cx="3886200" cy="6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4A56C-21CF-2CDB-415B-5A4E2A9C0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069" y="3473857"/>
            <a:ext cx="40386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F67095-B480-20D3-9850-05D9EFE25844}"/>
              </a:ext>
            </a:extLst>
          </p:cNvPr>
          <p:cNvSpPr txBox="1"/>
          <p:nvPr/>
        </p:nvSpPr>
        <p:spPr>
          <a:xfrm>
            <a:off x="993913" y="1722783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 for analogies: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D0595-CF90-4DCC-9C39-A2F0316FFA5F}"/>
              </a:ext>
            </a:extLst>
          </p:cNvPr>
          <p:cNvSpPr txBox="1"/>
          <p:nvPr/>
        </p:nvSpPr>
        <p:spPr>
          <a:xfrm>
            <a:off x="2875723" y="2320577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13552-4977-80D5-19E3-A207D78A6806}"/>
              </a:ext>
            </a:extLst>
          </p:cNvPr>
          <p:cNvSpPr txBox="1"/>
          <p:nvPr/>
        </p:nvSpPr>
        <p:spPr>
          <a:xfrm>
            <a:off x="993912" y="2909470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method is “3CosAdd”: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57CEC-645F-C372-E0B0-9EE9AEB7C481}"/>
              </a:ext>
            </a:extLst>
          </p:cNvPr>
          <p:cNvSpPr txBox="1"/>
          <p:nvPr/>
        </p:nvSpPr>
        <p:spPr>
          <a:xfrm>
            <a:off x="4283765" y="3574346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6E7808-8A31-69B4-9AB6-C223DCBC40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598" r="69275" b="21354"/>
          <a:stretch/>
        </p:blipFill>
        <p:spPr>
          <a:xfrm>
            <a:off x="6122504" y="4499790"/>
            <a:ext cx="2809461" cy="21468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3183B7-0682-8DC8-AACC-4942527049E6}"/>
              </a:ext>
            </a:extLst>
          </p:cNvPr>
          <p:cNvSpPr txBox="1"/>
          <p:nvPr/>
        </p:nvSpPr>
        <p:spPr>
          <a:xfrm>
            <a:off x="0" y="4777931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461255-841F-4236-FB4D-A7DA73D425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72" y="4810118"/>
            <a:ext cx="5753100" cy="5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1A08E9-A10F-D4FE-560F-63EF0821FAB0}"/>
              </a:ext>
            </a:extLst>
          </p:cNvPr>
          <p:cNvSpPr txBox="1"/>
          <p:nvPr/>
        </p:nvSpPr>
        <p:spPr>
          <a:xfrm>
            <a:off x="901147" y="5477899"/>
            <a:ext cx="49828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</p:spTree>
    <p:extLst>
      <p:ext uri="{BB962C8B-B14F-4D97-AF65-F5344CB8AC3E}">
        <p14:creationId xmlns:p14="http://schemas.microsoft.com/office/powerpoint/2010/main" val="308492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distributional clustering (with LSH)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383765"/>
          </a:xfrm>
        </p:spPr>
        <p:txBody>
          <a:bodyPr>
            <a:normAutofit/>
          </a:bodyPr>
          <a:lstStyle/>
          <a:p>
            <a:r>
              <a:rPr lang="en-US" dirty="0"/>
              <a:t>Common task: </a:t>
            </a:r>
            <a:r>
              <a:rPr lang="en-US" b="1" dirty="0"/>
              <a:t>distributional clustering</a:t>
            </a:r>
          </a:p>
          <a:p>
            <a:pPr lvl="1"/>
            <a:r>
              <a:rPr lang="en-US" dirty="0"/>
              <a:t>for a word </a:t>
            </a:r>
            <a:r>
              <a:rPr lang="en-US" i="1" dirty="0"/>
              <a:t>w, </a:t>
            </a:r>
            <a:r>
              <a:rPr lang="en-US" b="1" i="1" dirty="0"/>
              <a:t>v</a:t>
            </a:r>
            <a:r>
              <a:rPr lang="en-US" i="1" dirty="0"/>
              <a:t>(w) </a:t>
            </a:r>
            <a:r>
              <a:rPr lang="en-US" dirty="0"/>
              <a:t>is sparse vector of words that co-occur with </a:t>
            </a:r>
            <a:r>
              <a:rPr lang="en-US" i="1" dirty="0"/>
              <a:t>w</a:t>
            </a:r>
          </a:p>
          <a:p>
            <a:pPr lvl="1"/>
            <a:r>
              <a:rPr lang="en-US" dirty="0"/>
              <a:t>cluster the </a:t>
            </a:r>
            <a:r>
              <a:rPr lang="en-US" i="1" dirty="0"/>
              <a:t>v(w)’s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0263" y="3799804"/>
            <a:ext cx="8864600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…guards at </a:t>
            </a:r>
            <a:r>
              <a:rPr lang="en-US" u="sng" dirty="0" err="1"/>
              <a:t>Pentonville</a:t>
            </a:r>
            <a:r>
              <a:rPr lang="en-US" u="sng" dirty="0"/>
              <a:t> prison in North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discovered that an escape </a:t>
            </a:r>
            <a:r>
              <a:rPr lang="en-US" dirty="0"/>
              <a:t>attempt…</a:t>
            </a:r>
          </a:p>
          <a:p>
            <a:endParaRPr lang="en-US" dirty="0"/>
          </a:p>
          <a:p>
            <a:r>
              <a:rPr lang="en-US" u="sng" dirty="0"/>
              <a:t>An American Werewolf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is to be remade </a:t>
            </a:r>
            <a:r>
              <a:rPr lang="en-US" dirty="0"/>
              <a:t>by the son of the original director…</a:t>
            </a:r>
          </a:p>
          <a:p>
            <a:endParaRPr lang="en-US" dirty="0"/>
          </a:p>
          <a:p>
            <a:r>
              <a:rPr lang="en-US" dirty="0"/>
              <a:t>…UK pop up shop </a:t>
            </a:r>
            <a:r>
              <a:rPr lang="en-US" u="sng" dirty="0"/>
              <a:t>on Monmouth Street in </a:t>
            </a:r>
            <a:r>
              <a:rPr lang="en-US" b="1" dirty="0"/>
              <a:t>London</a:t>
            </a:r>
            <a:r>
              <a:rPr lang="en-US" dirty="0"/>
              <a:t> </a:t>
            </a:r>
            <a:r>
              <a:rPr lang="en-US" u="sng" dirty="0"/>
              <a:t>today and on Friday </a:t>
            </a:r>
            <a:r>
              <a:rPr lang="en-US" dirty="0"/>
              <a:t>the brand…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9322" y="5847145"/>
            <a:ext cx="886460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="1" dirty="0"/>
              <a:t>(London):  </a:t>
            </a:r>
            <a:r>
              <a:rPr lang="en-US" dirty="0" err="1"/>
              <a:t>Pentonville</a:t>
            </a:r>
            <a:r>
              <a:rPr lang="en-US" dirty="0"/>
              <a:t>, prison, in, North, …. and, on Friday 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5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A51E25-2752-A750-4B69-DAB32A515B3E}"/>
              </a:ext>
            </a:extLst>
          </p:cNvPr>
          <p:cNvSpPr txBox="1"/>
          <p:nvPr/>
        </p:nvSpPr>
        <p:spPr>
          <a:xfrm>
            <a:off x="7369311" y="1244213"/>
            <a:ext cx="119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411C7-B37B-CD6A-BAE7-350504D25788}"/>
              </a:ext>
            </a:extLst>
          </p:cNvPr>
          <p:cNvSpPr txBox="1"/>
          <p:nvPr/>
        </p:nvSpPr>
        <p:spPr>
          <a:xfrm>
            <a:off x="404192" y="3179130"/>
            <a:ext cx="872655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Key idea:  these two vectors are closely 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word2vec embedding of </a:t>
            </a:r>
            <a:r>
              <a:rPr lang="en-US" i="1" dirty="0"/>
              <a:t>w</a:t>
            </a:r>
            <a:r>
              <a:rPr lang="en-US" dirty="0"/>
              <a:t>=“London”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distributional representation of </a:t>
            </a:r>
            <a:r>
              <a:rPr lang="en-US" i="1" dirty="0"/>
              <a:t>w</a:t>
            </a:r>
            <a:r>
              <a:rPr lang="en-US" dirty="0"/>
              <a:t>=“London”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context words </a:t>
            </a:r>
            <a:r>
              <a:rPr lang="en-US" i="1" dirty="0"/>
              <a:t>c</a:t>
            </a:r>
            <a:r>
              <a:rPr lang="en-US" dirty="0"/>
              <a:t> weighted by “positive pointwise mutual information”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AE459-4B28-DE12-DAD6-59410B37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92" y="4763868"/>
            <a:ext cx="4935102" cy="1212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C11A61-AAEA-3B3F-9D69-F76A99F51091}"/>
              </a:ext>
            </a:extLst>
          </p:cNvPr>
          <p:cNvSpPr txBox="1"/>
          <p:nvPr/>
        </p:nvSpPr>
        <p:spPr>
          <a:xfrm>
            <a:off x="310046" y="6196568"/>
            <a:ext cx="85239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embeddings are matrix factorization of the PPMI matrix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2A4305-16DE-8B1F-CB8B-574CF03330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286"/>
          <a:stretch/>
        </p:blipFill>
        <p:spPr>
          <a:xfrm>
            <a:off x="576471" y="1146161"/>
            <a:ext cx="6465956" cy="183937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FCE7792-9C42-ED26-53F8-7C2E58ACBA63}"/>
              </a:ext>
            </a:extLst>
          </p:cNvPr>
          <p:cNvSpPr txBox="1">
            <a:spLocks/>
          </p:cNvSpPr>
          <p:nvPr/>
        </p:nvSpPr>
        <p:spPr>
          <a:xfrm>
            <a:off x="279400" y="292100"/>
            <a:ext cx="8648700" cy="8048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dirty="0"/>
              <a:t>Background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0C062-862D-A8F1-5EEC-2855F090DF92}"/>
              </a:ext>
            </a:extLst>
          </p:cNvPr>
          <p:cNvSpPr txBox="1"/>
          <p:nvPr/>
        </p:nvSpPr>
        <p:spPr>
          <a:xfrm>
            <a:off x="4252154" y="222831"/>
            <a:ext cx="3910772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Q: what if you use the original </a:t>
            </a:r>
            <a:r>
              <a:rPr lang="en-US" b="1" dirty="0"/>
              <a:t>sparse</a:t>
            </a:r>
            <a:r>
              <a:rPr lang="en-US" dirty="0"/>
              <a:t> (unfactored) PPMI word vectors for analogies?</a:t>
            </a:r>
          </a:p>
        </p:txBody>
      </p:sp>
    </p:spTree>
    <p:extLst>
      <p:ext uri="{BB962C8B-B14F-4D97-AF65-F5344CB8AC3E}">
        <p14:creationId xmlns:p14="http://schemas.microsoft.com/office/powerpoint/2010/main" val="354334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6072-F198-46A2-F058-EB71C6F8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D7560-F273-26A1-C266-20AFD3C4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BC092E-8DEE-779E-E576-40F742AA3400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A64E7-95FF-7DF0-00C4-EDF03A7C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68"/>
          <a:stretch/>
        </p:blipFill>
        <p:spPr>
          <a:xfrm>
            <a:off x="3711161" y="2301251"/>
            <a:ext cx="4279900" cy="394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6B0522-9C40-69E9-5C48-EFE151221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320577"/>
            <a:ext cx="1219200" cy="35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BD82D-0881-AB29-1E50-45919E80B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72" y="3473857"/>
            <a:ext cx="3886200" cy="6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FAB207-822C-16EE-B116-70634FF94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069" y="3473857"/>
            <a:ext cx="4038600" cy="66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5E90A2-E4CB-07D8-2AF0-8A2168AEA7FE}"/>
              </a:ext>
            </a:extLst>
          </p:cNvPr>
          <p:cNvSpPr txBox="1"/>
          <p:nvPr/>
        </p:nvSpPr>
        <p:spPr>
          <a:xfrm>
            <a:off x="993913" y="1722783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Notation for analogies: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F1A1C-8F10-877A-DBCB-054B3B4C587B}"/>
              </a:ext>
            </a:extLst>
          </p:cNvPr>
          <p:cNvSpPr txBox="1"/>
          <p:nvPr/>
        </p:nvSpPr>
        <p:spPr>
          <a:xfrm>
            <a:off x="2875723" y="2320577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61822-48B8-95A9-3393-6E69D8B117F0}"/>
              </a:ext>
            </a:extLst>
          </p:cNvPr>
          <p:cNvSpPr txBox="1"/>
          <p:nvPr/>
        </p:nvSpPr>
        <p:spPr>
          <a:xfrm>
            <a:off x="993912" y="2909470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Word2vec method is “3CosAdd”: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72164-2F89-2F8D-77C2-1A0A1890EA9E}"/>
              </a:ext>
            </a:extLst>
          </p:cNvPr>
          <p:cNvSpPr txBox="1"/>
          <p:nvPr/>
        </p:nvSpPr>
        <p:spPr>
          <a:xfrm>
            <a:off x="4283765" y="3574346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5F577E-E395-8746-BDEB-25063F28F4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598" r="69275" b="21354"/>
          <a:stretch/>
        </p:blipFill>
        <p:spPr>
          <a:xfrm>
            <a:off x="6122504" y="4499790"/>
            <a:ext cx="2809461" cy="21468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F0DD3E-48B1-E9FB-D74C-F38B49111EA8}"/>
              </a:ext>
            </a:extLst>
          </p:cNvPr>
          <p:cNvSpPr txBox="1"/>
          <p:nvPr/>
        </p:nvSpPr>
        <p:spPr>
          <a:xfrm>
            <a:off x="0" y="4777931"/>
            <a:ext cx="66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2C1E38-BC60-613B-0F1D-9D361CDD4A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72" y="4810118"/>
            <a:ext cx="5753100" cy="50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A5C9BE-3290-A55F-E715-D5DBCD6BCBC0}"/>
              </a:ext>
            </a:extLst>
          </p:cNvPr>
          <p:cNvSpPr txBox="1"/>
          <p:nvPr/>
        </p:nvSpPr>
        <p:spPr>
          <a:xfrm>
            <a:off x="901147" y="5477899"/>
            <a:ext cx="498281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</p:spTree>
    <p:extLst>
      <p:ext uri="{BB962C8B-B14F-4D97-AF65-F5344CB8AC3E}">
        <p14:creationId xmlns:p14="http://schemas.microsoft.com/office/powerpoint/2010/main" val="385280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E815-5347-F140-9F2C-81BD350A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5CB9D-0E43-AC9E-FA65-8FAFCC92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18355A-8276-920E-238C-775F5CE68CBE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571D7-EAA1-5F5B-C3AB-F3C36A542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406" b="819"/>
          <a:stretch/>
        </p:blipFill>
        <p:spPr>
          <a:xfrm>
            <a:off x="1929297" y="1709530"/>
            <a:ext cx="5067852" cy="160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BC86A-3301-F733-95F5-0F1E2B55F1D6}"/>
              </a:ext>
            </a:extLst>
          </p:cNvPr>
          <p:cNvSpPr txBox="1"/>
          <p:nvPr/>
        </p:nvSpPr>
        <p:spPr>
          <a:xfrm>
            <a:off x="0" y="2638418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1B985-682C-BE4F-F1F1-4EA8A1F4D5B8}"/>
              </a:ext>
            </a:extLst>
          </p:cNvPr>
          <p:cNvSpPr txBox="1"/>
          <p:nvPr/>
        </p:nvSpPr>
        <p:spPr>
          <a:xfrm>
            <a:off x="0" y="2269086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93F65-89B3-D259-ADA6-2C6FCA5C639D}"/>
              </a:ext>
            </a:extLst>
          </p:cNvPr>
          <p:cNvSpPr txBox="1"/>
          <p:nvPr/>
        </p:nvSpPr>
        <p:spPr>
          <a:xfrm>
            <a:off x="925995" y="1245086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Observation: old-school sparse vectors also work for analogies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1DF1D6-A598-A601-FED6-41168A5C8760}"/>
              </a:ext>
            </a:extLst>
          </p:cNvPr>
          <p:cNvSpPr txBox="1"/>
          <p:nvPr/>
        </p:nvSpPr>
        <p:spPr>
          <a:xfrm>
            <a:off x="925994" y="3197974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not as well as word2vec using 3CosAdd rule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A48570-D8F8-6217-EB03-FCF79E935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2" y="3911477"/>
            <a:ext cx="4878456" cy="4307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D35DB94-64A8-131C-E69B-B9C18003D3D7}"/>
              </a:ext>
            </a:extLst>
          </p:cNvPr>
          <p:cNvSpPr txBox="1"/>
          <p:nvPr/>
        </p:nvSpPr>
        <p:spPr>
          <a:xfrm>
            <a:off x="925994" y="5316605"/>
            <a:ext cx="3752023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i.e., </a:t>
            </a:r>
            <a:r>
              <a:rPr lang="en-US" i="1" dirty="0"/>
              <a:t>b* </a:t>
            </a:r>
            <a:r>
              <a:rPr lang="en-US" dirty="0"/>
              <a:t>(queen) should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</a:t>
            </a:r>
            <a:r>
              <a:rPr lang="en-US" i="1" dirty="0"/>
              <a:t> b </a:t>
            </a:r>
            <a:r>
              <a:rPr lang="en-US" dirty="0"/>
              <a:t>(king)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</a:t>
            </a:r>
            <a:r>
              <a:rPr lang="en-US" i="1" dirty="0"/>
              <a:t>a* </a:t>
            </a:r>
            <a:r>
              <a:rPr lang="en-US" dirty="0"/>
              <a:t>(woman)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from </a:t>
            </a:r>
            <a:r>
              <a:rPr lang="en-US" i="1" dirty="0"/>
              <a:t>a </a:t>
            </a:r>
            <a:r>
              <a:rPr lang="en-US" dirty="0"/>
              <a:t>(man) 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71D5BB-1FFC-456E-D479-8DD7BDAFE5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722" y="4198860"/>
            <a:ext cx="4368800" cy="927100"/>
          </a:xfrm>
          <a:prstGeom prst="rect">
            <a:avLst/>
          </a:prstGeom>
        </p:spPr>
      </p:pic>
      <p:sp>
        <p:nvSpPr>
          <p:cNvPr id="25" name="Right Arrow 24">
            <a:extLst>
              <a:ext uri="{FF2B5EF4-FFF2-40B4-BE49-F238E27FC236}">
                <a16:creationId xmlns:a16="http://schemas.microsoft.com/office/drawing/2014/main" id="{C5BA21AE-CA6E-E958-FC60-A60415F1821F}"/>
              </a:ext>
            </a:extLst>
          </p:cNvPr>
          <p:cNvSpPr/>
          <p:nvPr/>
        </p:nvSpPr>
        <p:spPr>
          <a:xfrm>
            <a:off x="3273287" y="4532891"/>
            <a:ext cx="1404730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B6E969-8FE5-4927-8581-33DE923FFC32}"/>
              </a:ext>
            </a:extLst>
          </p:cNvPr>
          <p:cNvSpPr txBox="1"/>
          <p:nvPr/>
        </p:nvSpPr>
        <p:spPr>
          <a:xfrm>
            <a:off x="5670274" y="5297345"/>
            <a:ext cx="2893944" cy="86177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3CosMul</a:t>
            </a:r>
          </a:p>
          <a:p>
            <a:pPr algn="ctr"/>
            <a:endParaRPr lang="en-US" dirty="0"/>
          </a:p>
          <a:p>
            <a:r>
              <a:rPr lang="en-US" sz="1400" dirty="0"/>
              <a:t>*scale sims to [0,1]</a:t>
            </a:r>
          </a:p>
        </p:txBody>
      </p:sp>
    </p:spTree>
    <p:extLst>
      <p:ext uri="{BB962C8B-B14F-4D97-AF65-F5344CB8AC3E}">
        <p14:creationId xmlns:p14="http://schemas.microsoft.com/office/powerpoint/2010/main" val="15737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6EF7-A84A-6966-64A6-2AC99803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3991F-FE04-F1EF-0C0B-8ABB516391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202"/>
          <a:stretch/>
        </p:blipFill>
        <p:spPr>
          <a:xfrm>
            <a:off x="513522" y="528812"/>
            <a:ext cx="7772400" cy="650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24B30-A168-F79E-AB90-EDF043AA0E55}"/>
              </a:ext>
            </a:extLst>
          </p:cNvPr>
          <p:cNvSpPr txBox="1"/>
          <p:nvPr/>
        </p:nvSpPr>
        <p:spPr>
          <a:xfrm>
            <a:off x="6626087" y="132522"/>
            <a:ext cx="180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B32196-F5E5-700C-3083-8B7161D6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239" y="1760316"/>
            <a:ext cx="6731236" cy="2253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D3D00-EC01-A82A-864B-1EBA77F04023}"/>
              </a:ext>
            </a:extLst>
          </p:cNvPr>
          <p:cNvSpPr txBox="1"/>
          <p:nvPr/>
        </p:nvSpPr>
        <p:spPr>
          <a:xfrm>
            <a:off x="106017" y="3287772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3DF6A-FF7E-2764-56E7-A6161552D239}"/>
              </a:ext>
            </a:extLst>
          </p:cNvPr>
          <p:cNvSpPr txBox="1"/>
          <p:nvPr/>
        </p:nvSpPr>
        <p:spPr>
          <a:xfrm>
            <a:off x="106017" y="2997336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0CFD0-E7A0-EE26-59BC-75ADD53C0B6F}"/>
              </a:ext>
            </a:extLst>
          </p:cNvPr>
          <p:cNvSpPr txBox="1"/>
          <p:nvPr/>
        </p:nvSpPr>
        <p:spPr>
          <a:xfrm>
            <a:off x="129525" y="2628004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sparse PPI vectors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4C1BF-F4F8-61AF-FB19-F4E81BF55D36}"/>
              </a:ext>
            </a:extLst>
          </p:cNvPr>
          <p:cNvSpPr txBox="1"/>
          <p:nvPr/>
        </p:nvSpPr>
        <p:spPr>
          <a:xfrm>
            <a:off x="129525" y="2337568"/>
            <a:ext cx="2464904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/>
              <a:t>word2vec </a:t>
            </a:r>
            <a:r>
              <a:rPr lang="en-US" dirty="0">
                <a:sym typeface="Wingdings" pitchFamily="2" charset="2"/>
              </a:rPr>
              <a:t>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A06A4-15B0-5F62-EACE-AFF65B77A797}"/>
              </a:ext>
            </a:extLst>
          </p:cNvPr>
          <p:cNvSpPr txBox="1"/>
          <p:nvPr/>
        </p:nvSpPr>
        <p:spPr>
          <a:xfrm>
            <a:off x="753717" y="4152086"/>
            <a:ext cx="729200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So: old-school sparse vectors also work for analogies. </a:t>
            </a:r>
          </a:p>
        </p:txBody>
      </p:sp>
    </p:spTree>
    <p:extLst>
      <p:ext uri="{BB962C8B-B14F-4D97-AF65-F5344CB8AC3E}">
        <p14:creationId xmlns:p14="http://schemas.microsoft.com/office/powerpoint/2010/main" val="18302903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29AC-7BD1-7F77-EE9A-997DF06C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81B4-3106-365F-0121-A4AB8843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Analogies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74699-F30B-ACAE-79BD-4AA38F259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100"/>
            <a:ext cx="9144000" cy="3201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5300AE-FAF4-E216-DE3A-C7753B299A0C}"/>
              </a:ext>
            </a:extLst>
          </p:cNvPr>
          <p:cNvSpPr txBox="1"/>
          <p:nvPr/>
        </p:nvSpPr>
        <p:spPr>
          <a:xfrm>
            <a:off x="1714499" y="5314950"/>
            <a:ext cx="6104283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It would be great if vector-based representations did have more </a:t>
            </a:r>
            <a:r>
              <a:rPr lang="en-US" b="1" dirty="0"/>
              <a:t>modularity</a:t>
            </a:r>
            <a:r>
              <a:rPr lang="en-US" dirty="0"/>
              <a:t>: e.g., add ”past tense” to a word sense</a:t>
            </a:r>
          </a:p>
        </p:txBody>
      </p:sp>
    </p:spTree>
    <p:extLst>
      <p:ext uri="{BB962C8B-B14F-4D97-AF65-F5344CB8AC3E}">
        <p14:creationId xmlns:p14="http://schemas.microsoft.com/office/powerpoint/2010/main" val="272605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0EF6E6-941B-367E-4B23-0777FD5E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48" y="658431"/>
            <a:ext cx="7772400" cy="2770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C65B04-9547-4292-0A97-1A1850699033}"/>
                  </a:ext>
                </a:extLst>
              </p:cNvPr>
              <p:cNvSpPr txBox="1"/>
              <p:nvPr/>
            </p:nvSpPr>
            <p:spPr>
              <a:xfrm>
                <a:off x="742122" y="3697357"/>
                <a:ext cx="7036904" cy="109946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Studied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C65B04-9547-4292-0A97-1A185069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22" y="3697357"/>
                <a:ext cx="7036904" cy="1099468"/>
              </a:xfrm>
              <a:prstGeom prst="rect">
                <a:avLst/>
              </a:prstGeom>
              <a:blipFill>
                <a:blip r:embed="rId4"/>
                <a:stretch>
                  <a:fillRect l="-539" t="-2247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9F13FE-2FAD-FA3A-4E7D-60F17B45CD43}"/>
                  </a:ext>
                </a:extLst>
              </p:cNvPr>
              <p:cNvSpPr txBox="1"/>
              <p:nvPr/>
            </p:nvSpPr>
            <p:spPr>
              <a:xfrm>
                <a:off x="1736035" y="5065182"/>
                <a:ext cx="5208106" cy="1099468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Examples: if 𝜃 is the pre-trained model weights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𝜃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/>
                  <a:t> = ???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𝜃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/>
                  <a:t> = ???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9F13FE-2FAD-FA3A-4E7D-60F17B45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035" y="5065182"/>
                <a:ext cx="5208106" cy="1099468"/>
              </a:xfrm>
              <a:prstGeom prst="rect">
                <a:avLst/>
              </a:prstGeom>
              <a:blipFill>
                <a:blip r:embed="rId5"/>
                <a:stretch>
                  <a:fillRect l="-1211" t="-1111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40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CA3C-30D5-260F-FC06-8021BD0C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E96EE-8B42-032E-4200-D83F7163F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𝜃 = pre-trained GPT2</a:t>
            </a:r>
          </a:p>
          <a:p>
            <a:r>
              <a:rPr lang="en-US" dirty="0"/>
              <a:t>Fine-tune GPT2 on </a:t>
            </a:r>
            <a:r>
              <a:rPr lang="en-US" dirty="0" err="1"/>
              <a:t>CivilComments</a:t>
            </a:r>
            <a:r>
              <a:rPr lang="en-US" dirty="0"/>
              <a:t> datasets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nice</a:t>
            </a:r>
            <a:r>
              <a:rPr lang="en-US" dirty="0"/>
              <a:t>: toxicity &lt; 0.2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toxic</a:t>
            </a:r>
            <a:r>
              <a:rPr lang="en-US" i="1" dirty="0"/>
              <a:t>: </a:t>
            </a:r>
            <a:r>
              <a:rPr lang="en-US" dirty="0"/>
              <a:t>toxicity &gt; 0.8</a:t>
            </a:r>
          </a:p>
          <a:p>
            <a:r>
              <a:rPr lang="en-US" dirty="0"/>
              <a:t>Assess toxicity of 1000 outputs with a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99193-84E1-6BC7-25A5-7B18F64A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3428999"/>
            <a:ext cx="8951895" cy="2453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9CDD8-8744-31FF-D6DA-FC2A70E373F0}"/>
              </a:ext>
            </a:extLst>
          </p:cNvPr>
          <p:cNvSpPr txBox="1"/>
          <p:nvPr/>
        </p:nvSpPr>
        <p:spPr>
          <a:xfrm>
            <a:off x="148424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2BC3E-4892-26B4-63B4-97B9F583C706}"/>
              </a:ext>
            </a:extLst>
          </p:cNvPr>
          <p:cNvSpPr txBox="1"/>
          <p:nvPr/>
        </p:nvSpPr>
        <p:spPr>
          <a:xfrm>
            <a:off x="1484241" y="4300642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3376D-AE99-97AA-68D7-8C7DA9E73A55}"/>
              </a:ext>
            </a:extLst>
          </p:cNvPr>
          <p:cNvSpPr txBox="1"/>
          <p:nvPr/>
        </p:nvSpPr>
        <p:spPr>
          <a:xfrm>
            <a:off x="2186608" y="5226081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-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F8ED8-05B3-433C-DA3D-EE287784B095}"/>
              </a:ext>
            </a:extLst>
          </p:cNvPr>
          <p:cNvSpPr txBox="1"/>
          <p:nvPr/>
        </p:nvSpPr>
        <p:spPr>
          <a:xfrm>
            <a:off x="2441713" y="4735200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nice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3B7EB-B9B6-E597-60F9-37A9F85EF5AE}"/>
              </a:ext>
            </a:extLst>
          </p:cNvPr>
          <p:cNvSpPr txBox="1"/>
          <p:nvPr/>
        </p:nvSpPr>
        <p:spPr>
          <a:xfrm>
            <a:off x="1755910" y="5001136"/>
            <a:ext cx="243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same magnitude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B590-09AC-2E43-A9D5-D9A991F7440A}"/>
              </a:ext>
            </a:extLst>
          </p:cNvPr>
          <p:cNvSpPr txBox="1"/>
          <p:nvPr/>
        </p:nvSpPr>
        <p:spPr>
          <a:xfrm>
            <a:off x="2973177" y="5814694"/>
            <a:ext cx="4355275" cy="653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Subtracting the task vector is a way of “forgetting” how to perform that task!</a:t>
            </a:r>
          </a:p>
        </p:txBody>
      </p:sp>
    </p:spTree>
    <p:extLst>
      <p:ext uri="{BB962C8B-B14F-4D97-AF65-F5344CB8AC3E}">
        <p14:creationId xmlns:p14="http://schemas.microsoft.com/office/powerpoint/2010/main" val="330561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5DB0-273C-BE5C-A208-9EE02A08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0CAE-6E70-CB3B-E451-4C656244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</a:t>
            </a:r>
            <a:r>
              <a:rPr lang="en-US" dirty="0">
                <a:highlight>
                  <a:srgbClr val="FFFF00"/>
                </a:highlight>
              </a:rPr>
              <a:t>scaled</a:t>
            </a:r>
            <a:r>
              <a:rPr lang="en-US" dirty="0"/>
              <a:t>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AA16F-BF81-4A04-5745-4C1C1A75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𝜃 = pre-trained GPT2</a:t>
            </a:r>
          </a:p>
          <a:p>
            <a:r>
              <a:rPr lang="en-US" dirty="0"/>
              <a:t>Fine-tune GPT2 on </a:t>
            </a:r>
            <a:r>
              <a:rPr lang="en-US" dirty="0" err="1"/>
              <a:t>CivilComments</a:t>
            </a:r>
            <a:r>
              <a:rPr lang="en-US" dirty="0"/>
              <a:t> datasets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nice</a:t>
            </a:r>
            <a:r>
              <a:rPr lang="en-US" dirty="0"/>
              <a:t>: toxicity &lt; 0.2</a:t>
            </a:r>
          </a:p>
          <a:p>
            <a:pPr lvl="1"/>
            <a:r>
              <a:rPr lang="en-US" i="1" dirty="0" err="1"/>
              <a:t>t</a:t>
            </a:r>
            <a:r>
              <a:rPr lang="en-US" i="1" baseline="-25000" dirty="0" err="1"/>
              <a:t>toxic</a:t>
            </a:r>
            <a:r>
              <a:rPr lang="en-US" i="1" dirty="0"/>
              <a:t>: </a:t>
            </a:r>
            <a:r>
              <a:rPr lang="en-US" dirty="0"/>
              <a:t>toxicity &gt; 0.8</a:t>
            </a:r>
          </a:p>
          <a:p>
            <a:r>
              <a:rPr lang="en-US" dirty="0"/>
              <a:t>Assess toxicity of 1000 outputs with a classifier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DC51A-8A0C-A533-28A7-CE63184AD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" y="3428999"/>
            <a:ext cx="8951895" cy="2453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410242-81C7-0E61-1F21-4BA81387491D}"/>
              </a:ext>
            </a:extLst>
          </p:cNvPr>
          <p:cNvSpPr txBox="1"/>
          <p:nvPr/>
        </p:nvSpPr>
        <p:spPr>
          <a:xfrm>
            <a:off x="148424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CDE5A-CA46-F234-DFDF-6EF83DC0AC93}"/>
              </a:ext>
            </a:extLst>
          </p:cNvPr>
          <p:cNvSpPr txBox="1"/>
          <p:nvPr/>
        </p:nvSpPr>
        <p:spPr>
          <a:xfrm>
            <a:off x="1484241" y="4300642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toxic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61838B-E95B-9D97-D1CA-93727451F12F}"/>
                  </a:ext>
                </a:extLst>
              </p:cNvPr>
              <p:cNvSpPr txBox="1"/>
              <p:nvPr/>
            </p:nvSpPr>
            <p:spPr>
              <a:xfrm>
                <a:off x="2186608" y="5226081"/>
                <a:ext cx="11728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𝜃 -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𝜏</a:t>
                </a:r>
                <a:r>
                  <a:rPr lang="en-US" sz="1800" baseline="-25000" dirty="0"/>
                  <a:t>toxic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61838B-E95B-9D97-D1CA-93727451F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08" y="5226081"/>
                <a:ext cx="1172818" cy="400110"/>
              </a:xfrm>
              <a:prstGeom prst="rect">
                <a:avLst/>
              </a:prstGeom>
              <a:blipFill>
                <a:blip r:embed="rId3"/>
                <a:stretch>
                  <a:fillRect l="-4301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F0FE43F-E75E-B7AF-B795-7A550A81669C}"/>
              </a:ext>
            </a:extLst>
          </p:cNvPr>
          <p:cNvSpPr txBox="1"/>
          <p:nvPr/>
        </p:nvSpPr>
        <p:spPr>
          <a:xfrm>
            <a:off x="2441713" y="4735200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r>
              <a:rPr lang="en-US" sz="1800" baseline="-25000" dirty="0"/>
              <a:t>nice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1CFBD-A967-A06F-081D-195C6C0A60FB}"/>
              </a:ext>
            </a:extLst>
          </p:cNvPr>
          <p:cNvSpPr txBox="1"/>
          <p:nvPr/>
        </p:nvSpPr>
        <p:spPr>
          <a:xfrm>
            <a:off x="1755910" y="5001136"/>
            <a:ext cx="243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same 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1C11DF-49F2-706A-6652-32F996DDB9A2}"/>
                  </a:ext>
                </a:extLst>
              </p:cNvPr>
              <p:cNvSpPr txBox="1"/>
              <p:nvPr/>
            </p:nvSpPr>
            <p:spPr>
              <a:xfrm>
                <a:off x="1062519" y="5803332"/>
                <a:ext cx="6610490" cy="64633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Scaling factor </a:t>
                </a:r>
                <a14:m>
                  <m:oMath xmlns:m="http://schemas.openxmlformats.org/officeDocument/2006/math"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is set with validation data</a:t>
                </a:r>
              </a:p>
              <a:p>
                <a:r>
                  <a:rPr lang="en-US" dirty="0"/>
                  <a:t>Pick largest </a:t>
                </a:r>
                <a14:m>
                  <m:oMath xmlns:m="http://schemas.openxmlformats.org/officeDocument/2006/math"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where perplexity is &lt; 16.9 (i.e., baseline + 0.5 bits)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1C11DF-49F2-706A-6652-32F996DDB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519" y="5803332"/>
                <a:ext cx="661049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8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2265-688E-83D2-24ED-D2E0A038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9DC6-9FC5-5729-5941-A7044FB2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with scaled task negation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4F14A-8660-5BD6-3E00-6217359E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0"/>
            <a:ext cx="8201990" cy="1676189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𝜃 = pre-trained CLIPS</a:t>
            </a:r>
          </a:p>
          <a:p>
            <a:r>
              <a:rPr lang="en-US" dirty="0"/>
              <a:t>Fine-tune on 8 different image tasks</a:t>
            </a:r>
          </a:p>
          <a:p>
            <a:r>
              <a:rPr lang="en-US" dirty="0"/>
              <a:t>See if the resulting models forgets that task while maintaining performance on control task (ImageNet classification)</a:t>
            </a:r>
          </a:p>
          <a:p>
            <a:r>
              <a:rPr lang="en-US" dirty="0"/>
              <a:t>Report average over all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D212AC-4522-89D9-CCEC-99D35EE1F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30" b="-640"/>
          <a:stretch/>
        </p:blipFill>
        <p:spPr>
          <a:xfrm>
            <a:off x="-4767" y="3270540"/>
            <a:ext cx="8842729" cy="22158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7B648-DD3A-8222-EA6C-CB16A288B962}"/>
              </a:ext>
            </a:extLst>
          </p:cNvPr>
          <p:cNvSpPr txBox="1"/>
          <p:nvPr/>
        </p:nvSpPr>
        <p:spPr>
          <a:xfrm>
            <a:off x="8656430" y="4009138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4FC35-84B9-82F2-7809-AB8D01869C32}"/>
                  </a:ext>
                </a:extLst>
              </p:cNvPr>
              <p:cNvSpPr txBox="1"/>
              <p:nvPr/>
            </p:nvSpPr>
            <p:spPr>
              <a:xfrm>
                <a:off x="8341691" y="4962052"/>
                <a:ext cx="11728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𝜃 -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𝜏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4FC35-84B9-82F2-7809-AB8D01869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91" y="4962052"/>
                <a:ext cx="1172818" cy="400110"/>
              </a:xfrm>
              <a:prstGeom prst="rect">
                <a:avLst/>
              </a:prstGeom>
              <a:blipFill>
                <a:blip r:embed="rId3"/>
                <a:stretch>
                  <a:fillRect l="-4255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0DEB1A6-9667-9A5E-FD8E-DABCD7738B9A}"/>
              </a:ext>
            </a:extLst>
          </p:cNvPr>
          <p:cNvSpPr txBox="1"/>
          <p:nvPr/>
        </p:nvSpPr>
        <p:spPr>
          <a:xfrm>
            <a:off x="8481391" y="4270151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0CE885-81A0-714C-4128-307F103050DD}"/>
              </a:ext>
            </a:extLst>
          </p:cNvPr>
          <p:cNvSpPr txBox="1"/>
          <p:nvPr/>
        </p:nvSpPr>
        <p:spPr>
          <a:xfrm>
            <a:off x="2517914" y="311426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smaller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8F141-8C6B-A416-C318-FD384F9CA3E6}"/>
              </a:ext>
            </a:extLst>
          </p:cNvPr>
          <p:cNvSpPr txBox="1"/>
          <p:nvPr/>
        </p:nvSpPr>
        <p:spPr>
          <a:xfrm>
            <a:off x="6685169" y="311426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larger model</a:t>
            </a:r>
          </a:p>
        </p:txBody>
      </p:sp>
    </p:spTree>
    <p:extLst>
      <p:ext uri="{BB962C8B-B14F-4D97-AF65-F5344CB8AC3E}">
        <p14:creationId xmlns:p14="http://schemas.microsoft.com/office/powerpoint/2010/main" val="13704584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3F1E-E737-2D63-550D-BE037553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FE4A-AB1A-EF89-9962-DCA5C94F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05C3-7101-6138-F110-53BD7628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93539" cy="350023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Objective: sentiment analysis on reviews from Yelp</a:t>
            </a:r>
          </a:p>
          <a:p>
            <a:r>
              <a:rPr lang="en-US" dirty="0"/>
              <a:t>Data available</a:t>
            </a:r>
          </a:p>
          <a:p>
            <a:pPr lvl="1"/>
            <a:r>
              <a:rPr lang="en-US" dirty="0"/>
              <a:t>unlabeled reviews from Yelp</a:t>
            </a:r>
          </a:p>
          <a:p>
            <a:pPr lvl="1"/>
            <a:r>
              <a:rPr lang="en-US" dirty="0"/>
              <a:t>sentiment data from Amazon reviews</a:t>
            </a:r>
          </a:p>
          <a:p>
            <a:pPr lvl="1"/>
            <a:r>
              <a:rPr lang="en-US" dirty="0"/>
              <a:t>unlabeled Amazon reviews</a:t>
            </a:r>
          </a:p>
          <a:p>
            <a:r>
              <a:rPr lang="en-US" dirty="0"/>
              <a:t>Approach: build task vectors for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:  language modeling on Yelp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:  language modeling on Amazon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AmazonSentiment</a:t>
            </a:r>
            <a:r>
              <a:rPr lang="en-US" dirty="0"/>
              <a:t>:  sentiment prediction on Amazon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Finally use</a:t>
            </a:r>
          </a:p>
          <a:p>
            <a:pPr marL="457200" lvl="1" indent="0" algn="ctr">
              <a:buNone/>
            </a:pPr>
            <a:r>
              <a:rPr lang="en-US" dirty="0"/>
              <a:t>λ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 err="1"/>
              <a:t>AmazonSentiment</a:t>
            </a:r>
            <a:r>
              <a:rPr lang="en-US" baseline="-25000" dirty="0"/>
              <a:t> </a:t>
            </a:r>
            <a:r>
              <a:rPr lang="en-US" dirty="0"/>
              <a:t>+ (λ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  — λ</a:t>
            </a:r>
            <a:r>
              <a:rPr lang="en-US" baseline="-25000" dirty="0"/>
              <a:t>3</a:t>
            </a:r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9DB6C-A4A4-D794-A12A-517E915F7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33" y="4917867"/>
            <a:ext cx="63119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841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ACB4-4C74-371E-AE23-25BDFAAC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1DC0-E4CC-0062-C118-CCFE046A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08225-5E32-FE20-06EE-A13E93F2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93539" cy="3500231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Objective: sentiment analysis on reviews from Yelp</a:t>
            </a:r>
          </a:p>
          <a:p>
            <a:r>
              <a:rPr lang="en-US" dirty="0"/>
              <a:t>Data available</a:t>
            </a:r>
          </a:p>
          <a:p>
            <a:pPr lvl="1"/>
            <a:r>
              <a:rPr lang="en-US" dirty="0"/>
              <a:t>unlabeled reviews from </a:t>
            </a:r>
            <a:r>
              <a:rPr lang="en-US" strike="sngStrike" dirty="0"/>
              <a:t>Yelp</a:t>
            </a:r>
            <a:r>
              <a:rPr lang="en-US" dirty="0"/>
              <a:t> Amazon</a:t>
            </a:r>
          </a:p>
          <a:p>
            <a:pPr lvl="1"/>
            <a:r>
              <a:rPr lang="en-US" dirty="0"/>
              <a:t>sentiment data from </a:t>
            </a:r>
            <a:r>
              <a:rPr lang="en-US" strike="sngStrike" dirty="0"/>
              <a:t>Amazon</a:t>
            </a:r>
            <a:r>
              <a:rPr lang="en-US" dirty="0"/>
              <a:t> Yelp reviews</a:t>
            </a:r>
          </a:p>
          <a:p>
            <a:pPr lvl="1"/>
            <a:r>
              <a:rPr lang="en-US" dirty="0"/>
              <a:t>unlabeled </a:t>
            </a:r>
            <a:r>
              <a:rPr lang="en-US" strike="sngStrike" dirty="0"/>
              <a:t>Amazon</a:t>
            </a:r>
            <a:r>
              <a:rPr lang="en-US" dirty="0"/>
              <a:t> Yelp reviews</a:t>
            </a:r>
          </a:p>
          <a:p>
            <a:r>
              <a:rPr lang="en-US" dirty="0"/>
              <a:t>Approach: build task vectors for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:  language modeling on Yelp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:  language modeling on Amazon</a:t>
            </a:r>
          </a:p>
          <a:p>
            <a:pPr lvl="1"/>
            <a:r>
              <a:rPr lang="en-US" dirty="0"/>
              <a:t>𝜏</a:t>
            </a:r>
            <a:r>
              <a:rPr lang="en-US" baseline="-25000" dirty="0" err="1"/>
              <a:t>YelpSentiment</a:t>
            </a:r>
            <a:r>
              <a:rPr lang="en-US" dirty="0"/>
              <a:t>:  sentiment prediction on Amazon Yelp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Finally use</a:t>
            </a:r>
          </a:p>
          <a:p>
            <a:pPr marL="457200" lvl="1" indent="0" algn="ctr">
              <a:buNone/>
            </a:pPr>
            <a:r>
              <a:rPr lang="en-US" dirty="0"/>
              <a:t>λ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 err="1"/>
              <a:t>YelpSentiment</a:t>
            </a:r>
            <a:r>
              <a:rPr lang="en-US" baseline="-25000" dirty="0"/>
              <a:t> </a:t>
            </a:r>
            <a:r>
              <a:rPr lang="en-US" dirty="0"/>
              <a:t>+ (λ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 err="1"/>
              <a:t>AmazonLM</a:t>
            </a:r>
            <a:r>
              <a:rPr lang="en-US" dirty="0"/>
              <a:t>  — λ</a:t>
            </a:r>
            <a:r>
              <a:rPr lang="en-US" baseline="-25000" dirty="0"/>
              <a:t>3</a:t>
            </a:r>
            <a:r>
              <a:rPr lang="en-US" dirty="0"/>
              <a:t>𝜏</a:t>
            </a:r>
            <a:r>
              <a:rPr lang="en-US" baseline="-25000" dirty="0" err="1"/>
              <a:t>YelpLM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6354F-6785-39A8-2478-9F2B0B4A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433"/>
          <a:stretch/>
        </p:blipFill>
        <p:spPr>
          <a:xfrm>
            <a:off x="593035" y="4757530"/>
            <a:ext cx="2815574" cy="2136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791BB1-4BDE-AF52-CCE1-2E95D4B72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92"/>
          <a:stretch/>
        </p:blipFill>
        <p:spPr>
          <a:xfrm>
            <a:off x="3273286" y="4757530"/>
            <a:ext cx="4240701" cy="21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106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04D9-2E33-2348-AE79-A508CF2E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E4B2-13CD-C014-7C76-B38A37D8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EF6773-8F71-D923-9113-D72A6E5C2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60" r="662" b="6096"/>
          <a:stretch/>
        </p:blipFill>
        <p:spPr>
          <a:xfrm>
            <a:off x="279400" y="2186608"/>
            <a:ext cx="8705013" cy="530087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E5A2EF7-851E-C766-6F48-20B32239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34513" cy="8048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Objective: improve performance on rare slices of data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C437C6-C06E-8A01-FDFB-C75762F43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4" y="2955096"/>
            <a:ext cx="5791200" cy="3438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81C39F-3DBF-E2D2-5EFC-AA97C1EBE7B4}"/>
              </a:ext>
            </a:extLst>
          </p:cNvPr>
          <p:cNvSpPr txBox="1"/>
          <p:nvPr/>
        </p:nvSpPr>
        <p:spPr>
          <a:xfrm>
            <a:off x="6480311" y="3197030"/>
            <a:ext cx="23058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classification tasks with CLIP, slices are based on a image style and class.</a:t>
            </a:r>
          </a:p>
          <a:p>
            <a:endParaRPr lang="en-US" dirty="0"/>
          </a:p>
          <a:p>
            <a:r>
              <a:rPr lang="en-US" dirty="0"/>
              <a:t>Also using </a:t>
            </a:r>
            <a:r>
              <a:rPr lang="en-US" dirty="0" err="1"/>
              <a:t>λ’s</a:t>
            </a:r>
            <a:r>
              <a:rPr lang="en-US" dirty="0"/>
              <a:t> picked by validation sets</a:t>
            </a:r>
          </a:p>
        </p:txBody>
      </p:sp>
    </p:spTree>
    <p:extLst>
      <p:ext uri="{BB962C8B-B14F-4D97-AF65-F5344CB8AC3E}">
        <p14:creationId xmlns:p14="http://schemas.microsoft.com/office/powerpoint/2010/main" val="27252821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EF8F-41D9-1D83-902F-5484A046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C1BF-3C70-DF0D-637E-2A9F4073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with task analogies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58771-2E8B-E871-6EEE-324865630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32" y="1052099"/>
            <a:ext cx="5700642" cy="3352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E028E-0771-2C96-87F2-D929F33F4BE1}"/>
              </a:ext>
            </a:extLst>
          </p:cNvPr>
          <p:cNvSpPr txBox="1"/>
          <p:nvPr/>
        </p:nvSpPr>
        <p:spPr>
          <a:xfrm>
            <a:off x="6082748" y="1435442"/>
            <a:ext cx="2781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 200 images of kings, queens, women, men.</a:t>
            </a:r>
          </a:p>
          <a:p>
            <a:endParaRPr lang="en-US" dirty="0"/>
          </a:p>
          <a:p>
            <a:r>
              <a:rPr lang="en-US" dirty="0"/>
              <a:t>Fine-tune CLIP models on each category, using 1000 ImageNet classes as negative examples </a:t>
            </a:r>
          </a:p>
          <a:p>
            <a:r>
              <a:rPr lang="en-US" dirty="0"/>
              <a:t>(class name ”something”)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717E1-3D0F-C00A-6E64-C13708DD3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4535425"/>
            <a:ext cx="7772400" cy="232257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2080795-AF8A-169D-B1DD-63FFBD742992}"/>
              </a:ext>
            </a:extLst>
          </p:cNvPr>
          <p:cNvGrpSpPr/>
          <p:nvPr/>
        </p:nvGrpSpPr>
        <p:grpSpPr>
          <a:xfrm>
            <a:off x="3061253" y="5247861"/>
            <a:ext cx="5006006" cy="1431235"/>
            <a:chOff x="3061253" y="5247861"/>
            <a:chExt cx="5006006" cy="14312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880326-51F7-08D8-598B-6F9E17533FB9}"/>
                </a:ext>
              </a:extLst>
            </p:cNvPr>
            <p:cNvSpPr/>
            <p:nvPr/>
          </p:nvSpPr>
          <p:spPr>
            <a:xfrm>
              <a:off x="3061253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D3AFA2-85C7-2A92-7A97-6F85DE4BFBFC}"/>
                </a:ext>
              </a:extLst>
            </p:cNvPr>
            <p:cNvSpPr/>
            <p:nvPr/>
          </p:nvSpPr>
          <p:spPr>
            <a:xfrm>
              <a:off x="4572000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74323B-F395-FB15-3EC5-34251393C152}"/>
                </a:ext>
              </a:extLst>
            </p:cNvPr>
            <p:cNvSpPr/>
            <p:nvPr/>
          </p:nvSpPr>
          <p:spPr>
            <a:xfrm>
              <a:off x="5911574" y="5261113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705149-8D26-8E6C-4F61-183431448E39}"/>
                </a:ext>
              </a:extLst>
            </p:cNvPr>
            <p:cNvSpPr/>
            <p:nvPr/>
          </p:nvSpPr>
          <p:spPr>
            <a:xfrm>
              <a:off x="7311886" y="5247861"/>
              <a:ext cx="755373" cy="1417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685D08-C8A0-3586-D463-41FC634BD50F}"/>
              </a:ext>
            </a:extLst>
          </p:cNvPr>
          <p:cNvGrpSpPr/>
          <p:nvPr/>
        </p:nvGrpSpPr>
        <p:grpSpPr>
          <a:xfrm>
            <a:off x="2366617" y="5261113"/>
            <a:ext cx="5700642" cy="1185997"/>
            <a:chOff x="2366617" y="5261113"/>
            <a:chExt cx="5700642" cy="118599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EFE0BA-718E-BB3E-E36E-C46C6AD80430}"/>
                </a:ext>
              </a:extLst>
            </p:cNvPr>
            <p:cNvSpPr/>
            <p:nvPr/>
          </p:nvSpPr>
          <p:spPr>
            <a:xfrm>
              <a:off x="2366617" y="5261113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4F2AB20-B6C7-C4CA-7821-BCDC96BEE995}"/>
                </a:ext>
              </a:extLst>
            </p:cNvPr>
            <p:cNvSpPr/>
            <p:nvPr/>
          </p:nvSpPr>
          <p:spPr>
            <a:xfrm>
              <a:off x="2366617" y="5782155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F953725-81EA-BF65-CA26-3BE60A5A290A}"/>
                </a:ext>
              </a:extLst>
            </p:cNvPr>
            <p:cNvSpPr/>
            <p:nvPr/>
          </p:nvSpPr>
          <p:spPr>
            <a:xfrm>
              <a:off x="2366617" y="6272413"/>
              <a:ext cx="5700642" cy="1746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04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4921-EF77-C95C-527A-50BE2A35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54B3-D12F-212D-9066-AB3AB067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</a:t>
            </a:r>
            <a:r>
              <a:rPr lang="en-US" i="1" u="sng" dirty="0"/>
              <a:t>many</a:t>
            </a:r>
            <a:r>
              <a:rPr lang="en-US" dirty="0"/>
              <a:t> task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49BAE72-DA15-2366-E6C1-D5E9C11FC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626" y="1257299"/>
                <a:ext cx="8794474" cy="201598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3200" dirty="0"/>
                  <a:t>𝜃 = pre-trained T5-base</a:t>
                </a:r>
              </a:p>
              <a:p>
                <a:r>
                  <a:rPr lang="en-US" sz="3200" dirty="0"/>
                  <a:t>For each of four common NLP tasks:</a:t>
                </a:r>
              </a:p>
              <a:p>
                <a:pPr lvl="1"/>
                <a:r>
                  <a:rPr lang="en-US" dirty="0"/>
                  <a:t>Fine tune a model (task vector 𝜏*)</a:t>
                </a:r>
              </a:p>
              <a:p>
                <a:pPr lvl="1"/>
                <a:r>
                  <a:rPr lang="en-US" dirty="0"/>
                  <a:t>Look for compatible checkpoints on </a:t>
                </a:r>
                <a:r>
                  <a:rPr lang="en-US" dirty="0" err="1"/>
                  <a:t>HuggingFace</a:t>
                </a:r>
                <a:r>
                  <a:rPr lang="en-US" dirty="0"/>
                  <a:t> (vectors 𝜏</a:t>
                </a:r>
                <a:r>
                  <a:rPr lang="en-US" baseline="-25000" dirty="0"/>
                  <a:t>1</a:t>
                </a:r>
                <a:r>
                  <a:rPr lang="en-US" dirty="0"/>
                  <a:t>, …, 𝜏</a:t>
                </a:r>
                <a:r>
                  <a:rPr lang="en-US" baseline="-25000" dirty="0"/>
                  <a:t>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Compare 𝜏* and 𝜏*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(select </a:t>
                </a:r>
                <a:r>
                  <a:rPr lang="en-US" i="1" dirty="0" err="1"/>
                  <a:t>λ</a:t>
                </a:r>
                <a:r>
                  <a:rPr lang="en-US" dirty="0"/>
                  <a:t> with validation set)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49BAE72-DA15-2366-E6C1-D5E9C11FC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626" y="1257299"/>
                <a:ext cx="8794474" cy="2015988"/>
              </a:xfrm>
              <a:blipFill>
                <a:blip r:embed="rId2"/>
                <a:stretch>
                  <a:fillRect l="-865" t="-5000" b="-2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4E5AF99-3709-8E5D-C8EF-A20706D1C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8" r="3518" b="2036"/>
          <a:stretch/>
        </p:blipFill>
        <p:spPr>
          <a:xfrm>
            <a:off x="133626" y="3428999"/>
            <a:ext cx="8734992" cy="1646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0C6881-99E4-9906-A33E-3B710E7AFAF9}"/>
              </a:ext>
            </a:extLst>
          </p:cNvPr>
          <p:cNvSpPr txBox="1"/>
          <p:nvPr/>
        </p:nvSpPr>
        <p:spPr>
          <a:xfrm>
            <a:off x="1417981" y="4015409"/>
            <a:ext cx="54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B1AF28-3ADB-2AD9-467C-B7DD73927BA7}"/>
              </a:ext>
            </a:extLst>
          </p:cNvPr>
          <p:cNvSpPr txBox="1"/>
          <p:nvPr/>
        </p:nvSpPr>
        <p:spPr>
          <a:xfrm>
            <a:off x="1484241" y="4274138"/>
            <a:ext cx="1172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𝜃 + </a:t>
            </a:r>
            <a:r>
              <a:rPr lang="en-US" sz="2000" dirty="0"/>
              <a:t>𝜏*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DC6874-7D4A-6CC0-FB9C-2FB43DE56EFB}"/>
              </a:ext>
            </a:extLst>
          </p:cNvPr>
          <p:cNvSpPr txBox="1"/>
          <p:nvPr/>
        </p:nvSpPr>
        <p:spPr>
          <a:xfrm>
            <a:off x="1062519" y="5803332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4565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70C4-863E-B9C6-EA81-60DF2EF7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B526-6711-2272-AB78-B9CDED4C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different task vectors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8AF9F-03BB-06FA-EB12-9D4C8DC78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467035" cy="112809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weighted sum of task vectors for 2 vision tasks</a:t>
            </a:r>
          </a:p>
          <a:p>
            <a:r>
              <a:rPr lang="en-US" dirty="0"/>
              <a:t>show accuracy normalized by FT accuracy</a:t>
            </a:r>
          </a:p>
          <a:p>
            <a:pPr lvl="2"/>
            <a:r>
              <a:rPr lang="en-US" dirty="0"/>
              <a:t>and compared to zero-shot 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9DB2E-C979-3B75-4B59-E4F9E291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5384"/>
            <a:ext cx="8967108" cy="3526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538D8E-0EA9-9221-6896-A1FC1D65FB0D}"/>
              </a:ext>
            </a:extLst>
          </p:cNvPr>
          <p:cNvSpPr txBox="1"/>
          <p:nvPr/>
        </p:nvSpPr>
        <p:spPr>
          <a:xfrm>
            <a:off x="1036015" y="6262829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6505280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40BFB-5F48-3E8F-14A6-BA12C6A90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56FA-AAF4-F558-85FD-DB7950E0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adding different task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2D0FEE-B5F3-320F-0389-99AF9000F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400" y="1257300"/>
                <a:ext cx="8648700" cy="151240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weighted sum of task vectors for k vision tasks</a:t>
                </a:r>
              </a:p>
              <a:p>
                <a:r>
                  <a:rPr lang="en-US" dirty="0"/>
                  <a:t>show accuracy normalized by accuracy of multitask FT on all 8 tasks</a:t>
                </a:r>
              </a:p>
              <a:p>
                <a:pPr lvl="1"/>
                <a:r>
                  <a:rPr lang="en-US" dirty="0"/>
                  <a:t>each point is different subset of training tasks</a:t>
                </a:r>
              </a:p>
              <a:p>
                <a:pPr lvl="1"/>
                <a:r>
                  <a:rPr lang="en-US" dirty="0"/>
                  <a:t>Compare 𝜏* and 𝜏*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(select </a:t>
                </a:r>
                <a:r>
                  <a:rPr lang="en-US" i="1" dirty="0" err="1"/>
                  <a:t>λ</a:t>
                </a:r>
                <a:r>
                  <a:rPr lang="en-US" dirty="0"/>
                  <a:t> with validation set)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B2D0FEE-B5F3-320F-0389-99AF9000F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1257300"/>
                <a:ext cx="8648700" cy="1512403"/>
              </a:xfrm>
              <a:blipFill>
                <a:blip r:embed="rId2"/>
                <a:stretch>
                  <a:fillRect l="-880" t="-6667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0EB6BC7-7017-F702-A347-9C0097DB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30" y="2769703"/>
            <a:ext cx="5152792" cy="3591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98367-4136-9E7B-326E-C54C0CB88E59}"/>
              </a:ext>
            </a:extLst>
          </p:cNvPr>
          <p:cNvSpPr txBox="1"/>
          <p:nvPr/>
        </p:nvSpPr>
        <p:spPr>
          <a:xfrm>
            <a:off x="944217" y="6488668"/>
            <a:ext cx="661049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Note the training for the subtasks is embarrassingly parallel </a:t>
            </a:r>
          </a:p>
        </p:txBody>
      </p:sp>
    </p:spTree>
    <p:extLst>
      <p:ext uri="{BB962C8B-B14F-4D97-AF65-F5344CB8AC3E}">
        <p14:creationId xmlns:p14="http://schemas.microsoft.com/office/powerpoint/2010/main" val="360495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E201-65FA-DAB7-24C6-FA14BEB1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9BD49-4D12-7D32-9F88-23615969043B}"/>
                  </a:ext>
                </a:extLst>
              </p:cNvPr>
              <p:cNvSpPr txBox="1"/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Summary: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  <a:p>
                <a:pPr algn="ctr"/>
                <a:endParaRPr lang="en-US" dirty="0"/>
              </a:p>
              <a:p>
                <a:r>
                  <a:rPr lang="en-US" dirty="0"/>
                  <a:t>can be combined by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subtracting a task  ~= “forgetting” a behavior, like toxicity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combining vectors analogically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adding multiple vectors to create an ensemble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9BD49-4D12-7D32-9F88-23615969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  <a:blipFill>
                <a:blip r:embed="rId3"/>
                <a:stretch>
                  <a:fillRect l="-515" t="-592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ABB28C5-A216-7F59-5D34-72FB1CCFB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217" y="2944081"/>
            <a:ext cx="4745750" cy="3788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107250-465F-4C60-D018-95D79FE0E8AA}"/>
              </a:ext>
            </a:extLst>
          </p:cNvPr>
          <p:cNvSpPr txBox="1"/>
          <p:nvPr/>
        </p:nvSpPr>
        <p:spPr>
          <a:xfrm>
            <a:off x="556592" y="2967335"/>
            <a:ext cx="25444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does this 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404EA-240F-061D-E1F1-8536FE1D0E24}"/>
              </a:ext>
            </a:extLst>
          </p:cNvPr>
          <p:cNvSpPr txBox="1"/>
          <p:nvPr/>
        </p:nvSpPr>
        <p:spPr>
          <a:xfrm>
            <a:off x="556592" y="3578949"/>
            <a:ext cx="254441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Task vectors are </a:t>
            </a:r>
            <a:r>
              <a:rPr lang="en-US" b="1" dirty="0"/>
              <a:t>mostly</a:t>
            </a:r>
            <a:r>
              <a:rPr lang="en-US" dirty="0"/>
              <a:t> orthogonal except when tasks are related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9BD77-A6FE-FFC1-1202-CF0A2F48AC4D}"/>
              </a:ext>
            </a:extLst>
          </p:cNvPr>
          <p:cNvSpPr txBox="1"/>
          <p:nvPr/>
        </p:nvSpPr>
        <p:spPr>
          <a:xfrm>
            <a:off x="748196" y="5021561"/>
            <a:ext cx="2544417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MNIST / SVHN both digits; GTRSB is reading traffic signs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9EC39-D5B0-6CCA-A6A3-313B79EDECD8}"/>
              </a:ext>
            </a:extLst>
          </p:cNvPr>
          <p:cNvSpPr txBox="1"/>
          <p:nvPr/>
        </p:nvSpPr>
        <p:spPr>
          <a:xfrm>
            <a:off x="748196" y="6085773"/>
            <a:ext cx="2736021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EuroSAT</a:t>
            </a:r>
            <a:r>
              <a:rPr lang="en-US" dirty="0"/>
              <a:t> / RESISC45 are sat images</a:t>
            </a:r>
          </a:p>
        </p:txBody>
      </p:sp>
    </p:spTree>
    <p:extLst>
      <p:ext uri="{BB962C8B-B14F-4D97-AF65-F5344CB8AC3E}">
        <p14:creationId xmlns:p14="http://schemas.microsoft.com/office/powerpoint/2010/main" val="116563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08B9-90C5-BA77-5E27-B8AB2DF87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456D2-A90E-98B0-81A1-80277AFB177B}"/>
                  </a:ext>
                </a:extLst>
              </p:cNvPr>
              <p:cNvSpPr txBox="1"/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Summary:</a:t>
                </a:r>
                <a:r>
                  <a:rPr lang="en-US" i="1" dirty="0"/>
                  <a:t> </a:t>
                </a:r>
                <a:r>
                  <a:rPr lang="en-US" b="1" dirty="0"/>
                  <a:t>task vectors </a:t>
                </a:r>
                <a:r>
                  <a:rPr lang="en-US" dirty="0"/>
                  <a:t>for tasks </a:t>
                </a:r>
                <a:r>
                  <a:rPr lang="en-US" i="1" dirty="0"/>
                  <a:t>t: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(fine tuned model weights) – (pre-trained model weights)</a:t>
                </a:r>
              </a:p>
              <a:p>
                <a:pPr algn="ctr"/>
                <a:endParaRPr lang="en-US" dirty="0"/>
              </a:p>
              <a:p>
                <a:r>
                  <a:rPr lang="en-US" dirty="0"/>
                  <a:t>can be combined by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subtracting a task  ~= “forgetting” a behavior, like toxicity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combining vectors analogically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adding multiple vectors to create an ensemble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456D2-A90E-98B0-81A1-80277AFB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2" y="548418"/>
                <a:ext cx="7354956" cy="2115131"/>
              </a:xfrm>
              <a:prstGeom prst="rect">
                <a:avLst/>
              </a:prstGeom>
              <a:blipFill>
                <a:blip r:embed="rId3"/>
                <a:stretch>
                  <a:fillRect l="-515" t="-592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7428470-FF6B-7B46-F7A3-2EAE0A46287A}"/>
              </a:ext>
            </a:extLst>
          </p:cNvPr>
          <p:cNvSpPr txBox="1"/>
          <p:nvPr/>
        </p:nvSpPr>
        <p:spPr>
          <a:xfrm>
            <a:off x="556592" y="2967335"/>
            <a:ext cx="254441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does this work?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CE338C-DE3C-7F5A-EF8F-B742FB928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92" y="3640453"/>
            <a:ext cx="7772400" cy="2854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6B879-BC84-9A34-FF67-E80A432048C9}"/>
              </a:ext>
            </a:extLst>
          </p:cNvPr>
          <p:cNvSpPr txBox="1"/>
          <p:nvPr/>
        </p:nvSpPr>
        <p:spPr>
          <a:xfrm>
            <a:off x="4664765" y="3032881"/>
            <a:ext cx="339918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“Weight disentanglement”</a:t>
            </a:r>
          </a:p>
        </p:txBody>
      </p:sp>
    </p:spTree>
    <p:extLst>
      <p:ext uri="{BB962C8B-B14F-4D97-AF65-F5344CB8AC3E}">
        <p14:creationId xmlns:p14="http://schemas.microsoft.com/office/powerpoint/2010/main" val="284162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5B0C-3F95-77A9-68CE-A03757A0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4D2C15-326E-4E19-06D6-007E3EB4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5" y="16805"/>
            <a:ext cx="6082747" cy="1496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F00C0A-40F9-FD58-760D-BB1790DD698C}"/>
              </a:ext>
            </a:extLst>
          </p:cNvPr>
          <p:cNvSpPr txBox="1"/>
          <p:nvPr/>
        </p:nvSpPr>
        <p:spPr>
          <a:xfrm>
            <a:off x="7096540" y="834544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850A7-6809-3C3E-9C95-B77AD3A8F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55369"/>
            <a:ext cx="7772400" cy="9304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0F704B-8A5C-9B8A-B8E6-0CDAC5099FC0}"/>
              </a:ext>
            </a:extLst>
          </p:cNvPr>
          <p:cNvSpPr txBox="1"/>
          <p:nvPr/>
        </p:nvSpPr>
        <p:spPr>
          <a:xfrm>
            <a:off x="702364" y="1562791"/>
            <a:ext cx="339918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Disentanglement error: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39672-EFBB-9F98-5368-2632F265204D}"/>
              </a:ext>
            </a:extLst>
          </p:cNvPr>
          <p:cNvSpPr txBox="1"/>
          <p:nvPr/>
        </p:nvSpPr>
        <p:spPr>
          <a:xfrm>
            <a:off x="702364" y="3082919"/>
            <a:ext cx="775583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Disentanglement error of ⍺</a:t>
            </a:r>
            <a:r>
              <a:rPr lang="en-US" baseline="-25000" dirty="0"/>
              <a:t>1</a:t>
            </a:r>
            <a:r>
              <a:rPr lang="en-US" dirty="0"/>
              <a:t>𝜏</a:t>
            </a:r>
            <a:r>
              <a:rPr lang="en-US" baseline="-25000" dirty="0"/>
              <a:t>1</a:t>
            </a:r>
            <a:r>
              <a:rPr lang="en-US" dirty="0"/>
              <a:t> and ⍺</a:t>
            </a:r>
            <a:r>
              <a:rPr lang="en-US" baseline="-25000" dirty="0"/>
              <a:t>2</a:t>
            </a:r>
            <a:r>
              <a:rPr lang="en-US" dirty="0"/>
              <a:t>𝜏</a:t>
            </a:r>
            <a:r>
              <a:rPr lang="en-US" baseline="-25000" dirty="0"/>
              <a:t>2</a:t>
            </a:r>
            <a:r>
              <a:rPr lang="en-US" dirty="0"/>
              <a:t>   </a:t>
            </a:r>
            <a:r>
              <a:rPr lang="en-US" sz="1600" dirty="0"/>
              <a:t>with </a:t>
            </a:r>
            <a:r>
              <a:rPr lang="en-US" sz="1600" dirty="0" err="1"/>
              <a:t>dist</a:t>
            </a:r>
            <a:r>
              <a:rPr lang="en-US" sz="1600" dirty="0"/>
              <a:t>(</a:t>
            </a:r>
            <a:r>
              <a:rPr lang="en-US" sz="1600" dirty="0" err="1"/>
              <a:t>f,g</a:t>
            </a:r>
            <a:r>
              <a:rPr lang="en-US" sz="1600" dirty="0"/>
              <a:t>)=1 if labels different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9A6CF2-F6FD-CAEC-1254-15D6F9E40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47" y="3728141"/>
            <a:ext cx="8642405" cy="27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935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66AA-3DAC-9E05-EDBC-488BC4F9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FBD486-EF6A-C451-3E1B-49D265C8B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26" y="24054"/>
            <a:ext cx="6082747" cy="1496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EB511-AD28-13FE-B7B7-530706CEEA9D}"/>
              </a:ext>
            </a:extLst>
          </p:cNvPr>
          <p:cNvSpPr txBox="1"/>
          <p:nvPr/>
        </p:nvSpPr>
        <p:spPr>
          <a:xfrm>
            <a:off x="7566991" y="841793"/>
            <a:ext cx="123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10B62-52B7-9B7D-14A2-CB9DFFE2423A}"/>
              </a:ext>
            </a:extLst>
          </p:cNvPr>
          <p:cNvSpPr txBox="1"/>
          <p:nvPr/>
        </p:nvSpPr>
        <p:spPr>
          <a:xfrm>
            <a:off x="738809" y="1660233"/>
            <a:ext cx="7354956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 enough to an initial </a:t>
            </a:r>
            <a:r>
              <a:rPr lang="en-US" sz="1800" dirty="0"/>
              <a:t>𝜃, for a large enough network, weight changes produce an approximately linear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task vectors that stay in the linear regime </a:t>
            </a:r>
            <a:r>
              <a:rPr lang="en-US" dirty="0"/>
              <a:t>should combine linearly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fine-tuning can take </a:t>
            </a:r>
            <a:r>
              <a:rPr lang="en-US" sz="1800" dirty="0"/>
              <a:t>𝜏</a:t>
            </a:r>
            <a:r>
              <a:rPr lang="en-US" dirty="0"/>
              <a:t> outside the linear regime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it’s possible to measure if this happened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7D66E-8AA7-8B17-8B11-73DFEBC8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37" y="4804256"/>
            <a:ext cx="6997700" cy="533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7ABB16-DC53-72AD-AAFD-98B815764A7D}"/>
              </a:ext>
            </a:extLst>
          </p:cNvPr>
          <p:cNvSpPr txBox="1"/>
          <p:nvPr/>
        </p:nvSpPr>
        <p:spPr>
          <a:xfrm>
            <a:off x="738808" y="3798057"/>
            <a:ext cx="766638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also possible to fine-tune inside the linear area by using a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helps make task arithmetic a little better for larger models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6DE01-CF6C-8072-DC6A-E3C9AF237ADF}"/>
              </a:ext>
            </a:extLst>
          </p:cNvPr>
          <p:cNvSpPr txBox="1"/>
          <p:nvPr/>
        </p:nvSpPr>
        <p:spPr>
          <a:xfrm>
            <a:off x="114300" y="357188"/>
            <a:ext cx="125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Aside</a:t>
            </a:r>
          </a:p>
        </p:txBody>
      </p:sp>
    </p:spTree>
    <p:extLst>
      <p:ext uri="{BB962C8B-B14F-4D97-AF65-F5344CB8AC3E}">
        <p14:creationId xmlns:p14="http://schemas.microsoft.com/office/powerpoint/2010/main" val="37946001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62431-7ACA-75AD-E2B4-BC8011B4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0644"/>
            <a:ext cx="7772400" cy="2910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35F5EB-3882-750E-9AD8-1967259BF210}"/>
              </a:ext>
            </a:extLst>
          </p:cNvPr>
          <p:cNvSpPr txBox="1"/>
          <p:nvPr/>
        </p:nvSpPr>
        <p:spPr>
          <a:xfrm>
            <a:off x="6930887" y="106017"/>
            <a:ext cx="155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3D9E9-814F-90B4-5321-3B66A5CAD9F9}"/>
              </a:ext>
            </a:extLst>
          </p:cNvPr>
          <p:cNvSpPr txBox="1"/>
          <p:nvPr/>
        </p:nvSpPr>
        <p:spPr>
          <a:xfrm>
            <a:off x="781879" y="3515140"/>
            <a:ext cx="55394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Focus on merging models for different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8FA7C-EA91-B5F7-8082-80C0CF930143}"/>
              </a:ext>
            </a:extLst>
          </p:cNvPr>
          <p:cNvSpPr txBox="1"/>
          <p:nvPr/>
        </p:nvSpPr>
        <p:spPr>
          <a:xfrm>
            <a:off x="781879" y="3974129"/>
            <a:ext cx="553940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  Can you improve on task arithmetic?</a:t>
            </a:r>
          </a:p>
        </p:txBody>
      </p:sp>
    </p:spTree>
    <p:extLst>
      <p:ext uri="{BB962C8B-B14F-4D97-AF65-F5344CB8AC3E}">
        <p14:creationId xmlns:p14="http://schemas.microsoft.com/office/powerpoint/2010/main" val="346197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4C8E7-035D-F60E-392E-08C792271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38"/>
          <a:stretch/>
        </p:blipFill>
        <p:spPr>
          <a:xfrm>
            <a:off x="593035" y="104446"/>
            <a:ext cx="7772400" cy="2850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C7941-C8B6-2FC8-FD2C-F477B294CAC6}"/>
              </a:ext>
            </a:extLst>
          </p:cNvPr>
          <p:cNvSpPr txBox="1"/>
          <p:nvPr/>
        </p:nvSpPr>
        <p:spPr>
          <a:xfrm>
            <a:off x="712304" y="2982362"/>
            <a:ext cx="55394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B62C-4C1A-5F76-7D17-EDD6068FCA45}"/>
              </a:ext>
            </a:extLst>
          </p:cNvPr>
          <p:cNvSpPr txBox="1"/>
          <p:nvPr/>
        </p:nvSpPr>
        <p:spPr>
          <a:xfrm>
            <a:off x="725556" y="3718100"/>
            <a:ext cx="677517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only keep the top k% of each task vector’s weights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50441-7B93-8ED6-0D75-CE072A2BB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173" y="4391558"/>
            <a:ext cx="5003800" cy="194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614EC2-5400-AB82-F96E-B10583CA4BBD}"/>
              </a:ext>
            </a:extLst>
          </p:cNvPr>
          <p:cNvSpPr txBox="1"/>
          <p:nvPr/>
        </p:nvSpPr>
        <p:spPr>
          <a:xfrm>
            <a:off x="2158447" y="6334658"/>
            <a:ext cx="4641575" cy="36933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average acc on 11 task vectors</a:t>
            </a:r>
          </a:p>
        </p:txBody>
      </p:sp>
    </p:spTree>
    <p:extLst>
      <p:ext uri="{BB962C8B-B14F-4D97-AF65-F5344CB8AC3E}">
        <p14:creationId xmlns:p14="http://schemas.microsoft.com/office/powerpoint/2010/main" val="331478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FEA8-5EEF-A2E6-224C-7ECD1813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6E077-847E-255A-56ED-BDEC58B3B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38"/>
          <a:stretch/>
        </p:blipFill>
        <p:spPr>
          <a:xfrm>
            <a:off x="593035" y="104446"/>
            <a:ext cx="7772400" cy="2850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080DD9-4BA0-87CF-5C36-1BFD5C3D7A0C}"/>
              </a:ext>
            </a:extLst>
          </p:cNvPr>
          <p:cNvSpPr txBox="1"/>
          <p:nvPr/>
        </p:nvSpPr>
        <p:spPr>
          <a:xfrm>
            <a:off x="712304" y="2982362"/>
            <a:ext cx="55394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Question: how do you merge models when there is some “entanglement”?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B90EC-0B77-BAA8-C7D4-96269172794B}"/>
                  </a:ext>
                </a:extLst>
              </p:cNvPr>
              <p:cNvSpPr txBox="1"/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only keep the top k% of each task vector’s weights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avoid </a:t>
                </a:r>
                <a:r>
                  <a:rPr lang="en-US" b="1" dirty="0"/>
                  <a:t>sign conflicts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)                           # ‘dominant’ sign 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# same sign as </a:t>
                </a:r>
                <a:r>
                  <a:rPr lang="en-US" b="1" dirty="0"/>
                  <a:t>y </a:t>
                </a:r>
                <a:r>
                  <a:rPr lang="en-US" dirty="0"/>
                  <a:t>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𝜏*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                         # avg of same-sign vectors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B90EC-0B77-BAA8-C7D4-962691727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34AFA07-CE1D-1CA8-5BDF-59B2C91006B8}"/>
              </a:ext>
            </a:extLst>
          </p:cNvPr>
          <p:cNvSpPr txBox="1"/>
          <p:nvPr/>
        </p:nvSpPr>
        <p:spPr>
          <a:xfrm>
            <a:off x="738808" y="5612919"/>
            <a:ext cx="480060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TIES-Merge – </a:t>
            </a:r>
            <a:r>
              <a:rPr lang="en-US" dirty="0" err="1"/>
              <a:t>TrIm</a:t>
            </a:r>
            <a:r>
              <a:rPr lang="en-US" dirty="0"/>
              <a:t>, Elect Sign, and Merge</a:t>
            </a:r>
          </a:p>
        </p:txBody>
      </p:sp>
    </p:spTree>
    <p:extLst>
      <p:ext uri="{BB962C8B-B14F-4D97-AF65-F5344CB8AC3E}">
        <p14:creationId xmlns:p14="http://schemas.microsoft.com/office/powerpoint/2010/main" val="275734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FEA3-EF18-2A54-1DA3-8E6891E1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9C794-28EC-F2E1-E2D5-4703068AF688}"/>
                  </a:ext>
                </a:extLst>
              </p:cNvPr>
              <p:cNvSpPr txBox="1"/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only keep the top k% of each task vector’s weights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avoid </a:t>
                </a:r>
                <a:r>
                  <a:rPr lang="en-US" b="1" dirty="0"/>
                  <a:t>sign conflicts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𝑠𝑖𝑔𝑛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)                           # ‘dominant’ sign 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𝑠𝑖𝑔𝑛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𝑠𝑖𝑔𝑛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# same sign as </a:t>
                </a:r>
                <a:r>
                  <a:rPr lang="en-US" b="1" dirty="0"/>
                  <a:t>y </a:t>
                </a:r>
                <a:r>
                  <a:rPr lang="en-US" dirty="0"/>
                  <a:t>at </a:t>
                </a:r>
                <a:r>
                  <a:rPr lang="en-US" i="1" dirty="0" err="1"/>
                  <a:t>i</a:t>
                </a:r>
                <a:endParaRPr lang="en-US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𝜏*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                         # avg of same-sign vectors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9C794-28EC-F2E1-E2D5-4703068AF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8" y="3718100"/>
                <a:ext cx="7928114" cy="1662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6DC7487-21E7-F2F4-2A42-DF4A1A6493A0}"/>
              </a:ext>
            </a:extLst>
          </p:cNvPr>
          <p:cNvSpPr txBox="1"/>
          <p:nvPr/>
        </p:nvSpPr>
        <p:spPr>
          <a:xfrm>
            <a:off x="738808" y="5612919"/>
            <a:ext cx="4800601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TIES-Merge – </a:t>
            </a:r>
            <a:r>
              <a:rPr lang="en-US" dirty="0" err="1"/>
              <a:t>TrIm</a:t>
            </a:r>
            <a:r>
              <a:rPr lang="en-US" dirty="0"/>
              <a:t>, Elect Sign, and Merge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ECE86-D356-7AAC-4C8E-20E1E085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2" y="137292"/>
            <a:ext cx="8401616" cy="2897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3F3B4E-DBBE-C46B-1275-621A7F5DD0E3}"/>
              </a:ext>
            </a:extLst>
          </p:cNvPr>
          <p:cNvSpPr txBox="1"/>
          <p:nvPr/>
        </p:nvSpPr>
        <p:spPr>
          <a:xfrm>
            <a:off x="1338470" y="3059668"/>
            <a:ext cx="670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 NLP / 8 vision datasets;   k=20% and </a:t>
            </a:r>
            <a:r>
              <a:rPr lang="en-US" dirty="0" err="1"/>
              <a:t>λ</a:t>
            </a:r>
            <a:r>
              <a:rPr lang="en-US" dirty="0"/>
              <a:t>=1 w/o validation set</a:t>
            </a:r>
          </a:p>
        </p:txBody>
      </p:sp>
    </p:spTree>
    <p:extLst>
      <p:ext uri="{BB962C8B-B14F-4D97-AF65-F5344CB8AC3E}">
        <p14:creationId xmlns:p14="http://schemas.microsoft.com/office/powerpoint/2010/main" val="163102286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A709-DCC2-6052-EFEC-B9A4D12D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8BC28-7632-D0F2-7B42-80380C41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505" y="350354"/>
            <a:ext cx="49784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799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4782-C7ED-5653-D94C-67812290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FDFDF9-4AE7-945E-9844-F75328A27EAC}"/>
              </a:ext>
            </a:extLst>
          </p:cNvPr>
          <p:cNvSpPr txBox="1"/>
          <p:nvPr/>
        </p:nvSpPr>
        <p:spPr>
          <a:xfrm>
            <a:off x="1338470" y="3059668"/>
            <a:ext cx="670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accuracy / FT accuracy merging multiple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1A3C5-4E92-813F-87A4-FE91BF881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15" y="164068"/>
            <a:ext cx="5422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88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32AF89-E6DF-8589-C53E-901F8CE22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14466"/>
            <a:ext cx="7772400" cy="30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850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CC54D5-2019-DDDA-33F7-551F09BF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LoraHub</a:t>
            </a:r>
            <a:r>
              <a:rPr lang="en-US" dirty="0"/>
              <a:t>: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61664-EC46-EFEC-BE17-EA1A881E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145484"/>
            <a:ext cx="8648700" cy="309652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20 randomly selected tasks from FLAN training set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LoRA</a:t>
            </a:r>
            <a:r>
              <a:rPr lang="en-US" dirty="0"/>
              <a:t> matrices for task </a:t>
            </a:r>
            <a:r>
              <a:rPr lang="en-US" i="1" dirty="0"/>
              <a:t>t </a:t>
            </a:r>
            <a:r>
              <a:rPr lang="en-US" dirty="0"/>
              <a:t>are A</a:t>
            </a:r>
            <a:r>
              <a:rPr lang="en-US" baseline="-25000" dirty="0"/>
              <a:t>t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lang="en-US" baseline="-25000" dirty="0" err="1"/>
              <a:t>t</a:t>
            </a:r>
            <a:endParaRPr lang="en-US" dirty="0"/>
          </a:p>
          <a:p>
            <a:pPr lvl="1"/>
            <a:r>
              <a:rPr lang="en-US" dirty="0"/>
              <a:t>Combine: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Optimize weights </a:t>
            </a:r>
            <a:r>
              <a:rPr lang="en-US" b="1" i="1" dirty="0"/>
              <a:t>w </a:t>
            </a:r>
            <a:r>
              <a:rPr lang="en-US" dirty="0"/>
              <a:t>with L1-regularized </a:t>
            </a:r>
            <a:r>
              <a:rPr lang="en-US" dirty="0" err="1"/>
              <a:t>ppx</a:t>
            </a:r>
            <a:r>
              <a:rPr lang="en-US" dirty="0"/>
              <a:t> loss on 5-shot training data using black-box optimization (like Vizier)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E4F6D-0CE2-275D-2C1E-3C577D1A3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44" y="2626415"/>
            <a:ext cx="74676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7EB0AA-3199-9854-8C02-7B4A097F7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57" r="2256"/>
          <a:stretch/>
        </p:blipFill>
        <p:spPr>
          <a:xfrm>
            <a:off x="417996" y="4242008"/>
            <a:ext cx="3716682" cy="2120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4D0659-5021-3F50-4135-7DF505A2B632}"/>
              </a:ext>
            </a:extLst>
          </p:cNvPr>
          <p:cNvSpPr txBox="1"/>
          <p:nvPr/>
        </p:nvSpPr>
        <p:spPr>
          <a:xfrm>
            <a:off x="4603750" y="4280452"/>
            <a:ext cx="3824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</a:t>
            </a:r>
            <a:r>
              <a:rPr lang="en-US" dirty="0" err="1"/>
              <a:t>LoRA</a:t>
            </a:r>
            <a:r>
              <a:rPr lang="en-US" dirty="0"/>
              <a:t> tasks with lowest avg  loss on the BBH examples: </a:t>
            </a:r>
            <a:r>
              <a:rPr lang="en-US" b="1" dirty="0"/>
              <a:t>35.4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FLAN-T5-XL: </a:t>
            </a:r>
            <a:r>
              <a:rPr lang="en-US" b="1" dirty="0"/>
              <a:t>36.5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2202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1C2F4E-68B2-49DF-E886-0D07CC351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8842"/>
            <a:ext cx="7772400" cy="1587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D28E26-25E2-7C52-9368-B47C5880A326}"/>
              </a:ext>
            </a:extLst>
          </p:cNvPr>
          <p:cNvSpPr txBox="1"/>
          <p:nvPr/>
        </p:nvSpPr>
        <p:spPr>
          <a:xfrm>
            <a:off x="6970643" y="106017"/>
            <a:ext cx="116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F2185-C17E-9125-6A9C-88CC8EFA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51847"/>
            <a:ext cx="7772400" cy="2154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3834FD-6266-2F09-B0F7-F5D3575DEF82}"/>
              </a:ext>
            </a:extLst>
          </p:cNvPr>
          <p:cNvSpPr txBox="1"/>
          <p:nvPr/>
        </p:nvSpPr>
        <p:spPr>
          <a:xfrm>
            <a:off x="1139686" y="4755556"/>
            <a:ext cx="7129669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Post-Hoc Adaptive </a:t>
            </a:r>
            <a:r>
              <a:rPr lang="en-US" dirty="0" err="1"/>
              <a:t>Tokenwise</a:t>
            </a:r>
            <a:r>
              <a:rPr lang="en-US" dirty="0"/>
              <a:t> Gating Over and Ocean of Specialized Adapters (PHATGOOSE)</a:t>
            </a:r>
          </a:p>
        </p:txBody>
      </p:sp>
    </p:spTree>
    <p:extLst>
      <p:ext uri="{BB962C8B-B14F-4D97-AF65-F5344CB8AC3E}">
        <p14:creationId xmlns:p14="http://schemas.microsoft.com/office/powerpoint/2010/main" val="34931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67B3-5161-AC80-6FDE-5751CEE7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AD0924-FBE8-7711-60E6-3E8156E4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34873"/>
            <a:ext cx="7772400" cy="21543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19ED75-957F-A4E6-ACD3-E496523F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PHATGOOSE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55381-2328-B5FE-6596-5C82162A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1"/>
            <a:ext cx="8440530" cy="246656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166 tasks from FLAN training set</a:t>
            </a:r>
          </a:p>
          <a:p>
            <a:r>
              <a:rPr lang="en-US" dirty="0"/>
              <a:t>Train a sigmoid gate for each </a:t>
            </a:r>
            <a:r>
              <a:rPr lang="en-US" dirty="0" err="1"/>
              <a:t>LoRA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on the same data for 100 steps</a:t>
            </a:r>
          </a:p>
          <a:p>
            <a:r>
              <a:rPr lang="en-US" dirty="0"/>
              <a:t>At inference time, route tokens to to the top 3 </a:t>
            </a:r>
            <a:r>
              <a:rPr lang="en-US" dirty="0" err="1"/>
              <a:t>LoRA</a:t>
            </a:r>
            <a:r>
              <a:rPr lang="en-US" dirty="0"/>
              <a:t> modules (</a:t>
            </a:r>
            <a:r>
              <a:rPr lang="en-US" dirty="0" err="1"/>
              <a:t>softmax</a:t>
            </a:r>
            <a:r>
              <a:rPr lang="en-US" dirty="0"/>
              <a:t>-weighted)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607A61-796C-0CE7-278A-BE1EE388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011" y="1969661"/>
            <a:ext cx="3211089" cy="49524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5272919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5950-C006-2210-A324-8168B4B9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5FA4-5DBF-91B2-53D6-5FC644B6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PHATGOOSE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10EA1-0CA4-F85B-0378-8A559B0D5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1" y="1257301"/>
            <a:ext cx="8400773" cy="189671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LoRA</a:t>
            </a:r>
            <a:r>
              <a:rPr lang="en-US" dirty="0"/>
              <a:t>-train FLAN-T5-Large on </a:t>
            </a:r>
          </a:p>
          <a:p>
            <a:pPr lvl="1"/>
            <a:r>
              <a:rPr lang="en-US" dirty="0"/>
              <a:t>166 tasks from FLAN training set</a:t>
            </a:r>
          </a:p>
          <a:p>
            <a:pPr lvl="1"/>
            <a:r>
              <a:rPr lang="en-US" dirty="0"/>
              <a:t>The training tasks from T0</a:t>
            </a:r>
          </a:p>
          <a:p>
            <a:r>
              <a:rPr lang="en-US" dirty="0"/>
              <a:t>Evaluate zero-shot on novel tasks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A85B9-5C44-E7B4-3CDC-032695228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5" y="3429000"/>
            <a:ext cx="4770782" cy="24623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2B6DE8-2201-1837-0558-9A417AEDF418}"/>
              </a:ext>
            </a:extLst>
          </p:cNvPr>
          <p:cNvSpPr/>
          <p:nvPr/>
        </p:nvSpPr>
        <p:spPr>
          <a:xfrm>
            <a:off x="3235830" y="3834936"/>
            <a:ext cx="481970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E3CFA-321C-0835-2406-0A7FA9CD27A3}"/>
              </a:ext>
            </a:extLst>
          </p:cNvPr>
          <p:cNvSpPr/>
          <p:nvPr/>
        </p:nvSpPr>
        <p:spPr>
          <a:xfrm>
            <a:off x="4333650" y="3824225"/>
            <a:ext cx="481970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7F245-C932-8ACF-7008-F4EF2CC10E1F}"/>
              </a:ext>
            </a:extLst>
          </p:cNvPr>
          <p:cNvSpPr/>
          <p:nvPr/>
        </p:nvSpPr>
        <p:spPr>
          <a:xfrm>
            <a:off x="1989627" y="3809498"/>
            <a:ext cx="630352" cy="194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7B5AB9-C43A-0D83-DAAA-2EE9531A0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"/>
          <a:stretch/>
        </p:blipFill>
        <p:spPr>
          <a:xfrm>
            <a:off x="5168347" y="3455700"/>
            <a:ext cx="3975653" cy="26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0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</TotalTime>
  <Words>4947</Words>
  <Application>Microsoft Macintosh PowerPoint</Application>
  <PresentationFormat>On-screen Show (4:3)</PresentationFormat>
  <Paragraphs>799</Paragraphs>
  <Slides>104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Arial</vt:lpstr>
      <vt:lpstr>Calibri</vt:lpstr>
      <vt:lpstr>Cambria Math</vt:lpstr>
      <vt:lpstr>Gill Sans MT</vt:lpstr>
      <vt:lpstr>Times</vt:lpstr>
      <vt:lpstr>Wingdings</vt:lpstr>
      <vt:lpstr>Office Theme</vt:lpstr>
      <vt:lpstr>10-605 / 10-405</vt:lpstr>
      <vt:lpstr>Outline – last week</vt:lpstr>
      <vt:lpstr>Outline – today</vt:lpstr>
      <vt:lpstr>Retrieval Augmented LLMs A RECAP</vt:lpstr>
      <vt:lpstr>PowerPoint Presentation</vt:lpstr>
      <vt:lpstr>Recap: The Dense Passage Retriever (DPR)</vt:lpstr>
      <vt:lpstr>Recap: Contriever vs DPR</vt:lpstr>
      <vt:lpstr>Recap: The OG RAG paper</vt:lpstr>
      <vt:lpstr>Recap: The OG RAG paper</vt:lpstr>
      <vt:lpstr>Recap: Discussion of RAG</vt:lpstr>
      <vt:lpstr>Recap: Discussion of RAG</vt:lpstr>
      <vt:lpstr>Recap: Fusion in Decoder (FiD)</vt:lpstr>
      <vt:lpstr>Recap: FiD Experiments</vt:lpstr>
      <vt:lpstr>Recap: FiD Optimized (FiDO)</vt:lpstr>
      <vt:lpstr>Recap: Fusion in Decoder (FiD)</vt:lpstr>
      <vt:lpstr>Recap: Fusion in Decoder Optimized (FiDO)</vt:lpstr>
      <vt:lpstr>Recap: Fusion in Decoder Optimized (FiDO)</vt:lpstr>
      <vt:lpstr>Recap: LUMEN: FiD with caching</vt:lpstr>
      <vt:lpstr>Recap: LUMEN: FiD with caching</vt:lpstr>
      <vt:lpstr>Recap: LUMEN: FiD with caching</vt:lpstr>
      <vt:lpstr>Recap: LUMEN: FiD with caching</vt:lpstr>
      <vt:lpstr>Outline – today</vt:lpstr>
      <vt:lpstr>GLIMMER: LUMEN with reranking</vt:lpstr>
      <vt:lpstr>Recap: Cross-Encoders</vt:lpstr>
      <vt:lpstr>Recap: LUMEN=FiD with caching</vt:lpstr>
      <vt:lpstr>GLIMMER=LUMEN with reranking</vt:lpstr>
      <vt:lpstr>GLIMMER=LUMEN with reranking</vt:lpstr>
      <vt:lpstr>GLIMMER=LUMEN with reranking</vt:lpstr>
      <vt:lpstr>GLIMMER=LUMEN with reranking</vt:lpstr>
      <vt:lpstr>Outline – today</vt:lpstr>
      <vt:lpstr>“FiD” WITH DECODER-ONLY LLMS</vt:lpstr>
      <vt:lpstr>Main ideas in FiD and extensions</vt:lpstr>
      <vt:lpstr>PowerPoint Presentation</vt:lpstr>
      <vt:lpstr>PowerPoint Presentation</vt:lpstr>
      <vt:lpstr>PowerPoint Presentation</vt:lpstr>
      <vt:lpstr>PowerPoint Presentation</vt:lpstr>
      <vt:lpstr>DBSA: Details</vt:lpstr>
      <vt:lpstr>DBSA: Details</vt:lpstr>
      <vt:lpstr>DBSA: Results</vt:lpstr>
      <vt:lpstr>DBSA: Results</vt:lpstr>
      <vt:lpstr>Outline – today</vt:lpstr>
      <vt:lpstr>Discussion of RAG/FiD</vt:lpstr>
      <vt:lpstr>Outline – today</vt:lpstr>
      <vt:lpstr>Branch-Train-Merge  </vt:lpstr>
      <vt:lpstr>Recap: Distributed ML</vt:lpstr>
      <vt:lpstr>Recap: Comparing synchronization approaches for perceptron training</vt:lpstr>
      <vt:lpstr>Recap: Comparing synchronization approaches for SGD and logistic regression</vt:lpstr>
      <vt:lpstr>Recap: Distributed ML</vt:lpstr>
      <vt:lpstr>PowerPoint Presentation</vt:lpstr>
      <vt:lpstr>BTM: Key ideas</vt:lpstr>
      <vt:lpstr>BTM: Key ideas</vt:lpstr>
      <vt:lpstr>BTM: Key ideas</vt:lpstr>
      <vt:lpstr>BTM: Key ideas</vt:lpstr>
      <vt:lpstr>BTM: Experiments with 8 domains</vt:lpstr>
      <vt:lpstr>BTM: Experiments with 8 domains</vt:lpstr>
      <vt:lpstr>BTM: Training costs</vt:lpstr>
      <vt:lpstr>Outline – today</vt:lpstr>
      <vt:lpstr>PowerPoint Presentation</vt:lpstr>
      <vt:lpstr>Background: Mixture of Experts (MoE)</vt:lpstr>
      <vt:lpstr>Background: Expert Parallelism</vt:lpstr>
      <vt:lpstr>Background: Expert Parallelism</vt:lpstr>
      <vt:lpstr>PowerPoint Presentation</vt:lpstr>
      <vt:lpstr>BTX details</vt:lpstr>
      <vt:lpstr>BTX results</vt:lpstr>
      <vt:lpstr>BTX results</vt:lpstr>
      <vt:lpstr>BTX results</vt:lpstr>
      <vt:lpstr>Outline – today</vt:lpstr>
      <vt:lpstr>Task vectors</vt:lpstr>
      <vt:lpstr>Recap: skip-gram embeddings (word2vec)</vt:lpstr>
      <vt:lpstr>Recap: Results from word2vec</vt:lpstr>
      <vt:lpstr>PowerPoint Presentation</vt:lpstr>
      <vt:lpstr>PowerPoint Presentation</vt:lpstr>
      <vt:lpstr>Recap: distributional clustering (with LSH)</vt:lpstr>
      <vt:lpstr>PowerPoint Presentation</vt:lpstr>
      <vt:lpstr>PowerPoint Presentation</vt:lpstr>
      <vt:lpstr>PowerPoint Presentation</vt:lpstr>
      <vt:lpstr>PowerPoint Presentation</vt:lpstr>
      <vt:lpstr>Discussion: Analogies</vt:lpstr>
      <vt:lpstr>PowerPoint Presentation</vt:lpstr>
      <vt:lpstr>Experiment with task negation</vt:lpstr>
      <vt:lpstr>Experiment with scaled task negation</vt:lpstr>
      <vt:lpstr>Experiment with scaled task negation</vt:lpstr>
      <vt:lpstr>Experiments with task analogies</vt:lpstr>
      <vt:lpstr>Experiments with task analogies</vt:lpstr>
      <vt:lpstr>Experiments with task analogies</vt:lpstr>
      <vt:lpstr>Experiments with task analogies</vt:lpstr>
      <vt:lpstr>Experiment: adding many task vectors</vt:lpstr>
      <vt:lpstr>Experiment: adding different task vectors</vt:lpstr>
      <vt:lpstr>Experiment: adding different task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LoraHub: Method</vt:lpstr>
      <vt:lpstr>PowerPoint Presentation</vt:lpstr>
      <vt:lpstr>PHATGOOSE methods</vt:lpstr>
      <vt:lpstr>PHATGOOSE results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346</cp:revision>
  <dcterms:created xsi:type="dcterms:W3CDTF">2013-01-13T19:42:44Z</dcterms:created>
  <dcterms:modified xsi:type="dcterms:W3CDTF">2025-04-14T14:45:33Z</dcterms:modified>
</cp:coreProperties>
</file>