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sldIdLst>
    <p:sldId id="375" r:id="rId2"/>
    <p:sldId id="580" r:id="rId3"/>
    <p:sldId id="376" r:id="rId4"/>
    <p:sldId id="509" r:id="rId5"/>
    <p:sldId id="492" r:id="rId6"/>
    <p:sldId id="494" r:id="rId7"/>
    <p:sldId id="530" r:id="rId8"/>
    <p:sldId id="526" r:id="rId9"/>
    <p:sldId id="520" r:id="rId10"/>
    <p:sldId id="539" r:id="rId11"/>
    <p:sldId id="541" r:id="rId12"/>
    <p:sldId id="547" r:id="rId13"/>
    <p:sldId id="512" r:id="rId14"/>
    <p:sldId id="515" r:id="rId15"/>
    <p:sldId id="548" r:id="rId16"/>
    <p:sldId id="531" r:id="rId17"/>
    <p:sldId id="521" r:id="rId18"/>
    <p:sldId id="522" r:id="rId19"/>
    <p:sldId id="524" r:id="rId20"/>
    <p:sldId id="527" r:id="rId21"/>
    <p:sldId id="528" r:id="rId22"/>
    <p:sldId id="550" r:id="rId23"/>
    <p:sldId id="551" r:id="rId24"/>
    <p:sldId id="581" r:id="rId25"/>
    <p:sldId id="552" r:id="rId26"/>
    <p:sldId id="553" r:id="rId27"/>
    <p:sldId id="510" r:id="rId28"/>
    <p:sldId id="511" r:id="rId29"/>
    <p:sldId id="554" r:id="rId30"/>
    <p:sldId id="514" r:id="rId31"/>
    <p:sldId id="513" r:id="rId32"/>
    <p:sldId id="555" r:id="rId33"/>
    <p:sldId id="517" r:id="rId34"/>
    <p:sldId id="518" r:id="rId35"/>
    <p:sldId id="516" r:id="rId36"/>
    <p:sldId id="556" r:id="rId37"/>
    <p:sldId id="557" r:id="rId38"/>
    <p:sldId id="558" r:id="rId39"/>
    <p:sldId id="559" r:id="rId40"/>
    <p:sldId id="523" r:id="rId41"/>
    <p:sldId id="582" r:id="rId42"/>
    <p:sldId id="560" r:id="rId43"/>
    <p:sldId id="377" r:id="rId44"/>
    <p:sldId id="561" r:id="rId45"/>
    <p:sldId id="562" r:id="rId46"/>
    <p:sldId id="525" r:id="rId47"/>
    <p:sldId id="463" r:id="rId48"/>
    <p:sldId id="545" r:id="rId49"/>
    <p:sldId id="544" r:id="rId50"/>
    <p:sldId id="563" r:id="rId51"/>
    <p:sldId id="549" r:id="rId52"/>
    <p:sldId id="564" r:id="rId53"/>
    <p:sldId id="546" r:id="rId54"/>
    <p:sldId id="565" r:id="rId55"/>
    <p:sldId id="566" r:id="rId56"/>
    <p:sldId id="567" r:id="rId57"/>
    <p:sldId id="568" r:id="rId58"/>
    <p:sldId id="569" r:id="rId59"/>
    <p:sldId id="570" r:id="rId60"/>
    <p:sldId id="378" r:id="rId61"/>
    <p:sldId id="571" r:id="rId62"/>
    <p:sldId id="532" r:id="rId63"/>
    <p:sldId id="534" r:id="rId64"/>
    <p:sldId id="535" r:id="rId65"/>
    <p:sldId id="537" r:id="rId66"/>
    <p:sldId id="536" r:id="rId67"/>
    <p:sldId id="379" r:id="rId68"/>
    <p:sldId id="572" r:id="rId69"/>
    <p:sldId id="538" r:id="rId70"/>
    <p:sldId id="573" r:id="rId71"/>
    <p:sldId id="574" r:id="rId72"/>
    <p:sldId id="575" r:id="rId73"/>
    <p:sldId id="540" r:id="rId74"/>
    <p:sldId id="583" r:id="rId75"/>
    <p:sldId id="576" r:id="rId76"/>
    <p:sldId id="577" r:id="rId77"/>
    <p:sldId id="578" r:id="rId78"/>
    <p:sldId id="579" r:id="rId79"/>
    <p:sldId id="380" r:id="rId80"/>
    <p:sldId id="381" r:id="rId81"/>
    <p:sldId id="382" r:id="rId82"/>
    <p:sldId id="383" r:id="rId83"/>
    <p:sldId id="384" r:id="rId84"/>
    <p:sldId id="385" r:id="rId8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73"/>
    <p:restoredTop sz="88314" autoAdjust="0"/>
  </p:normalViewPr>
  <p:slideViewPr>
    <p:cSldViewPr snapToGrid="0" snapToObjects="1">
      <p:cViewPr varScale="1">
        <p:scale>
          <a:sx n="90" d="100"/>
          <a:sy n="90" d="100"/>
        </p:scale>
        <p:origin x="6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6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50C6-413B-0091-E22C-328E7C3C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0B97B-C6EE-CB08-D358-604E30D1C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C2432-4D50-E106-64D2-4683CD413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66AE5-A56E-7F3C-91C5-ED0B91C3E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64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EA93A-AC5D-2191-597A-007447F7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91938-3D8C-1C4C-A137-D4879A98B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A34DC-ED2B-A22E-57A3-CF11BCEB5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openaccess.thecvf.com</a:t>
            </a:r>
            <a:r>
              <a:rPr lang="en-US" dirty="0"/>
              <a:t>/content_CVPR_2020/papers/He_Momentum_Contrast_for_Unsupervised_Visual_Representation_Learning_CVPR_2020_paper.pdf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DEFAF-D3AE-4A9C-BA8B-212E9C48C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36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76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1D7F-6591-C6C0-2B30-D5A644D5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300D9-66A5-D45A-1BEF-CCCECADF3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47A950-146A-80DF-8303-879F5171D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4AFCB-9FA7-FDC7-8AA0-B58497211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07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6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50C6-413B-0091-E22C-328E7C3C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0B97B-C6EE-CB08-D358-604E30D1C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C2432-4D50-E106-64D2-4683CD413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66AE5-A56E-7F3C-91C5-ED0B91C3E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64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aclanthology.org</a:t>
            </a:r>
            <a:r>
              <a:rPr lang="en-US" dirty="0"/>
              <a:t>/2023.acl-long.99.pdf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21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also MSR query2doc</a:t>
            </a:r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/pdf/2304.14233 and </a:t>
            </a:r>
            <a:r>
              <a:rPr lang="en-US" dirty="0" err="1"/>
              <a:t>LameR</a:t>
            </a:r>
            <a:r>
              <a:rPr lang="en-US" dirty="0"/>
              <a:t> gets similar results concatenating generated documents to the query and using a sparse retriever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49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EE904-B756-824C-4F7E-C3F03884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F47C4-3AFC-A95E-52A5-9D4434A20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20EF6-89B2-69EC-DAB7-999F26B87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also MSR query2doc</a:t>
            </a:r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/pdf/2304.14233 and </a:t>
            </a:r>
            <a:r>
              <a:rPr lang="en-US" dirty="0" err="1"/>
              <a:t>LameR</a:t>
            </a:r>
            <a:r>
              <a:rPr lang="en-US" dirty="0"/>
              <a:t> gets similar results concatenating generated documents to the query and using a sparse retriever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2AE67-EDA9-984C-1825-FF6F0E61A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80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openreview.net</a:t>
            </a:r>
            <a:r>
              <a:rPr lang="en-US" dirty="0"/>
              <a:t>/</a:t>
            </a:r>
            <a:r>
              <a:rPr lang="en-US" dirty="0" err="1"/>
              <a:t>pdf?id</a:t>
            </a:r>
            <a:r>
              <a:rPr lang="en-US" dirty="0"/>
              <a:t>=Ahlrf2HGJR – mistral 7B</a:t>
            </a:r>
          </a:p>
          <a:p>
            <a:r>
              <a:rPr lang="en-US" dirty="0"/>
              <a:t>and https://</a:t>
            </a:r>
            <a:r>
              <a:rPr lang="en-US" dirty="0" err="1"/>
              <a:t>arxiv.org</a:t>
            </a:r>
            <a:r>
              <a:rPr lang="en-US" dirty="0"/>
              <a:t>/pdf/2307.16645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25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6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/pdf/2005.11401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37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proceedings.mlr.press</a:t>
            </a:r>
            <a:r>
              <a:rPr lang="en-US" dirty="0"/>
              <a:t>/v119/guu20a.html?ref=http://</a:t>
            </a:r>
            <a:r>
              <a:rPr lang="en-US" dirty="0" err="1"/>
              <a:t>githubhelp.com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46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https://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arxiv.org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/abs/2007.01282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49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62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71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132EA-23F5-CB52-FC1F-F2D1B65F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30DE4-CE17-0328-F9BC-22525CAA8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19180-94B2-8D0F-E752-49D8FFFF3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/pdf/1911.02150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B1D2A-E196-6654-8DDD-4C563F567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35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/pdf/1911.02150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210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F33B2-7D28-9743-B60C-ED4A73BED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A8B81-0452-E0F3-FF66-B44BBA65B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BAA37-675E-355B-CC8E-30178FF89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/pdf/1911.02150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DD971-F4AA-A49E-F58A-33995D46C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041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7A28E-3D4A-403C-E5C0-61499768A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5BDB6-A143-C027-231D-AD6442C3D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A0034-D7E0-2A8E-9ACB-4983F8290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/pdf/1911.02150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DE649-67BF-B000-71B9-6FC3CC23D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271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C554-5901-59BE-2F1C-23A591832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AB694-8C98-4C69-72DD-AF51B9219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D184C-1B83-605F-B781-B0CD8CB36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/pdf/1911.02150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6F50A-8E26-A509-FC3D-4A7B9D312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616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AA89-09DC-DE67-0AD8-0B4D47F7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C67D3-ED9C-7110-2D9E-EB72338A5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0B6EC-5401-F05A-AA48-98EAD1D76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/pdf/1911.02150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F9D05-E652-E5CF-6A31-529E10A01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212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94727-3657-BBEA-4DCE-1D1E57884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AB06E-A610-E8DC-F105-77BF832D7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B5F3B-8294-EFDF-5CFE-B7308DDDA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/pdf/1911.02150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3FF77-CEF3-FF36-0E28-D2CA1BD41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15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1FFED-CF79-13ED-A321-A2653CAA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ABF50-E48D-67F6-041A-5E86A37A6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AD15C-A4D2-7D27-C375-E9BCC17CA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A7D60-DF0E-061B-DBA3-6E1E52539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77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9EE08-B301-BB80-399B-BA35743A6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2A3E7-7C56-5E6A-D265-08322AF87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8F697-B0C9-D2DD-EDE4-38F90EFE5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93523-E5A7-2533-AC63-98533BB98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004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8E82B-1B4D-F234-A1F4-1D569CE6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46EC3-31EF-143E-D557-B9AD5BC0E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58FB3-5A1B-E6F3-359C-893539305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2C343-D293-805E-EF85-A382D32DE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091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BE7DE-7285-B906-642B-2442CFA9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C675D-D53D-0617-A88A-FC07405B7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6EE21-7FD9-F4F2-A3B3-4F2A7837B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1479C-1E21-AF2C-FF90-6205983B3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044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7494C-350E-DBBC-F880-70C9AB533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DBAF0-A6A2-96F0-77F6-92AF96B7B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52C47-2124-308F-4A43-0AB95A62A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0A8FC-714A-E806-757F-0E1B83CA5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603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74679-1382-D39C-8F11-B7EBE1D3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9618F-8916-AC8C-BF30-391BD29B0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BE6E1-49E8-3187-DBEB-C76C3F051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E127D-2E76-279D-8A33-2B31366AB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165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35B2-8ABE-8CE8-717D-B9131C284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56228-1198-9CA9-1C8E-50D7E4F4B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CFD68-80D4-0906-C7D7-055E898E5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 dirty="0" err="1"/>
              <a:t>LateInteraction</a:t>
            </a:r>
            <a:r>
              <a:rPr lang="en-US" dirty="0"/>
              <a:t> Memory </a:t>
            </a:r>
            <a:r>
              <a:rPr lang="en-US" dirty="0" err="1"/>
              <a:t>Reranker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/pdf/2306.10231</a:t>
            </a:r>
          </a:p>
          <a:p>
            <a:r>
              <a:rPr lang="en-US" dirty="0"/>
              <a:t>https://</a:t>
            </a:r>
            <a:r>
              <a:rPr lang="en-US" dirty="0" err="1"/>
              <a:t>storage.prod.researchhub.com</a:t>
            </a:r>
            <a:r>
              <a:rPr lang="en-US" dirty="0"/>
              <a:t>/uploads/papers/2022/08/12/2208.03299v1.pdf – ppl dis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A47AF-6489-4B00-11B6-0A7F1558A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239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848BA-6C75-8001-A0C4-B2CB36C4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F6C1B-9775-C34D-CE11-C347B5EBE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67047-883A-EACE-C293-44AAAB417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 dirty="0" err="1"/>
              <a:t>LateInteraction</a:t>
            </a:r>
            <a:r>
              <a:rPr lang="en-US" dirty="0"/>
              <a:t> Memory </a:t>
            </a:r>
            <a:r>
              <a:rPr lang="en-US" dirty="0" err="1"/>
              <a:t>Reranker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/pdf/2306.10231</a:t>
            </a:r>
          </a:p>
          <a:p>
            <a:r>
              <a:rPr lang="en-US" dirty="0"/>
              <a:t>https://</a:t>
            </a:r>
            <a:r>
              <a:rPr lang="en-US" dirty="0" err="1"/>
              <a:t>storage.prod.researchhub.com</a:t>
            </a:r>
            <a:r>
              <a:rPr lang="en-US" dirty="0"/>
              <a:t>/uploads/papers/2022/08/12/2208.03299v1.pdf – ppl dis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10F32-DC98-21A8-9D69-B09651C57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309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4768-C949-A471-FFFD-E645E6499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EDD07-F3DC-DF5E-97CE-79AA7DA2A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8A96F-FF14-F234-702B-E29F973A3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 dirty="0" err="1"/>
              <a:t>LateInteraction</a:t>
            </a:r>
            <a:r>
              <a:rPr lang="en-US" dirty="0"/>
              <a:t> Memory </a:t>
            </a:r>
            <a:r>
              <a:rPr lang="en-US" dirty="0" err="1"/>
              <a:t>Reranker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/pdf/2306.10231</a:t>
            </a:r>
          </a:p>
          <a:p>
            <a:r>
              <a:rPr lang="en-US" dirty="0"/>
              <a:t>https://</a:t>
            </a:r>
            <a:r>
              <a:rPr lang="en-US" dirty="0" err="1"/>
              <a:t>storage.prod.researchhub.com</a:t>
            </a:r>
            <a:r>
              <a:rPr lang="en-US" dirty="0"/>
              <a:t>/uploads/papers/2022/08/12/2208.03299v1.pdf – ppl dis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4ADCF-DD6E-1395-C3CF-1E0D34D09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048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BCA88-A5EC-A122-D670-58E703759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528FB-56E8-4C01-1771-742629D46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6BF0E-D509-7B07-7BFB-317A5A10A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 dirty="0" err="1"/>
              <a:t>LateInteraction</a:t>
            </a:r>
            <a:r>
              <a:rPr lang="en-US" dirty="0"/>
              <a:t> Memory </a:t>
            </a:r>
            <a:r>
              <a:rPr lang="en-US" dirty="0" err="1"/>
              <a:t>Reranker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/pdf/2306.10231</a:t>
            </a:r>
          </a:p>
          <a:p>
            <a:r>
              <a:rPr lang="en-US" dirty="0"/>
              <a:t>https://</a:t>
            </a:r>
            <a:r>
              <a:rPr lang="en-US" dirty="0" err="1"/>
              <a:t>storage.prod.researchhub.com</a:t>
            </a:r>
            <a:r>
              <a:rPr lang="en-US" dirty="0"/>
              <a:t>/uploads/papers/2022/08/12/2208.03299v1.pdf – ppl dis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8755D-CFAC-460D-41ED-52BF86DB0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42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62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172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/pdf/2212.10947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321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/pdf/2409.15355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529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https://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arxiv.org</a:t>
            </a:r>
            <a:r>
              <a:rPr lang="en-US" b="0" i="0">
                <a:solidFill>
                  <a:srgbClr val="000000"/>
                </a:solidFill>
                <a:effectLst/>
                <a:latin typeface="Times"/>
              </a:rPr>
              <a:t>/pdf/2503.08640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5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4/9/25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2304.14233" TargetMode="Externa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11.02150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5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ECB7-27D5-28EC-2A66-F10CEE892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88710-71D3-7E3A-1C28-56D110C9B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Review of how to learn retrievers</a:t>
            </a:r>
          </a:p>
          <a:p>
            <a:pPr lvl="1"/>
            <a:r>
              <a:rPr lang="en-US" dirty="0"/>
              <a:t>Contrastive learning</a:t>
            </a:r>
          </a:p>
          <a:p>
            <a:pPr lvl="1"/>
            <a:r>
              <a:rPr lang="en-US" dirty="0"/>
              <a:t>DPR and </a:t>
            </a:r>
            <a:r>
              <a:rPr lang="en-US" dirty="0" err="1"/>
              <a:t>Contreiver</a:t>
            </a:r>
            <a:endParaRPr lang="en-US" dirty="0"/>
          </a:p>
          <a:p>
            <a:r>
              <a:rPr lang="en-US" dirty="0"/>
              <a:t>Using decoder-only LLMs for retrieval</a:t>
            </a:r>
          </a:p>
          <a:p>
            <a:pPr lvl="1"/>
            <a:r>
              <a:rPr lang="en-US" dirty="0"/>
              <a:t>query expansion</a:t>
            </a:r>
          </a:p>
          <a:p>
            <a:pPr lvl="1"/>
            <a:r>
              <a:rPr lang="en-US" dirty="0"/>
              <a:t>generating encodings</a:t>
            </a:r>
          </a:p>
          <a:p>
            <a:r>
              <a:rPr lang="en-US" dirty="0"/>
              <a:t>Retrieval-augmented generation (RAG)</a:t>
            </a:r>
          </a:p>
          <a:p>
            <a:pPr lvl="1"/>
            <a:r>
              <a:rPr lang="en-US" dirty="0"/>
              <a:t>The original RAG paper</a:t>
            </a:r>
          </a:p>
          <a:p>
            <a:pPr lvl="1"/>
            <a:r>
              <a:rPr lang="en-US" dirty="0"/>
              <a:t>The fusion-in-decoder (</a:t>
            </a:r>
            <a:r>
              <a:rPr lang="en-US" dirty="0" err="1"/>
              <a:t>FiD</a:t>
            </a:r>
            <a:r>
              <a:rPr lang="en-US" dirty="0"/>
              <a:t>) paper</a:t>
            </a:r>
          </a:p>
          <a:p>
            <a:r>
              <a:rPr lang="en-US" dirty="0"/>
              <a:t>A case study: optimizing inference for </a:t>
            </a:r>
            <a:r>
              <a:rPr lang="en-US" dirty="0" err="1"/>
              <a:t>FiD</a:t>
            </a:r>
            <a:endParaRPr lang="en-US" dirty="0"/>
          </a:p>
          <a:p>
            <a:pPr lvl="1"/>
            <a:r>
              <a:rPr lang="en-US" dirty="0"/>
              <a:t>Systems: </a:t>
            </a:r>
            <a:r>
              <a:rPr lang="en-US" dirty="0" err="1"/>
              <a:t>FiDO</a:t>
            </a:r>
            <a:r>
              <a:rPr lang="en-US" dirty="0"/>
              <a:t>, LUMEN, GLIMMER</a:t>
            </a:r>
          </a:p>
          <a:p>
            <a:r>
              <a:rPr lang="en-US" dirty="0"/>
              <a:t>Incorporating principles from RAG, </a:t>
            </a:r>
            <a:r>
              <a:rPr lang="en-US" dirty="0" err="1"/>
              <a:t>FiD</a:t>
            </a:r>
            <a:r>
              <a:rPr lang="en-US" dirty="0"/>
              <a:t> in decoder-only LLMS</a:t>
            </a:r>
          </a:p>
        </p:txBody>
      </p:sp>
    </p:spTree>
    <p:extLst>
      <p:ext uri="{BB962C8B-B14F-4D97-AF65-F5344CB8AC3E}">
        <p14:creationId xmlns:p14="http://schemas.microsoft.com/office/powerpoint/2010/main" val="335373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8A72-4DDD-9F58-95F3-83D7AF17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LLMs</a:t>
            </a:r>
            <a:br>
              <a:rPr lang="en-US" dirty="0"/>
            </a:br>
            <a:r>
              <a:rPr lang="en-US" dirty="0"/>
              <a:t>A 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0EF5-A5C6-5C27-028A-BD676A49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8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E636B-D0F5-D6D5-DD0A-25DF343C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trieval Augmented Generation Techniques">
            <a:extLst>
              <a:ext uri="{FF2B5EF4-FFF2-40B4-BE49-F238E27FC236}">
                <a16:creationId xmlns:a16="http://schemas.microsoft.com/office/drawing/2014/main" id="{6170DF3F-9708-5286-9369-4DBE06713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2113"/>
            <a:ext cx="9144000" cy="538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C64A68-5609-59B2-60A7-5CF26B9F2477}"/>
              </a:ext>
            </a:extLst>
          </p:cNvPr>
          <p:cNvSpPr txBox="1"/>
          <p:nvPr/>
        </p:nvSpPr>
        <p:spPr>
          <a:xfrm>
            <a:off x="5772150" y="3959781"/>
            <a:ext cx="3214687" cy="2031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Access new information (not available during model pretraining)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Better access “long tail” information that is mentioned infrequently in pre-training documents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35D14-C427-3350-115C-7061E8C21C59}"/>
              </a:ext>
            </a:extLst>
          </p:cNvPr>
          <p:cNvSpPr txBox="1"/>
          <p:nvPr/>
        </p:nvSpPr>
        <p:spPr>
          <a:xfrm>
            <a:off x="5344940" y="6096555"/>
            <a:ext cx="321468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Needs strong retrieval</a:t>
            </a:r>
          </a:p>
        </p:txBody>
      </p:sp>
    </p:spTree>
    <p:extLst>
      <p:ext uri="{BB962C8B-B14F-4D97-AF65-F5344CB8AC3E}">
        <p14:creationId xmlns:p14="http://schemas.microsoft.com/office/powerpoint/2010/main" val="3212583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EDEEA-5526-6A85-3819-90B65639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 for retrieval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6229BB-BC1D-445A-5FCC-9905CFD72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028700"/>
            <a:ext cx="5994400" cy="4229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CCEB3C-789A-287E-52EE-7BFB42161C63}"/>
              </a:ext>
            </a:extLst>
          </p:cNvPr>
          <p:cNvSpPr txBox="1"/>
          <p:nvPr/>
        </p:nvSpPr>
        <p:spPr>
          <a:xfrm>
            <a:off x="6276250" y="3259552"/>
            <a:ext cx="267287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Usually a fairly large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46E12-4EEF-6B2C-B684-D55F81AACD74}"/>
              </a:ext>
            </a:extLst>
          </p:cNvPr>
          <p:cNvSpPr txBox="1"/>
          <p:nvPr/>
        </p:nvSpPr>
        <p:spPr>
          <a:xfrm>
            <a:off x="6276250" y="3878677"/>
            <a:ext cx="2307364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"Projection head” to compress large representation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5EC51-A56F-4931-2715-A814D6E66997}"/>
              </a:ext>
            </a:extLst>
          </p:cNvPr>
          <p:cNvSpPr txBox="1"/>
          <p:nvPr/>
        </p:nvSpPr>
        <p:spPr>
          <a:xfrm>
            <a:off x="6276250" y="5257800"/>
            <a:ext cx="2307364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Loss usually needs positive and negative retrievals for </a:t>
            </a:r>
            <a:r>
              <a:rPr lang="en-US" i="1" dirty="0"/>
              <a:t>q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865655-A0E7-1E31-C7B6-A0D2622BC618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4383089" y="5000625"/>
            <a:ext cx="1893161" cy="71884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3B37D72-AAEB-0074-5CE7-236132462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21" y="4559521"/>
            <a:ext cx="1974327" cy="20238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40C018-DEE3-B1F1-ECD4-002EFF5B12D8}"/>
              </a:ext>
            </a:extLst>
          </p:cNvPr>
          <p:cNvSpPr txBox="1"/>
          <p:nvPr/>
        </p:nvSpPr>
        <p:spPr>
          <a:xfrm>
            <a:off x="2440432" y="5492516"/>
            <a:ext cx="254228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Contrastive loss fine-tunes the large encoder (and the projection head)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08AA6-0178-DC9E-B6D1-057DA59F1D90}"/>
              </a:ext>
            </a:extLst>
          </p:cNvPr>
          <p:cNvSpPr txBox="1"/>
          <p:nvPr/>
        </p:nvSpPr>
        <p:spPr>
          <a:xfrm>
            <a:off x="6379436" y="1338990"/>
            <a:ext cx="230736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Contrastive learners are very widely used</a:t>
            </a:r>
          </a:p>
        </p:txBody>
      </p:sp>
    </p:spTree>
    <p:extLst>
      <p:ext uri="{BB962C8B-B14F-4D97-AF65-F5344CB8AC3E}">
        <p14:creationId xmlns:p14="http://schemas.microsoft.com/office/powerpoint/2010/main" val="24033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D3E6F-5FBD-3795-EC4F-64544124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DF40-2B07-CBAA-BDD3-827AA649E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Contrastive learning: losses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77F84D-474E-7F7E-54DB-8457682A7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205" y="3516512"/>
            <a:ext cx="3822836" cy="10412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B7C538-849A-BA0D-A3A7-A8201FD1F0FE}"/>
              </a:ext>
            </a:extLst>
          </p:cNvPr>
          <p:cNvSpPr txBox="1"/>
          <p:nvPr/>
        </p:nvSpPr>
        <p:spPr>
          <a:xfrm>
            <a:off x="457200" y="3559596"/>
            <a:ext cx="326340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NT-</a:t>
            </a:r>
            <a:r>
              <a:rPr lang="en-US" dirty="0" err="1"/>
              <a:t>Xent</a:t>
            </a:r>
            <a:r>
              <a:rPr lang="en-US" dirty="0"/>
              <a:t>: normalized temperature-scale cross-entropy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8ED633-93BC-DC4C-4F2E-EB733D67F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906" y="1459736"/>
            <a:ext cx="55880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8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C18CF-DD6D-6F32-9FA6-C53A4122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F47D-6B92-6B9C-1A3F-F82CD8E5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Dense Passage Retriever (DPR)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C43C6-1890-D034-AD2B-8E22C5FEC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50263" cy="5057775"/>
          </a:xfrm>
        </p:spPr>
        <p:txBody>
          <a:bodyPr>
            <a:normAutofit fontScale="92500"/>
          </a:bodyPr>
          <a:lstStyle/>
          <a:p>
            <a:r>
              <a:rPr lang="en-US" dirty="0"/>
              <a:t>Process several QA datasets to get triples:</a:t>
            </a:r>
          </a:p>
          <a:p>
            <a:pPr lvl="1"/>
            <a:r>
              <a:rPr lang="en-US" dirty="0"/>
              <a:t>(question, gold passage id, gold answer span)</a:t>
            </a:r>
          </a:p>
          <a:p>
            <a:r>
              <a:rPr lang="en-US" dirty="0"/>
              <a:t>Triples give positive question/passage examples</a:t>
            </a:r>
          </a:p>
          <a:p>
            <a:r>
              <a:rPr lang="en-US" dirty="0"/>
              <a:t>Use in-batch negatives with batches of </a:t>
            </a:r>
            <a:r>
              <a:rPr lang="en-US" i="1" dirty="0" err="1"/>
              <a:t>p,q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pair is positive for</a:t>
            </a:r>
            <a:r>
              <a:rPr lang="en-US" i="1" dirty="0"/>
              <a:t> q</a:t>
            </a:r>
            <a:r>
              <a:rPr lang="en-US" i="1" baseline="-25000" dirty="0"/>
              <a:t>i</a:t>
            </a:r>
            <a:r>
              <a:rPr lang="en-US" i="1" dirty="0"/>
              <a:t>,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baseline="-25000" dirty="0"/>
              <a:t> 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i="1" dirty="0" err="1"/>
              <a:t>i</a:t>
            </a:r>
            <a:r>
              <a:rPr lang="en-US" i="1" dirty="0"/>
              <a:t>=j</a:t>
            </a:r>
          </a:p>
          <a:p>
            <a:pPr lvl="2"/>
            <a:r>
              <a:rPr lang="en-US" dirty="0"/>
              <a:t>“in-batch negatives” trick</a:t>
            </a:r>
          </a:p>
          <a:p>
            <a:pPr lvl="1"/>
            <a:r>
              <a:rPr lang="en-US" dirty="0"/>
              <a:t>also add as additional hard negatives</a:t>
            </a:r>
          </a:p>
          <a:p>
            <a:pPr lvl="2"/>
            <a:r>
              <a:rPr lang="en-US" dirty="0"/>
              <a:t>1-2 passages with high TFIDF score to </a:t>
            </a:r>
            <a:r>
              <a:rPr lang="en-US" i="1" dirty="0"/>
              <a:t>q </a:t>
            </a:r>
            <a:r>
              <a:rPr lang="en-US" dirty="0"/>
              <a:t>which do </a:t>
            </a:r>
            <a:r>
              <a:rPr lang="en-US" b="1" u="sng" dirty="0"/>
              <a:t>not</a:t>
            </a:r>
            <a:r>
              <a:rPr lang="en-US" b="1" dirty="0"/>
              <a:t> </a:t>
            </a:r>
            <a:r>
              <a:rPr lang="en-US" dirty="0"/>
              <a:t> contain the answer span</a:t>
            </a:r>
          </a:p>
        </p:txBody>
      </p:sp>
    </p:spTree>
    <p:extLst>
      <p:ext uri="{BB962C8B-B14F-4D97-AF65-F5344CB8AC3E}">
        <p14:creationId xmlns:p14="http://schemas.microsoft.com/office/powerpoint/2010/main" val="730009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3623-C477-6FDC-06FE-3391FC436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9ABD-D7D6-5F72-F7FE-CE8B115F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325199"/>
            <a:ext cx="8648700" cy="804862"/>
          </a:xfrm>
        </p:spPr>
        <p:txBody>
          <a:bodyPr/>
          <a:lstStyle/>
          <a:p>
            <a:r>
              <a:rPr lang="en-US" dirty="0"/>
              <a:t>Discussion of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59B03-14AC-4871-E5C6-626CF5C1B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2" y="1096963"/>
            <a:ext cx="8648700" cy="175736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Encoder used in DPR:</a:t>
            </a:r>
          </a:p>
          <a:p>
            <a:pPr lvl="1"/>
            <a:r>
              <a:rPr lang="en-US" dirty="0"/>
              <a:t>BERT with [CLS] token</a:t>
            </a:r>
          </a:p>
          <a:p>
            <a:pPr lvl="2"/>
            <a:r>
              <a:rPr lang="en-US" dirty="0"/>
              <a:t>The obvious choice in 2020</a:t>
            </a:r>
          </a:p>
          <a:p>
            <a:pPr lvl="2"/>
            <a:r>
              <a:rPr lang="en-US" dirty="0"/>
              <a:t>Still a very </a:t>
            </a:r>
            <a:r>
              <a:rPr lang="en-US" b="1" dirty="0"/>
              <a:t>good</a:t>
            </a:r>
            <a:r>
              <a:rPr lang="en-US" dirty="0"/>
              <a:t> choice </a:t>
            </a:r>
          </a:p>
          <a:p>
            <a:pPr lvl="1"/>
            <a:r>
              <a:rPr lang="en-US" dirty="0"/>
              <a:t>Encoder-only and encoder-decoder models have a “</a:t>
            </a:r>
            <a:r>
              <a:rPr lang="en-US" dirty="0">
                <a:highlight>
                  <a:srgbClr val="00FF00"/>
                </a:highlight>
              </a:rPr>
              <a:t>bottleneck</a:t>
            </a:r>
            <a:r>
              <a:rPr lang="en-US" dirty="0"/>
              <a:t>”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8499B-D802-EE85-3CDC-6E19C00C17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22" b="9218"/>
          <a:stretch/>
        </p:blipFill>
        <p:spPr>
          <a:xfrm>
            <a:off x="443307" y="3689354"/>
            <a:ext cx="3060969" cy="287654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E337E71-0D41-BF84-3306-8AAF4B84D1B1}"/>
              </a:ext>
            </a:extLst>
          </p:cNvPr>
          <p:cNvSpPr/>
          <p:nvPr/>
        </p:nvSpPr>
        <p:spPr>
          <a:xfrm>
            <a:off x="657619" y="4028944"/>
            <a:ext cx="569001" cy="346210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Architecture of the GPT family of models">
            <a:extLst>
              <a:ext uri="{FF2B5EF4-FFF2-40B4-BE49-F238E27FC236}">
                <a16:creationId xmlns:a16="http://schemas.microsoft.com/office/drawing/2014/main" id="{101811A8-1C07-8581-9F86-16FD367053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8" t="16612"/>
          <a:stretch/>
        </p:blipFill>
        <p:spPr bwMode="auto">
          <a:xfrm>
            <a:off x="7000875" y="3474519"/>
            <a:ext cx="1765806" cy="3240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7544B0-4FB0-05A6-B5C8-B314D9AE6853}"/>
              </a:ext>
            </a:extLst>
          </p:cNvPr>
          <p:cNvSpPr txBox="1"/>
          <p:nvPr/>
        </p:nvSpPr>
        <p:spPr>
          <a:xfrm>
            <a:off x="1361642" y="3474520"/>
            <a:ext cx="148222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Encoder only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4EFC2-D48D-8C34-5793-99DC2131665F}"/>
              </a:ext>
            </a:extLst>
          </p:cNvPr>
          <p:cNvSpPr txBox="1"/>
          <p:nvPr/>
        </p:nvSpPr>
        <p:spPr>
          <a:xfrm>
            <a:off x="7142663" y="2854324"/>
            <a:ext cx="1482229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Decoder only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430C328-BA68-DDAF-E59C-A0C47105C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708" y="3068347"/>
            <a:ext cx="2474237" cy="364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9B0ADB-D09A-333C-7511-05F32E60CE12}"/>
              </a:ext>
            </a:extLst>
          </p:cNvPr>
          <p:cNvSpPr txBox="1"/>
          <p:nvPr/>
        </p:nvSpPr>
        <p:spPr>
          <a:xfrm>
            <a:off x="3900005" y="3357346"/>
            <a:ext cx="1054303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Encoder-decoder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96EA2D-7991-6A14-1D55-47A293783EFF}"/>
              </a:ext>
            </a:extLst>
          </p:cNvPr>
          <p:cNvSpPr/>
          <p:nvPr/>
        </p:nvSpPr>
        <p:spPr>
          <a:xfrm>
            <a:off x="4690817" y="4179821"/>
            <a:ext cx="569001" cy="346210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33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4FD63-E587-4CFF-EE6F-413F0ACC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8C5B-664C-D645-3BE4-43D18570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Cross-Encoders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742D8-4123-4FD1-0CF1-AD2FAA776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" r="10365"/>
          <a:stretch/>
        </p:blipFill>
        <p:spPr>
          <a:xfrm>
            <a:off x="728663" y="1096962"/>
            <a:ext cx="3287381" cy="2659868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C0813B-2B24-3E6A-4234-6006DE61C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4" y="3955610"/>
            <a:ext cx="7772400" cy="2330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EF10D5-AD0F-06E9-11C7-86E0FF6AE7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70" r="9522" b="19412"/>
          <a:stretch/>
        </p:blipFill>
        <p:spPr>
          <a:xfrm>
            <a:off x="4603750" y="1096962"/>
            <a:ext cx="3886200" cy="2659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3BF1A0-0EB3-93B9-3A0D-D30166A780E7}"/>
              </a:ext>
            </a:extLst>
          </p:cNvPr>
          <p:cNvSpPr txBox="1"/>
          <p:nvPr/>
        </p:nvSpPr>
        <p:spPr>
          <a:xfrm>
            <a:off x="5592473" y="3756830"/>
            <a:ext cx="8511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F4BCDD-AFC6-F562-F867-07CECFDBD186}"/>
              </a:ext>
            </a:extLst>
          </p:cNvPr>
          <p:cNvSpPr txBox="1"/>
          <p:nvPr/>
        </p:nvSpPr>
        <p:spPr>
          <a:xfrm>
            <a:off x="6979875" y="3770944"/>
            <a:ext cx="151007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i-th</a:t>
            </a:r>
            <a:r>
              <a:rPr lang="en-US" dirty="0"/>
              <a:t> candidate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9BFDD2-4729-015D-51BD-BEEFCCBE716B}"/>
              </a:ext>
            </a:extLst>
          </p:cNvPr>
          <p:cNvSpPr txBox="1"/>
          <p:nvPr/>
        </p:nvSpPr>
        <p:spPr>
          <a:xfrm>
            <a:off x="4755954" y="4837925"/>
            <a:ext cx="1300161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c2, …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254757-4A36-589C-4ABD-BAEE6195C684}"/>
              </a:ext>
            </a:extLst>
          </p:cNvPr>
          <p:cNvCxnSpPr/>
          <p:nvPr/>
        </p:nvCxnSpPr>
        <p:spPr>
          <a:xfrm flipV="1">
            <a:off x="2671763" y="4257675"/>
            <a:ext cx="2920710" cy="985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9F947C-6477-ECEE-0D80-B5D21BD9E85D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056115" y="4324942"/>
            <a:ext cx="1746264" cy="697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Up Arrow 17">
            <a:extLst>
              <a:ext uri="{FF2B5EF4-FFF2-40B4-BE49-F238E27FC236}">
                <a16:creationId xmlns:a16="http://schemas.microsoft.com/office/drawing/2014/main" id="{06493D06-F250-2991-B113-52DB1C4FDDEE}"/>
              </a:ext>
            </a:extLst>
          </p:cNvPr>
          <p:cNvSpPr/>
          <p:nvPr/>
        </p:nvSpPr>
        <p:spPr>
          <a:xfrm>
            <a:off x="4956508" y="931636"/>
            <a:ext cx="635965" cy="528637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A5788A-54DB-830D-C7C2-4935E98865A9}"/>
              </a:ext>
            </a:extLst>
          </p:cNvPr>
          <p:cNvSpPr txBox="1"/>
          <p:nvPr/>
        </p:nvSpPr>
        <p:spPr>
          <a:xfrm>
            <a:off x="5036775" y="498232"/>
            <a:ext cx="369288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relevance of </a:t>
            </a:r>
            <a:r>
              <a:rPr lang="en-US" dirty="0" err="1"/>
              <a:t>i-th</a:t>
            </a:r>
            <a:r>
              <a:rPr lang="en-US" dirty="0"/>
              <a:t> candidate to query</a:t>
            </a:r>
          </a:p>
        </p:txBody>
      </p:sp>
    </p:spTree>
    <p:extLst>
      <p:ext uri="{BB962C8B-B14F-4D97-AF65-F5344CB8AC3E}">
        <p14:creationId xmlns:p14="http://schemas.microsoft.com/office/powerpoint/2010/main" val="76613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F219-2625-1FFE-AC5C-06C7315C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13E0-062E-F946-6A34-89D291DE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Mega-batching and Dynamic Dictionaries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11DE8-7D0F-6A75-B760-50F4B8BBC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40290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Assume we have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dataloader</a:t>
            </a:r>
            <a:r>
              <a:rPr lang="en-US" dirty="0"/>
              <a:t> that streams through mini-batches</a:t>
            </a:r>
          </a:p>
          <a:p>
            <a:pPr lvl="1"/>
            <a:r>
              <a:rPr lang="en-US" dirty="0"/>
              <a:t>An SGD trainer than learns from the mini-batchers</a:t>
            </a:r>
          </a:p>
          <a:p>
            <a:r>
              <a:rPr lang="en-US" dirty="0"/>
              <a:t>Idea: modify data stream</a:t>
            </a:r>
          </a:p>
          <a:p>
            <a:pPr lvl="1"/>
            <a:r>
              <a:rPr lang="en-US" dirty="0"/>
              <a:t>Keep a queue of the M most recently-seen examples</a:t>
            </a:r>
          </a:p>
          <a:p>
            <a:pPr lvl="1"/>
            <a:r>
              <a:rPr lang="en-US" dirty="0"/>
              <a:t>Add to each mini-batch the hardest negative example in the queue</a:t>
            </a:r>
          </a:p>
          <a:p>
            <a:r>
              <a:rPr lang="en-US" dirty="0"/>
              <a:t>Advantage:</a:t>
            </a:r>
          </a:p>
          <a:p>
            <a:pPr lvl="1"/>
            <a:r>
              <a:rPr lang="en-US" dirty="0"/>
              <a:t>Queue size is independent of batch size</a:t>
            </a:r>
          </a:p>
        </p:txBody>
      </p:sp>
    </p:spTree>
    <p:extLst>
      <p:ext uri="{BB962C8B-B14F-4D97-AF65-F5344CB8AC3E}">
        <p14:creationId xmlns:p14="http://schemas.microsoft.com/office/powerpoint/2010/main" val="2591770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A4F1-EA27-7FB6-09D6-E490844A6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BF7C-A8AC-1833-47A1-6859DAAE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 Encoders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29634A9-3EFD-CF5B-9877-D0846C551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9400" y="1257300"/>
                <a:ext cx="8648700" cy="505051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If  recent checkpoints are unstable</a:t>
                </a:r>
              </a:p>
              <a:p>
                <a:pPr lvl="1"/>
                <a:r>
                  <a:rPr lang="en-US" dirty="0"/>
                  <a:t>Consider an </a:t>
                </a:r>
                <a:r>
                  <a:rPr lang="en-US" i="1" dirty="0"/>
                  <a:t>ensemble</a:t>
                </a:r>
                <a:r>
                  <a:rPr lang="en-US" dirty="0"/>
                  <a:t> of several recent checkpoints</a:t>
                </a:r>
              </a:p>
              <a:p>
                <a:pPr lvl="2"/>
                <a:r>
                  <a:rPr lang="en-US" dirty="0"/>
                  <a:t>e.g., vote with them</a:t>
                </a:r>
              </a:p>
              <a:p>
                <a:pPr lvl="1"/>
                <a:r>
                  <a:rPr lang="en-US" dirty="0"/>
                  <a:t>Averaging the weights of similar models is a good approximation to an ensemble</a:t>
                </a:r>
              </a:p>
              <a:p>
                <a:pPr lvl="1"/>
                <a:r>
                  <a:rPr lang="en-US" dirty="0"/>
                  <a:t>E.g., using the most recent two models:</a:t>
                </a:r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+(1−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)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Similar to a momentum term in optimization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29634A9-3EFD-CF5B-9877-D0846C551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400" y="1257300"/>
                <a:ext cx="8648700" cy="5050510"/>
              </a:xfrm>
              <a:blipFill>
                <a:blip r:embed="rId2"/>
                <a:stretch>
                  <a:fillRect l="-1613" t="-2506" r="-1026" b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641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716BE-AA2F-2FAD-555A-89AD8F2F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872C-BCF2-2999-B9AD-D2C348EE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Contriever</a:t>
            </a:r>
            <a:r>
              <a:rPr lang="en-US" dirty="0"/>
              <a:t> vs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899B-7BBB-9E74-80D3-1A225AA33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Same NT-</a:t>
            </a:r>
            <a:r>
              <a:rPr lang="en-US" dirty="0" err="1"/>
              <a:t>Xent</a:t>
            </a:r>
            <a:r>
              <a:rPr lang="en-US" dirty="0"/>
              <a:t> contrastive loss</a:t>
            </a:r>
          </a:p>
          <a:p>
            <a:r>
              <a:rPr lang="en-US" dirty="0"/>
              <a:t>One BERT encoder instead of two</a:t>
            </a:r>
          </a:p>
          <a:p>
            <a:r>
              <a:rPr lang="en-US" dirty="0"/>
              <a:t>Data augmentation tricks used</a:t>
            </a:r>
          </a:p>
          <a:p>
            <a:pPr lvl="1"/>
            <a:r>
              <a:rPr lang="en-US" dirty="0"/>
              <a:t>Independent cropping</a:t>
            </a:r>
          </a:p>
          <a:p>
            <a:pPr lvl="1"/>
            <a:r>
              <a:rPr lang="en-US" dirty="0"/>
              <a:t>Random token deletion</a:t>
            </a:r>
          </a:p>
          <a:p>
            <a:r>
              <a:rPr lang="en-US" dirty="0"/>
              <a:t>Negatives were from</a:t>
            </a:r>
          </a:p>
          <a:p>
            <a:pPr lvl="1"/>
            <a:r>
              <a:rPr lang="en-US" dirty="0"/>
              <a:t>in-batch negatives</a:t>
            </a:r>
          </a:p>
          <a:p>
            <a:pPr lvl="1"/>
            <a:r>
              <a:rPr lang="en-US" dirty="0"/>
              <a:t>momentum contrast (</a:t>
            </a:r>
            <a:r>
              <a:rPr lang="en-US" dirty="0" err="1"/>
              <a:t>MoCo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MoCo</a:t>
            </a:r>
            <a:r>
              <a:rPr lang="en-US" dirty="0"/>
              <a:t>: dynamic dictionary queue and averaging last two models to find hard negatives</a:t>
            </a:r>
          </a:p>
        </p:txBody>
      </p:sp>
    </p:spTree>
    <p:extLst>
      <p:ext uri="{BB962C8B-B14F-4D97-AF65-F5344CB8AC3E}">
        <p14:creationId xmlns:p14="http://schemas.microsoft.com/office/powerpoint/2010/main" val="221491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6B258-F4E0-EDEE-26BA-3C57FBEE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B31A-D9C0-B3AA-8683-54E3BFF8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cropping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A544-20F1-0781-E10D-928755D2A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334375" cy="198415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Given a paragraph </a:t>
            </a:r>
            <a:r>
              <a:rPr lang="en-US" i="1" dirty="0"/>
              <a:t>p </a:t>
            </a:r>
            <a:r>
              <a:rPr lang="en-US" dirty="0"/>
              <a:t>create a pair</a:t>
            </a:r>
            <a:r>
              <a:rPr lang="en-US" i="1" dirty="0"/>
              <a:t> (a, b) </a:t>
            </a:r>
            <a:r>
              <a:rPr lang="en-US" dirty="0"/>
              <a:t>where</a:t>
            </a:r>
          </a:p>
          <a:p>
            <a:pPr lvl="1"/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are both independently chosen subsequences of the text</a:t>
            </a:r>
          </a:p>
          <a:p>
            <a:pPr lvl="1"/>
            <a:r>
              <a:rPr lang="en-US" dirty="0"/>
              <a:t>length of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are either fixed or sampled</a:t>
            </a:r>
          </a:p>
          <a:p>
            <a:r>
              <a:rPr lang="en-US" dirty="0"/>
              <a:t>Note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will be similar size, not sentence vs paragraph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37653-1A0E-0096-05C8-F22BD9D97737}"/>
              </a:ext>
            </a:extLst>
          </p:cNvPr>
          <p:cNvSpPr txBox="1"/>
          <p:nvPr/>
        </p:nvSpPr>
        <p:spPr>
          <a:xfrm>
            <a:off x="1155701" y="3967161"/>
            <a:ext cx="7458074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..Zebras have four gaits: walk, trot, canter and gallop.  They are generally slower than horses, but their great stamina helps them outrun predators. When chased, a zebra will zigzag from side to side...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7F6CF-6776-B5FD-3E5C-EB8FCBC1CF50}"/>
              </a:ext>
            </a:extLst>
          </p:cNvPr>
          <p:cNvSpPr txBox="1"/>
          <p:nvPr/>
        </p:nvSpPr>
        <p:spPr>
          <a:xfrm>
            <a:off x="409576" y="5247682"/>
            <a:ext cx="3690937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four gaits: walk, trot, canter and gallop.  They are generally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C9944-66FD-611E-ABDB-5E94A9C2B25F}"/>
              </a:ext>
            </a:extLst>
          </p:cNvPr>
          <p:cNvSpPr txBox="1"/>
          <p:nvPr/>
        </p:nvSpPr>
        <p:spPr>
          <a:xfrm>
            <a:off x="5043489" y="5247682"/>
            <a:ext cx="3884611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great stamina helps them outrun predators.  When chased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52E84-742A-0ED3-7AEA-16E6B331B03C}"/>
              </a:ext>
            </a:extLst>
          </p:cNvPr>
          <p:cNvSpPr txBox="1"/>
          <p:nvPr/>
        </p:nvSpPr>
        <p:spPr>
          <a:xfrm>
            <a:off x="715963" y="3887788"/>
            <a:ext cx="31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703D39-70D3-897E-05D9-D3B7A7CFB4EB}"/>
              </a:ext>
            </a:extLst>
          </p:cNvPr>
          <p:cNvSpPr txBox="1"/>
          <p:nvPr/>
        </p:nvSpPr>
        <p:spPr>
          <a:xfrm>
            <a:off x="59531" y="5063016"/>
            <a:ext cx="31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89468-8FAA-85FE-632C-8B25B76A4484}"/>
              </a:ext>
            </a:extLst>
          </p:cNvPr>
          <p:cNvSpPr txBox="1"/>
          <p:nvPr/>
        </p:nvSpPr>
        <p:spPr>
          <a:xfrm>
            <a:off x="4572000" y="5182557"/>
            <a:ext cx="31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B63A70-CD81-110A-2B5F-DFF2483B09B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255045" y="4890491"/>
            <a:ext cx="2629693" cy="357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D59F0B-C267-F38C-FB53-D83F044F8602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84738" y="4890491"/>
            <a:ext cx="2101057" cy="357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089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91D42-6FFA-0FD8-B934-0805DA72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070C-414B-75D7-EF31-F1EABE6B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Contriever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5D0DF-9DCD-CD39-7F1D-F2C803CCE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8507413" cy="12573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Best configuration</a:t>
            </a:r>
          </a:p>
          <a:p>
            <a:pPr lvl="1"/>
            <a:r>
              <a:rPr lang="en-US" dirty="0"/>
              <a:t>Random cropping</a:t>
            </a:r>
          </a:p>
          <a:p>
            <a:pPr lvl="1"/>
            <a:r>
              <a:rPr lang="en-US" dirty="0"/>
              <a:t>Tokens deleted from </a:t>
            </a:r>
            <a:r>
              <a:rPr lang="en-US" i="1" dirty="0"/>
              <a:t>a, b </a:t>
            </a:r>
            <a:r>
              <a:rPr lang="en-US" dirty="0"/>
              <a:t>with probability 0.1</a:t>
            </a:r>
          </a:p>
          <a:p>
            <a:pPr lvl="1"/>
            <a:r>
              <a:rPr lang="en-US" dirty="0" err="1"/>
              <a:t>MoCo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B3C414-660C-D818-79D8-24E3F05E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3057525"/>
            <a:ext cx="7772400" cy="367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98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8A72-4DDD-9F58-95F3-83D7AF17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WITH Modern Decoder-Only LLMS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0EF5-A5C6-5C27-028A-BD676A49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84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3623-C477-6FDC-06FE-3391FC436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9ABD-D7D6-5F72-F7FE-CE8B115F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325199"/>
            <a:ext cx="3867150" cy="771764"/>
          </a:xfrm>
        </p:spPr>
        <p:txBody>
          <a:bodyPr>
            <a:noAutofit/>
          </a:bodyPr>
          <a:lstStyle/>
          <a:p>
            <a:r>
              <a:rPr lang="en-US" sz="2400" dirty="0"/>
              <a:t>Recap: Discussion of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59B03-14AC-4871-E5C6-626CF5C1B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2" y="1096963"/>
            <a:ext cx="8648700" cy="175736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Encoder used in DPR:</a:t>
            </a:r>
          </a:p>
          <a:p>
            <a:pPr lvl="1"/>
            <a:r>
              <a:rPr lang="en-US" dirty="0"/>
              <a:t>BERT with [CLS] token</a:t>
            </a:r>
          </a:p>
          <a:p>
            <a:pPr lvl="2"/>
            <a:r>
              <a:rPr lang="en-US" dirty="0"/>
              <a:t>The obvious choice in 2020</a:t>
            </a:r>
          </a:p>
          <a:p>
            <a:pPr lvl="2"/>
            <a:r>
              <a:rPr lang="en-US" dirty="0"/>
              <a:t>Still a very </a:t>
            </a:r>
            <a:r>
              <a:rPr lang="en-US" b="1" dirty="0"/>
              <a:t>good</a:t>
            </a:r>
            <a:r>
              <a:rPr lang="en-US" dirty="0"/>
              <a:t> choice </a:t>
            </a:r>
          </a:p>
          <a:p>
            <a:pPr lvl="1"/>
            <a:r>
              <a:rPr lang="en-US" dirty="0"/>
              <a:t>Encoder-only and encoder-decoder models have a “</a:t>
            </a:r>
            <a:r>
              <a:rPr lang="en-US" dirty="0">
                <a:highlight>
                  <a:srgbClr val="00FF00"/>
                </a:highlight>
              </a:rPr>
              <a:t>bottleneck</a:t>
            </a:r>
            <a:r>
              <a:rPr lang="en-US" dirty="0"/>
              <a:t>”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8499B-D802-EE85-3CDC-6E19C00C17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22" b="9218"/>
          <a:stretch/>
        </p:blipFill>
        <p:spPr>
          <a:xfrm>
            <a:off x="443307" y="3689354"/>
            <a:ext cx="3060969" cy="287654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E337E71-0D41-BF84-3306-8AAF4B84D1B1}"/>
              </a:ext>
            </a:extLst>
          </p:cNvPr>
          <p:cNvSpPr/>
          <p:nvPr/>
        </p:nvSpPr>
        <p:spPr>
          <a:xfrm>
            <a:off x="657619" y="4028944"/>
            <a:ext cx="569001" cy="346210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Architecture of the GPT family of models">
            <a:extLst>
              <a:ext uri="{FF2B5EF4-FFF2-40B4-BE49-F238E27FC236}">
                <a16:creationId xmlns:a16="http://schemas.microsoft.com/office/drawing/2014/main" id="{101811A8-1C07-8581-9F86-16FD367053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8" t="16612"/>
          <a:stretch/>
        </p:blipFill>
        <p:spPr bwMode="auto">
          <a:xfrm>
            <a:off x="7000875" y="3474519"/>
            <a:ext cx="1765806" cy="3240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7544B0-4FB0-05A6-B5C8-B314D9AE6853}"/>
              </a:ext>
            </a:extLst>
          </p:cNvPr>
          <p:cNvSpPr txBox="1"/>
          <p:nvPr/>
        </p:nvSpPr>
        <p:spPr>
          <a:xfrm>
            <a:off x="1361642" y="3474520"/>
            <a:ext cx="148222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Encoder only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4EFC2-D48D-8C34-5793-99DC2131665F}"/>
              </a:ext>
            </a:extLst>
          </p:cNvPr>
          <p:cNvSpPr txBox="1"/>
          <p:nvPr/>
        </p:nvSpPr>
        <p:spPr>
          <a:xfrm>
            <a:off x="7142663" y="2854324"/>
            <a:ext cx="1482229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Decoder only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430C328-BA68-DDAF-E59C-A0C47105C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708" y="3068347"/>
            <a:ext cx="2474237" cy="364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9B0ADB-D09A-333C-7511-05F32E60CE12}"/>
              </a:ext>
            </a:extLst>
          </p:cNvPr>
          <p:cNvSpPr txBox="1"/>
          <p:nvPr/>
        </p:nvSpPr>
        <p:spPr>
          <a:xfrm>
            <a:off x="3900005" y="3357346"/>
            <a:ext cx="1054303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Encoder-decoder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96EA2D-7991-6A14-1D55-47A293783EFF}"/>
              </a:ext>
            </a:extLst>
          </p:cNvPr>
          <p:cNvSpPr/>
          <p:nvPr/>
        </p:nvSpPr>
        <p:spPr>
          <a:xfrm>
            <a:off x="4690817" y="4179821"/>
            <a:ext cx="569001" cy="346210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4B43C-3215-C403-3D83-4A4DCD974E17}"/>
              </a:ext>
            </a:extLst>
          </p:cNvPr>
          <p:cNvSpPr txBox="1"/>
          <p:nvPr/>
        </p:nvSpPr>
        <p:spPr>
          <a:xfrm>
            <a:off x="5157788" y="557213"/>
            <a:ext cx="3467104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But</a:t>
            </a:r>
            <a:r>
              <a:rPr lang="en-US" sz="2000" dirty="0"/>
              <a:t> … everybody is working on improving decoder-only LLMs, so it would be great if we could use them!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9931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D556AA-8F77-FB53-DF7D-76FC115EF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57175"/>
            <a:ext cx="7772400" cy="28201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881F67-15EE-5DAF-59F2-E48B82C04ABC}"/>
              </a:ext>
            </a:extLst>
          </p:cNvPr>
          <p:cNvSpPr txBox="1"/>
          <p:nvPr/>
        </p:nvSpPr>
        <p:spPr>
          <a:xfrm>
            <a:off x="6557963" y="257175"/>
            <a:ext cx="224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DEE67-528C-BE79-83D8-2A7F3CB15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751" y="3428999"/>
            <a:ext cx="882556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53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07398-C239-EF8A-D18A-4D17FCEE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Hypothetical Document Embedding (</a:t>
            </a:r>
            <a:r>
              <a:rPr lang="en-US" sz="3200" dirty="0" err="1"/>
              <a:t>HyDE</a:t>
            </a:r>
            <a:r>
              <a:rPr lang="en-US" sz="32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2AF1A-30EC-27FF-DE47-6C006E526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99" y="1257300"/>
            <a:ext cx="8435975" cy="3657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Details</a:t>
            </a:r>
          </a:p>
          <a:p>
            <a:pPr lvl="1"/>
            <a:r>
              <a:rPr lang="en-US" dirty="0"/>
              <a:t>prompt model (</a:t>
            </a:r>
            <a:r>
              <a:rPr lang="en-US" dirty="0" err="1"/>
              <a:t>InstructGPT</a:t>
            </a:r>
            <a:r>
              <a:rPr lang="en-US" dirty="0"/>
              <a:t>) to convert question </a:t>
            </a:r>
            <a:r>
              <a:rPr lang="en-US" i="1" dirty="0"/>
              <a:t>q</a:t>
            </a:r>
            <a:r>
              <a:rPr lang="en-US" dirty="0"/>
              <a:t> to a query document </a:t>
            </a:r>
            <a:r>
              <a:rPr lang="en-US" i="1" dirty="0"/>
              <a:t>d</a:t>
            </a:r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dirty="0"/>
          </a:p>
          <a:p>
            <a:pPr lvl="1"/>
            <a:r>
              <a:rPr lang="en-US" dirty="0"/>
              <a:t>sample N documents d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d</a:t>
            </a:r>
            <a:r>
              <a:rPr lang="en-US" baseline="-25000" dirty="0" err="1"/>
              <a:t>N</a:t>
            </a:r>
            <a:r>
              <a:rPr lang="en-US" dirty="0"/>
              <a:t>, by generation with temperature T</a:t>
            </a:r>
          </a:p>
          <a:p>
            <a:pPr lvl="1"/>
            <a:r>
              <a:rPr lang="en-US" dirty="0"/>
              <a:t>query vector for </a:t>
            </a:r>
            <a:r>
              <a:rPr lang="en-US" dirty="0" err="1"/>
              <a:t>Contriever</a:t>
            </a:r>
            <a:r>
              <a:rPr lang="en-US" dirty="0"/>
              <a:t> is average of embeddings for </a:t>
            </a:r>
            <a:r>
              <a:rPr lang="en-US" i="1" dirty="0"/>
              <a:t>q </a:t>
            </a:r>
            <a:r>
              <a:rPr lang="en-US" dirty="0"/>
              <a:t>and d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d</a:t>
            </a:r>
            <a:r>
              <a:rPr lang="en-US" baseline="-25000" dirty="0" err="1"/>
              <a:t>N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FE658-2AA8-3823-6111-057AB2115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2509"/>
            <a:ext cx="9203892" cy="11664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37840E-5E7A-3F91-9416-1C7ACB9D4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65" y="4914900"/>
            <a:ext cx="7772400" cy="184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91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C633542-B854-E314-CF12-9044998A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9601-FF57-48EE-EEA4-FE901A85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Language Model as Retriever (</a:t>
            </a:r>
            <a:r>
              <a:rPr lang="en-US" sz="3200" dirty="0" err="1"/>
              <a:t>LameR</a:t>
            </a:r>
            <a:r>
              <a:rPr lang="en-US" sz="3200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48A80C-6432-780B-5B40-43A228D0C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209033"/>
            <a:ext cx="8422714" cy="2705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A6257B-28AF-C7C8-DB0C-762422634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41" y="4196067"/>
            <a:ext cx="8420484" cy="22333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C4862D-A8D6-88B1-974A-9D8099C06ECE}"/>
              </a:ext>
            </a:extLst>
          </p:cNvPr>
          <p:cNvSpPr txBox="1"/>
          <p:nvPr/>
        </p:nvSpPr>
        <p:spPr>
          <a:xfrm>
            <a:off x="3514725" y="1096962"/>
            <a:ext cx="5187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https://arxiv.org/pdf/2304.14233</a:t>
            </a:r>
            <a:r>
              <a:rPr lang="en-US" dirty="0"/>
              <a:t> 2023 Shen et al</a:t>
            </a:r>
          </a:p>
        </p:txBody>
      </p:sp>
    </p:spTree>
    <p:extLst>
      <p:ext uri="{BB962C8B-B14F-4D97-AF65-F5344CB8AC3E}">
        <p14:creationId xmlns:p14="http://schemas.microsoft.com/office/powerpoint/2010/main" val="3204167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8AA491-DFF1-91B0-5678-5E2072BC8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Decoder-only models as encoders?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0AFC6-D9BD-8434-B8BB-7F5637CE81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673"/>
          <a:stretch/>
        </p:blipFill>
        <p:spPr>
          <a:xfrm>
            <a:off x="1221582" y="4471988"/>
            <a:ext cx="6465094" cy="2111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48F74-5781-E33E-B7D7-E6CB0ACC3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560" y="993642"/>
            <a:ext cx="6815138" cy="26548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B9AEBB-FFE0-42CE-F05A-D186E15A8753}"/>
              </a:ext>
            </a:extLst>
          </p:cNvPr>
          <p:cNvSpPr txBox="1"/>
          <p:nvPr/>
        </p:nvSpPr>
        <p:spPr>
          <a:xfrm>
            <a:off x="8029575" y="1328738"/>
            <a:ext cx="82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7554C-C63C-5590-C9E0-9A62E5B0F2DF}"/>
              </a:ext>
            </a:extLst>
          </p:cNvPr>
          <p:cNvSpPr txBox="1"/>
          <p:nvPr/>
        </p:nvSpPr>
        <p:spPr>
          <a:xfrm>
            <a:off x="8000999" y="4695825"/>
            <a:ext cx="82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4D3A5E-DFE0-0D82-3766-5A5337C4C4AD}"/>
              </a:ext>
            </a:extLst>
          </p:cNvPr>
          <p:cNvSpPr txBox="1"/>
          <p:nvPr/>
        </p:nvSpPr>
        <p:spPr>
          <a:xfrm>
            <a:off x="7272338" y="3012281"/>
            <a:ext cx="158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PromptEOL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94F32-755E-AC7D-E72C-A462EC7F873A}"/>
              </a:ext>
            </a:extLst>
          </p:cNvPr>
          <p:cNvSpPr txBox="1"/>
          <p:nvPr/>
        </p:nvSpPr>
        <p:spPr>
          <a:xfrm>
            <a:off x="7272338" y="5343009"/>
            <a:ext cx="187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Echo embeddings</a:t>
            </a:r>
          </a:p>
        </p:txBody>
      </p:sp>
    </p:spTree>
    <p:extLst>
      <p:ext uri="{BB962C8B-B14F-4D97-AF65-F5344CB8AC3E}">
        <p14:creationId xmlns:p14="http://schemas.microsoft.com/office/powerpoint/2010/main" val="334114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D1A5-20F0-BCFF-6C9D-5CC80014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PromptEOL</a:t>
            </a:r>
            <a:r>
              <a:rPr lang="en-US" dirty="0"/>
              <a:t>: Key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55BD1-5E03-1CDA-7D88-F821E6CCF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371475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To summarize a sentence </a:t>
            </a:r>
            <a:r>
              <a:rPr lang="en-US" i="1" dirty="0"/>
              <a:t>x</a:t>
            </a:r>
          </a:p>
          <a:p>
            <a:pPr lvl="1"/>
            <a:r>
              <a:rPr lang="en-US" dirty="0"/>
              <a:t>Prompt the model with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Take the last hidden state of Transformer as representation</a:t>
            </a:r>
          </a:p>
          <a:p>
            <a:pPr lvl="1"/>
            <a:r>
              <a:rPr lang="en-US" dirty="0"/>
              <a:t>Then</a:t>
            </a:r>
          </a:p>
          <a:p>
            <a:pPr lvl="2"/>
            <a:r>
              <a:rPr lang="en-US" dirty="0"/>
              <a:t>Use 300 sentence/word pairs as ICL demonstrations</a:t>
            </a:r>
          </a:p>
          <a:p>
            <a:pPr lvl="2"/>
            <a:r>
              <a:rPr lang="en-US" dirty="0"/>
              <a:t>Train the representations contrastively with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8BF5D-DA93-5E7D-4766-4F817101D40D}"/>
              </a:ext>
            </a:extLst>
          </p:cNvPr>
          <p:cNvSpPr txBox="1"/>
          <p:nvPr/>
        </p:nvSpPr>
        <p:spPr>
          <a:xfrm>
            <a:off x="1328737" y="2175558"/>
            <a:ext cx="5786438" cy="3819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This sentence: “</a:t>
            </a:r>
            <a:r>
              <a:rPr 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” 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means in one word: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0AFC9-9C87-1F1A-309C-9BFC345BE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512" y="4701271"/>
            <a:ext cx="6549326" cy="136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68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CD343-8516-D244-F278-FC2B5B50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4766-2CF9-3377-4ECC-D9830F39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Echo embeddings: key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BD04A-A05E-9C51-2429-95DD69840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535988" cy="24860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summarize a sentence </a:t>
            </a:r>
            <a:r>
              <a:rPr lang="en-US" i="1" dirty="0"/>
              <a:t>x</a:t>
            </a:r>
          </a:p>
          <a:p>
            <a:pPr lvl="1"/>
            <a:r>
              <a:rPr lang="en-US" dirty="0"/>
              <a:t>Prompt the model with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Mean-pool the tokens for </a:t>
            </a:r>
            <a:r>
              <a:rPr lang="en-US" i="1" dirty="0">
                <a:highlight>
                  <a:srgbClr val="FFFF00"/>
                </a:highlight>
              </a:rPr>
              <a:t>x</a:t>
            </a:r>
            <a:r>
              <a:rPr lang="en-US" i="1" dirty="0"/>
              <a:t> </a:t>
            </a:r>
            <a:r>
              <a:rPr lang="en-US" dirty="0"/>
              <a:t>as the representation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15885-2D12-ACB9-AE8D-921A92A0B6E8}"/>
              </a:ext>
            </a:extLst>
          </p:cNvPr>
          <p:cNvSpPr txBox="1"/>
          <p:nvPr/>
        </p:nvSpPr>
        <p:spPr>
          <a:xfrm>
            <a:off x="1057274" y="2356754"/>
            <a:ext cx="70294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Rewrite the sentence: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Courier New" panose="02070309020205020404" pitchFamily="49" charset="0"/>
              </a:rPr>
              <a:t>x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rewritten sentence: </a:t>
            </a:r>
            <a:r>
              <a:rPr lang="en-US" sz="1800" i="1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Courier New" panose="02070309020205020404" pitchFamily="49" charset="0"/>
              </a:rPr>
              <a:t>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287990-F281-330F-8BD5-2842B000D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" y="3726046"/>
            <a:ext cx="8965028" cy="283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3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4493-7E17-35DC-2FB9-40C8FF39E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Decoders and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C9187-F9C0-7072-07E5-873304107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271587"/>
            <a:ext cx="8680450" cy="42576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query expansion:</a:t>
            </a:r>
          </a:p>
          <a:p>
            <a:pPr lvl="1"/>
            <a:r>
              <a:rPr lang="en-US" dirty="0"/>
              <a:t>use LLMs to expand a query so it will be more like indexed documents</a:t>
            </a:r>
          </a:p>
          <a:p>
            <a:pPr lvl="1"/>
            <a:r>
              <a:rPr lang="en-US" dirty="0"/>
              <a:t>modular extension to any retrieval system</a:t>
            </a:r>
          </a:p>
          <a:p>
            <a:pPr lvl="1"/>
            <a:r>
              <a:rPr lang="en-US" dirty="0" err="1"/>
              <a:t>HyDE</a:t>
            </a:r>
            <a:r>
              <a:rPr lang="en-US" dirty="0"/>
              <a:t>, </a:t>
            </a:r>
            <a:r>
              <a:rPr lang="en-US" dirty="0" err="1"/>
              <a:t>LameR</a:t>
            </a:r>
            <a:r>
              <a:rPr lang="en-US" dirty="0"/>
              <a:t>, query2doc, …</a:t>
            </a:r>
          </a:p>
          <a:p>
            <a:pPr lvl="1"/>
            <a:r>
              <a:rPr lang="en-US" dirty="0"/>
              <a:t>Generally useful, not always necessary</a:t>
            </a:r>
          </a:p>
          <a:p>
            <a:r>
              <a:rPr lang="en-US" dirty="0"/>
              <a:t>For encoding documents:</a:t>
            </a:r>
          </a:p>
          <a:p>
            <a:pPr lvl="1"/>
            <a:r>
              <a:rPr lang="en-US" dirty="0"/>
              <a:t>Active research area</a:t>
            </a:r>
          </a:p>
          <a:p>
            <a:pPr lvl="1"/>
            <a:r>
              <a:rPr lang="en-US" dirty="0" err="1"/>
              <a:t>PrompEOL</a:t>
            </a:r>
            <a:r>
              <a:rPr lang="en-US" dirty="0"/>
              <a:t>, echo embeddings, …</a:t>
            </a:r>
          </a:p>
        </p:txBody>
      </p:sp>
    </p:spTree>
    <p:extLst>
      <p:ext uri="{BB962C8B-B14F-4D97-AF65-F5344CB8AC3E}">
        <p14:creationId xmlns:p14="http://schemas.microsoft.com/office/powerpoint/2010/main" val="3735107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61781-A14E-18FE-EAEE-614D9EE4B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FD07-EA41-2CA6-E346-164DA140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7B7C9-0462-F27C-6C5F-A4E568774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Review of how to learn retrievers</a:t>
            </a:r>
          </a:p>
          <a:p>
            <a:pPr lvl="1"/>
            <a:r>
              <a:rPr lang="en-US" dirty="0"/>
              <a:t>Contrastive learning</a:t>
            </a:r>
          </a:p>
          <a:p>
            <a:pPr lvl="1"/>
            <a:r>
              <a:rPr lang="en-US" dirty="0"/>
              <a:t>DPR and </a:t>
            </a:r>
            <a:r>
              <a:rPr lang="en-US" dirty="0" err="1"/>
              <a:t>Contreiver</a:t>
            </a:r>
            <a:endParaRPr lang="en-US" dirty="0"/>
          </a:p>
          <a:p>
            <a:r>
              <a:rPr lang="en-US" dirty="0"/>
              <a:t>Using decoder-only LLMs for retrieval</a:t>
            </a:r>
          </a:p>
          <a:p>
            <a:pPr lvl="1"/>
            <a:r>
              <a:rPr lang="en-US" dirty="0"/>
              <a:t>query expansion</a:t>
            </a:r>
          </a:p>
          <a:p>
            <a:pPr lvl="1"/>
            <a:r>
              <a:rPr lang="en-US" dirty="0"/>
              <a:t>generating encodings</a:t>
            </a:r>
          </a:p>
          <a:p>
            <a:r>
              <a:rPr lang="en-US" dirty="0">
                <a:solidFill>
                  <a:srgbClr val="0070C0"/>
                </a:solidFill>
              </a:rPr>
              <a:t>Retrieval-augmented generation (RAG)</a:t>
            </a:r>
          </a:p>
          <a:p>
            <a:pPr lvl="1"/>
            <a:r>
              <a:rPr lang="en-US" dirty="0"/>
              <a:t>The original RAG paper</a:t>
            </a:r>
          </a:p>
          <a:p>
            <a:pPr lvl="1"/>
            <a:r>
              <a:rPr lang="en-US" dirty="0"/>
              <a:t>The fusion-in-decoder (</a:t>
            </a:r>
            <a:r>
              <a:rPr lang="en-US" dirty="0" err="1"/>
              <a:t>FiD</a:t>
            </a:r>
            <a:r>
              <a:rPr lang="en-US" dirty="0"/>
              <a:t>) paper</a:t>
            </a:r>
          </a:p>
          <a:p>
            <a:r>
              <a:rPr lang="en-US" dirty="0"/>
              <a:t>A case study: optimizing inference for </a:t>
            </a:r>
            <a:r>
              <a:rPr lang="en-US" dirty="0" err="1"/>
              <a:t>FiD</a:t>
            </a:r>
            <a:endParaRPr lang="en-US" dirty="0"/>
          </a:p>
          <a:p>
            <a:pPr lvl="1"/>
            <a:r>
              <a:rPr lang="en-US" dirty="0"/>
              <a:t>Systems: </a:t>
            </a:r>
            <a:r>
              <a:rPr lang="en-US" dirty="0" err="1"/>
              <a:t>FiDO</a:t>
            </a:r>
            <a:r>
              <a:rPr lang="en-US" dirty="0"/>
              <a:t>, LUMEN, GLIMMER</a:t>
            </a:r>
          </a:p>
          <a:p>
            <a:r>
              <a:rPr lang="en-US" dirty="0"/>
              <a:t>Incorporating principles from RAG, </a:t>
            </a:r>
            <a:r>
              <a:rPr lang="en-US" dirty="0" err="1"/>
              <a:t>FiD</a:t>
            </a:r>
            <a:r>
              <a:rPr lang="en-US" dirty="0"/>
              <a:t> in decoder-only LLMS</a:t>
            </a:r>
          </a:p>
        </p:txBody>
      </p:sp>
    </p:spTree>
    <p:extLst>
      <p:ext uri="{BB962C8B-B14F-4D97-AF65-F5344CB8AC3E}">
        <p14:creationId xmlns:p14="http://schemas.microsoft.com/office/powerpoint/2010/main" val="4282312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8A72-4DDD-9F58-95F3-83D7AF17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LLMs:</a:t>
            </a:r>
            <a:br>
              <a:rPr lang="en-US" dirty="0"/>
            </a:br>
            <a:r>
              <a:rPr lang="en-US" dirty="0"/>
              <a:t>SOME </a:t>
            </a:r>
            <a:r>
              <a:rPr lang="en-US" dirty="0" err="1"/>
              <a:t>ExampleS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0EF5-A5C6-5C27-028A-BD676A49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05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E636B-D0F5-D6D5-DD0A-25DF343C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trieval Augmented Generation Techniques">
            <a:extLst>
              <a:ext uri="{FF2B5EF4-FFF2-40B4-BE49-F238E27FC236}">
                <a16:creationId xmlns:a16="http://schemas.microsoft.com/office/drawing/2014/main" id="{6170DF3F-9708-5286-9369-4DBE06713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2113"/>
            <a:ext cx="9144000" cy="538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FCF36E-8DBE-CA5C-4863-5FFFDEDCB535}"/>
              </a:ext>
            </a:extLst>
          </p:cNvPr>
          <p:cNvSpPr txBox="1"/>
          <p:nvPr/>
        </p:nvSpPr>
        <p:spPr>
          <a:xfrm>
            <a:off x="6036536" y="4139340"/>
            <a:ext cx="2607402" cy="1200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Incorporating retrieval into a LLM gives it access to the information in a corpus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3BA4B-2D15-42B7-87E4-CCA85BBD0A2A}"/>
              </a:ext>
            </a:extLst>
          </p:cNvPr>
          <p:cNvSpPr txBox="1"/>
          <p:nvPr/>
        </p:nvSpPr>
        <p:spPr>
          <a:xfrm>
            <a:off x="5831748" y="5400133"/>
            <a:ext cx="2983640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RAG is an alternative to using a larger LM with more knowledge in its parameters</a:t>
            </a:r>
          </a:p>
        </p:txBody>
      </p:sp>
    </p:spTree>
    <p:extLst>
      <p:ext uri="{BB962C8B-B14F-4D97-AF65-F5344CB8AC3E}">
        <p14:creationId xmlns:p14="http://schemas.microsoft.com/office/powerpoint/2010/main" val="47291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E7A04-1312-601F-0886-DBFEF432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OG RAG paper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29E67-0294-8652-024C-89DBF2A47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79066"/>
            <a:ext cx="7772400" cy="38998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A806BC-B82A-CDCB-B5B2-96D781353E00}"/>
              </a:ext>
            </a:extLst>
          </p:cNvPr>
          <p:cNvSpPr txBox="1"/>
          <p:nvPr/>
        </p:nvSpPr>
        <p:spPr>
          <a:xfrm>
            <a:off x="7086600" y="1357313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3641954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067C-3861-D0B8-6B0A-BDEB6A2B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6984F-A115-D08C-6886-1D3C2ECB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OG RAG paper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F0747-CA24-33B0-C0B8-D06B2A1A00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5" r="3104"/>
          <a:stretch/>
        </p:blipFill>
        <p:spPr>
          <a:xfrm>
            <a:off x="29091" y="1766887"/>
            <a:ext cx="9085818" cy="4076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F3275E-41AB-852B-0520-5DE2BDF9A6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20" b="19750"/>
          <a:stretch/>
        </p:blipFill>
        <p:spPr>
          <a:xfrm>
            <a:off x="511779" y="5870102"/>
            <a:ext cx="4419600" cy="28907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161553-27F9-93BF-AC28-F825113963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8953"/>
          <a:stretch/>
        </p:blipFill>
        <p:spPr>
          <a:xfrm>
            <a:off x="5519995" y="5963638"/>
            <a:ext cx="3492500" cy="289070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374CC8-6EED-84F6-16EE-DF847522641D}"/>
              </a:ext>
            </a:extLst>
          </p:cNvPr>
          <p:cNvSpPr txBox="1"/>
          <p:nvPr/>
        </p:nvSpPr>
        <p:spPr>
          <a:xfrm>
            <a:off x="2364109" y="6214030"/>
            <a:ext cx="196279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returns top K docs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EAE30C-6304-0559-77B9-698611595E17}"/>
              </a:ext>
            </a:extLst>
          </p:cNvPr>
          <p:cNvGrpSpPr/>
          <p:nvPr/>
        </p:nvGrpSpPr>
        <p:grpSpPr>
          <a:xfrm>
            <a:off x="58182" y="1740373"/>
            <a:ext cx="9085818" cy="4076701"/>
            <a:chOff x="58182" y="1740373"/>
            <a:chExt cx="9085818" cy="407670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C23CEE-8508-EEE8-5273-20460BEC3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95" r="3104"/>
            <a:stretch/>
          </p:blipFill>
          <p:spPr>
            <a:xfrm>
              <a:off x="58182" y="1740373"/>
              <a:ext cx="9085818" cy="4076701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28AC86-FA32-6A2B-7F42-C1817302711D}"/>
                </a:ext>
              </a:extLst>
            </p:cNvPr>
            <p:cNvSpPr/>
            <p:nvPr/>
          </p:nvSpPr>
          <p:spPr>
            <a:xfrm>
              <a:off x="457200" y="3369733"/>
              <a:ext cx="1134533" cy="111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B491A2-545E-ABFD-1D02-C03E7B192613}"/>
                </a:ext>
              </a:extLst>
            </p:cNvPr>
            <p:cNvSpPr/>
            <p:nvPr/>
          </p:nvSpPr>
          <p:spPr>
            <a:xfrm>
              <a:off x="1861457" y="4275667"/>
              <a:ext cx="3472543" cy="21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29B36D-FD55-23CD-DD8B-F13414676489}"/>
                </a:ext>
              </a:extLst>
            </p:cNvPr>
            <p:cNvSpPr/>
            <p:nvPr/>
          </p:nvSpPr>
          <p:spPr>
            <a:xfrm>
              <a:off x="4004733" y="3992258"/>
              <a:ext cx="1820334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F038DA3-54AE-2A3A-FAB3-715F9DDDE183}"/>
                </a:ext>
              </a:extLst>
            </p:cNvPr>
            <p:cNvSpPr/>
            <p:nvPr/>
          </p:nvSpPr>
          <p:spPr>
            <a:xfrm>
              <a:off x="5241806" y="3806717"/>
              <a:ext cx="491067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D3AAA8-DB5A-AC3E-8D1B-B6BEC24610E4}"/>
                </a:ext>
              </a:extLst>
            </p:cNvPr>
            <p:cNvSpPr/>
            <p:nvPr/>
          </p:nvSpPr>
          <p:spPr>
            <a:xfrm>
              <a:off x="5426863" y="3616078"/>
              <a:ext cx="335101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C3065E1-05FD-9159-8196-B6F53465AECC}"/>
                </a:ext>
              </a:extLst>
            </p:cNvPr>
            <p:cNvSpPr/>
            <p:nvPr/>
          </p:nvSpPr>
          <p:spPr>
            <a:xfrm>
              <a:off x="5917930" y="3850553"/>
              <a:ext cx="335101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D9088D65-0AA2-88B5-CC2B-00CAE6D34E3A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rot="16200000" flipH="1">
              <a:off x="1195560" y="3198640"/>
              <a:ext cx="235710" cy="577897"/>
            </a:xfrm>
            <a:prstGeom prst="bentConnector4">
              <a:avLst>
                <a:gd name="adj1" fmla="val 101494"/>
                <a:gd name="adj2" fmla="val 51243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84D3A96-A00F-9478-4DA5-3AF75391A370}"/>
              </a:ext>
            </a:extLst>
          </p:cNvPr>
          <p:cNvSpPr txBox="1"/>
          <p:nvPr/>
        </p:nvSpPr>
        <p:spPr>
          <a:xfrm>
            <a:off x="4326902" y="1782499"/>
            <a:ext cx="82086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sort of</a:t>
            </a:r>
          </a:p>
        </p:txBody>
      </p:sp>
    </p:spTree>
    <p:extLst>
      <p:ext uri="{BB962C8B-B14F-4D97-AF65-F5344CB8AC3E}">
        <p14:creationId xmlns:p14="http://schemas.microsoft.com/office/powerpoint/2010/main" val="77712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E9B1A-075F-D2F9-77C5-8B0F2942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F931-955D-4D59-6481-76C302E3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OG RAG paper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47EF3E-AE62-DDF4-40F1-17AF4372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20" b="19750"/>
          <a:stretch/>
        </p:blipFill>
        <p:spPr>
          <a:xfrm>
            <a:off x="564743" y="5817074"/>
            <a:ext cx="4419600" cy="28907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E17B53-B629-7635-C173-71C8706F5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8953"/>
          <a:stretch/>
        </p:blipFill>
        <p:spPr>
          <a:xfrm>
            <a:off x="5519995" y="5817074"/>
            <a:ext cx="3492500" cy="289070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1AF34A-1314-E8CB-A1B8-3CA3B10511E0}"/>
              </a:ext>
            </a:extLst>
          </p:cNvPr>
          <p:cNvSpPr txBox="1"/>
          <p:nvPr/>
        </p:nvSpPr>
        <p:spPr>
          <a:xfrm>
            <a:off x="2364109" y="6214030"/>
            <a:ext cx="196279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returns top K docs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84B1B5-3100-2999-A894-F9AF636C8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718" y="3278883"/>
            <a:ext cx="6799082" cy="787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B08F37-7156-B5F8-B8B3-F8CCA0C4B6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90" t="4342" r="4540" b="14939"/>
          <a:stretch/>
        </p:blipFill>
        <p:spPr>
          <a:xfrm>
            <a:off x="2661053" y="4542931"/>
            <a:ext cx="6025747" cy="8134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FA712F-0ADB-BFDE-5762-E290971E0EA3}"/>
              </a:ext>
            </a:extLst>
          </p:cNvPr>
          <p:cNvCxnSpPr/>
          <p:nvPr/>
        </p:nvCxnSpPr>
        <p:spPr>
          <a:xfrm flipH="1">
            <a:off x="2774543" y="3091992"/>
            <a:ext cx="5483337" cy="11594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AE3EF4-D182-EF54-E9B8-D4D154F3DB66}"/>
                  </a:ext>
                </a:extLst>
              </p:cNvPr>
              <p:cNvSpPr txBox="1"/>
              <p:nvPr/>
            </p:nvSpPr>
            <p:spPr>
              <a:xfrm>
                <a:off x="4104167" y="1926315"/>
                <a:ext cx="3937103" cy="8712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AE3EF4-D182-EF54-E9B8-D4D154F3D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167" y="1926315"/>
                <a:ext cx="3937103" cy="871264"/>
              </a:xfrm>
              <a:prstGeom prst="rect">
                <a:avLst/>
              </a:prstGeom>
              <a:blipFill>
                <a:blip r:embed="rId6"/>
                <a:stretch>
                  <a:fillRect t="-90278" b="-143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E3A69DF-EDBE-C13D-65BF-C1C08CBAD8F1}"/>
              </a:ext>
            </a:extLst>
          </p:cNvPr>
          <p:cNvSpPr txBox="1"/>
          <p:nvPr/>
        </p:nvSpPr>
        <p:spPr>
          <a:xfrm>
            <a:off x="457200" y="1884241"/>
            <a:ext cx="349250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Even simpler</a:t>
            </a:r>
          </a:p>
          <a:p>
            <a:pPr algn="ctr"/>
            <a:r>
              <a:rPr lang="en-US" dirty="0"/>
              <a:t>and now almost always used</a:t>
            </a:r>
          </a:p>
        </p:txBody>
      </p:sp>
    </p:spTree>
    <p:extLst>
      <p:ext uri="{BB962C8B-B14F-4D97-AF65-F5344CB8AC3E}">
        <p14:creationId xmlns:p14="http://schemas.microsoft.com/office/powerpoint/2010/main" val="95380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304E-F997-B0CE-8DE6-162ED268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BBDF-B379-7853-EEAA-6C19D66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OG RAG paper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60CAE-B5A8-1663-0E12-D87D95D901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20" b="19750"/>
          <a:stretch/>
        </p:blipFill>
        <p:spPr>
          <a:xfrm>
            <a:off x="564743" y="5817074"/>
            <a:ext cx="4419600" cy="28907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EDE756-BA30-E5F4-162D-4784EC17FE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8953"/>
          <a:stretch/>
        </p:blipFill>
        <p:spPr>
          <a:xfrm>
            <a:off x="5519995" y="5817074"/>
            <a:ext cx="3492500" cy="289070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522CDA-D9E2-65E6-A5F1-54A6D5DF094E}"/>
              </a:ext>
            </a:extLst>
          </p:cNvPr>
          <p:cNvSpPr txBox="1"/>
          <p:nvPr/>
        </p:nvSpPr>
        <p:spPr>
          <a:xfrm>
            <a:off x="2364109" y="6214030"/>
            <a:ext cx="196279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returns top K docs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1387F-5192-B94B-3D5C-761EBE341B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90" t="4342" r="4540" b="14939"/>
          <a:stretch/>
        </p:blipFill>
        <p:spPr>
          <a:xfrm>
            <a:off x="2661053" y="4542931"/>
            <a:ext cx="6025747" cy="8134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F34605-14C7-507B-79A7-ACCD9B5C928B}"/>
              </a:ext>
            </a:extLst>
          </p:cNvPr>
          <p:cNvSpPr txBox="1"/>
          <p:nvPr/>
        </p:nvSpPr>
        <p:spPr>
          <a:xfrm>
            <a:off x="457200" y="5331774"/>
            <a:ext cx="151355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based on DPR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8E7602-813C-B017-4260-98E010BEE80A}"/>
              </a:ext>
            </a:extLst>
          </p:cNvPr>
          <p:cNvSpPr txBox="1"/>
          <p:nvPr/>
        </p:nvSpPr>
        <p:spPr>
          <a:xfrm>
            <a:off x="5519995" y="6197488"/>
            <a:ext cx="349250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based on BART</a:t>
            </a:r>
          </a:p>
          <a:p>
            <a:pPr algn="ctr"/>
            <a:r>
              <a:rPr lang="en-US" dirty="0"/>
              <a:t>(BERT-sized encoder-decoder)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14D8CC-D9FA-7327-B7B8-DD71F8B48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1297068"/>
            <a:ext cx="4175750" cy="64242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1D0B49-3A5F-E8EA-0B90-B034C0292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809" y="2610753"/>
            <a:ext cx="2260600" cy="5715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C45DD4-5A0E-5656-7F41-17E231AB24A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138" r="5888"/>
          <a:stretch/>
        </p:blipFill>
        <p:spPr>
          <a:xfrm>
            <a:off x="1272896" y="2045935"/>
            <a:ext cx="2282891" cy="501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BD82F5-4ABE-F702-A3ED-2E3A99970B6D}"/>
              </a:ext>
            </a:extLst>
          </p:cNvPr>
          <p:cNvSpPr txBox="1"/>
          <p:nvPr/>
        </p:nvSpPr>
        <p:spPr>
          <a:xfrm>
            <a:off x="3746795" y="2112097"/>
            <a:ext cx="192713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updated in training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1E5AE3-B38E-5AB8-C7BE-3DAA25277FE2}"/>
              </a:ext>
            </a:extLst>
          </p:cNvPr>
          <p:cNvSpPr txBox="1"/>
          <p:nvPr/>
        </p:nvSpPr>
        <p:spPr>
          <a:xfrm>
            <a:off x="3746794" y="2679213"/>
            <a:ext cx="221631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frozen – not updated!</a:t>
            </a:r>
          </a:p>
        </p:txBody>
      </p:sp>
    </p:spTree>
    <p:extLst>
      <p:ext uri="{BB962C8B-B14F-4D97-AF65-F5344CB8AC3E}">
        <p14:creationId xmlns:p14="http://schemas.microsoft.com/office/powerpoint/2010/main" val="416196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AF8DB-6DF0-2A9D-92D6-1414D5B3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4BB1E-65D6-C4AB-1064-C2FC2880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OG RAG paper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A4A220-0D91-0CE2-D788-AD09EFBDE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1297068"/>
            <a:ext cx="4175750" cy="64242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87F75C-C511-95B9-0ED1-08D20DDBF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809" y="2610753"/>
            <a:ext cx="2260600" cy="5715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36F712-B467-B265-E356-5D8AEFEAEE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138" r="5888"/>
          <a:stretch/>
        </p:blipFill>
        <p:spPr>
          <a:xfrm>
            <a:off x="1272896" y="2045935"/>
            <a:ext cx="2282891" cy="501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4C22089-7CAE-4451-AB22-33A2B4C4BD8C}"/>
              </a:ext>
            </a:extLst>
          </p:cNvPr>
          <p:cNvSpPr txBox="1"/>
          <p:nvPr/>
        </p:nvSpPr>
        <p:spPr>
          <a:xfrm>
            <a:off x="3746795" y="2112097"/>
            <a:ext cx="192713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updated in training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44C89-D09E-D52C-D306-79BFC03BB6D9}"/>
              </a:ext>
            </a:extLst>
          </p:cNvPr>
          <p:cNvSpPr txBox="1"/>
          <p:nvPr/>
        </p:nvSpPr>
        <p:spPr>
          <a:xfrm>
            <a:off x="3746794" y="2679213"/>
            <a:ext cx="221631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frozen – not updated!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DDB1BF-EFE9-F701-2BA6-B1BD8BD92618}"/>
              </a:ext>
            </a:extLst>
          </p:cNvPr>
          <p:cNvGrpSpPr/>
          <p:nvPr/>
        </p:nvGrpSpPr>
        <p:grpSpPr>
          <a:xfrm>
            <a:off x="148857" y="3437603"/>
            <a:ext cx="8452884" cy="2899401"/>
            <a:chOff x="58182" y="1740373"/>
            <a:chExt cx="9085818" cy="292940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A81BD3-32C8-A881-DD66-DB7F58165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595" r="3104" b="28143"/>
            <a:stretch/>
          </p:blipFill>
          <p:spPr>
            <a:xfrm>
              <a:off x="58182" y="1740373"/>
              <a:ext cx="9085818" cy="2929409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0F54BF4-5CDD-B5C5-0F83-AFDB94F8980A}"/>
                </a:ext>
              </a:extLst>
            </p:cNvPr>
            <p:cNvSpPr/>
            <p:nvPr/>
          </p:nvSpPr>
          <p:spPr>
            <a:xfrm>
              <a:off x="457200" y="3369733"/>
              <a:ext cx="1134533" cy="111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C293FEC-1556-F996-7C4E-42164DD86059}"/>
                </a:ext>
              </a:extLst>
            </p:cNvPr>
            <p:cNvSpPr/>
            <p:nvPr/>
          </p:nvSpPr>
          <p:spPr>
            <a:xfrm>
              <a:off x="1861457" y="4275667"/>
              <a:ext cx="3472543" cy="21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E01F01D-4868-76C0-8CCB-CCBFA2BADE06}"/>
                </a:ext>
              </a:extLst>
            </p:cNvPr>
            <p:cNvSpPr/>
            <p:nvPr/>
          </p:nvSpPr>
          <p:spPr>
            <a:xfrm>
              <a:off x="4004733" y="3992258"/>
              <a:ext cx="1820334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7B10457-1F70-1EC9-42F5-A9A318CC5A00}"/>
                </a:ext>
              </a:extLst>
            </p:cNvPr>
            <p:cNvSpPr/>
            <p:nvPr/>
          </p:nvSpPr>
          <p:spPr>
            <a:xfrm>
              <a:off x="5241806" y="3806717"/>
              <a:ext cx="491067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2D46F70-4AD2-A0B6-F8F7-DDE370F7F06C}"/>
                </a:ext>
              </a:extLst>
            </p:cNvPr>
            <p:cNvSpPr/>
            <p:nvPr/>
          </p:nvSpPr>
          <p:spPr>
            <a:xfrm>
              <a:off x="5426863" y="3616078"/>
              <a:ext cx="335101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E4C519-695C-1466-B09D-613059B6852E}"/>
                </a:ext>
              </a:extLst>
            </p:cNvPr>
            <p:cNvSpPr/>
            <p:nvPr/>
          </p:nvSpPr>
          <p:spPr>
            <a:xfrm>
              <a:off x="5917930" y="3850553"/>
              <a:ext cx="335101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D738D02B-9B3F-68E7-7EB3-5291557977E7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16200000" flipH="1">
              <a:off x="1195560" y="3198640"/>
              <a:ext cx="235710" cy="577897"/>
            </a:xfrm>
            <a:prstGeom prst="bentConnector4">
              <a:avLst>
                <a:gd name="adj1" fmla="val 101494"/>
                <a:gd name="adj2" fmla="val 51243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Oval Callout 25">
            <a:extLst>
              <a:ext uri="{FF2B5EF4-FFF2-40B4-BE49-F238E27FC236}">
                <a16:creationId xmlns:a16="http://schemas.microsoft.com/office/drawing/2014/main" id="{0FA95620-4209-52A8-BB07-8EB0E9F29148}"/>
              </a:ext>
            </a:extLst>
          </p:cNvPr>
          <p:cNvSpPr/>
          <p:nvPr/>
        </p:nvSpPr>
        <p:spPr>
          <a:xfrm>
            <a:off x="6741041" y="1297069"/>
            <a:ext cx="1860699" cy="1520560"/>
          </a:xfrm>
          <a:prstGeom prst="wedgeEllipseCallout">
            <a:avLst>
              <a:gd name="adj1" fmla="val -134547"/>
              <a:gd name="adj2" fmla="val 15060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Index needs to </a:t>
            </a:r>
            <a:r>
              <a:rPr lang="en-US" sz="1400" b="1" dirty="0"/>
              <a:t>rebuilt</a:t>
            </a:r>
            <a:r>
              <a:rPr lang="en-US" sz="1400" dirty="0"/>
              <a:t> when </a:t>
            </a:r>
            <a:r>
              <a:rPr lang="en-US" sz="1400" dirty="0" err="1"/>
              <a:t>BERT</a:t>
            </a:r>
            <a:r>
              <a:rPr lang="en-US" sz="1400" baseline="-25000" dirty="0" err="1"/>
              <a:t>d</a:t>
            </a:r>
            <a:r>
              <a:rPr lang="en-US" sz="1400" baseline="-25000" dirty="0"/>
              <a:t>  </a:t>
            </a:r>
            <a:r>
              <a:rPr lang="en-US" sz="1400" dirty="0"/>
              <a:t>changes</a:t>
            </a:r>
          </a:p>
        </p:txBody>
      </p:sp>
      <p:sp>
        <p:nvSpPr>
          <p:cNvPr id="27" name="Oval Callout 26">
            <a:extLst>
              <a:ext uri="{FF2B5EF4-FFF2-40B4-BE49-F238E27FC236}">
                <a16:creationId xmlns:a16="http://schemas.microsoft.com/office/drawing/2014/main" id="{8F89E50D-585F-F551-158E-C190BD71E49C}"/>
              </a:ext>
            </a:extLst>
          </p:cNvPr>
          <p:cNvSpPr/>
          <p:nvPr/>
        </p:nvSpPr>
        <p:spPr>
          <a:xfrm>
            <a:off x="6979841" y="2933598"/>
            <a:ext cx="1860699" cy="865825"/>
          </a:xfrm>
          <a:prstGeom prst="wedgeEllipseCallout">
            <a:avLst>
              <a:gd name="adj1" fmla="val -141976"/>
              <a:gd name="adj2" fmla="val 10305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Re-indexing is slow and complicated</a:t>
            </a:r>
          </a:p>
        </p:txBody>
      </p:sp>
    </p:spTree>
    <p:extLst>
      <p:ext uri="{BB962C8B-B14F-4D97-AF65-F5344CB8AC3E}">
        <p14:creationId xmlns:p14="http://schemas.microsoft.com/office/powerpoint/2010/main" val="16271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5E861-FFCC-BFF7-0C5F-7CCB7489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with RAG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5CEBB0-51E4-FE4E-D2AF-A923956A40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96"/>
          <a:stretch/>
        </p:blipFill>
        <p:spPr>
          <a:xfrm>
            <a:off x="283151" y="1628775"/>
            <a:ext cx="8403649" cy="3843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7A6718-5B5F-E6A2-58F7-8485A673A749}"/>
              </a:ext>
            </a:extLst>
          </p:cNvPr>
          <p:cNvSpPr txBox="1"/>
          <p:nvPr/>
        </p:nvSpPr>
        <p:spPr>
          <a:xfrm>
            <a:off x="7531900" y="1163801"/>
            <a:ext cx="121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BCDDF-C0C3-DA60-B5AA-7E22FFD2FD9B}"/>
              </a:ext>
            </a:extLst>
          </p:cNvPr>
          <p:cNvSpPr txBox="1"/>
          <p:nvPr/>
        </p:nvSpPr>
        <p:spPr>
          <a:xfrm>
            <a:off x="3476630" y="1047712"/>
            <a:ext cx="2471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Natural</a:t>
            </a:r>
          </a:p>
          <a:p>
            <a:pPr algn="ctr"/>
            <a:r>
              <a:rPr lang="en-US" dirty="0"/>
              <a:t>Questions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F8028-C29D-57DC-2E2A-02155A642DB8}"/>
              </a:ext>
            </a:extLst>
          </p:cNvPr>
          <p:cNvSpPr txBox="1"/>
          <p:nvPr/>
        </p:nvSpPr>
        <p:spPr>
          <a:xfrm>
            <a:off x="5486407" y="1081031"/>
            <a:ext cx="1219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TriviaQA</a:t>
            </a:r>
            <a:endParaRPr lang="en-US" dirty="0"/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test1/2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CD66A-CDCB-1BFC-D6DD-FF4BB899E6B9}"/>
              </a:ext>
            </a:extLst>
          </p:cNvPr>
          <p:cNvSpPr txBox="1"/>
          <p:nvPr/>
        </p:nvSpPr>
        <p:spPr>
          <a:xfrm>
            <a:off x="6605593" y="1081030"/>
            <a:ext cx="1352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Web</a:t>
            </a:r>
          </a:p>
          <a:p>
            <a:pPr algn="ctr"/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961633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A4D06-8578-D59E-28E8-66BBD6CFC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14DD9-BDEB-F6BF-40C9-A87D4D411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with RAG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30AE0-6A74-3206-B65D-DD2826554502}"/>
              </a:ext>
            </a:extLst>
          </p:cNvPr>
          <p:cNvSpPr txBox="1"/>
          <p:nvPr/>
        </p:nvSpPr>
        <p:spPr>
          <a:xfrm>
            <a:off x="7467602" y="1249566"/>
            <a:ext cx="121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4ABA1-3D52-287A-C7DB-15528C048F82}"/>
              </a:ext>
            </a:extLst>
          </p:cNvPr>
          <p:cNvSpPr txBox="1"/>
          <p:nvPr/>
        </p:nvSpPr>
        <p:spPr>
          <a:xfrm>
            <a:off x="3476630" y="1119153"/>
            <a:ext cx="2471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Natural</a:t>
            </a:r>
          </a:p>
          <a:p>
            <a:pPr algn="ctr"/>
            <a:r>
              <a:rPr lang="en-US" dirty="0"/>
              <a:t>Questions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F1DA5E-05EE-656A-6A13-7F807576A7BE}"/>
              </a:ext>
            </a:extLst>
          </p:cNvPr>
          <p:cNvSpPr txBox="1"/>
          <p:nvPr/>
        </p:nvSpPr>
        <p:spPr>
          <a:xfrm>
            <a:off x="5322097" y="1168606"/>
            <a:ext cx="1219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TriviaQA</a:t>
            </a:r>
            <a:endParaRPr lang="en-US" dirty="0"/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test1/2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2E023-201E-30AA-989C-629F07A8989C}"/>
              </a:ext>
            </a:extLst>
          </p:cNvPr>
          <p:cNvSpPr txBox="1"/>
          <p:nvPr/>
        </p:nvSpPr>
        <p:spPr>
          <a:xfrm>
            <a:off x="6441283" y="1168605"/>
            <a:ext cx="1352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Web</a:t>
            </a:r>
          </a:p>
          <a:p>
            <a:pPr algn="ctr"/>
            <a:r>
              <a:rPr lang="en-US" dirty="0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D421E0-D64C-3888-CC74-76F22E07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81" y="1848255"/>
            <a:ext cx="7796038" cy="41989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96AD3D-757A-9B27-440A-80E942FA1B00}"/>
              </a:ext>
            </a:extLst>
          </p:cNvPr>
          <p:cNvSpPr/>
          <p:nvPr/>
        </p:nvSpPr>
        <p:spPr>
          <a:xfrm>
            <a:off x="673981" y="3421864"/>
            <a:ext cx="8043862" cy="414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14A9A7-767A-1ACB-79BE-8DF5B3EF8294}"/>
              </a:ext>
            </a:extLst>
          </p:cNvPr>
          <p:cNvSpPr/>
          <p:nvPr/>
        </p:nvSpPr>
        <p:spPr>
          <a:xfrm>
            <a:off x="783517" y="4388656"/>
            <a:ext cx="8043862" cy="414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BB0F5B-3574-41AC-1174-42BB35034760}"/>
              </a:ext>
            </a:extLst>
          </p:cNvPr>
          <p:cNvSpPr/>
          <p:nvPr/>
        </p:nvSpPr>
        <p:spPr>
          <a:xfrm>
            <a:off x="764461" y="5284031"/>
            <a:ext cx="8043862" cy="414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E63CE6-D1A0-45D7-CEFD-9B8D44F82E40}"/>
              </a:ext>
            </a:extLst>
          </p:cNvPr>
          <p:cNvSpPr/>
          <p:nvPr/>
        </p:nvSpPr>
        <p:spPr>
          <a:xfrm>
            <a:off x="764461" y="2490781"/>
            <a:ext cx="8043862" cy="414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FC417B-68F8-DA96-C1CD-43672719901B}"/>
              </a:ext>
            </a:extLst>
          </p:cNvPr>
          <p:cNvSpPr txBox="1"/>
          <p:nvPr/>
        </p:nvSpPr>
        <p:spPr>
          <a:xfrm>
            <a:off x="2114550" y="4388656"/>
            <a:ext cx="210026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DPR retriever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7D7F32-A97E-81BC-A193-F760C371D507}"/>
              </a:ext>
            </a:extLst>
          </p:cNvPr>
          <p:cNvSpPr txBox="1"/>
          <p:nvPr/>
        </p:nvSpPr>
        <p:spPr>
          <a:xfrm>
            <a:off x="2114550" y="5284031"/>
            <a:ext cx="210026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Learned queries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A23567-7D96-6495-18B0-3656EE46ADC4}"/>
              </a:ext>
            </a:extLst>
          </p:cNvPr>
          <p:cNvSpPr txBox="1"/>
          <p:nvPr/>
        </p:nvSpPr>
        <p:spPr>
          <a:xfrm>
            <a:off x="1340557" y="5906819"/>
            <a:ext cx="7129462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There was a lot of later work on end-to-end RAG training but most of it did not catch on in the end</a:t>
            </a:r>
          </a:p>
        </p:txBody>
      </p:sp>
    </p:spTree>
    <p:extLst>
      <p:ext uri="{BB962C8B-B14F-4D97-AF65-F5344CB8AC3E}">
        <p14:creationId xmlns:p14="http://schemas.microsoft.com/office/powerpoint/2010/main" val="250115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D34E7-2FF0-0F1F-33D8-ECFBB03E0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FF2B9-F639-5515-6C3B-49A4362E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vs REALM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44793-1D9B-6186-E9B4-82E3451EB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2262188"/>
            <a:ext cx="8648700" cy="40576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REALM (Retrieval augmented LM, 2020):</a:t>
            </a:r>
          </a:p>
          <a:p>
            <a:pPr lvl="1"/>
            <a:r>
              <a:rPr lang="en-US" dirty="0"/>
              <a:t>full joint training of retriever and generator</a:t>
            </a:r>
          </a:p>
          <a:p>
            <a:pPr lvl="1"/>
            <a:r>
              <a:rPr lang="en-US" dirty="0"/>
              <a:t>requires periodic re-indexing</a:t>
            </a:r>
          </a:p>
          <a:p>
            <a:pPr lvl="2"/>
            <a:r>
              <a:rPr lang="en-US" dirty="0"/>
              <a:t>one process reindexes:</a:t>
            </a:r>
          </a:p>
          <a:p>
            <a:pPr lvl="3"/>
            <a:r>
              <a:rPr lang="en-US" dirty="0"/>
              <a:t>look for latest checkpoint, </a:t>
            </a:r>
          </a:p>
          <a:p>
            <a:pPr lvl="3"/>
            <a:r>
              <a:rPr lang="en-US" dirty="0"/>
              <a:t>loads and reindexes Wikipedia</a:t>
            </a:r>
          </a:p>
          <a:p>
            <a:pPr lvl="2"/>
            <a:r>
              <a:rPr lang="en-US" dirty="0"/>
              <a:t>second process generates training data</a:t>
            </a:r>
          </a:p>
          <a:p>
            <a:pPr lvl="3"/>
            <a:r>
              <a:rPr lang="en-US" dirty="0"/>
              <a:t>get query/answer</a:t>
            </a:r>
          </a:p>
          <a:p>
            <a:pPr lvl="3"/>
            <a:r>
              <a:rPr lang="en-US" dirty="0"/>
              <a:t>augment with top-K docs from latest index</a:t>
            </a:r>
          </a:p>
          <a:p>
            <a:pPr lvl="2"/>
            <a:r>
              <a:rPr lang="en-US" dirty="0"/>
              <a:t>third process trains both models</a:t>
            </a:r>
          </a:p>
          <a:p>
            <a:pPr lvl="1"/>
            <a:r>
              <a:rPr lang="en-US" dirty="0"/>
              <a:t>in practice few systems tried to jointly train afterwards</a:t>
            </a:r>
          </a:p>
          <a:p>
            <a:pPr lvl="2"/>
            <a:r>
              <a:rPr lang="en-US" dirty="0"/>
              <a:t>using REALM’s approach is </a:t>
            </a:r>
            <a:r>
              <a:rPr lang="en-US" dirty="0">
                <a:solidFill>
                  <a:srgbClr val="FF0000"/>
                </a:solidFill>
              </a:rPr>
              <a:t>complex</a:t>
            </a:r>
          </a:p>
          <a:p>
            <a:pPr lvl="2"/>
            <a:r>
              <a:rPr lang="en-US" dirty="0"/>
              <a:t>independently-trained retrieval systems got </a:t>
            </a:r>
            <a:r>
              <a:rPr lang="en-US" dirty="0">
                <a:solidFill>
                  <a:srgbClr val="00B050"/>
                </a:solidFill>
              </a:rPr>
              <a:t>better</a:t>
            </a:r>
          </a:p>
          <a:p>
            <a:pPr lvl="2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FC7C3-D20D-3B0F-0A29-C4F6B34EC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538162"/>
            <a:ext cx="46355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784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7D8D-7AD1-C4E9-CEBD-9132EBD7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RAG: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FFE37-0B8F-D275-D551-4989B1878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8"/>
            <a:ext cx="8393113" cy="548640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RAG is now generic term for using retrieval as preprocessing step for LLMs</a:t>
            </a:r>
          </a:p>
          <a:p>
            <a:pPr lvl="1"/>
            <a:r>
              <a:rPr lang="en-US" dirty="0"/>
              <a:t>Simplest case is fixed retriever, and appending all docs to the question to form LLM input </a:t>
            </a:r>
          </a:p>
          <a:p>
            <a:pPr lvl="1"/>
            <a:r>
              <a:rPr lang="en-US" dirty="0"/>
              <a:t>No custom learner / model / model-combination!</a:t>
            </a:r>
          </a:p>
          <a:p>
            <a:pPr lvl="1"/>
            <a:r>
              <a:rPr lang="en-US" dirty="0"/>
              <a:t>Simple case improves </a:t>
            </a:r>
            <a:r>
              <a:rPr lang="en-US" b="1" u="sng" dirty="0"/>
              <a:t>immediately</a:t>
            </a:r>
            <a:r>
              <a:rPr lang="en-US" dirty="0"/>
              <a:t> whenever</a:t>
            </a:r>
          </a:p>
          <a:p>
            <a:pPr lvl="2"/>
            <a:r>
              <a:rPr lang="en-US" dirty="0"/>
              <a:t>LLM improves</a:t>
            </a:r>
          </a:p>
          <a:p>
            <a:pPr lvl="2"/>
            <a:r>
              <a:rPr lang="en-US" dirty="0"/>
              <a:t>retriever improves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Appending docs scales poorly when many documents are used</a:t>
            </a:r>
          </a:p>
          <a:p>
            <a:pPr lvl="2"/>
            <a:r>
              <a:rPr lang="en-US" dirty="0"/>
              <a:t>but there are some tricks to improve that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F7C96-9A32-4335-9C52-3EB5CE0DF16F}"/>
                  </a:ext>
                </a:extLst>
              </p:cNvPr>
              <p:cNvSpPr txBox="1"/>
              <p:nvPr/>
            </p:nvSpPr>
            <p:spPr>
              <a:xfrm>
                <a:off x="4927497" y="4000499"/>
                <a:ext cx="3937103" cy="8712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F7C96-9A32-4335-9C52-3EB5CE0DF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97" y="4000499"/>
                <a:ext cx="3937103" cy="871264"/>
              </a:xfrm>
              <a:prstGeom prst="rect">
                <a:avLst/>
              </a:prstGeom>
              <a:blipFill>
                <a:blip r:embed="rId2"/>
                <a:stretch>
                  <a:fillRect t="-88889" b="-143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458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07A77-F871-E4BE-C17C-CE9453D3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in Decoder (</a:t>
            </a:r>
            <a:r>
              <a:rPr lang="en-US" dirty="0" err="1"/>
              <a:t>FiD</a:t>
            </a:r>
            <a:r>
              <a:rPr lang="en-US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A18BF3-4EAE-93FE-DA0B-B3BF2048F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1348954"/>
            <a:ext cx="7772400" cy="28742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7E0F14-555F-49FB-7B6F-BA1AA97BE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3" y="4710112"/>
            <a:ext cx="8772528" cy="1462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7F8691-E601-2E0A-0903-DB8B6DEC4946}"/>
              </a:ext>
            </a:extLst>
          </p:cNvPr>
          <p:cNvSpPr txBox="1"/>
          <p:nvPr/>
        </p:nvSpPr>
        <p:spPr>
          <a:xfrm>
            <a:off x="7600949" y="1273920"/>
            <a:ext cx="10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32960875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08D1-363E-7E75-8988-D035A2C2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CCDEA-1C2B-EB8D-572A-57AC7CC21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in Decoder (</a:t>
            </a:r>
            <a:r>
              <a:rPr lang="en-US" dirty="0" err="1"/>
              <a:t>FiD</a:t>
            </a:r>
            <a:r>
              <a:rPr lang="en-US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352B25-B659-2661-4982-ED4544C92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1457"/>
            <a:ext cx="8648700" cy="317182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open-book QA, often</a:t>
            </a:r>
          </a:p>
          <a:p>
            <a:pPr lvl="1"/>
            <a:r>
              <a:rPr lang="en-US" dirty="0"/>
              <a:t>Questions </a:t>
            </a:r>
            <a:r>
              <a:rPr lang="en-US" i="1" dirty="0"/>
              <a:t>q </a:t>
            </a:r>
            <a:r>
              <a:rPr lang="en-US" dirty="0"/>
              <a:t>and answer </a:t>
            </a:r>
            <a:r>
              <a:rPr lang="en-US" i="1" dirty="0"/>
              <a:t>a </a:t>
            </a:r>
            <a:r>
              <a:rPr lang="en-US" dirty="0"/>
              <a:t>are short: k=O(10)</a:t>
            </a:r>
          </a:p>
          <a:p>
            <a:pPr lvl="1"/>
            <a:r>
              <a:rPr lang="en-US" dirty="0"/>
              <a:t>Passages are longer: m=O(100)</a:t>
            </a:r>
          </a:p>
          <a:p>
            <a:r>
              <a:rPr lang="en-US" dirty="0"/>
              <a:t>Retrieving and appending N passages: </a:t>
            </a:r>
          </a:p>
          <a:p>
            <a:pPr lvl="1"/>
            <a:r>
              <a:rPr lang="en-US" dirty="0"/>
              <a:t>Encoder = O(Nm + k)</a:t>
            </a:r>
            <a:r>
              <a:rPr lang="en-US" baseline="30000" dirty="0"/>
              <a:t>2</a:t>
            </a:r>
          </a:p>
          <a:p>
            <a:pPr lvl="1"/>
            <a:r>
              <a:rPr lang="en-US" dirty="0"/>
              <a:t>Decoder = O(k * (Nm + k))</a:t>
            </a:r>
          </a:p>
          <a:p>
            <a:r>
              <a:rPr lang="en-US" dirty="0"/>
              <a:t>Trick: </a:t>
            </a:r>
          </a:p>
          <a:p>
            <a:pPr lvl="1"/>
            <a:r>
              <a:rPr lang="en-US" dirty="0"/>
              <a:t>cross-encode </a:t>
            </a:r>
            <a:r>
              <a:rPr lang="en-US" i="1" dirty="0"/>
              <a:t>q</a:t>
            </a:r>
            <a:r>
              <a:rPr lang="en-US" dirty="0"/>
              <a:t> with </a:t>
            </a:r>
            <a:r>
              <a:rPr lang="en-US" i="1" dirty="0"/>
              <a:t>each </a:t>
            </a:r>
            <a:r>
              <a:rPr lang="en-US" dirty="0"/>
              <a:t>passage separately: O(N(</a:t>
            </a:r>
            <a:r>
              <a:rPr lang="en-US" dirty="0" err="1"/>
              <a:t>k+m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decode, attending to all: O(k * N(m + k))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5F0671-29A1-3FB9-7AF4-9F4B808E7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3" y="4710112"/>
            <a:ext cx="8772528" cy="1462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81FDE5-FC69-FA83-C7DD-09D2D44D3E8F}"/>
              </a:ext>
            </a:extLst>
          </p:cNvPr>
          <p:cNvSpPr txBox="1"/>
          <p:nvPr/>
        </p:nvSpPr>
        <p:spPr>
          <a:xfrm>
            <a:off x="5177095" y="2580372"/>
            <a:ext cx="233813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</a:t>
            </a:r>
            <a:r>
              <a:rPr lang="en-US" baseline="30000" dirty="0"/>
              <a:t>2 </a:t>
            </a:r>
            <a:r>
              <a:rPr lang="en-US" dirty="0"/>
              <a:t>m</a:t>
            </a:r>
            <a:r>
              <a:rPr lang="en-US" baseline="30000" dirty="0"/>
              <a:t>2</a:t>
            </a:r>
            <a:r>
              <a:rPr lang="en-US" dirty="0"/>
              <a:t>)   ignoring 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906E3-56E7-579E-AEA8-E3802BA49180}"/>
              </a:ext>
            </a:extLst>
          </p:cNvPr>
          <p:cNvSpPr txBox="1"/>
          <p:nvPr/>
        </p:nvSpPr>
        <p:spPr>
          <a:xfrm>
            <a:off x="5177095" y="2965708"/>
            <a:ext cx="108559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</a:t>
            </a:r>
            <a:r>
              <a:rPr lang="en-US" baseline="30000" dirty="0"/>
              <a:t> </a:t>
            </a:r>
            <a:r>
              <a:rPr lang="en-US" dirty="0"/>
              <a:t>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076236-76D3-5832-BA49-684BBF6AACD7}"/>
              </a:ext>
            </a:extLst>
          </p:cNvPr>
          <p:cNvSpPr txBox="1"/>
          <p:nvPr/>
        </p:nvSpPr>
        <p:spPr>
          <a:xfrm>
            <a:off x="7942521" y="3615571"/>
            <a:ext cx="104432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</a:t>
            </a:r>
            <a:r>
              <a:rPr lang="en-US" baseline="30000" dirty="0"/>
              <a:t> </a:t>
            </a:r>
            <a:r>
              <a:rPr lang="en-US" dirty="0"/>
              <a:t>m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A63F4-67C5-A8BE-AE2D-81B1C4683A2A}"/>
              </a:ext>
            </a:extLst>
          </p:cNvPr>
          <p:cNvSpPr txBox="1"/>
          <p:nvPr/>
        </p:nvSpPr>
        <p:spPr>
          <a:xfrm>
            <a:off x="7515225" y="4081952"/>
            <a:ext cx="108559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</a:t>
            </a:r>
            <a:r>
              <a:rPr lang="en-US" baseline="30000" dirty="0"/>
              <a:t> </a:t>
            </a:r>
            <a:r>
              <a:rPr lang="en-US" dirty="0"/>
              <a:t>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CA55CD-5C8A-B587-E4C1-49E88154843F}"/>
              </a:ext>
            </a:extLst>
          </p:cNvPr>
          <p:cNvSpPr txBox="1"/>
          <p:nvPr/>
        </p:nvSpPr>
        <p:spPr>
          <a:xfrm>
            <a:off x="4881285" y="5803706"/>
            <a:ext cx="324830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quadratic in N </a:t>
            </a:r>
            <a:r>
              <a:rPr lang="en-US" dirty="0">
                <a:sym typeface="Wingdings" pitchFamily="2" charset="2"/>
              </a:rPr>
              <a:t> linear in N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F6295-8AA0-D1E5-7E48-16E88C952D57}"/>
              </a:ext>
            </a:extLst>
          </p:cNvPr>
          <p:cNvSpPr txBox="1"/>
          <p:nvPr/>
        </p:nvSpPr>
        <p:spPr>
          <a:xfrm>
            <a:off x="5132903" y="6196568"/>
            <a:ext cx="324830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can afford to retrieve more docs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76DE3D-024D-8849-5ABC-C56C552CF9D7}"/>
              </a:ext>
            </a:extLst>
          </p:cNvPr>
          <p:cNvSpPr txBox="1"/>
          <p:nvPr/>
        </p:nvSpPr>
        <p:spPr>
          <a:xfrm>
            <a:off x="387629" y="6211669"/>
            <a:ext cx="3623469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we lose cross-attention between tokens in different passages</a:t>
            </a:r>
          </a:p>
        </p:txBody>
      </p:sp>
    </p:spTree>
    <p:extLst>
      <p:ext uri="{BB962C8B-B14F-4D97-AF65-F5344CB8AC3E}">
        <p14:creationId xmlns:p14="http://schemas.microsoft.com/office/powerpoint/2010/main" val="238261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D4D95-070D-766A-43D5-51D7BFADB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FB26-EA8C-B876-7D8C-EC7C6DFD8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FiD</a:t>
            </a:r>
            <a:r>
              <a:rPr lang="en-US" dirty="0"/>
              <a:t> Experiments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E98BFF-1DB2-5741-9D2A-81A2533909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96" t="1" r="3738" b="1975"/>
          <a:stretch/>
        </p:blipFill>
        <p:spPr>
          <a:xfrm>
            <a:off x="0" y="1028701"/>
            <a:ext cx="9119667" cy="31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950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F0D4-A973-4092-F17E-2593336A4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1918-3CA2-4CCD-6D6E-839EFF93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FiD</a:t>
            </a:r>
            <a:r>
              <a:rPr lang="en-US" dirty="0"/>
              <a:t> Experiments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03FF2-E7E7-F6D3-FDE8-4328469CE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629"/>
          <a:stretch/>
        </p:blipFill>
        <p:spPr>
          <a:xfrm>
            <a:off x="1362073" y="2455068"/>
            <a:ext cx="6929438" cy="26461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CCF51C-5A73-14D6-7F5C-213A65C3FF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2745"/>
          <a:stretch/>
        </p:blipFill>
        <p:spPr>
          <a:xfrm>
            <a:off x="1404936" y="1548605"/>
            <a:ext cx="6929438" cy="9064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58D5D9-8223-C2CA-7688-2B57B622D09E}"/>
              </a:ext>
            </a:extLst>
          </p:cNvPr>
          <p:cNvSpPr txBox="1"/>
          <p:nvPr/>
        </p:nvSpPr>
        <p:spPr>
          <a:xfrm>
            <a:off x="221458" y="4300537"/>
            <a:ext cx="1262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 = 100 passages</a:t>
            </a:r>
          </a:p>
        </p:txBody>
      </p:sp>
    </p:spTree>
    <p:extLst>
      <p:ext uri="{BB962C8B-B14F-4D97-AF65-F5344CB8AC3E}">
        <p14:creationId xmlns:p14="http://schemas.microsoft.com/office/powerpoint/2010/main" val="13370733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8053-DCFB-0F14-F258-1410E3E3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01E9-EEA2-81DA-A9E9-C000B8E85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in Decoder (</a:t>
            </a:r>
            <a:r>
              <a:rPr lang="en-US" dirty="0" err="1"/>
              <a:t>FiD</a:t>
            </a:r>
            <a:r>
              <a:rPr lang="en-US" dirty="0"/>
              <a:t>): Discussion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7F68D-9B3D-875F-93FE-ECE501919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1457"/>
            <a:ext cx="8648700" cy="4000631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FiD</a:t>
            </a:r>
            <a:r>
              <a:rPr lang="en-US" dirty="0"/>
              <a:t> is nearly as simple as RAG to implement</a:t>
            </a:r>
          </a:p>
          <a:p>
            <a:pPr lvl="1"/>
            <a:r>
              <a:rPr lang="en-US" dirty="0"/>
              <a:t>Small change from </a:t>
            </a:r>
            <a:r>
              <a:rPr lang="en-US"/>
              <a:t>existing Encoder-Decoder like T5</a:t>
            </a:r>
          </a:p>
          <a:p>
            <a:pPr lvl="1"/>
            <a:r>
              <a:rPr lang="en-US" dirty="0"/>
              <a:t>Somewhat more expensive in training/inference</a:t>
            </a:r>
          </a:p>
          <a:p>
            <a:pPr lvl="2"/>
            <a:r>
              <a:rPr lang="en-US" dirty="0"/>
              <a:t>You can train mostly with small N and then train a little further with larger N</a:t>
            </a:r>
          </a:p>
          <a:p>
            <a:pPr lvl="1"/>
            <a:r>
              <a:rPr lang="en-US" dirty="0"/>
              <a:t>In practice larger N helps more than joint training on many cases</a:t>
            </a:r>
          </a:p>
          <a:p>
            <a:pPr lvl="1"/>
            <a:r>
              <a:rPr lang="en-US" dirty="0" err="1"/>
              <a:t>FiD</a:t>
            </a:r>
            <a:r>
              <a:rPr lang="en-US" dirty="0"/>
              <a:t> was the “strong baseline” for most open-book QA work done with encoder-decoder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4545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2D94C-1E16-AA9C-8330-3773F12F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526D-614D-3FE3-A0FF-597D9F63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5E65D-FD9F-F05A-A54E-A507AEF84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Review of how to learn retrievers</a:t>
            </a:r>
          </a:p>
          <a:p>
            <a:pPr lvl="1"/>
            <a:r>
              <a:rPr lang="en-US" dirty="0"/>
              <a:t>Contrastive learning</a:t>
            </a:r>
          </a:p>
          <a:p>
            <a:pPr lvl="1"/>
            <a:r>
              <a:rPr lang="en-US" dirty="0"/>
              <a:t>DPR and </a:t>
            </a:r>
            <a:r>
              <a:rPr lang="en-US" dirty="0" err="1"/>
              <a:t>Contreiver</a:t>
            </a:r>
            <a:endParaRPr lang="en-US" dirty="0"/>
          </a:p>
          <a:p>
            <a:r>
              <a:rPr lang="en-US" dirty="0"/>
              <a:t>Using decoder-only LLMs for retrieval</a:t>
            </a:r>
          </a:p>
          <a:p>
            <a:pPr lvl="1"/>
            <a:r>
              <a:rPr lang="en-US" dirty="0"/>
              <a:t>query expansion</a:t>
            </a:r>
          </a:p>
          <a:p>
            <a:pPr lvl="1"/>
            <a:r>
              <a:rPr lang="en-US" dirty="0"/>
              <a:t>generating encodings</a:t>
            </a:r>
          </a:p>
          <a:p>
            <a:r>
              <a:rPr lang="en-US" dirty="0">
                <a:solidFill>
                  <a:srgbClr val="002060"/>
                </a:solidFill>
              </a:rPr>
              <a:t>Retrieval-augmented generation (RAG)</a:t>
            </a:r>
          </a:p>
          <a:p>
            <a:pPr lvl="1"/>
            <a:r>
              <a:rPr lang="en-US" dirty="0"/>
              <a:t>The original RAG paper</a:t>
            </a:r>
          </a:p>
          <a:p>
            <a:pPr lvl="1"/>
            <a:r>
              <a:rPr lang="en-US" dirty="0"/>
              <a:t>The fusion-in-decoder (</a:t>
            </a:r>
            <a:r>
              <a:rPr lang="en-US" dirty="0" err="1"/>
              <a:t>FiD</a:t>
            </a:r>
            <a:r>
              <a:rPr lang="en-US" dirty="0"/>
              <a:t>) paper</a:t>
            </a:r>
          </a:p>
          <a:p>
            <a:r>
              <a:rPr lang="en-US" dirty="0">
                <a:solidFill>
                  <a:srgbClr val="0070C0"/>
                </a:solidFill>
              </a:rPr>
              <a:t>A case study: optimizing inference for </a:t>
            </a:r>
            <a:r>
              <a:rPr lang="en-US" dirty="0" err="1">
                <a:solidFill>
                  <a:srgbClr val="0070C0"/>
                </a:solidFill>
              </a:rPr>
              <a:t>FiD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Systems: </a:t>
            </a:r>
            <a:r>
              <a:rPr lang="en-US" dirty="0" err="1"/>
              <a:t>FiDO</a:t>
            </a:r>
            <a:r>
              <a:rPr lang="en-US" dirty="0"/>
              <a:t>, LUMEN, GLIMMER</a:t>
            </a:r>
          </a:p>
          <a:p>
            <a:r>
              <a:rPr lang="en-US" dirty="0"/>
              <a:t>Incorporating principles from RAG, </a:t>
            </a:r>
            <a:r>
              <a:rPr lang="en-US" dirty="0" err="1"/>
              <a:t>FiD</a:t>
            </a:r>
            <a:r>
              <a:rPr lang="en-US" dirty="0"/>
              <a:t> in decoder-only LLMS</a:t>
            </a:r>
          </a:p>
        </p:txBody>
      </p:sp>
    </p:spTree>
    <p:extLst>
      <p:ext uri="{BB962C8B-B14F-4D97-AF65-F5344CB8AC3E}">
        <p14:creationId xmlns:p14="http://schemas.microsoft.com/office/powerpoint/2010/main" val="9636885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8A72-4DDD-9F58-95F3-83D7AF17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</a:t>
            </a:r>
            <a:r>
              <a:rPr lang="en-US" dirty="0" err="1"/>
              <a:t>FiD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0EF5-A5C6-5C27-028A-BD676A49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04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B9E-B45B-0BB3-0D9C-F5417E00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FiD</a:t>
            </a:r>
            <a:r>
              <a:rPr lang="en-US" dirty="0"/>
              <a:t> Optimized (</a:t>
            </a:r>
            <a:r>
              <a:rPr lang="en-US" dirty="0" err="1"/>
              <a:t>FiDO</a:t>
            </a:r>
            <a:r>
              <a:rPr lang="en-US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901C3-3C66-079D-0FC3-BFE7C938A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71" y="2315437"/>
            <a:ext cx="8922231" cy="25566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A8D596-C545-2E39-58A6-C3B71C69F260}"/>
              </a:ext>
            </a:extLst>
          </p:cNvPr>
          <p:cNvSpPr txBox="1"/>
          <p:nvPr/>
        </p:nvSpPr>
        <p:spPr>
          <a:xfrm>
            <a:off x="7572375" y="19431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A64F60-753D-FF1B-3EE8-CFBDDD86F9C5}"/>
              </a:ext>
            </a:extLst>
          </p:cNvPr>
          <p:cNvSpPr/>
          <p:nvPr/>
        </p:nvSpPr>
        <p:spPr>
          <a:xfrm>
            <a:off x="3793525" y="2940908"/>
            <a:ext cx="1556952" cy="488092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4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8053-DCFB-0F14-F258-1410E3E3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01E9-EEA2-81DA-A9E9-C000B8E85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in Decoder (</a:t>
            </a:r>
            <a:r>
              <a:rPr lang="en-US" dirty="0" err="1"/>
              <a:t>FiD</a:t>
            </a:r>
            <a:r>
              <a:rPr lang="en-US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7F68D-9B3D-875F-93FE-ECE501919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1458"/>
            <a:ext cx="8928100" cy="2357568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FiD</a:t>
            </a:r>
            <a:r>
              <a:rPr lang="en-US" dirty="0"/>
              <a:t> is nearly as simple as RAG to implement</a:t>
            </a:r>
          </a:p>
          <a:p>
            <a:pPr lvl="1"/>
            <a:r>
              <a:rPr lang="en-US" dirty="0"/>
              <a:t>Small change from existing Encoder-Decoder like T5</a:t>
            </a:r>
          </a:p>
          <a:p>
            <a:pPr lvl="1"/>
            <a:r>
              <a:rPr lang="en-US" dirty="0"/>
              <a:t>More expensive in training/inference</a:t>
            </a:r>
          </a:p>
          <a:p>
            <a:r>
              <a:rPr lang="en-US" b="1" dirty="0"/>
              <a:t>Question</a:t>
            </a:r>
            <a:r>
              <a:rPr lang="en-US" dirty="0"/>
              <a:t>: Is adapting a pre-trained T5 the most </a:t>
            </a:r>
            <a:r>
              <a:rPr lang="en-US" b="1" u="sng" dirty="0"/>
              <a:t>efficient </a:t>
            </a:r>
            <a:r>
              <a:rPr lang="en-US" dirty="0"/>
              <a:t> architecture for inference?</a:t>
            </a:r>
          </a:p>
        </p:txBody>
      </p:sp>
    </p:spTree>
    <p:extLst>
      <p:ext uri="{BB962C8B-B14F-4D97-AF65-F5344CB8AC3E}">
        <p14:creationId xmlns:p14="http://schemas.microsoft.com/office/powerpoint/2010/main" val="39188735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FDAF7-5DF1-C444-421F-EDD4D441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F3AB-5110-7BC0-7FB8-FA7F30639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in Decoder (</a:t>
            </a:r>
            <a:r>
              <a:rPr lang="en-US" dirty="0" err="1"/>
              <a:t>FiD</a:t>
            </a:r>
            <a:r>
              <a:rPr lang="en-US" dirty="0"/>
              <a:t>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620F3E3-9954-EB9D-E13B-3D87828F5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268" y="1451242"/>
            <a:ext cx="3550963" cy="523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007D8B-29DE-A52A-35C9-C3065EF1EDF3}"/>
              </a:ext>
            </a:extLst>
          </p:cNvPr>
          <p:cNvSpPr txBox="1"/>
          <p:nvPr/>
        </p:nvSpPr>
        <p:spPr>
          <a:xfrm>
            <a:off x="279400" y="2690472"/>
            <a:ext cx="2608992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Encoding:  we cross-encode 100 passages with full cross-attention to the question (and inside a passage)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F62B1-BB28-9FEB-A31D-44E0E156A3E3}"/>
              </a:ext>
            </a:extLst>
          </p:cNvPr>
          <p:cNvSpPr txBox="1"/>
          <p:nvPr/>
        </p:nvSpPr>
        <p:spPr>
          <a:xfrm>
            <a:off x="6535008" y="2967335"/>
            <a:ext cx="2608992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At decoding time we generate a (usually short) answer to the question</a:t>
            </a:r>
          </a:p>
        </p:txBody>
      </p:sp>
    </p:spTree>
    <p:extLst>
      <p:ext uri="{BB962C8B-B14F-4D97-AF65-F5344CB8AC3E}">
        <p14:creationId xmlns:p14="http://schemas.microsoft.com/office/powerpoint/2010/main" val="104783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B29C1-A0B7-DC9B-89C3-7B5CE388D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2DA5-D631-04C8-C5C0-513204B2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in Decoder (</a:t>
            </a:r>
            <a:r>
              <a:rPr lang="en-US" dirty="0" err="1"/>
              <a:t>FiD</a:t>
            </a:r>
            <a:r>
              <a:rPr lang="en-US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7A8529-FA25-2F05-EC18-3F386C9C6428}"/>
              </a:ext>
            </a:extLst>
          </p:cNvPr>
          <p:cNvSpPr txBox="1"/>
          <p:nvPr/>
        </p:nvSpPr>
        <p:spPr>
          <a:xfrm>
            <a:off x="245625" y="2554612"/>
            <a:ext cx="362204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FLOP analysis:  Encoder is 6x as expensive as decoder!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023FA77-A3A9-6B65-A55E-673D045DE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870" y="1368799"/>
            <a:ext cx="4079876" cy="2933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393BDDF-EDA4-1989-757D-08D3E31DF3DF}"/>
              </a:ext>
            </a:extLst>
          </p:cNvPr>
          <p:cNvSpPr/>
          <p:nvPr/>
        </p:nvSpPr>
        <p:spPr>
          <a:xfrm>
            <a:off x="4436076" y="3299254"/>
            <a:ext cx="3632886" cy="543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54597C-6B57-6A64-0EC7-C03657F33D57}"/>
              </a:ext>
            </a:extLst>
          </p:cNvPr>
          <p:cNvSpPr txBox="1"/>
          <p:nvPr/>
        </p:nvSpPr>
        <p:spPr>
          <a:xfrm>
            <a:off x="405627" y="3281251"/>
            <a:ext cx="3177832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…but at inference time decoding is slowest.  Why?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F17C4E7-DCCC-0419-CD21-87FA0475B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56" y="4750927"/>
            <a:ext cx="5407969" cy="189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551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AB778-2FDA-AEBC-1072-95DD238E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DACD0-77F4-903F-DD17-4482CC10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LLM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C67E9-3F50-E148-8EA2-A2FBCC3BD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Inference with an LLM has two phases</a:t>
            </a:r>
          </a:p>
          <a:p>
            <a:pPr lvl="1"/>
            <a:r>
              <a:rPr lang="en-US" dirty="0"/>
              <a:t>Prefilling / Encoding</a:t>
            </a:r>
          </a:p>
          <a:p>
            <a:pPr lvl="2"/>
            <a:r>
              <a:rPr lang="en-US" dirty="0"/>
              <a:t>process the prompt and context</a:t>
            </a:r>
          </a:p>
          <a:p>
            <a:pPr lvl="3"/>
            <a:r>
              <a:rPr lang="en-US" dirty="0"/>
              <a:t>for RAG and Encoder/Decoder models the context is large and structured</a:t>
            </a:r>
          </a:p>
          <a:p>
            <a:pPr lvl="2"/>
            <a:r>
              <a:rPr lang="en-US" dirty="0"/>
              <a:t>some ways to </a:t>
            </a:r>
            <a:r>
              <a:rPr lang="en-US" b="1" dirty="0"/>
              <a:t>parallelize</a:t>
            </a:r>
            <a:endParaRPr lang="en-US" dirty="0"/>
          </a:p>
          <a:p>
            <a:pPr lvl="1"/>
            <a:r>
              <a:rPr lang="en-US" dirty="0"/>
              <a:t>Decoding</a:t>
            </a:r>
          </a:p>
          <a:p>
            <a:pPr lvl="2"/>
            <a:r>
              <a:rPr lang="en-US" dirty="0"/>
              <a:t>generate the response, word by word</a:t>
            </a:r>
          </a:p>
          <a:p>
            <a:pPr lvl="2"/>
            <a:r>
              <a:rPr lang="en-US" dirty="0"/>
              <a:t>this is </a:t>
            </a:r>
            <a:r>
              <a:rPr lang="en-US" b="1" dirty="0"/>
              <a:t>sequential</a:t>
            </a:r>
            <a:r>
              <a:rPr lang="en-US" dirty="0"/>
              <a:t> and uses the keys-values from encoding/prefilling</a:t>
            </a:r>
          </a:p>
        </p:txBody>
      </p:sp>
    </p:spTree>
    <p:extLst>
      <p:ext uri="{BB962C8B-B14F-4D97-AF65-F5344CB8AC3E}">
        <p14:creationId xmlns:p14="http://schemas.microsoft.com/office/powerpoint/2010/main" val="36129931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672D3-8F87-E77A-10A7-2D56A0CDF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82CB-C3B5-50E0-29F9-7B103800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F4566-63A7-BFCD-F7B5-B4F5E586D425}"/>
              </a:ext>
            </a:extLst>
          </p:cNvPr>
          <p:cNvSpPr txBox="1"/>
          <p:nvPr/>
        </p:nvSpPr>
        <p:spPr>
          <a:xfrm>
            <a:off x="5196840" y="1766728"/>
            <a:ext cx="35791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Notation (one query):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d: token encoding dim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m:  #things to maybe attend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h: #heads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k: dim of queries and keys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51115-4012-77D6-115D-F289F3F069BA}"/>
              </a:ext>
            </a:extLst>
          </p:cNvPr>
          <p:cNvSpPr txBox="1"/>
          <p:nvPr/>
        </p:nvSpPr>
        <p:spPr>
          <a:xfrm>
            <a:off x="1371600" y="1032413"/>
            <a:ext cx="801624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Fast Transformer Attention: … </a:t>
            </a:r>
            <a:r>
              <a:rPr lang="en-US" dirty="0" err="1"/>
              <a:t>Shazeer</a:t>
            </a:r>
            <a:r>
              <a:rPr lang="en-US" dirty="0"/>
              <a:t> 2019 </a:t>
            </a:r>
            <a:r>
              <a:rPr lang="en-US" dirty="0">
                <a:hlinkClick r:id="rId3"/>
              </a:rPr>
              <a:t>https://arxiv.org/pdf/1911.02150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3C3267-0389-81F7-B1DF-3825BB5635A1}"/>
              </a:ext>
            </a:extLst>
          </p:cNvPr>
          <p:cNvSpPr txBox="1"/>
          <p:nvPr/>
        </p:nvSpPr>
        <p:spPr>
          <a:xfrm>
            <a:off x="5325593" y="4197450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construct the query q for 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4B6918-2080-0754-650C-C942AA68B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19" y="1517123"/>
            <a:ext cx="4957621" cy="47510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35C4DF-1BB0-BA82-2DAC-601C9BFE6F4E}"/>
              </a:ext>
            </a:extLst>
          </p:cNvPr>
          <p:cNvSpPr txBox="1"/>
          <p:nvPr/>
        </p:nvSpPr>
        <p:spPr>
          <a:xfrm>
            <a:off x="5882640" y="3710454"/>
            <a:ext cx="3144061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aside: </a:t>
            </a:r>
            <a:r>
              <a:rPr lang="en-US" dirty="0" err="1"/>
              <a:t>P_q</a:t>
            </a:r>
            <a:r>
              <a:rPr lang="en-US" dirty="0"/>
              <a:t> = what we called W</a:t>
            </a:r>
            <a:r>
              <a:rPr lang="en-US" baseline="-25000" dirty="0"/>
              <a:t>Q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31EB15-1944-7DB1-671E-E107E3F17555}"/>
              </a:ext>
            </a:extLst>
          </p:cNvPr>
          <p:cNvSpPr txBox="1"/>
          <p:nvPr/>
        </p:nvSpPr>
        <p:spPr>
          <a:xfrm>
            <a:off x="5447513" y="4730850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construct keys and values from 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75BCB-226B-9172-8EE7-85B77779EA87}"/>
              </a:ext>
            </a:extLst>
          </p:cNvPr>
          <p:cNvSpPr txBox="1"/>
          <p:nvPr/>
        </p:nvSpPr>
        <p:spPr>
          <a:xfrm>
            <a:off x="5379720" y="513381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dot prod similarities and attn scores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76A166-6126-4551-09E2-095084E59FA5}"/>
              </a:ext>
            </a:extLst>
          </p:cNvPr>
          <p:cNvSpPr txBox="1"/>
          <p:nvPr/>
        </p:nvSpPr>
        <p:spPr>
          <a:xfrm>
            <a:off x="5440680" y="559101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attn-weighted sum of values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65CAD-3519-5CEF-40A8-24D491EF0A8E}"/>
              </a:ext>
            </a:extLst>
          </p:cNvPr>
          <p:cNvSpPr txBox="1"/>
          <p:nvPr/>
        </p:nvSpPr>
        <p:spPr>
          <a:xfrm>
            <a:off x="5593080" y="603297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project back to dimension of x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8DE38ED9-CCD9-6CDA-45A7-6D93F636E920}"/>
              </a:ext>
            </a:extLst>
          </p:cNvPr>
          <p:cNvSpPr/>
          <p:nvPr/>
        </p:nvSpPr>
        <p:spPr>
          <a:xfrm rot="10800000">
            <a:off x="309880" y="4382116"/>
            <a:ext cx="269240" cy="157823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F0141C-357E-6CBD-DAD9-EBC4420416B5}"/>
              </a:ext>
            </a:extLst>
          </p:cNvPr>
          <p:cNvSpPr txBox="1"/>
          <p:nvPr/>
        </p:nvSpPr>
        <p:spPr>
          <a:xfrm rot="16200000">
            <a:off x="-1106948" y="4981694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parallel over all heads</a:t>
            </a:r>
          </a:p>
        </p:txBody>
      </p:sp>
    </p:spTree>
    <p:extLst>
      <p:ext uri="{BB962C8B-B14F-4D97-AF65-F5344CB8AC3E}">
        <p14:creationId xmlns:p14="http://schemas.microsoft.com/office/powerpoint/2010/main" val="410759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  <p:bldP spid="6" grpId="0" animBg="1"/>
      <p:bldP spid="10" grpId="0" animBg="1"/>
      <p:bldP spid="11" grpId="0" animBg="1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3581C-24CF-6DAD-95F8-7CF2FDF62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D0C8-E71E-8025-211A-13AFB3150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4016A-5D5D-28D8-A4DB-3AF4A3757A05}"/>
              </a:ext>
            </a:extLst>
          </p:cNvPr>
          <p:cNvSpPr txBox="1"/>
          <p:nvPr/>
        </p:nvSpPr>
        <p:spPr>
          <a:xfrm>
            <a:off x="5229532" y="2015926"/>
            <a:ext cx="3579188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b: batch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n: different positions in seq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d: token encoding dim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m:  #things to maybe attend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h: #heads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k: dim of queries and keys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5C105B-BC1E-0CCF-1006-50EB528B1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30" y="1837275"/>
            <a:ext cx="4710102" cy="4419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FAADB2-5986-739A-2BF4-AF6F60ED401A}"/>
              </a:ext>
            </a:extLst>
          </p:cNvPr>
          <p:cNvSpPr txBox="1"/>
          <p:nvPr/>
        </p:nvSpPr>
        <p:spPr>
          <a:xfrm>
            <a:off x="519430" y="1154013"/>
            <a:ext cx="8439478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Encoder / prefilling:  </a:t>
            </a:r>
            <a:r>
              <a:rPr lang="en-US" dirty="0">
                <a:highlight>
                  <a:srgbClr val="FFFF00"/>
                </a:highlight>
              </a:rPr>
              <a:t>batched</a:t>
            </a:r>
            <a:r>
              <a:rPr lang="en-US" dirty="0"/>
              <a:t> MHA with batches </a:t>
            </a:r>
            <a:r>
              <a:rPr lang="en-US" dirty="0">
                <a:highlight>
                  <a:srgbClr val="FFFF00"/>
                </a:highlight>
              </a:rPr>
              <a:t>of different positions </a:t>
            </a:r>
            <a:r>
              <a:rPr lang="en-US" dirty="0"/>
              <a:t>in a sequence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DBFC35-174D-871C-6803-E2AC37130D95}"/>
              </a:ext>
            </a:extLst>
          </p:cNvPr>
          <p:cNvSpPr txBox="1"/>
          <p:nvPr/>
        </p:nvSpPr>
        <p:spPr>
          <a:xfrm>
            <a:off x="5325593" y="4197450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construct the query Q for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B1E3A0-A6C5-CA28-B6F9-7370481B67FE}"/>
              </a:ext>
            </a:extLst>
          </p:cNvPr>
          <p:cNvSpPr txBox="1"/>
          <p:nvPr/>
        </p:nvSpPr>
        <p:spPr>
          <a:xfrm>
            <a:off x="5447513" y="4730850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construct keys and values from 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9C07B-7803-B091-7C93-BB77F5D229F5}"/>
              </a:ext>
            </a:extLst>
          </p:cNvPr>
          <p:cNvSpPr txBox="1"/>
          <p:nvPr/>
        </p:nvSpPr>
        <p:spPr>
          <a:xfrm>
            <a:off x="5379720" y="513381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dot prod similarities and attn scores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C84DF-3B9F-0E68-D25A-4D9047FDB1D1}"/>
              </a:ext>
            </a:extLst>
          </p:cNvPr>
          <p:cNvSpPr txBox="1"/>
          <p:nvPr/>
        </p:nvSpPr>
        <p:spPr>
          <a:xfrm>
            <a:off x="5440680" y="559101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attn-weighted sum of values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3B6222-A7C7-BA9A-960A-BFE620774EF3}"/>
              </a:ext>
            </a:extLst>
          </p:cNvPr>
          <p:cNvSpPr txBox="1"/>
          <p:nvPr/>
        </p:nvSpPr>
        <p:spPr>
          <a:xfrm>
            <a:off x="5593080" y="603297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project back to dimension of x</a:t>
            </a:r>
          </a:p>
        </p:txBody>
      </p:sp>
    </p:spTree>
    <p:extLst>
      <p:ext uri="{BB962C8B-B14F-4D97-AF65-F5344CB8AC3E}">
        <p14:creationId xmlns:p14="http://schemas.microsoft.com/office/powerpoint/2010/main" val="330119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32BB5-6BA0-A0AE-8267-449B2A3B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A5CF-56F6-7E12-4089-84B5553A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EC8F6-B4FC-B12C-244B-EC8F54B9C85D}"/>
              </a:ext>
            </a:extLst>
          </p:cNvPr>
          <p:cNvSpPr txBox="1"/>
          <p:nvPr/>
        </p:nvSpPr>
        <p:spPr>
          <a:xfrm>
            <a:off x="5229532" y="1700115"/>
            <a:ext cx="3579188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b: batch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n: different positions in seq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d: token encoding dim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m:  #things to maybe attend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h: #heads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k: dim of queries and keys</a:t>
            </a:r>
          </a:p>
          <a:p>
            <a:r>
              <a:rPr lang="en-US" dirty="0"/>
              <a:t>Assume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k=v=d/h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 &lt; 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4DAAE3-A861-F114-2589-4766985BF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30" y="1837275"/>
            <a:ext cx="4710102" cy="4419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F24601-D47F-EA2E-95CF-2F098E0AD043}"/>
              </a:ext>
            </a:extLst>
          </p:cNvPr>
          <p:cNvSpPr txBox="1"/>
          <p:nvPr/>
        </p:nvSpPr>
        <p:spPr>
          <a:xfrm>
            <a:off x="519430" y="1154013"/>
            <a:ext cx="8439478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Encoder / prefilling:  </a:t>
            </a:r>
            <a:r>
              <a:rPr lang="en-US" dirty="0">
                <a:highlight>
                  <a:srgbClr val="FFFF00"/>
                </a:highlight>
              </a:rPr>
              <a:t>batched</a:t>
            </a:r>
            <a:r>
              <a:rPr lang="en-US" dirty="0"/>
              <a:t> MHA with batches </a:t>
            </a:r>
            <a:r>
              <a:rPr lang="en-US" dirty="0">
                <a:highlight>
                  <a:srgbClr val="FFFF00"/>
                </a:highlight>
              </a:rPr>
              <a:t>of different positions </a:t>
            </a:r>
            <a:r>
              <a:rPr lang="en-US" dirty="0"/>
              <a:t>in a sequence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830A6-571F-3880-A17C-3E6BE4FE1A31}"/>
              </a:ext>
            </a:extLst>
          </p:cNvPr>
          <p:cNvSpPr txBox="1"/>
          <p:nvPr/>
        </p:nvSpPr>
        <p:spPr>
          <a:xfrm>
            <a:off x="5229532" y="5153366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FLOPS: O(bnd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41EBF9-7307-DAB0-89B9-C16BA43EE8F5}"/>
              </a:ext>
            </a:extLst>
          </p:cNvPr>
          <p:cNvSpPr txBox="1"/>
          <p:nvPr/>
        </p:nvSpPr>
        <p:spPr>
          <a:xfrm>
            <a:off x="4572000" y="5671526"/>
            <a:ext cx="438912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Matmul</a:t>
            </a:r>
            <a:r>
              <a:rPr lang="en-US" dirty="0"/>
              <a:t>:  </a:t>
            </a:r>
            <a:r>
              <a:rPr lang="en-US" dirty="0" err="1"/>
              <a:t>mk,kn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mn</a:t>
            </a:r>
            <a:r>
              <a:rPr lang="en-US" dirty="0">
                <a:sym typeface="Wingdings" pitchFamily="2" charset="2"/>
              </a:rPr>
              <a:t> uses mnk</a:t>
            </a:r>
            <a:r>
              <a:rPr lang="en-US" baseline="30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FLOPS</a:t>
            </a:r>
            <a:endParaRPr lang="en-US" baseline="30000" dirty="0">
              <a:sym typeface="Wingdings" pitchFamily="2" charset="2"/>
            </a:endParaRPr>
          </a:p>
          <a:p>
            <a:r>
              <a:rPr lang="en-US" dirty="0"/>
              <a:t>Q:  </a:t>
            </a:r>
            <a:r>
              <a:rPr lang="en-US" dirty="0" err="1"/>
              <a:t>bnd,dkh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bhnk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  </a:t>
            </a:r>
            <a:r>
              <a:rPr lang="en-US" dirty="0"/>
              <a:t>= </a:t>
            </a:r>
            <a:r>
              <a:rPr lang="en-US" dirty="0" err="1"/>
              <a:t>bnd,d</a:t>
            </a:r>
            <a:r>
              <a:rPr lang="en-US" dirty="0"/>
              <a:t>(d/</a:t>
            </a:r>
            <a:r>
              <a:rPr lang="en-US" strike="sngStrike" dirty="0"/>
              <a:t>h</a:t>
            </a:r>
            <a:r>
              <a:rPr lang="en-US" dirty="0"/>
              <a:t>)</a:t>
            </a:r>
            <a:r>
              <a:rPr lang="en-US" strike="sngStrike" dirty="0"/>
              <a:t>h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b</a:t>
            </a:r>
            <a:r>
              <a:rPr lang="en-US" strike="sngStrike" dirty="0" err="1">
                <a:sym typeface="Wingdings" pitchFamily="2" charset="2"/>
              </a:rPr>
              <a:t>h</a:t>
            </a:r>
            <a:r>
              <a:rPr lang="en-US" dirty="0" err="1">
                <a:sym typeface="Wingdings" pitchFamily="2" charset="2"/>
              </a:rPr>
              <a:t>n</a:t>
            </a:r>
            <a:r>
              <a:rPr lang="en-US" dirty="0">
                <a:sym typeface="Wingdings" pitchFamily="2" charset="2"/>
              </a:rPr>
              <a:t>(d/</a:t>
            </a:r>
            <a:r>
              <a:rPr lang="en-US" strike="sngStrike" dirty="0">
                <a:sym typeface="Wingdings" pitchFamily="2" charset="2"/>
              </a:rPr>
              <a:t>h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r>
              <a:rPr lang="en-US" dirty="0">
                <a:sym typeface="Wingdings" pitchFamily="2" charset="2"/>
              </a:rPr>
              <a:t>  = </a:t>
            </a:r>
            <a:r>
              <a:rPr lang="en-US" dirty="0" err="1">
                <a:sym typeface="Wingdings" pitchFamily="2" charset="2"/>
              </a:rPr>
              <a:t>bnd,dd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matmul</a:t>
            </a:r>
            <a:r>
              <a:rPr lang="en-US" dirty="0">
                <a:sym typeface="Wingdings" pitchFamily="2" charset="2"/>
              </a:rPr>
              <a:t> uses bnd</a:t>
            </a:r>
            <a:r>
              <a:rPr lang="en-US" baseline="30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FLOPS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9176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380E6-4DB0-3780-C2C9-52237117C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377C-C0EF-561E-80A6-7EBBF212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AE9AD-0CEB-D2FA-A054-E957E3E1E746}"/>
              </a:ext>
            </a:extLst>
          </p:cNvPr>
          <p:cNvSpPr txBox="1"/>
          <p:nvPr/>
        </p:nvSpPr>
        <p:spPr>
          <a:xfrm>
            <a:off x="5229532" y="1700115"/>
            <a:ext cx="3579188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b: batch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n: different positions in seq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d: token encoding dim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m:  #things to maybe attend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h: #heads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k: dim of queries and keys</a:t>
            </a:r>
          </a:p>
          <a:p>
            <a:r>
              <a:rPr lang="en-US" dirty="0"/>
              <a:t>Assume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k=v=d/h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 &lt; 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C8769-5191-94DE-68EC-F8FB9B9D0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30" y="1837275"/>
            <a:ext cx="4710102" cy="4419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AEBBF-CB63-1950-669C-792C38C5A079}"/>
              </a:ext>
            </a:extLst>
          </p:cNvPr>
          <p:cNvSpPr txBox="1"/>
          <p:nvPr/>
        </p:nvSpPr>
        <p:spPr>
          <a:xfrm>
            <a:off x="519430" y="1154013"/>
            <a:ext cx="8439478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Encoder / prefilling:  </a:t>
            </a:r>
            <a:r>
              <a:rPr lang="en-US" dirty="0">
                <a:highlight>
                  <a:srgbClr val="FFFF00"/>
                </a:highlight>
              </a:rPr>
              <a:t>batched</a:t>
            </a:r>
            <a:r>
              <a:rPr lang="en-US" dirty="0"/>
              <a:t> MHA with batches </a:t>
            </a:r>
            <a:r>
              <a:rPr lang="en-US" dirty="0">
                <a:highlight>
                  <a:srgbClr val="FFFF00"/>
                </a:highlight>
              </a:rPr>
              <a:t>of different positions </a:t>
            </a:r>
            <a:r>
              <a:rPr lang="en-US" dirty="0"/>
              <a:t>in a sequence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12C9B-7DB4-A986-E391-BB8E7E1E3F51}"/>
              </a:ext>
            </a:extLst>
          </p:cNvPr>
          <p:cNvSpPr txBox="1"/>
          <p:nvPr/>
        </p:nvSpPr>
        <p:spPr>
          <a:xfrm>
            <a:off x="5547360" y="5153366"/>
            <a:ext cx="1600200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Memory:</a:t>
            </a:r>
          </a:p>
          <a:p>
            <a:endParaRPr lang="en-US" baseline="30000" dirty="0"/>
          </a:p>
          <a:p>
            <a:r>
              <a:rPr lang="en-US" dirty="0"/>
              <a:t>O(</a:t>
            </a:r>
            <a:r>
              <a:rPr lang="en-US" dirty="0" err="1"/>
              <a:t>bnd</a:t>
            </a:r>
            <a:r>
              <a:rPr lang="en-US" dirty="0"/>
              <a:t>)  + </a:t>
            </a:r>
          </a:p>
          <a:p>
            <a:r>
              <a:rPr lang="en-US" dirty="0"/>
              <a:t>O(bhn</a:t>
            </a:r>
            <a:r>
              <a:rPr lang="en-US" baseline="30000" dirty="0"/>
              <a:t>2</a:t>
            </a:r>
            <a:r>
              <a:rPr lang="en-US" dirty="0"/>
              <a:t>) +</a:t>
            </a:r>
          </a:p>
          <a:p>
            <a:r>
              <a:rPr lang="en-US" dirty="0"/>
              <a:t>O(d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29A5B-9ADB-DB77-7BC7-BA3D13E6754F}"/>
              </a:ext>
            </a:extLst>
          </p:cNvPr>
          <p:cNvSpPr txBox="1"/>
          <p:nvPr/>
        </p:nvSpPr>
        <p:spPr>
          <a:xfrm>
            <a:off x="7327900" y="5153365"/>
            <a:ext cx="1600200" cy="138499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…because</a:t>
            </a:r>
          </a:p>
          <a:p>
            <a:endParaRPr lang="en-US" baseline="30000" dirty="0"/>
          </a:p>
          <a:p>
            <a:r>
              <a:rPr lang="en-US" dirty="0"/>
              <a:t>X,M,Q,K,V,O,Y</a:t>
            </a:r>
          </a:p>
          <a:p>
            <a:r>
              <a:rPr lang="en-US" dirty="0"/>
              <a:t>logits, weights</a:t>
            </a:r>
          </a:p>
          <a:p>
            <a:r>
              <a:rPr lang="en-US" dirty="0"/>
              <a:t>P’s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225D7-9FA8-C33A-41DD-93478E128060}"/>
              </a:ext>
            </a:extLst>
          </p:cNvPr>
          <p:cNvSpPr txBox="1"/>
          <p:nvPr/>
        </p:nvSpPr>
        <p:spPr>
          <a:xfrm>
            <a:off x="5348912" y="462706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FLOPS: O(bnd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225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EACD6-4417-1C1A-29F3-D7CA057DD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7D2C-205B-0CE5-438E-0A019ADD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B5D79D-533B-824A-2731-140B24396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30" y="1837275"/>
            <a:ext cx="4710102" cy="4419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6D4D41-A815-F2AA-5842-7AF0771FACB8}"/>
              </a:ext>
            </a:extLst>
          </p:cNvPr>
          <p:cNvSpPr txBox="1"/>
          <p:nvPr/>
        </p:nvSpPr>
        <p:spPr>
          <a:xfrm>
            <a:off x="519430" y="1154013"/>
            <a:ext cx="8439478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Encoder / prefilling:  </a:t>
            </a:r>
            <a:r>
              <a:rPr lang="en-US" dirty="0">
                <a:highlight>
                  <a:srgbClr val="FFFF00"/>
                </a:highlight>
              </a:rPr>
              <a:t>batched</a:t>
            </a:r>
            <a:r>
              <a:rPr lang="en-US" dirty="0"/>
              <a:t> MHA with batches </a:t>
            </a:r>
            <a:r>
              <a:rPr lang="en-US" dirty="0">
                <a:highlight>
                  <a:srgbClr val="FFFF00"/>
                </a:highlight>
              </a:rPr>
              <a:t>of different positions </a:t>
            </a:r>
            <a:r>
              <a:rPr lang="en-US" dirty="0"/>
              <a:t>in a sequence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27EF1-C285-F321-5FF0-CDFAB3FCDABA}"/>
              </a:ext>
            </a:extLst>
          </p:cNvPr>
          <p:cNvSpPr txBox="1"/>
          <p:nvPr/>
        </p:nvSpPr>
        <p:spPr>
          <a:xfrm>
            <a:off x="5547360" y="5153366"/>
            <a:ext cx="1600200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Memory:</a:t>
            </a:r>
          </a:p>
          <a:p>
            <a:endParaRPr lang="en-US" baseline="30000" dirty="0"/>
          </a:p>
          <a:p>
            <a:r>
              <a:rPr lang="en-US" dirty="0"/>
              <a:t>O(</a:t>
            </a:r>
            <a:r>
              <a:rPr lang="en-US" dirty="0" err="1"/>
              <a:t>bnd</a:t>
            </a:r>
            <a:r>
              <a:rPr lang="en-US" dirty="0"/>
              <a:t>)  + </a:t>
            </a:r>
          </a:p>
          <a:p>
            <a:r>
              <a:rPr lang="en-US" dirty="0"/>
              <a:t>O(bhn</a:t>
            </a:r>
            <a:r>
              <a:rPr lang="en-US" baseline="30000" dirty="0"/>
              <a:t>2</a:t>
            </a:r>
            <a:r>
              <a:rPr lang="en-US" dirty="0"/>
              <a:t>) +</a:t>
            </a:r>
          </a:p>
          <a:p>
            <a:r>
              <a:rPr lang="en-US" dirty="0"/>
              <a:t>O(d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1FF71-AE19-E78F-D4AA-F0B3C1E7435D}"/>
              </a:ext>
            </a:extLst>
          </p:cNvPr>
          <p:cNvSpPr txBox="1"/>
          <p:nvPr/>
        </p:nvSpPr>
        <p:spPr>
          <a:xfrm>
            <a:off x="7327900" y="5153365"/>
            <a:ext cx="1600200" cy="138499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…because</a:t>
            </a:r>
          </a:p>
          <a:p>
            <a:endParaRPr lang="en-US" baseline="30000" dirty="0"/>
          </a:p>
          <a:p>
            <a:r>
              <a:rPr lang="en-US" dirty="0"/>
              <a:t>X,M,Q,K,V,O,Y</a:t>
            </a:r>
          </a:p>
          <a:p>
            <a:r>
              <a:rPr lang="en-US" dirty="0"/>
              <a:t>logits, weights</a:t>
            </a:r>
          </a:p>
          <a:p>
            <a:r>
              <a:rPr lang="en-US" dirty="0"/>
              <a:t>P’s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20CCB-94DB-7AD2-023F-BEE7E1FAA74E}"/>
              </a:ext>
            </a:extLst>
          </p:cNvPr>
          <p:cNvSpPr txBox="1"/>
          <p:nvPr/>
        </p:nvSpPr>
        <p:spPr>
          <a:xfrm>
            <a:off x="5348912" y="462706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FLOPS: O(bnd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B5899-7DD0-3B19-C83C-63A4A1002D5B}"/>
              </a:ext>
            </a:extLst>
          </p:cNvPr>
          <p:cNvSpPr txBox="1"/>
          <p:nvPr/>
        </p:nvSpPr>
        <p:spPr>
          <a:xfrm>
            <a:off x="4159466" y="1718532"/>
            <a:ext cx="473916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Claim: FLOPs/sec &lt;=  FLOPs/byte * bytes/sec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C7B00F-08BA-6E73-14DE-B4184C328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802" y="2134826"/>
            <a:ext cx="4074298" cy="6155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7B8BBC-C308-6975-A083-C2201D8249F2}"/>
                  </a:ext>
                </a:extLst>
              </p:cNvPr>
              <p:cNvSpPr txBox="1"/>
              <p:nvPr/>
            </p:nvSpPr>
            <p:spPr>
              <a:xfrm>
                <a:off x="4739169" y="3391314"/>
                <a:ext cx="4283256" cy="62427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Memory/FLOPS: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𝑏𝑛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𝑏𝑛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7B8BBC-C308-6975-A083-C2201D824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169" y="3391314"/>
                <a:ext cx="4283256" cy="624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016D63B-1910-A6C3-603F-9BAD7F9E822F}"/>
              </a:ext>
            </a:extLst>
          </p:cNvPr>
          <p:cNvSpPr txBox="1"/>
          <p:nvPr/>
        </p:nvSpPr>
        <p:spPr>
          <a:xfrm>
            <a:off x="4283257" y="2792781"/>
            <a:ext cx="473916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moving data from HBM to </a:t>
            </a:r>
            <a:r>
              <a:rPr lang="en-US" dirty="0" err="1"/>
              <a:t>Matmul</a:t>
            </a:r>
            <a:r>
              <a:rPr lang="en-US" dirty="0"/>
              <a:t> units is “slow”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848D1-96DF-2608-BBCF-A4F1B8721404}"/>
              </a:ext>
            </a:extLst>
          </p:cNvPr>
          <p:cNvSpPr txBox="1"/>
          <p:nvPr/>
        </p:nvSpPr>
        <p:spPr>
          <a:xfrm>
            <a:off x="6282017" y="4109222"/>
            <a:ext cx="261534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is nice and low!</a:t>
            </a:r>
          </a:p>
        </p:txBody>
      </p:sp>
    </p:spTree>
    <p:extLst>
      <p:ext uri="{BB962C8B-B14F-4D97-AF65-F5344CB8AC3E}">
        <p14:creationId xmlns:p14="http://schemas.microsoft.com/office/powerpoint/2010/main" val="52273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3" grpId="0" animBg="1"/>
      <p:bldP spid="11" grpId="0" animBg="1"/>
      <p:bldP spid="12" grpId="0" animBg="1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21ADB-62F5-0CEB-AC36-0B4A36E59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A3FD-D9E0-F4A7-6B2D-4C5FAAA7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LLM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459DF-AA53-67BA-31D1-13DD04211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Inference with an LLM has two phases</a:t>
            </a:r>
          </a:p>
          <a:p>
            <a:pPr lvl="1"/>
            <a:r>
              <a:rPr lang="en-US" dirty="0"/>
              <a:t>Prefilling / Encoding</a:t>
            </a:r>
          </a:p>
          <a:p>
            <a:pPr lvl="2"/>
            <a:r>
              <a:rPr lang="en-US" dirty="0"/>
              <a:t>process the prompt and context</a:t>
            </a:r>
          </a:p>
          <a:p>
            <a:pPr lvl="3"/>
            <a:r>
              <a:rPr lang="en-US" dirty="0"/>
              <a:t>for RAG and Encoder/Decoder models the context is large and structured</a:t>
            </a:r>
          </a:p>
          <a:p>
            <a:pPr lvl="2"/>
            <a:r>
              <a:rPr lang="en-US" dirty="0"/>
              <a:t>recap: I said “some ways to </a:t>
            </a:r>
            <a:r>
              <a:rPr lang="en-US" b="1" dirty="0"/>
              <a:t>parallelize</a:t>
            </a:r>
            <a:r>
              <a:rPr lang="en-US" dirty="0"/>
              <a:t>”</a:t>
            </a:r>
          </a:p>
          <a:p>
            <a:pPr lvl="3"/>
            <a:r>
              <a:rPr lang="en-US" dirty="0">
                <a:highlight>
                  <a:srgbClr val="FFFF00"/>
                </a:highlight>
              </a:rPr>
              <a:t>by batching inputs for different positions</a:t>
            </a:r>
          </a:p>
          <a:p>
            <a:pPr lvl="1"/>
            <a:r>
              <a:rPr lang="en-US" dirty="0"/>
              <a:t>Decoding</a:t>
            </a:r>
          </a:p>
          <a:p>
            <a:pPr lvl="2"/>
            <a:r>
              <a:rPr lang="en-US" dirty="0"/>
              <a:t>generate the response, word by word</a:t>
            </a:r>
          </a:p>
          <a:p>
            <a:pPr lvl="2"/>
            <a:r>
              <a:rPr lang="en-US" dirty="0"/>
              <a:t>this is </a:t>
            </a:r>
            <a:r>
              <a:rPr lang="en-US" b="1" dirty="0"/>
              <a:t>sequential</a:t>
            </a:r>
            <a:r>
              <a:rPr lang="en-US" dirty="0"/>
              <a:t> and uses the keys-values from encoding/prefilling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DC2C2-289E-D240-C2B7-794C01D58C88}"/>
              </a:ext>
            </a:extLst>
          </p:cNvPr>
          <p:cNvSpPr/>
          <p:nvPr/>
        </p:nvSpPr>
        <p:spPr>
          <a:xfrm>
            <a:off x="7988300" y="2614999"/>
            <a:ext cx="939800" cy="595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EB8787F-0539-6ADB-9F56-F29E6B242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60" y="1799941"/>
            <a:ext cx="7653020" cy="2677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47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7342-267E-25E2-9FD6-140920C0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2817E4-E00B-A1AC-B0E2-A83DD8D75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1650159"/>
            <a:ext cx="6233160" cy="4915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C9D123-44EB-0273-8AF8-03905FC4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5729B4-8319-A73A-138F-62FDB83BACA4}"/>
              </a:ext>
            </a:extLst>
          </p:cNvPr>
          <p:cNvSpPr txBox="1"/>
          <p:nvPr/>
        </p:nvSpPr>
        <p:spPr>
          <a:xfrm>
            <a:off x="5229532" y="2015926"/>
            <a:ext cx="3579188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b: batch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>
                <a:highlight>
                  <a:srgbClr val="FFFF00"/>
                </a:highlight>
              </a:rPr>
              <a:t>n: different positions in seq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d: token encoding dim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m:  #things to maybe attend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h: #heads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k: dim of queries and keys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365046-C74D-AEC5-35E3-C39DEE5F7303}"/>
              </a:ext>
            </a:extLst>
          </p:cNvPr>
          <p:cNvSpPr txBox="1"/>
          <p:nvPr/>
        </p:nvSpPr>
        <p:spPr>
          <a:xfrm>
            <a:off x="519430" y="1154013"/>
            <a:ext cx="8439478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Decoding: </a:t>
            </a:r>
            <a:r>
              <a:rPr lang="en-US" dirty="0">
                <a:highlight>
                  <a:srgbClr val="FFFF00"/>
                </a:highlight>
              </a:rPr>
              <a:t>extend</a:t>
            </a:r>
            <a:r>
              <a:rPr lang="en-US" dirty="0"/>
              <a:t> KY cache K and 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FDC50-1414-A541-AD15-604F4EBC11B2}"/>
              </a:ext>
            </a:extLst>
          </p:cNvPr>
          <p:cNvSpPr txBox="1"/>
          <p:nvPr/>
        </p:nvSpPr>
        <p:spPr>
          <a:xfrm>
            <a:off x="5325593" y="4197450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construct the query q for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B1C209-129F-12D0-3AF1-5336B1045146}"/>
              </a:ext>
            </a:extLst>
          </p:cNvPr>
          <p:cNvSpPr txBox="1"/>
          <p:nvPr/>
        </p:nvSpPr>
        <p:spPr>
          <a:xfrm>
            <a:off x="5447513" y="4730851"/>
            <a:ext cx="3361207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compute new keys and values and</a:t>
            </a:r>
          </a:p>
          <a:p>
            <a:r>
              <a:rPr lang="en-US" dirty="0"/>
              <a:t>update key-value cache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419B3F-4030-F979-B4A1-60D3F75EF521}"/>
              </a:ext>
            </a:extLst>
          </p:cNvPr>
          <p:cNvSpPr txBox="1"/>
          <p:nvPr/>
        </p:nvSpPr>
        <p:spPr>
          <a:xfrm>
            <a:off x="5440680" y="559101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attn-weighted sum of values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B92A5B-308F-7C8F-70AF-DFD2606DC344}"/>
              </a:ext>
            </a:extLst>
          </p:cNvPr>
          <p:cNvSpPr txBox="1"/>
          <p:nvPr/>
        </p:nvSpPr>
        <p:spPr>
          <a:xfrm>
            <a:off x="5593080" y="603297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project back to dimension of x</a:t>
            </a:r>
          </a:p>
        </p:txBody>
      </p:sp>
    </p:spTree>
    <p:extLst>
      <p:ext uri="{BB962C8B-B14F-4D97-AF65-F5344CB8AC3E}">
        <p14:creationId xmlns:p14="http://schemas.microsoft.com/office/powerpoint/2010/main" val="1882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1C876-1EE8-8AE2-6543-C613D023C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D6D2E1-78FB-5BF6-A892-A2E3A99B5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1650159"/>
            <a:ext cx="6233160" cy="4915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F2CF5A-9606-8E3C-C7A9-B23DEE351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18267-04D0-07F2-83AB-7C326F904368}"/>
              </a:ext>
            </a:extLst>
          </p:cNvPr>
          <p:cNvSpPr txBox="1"/>
          <p:nvPr/>
        </p:nvSpPr>
        <p:spPr>
          <a:xfrm>
            <a:off x="519430" y="1154013"/>
            <a:ext cx="8439478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Decoding: extend KY cache K and 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638402-E988-A9DF-E8C3-101ED7020464}"/>
              </a:ext>
            </a:extLst>
          </p:cNvPr>
          <p:cNvSpPr txBox="1"/>
          <p:nvPr/>
        </p:nvSpPr>
        <p:spPr>
          <a:xfrm>
            <a:off x="5325593" y="4197450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construct the query q for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B0D2C-C93D-E37F-74BF-C018500FD24D}"/>
              </a:ext>
            </a:extLst>
          </p:cNvPr>
          <p:cNvSpPr txBox="1"/>
          <p:nvPr/>
        </p:nvSpPr>
        <p:spPr>
          <a:xfrm>
            <a:off x="5447513" y="4730851"/>
            <a:ext cx="3361207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compute new keys and values and</a:t>
            </a:r>
          </a:p>
          <a:p>
            <a:r>
              <a:rPr lang="en-US" dirty="0"/>
              <a:t>update key-value cache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CA8C59-EFE5-C2D4-4CA2-7715059ADE47}"/>
              </a:ext>
            </a:extLst>
          </p:cNvPr>
          <p:cNvSpPr txBox="1"/>
          <p:nvPr/>
        </p:nvSpPr>
        <p:spPr>
          <a:xfrm>
            <a:off x="5440680" y="559101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attn-weighted sum of values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1D962E-BB71-40A0-0A4A-9A1069072C22}"/>
              </a:ext>
            </a:extLst>
          </p:cNvPr>
          <p:cNvSpPr txBox="1"/>
          <p:nvPr/>
        </p:nvSpPr>
        <p:spPr>
          <a:xfrm>
            <a:off x="5593080" y="6032978"/>
            <a:ext cx="357918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project back to dimension of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687063-20FE-58F9-F047-E7D16053A483}"/>
                  </a:ext>
                </a:extLst>
              </p:cNvPr>
              <p:cNvSpPr txBox="1"/>
              <p:nvPr/>
            </p:nvSpPr>
            <p:spPr>
              <a:xfrm>
                <a:off x="5262392" y="2564899"/>
                <a:ext cx="2776708" cy="62427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Memory/FLOPS: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687063-20FE-58F9-F047-E7D16053A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2392" y="2564899"/>
                <a:ext cx="2776708" cy="6242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0E077B7-4D84-36B2-AB26-0BF39D50B254}"/>
              </a:ext>
            </a:extLst>
          </p:cNvPr>
          <p:cNvSpPr txBox="1"/>
          <p:nvPr/>
        </p:nvSpPr>
        <p:spPr>
          <a:xfrm>
            <a:off x="5262392" y="1771045"/>
            <a:ext cx="2776708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More memory transfer</a:t>
            </a:r>
          </a:p>
          <a:p>
            <a:r>
              <a:rPr lang="en-US" dirty="0"/>
              <a:t>Less compute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37F36-79B7-B7E3-29EB-C04CBF32668C}"/>
              </a:ext>
            </a:extLst>
          </p:cNvPr>
          <p:cNvSpPr txBox="1"/>
          <p:nvPr/>
        </p:nvSpPr>
        <p:spPr>
          <a:xfrm>
            <a:off x="5652526" y="3296006"/>
            <a:ext cx="2973314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is not small if n is large … which it is for RAG/</a:t>
            </a:r>
            <a:r>
              <a:rPr lang="en-US" dirty="0" err="1"/>
              <a:t>FiD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19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C9308-C924-2859-3C0C-90A3E801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C9AF1-F8BD-9DC9-D05B-F510FC19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in Decoder (</a:t>
            </a:r>
            <a:r>
              <a:rPr lang="en-US" dirty="0" err="1"/>
              <a:t>FiD</a:t>
            </a:r>
            <a:r>
              <a:rPr lang="en-US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5E2074-48FA-04D6-D860-0D9D6A8CBE88}"/>
              </a:ext>
            </a:extLst>
          </p:cNvPr>
          <p:cNvSpPr txBox="1"/>
          <p:nvPr/>
        </p:nvSpPr>
        <p:spPr>
          <a:xfrm>
            <a:off x="245625" y="1365892"/>
            <a:ext cx="362204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FLOP analysis:  Encoder is 6x as expensive as decoder!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BD54D49-D867-71E4-173B-CD2425F49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870" y="1368799"/>
            <a:ext cx="4079876" cy="2933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236D87-3E72-30A5-C52A-4778A270136B}"/>
              </a:ext>
            </a:extLst>
          </p:cNvPr>
          <p:cNvSpPr txBox="1"/>
          <p:nvPr/>
        </p:nvSpPr>
        <p:spPr>
          <a:xfrm>
            <a:off x="543929" y="3979587"/>
            <a:ext cx="3177832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…but at inference time decoding is slowest.  Why?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24F6E-3207-C85D-173F-4D91250E0101}"/>
              </a:ext>
            </a:extLst>
          </p:cNvPr>
          <p:cNvSpPr txBox="1"/>
          <p:nvPr/>
        </p:nvSpPr>
        <p:spPr>
          <a:xfrm>
            <a:off x="6714329" y="4909787"/>
            <a:ext cx="2310715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What’s the fix?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E7EEB-F941-B520-9972-916B29180D47}"/>
              </a:ext>
            </a:extLst>
          </p:cNvPr>
          <p:cNvSpPr txBox="1"/>
          <p:nvPr/>
        </p:nvSpPr>
        <p:spPr>
          <a:xfrm>
            <a:off x="543929" y="2164080"/>
            <a:ext cx="3177832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Predicted by counting FLOPS for all the </a:t>
            </a:r>
            <a:r>
              <a:rPr lang="en-US" dirty="0" err="1"/>
              <a:t>matmuls</a:t>
            </a:r>
            <a:r>
              <a:rPr lang="en-US" dirty="0"/>
              <a:t> and assuming </a:t>
            </a:r>
            <a:r>
              <a:rPr lang="en-US" sz="1800" i="1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800" i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  <a:t> &lt;&lt; n</a:t>
            </a:r>
            <a:r>
              <a:rPr lang="en-US" sz="1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i="1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800" i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  <a:t> &lt;&lt; 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800" i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tokens in decoder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tokens in all encoder input</a:t>
            </a:r>
            <a:endParaRPr lang="en-US" sz="1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C23CF-076B-CAED-CF87-77FD89900AF4}"/>
              </a:ext>
            </a:extLst>
          </p:cNvPr>
          <p:cNvSpPr txBox="1"/>
          <p:nvPr/>
        </p:nvSpPr>
        <p:spPr>
          <a:xfrm>
            <a:off x="543929" y="4880972"/>
            <a:ext cx="317783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Predicted by memory/FLOPs: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044C7C-7E4B-68C5-B80C-EB2EC2698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04" y="5597191"/>
            <a:ext cx="1866900" cy="647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5CC9D2-81D6-5999-D42F-46BDA6068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203" y="5518686"/>
            <a:ext cx="1790700" cy="673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AEB9CC-9323-1F1B-69E5-05D34125B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098" y="5505358"/>
            <a:ext cx="2032000" cy="673100"/>
          </a:xfrm>
          <a:prstGeom prst="rect">
            <a:avLst/>
          </a:prstGeom>
        </p:spPr>
      </p:pic>
      <p:sp>
        <p:nvSpPr>
          <p:cNvPr id="12" name="Right Brace 11">
            <a:extLst>
              <a:ext uri="{FF2B5EF4-FFF2-40B4-BE49-F238E27FC236}">
                <a16:creationId xmlns:a16="http://schemas.microsoft.com/office/drawing/2014/main" id="{C038DB20-C7B4-9156-045D-CFCC7CAB086B}"/>
              </a:ext>
            </a:extLst>
          </p:cNvPr>
          <p:cNvSpPr/>
          <p:nvPr/>
        </p:nvSpPr>
        <p:spPr>
          <a:xfrm rot="5400000">
            <a:off x="1379220" y="5627232"/>
            <a:ext cx="243840" cy="15087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2D087-05CA-F6D0-1D55-0F0FD5550CB7}"/>
              </a:ext>
            </a:extLst>
          </p:cNvPr>
          <p:cNvSpPr txBox="1"/>
          <p:nvPr/>
        </p:nvSpPr>
        <p:spPr>
          <a:xfrm>
            <a:off x="184682" y="6512452"/>
            <a:ext cx="257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Multilayer perceptron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113042C-C655-77DD-237B-D8428E33D308}"/>
              </a:ext>
            </a:extLst>
          </p:cNvPr>
          <p:cNvSpPr/>
          <p:nvPr/>
        </p:nvSpPr>
        <p:spPr>
          <a:xfrm rot="5400000">
            <a:off x="3598442" y="5627232"/>
            <a:ext cx="243840" cy="15087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1A6767-230C-2C9D-4B4D-D91D29737825}"/>
              </a:ext>
            </a:extLst>
          </p:cNvPr>
          <p:cNvSpPr txBox="1"/>
          <p:nvPr/>
        </p:nvSpPr>
        <p:spPr>
          <a:xfrm>
            <a:off x="2403904" y="6512452"/>
            <a:ext cx="257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self-attention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D71BCF3-C23B-5A3F-92F3-3C99542625B4}"/>
              </a:ext>
            </a:extLst>
          </p:cNvPr>
          <p:cNvSpPr/>
          <p:nvPr/>
        </p:nvSpPr>
        <p:spPr>
          <a:xfrm rot="5400000">
            <a:off x="5899682" y="5642472"/>
            <a:ext cx="243840" cy="15087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55A2E-3450-1088-D7B9-7964CA97D05B}"/>
              </a:ext>
            </a:extLst>
          </p:cNvPr>
          <p:cNvSpPr txBox="1"/>
          <p:nvPr/>
        </p:nvSpPr>
        <p:spPr>
          <a:xfrm>
            <a:off x="4705144" y="6527692"/>
            <a:ext cx="257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cross-attention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AEEFC3-1858-33D1-1771-818DF5791A75}"/>
              </a:ext>
            </a:extLst>
          </p:cNvPr>
          <p:cNvSpPr/>
          <p:nvPr/>
        </p:nvSpPr>
        <p:spPr>
          <a:xfrm>
            <a:off x="6294120" y="5505358"/>
            <a:ext cx="451382" cy="6864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8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83C51-131A-11E8-6E7E-3B53E778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EAFFA-F159-32C3-61EB-5DC3B7F3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in Decoder Optimized (</a:t>
            </a:r>
            <a:r>
              <a:rPr lang="en-US" dirty="0" err="1"/>
              <a:t>FiDO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31BBD-16C6-C0CD-2527-FA222C1C9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5801360" cy="479298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Speeding up performance:</a:t>
            </a:r>
          </a:p>
          <a:p>
            <a:pPr lvl="1"/>
            <a:r>
              <a:rPr lang="en-US" dirty="0"/>
              <a:t>Layer sparse attention (LSA): perform cross attention only on every K-</a:t>
            </a:r>
            <a:r>
              <a:rPr lang="en-US" dirty="0" err="1"/>
              <a:t>th</a:t>
            </a:r>
            <a:r>
              <a:rPr lang="en-US" dirty="0"/>
              <a:t> layer (K=6)</a:t>
            </a:r>
          </a:p>
          <a:p>
            <a:pPr lvl="2"/>
            <a:r>
              <a:rPr lang="en-US" dirty="0"/>
              <a:t>Load fewer key-value entries from encoder on avg</a:t>
            </a:r>
          </a:p>
          <a:p>
            <a:pPr lvl="1"/>
            <a:r>
              <a:rPr lang="en-US" dirty="0"/>
              <a:t>Multi-query attention (MQ)</a:t>
            </a:r>
          </a:p>
          <a:p>
            <a:pPr lvl="2"/>
            <a:r>
              <a:rPr lang="en-US" dirty="0"/>
              <a:t>Creates fewer key-value entries</a:t>
            </a:r>
          </a:p>
          <a:p>
            <a:r>
              <a:rPr lang="en-US" dirty="0"/>
              <a:t>Compensate for performance loss:</a:t>
            </a:r>
          </a:p>
          <a:p>
            <a:pPr lvl="1"/>
            <a:r>
              <a:rPr lang="en-US" dirty="0"/>
              <a:t>Scale the decoder up!</a:t>
            </a:r>
          </a:p>
          <a:p>
            <a:pPr lvl="2"/>
            <a:r>
              <a:rPr lang="en-US" dirty="0"/>
              <a:t>Use T5-XL decoder with T5-Base encoder,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8F198-2CEF-4766-462E-F5F3918E3652}"/>
              </a:ext>
            </a:extLst>
          </p:cNvPr>
          <p:cNvSpPr txBox="1"/>
          <p:nvPr/>
        </p:nvSpPr>
        <p:spPr>
          <a:xfrm>
            <a:off x="6781800" y="1630680"/>
            <a:ext cx="184404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7270A-542A-E4F7-0DEE-251F9D2E1A53}"/>
              </a:ext>
            </a:extLst>
          </p:cNvPr>
          <p:cNvSpPr txBox="1"/>
          <p:nvPr/>
        </p:nvSpPr>
        <p:spPr>
          <a:xfrm>
            <a:off x="6781800" y="3469124"/>
            <a:ext cx="184404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DA643-F74C-7F95-037A-EF9D8751B3F9}"/>
              </a:ext>
            </a:extLst>
          </p:cNvPr>
          <p:cNvSpPr txBox="1"/>
          <p:nvPr/>
        </p:nvSpPr>
        <p:spPr>
          <a:xfrm>
            <a:off x="6781800" y="4903013"/>
            <a:ext cx="184404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342230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166B8-282D-7046-6D18-902BD848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5AF3-2C5B-CE04-F380-4EB4793D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in Decoder Optimized (</a:t>
            </a:r>
            <a:r>
              <a:rPr lang="en-US" dirty="0" err="1"/>
              <a:t>FiDO</a:t>
            </a:r>
            <a:r>
              <a:rPr lang="en-US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4484F8-10CE-4781-36AE-A33572057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6962"/>
            <a:ext cx="9037320" cy="271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584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713F5-91B0-3AE6-C62F-38EAEFB11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D174-78F7-39C3-FCD7-BB664F23E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Fusion in Decoder Optimized (</a:t>
            </a:r>
            <a:r>
              <a:rPr lang="en-US" dirty="0" err="1"/>
              <a:t>FiDO</a:t>
            </a:r>
            <a:r>
              <a:rPr lang="en-US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CD5404-54C3-6A2F-1847-18C884F6D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92700"/>
            <a:ext cx="9076449" cy="391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199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01E6-2BFE-ACD6-EB21-8232211BB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52C0-172A-788A-9606-C7F473EF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LUMEN: 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C5A41-D96B-1E8E-AE43-604951E43152}"/>
              </a:ext>
            </a:extLst>
          </p:cNvPr>
          <p:cNvSpPr txBox="1"/>
          <p:nvPr/>
        </p:nvSpPr>
        <p:spPr>
          <a:xfrm>
            <a:off x="7572375" y="19431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6C816-DB4C-0190-C067-6EBBA44F1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09" y="2279560"/>
            <a:ext cx="8909959" cy="263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154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DDE25-E1E8-B845-886C-0048F801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2127-18CD-CB27-CD36-1D1B5C50D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LUMEN: 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C544D-7BA2-F6A7-D60A-323DB1747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4873368" cy="404031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An attractive seeming idea</a:t>
            </a:r>
          </a:p>
          <a:p>
            <a:pPr lvl="1"/>
            <a:r>
              <a:rPr lang="en-US" dirty="0"/>
              <a:t>Index every document in Wikipedia</a:t>
            </a:r>
          </a:p>
          <a:p>
            <a:pPr lvl="2"/>
            <a:r>
              <a:rPr lang="en-US" dirty="0"/>
              <a:t>with DPR, </a:t>
            </a:r>
            <a:r>
              <a:rPr lang="en-US" dirty="0" err="1"/>
              <a:t>Contreiver</a:t>
            </a:r>
            <a:r>
              <a:rPr lang="en-US" dirty="0"/>
              <a:t>, …</a:t>
            </a:r>
          </a:p>
          <a:p>
            <a:pPr lvl="1"/>
            <a:r>
              <a:rPr lang="en-US" dirty="0"/>
              <a:t>Store the BERT embeddings for every doc along with its vector index</a:t>
            </a:r>
          </a:p>
          <a:p>
            <a:pPr lvl="1"/>
            <a:r>
              <a:rPr lang="en-US" dirty="0"/>
              <a:t>Given a question</a:t>
            </a:r>
          </a:p>
          <a:p>
            <a:pPr lvl="2"/>
            <a:r>
              <a:rPr lang="en-US" dirty="0"/>
              <a:t>retrieve the first K doc embeddings</a:t>
            </a:r>
          </a:p>
          <a:p>
            <a:pPr lvl="2"/>
            <a:r>
              <a:rPr lang="en-US" dirty="0"/>
              <a:t>use these together with the question to generate an answer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2AA48-4332-66A0-32D0-2FD3E5536E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22" b="7783"/>
          <a:stretch/>
        </p:blipFill>
        <p:spPr>
          <a:xfrm>
            <a:off x="5937489" y="1203409"/>
            <a:ext cx="1643585" cy="156898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D506AEC-13F8-1CDA-3A4D-07A7642B64D1}"/>
              </a:ext>
            </a:extLst>
          </p:cNvPr>
          <p:cNvGrpSpPr/>
          <p:nvPr/>
        </p:nvGrpSpPr>
        <p:grpSpPr>
          <a:xfrm>
            <a:off x="5276596" y="3001898"/>
            <a:ext cx="3503484" cy="2027921"/>
            <a:chOff x="5424616" y="4188940"/>
            <a:chExt cx="3503484" cy="202792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B570CA3-BC19-BE78-9040-37AD428E1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2043" y="4387335"/>
              <a:ext cx="3238500" cy="4064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A27B2B4-529A-2534-7EFE-F49A38391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2043" y="4842475"/>
              <a:ext cx="3238500" cy="4064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C7D262-AF07-11C9-F6DE-146B021B1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2043" y="5297615"/>
              <a:ext cx="3238500" cy="406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A3C550-D242-84B3-E130-01E88AF4148D}"/>
                </a:ext>
              </a:extLst>
            </p:cNvPr>
            <p:cNvSpPr txBox="1"/>
            <p:nvPr/>
          </p:nvSpPr>
          <p:spPr>
            <a:xfrm>
              <a:off x="7068064" y="5810462"/>
              <a:ext cx="383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A16F4FA-05CC-F8BF-0A15-E2028550BBD8}"/>
                </a:ext>
              </a:extLst>
            </p:cNvPr>
            <p:cNvSpPr/>
            <p:nvPr/>
          </p:nvSpPr>
          <p:spPr>
            <a:xfrm>
              <a:off x="5424616" y="4188940"/>
              <a:ext cx="3503484" cy="2027921"/>
            </a:xfrm>
            <a:prstGeom prst="round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D16886C-36AF-8683-EC2C-377AC37B7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00" y="5259321"/>
            <a:ext cx="8648700" cy="14414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ABAE22A-DD6C-C993-8826-2C12D0748451}"/>
              </a:ext>
            </a:extLst>
          </p:cNvPr>
          <p:cNvSpPr/>
          <p:nvPr/>
        </p:nvSpPr>
        <p:spPr>
          <a:xfrm>
            <a:off x="506627" y="5560541"/>
            <a:ext cx="914400" cy="160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9F0CB4-D643-6A37-44CF-D3BFB27EDB83}"/>
              </a:ext>
            </a:extLst>
          </p:cNvPr>
          <p:cNvSpPr/>
          <p:nvPr/>
        </p:nvSpPr>
        <p:spPr>
          <a:xfrm>
            <a:off x="523100" y="5898296"/>
            <a:ext cx="914400" cy="160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683487-1DD8-38E8-2CB4-ED98F85D3F79}"/>
              </a:ext>
            </a:extLst>
          </p:cNvPr>
          <p:cNvSpPr/>
          <p:nvPr/>
        </p:nvSpPr>
        <p:spPr>
          <a:xfrm>
            <a:off x="440717" y="6384335"/>
            <a:ext cx="914400" cy="160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2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3AFF-0919-D6E1-8908-082EA011A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75D0-2C41-6C97-721C-31110E59F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LUMEN: 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443181-5286-34BF-25B6-CBBC1551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09" t="6038"/>
          <a:stretch/>
        </p:blipFill>
        <p:spPr>
          <a:xfrm>
            <a:off x="3739292" y="5333998"/>
            <a:ext cx="5404708" cy="13544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AEDEC0-0C0C-7580-198C-51D2C8C621BA}"/>
              </a:ext>
            </a:extLst>
          </p:cNvPr>
          <p:cNvSpPr txBox="1"/>
          <p:nvPr/>
        </p:nvSpPr>
        <p:spPr>
          <a:xfrm>
            <a:off x="170716" y="4219165"/>
            <a:ext cx="864973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1400" dirty="0"/>
              <a:t>question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73FF97-3FB0-80DC-697B-2F5F02CF953C}"/>
              </a:ext>
            </a:extLst>
          </p:cNvPr>
          <p:cNvGrpSpPr/>
          <p:nvPr/>
        </p:nvGrpSpPr>
        <p:grpSpPr>
          <a:xfrm>
            <a:off x="1439273" y="1401268"/>
            <a:ext cx="3025627" cy="2080850"/>
            <a:chOff x="5424616" y="4188940"/>
            <a:chExt cx="3503484" cy="202792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C370F4-5429-18B2-EFD9-C7AFC0692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2043" y="4387335"/>
              <a:ext cx="3238500" cy="4064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5E25359-279C-97A4-E50F-64A5428A9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2043" y="4842475"/>
              <a:ext cx="3238500" cy="4064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4A92C1-0B1A-A683-FCC5-12863FDF4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2043" y="5297615"/>
              <a:ext cx="3238500" cy="4064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3E623D-2576-931A-8BD9-83C52D2467C4}"/>
                </a:ext>
              </a:extLst>
            </p:cNvPr>
            <p:cNvSpPr txBox="1"/>
            <p:nvPr/>
          </p:nvSpPr>
          <p:spPr>
            <a:xfrm>
              <a:off x="7068064" y="5810462"/>
              <a:ext cx="383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80CE846A-3B54-C139-5B68-D4D3BEDEF0BD}"/>
                </a:ext>
              </a:extLst>
            </p:cNvPr>
            <p:cNvSpPr/>
            <p:nvPr/>
          </p:nvSpPr>
          <p:spPr>
            <a:xfrm>
              <a:off x="5424616" y="4188940"/>
              <a:ext cx="3503484" cy="2027921"/>
            </a:xfrm>
            <a:prstGeom prst="round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9F65CA45-B38F-65DE-5297-C670A1257A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36" t="14122" r="56777" b="64297"/>
          <a:stretch/>
        </p:blipFill>
        <p:spPr>
          <a:xfrm>
            <a:off x="1206903" y="4215855"/>
            <a:ext cx="1495168" cy="311087"/>
          </a:xfrm>
          <a:prstGeom prst="rect">
            <a:avLst/>
          </a:prstGeom>
        </p:spPr>
      </p:pic>
      <p:sp>
        <p:nvSpPr>
          <p:cNvPr id="27" name="Right Arrow 26">
            <a:extLst>
              <a:ext uri="{FF2B5EF4-FFF2-40B4-BE49-F238E27FC236}">
                <a16:creationId xmlns:a16="http://schemas.microsoft.com/office/drawing/2014/main" id="{3D29EA62-298F-9338-9D9B-A09C3B0BA659}"/>
              </a:ext>
            </a:extLst>
          </p:cNvPr>
          <p:cNvSpPr/>
          <p:nvPr/>
        </p:nvSpPr>
        <p:spPr>
          <a:xfrm rot="19067834">
            <a:off x="2352035" y="3627592"/>
            <a:ext cx="1013254" cy="33687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lookup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A3C79F2-D88E-96E0-BE63-007B2BB876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09" t="38310" r="57248"/>
          <a:stretch/>
        </p:blipFill>
        <p:spPr>
          <a:xfrm>
            <a:off x="4011476" y="3896128"/>
            <a:ext cx="453424" cy="88923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D01FCE-F997-B628-5450-CD62C011D292}"/>
              </a:ext>
            </a:extLst>
          </p:cNvPr>
          <p:cNvCxnSpPr/>
          <p:nvPr/>
        </p:nvCxnSpPr>
        <p:spPr>
          <a:xfrm>
            <a:off x="3509319" y="3583459"/>
            <a:ext cx="502157" cy="312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540BCFD-50B8-AA77-F971-783B3F4FAF2B}"/>
              </a:ext>
            </a:extLst>
          </p:cNvPr>
          <p:cNvCxnSpPr/>
          <p:nvPr/>
        </p:nvCxnSpPr>
        <p:spPr>
          <a:xfrm flipH="1">
            <a:off x="4011476" y="4903348"/>
            <a:ext cx="128038" cy="349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9364217-6BEC-B24C-3D9C-1A469B89ED04}"/>
              </a:ext>
            </a:extLst>
          </p:cNvPr>
          <p:cNvCxnSpPr/>
          <p:nvPr/>
        </p:nvCxnSpPr>
        <p:spPr>
          <a:xfrm>
            <a:off x="2594919" y="4670854"/>
            <a:ext cx="1144373" cy="582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50A828F8-B1FE-3A29-6181-813EEF9D4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0928" y="1740801"/>
            <a:ext cx="3313845" cy="3512357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Store the BERT embeddings for every doc along with its vector index</a:t>
            </a:r>
          </a:p>
          <a:p>
            <a:r>
              <a:rPr lang="en-US" dirty="0"/>
              <a:t>Given a question</a:t>
            </a:r>
          </a:p>
          <a:p>
            <a:pPr lvl="1"/>
            <a:r>
              <a:rPr lang="en-US" dirty="0"/>
              <a:t>retrieve the first K doc embeddings</a:t>
            </a:r>
          </a:p>
          <a:p>
            <a:pPr lvl="1"/>
            <a:r>
              <a:rPr lang="en-US" dirty="0"/>
              <a:t>use these together with the question to generate an answer</a:t>
            </a:r>
          </a:p>
          <a:p>
            <a:endParaRPr lang="en-US" dirty="0"/>
          </a:p>
          <a:p>
            <a:r>
              <a:rPr lang="en-US" dirty="0"/>
              <a:t>Problem: it doesn’t work well to encode documents </a:t>
            </a:r>
            <a:r>
              <a:rPr lang="en-US" b="1" dirty="0"/>
              <a:t>independently</a:t>
            </a:r>
            <a:r>
              <a:rPr lang="en-US" dirty="0"/>
              <a:t> of the </a:t>
            </a:r>
            <a:r>
              <a:rPr lang="en-US" b="1" dirty="0"/>
              <a:t>question</a:t>
            </a:r>
            <a:r>
              <a:rPr lang="en-US" dirty="0"/>
              <a:t> for </a:t>
            </a:r>
            <a:r>
              <a:rPr lang="en-US" b="1" dirty="0"/>
              <a:t>generation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C93C366-EC69-C0ED-0D34-71281BB4E872}"/>
              </a:ext>
            </a:extLst>
          </p:cNvPr>
          <p:cNvSpPr/>
          <p:nvPr/>
        </p:nvSpPr>
        <p:spPr>
          <a:xfrm>
            <a:off x="3739292" y="5333998"/>
            <a:ext cx="498896" cy="13544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9" grpId="0" uiExpand="1" build="p"/>
      <p:bldP spid="4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583F-2AA5-8444-B472-23DC3897A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9421-384E-CF00-F5E1-35DCAE155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LUMEN: 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C95347-BBA9-1CD8-8A29-03768977D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1" y="1529589"/>
            <a:ext cx="9050685" cy="2955914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369FD57E-2066-F9A2-EC7E-7CA3E8E6845A}"/>
              </a:ext>
            </a:extLst>
          </p:cNvPr>
          <p:cNvSpPr/>
          <p:nvPr/>
        </p:nvSpPr>
        <p:spPr>
          <a:xfrm rot="5400000">
            <a:off x="2497438" y="2459134"/>
            <a:ext cx="481915" cy="491799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8CEC8-E73B-34A8-64AE-E4108EDA2DA9}"/>
              </a:ext>
            </a:extLst>
          </p:cNvPr>
          <p:cNvSpPr txBox="1"/>
          <p:nvPr/>
        </p:nvSpPr>
        <p:spPr>
          <a:xfrm>
            <a:off x="1437774" y="5342178"/>
            <a:ext cx="2693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N-K layers of the </a:t>
            </a:r>
            <a:r>
              <a:rPr lang="en-US" dirty="0" err="1"/>
              <a:t>FiD</a:t>
            </a:r>
            <a:r>
              <a:rPr lang="en-US" dirty="0"/>
              <a:t> encoder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5270F8B-60A9-910A-E861-84481BF0FA44}"/>
              </a:ext>
            </a:extLst>
          </p:cNvPr>
          <p:cNvSpPr/>
          <p:nvPr/>
        </p:nvSpPr>
        <p:spPr>
          <a:xfrm rot="5400000">
            <a:off x="5922046" y="4253884"/>
            <a:ext cx="352027" cy="11986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77F905-4F19-2787-53FC-99A2903AF23C}"/>
              </a:ext>
            </a:extLst>
          </p:cNvPr>
          <p:cNvSpPr txBox="1"/>
          <p:nvPr/>
        </p:nvSpPr>
        <p:spPr>
          <a:xfrm>
            <a:off x="5012454" y="5350757"/>
            <a:ext cx="2059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last K layers of the </a:t>
            </a:r>
            <a:r>
              <a:rPr lang="en-US" dirty="0" err="1"/>
              <a:t>FiD</a:t>
            </a:r>
            <a:r>
              <a:rPr lang="en-US" dirty="0"/>
              <a:t> encoder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7F56A9A0-82A9-DA41-1BE5-F80515EAFDAF}"/>
              </a:ext>
            </a:extLst>
          </p:cNvPr>
          <p:cNvSpPr/>
          <p:nvPr/>
        </p:nvSpPr>
        <p:spPr>
          <a:xfrm rot="5400000">
            <a:off x="8136305" y="4313266"/>
            <a:ext cx="352027" cy="10798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EB6D6D-9EB3-4576-B1CD-140B31EFACCB}"/>
              </a:ext>
            </a:extLst>
          </p:cNvPr>
          <p:cNvSpPr txBox="1"/>
          <p:nvPr/>
        </p:nvSpPr>
        <p:spPr>
          <a:xfrm>
            <a:off x="7414054" y="5325760"/>
            <a:ext cx="164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FiD</a:t>
            </a:r>
            <a:r>
              <a:rPr lang="en-US" dirty="0"/>
              <a:t> decoder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13391F-623E-F59C-1C35-D8BAEF3B12AD}"/>
              </a:ext>
            </a:extLst>
          </p:cNvPr>
          <p:cNvSpPr txBox="1"/>
          <p:nvPr/>
        </p:nvSpPr>
        <p:spPr>
          <a:xfrm>
            <a:off x="596848" y="6025116"/>
            <a:ext cx="3765087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Passages are encoded and stored off-line for every document</a:t>
            </a:r>
          </a:p>
        </p:txBody>
      </p:sp>
    </p:spTree>
    <p:extLst>
      <p:ext uri="{BB962C8B-B14F-4D97-AF65-F5344CB8AC3E}">
        <p14:creationId xmlns:p14="http://schemas.microsoft.com/office/powerpoint/2010/main" val="127918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5" grpId="0"/>
      <p:bldP spid="1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E1085-EDFE-2180-8DD7-7498A83F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LUMEN: 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9BAD7-01FB-189C-BE91-7ACD81775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04530"/>
            <a:ext cx="9247923" cy="29944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D9E9F8-5D6D-68E7-79BA-F9E9B3F03562}"/>
              </a:ext>
            </a:extLst>
          </p:cNvPr>
          <p:cNvSpPr txBox="1"/>
          <p:nvPr/>
        </p:nvSpPr>
        <p:spPr>
          <a:xfrm>
            <a:off x="1569308" y="4905632"/>
            <a:ext cx="628958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As you scale up you can do a larger fraction of the work off-line</a:t>
            </a:r>
          </a:p>
        </p:txBody>
      </p:sp>
    </p:spTree>
    <p:extLst>
      <p:ext uri="{BB962C8B-B14F-4D97-AF65-F5344CB8AC3E}">
        <p14:creationId xmlns:p14="http://schemas.microsoft.com/office/powerpoint/2010/main" val="352139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2CD07-91CE-D7DE-3233-90D7D259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0096-66D3-3288-13A2-4B31DEEF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LUMEN: 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5840C-38AF-EE41-4509-CCA8AC9AB20A}"/>
              </a:ext>
            </a:extLst>
          </p:cNvPr>
          <p:cNvSpPr txBox="1"/>
          <p:nvPr/>
        </p:nvSpPr>
        <p:spPr>
          <a:xfrm>
            <a:off x="1186248" y="4465601"/>
            <a:ext cx="71545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Using 2/3 offline and 1/3 live is better than doing everything off-line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0CEAA-E4A3-59B8-F571-A178E8230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83036"/>
            <a:ext cx="7772400" cy="266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5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9AAE-123E-B01D-9B88-DBAF7A5D3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25444-960B-4A23-FC16-F51590E4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LUMEN: 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658CA-DDA3-4955-F411-5CA255353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5" y="1365930"/>
            <a:ext cx="8951480" cy="2958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774073-330E-566F-768B-BF2A26EB3D3F}"/>
              </a:ext>
            </a:extLst>
          </p:cNvPr>
          <p:cNvSpPr txBox="1"/>
          <p:nvPr/>
        </p:nvSpPr>
        <p:spPr>
          <a:xfrm>
            <a:off x="746124" y="5140765"/>
            <a:ext cx="768590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As you scale up there are larger benefits from doing the off-line computation </a:t>
            </a:r>
          </a:p>
        </p:txBody>
      </p:sp>
    </p:spTree>
    <p:extLst>
      <p:ext uri="{BB962C8B-B14F-4D97-AF65-F5344CB8AC3E}">
        <p14:creationId xmlns:p14="http://schemas.microsoft.com/office/powerpoint/2010/main" val="123889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D2621-0186-6380-1E6F-1798A23D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9DF2-1053-E03D-684A-1C2D987E5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GLIMMER: LUMEN with reranking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0E603-94C6-5C0A-CA76-0A42C812E508}"/>
              </a:ext>
            </a:extLst>
          </p:cNvPr>
          <p:cNvSpPr txBox="1"/>
          <p:nvPr/>
        </p:nvSpPr>
        <p:spPr>
          <a:xfrm>
            <a:off x="7572375" y="19431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048A4-2A94-F1D4-5104-2E33996CC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77294"/>
            <a:ext cx="7772400" cy="170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225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4FD63-E587-4CFF-EE6F-413F0ACC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8C5B-664C-D645-3BE4-43D18570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39" y="141068"/>
            <a:ext cx="4476554" cy="804862"/>
          </a:xfrm>
        </p:spPr>
        <p:txBody>
          <a:bodyPr>
            <a:noAutofit/>
          </a:bodyPr>
          <a:lstStyle/>
          <a:p>
            <a:r>
              <a:rPr lang="en-US" sz="3200" dirty="0"/>
              <a:t>Recap: Cross-Encoders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742D8-4123-4FD1-0CF1-AD2FAA776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" r="10365"/>
          <a:stretch/>
        </p:blipFill>
        <p:spPr>
          <a:xfrm>
            <a:off x="728663" y="1096962"/>
            <a:ext cx="3287381" cy="2659868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C0813B-2B24-3E6A-4234-6006DE61C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4" y="3955610"/>
            <a:ext cx="7772400" cy="2330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EF10D5-AD0F-06E9-11C7-86E0FF6AE7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70" r="9522" b="19412"/>
          <a:stretch/>
        </p:blipFill>
        <p:spPr>
          <a:xfrm>
            <a:off x="4603750" y="1096962"/>
            <a:ext cx="3886200" cy="2659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3BF1A0-0EB3-93B9-3A0D-D30166A780E7}"/>
              </a:ext>
            </a:extLst>
          </p:cNvPr>
          <p:cNvSpPr txBox="1"/>
          <p:nvPr/>
        </p:nvSpPr>
        <p:spPr>
          <a:xfrm>
            <a:off x="5592473" y="3756830"/>
            <a:ext cx="8511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F4BCDD-AFC6-F562-F867-07CECFDBD186}"/>
              </a:ext>
            </a:extLst>
          </p:cNvPr>
          <p:cNvSpPr txBox="1"/>
          <p:nvPr/>
        </p:nvSpPr>
        <p:spPr>
          <a:xfrm>
            <a:off x="6979875" y="3770944"/>
            <a:ext cx="151007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i-th</a:t>
            </a:r>
            <a:r>
              <a:rPr lang="en-US" dirty="0"/>
              <a:t> candidate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9BFDD2-4729-015D-51BD-BEEFCCBE716B}"/>
              </a:ext>
            </a:extLst>
          </p:cNvPr>
          <p:cNvSpPr txBox="1"/>
          <p:nvPr/>
        </p:nvSpPr>
        <p:spPr>
          <a:xfrm>
            <a:off x="4755954" y="4837925"/>
            <a:ext cx="1300161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c2, …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254757-4A36-589C-4ABD-BAEE6195C684}"/>
              </a:ext>
            </a:extLst>
          </p:cNvPr>
          <p:cNvCxnSpPr/>
          <p:nvPr/>
        </p:nvCxnSpPr>
        <p:spPr>
          <a:xfrm flipV="1">
            <a:off x="2671763" y="4257675"/>
            <a:ext cx="2920710" cy="985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9F947C-6477-ECEE-0D80-B5D21BD9E85D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056115" y="4324942"/>
            <a:ext cx="1746264" cy="697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Up Arrow 17">
            <a:extLst>
              <a:ext uri="{FF2B5EF4-FFF2-40B4-BE49-F238E27FC236}">
                <a16:creationId xmlns:a16="http://schemas.microsoft.com/office/drawing/2014/main" id="{06493D06-F250-2991-B113-52DB1C4FDDEE}"/>
              </a:ext>
            </a:extLst>
          </p:cNvPr>
          <p:cNvSpPr/>
          <p:nvPr/>
        </p:nvSpPr>
        <p:spPr>
          <a:xfrm>
            <a:off x="4956508" y="931636"/>
            <a:ext cx="635965" cy="528637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A5788A-54DB-830D-C7C2-4935E98865A9}"/>
              </a:ext>
            </a:extLst>
          </p:cNvPr>
          <p:cNvSpPr txBox="1"/>
          <p:nvPr/>
        </p:nvSpPr>
        <p:spPr>
          <a:xfrm>
            <a:off x="5036775" y="498232"/>
            <a:ext cx="369288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relevance of </a:t>
            </a:r>
            <a:r>
              <a:rPr lang="en-US" dirty="0" err="1"/>
              <a:t>i-th</a:t>
            </a:r>
            <a:r>
              <a:rPr lang="en-US" dirty="0"/>
              <a:t> candidate to query</a:t>
            </a:r>
          </a:p>
        </p:txBody>
      </p:sp>
    </p:spTree>
    <p:extLst>
      <p:ext uri="{BB962C8B-B14F-4D97-AF65-F5344CB8AC3E}">
        <p14:creationId xmlns:p14="http://schemas.microsoft.com/office/powerpoint/2010/main" val="10456727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4E706-EE57-D07F-4BE8-3FCD3567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EA29-D71A-0517-768A-3745F217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LUMEN=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1B2BF6-734C-54EC-89B4-0BB2D5D6F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87" y="1275172"/>
            <a:ext cx="7530070" cy="2459288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926C25F4-EDE8-D689-E6D9-ECEDD96C7619}"/>
              </a:ext>
            </a:extLst>
          </p:cNvPr>
          <p:cNvSpPr/>
          <p:nvPr/>
        </p:nvSpPr>
        <p:spPr>
          <a:xfrm rot="5400000">
            <a:off x="5733535" y="3653178"/>
            <a:ext cx="358346" cy="87733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5F4E1-2381-A0D4-F949-E2FDE96B63EF}"/>
              </a:ext>
            </a:extLst>
          </p:cNvPr>
          <p:cNvSpPr txBox="1"/>
          <p:nvPr/>
        </p:nvSpPr>
        <p:spPr>
          <a:xfrm>
            <a:off x="4083908" y="437618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Similar to cross-encoding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DB060-296D-C44C-3A80-3A18A62FB3EB}"/>
              </a:ext>
            </a:extLst>
          </p:cNvPr>
          <p:cNvSpPr txBox="1"/>
          <p:nvPr/>
        </p:nvSpPr>
        <p:spPr>
          <a:xfrm>
            <a:off x="4083908" y="4850694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Except for using LUMEN’s trick of pre-computing the first few layers of the encodings independently </a:t>
            </a:r>
          </a:p>
        </p:txBody>
      </p:sp>
    </p:spTree>
    <p:extLst>
      <p:ext uri="{BB962C8B-B14F-4D97-AF65-F5344CB8AC3E}">
        <p14:creationId xmlns:p14="http://schemas.microsoft.com/office/powerpoint/2010/main" val="193963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9F20-055E-BA9C-49C7-96903FB2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53322-E984-9DD7-EAD6-5F2A0BC0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GLIMMER=LUMEN with reranking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48C28-BCEC-F174-B925-F5A35689C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2" y="1274376"/>
            <a:ext cx="8633876" cy="3161700"/>
          </a:xfrm>
          <a:prstGeom prst="rect">
            <a:avLst/>
          </a:prstGeom>
        </p:spPr>
      </p:pic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80A1068F-38EC-9F38-4F42-930E2E07A31D}"/>
              </a:ext>
            </a:extLst>
          </p:cNvPr>
          <p:cNvSpPr/>
          <p:nvPr/>
        </p:nvSpPr>
        <p:spPr>
          <a:xfrm>
            <a:off x="5547360" y="4436076"/>
            <a:ext cx="2743200" cy="776004"/>
          </a:xfrm>
          <a:prstGeom prst="wedgeRoundRectCallout">
            <a:avLst>
              <a:gd name="adj1" fmla="val -31330"/>
              <a:gd name="adj2" fmla="val -132600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Trained with “perplexity distillation loss”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3B2A7A-9223-8144-750D-017E1E868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81" y="4776263"/>
            <a:ext cx="4406900" cy="901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233324-2077-548E-A150-12620AF737A6}"/>
              </a:ext>
            </a:extLst>
          </p:cNvPr>
          <p:cNvSpPr txBox="1"/>
          <p:nvPr/>
        </p:nvSpPr>
        <p:spPr>
          <a:xfrm>
            <a:off x="1402581" y="5677963"/>
            <a:ext cx="3291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log </a:t>
            </a:r>
            <a:r>
              <a:rPr lang="en-US" i="1" dirty="0" err="1"/>
              <a:t>p</a:t>
            </a:r>
            <a:r>
              <a:rPr lang="en-US" i="1" baseline="-25000" dirty="0" err="1"/>
              <a:t>LM</a:t>
            </a:r>
            <a:r>
              <a:rPr lang="en-US" i="1" dirty="0"/>
              <a:t> = </a:t>
            </a:r>
            <a:r>
              <a:rPr lang="en-US" dirty="0"/>
              <a:t>perplexity of answer </a:t>
            </a:r>
            <a:r>
              <a:rPr lang="en-US" i="1" dirty="0"/>
              <a:t>a </a:t>
            </a:r>
            <a:r>
              <a:rPr lang="en-US" dirty="0"/>
              <a:t>for a decoder using only </a:t>
            </a:r>
            <a:r>
              <a:rPr lang="en-US" i="1" dirty="0"/>
              <a:t>d</a:t>
            </a:r>
            <a:r>
              <a:rPr lang="en-US" i="1" baseline="-25000" dirty="0"/>
              <a:t>i</a:t>
            </a:r>
            <a:r>
              <a:rPr lang="en-US" i="1" dirty="0"/>
              <a:t>, 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7943D7-6A6A-233C-F242-A9C60EAF723F}"/>
              </a:ext>
            </a:extLst>
          </p:cNvPr>
          <p:cNvSpPr txBox="1"/>
          <p:nvPr/>
        </p:nvSpPr>
        <p:spPr>
          <a:xfrm>
            <a:off x="-198119" y="6381234"/>
            <a:ext cx="934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train to reduce KL between predicted scores and </a:t>
            </a:r>
            <a:r>
              <a:rPr lang="en-US" i="1" dirty="0"/>
              <a:t>p</a:t>
            </a:r>
            <a:r>
              <a:rPr lang="en-US" i="1" baseline="-25000" dirty="0"/>
              <a:t>k</a:t>
            </a:r>
            <a:r>
              <a:rPr lang="en-US" dirty="0"/>
              <a:t> – w a temperature in the </a:t>
            </a:r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FA6E66-523F-357A-7ACB-010E0E75AF8F}"/>
              </a:ext>
            </a:extLst>
          </p:cNvPr>
          <p:cNvSpPr/>
          <p:nvPr/>
        </p:nvSpPr>
        <p:spPr>
          <a:xfrm>
            <a:off x="4953000" y="1274376"/>
            <a:ext cx="2133600" cy="267278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0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  <p:bldP spid="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2761E-4AD9-49B3-607F-434709EA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CDCB-76B2-7585-CA08-1895FD34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GLIMMER=LUMEN with reranking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BBEF92-9368-4F17-04A1-96C337E9B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2" y="1274376"/>
            <a:ext cx="8633876" cy="3161700"/>
          </a:xfrm>
          <a:prstGeom prst="rect">
            <a:avLst/>
          </a:prstGeom>
        </p:spPr>
      </p:pic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0E68B77F-9A4C-76F3-A05A-A8B9FC012156}"/>
              </a:ext>
            </a:extLst>
          </p:cNvPr>
          <p:cNvSpPr/>
          <p:nvPr/>
        </p:nvSpPr>
        <p:spPr>
          <a:xfrm>
            <a:off x="4015740" y="4761282"/>
            <a:ext cx="1874520" cy="1644684"/>
          </a:xfrm>
          <a:prstGeom prst="wedgeRoundRectCallout">
            <a:avLst>
              <a:gd name="adj1" fmla="val 55662"/>
              <a:gd name="adj2" fmla="val -121481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Trained with “perplexity distillation loss”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42FF972-F714-9212-CAB2-2F1EDC88D6CA}"/>
              </a:ext>
            </a:extLst>
          </p:cNvPr>
          <p:cNvSpPr/>
          <p:nvPr/>
        </p:nvSpPr>
        <p:spPr>
          <a:xfrm>
            <a:off x="4953000" y="1274376"/>
            <a:ext cx="2133600" cy="267278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C7B47EC5-F2B9-A929-9521-5F049DA1DFF8}"/>
              </a:ext>
            </a:extLst>
          </p:cNvPr>
          <p:cNvSpPr/>
          <p:nvPr/>
        </p:nvSpPr>
        <p:spPr>
          <a:xfrm>
            <a:off x="6667500" y="4761282"/>
            <a:ext cx="1874520" cy="1644684"/>
          </a:xfrm>
          <a:prstGeom prst="wedgeRoundRectCallout">
            <a:avLst>
              <a:gd name="adj1" fmla="val -49216"/>
              <a:gd name="adj2" fmla="val -11962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Only the top few documents are presented to the decoder</a:t>
            </a:r>
          </a:p>
        </p:txBody>
      </p:sp>
    </p:spTree>
    <p:extLst>
      <p:ext uri="{BB962C8B-B14F-4D97-AF65-F5344CB8AC3E}">
        <p14:creationId xmlns:p14="http://schemas.microsoft.com/office/powerpoint/2010/main" val="89563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984E8-2AC4-D30A-33BB-5C20299A1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96491-313B-0F2F-3EF8-C6FF17F2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GLIMMER=LUMEN with reranking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2E398C-9788-CA34-A0D1-FC153EAC09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777"/>
          <a:stretch/>
        </p:blipFill>
        <p:spPr>
          <a:xfrm>
            <a:off x="152400" y="1350751"/>
            <a:ext cx="8584010" cy="25981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BF7186-90F3-DEBB-CA91-D9FBEA6C4CA4}"/>
              </a:ext>
            </a:extLst>
          </p:cNvPr>
          <p:cNvSpPr txBox="1"/>
          <p:nvPr/>
        </p:nvSpPr>
        <p:spPr>
          <a:xfrm>
            <a:off x="2407920" y="3931920"/>
            <a:ext cx="172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top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B273E-9561-9A52-0171-A2088CBBABA5}"/>
              </a:ext>
            </a:extLst>
          </p:cNvPr>
          <p:cNvSpPr txBox="1"/>
          <p:nvPr/>
        </p:nvSpPr>
        <p:spPr>
          <a:xfrm>
            <a:off x="5715000" y="3948946"/>
            <a:ext cx="172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 25 retrieved</a:t>
            </a:r>
          </a:p>
        </p:txBody>
      </p:sp>
    </p:spTree>
    <p:extLst>
      <p:ext uri="{BB962C8B-B14F-4D97-AF65-F5344CB8AC3E}">
        <p14:creationId xmlns:p14="http://schemas.microsoft.com/office/powerpoint/2010/main" val="26209718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92864-8C7B-9EE0-ED76-9CD62F38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F47AC-E867-E40E-4D74-AF37CF2A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GLIMMER=LUMEN with reranking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50DB0-2BDD-1EE3-1624-82A01234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77" y="1515102"/>
            <a:ext cx="8775524" cy="4321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BEE098-1371-D160-2169-870200DAE084}"/>
              </a:ext>
            </a:extLst>
          </p:cNvPr>
          <p:cNvSpPr txBox="1"/>
          <p:nvPr/>
        </p:nvSpPr>
        <p:spPr>
          <a:xfrm>
            <a:off x="1615439" y="5959388"/>
            <a:ext cx="635882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Average performance on multiple tasks from the KILT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CE7C8-25E5-241D-720D-E835E6C32254}"/>
              </a:ext>
            </a:extLst>
          </p:cNvPr>
          <p:cNvSpPr txBox="1"/>
          <p:nvPr/>
        </p:nvSpPr>
        <p:spPr>
          <a:xfrm>
            <a:off x="1615439" y="6451188"/>
            <a:ext cx="635882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Retrieve 25 passages, </a:t>
            </a:r>
            <a:r>
              <a:rPr lang="en-US" dirty="0" err="1"/>
              <a:t>rerank</a:t>
            </a:r>
            <a:r>
              <a:rPr lang="en-US" dirty="0"/>
              <a:t>, and decode with top 5</a:t>
            </a:r>
          </a:p>
        </p:txBody>
      </p:sp>
    </p:spTree>
    <p:extLst>
      <p:ext uri="{BB962C8B-B14F-4D97-AF65-F5344CB8AC3E}">
        <p14:creationId xmlns:p14="http://schemas.microsoft.com/office/powerpoint/2010/main" val="146973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48C17-967E-4E99-6E5C-1F49F93B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A2B7-7B10-3660-AB02-485951CE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06DFC-77D4-060F-F227-1A6033C3E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Review of how to learn retrievers</a:t>
            </a:r>
          </a:p>
          <a:p>
            <a:pPr lvl="1"/>
            <a:r>
              <a:rPr lang="en-US" dirty="0"/>
              <a:t>Contrastive learning</a:t>
            </a:r>
          </a:p>
          <a:p>
            <a:pPr lvl="1"/>
            <a:r>
              <a:rPr lang="en-US" dirty="0"/>
              <a:t>DPR and </a:t>
            </a:r>
            <a:r>
              <a:rPr lang="en-US" dirty="0" err="1"/>
              <a:t>Contreiver</a:t>
            </a:r>
            <a:endParaRPr lang="en-US" dirty="0"/>
          </a:p>
          <a:p>
            <a:r>
              <a:rPr lang="en-US" dirty="0"/>
              <a:t>Using decoder-only LLMs for retrieval</a:t>
            </a:r>
          </a:p>
          <a:p>
            <a:pPr lvl="1"/>
            <a:r>
              <a:rPr lang="en-US" dirty="0"/>
              <a:t>query expansion</a:t>
            </a:r>
          </a:p>
          <a:p>
            <a:pPr lvl="1"/>
            <a:r>
              <a:rPr lang="en-US" dirty="0"/>
              <a:t>generating encodings</a:t>
            </a:r>
          </a:p>
          <a:p>
            <a:r>
              <a:rPr lang="en-US" dirty="0">
                <a:solidFill>
                  <a:srgbClr val="002060"/>
                </a:solidFill>
              </a:rPr>
              <a:t>Retrieval-augmented generation (RAG)</a:t>
            </a:r>
          </a:p>
          <a:p>
            <a:pPr lvl="1"/>
            <a:r>
              <a:rPr lang="en-US" dirty="0"/>
              <a:t>The original RAG paper</a:t>
            </a:r>
          </a:p>
          <a:p>
            <a:pPr lvl="1"/>
            <a:r>
              <a:rPr lang="en-US" dirty="0"/>
              <a:t>The fusion-in-decoder (</a:t>
            </a:r>
            <a:r>
              <a:rPr lang="en-US" dirty="0" err="1"/>
              <a:t>FiD</a:t>
            </a:r>
            <a:r>
              <a:rPr lang="en-US" dirty="0"/>
              <a:t>) paper</a:t>
            </a:r>
          </a:p>
          <a:p>
            <a:r>
              <a:rPr lang="en-US" dirty="0"/>
              <a:t>A case study: optimizing inference for </a:t>
            </a:r>
            <a:r>
              <a:rPr lang="en-US" dirty="0" err="1"/>
              <a:t>FiD</a:t>
            </a:r>
            <a:endParaRPr lang="en-US" dirty="0"/>
          </a:p>
          <a:p>
            <a:pPr lvl="1"/>
            <a:r>
              <a:rPr lang="en-US" dirty="0"/>
              <a:t>Systems: </a:t>
            </a:r>
            <a:r>
              <a:rPr lang="en-US" dirty="0" err="1"/>
              <a:t>FiDO</a:t>
            </a:r>
            <a:r>
              <a:rPr lang="en-US" dirty="0"/>
              <a:t>, LUMEN, GLIMMER</a:t>
            </a:r>
          </a:p>
          <a:p>
            <a:r>
              <a:rPr lang="en-US" dirty="0">
                <a:solidFill>
                  <a:srgbClr val="0070C0"/>
                </a:solidFill>
              </a:rPr>
              <a:t>Incorporating principles from RAG, </a:t>
            </a:r>
            <a:r>
              <a:rPr lang="en-US" dirty="0" err="1">
                <a:solidFill>
                  <a:srgbClr val="0070C0"/>
                </a:solidFill>
              </a:rPr>
              <a:t>FiD</a:t>
            </a:r>
            <a:r>
              <a:rPr lang="en-US" dirty="0">
                <a:solidFill>
                  <a:srgbClr val="0070C0"/>
                </a:solidFill>
              </a:rPr>
              <a:t> in decoder-only LLMS</a:t>
            </a:r>
          </a:p>
        </p:txBody>
      </p:sp>
    </p:spTree>
    <p:extLst>
      <p:ext uri="{BB962C8B-B14F-4D97-AF65-F5344CB8AC3E}">
        <p14:creationId xmlns:p14="http://schemas.microsoft.com/office/powerpoint/2010/main" val="4157797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8A72-4DDD-9F58-95F3-83D7AF17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FiD</a:t>
            </a:r>
            <a:r>
              <a:rPr lang="en-US" dirty="0"/>
              <a:t>-Like SYSTEMS WITH DECODER-ONLY LLMS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0EF5-A5C6-5C27-028A-BD676A49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78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7BD5-7312-8C82-D8F9-8E7963180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ideas in </a:t>
            </a:r>
            <a:r>
              <a:rPr lang="en-US" dirty="0" err="1"/>
              <a:t>FiD</a:t>
            </a:r>
            <a:r>
              <a:rPr lang="en-US" dirty="0"/>
              <a:t> and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692D-7A4D-B007-A6E0-6230B8F96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650946" cy="478515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encoder</a:t>
            </a:r>
          </a:p>
          <a:p>
            <a:pPr lvl="1"/>
            <a:r>
              <a:rPr lang="en-US" dirty="0"/>
              <a:t>cross-encoder q+p1, q+p2, … </a:t>
            </a:r>
            <a:r>
              <a:rPr lang="en-US" b="1" u="sng" dirty="0"/>
              <a:t>separately</a:t>
            </a:r>
          </a:p>
          <a:p>
            <a:pPr lvl="2"/>
            <a:r>
              <a:rPr lang="en-US" dirty="0"/>
              <a:t>restricting cross-attention</a:t>
            </a:r>
            <a:endParaRPr lang="en-US" b="1" u="sng" dirty="0"/>
          </a:p>
          <a:p>
            <a:r>
              <a:rPr lang="en-US" dirty="0"/>
              <a:t>In decoder</a:t>
            </a:r>
          </a:p>
          <a:p>
            <a:pPr lvl="1"/>
            <a:r>
              <a:rPr lang="en-US" dirty="0"/>
              <a:t>attend to everything as you generate</a:t>
            </a:r>
          </a:p>
          <a:p>
            <a:r>
              <a:rPr lang="en-US" dirty="0"/>
              <a:t>Extensions</a:t>
            </a:r>
          </a:p>
          <a:p>
            <a:pPr lvl="1"/>
            <a:r>
              <a:rPr lang="en-US" dirty="0" err="1"/>
              <a:t>FiDO</a:t>
            </a:r>
            <a:r>
              <a:rPr lang="en-US" dirty="0"/>
              <a:t>: optimize performance to avoid decoder bottlenecks</a:t>
            </a:r>
          </a:p>
          <a:p>
            <a:pPr lvl="1"/>
            <a:r>
              <a:rPr lang="en-US" dirty="0"/>
              <a:t>LUMEN: pre-compute encoder outputs</a:t>
            </a:r>
          </a:p>
          <a:p>
            <a:pPr lvl="1"/>
            <a:r>
              <a:rPr lang="en-US" dirty="0"/>
              <a:t>GLIMMER: add reranking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D0B30B-732B-1D9E-30D5-C59267546C8A}"/>
              </a:ext>
            </a:extLst>
          </p:cNvPr>
          <p:cNvSpPr txBox="1"/>
          <p:nvPr/>
        </p:nvSpPr>
        <p:spPr>
          <a:xfrm>
            <a:off x="5263975" y="3331859"/>
            <a:ext cx="3664125" cy="1015663"/>
          </a:xfrm>
          <a:prstGeom prst="rect">
            <a:avLst/>
          </a:prstGeom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/>
              <a:t>FlashAttention</a:t>
            </a:r>
            <a:r>
              <a:rPr lang="en-US" sz="2000" dirty="0"/>
              <a:t> (2023) and </a:t>
            </a:r>
            <a:r>
              <a:rPr lang="en-US" sz="2000" dirty="0" err="1"/>
              <a:t>FlexAttention</a:t>
            </a:r>
            <a:r>
              <a:rPr lang="en-US" sz="2000" dirty="0"/>
              <a:t> (2024)—also improve decoder bottlenecks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DB3EE-7DE6-2838-E374-8BD1BA8C4EA5}"/>
              </a:ext>
            </a:extLst>
          </p:cNvPr>
          <p:cNvSpPr txBox="1"/>
          <p:nvPr/>
        </p:nvSpPr>
        <p:spPr>
          <a:xfrm>
            <a:off x="5070389" y="1907059"/>
            <a:ext cx="3794211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Parallel Context Windows (PCW) - 2023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552AC-01F2-FE4E-3E81-FB01AD33EF06}"/>
              </a:ext>
            </a:extLst>
          </p:cNvPr>
          <p:cNvSpPr txBox="1"/>
          <p:nvPr/>
        </p:nvSpPr>
        <p:spPr>
          <a:xfrm>
            <a:off x="5263977" y="4501410"/>
            <a:ext cx="3150973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/>
              <a:t>TurboRAG</a:t>
            </a:r>
            <a:r>
              <a:rPr lang="en-US" sz="2000" dirty="0"/>
              <a:t>, </a:t>
            </a:r>
            <a:r>
              <a:rPr lang="en-US" sz="2000" dirty="0" err="1"/>
              <a:t>Blockwise</a:t>
            </a:r>
            <a:r>
              <a:rPr lang="en-US" sz="2000" dirty="0"/>
              <a:t> Sparse Attention - 2024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80742-CE27-0E4A-BC03-A84B90AA5722}"/>
              </a:ext>
            </a:extLst>
          </p:cNvPr>
          <p:cNvSpPr txBox="1"/>
          <p:nvPr/>
        </p:nvSpPr>
        <p:spPr>
          <a:xfrm>
            <a:off x="5263976" y="5209296"/>
            <a:ext cx="3150973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Dynamic </a:t>
            </a:r>
            <a:r>
              <a:rPr lang="en-US" sz="2000" dirty="0" err="1"/>
              <a:t>Blockwise</a:t>
            </a:r>
            <a:r>
              <a:rPr lang="en-US" sz="2000" dirty="0"/>
              <a:t> Sparse Attention - 2025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531CD1-65A5-9779-98DB-9232483BA9EE}"/>
              </a:ext>
            </a:extLst>
          </p:cNvPr>
          <p:cNvSpPr txBox="1"/>
          <p:nvPr/>
        </p:nvSpPr>
        <p:spPr>
          <a:xfrm>
            <a:off x="4930347" y="1096962"/>
            <a:ext cx="3934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Analog for decoder-only LLMs</a:t>
            </a:r>
          </a:p>
        </p:txBody>
      </p:sp>
    </p:spTree>
    <p:extLst>
      <p:ext uri="{BB962C8B-B14F-4D97-AF65-F5344CB8AC3E}">
        <p14:creationId xmlns:p14="http://schemas.microsoft.com/office/powerpoint/2010/main" val="35338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89560A-25C9-FD0B-10D7-213E65D4A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2589"/>
            <a:ext cx="7772400" cy="16950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11971E-30D1-A6C0-6108-6C727BFEAB22}"/>
              </a:ext>
            </a:extLst>
          </p:cNvPr>
          <p:cNvSpPr txBox="1"/>
          <p:nvPr/>
        </p:nvSpPr>
        <p:spPr>
          <a:xfrm>
            <a:off x="7372350" y="1643063"/>
            <a:ext cx="985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FB511-B23B-CA5B-ACE5-6927632BC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687" y="2126821"/>
            <a:ext cx="4940300" cy="44785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33E8A6-5599-1B81-9639-D23051631CA4}"/>
              </a:ext>
            </a:extLst>
          </p:cNvPr>
          <p:cNvSpPr txBox="1"/>
          <p:nvPr/>
        </p:nvSpPr>
        <p:spPr>
          <a:xfrm>
            <a:off x="414338" y="2126821"/>
            <a:ext cx="36893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 tokens</a:t>
            </a:r>
            <a:r>
              <a:rPr lang="en-US" dirty="0"/>
              <a:t>: retrieved document(s) for RAG, in-context examples,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 tokens:  </a:t>
            </a:r>
            <a:r>
              <a:rPr lang="en-US" dirty="0"/>
              <a:t>question for RAG, test input for ICL, 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 believe also output tokens are task tokens</a:t>
            </a:r>
          </a:p>
          <a:p>
            <a:endParaRPr lang="en-US" dirty="0"/>
          </a:p>
          <a:p>
            <a:r>
              <a:rPr lang="en-US" b="1" dirty="0"/>
              <a:t>Key idea</a:t>
            </a:r>
            <a:r>
              <a:rPr lang="en-US" dirty="0"/>
              <a:t>: cross-attend within a context window, and cross-attend between task tokens and all context windows.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7C8D1-1AB6-57D9-A118-CFB31415CEA0}"/>
              </a:ext>
            </a:extLst>
          </p:cNvPr>
          <p:cNvSpPr txBox="1"/>
          <p:nvPr/>
        </p:nvSpPr>
        <p:spPr>
          <a:xfrm>
            <a:off x="414338" y="5715000"/>
            <a:ext cx="3689349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Very similar to </a:t>
            </a:r>
            <a:r>
              <a:rPr lang="en-US" dirty="0" err="1"/>
              <a:t>FiD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question/answer are task 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post-training required</a:t>
            </a:r>
          </a:p>
        </p:txBody>
      </p:sp>
    </p:spTree>
    <p:extLst>
      <p:ext uri="{BB962C8B-B14F-4D97-AF65-F5344CB8AC3E}">
        <p14:creationId xmlns:p14="http://schemas.microsoft.com/office/powerpoint/2010/main" val="2396582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4D478-44D1-C504-8888-2FD5F97C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38362-E80E-4D37-BAFC-DEE7E484A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2589"/>
            <a:ext cx="7772400" cy="16950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B0BD2C-8A6E-9447-614A-7E30E712139A}"/>
              </a:ext>
            </a:extLst>
          </p:cNvPr>
          <p:cNvSpPr txBox="1"/>
          <p:nvPr/>
        </p:nvSpPr>
        <p:spPr>
          <a:xfrm>
            <a:off x="7372350" y="1643063"/>
            <a:ext cx="985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2199B-41EB-D75F-1082-B1FA9D5A75BF}"/>
              </a:ext>
            </a:extLst>
          </p:cNvPr>
          <p:cNvSpPr txBox="1"/>
          <p:nvPr/>
        </p:nvSpPr>
        <p:spPr>
          <a:xfrm>
            <a:off x="414338" y="2126821"/>
            <a:ext cx="36893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 tokens</a:t>
            </a:r>
            <a:r>
              <a:rPr lang="en-US" dirty="0"/>
              <a:t>: retrieved document(s) for RAG, in-context examples,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 tokens:  </a:t>
            </a:r>
            <a:r>
              <a:rPr lang="en-US" dirty="0"/>
              <a:t>question for RAG, test input for ICL, 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 believe also output tokens are task tokens</a:t>
            </a:r>
          </a:p>
          <a:p>
            <a:endParaRPr lang="en-US" dirty="0"/>
          </a:p>
          <a:p>
            <a:r>
              <a:rPr lang="en-US" b="1" dirty="0"/>
              <a:t>Key idea</a:t>
            </a:r>
            <a:r>
              <a:rPr lang="en-US" dirty="0"/>
              <a:t>: cross-attend within a context window, and cross-attend between task tokens and all context windows.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0774C-55F5-B781-BFFB-2F76FA3A42CD}"/>
              </a:ext>
            </a:extLst>
          </p:cNvPr>
          <p:cNvSpPr txBox="1"/>
          <p:nvPr/>
        </p:nvSpPr>
        <p:spPr>
          <a:xfrm>
            <a:off x="414338" y="5715000"/>
            <a:ext cx="3689349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Very similar to </a:t>
            </a:r>
            <a:r>
              <a:rPr lang="en-US" dirty="0" err="1"/>
              <a:t>FiD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question/answer are task tokens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618AD-818A-6221-8DC6-E4898CC4630A}"/>
              </a:ext>
            </a:extLst>
          </p:cNvPr>
          <p:cNvSpPr txBox="1"/>
          <p:nvPr/>
        </p:nvSpPr>
        <p:spPr>
          <a:xfrm>
            <a:off x="4572000" y="2286000"/>
            <a:ext cx="405765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Good results for NQ (vs conventional RAG system) and ICL (especially classification with many classes)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2FBC5B-1907-2946-C181-AFFB65EB3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079" y="3338158"/>
            <a:ext cx="3275748" cy="22049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595B00-821F-B14A-4BE1-1A9154DDE4FE}"/>
              </a:ext>
            </a:extLst>
          </p:cNvPr>
          <p:cNvSpPr txBox="1"/>
          <p:nvPr/>
        </p:nvSpPr>
        <p:spPr>
          <a:xfrm>
            <a:off x="4571999" y="5665620"/>
            <a:ext cx="431482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Implemented with attention masks rather than parallel generation of keys and values</a:t>
            </a:r>
          </a:p>
        </p:txBody>
      </p:sp>
    </p:spTree>
    <p:extLst>
      <p:ext uri="{BB962C8B-B14F-4D97-AF65-F5344CB8AC3E}">
        <p14:creationId xmlns:p14="http://schemas.microsoft.com/office/powerpoint/2010/main" val="41504173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8ABE09-35F8-A5FE-59E7-19E8F6A93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474"/>
            <a:ext cx="7772400" cy="19730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BB6F91-9FE3-344C-2218-6B75E4A2F584}"/>
              </a:ext>
            </a:extLst>
          </p:cNvPr>
          <p:cNvSpPr txBox="1"/>
          <p:nvPr/>
        </p:nvSpPr>
        <p:spPr>
          <a:xfrm>
            <a:off x="7372350" y="1643063"/>
            <a:ext cx="985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72065-801F-4B60-B3FA-AA4D6ABD5CE0}"/>
              </a:ext>
            </a:extLst>
          </p:cNvPr>
          <p:cNvSpPr txBox="1"/>
          <p:nvPr/>
        </p:nvSpPr>
        <p:spPr>
          <a:xfrm>
            <a:off x="685800" y="2484009"/>
            <a:ext cx="81581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 tokens</a:t>
            </a:r>
            <a:r>
              <a:rPr lang="en-US" dirty="0"/>
              <a:t>: retrieved document(s) for RAG, </a:t>
            </a:r>
            <a:r>
              <a:rPr lang="en-US" strike="sngStrike" dirty="0"/>
              <a:t>in-context examples,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 tokens:  </a:t>
            </a:r>
            <a:r>
              <a:rPr lang="en-US" dirty="0"/>
              <a:t>question for RAG, </a:t>
            </a:r>
            <a:r>
              <a:rPr lang="en-US" strike="sngStrike" dirty="0"/>
              <a:t>test input for ICL, …</a:t>
            </a:r>
          </a:p>
          <a:p>
            <a:endParaRPr lang="en-US" dirty="0"/>
          </a:p>
          <a:p>
            <a:r>
              <a:rPr lang="en-US" b="1" dirty="0"/>
              <a:t>Key idea</a:t>
            </a:r>
            <a:r>
              <a:rPr lang="en-US" dirty="0"/>
              <a:t>: same as PCW </a:t>
            </a:r>
            <a:r>
              <a:rPr lang="en-US" b="1" dirty="0"/>
              <a:t>except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cache the independently-produced KV pairs of the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KV pairs for relevant docs directly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fine-tune for a short time (100-1000 steps)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29F4C-08E7-EDF6-B7B4-C0348B8CD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2" y="4769792"/>
            <a:ext cx="8746029" cy="18317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EA7854-1BA8-CEEB-E457-0528589742AB}"/>
              </a:ext>
            </a:extLst>
          </p:cNvPr>
          <p:cNvSpPr txBox="1"/>
          <p:nvPr/>
        </p:nvSpPr>
        <p:spPr>
          <a:xfrm>
            <a:off x="5214937" y="3996232"/>
            <a:ext cx="3243263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TTFT = Time To First Token</a:t>
            </a:r>
          </a:p>
          <a:p>
            <a:r>
              <a:rPr lang="en-US" dirty="0"/>
              <a:t>FLOPS also for first token</a:t>
            </a:r>
          </a:p>
        </p:txBody>
      </p:sp>
    </p:spTree>
    <p:extLst>
      <p:ext uri="{BB962C8B-B14F-4D97-AF65-F5344CB8AC3E}">
        <p14:creationId xmlns:p14="http://schemas.microsoft.com/office/powerpoint/2010/main" val="67021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91FC0B-F249-BEB3-A46A-2B7CBEB33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3773"/>
            <a:ext cx="7772400" cy="25128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09776D-DDC7-AE51-6C53-2718C06C8BBF}"/>
              </a:ext>
            </a:extLst>
          </p:cNvPr>
          <p:cNvSpPr txBox="1"/>
          <p:nvPr/>
        </p:nvSpPr>
        <p:spPr>
          <a:xfrm>
            <a:off x="7472362" y="1030843"/>
            <a:ext cx="985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C4CE3-2945-8250-D615-B242B7F51EDC}"/>
              </a:ext>
            </a:extLst>
          </p:cNvPr>
          <p:cNvSpPr txBox="1"/>
          <p:nvPr/>
        </p:nvSpPr>
        <p:spPr>
          <a:xfrm>
            <a:off x="685801" y="2484009"/>
            <a:ext cx="46863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idea</a:t>
            </a:r>
            <a:r>
              <a:rPr lang="en-US" dirty="0"/>
              <a:t>: same as Block-Attention </a:t>
            </a:r>
            <a:r>
              <a:rPr lang="en-US" b="1" dirty="0"/>
              <a:t>except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experiments are on ICL instead of RAG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cache the independently-produced KV pairs of the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 addition of KV pairs computed for retrieved 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retrieve ICL examples with BM25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 fine-tuning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clever use of </a:t>
            </a:r>
            <a:r>
              <a:rPr lang="en-US" dirty="0" err="1"/>
              <a:t>StreamingLLM</a:t>
            </a:r>
            <a:r>
              <a:rPr lang="en-US" dirty="0"/>
              <a:t> trick of “attention sink”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don’t mess with position encodings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9DD01-EAB7-7375-8D73-0F55729AD9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538" r="48983" b="7094"/>
          <a:stretch/>
        </p:blipFill>
        <p:spPr>
          <a:xfrm>
            <a:off x="5123657" y="2287245"/>
            <a:ext cx="3582988" cy="318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750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4457-CAF5-45C5-B5A0-BB74AC8F1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DBSA: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BDD8D-47EB-E410-710C-056262491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Baseline: many-shot learning</a:t>
            </a:r>
          </a:p>
          <a:p>
            <a:r>
              <a:rPr lang="en-US" dirty="0"/>
              <a:t>Given </a:t>
            </a:r>
            <a:r>
              <a:rPr lang="en-US" i="1" dirty="0"/>
              <a:t>n</a:t>
            </a:r>
            <a:r>
              <a:rPr lang="en-US" dirty="0"/>
              <a:t> ICL examples</a:t>
            </a:r>
          </a:p>
          <a:p>
            <a:pPr lvl="1"/>
            <a:r>
              <a:rPr lang="en-US" dirty="0"/>
              <a:t>encode </a:t>
            </a:r>
            <a:r>
              <a:rPr lang="en-US" i="1" dirty="0"/>
              <a:t>n/k </a:t>
            </a:r>
            <a:r>
              <a:rPr lang="en-US" dirty="0"/>
              <a:t>blocks of ICL examples containing</a:t>
            </a:r>
          </a:p>
          <a:p>
            <a:pPr lvl="2"/>
            <a:r>
              <a:rPr lang="en-US" i="1" dirty="0"/>
              <a:t>k </a:t>
            </a:r>
            <a:r>
              <a:rPr lang="en-US" dirty="0"/>
              <a:t>demonstrations</a:t>
            </a:r>
          </a:p>
          <a:p>
            <a:pPr lvl="2"/>
            <a:r>
              <a:rPr lang="en-US" dirty="0"/>
              <a:t>a shared “anchor block”</a:t>
            </a:r>
          </a:p>
          <a:p>
            <a:pPr lvl="1"/>
            <a:r>
              <a:rPr lang="en-US" dirty="0"/>
              <a:t>load all blocks into a KV cache</a:t>
            </a:r>
          </a:p>
          <a:p>
            <a:pPr lvl="1"/>
            <a:r>
              <a:rPr lang="en-US" dirty="0"/>
              <a:t>add the usual positional encoding features</a:t>
            </a:r>
          </a:p>
          <a:p>
            <a:r>
              <a:rPr lang="en-US" dirty="0"/>
              <a:t>Implemented with </a:t>
            </a:r>
            <a:r>
              <a:rPr lang="en-US" dirty="0" err="1"/>
              <a:t>FlexAttention</a:t>
            </a:r>
            <a:endParaRPr lang="en-US" dirty="0"/>
          </a:p>
          <a:p>
            <a:pPr lvl="1"/>
            <a:r>
              <a:rPr lang="en-US" dirty="0"/>
              <a:t>Doesn’t actually encode the masked blocks </a:t>
            </a:r>
          </a:p>
          <a:p>
            <a:pPr lvl="1"/>
            <a:endParaRPr lang="en-US" dirty="0"/>
          </a:p>
          <a:p>
            <a:r>
              <a:rPr lang="en-US" dirty="0"/>
              <a:t>50 examples/block, 30k and 90k training examples for classification tasks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2842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84EFB-4B0B-96B6-189C-F36A0DD6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E528-9EEA-5C6C-1A3A-1C2929C9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DBSA: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A571A-7C17-E9DA-3C01-7DC96A639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2"/>
            <a:ext cx="8350250" cy="29003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Dynamic</a:t>
            </a:r>
            <a:r>
              <a:rPr lang="en-US" dirty="0"/>
              <a:t> example selection</a:t>
            </a:r>
          </a:p>
          <a:p>
            <a:r>
              <a:rPr lang="en-US" dirty="0"/>
              <a:t>Given a query </a:t>
            </a:r>
            <a:r>
              <a:rPr lang="en-US" i="1" dirty="0"/>
              <a:t>q*</a:t>
            </a:r>
          </a:p>
          <a:p>
            <a:pPr lvl="1"/>
            <a:r>
              <a:rPr lang="en-US" dirty="0"/>
              <a:t>retrieve </a:t>
            </a:r>
            <a:r>
              <a:rPr lang="en-US" i="1" dirty="0"/>
              <a:t>m&lt;n</a:t>
            </a:r>
            <a:r>
              <a:rPr lang="en-US" dirty="0"/>
              <a:t>  encoded blocks (with BM25)</a:t>
            </a:r>
          </a:p>
          <a:p>
            <a:pPr lvl="1"/>
            <a:r>
              <a:rPr lang="en-US" dirty="0"/>
              <a:t>load retrieved blocks and anchor block into a KV cache and add positional encoding</a:t>
            </a:r>
          </a:p>
          <a:p>
            <a:pPr lvl="1"/>
            <a:endParaRPr lang="en-US" dirty="0"/>
          </a:p>
          <a:p>
            <a:r>
              <a:rPr lang="en-US" dirty="0"/>
              <a:t>retrieve 30% of the available training examples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427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548-E955-5441-40BB-F33A43B1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DBSA: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30F536-AF18-0853-9AE5-4C6C25E2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8951"/>
            <a:ext cx="7772400" cy="44144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53B22E-B663-1AAD-F233-49362FF4555E}"/>
              </a:ext>
            </a:extLst>
          </p:cNvPr>
          <p:cNvSpPr txBox="1"/>
          <p:nvPr/>
        </p:nvSpPr>
        <p:spPr>
          <a:xfrm>
            <a:off x="2814638" y="6200775"/>
            <a:ext cx="4800600" cy="382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Total latency including set-up time</a:t>
            </a:r>
          </a:p>
        </p:txBody>
      </p:sp>
    </p:spTree>
    <p:extLst>
      <p:ext uri="{BB962C8B-B14F-4D97-AF65-F5344CB8AC3E}">
        <p14:creationId xmlns:p14="http://schemas.microsoft.com/office/powerpoint/2010/main" val="145987096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DF6F5-443B-3ADA-D836-3A5F6331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D108-AA86-C992-543C-57F71C6C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DBSA: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2EBCD-B869-1377-1BF3-307ECA09A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18" y="1181100"/>
            <a:ext cx="6786563" cy="514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34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3946</Words>
  <Application>Microsoft Macintosh PowerPoint</Application>
  <PresentationFormat>On-screen Show (4:3)</PresentationFormat>
  <Paragraphs>661</Paragraphs>
  <Slides>84</Slides>
  <Notes>39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2" baseType="lpstr">
      <vt:lpstr>Arial</vt:lpstr>
      <vt:lpstr>Calibri</vt:lpstr>
      <vt:lpstr>Cambria Math</vt:lpstr>
      <vt:lpstr>Courier New</vt:lpstr>
      <vt:lpstr>Gill Sans MT</vt:lpstr>
      <vt:lpstr>Times</vt:lpstr>
      <vt:lpstr>Wingdings</vt:lpstr>
      <vt:lpstr>Office Theme</vt:lpstr>
      <vt:lpstr>10-605 / 10-405</vt:lpstr>
      <vt:lpstr>Outline</vt:lpstr>
      <vt:lpstr>Retrieval Augmented LLMs A RECAP</vt:lpstr>
      <vt:lpstr>PowerPoint Presentation</vt:lpstr>
      <vt:lpstr>Contrastive learning for retrieval</vt:lpstr>
      <vt:lpstr>Contrastive learning: losses</vt:lpstr>
      <vt:lpstr>The Dense Passage Retriever (DPR)</vt:lpstr>
      <vt:lpstr>Discussion of DPR</vt:lpstr>
      <vt:lpstr>Cross-Encoders</vt:lpstr>
      <vt:lpstr>Mega-batching and Dynamic Dictionaries</vt:lpstr>
      <vt:lpstr>Momentum Encoders</vt:lpstr>
      <vt:lpstr>Contriever vs DPR</vt:lpstr>
      <vt:lpstr>Independent cropping</vt:lpstr>
      <vt:lpstr>Contriever</vt:lpstr>
      <vt:lpstr>Retrieval WITH Modern Decoder-Only LLMS</vt:lpstr>
      <vt:lpstr>Recap: Discussion of DPR</vt:lpstr>
      <vt:lpstr>PowerPoint Presentation</vt:lpstr>
      <vt:lpstr>Hypothetical Document Embedding (HyDE)</vt:lpstr>
      <vt:lpstr>Language Model as Retriever (LameR)</vt:lpstr>
      <vt:lpstr>Decoder-only models as encoders?</vt:lpstr>
      <vt:lpstr>PromptEOL: Key ideas</vt:lpstr>
      <vt:lpstr>Echo embeddings: key ideas</vt:lpstr>
      <vt:lpstr>Summary: Decoders and Retrieval</vt:lpstr>
      <vt:lpstr>Outline</vt:lpstr>
      <vt:lpstr>Retrieval Augmented LLMs: SOME ExampleS</vt:lpstr>
      <vt:lpstr>PowerPoint Presentation</vt:lpstr>
      <vt:lpstr>The OG RAG paper</vt:lpstr>
      <vt:lpstr>The OG RAG paper</vt:lpstr>
      <vt:lpstr>The OG RAG paper</vt:lpstr>
      <vt:lpstr>The OG RAG paper</vt:lpstr>
      <vt:lpstr>The OG RAG paper</vt:lpstr>
      <vt:lpstr>Experiments with RAG</vt:lpstr>
      <vt:lpstr>Experiments with RAG</vt:lpstr>
      <vt:lpstr>RAG vs REALM</vt:lpstr>
      <vt:lpstr>RAG: discussion</vt:lpstr>
      <vt:lpstr>Fusion in Decoder (FiD)</vt:lpstr>
      <vt:lpstr>Fusion in Decoder (FiD)</vt:lpstr>
      <vt:lpstr>FiD Experiments</vt:lpstr>
      <vt:lpstr>FiD Experiments</vt:lpstr>
      <vt:lpstr>Fusion in Decoder (FiD): Discussion</vt:lpstr>
      <vt:lpstr>Outline</vt:lpstr>
      <vt:lpstr>Optimizing FiD</vt:lpstr>
      <vt:lpstr>FiD Optimized (FiDO)</vt:lpstr>
      <vt:lpstr>Fusion in Decoder (FiD)</vt:lpstr>
      <vt:lpstr>Fusion in Decoder (FiD)</vt:lpstr>
      <vt:lpstr>Fusion in Decoder (FiD)</vt:lpstr>
      <vt:lpstr>Recap: LLM inference</vt:lpstr>
      <vt:lpstr>Performance analysis</vt:lpstr>
      <vt:lpstr>Performance analysis</vt:lpstr>
      <vt:lpstr>Performance analysis</vt:lpstr>
      <vt:lpstr>Performance analysis</vt:lpstr>
      <vt:lpstr>Performance analysis</vt:lpstr>
      <vt:lpstr>Recap: LLM inference</vt:lpstr>
      <vt:lpstr>Performance analysis</vt:lpstr>
      <vt:lpstr>Performance analysis</vt:lpstr>
      <vt:lpstr>Fusion in Decoder (FiD)</vt:lpstr>
      <vt:lpstr>Fusion in Decoder Optimized (FiDO)</vt:lpstr>
      <vt:lpstr>Fusion in Decoder Optimized (FiDO)</vt:lpstr>
      <vt:lpstr>Fusion in Decoder Optimized (FiDO)</vt:lpstr>
      <vt:lpstr>LUMEN: FiD with caching</vt:lpstr>
      <vt:lpstr>LUMEN: FiD with caching</vt:lpstr>
      <vt:lpstr>LUMEN: FiD with caching</vt:lpstr>
      <vt:lpstr>LUMEN: FiD with caching</vt:lpstr>
      <vt:lpstr>LUMEN: FiD with caching</vt:lpstr>
      <vt:lpstr>LUMEN: FiD with caching</vt:lpstr>
      <vt:lpstr>LUMEN: FiD with caching</vt:lpstr>
      <vt:lpstr>GLIMMER: LUMEN with reranking</vt:lpstr>
      <vt:lpstr>Recap: Cross-Encoders</vt:lpstr>
      <vt:lpstr>Recap: LUMEN=FiD with caching</vt:lpstr>
      <vt:lpstr>GLIMMER=LUMEN with reranking</vt:lpstr>
      <vt:lpstr>GLIMMER=LUMEN with reranking</vt:lpstr>
      <vt:lpstr>GLIMMER=LUMEN with reranking</vt:lpstr>
      <vt:lpstr>GLIMMER=LUMEN with reranking</vt:lpstr>
      <vt:lpstr>Outline</vt:lpstr>
      <vt:lpstr>FiD-Like SYSTEMS WITH DECODER-ONLY LLMS</vt:lpstr>
      <vt:lpstr>Main ideas in FiD and extensions</vt:lpstr>
      <vt:lpstr>PowerPoint Presentation</vt:lpstr>
      <vt:lpstr>PowerPoint Presentation</vt:lpstr>
      <vt:lpstr>PowerPoint Presentation</vt:lpstr>
      <vt:lpstr>PowerPoint Presentation</vt:lpstr>
      <vt:lpstr>DBSA: Details</vt:lpstr>
      <vt:lpstr>DBSA: Details</vt:lpstr>
      <vt:lpstr>DBSA: Results</vt:lpstr>
      <vt:lpstr>DBSA: Results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360</cp:revision>
  <dcterms:created xsi:type="dcterms:W3CDTF">2013-01-13T19:42:44Z</dcterms:created>
  <dcterms:modified xsi:type="dcterms:W3CDTF">2025-04-09T14:51:35Z</dcterms:modified>
</cp:coreProperties>
</file>