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1"/>
  </p:notesMasterIdLst>
  <p:handoutMasterIdLst>
    <p:handoutMasterId r:id="rId72"/>
  </p:handoutMasterIdLst>
  <p:sldIdLst>
    <p:sldId id="375" r:id="rId2"/>
    <p:sldId id="445" r:id="rId3"/>
    <p:sldId id="358" r:id="rId4"/>
    <p:sldId id="360" r:id="rId5"/>
    <p:sldId id="379" r:id="rId6"/>
    <p:sldId id="285" r:id="rId7"/>
    <p:sldId id="282" r:id="rId8"/>
    <p:sldId id="283" r:id="rId9"/>
    <p:sldId id="284" r:id="rId10"/>
    <p:sldId id="380" r:id="rId11"/>
    <p:sldId id="288" r:id="rId12"/>
    <p:sldId id="381" r:id="rId13"/>
    <p:sldId id="390" r:id="rId14"/>
    <p:sldId id="382" r:id="rId15"/>
    <p:sldId id="383" r:id="rId16"/>
    <p:sldId id="388" r:id="rId17"/>
    <p:sldId id="389" r:id="rId18"/>
    <p:sldId id="384" r:id="rId19"/>
    <p:sldId id="385" r:id="rId20"/>
    <p:sldId id="386" r:id="rId21"/>
    <p:sldId id="387" r:id="rId22"/>
    <p:sldId id="391" r:id="rId23"/>
    <p:sldId id="392" r:id="rId24"/>
    <p:sldId id="336" r:id="rId25"/>
    <p:sldId id="337" r:id="rId26"/>
    <p:sldId id="338" r:id="rId27"/>
    <p:sldId id="339" r:id="rId28"/>
    <p:sldId id="340" r:id="rId29"/>
    <p:sldId id="341" r:id="rId30"/>
    <p:sldId id="343" r:id="rId31"/>
    <p:sldId id="393" r:id="rId32"/>
    <p:sldId id="394" r:id="rId33"/>
    <p:sldId id="395" r:id="rId34"/>
    <p:sldId id="396" r:id="rId35"/>
    <p:sldId id="397" r:id="rId36"/>
    <p:sldId id="398" r:id="rId37"/>
    <p:sldId id="399" r:id="rId38"/>
    <p:sldId id="400" r:id="rId39"/>
    <p:sldId id="264" r:id="rId40"/>
    <p:sldId id="401" r:id="rId41"/>
    <p:sldId id="402" r:id="rId42"/>
    <p:sldId id="403" r:id="rId43"/>
    <p:sldId id="404" r:id="rId44"/>
    <p:sldId id="405" r:id="rId45"/>
    <p:sldId id="406" r:id="rId46"/>
    <p:sldId id="407" r:id="rId47"/>
    <p:sldId id="408" r:id="rId48"/>
    <p:sldId id="256" r:id="rId49"/>
    <p:sldId id="372" r:id="rId50"/>
    <p:sldId id="266" r:id="rId51"/>
    <p:sldId id="267" r:id="rId52"/>
    <p:sldId id="268" r:id="rId53"/>
    <p:sldId id="269" r:id="rId54"/>
    <p:sldId id="373" r:id="rId55"/>
    <p:sldId id="442" r:id="rId56"/>
    <p:sldId id="444" r:id="rId57"/>
    <p:sldId id="421" r:id="rId58"/>
    <p:sldId id="422" r:id="rId59"/>
    <p:sldId id="423" r:id="rId60"/>
    <p:sldId id="424" r:id="rId61"/>
    <p:sldId id="425" r:id="rId62"/>
    <p:sldId id="426" r:id="rId63"/>
    <p:sldId id="427" r:id="rId64"/>
    <p:sldId id="428" r:id="rId65"/>
    <p:sldId id="434" r:id="rId66"/>
    <p:sldId id="435" r:id="rId67"/>
    <p:sldId id="437" r:id="rId68"/>
    <p:sldId id="440" r:id="rId69"/>
    <p:sldId id="441" r:id="rId7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95" autoAdjust="0"/>
    <p:restoredTop sz="88535" autoAdjust="0"/>
  </p:normalViewPr>
  <p:slideViewPr>
    <p:cSldViewPr snapToGrid="0" snapToObjects="1">
      <p:cViewPr varScale="1">
        <p:scale>
          <a:sx n="69" d="100"/>
          <a:sy n="69" d="100"/>
        </p:scale>
        <p:origin x="204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80FBE8-8282-2E44-AD6F-62D9591DC575}" type="datetimeFigureOut">
              <a:rPr lang="en-US" smtClean="0"/>
              <a:t>1/27/25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4288F4-7E02-7640-9AFD-443BA272F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33531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3C4F9-F37E-4225-8EDE-0041EBD1A368}" type="datetimeFigureOut">
              <a:rPr lang="en-US" smtClean="0"/>
              <a:pPr/>
              <a:t>1/27/25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F8AD2-6882-4531-8560-2C8EEF2B5B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78126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berkeley.edu/~russell/classes/cs194/f11/lectures/CS194%20Fall%202011%20Lecture%2006.pdf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www.cs.berkeley.edu/~russell/classes/cs194/f11/lectures/CS194%20Fall%202011%20Lecture%2005.pdf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math.stackexchange.com/questions/223252/why-is-gradient-the-direction-of-steepest-ascent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khanacademy.org/math/multivariable-calculus/partial_derivatives_topic/gradient/v/gradient-1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Shape 54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47" name="Shape 54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1" indent="0" defTabSz="584200">
              <a:lnSpc>
                <a:spcPct val="100000"/>
              </a:lnSpc>
              <a:buClr>
                <a:srgbClr val="000000"/>
              </a:buClr>
              <a:defRPr sz="1600">
                <a:latin typeface="Lucida Grande"/>
                <a:ea typeface="Lucida Grande"/>
                <a:cs typeface="Lucida Grande"/>
                <a:sym typeface="Lucida Grande"/>
              </a:defRPr>
            </a:pPr>
            <a:r>
              <a:t>explain why I represent x with a transpose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Shape 61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15" name="Shape 61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1" indent="0" defTabSz="584200">
              <a:lnSpc>
                <a:spcPct val="100000"/>
              </a:lnSpc>
              <a:buClr>
                <a:srgbClr val="000000"/>
              </a:buClr>
              <a:defRPr sz="1600">
                <a:latin typeface="Lucida Grande"/>
                <a:ea typeface="Lucida Grande"/>
                <a:cs typeface="Lucida Grande"/>
                <a:sym typeface="Lucida Grande"/>
              </a:defRPr>
            </a:pPr>
            <a:r>
              <a:t>explain why I represent x with a transpose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1" name="Shape 539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392" name="Shape 539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584200">
              <a:lnSpc>
                <a:spcPct val="100000"/>
              </a:lnSpc>
              <a:defRPr sz="3000">
                <a:latin typeface="Lucida Grande"/>
                <a:ea typeface="Lucida Grande"/>
                <a:cs typeface="Lucida Grande"/>
                <a:sym typeface="Lucida Grande"/>
              </a:defRPr>
            </a:pPr>
            <a:r>
              <a:rPr u="sng">
                <a:solidFill>
                  <a:srgbClr val="0000FF"/>
                </a:solidFill>
                <a:hlinkClick r:id="rId3"/>
              </a:rPr>
              <a:t>http://www.cs.berkeley.edu/~russell/classes/cs194/f11/lectures/CS194%20Fall%202011%20Lecture%2006.pdf</a:t>
            </a:r>
          </a:p>
          <a:p>
            <a:pPr defTabSz="584200">
              <a:lnSpc>
                <a:spcPct val="100000"/>
              </a:lnSpc>
              <a:defRPr sz="3000">
                <a:latin typeface="Lucida Grande"/>
                <a:ea typeface="Lucida Grande"/>
                <a:cs typeface="Lucida Grande"/>
                <a:sym typeface="Lucida Grande"/>
              </a:defRPr>
            </a:pPr>
            <a:r>
              <a:rPr u="sng">
                <a:solidFill>
                  <a:srgbClr val="0000FF"/>
                </a:solidFill>
                <a:hlinkClick r:id="rId4"/>
              </a:rPr>
              <a:t>http://www.cs.berkeley.edu/~russell/classes/cs194/f11/lectures/CS194%20Fall%202011%20Lecture%2005.pdf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2" name="Shape 547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473" name="Shape 547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584200">
              <a:lnSpc>
                <a:spcPct val="100000"/>
              </a:lnSpc>
              <a:defRPr sz="1700">
                <a:latin typeface="Lucida Grande"/>
                <a:ea typeface="Lucida Grande"/>
                <a:cs typeface="Lucida Grande"/>
                <a:sym typeface="Lucida Grande"/>
              </a:defRPr>
            </a:pPr>
            <a:r>
              <a:t>the directional derivative along a given vector v at a given point x intuitively represents the instantaneous rate of change of the function, moving through x with a velocity specified by v. It generalizes the notion of a partial derivative, in which the rate of change is taken along one of the coordinate curves, all other coordinates being constant.</a:t>
            </a:r>
          </a:p>
          <a:p>
            <a:pPr defTabSz="584200">
              <a:lnSpc>
                <a:spcPct val="100000"/>
              </a:lnSpc>
              <a:defRPr sz="1200">
                <a:latin typeface="Lucida Grande"/>
                <a:ea typeface="Lucida Grande"/>
                <a:cs typeface="Lucida Grande"/>
                <a:sym typeface="Lucida Grande"/>
              </a:defRPr>
            </a:pPr>
            <a:endParaRPr/>
          </a:p>
          <a:p>
            <a:pPr defTabSz="584200">
              <a:lnSpc>
                <a:spcPct val="100000"/>
              </a:lnSpc>
              <a:defRPr sz="1200">
                <a:latin typeface="Lucida Grande"/>
                <a:ea typeface="Lucida Grande"/>
                <a:cs typeface="Lucida Grande"/>
                <a:sym typeface="Lucida Grande"/>
              </a:defRPr>
            </a:pPr>
            <a:r>
              <a:rPr u="sng">
                <a:solidFill>
                  <a:srgbClr val="0000FF"/>
                </a:solidFill>
                <a:hlinkClick r:id="rId3"/>
              </a:rPr>
              <a:t>http://math.stackexchange.com/questions/223252/why-is-gradient-the-direction-of-steepest-ascent</a:t>
            </a:r>
          </a:p>
          <a:p>
            <a:pPr defTabSz="584200">
              <a:lnSpc>
                <a:spcPct val="100000"/>
              </a:lnSpc>
              <a:defRPr sz="1200">
                <a:latin typeface="Lucida Grande"/>
                <a:ea typeface="Lucida Grande"/>
                <a:cs typeface="Lucida Grande"/>
                <a:sym typeface="Lucida Grande"/>
              </a:defRPr>
            </a:pPr>
            <a:r>
              <a:rPr u="sng">
                <a:solidFill>
                  <a:srgbClr val="0000FF"/>
                </a:solidFill>
                <a:hlinkClick r:id="rId4"/>
              </a:rPr>
              <a:t>https://www.khanacademy.org/math/multivariable-calculus/partial_derivatives_topic/gradient/v/gradient-1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loss bounces around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185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9E023-CD08-FEB2-12C2-BE5B06E22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1B5833-7E19-7B94-73A3-D1E8411A65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B6622C-CF6E-1F9D-9151-3F383B8A53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loss bounces around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0E493-7EFC-7F87-B7E2-3198E91AC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074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EAB70-E970-E0B1-A3CC-14E6E8C28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E71881-CE79-8A65-13D9-81C21FA35F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BDEBC8-2DBB-4A5C-90B6-AB4B5A6E0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loss bounces around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4DCD6-92EE-E594-60DB-8C8EB5ECAC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753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02C3C-F749-9250-3867-D6390A91E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4C03FF-77FA-7D07-9D66-770AD6FE9F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60DDB5-1AC2-A60D-D28E-ED5A5C9B9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loss bounces around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BBDF9-FDE7-5B2C-E90F-EBF0B79AE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9632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9D7AB-24A8-DEDE-E55F-8885B7A38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2F6E6A-6C66-5E94-956B-45E524A72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409C51-8EF7-70E2-0620-25BFE9B53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loss bounces around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80626-96CC-2954-F326-AB48B31CC7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867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A2ED0-C81A-624F-BE26-EA655A6CB7E4}" type="datetime1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5099050"/>
          </a:xfr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6445250"/>
            <a:ext cx="2133600" cy="365125"/>
          </a:xfrm>
        </p:spPr>
        <p:txBody>
          <a:bodyPr/>
          <a:lstStyle/>
          <a:p>
            <a:fld id="{75A8F552-F614-A145-A62E-5F03381FE3BB}" type="datetime1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452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445250"/>
            <a:ext cx="2133600" cy="365125"/>
          </a:xfrm>
        </p:spPr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516187"/>
            <a:ext cx="7772400" cy="1362075"/>
          </a:xfrm>
        </p:spPr>
        <p:txBody>
          <a:bodyPr anchor="t">
            <a:normAutofit/>
          </a:bodyPr>
          <a:lstStyle>
            <a:lvl1pPr algn="ctr">
              <a:defRPr sz="3200" b="1" cap="all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0160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0994E-FA68-1048-BF37-C5C64176820B}" type="datetime1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FD8DD-8DCC-EF44-A1D9-CDD445F9D488}" type="datetime1">
              <a:rPr lang="en-US" smtClean="0"/>
              <a:t>1/27/25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2177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33969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73731"/>
            <a:ext cx="4040188" cy="455122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033969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73730"/>
            <a:ext cx="4041775" cy="455122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C839B-20AD-A846-A2CB-97D1240664DA}" type="datetime1">
              <a:rPr lang="en-US" smtClean="0"/>
              <a:t>1/27/25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6462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495B-37BC-A54B-A5CA-542B0467C8BB}" type="datetime1">
              <a:rPr lang="en-US" smtClean="0"/>
              <a:t>1/27/25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6E4D6-DB60-DA43-BC2B-A79EF393F6D0}" type="datetime1">
              <a:rPr lang="en-US" smtClean="0"/>
              <a:t>1/27/25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AA1A9-005A-8A45-89BD-5EF9E3A03AAD}" type="datetime1">
              <a:rPr lang="en-US" smtClean="0"/>
              <a:t>1/27/25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3AAD9-9D80-0444-BEAA-A6CDA8034270}" type="datetime1">
              <a:rPr lang="en-US" smtClean="0"/>
              <a:t>1/27/25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DD470-11B6-1A42-858C-D1AD88719FD8}" type="datetime1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E7FF-2700-3D46-9B9D-D8A16460EDF1}" type="datetime1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 - Title and Content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itle Text"/>
          <p:cNvSpPr txBox="1">
            <a:spLocks noGrp="1"/>
          </p:cNvSpPr>
          <p:nvPr>
            <p:ph type="title"/>
          </p:nvPr>
        </p:nvSpPr>
        <p:spPr>
          <a:xfrm>
            <a:off x="1484561" y="274638"/>
            <a:ext cx="6174879" cy="1143001"/>
          </a:xfrm>
          <a:prstGeom prst="rect">
            <a:avLst/>
          </a:prstGeom>
          <a:ln>
            <a:round/>
          </a:ln>
        </p:spPr>
        <p:txBody>
          <a:bodyPr lIns="53578" tIns="53578" rIns="53578" bIns="53578">
            <a:noAutofit/>
          </a:bodyPr>
          <a:lstStyle>
            <a:lvl1pPr defTabSz="242888">
              <a:defRPr sz="3225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Title Text</a:t>
            </a:r>
          </a:p>
        </p:txBody>
      </p:sp>
      <p:sp>
        <p:nvSpPr>
          <p:cNvPr id="181" name="Body Level One…"/>
          <p:cNvSpPr txBox="1">
            <a:spLocks noGrp="1"/>
          </p:cNvSpPr>
          <p:nvPr>
            <p:ph type="body" idx="1"/>
          </p:nvPr>
        </p:nvSpPr>
        <p:spPr>
          <a:xfrm>
            <a:off x="1484561" y="1598414"/>
            <a:ext cx="6174879" cy="4525964"/>
          </a:xfrm>
          <a:prstGeom prst="rect">
            <a:avLst/>
          </a:prstGeom>
          <a:ln>
            <a:round/>
          </a:ln>
        </p:spPr>
        <p:txBody>
          <a:bodyPr lIns="53578" tIns="53578" rIns="53578" bIns="53578" anchor="t">
            <a:noAutofit/>
          </a:bodyPr>
          <a:lstStyle>
            <a:lvl1pPr marL="175346" indent="-175346" defTabSz="242888">
              <a:spcBef>
                <a:spcPts val="375"/>
              </a:spcBef>
              <a:buClr>
                <a:srgbClr val="000000"/>
              </a:buClr>
              <a:buSzPct val="100000"/>
              <a:buFont typeface="Arial"/>
              <a:defRPr sz="225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lvl1pPr>
            <a:lvl2pPr marL="318085" indent="-146635" defTabSz="242888">
              <a:spcBef>
                <a:spcPts val="338"/>
              </a:spcBef>
              <a:buClr>
                <a:srgbClr val="000000"/>
              </a:buClr>
              <a:buSzPct val="100000"/>
              <a:buFont typeface="Arial"/>
              <a:buChar char="–"/>
              <a:defRPr sz="195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lvl2pPr>
            <a:lvl3pPr marL="458881" indent="-115981" defTabSz="242888">
              <a:spcBef>
                <a:spcPts val="300"/>
              </a:spcBef>
              <a:buClr>
                <a:srgbClr val="000000"/>
              </a:buClr>
              <a:buSzPct val="100000"/>
              <a:buFont typeface="Arial"/>
              <a:defRPr sz="1725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lvl3pPr>
            <a:lvl4pPr marL="630691" indent="-116341" defTabSz="242888">
              <a:spcBef>
                <a:spcPts val="225"/>
              </a:spcBef>
              <a:buClr>
                <a:srgbClr val="000000"/>
              </a:buClr>
              <a:buSzPct val="100000"/>
              <a:buFont typeface="Arial"/>
              <a:buChar char="–"/>
              <a:defRPr sz="1425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lvl4pPr>
            <a:lvl5pPr marL="802141" indent="-116341" defTabSz="242888">
              <a:spcBef>
                <a:spcPts val="225"/>
              </a:spcBef>
              <a:buClr>
                <a:srgbClr val="000000"/>
              </a:buClr>
              <a:buSzPct val="100000"/>
              <a:buFont typeface="Arial"/>
              <a:buChar char="»"/>
              <a:defRPr sz="1425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506947" y="6505612"/>
            <a:ext cx="151154" cy="200547"/>
          </a:xfrm>
          <a:prstGeom prst="rect">
            <a:avLst/>
          </a:prstGeom>
          <a:ln>
            <a:round/>
          </a:ln>
        </p:spPr>
        <p:txBody>
          <a:bodyPr lIns="53578" tIns="53578" rIns="53578" bIns="53578" anchor="ctr"/>
          <a:lstStyle>
            <a:lvl1pPr algn="r" defTabSz="242888">
              <a:defRPr sz="825">
                <a:solidFill>
                  <a:srgbClr val="9A9A9A"/>
                </a:solidFill>
                <a:uFill>
                  <a:solidFill>
                    <a:srgbClr val="9A9A9A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436723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2_Пользовательский макет">
    <p:bg>
      <p:bgPr>
        <a:solidFill>
          <a:srgbClr val="FD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Image"/>
          <p:cNvSpPr>
            <a:spLocks noGrp="1"/>
          </p:cNvSpPr>
          <p:nvPr>
            <p:ph type="pic" idx="21"/>
          </p:nvPr>
        </p:nvSpPr>
        <p:spPr>
          <a:xfrm>
            <a:off x="0" y="0"/>
            <a:ext cx="9144596" cy="6849777"/>
          </a:xfrm>
          <a:prstGeom prst="rect">
            <a:avLst/>
          </a:prstGeom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454207" y="6289041"/>
            <a:ext cx="98993" cy="134620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r" defTabSz="914446">
              <a:defRPr sz="45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426967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1C0C4-1A63-0242-8322-D1DCF32497F9}" type="datetime1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b="1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ambria Math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Cambria Math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ambria Math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7.png"/><Relationship Id="rId7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commons.wikimedia.org/wiki/File:Gradient2.svg#/media/File:Gradient2.sv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0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57.png"/><Relationship Id="rId7" Type="http://schemas.openxmlformats.org/officeDocument/2006/relationships/image" Target="../media/image65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gif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AF07-0EE8-87BE-0557-A2CF8E2D8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10-605 / 10-405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Learning as Optimization - 1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1B411-7A6C-21B1-431C-1AE6C9C76C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Machine Learning from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68544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42AED-A54D-B099-B1F8-FA421BF39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the course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D35BB-25F6-CF2B-3603-F4EC41F70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Why bigdata is important in ML</a:t>
            </a:r>
          </a:p>
          <a:p>
            <a:r>
              <a:rPr lang="en-US" dirty="0"/>
              <a:t>History of bigdata in ML</a:t>
            </a:r>
          </a:p>
          <a:p>
            <a:r>
              <a:rPr lang="en-US" dirty="0"/>
              <a:t>Scalable computation on clusters</a:t>
            </a:r>
          </a:p>
          <a:p>
            <a:pPr lvl="1"/>
            <a:r>
              <a:rPr lang="en-US" dirty="0"/>
              <a:t>MapReduce</a:t>
            </a:r>
          </a:p>
          <a:p>
            <a:pPr lvl="1"/>
            <a:r>
              <a:rPr lang="en-US" dirty="0"/>
              <a:t>Spark and iteration</a:t>
            </a:r>
          </a:p>
          <a:p>
            <a:pPr lvl="1"/>
            <a:r>
              <a:rPr lang="en-US" dirty="0"/>
              <a:t>Sample Spark workflows</a:t>
            </a:r>
          </a:p>
          <a:p>
            <a:r>
              <a:rPr lang="en-US" dirty="0"/>
              <a:t>Next up: more on scaling up learning algorithms</a:t>
            </a:r>
          </a:p>
          <a:p>
            <a:pPr lvl="1"/>
            <a:r>
              <a:rPr lang="en-US" dirty="0"/>
              <a:t>But first background on learning…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DDA85-B563-8727-8A37-8DAC54136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71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As Optimization:</a:t>
            </a:r>
            <a:br>
              <a:rPr lang="en-US" dirty="0"/>
            </a:br>
            <a:r>
              <a:rPr lang="en-US" dirty="0"/>
              <a:t>Motivation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408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as optimization: </a:t>
            </a:r>
            <a:r>
              <a:rPr lang="en-US" dirty="0" err="1"/>
              <a:t>warmup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6429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Goal: Learn the parameter θ of a binomial</a:t>
            </a:r>
          </a:p>
        </p:txBody>
      </p:sp>
      <p:pic>
        <p:nvPicPr>
          <p:cNvPr id="17" name="Picture 16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C36C9387-F7FA-A3C1-BC8B-053026BFE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49" y="2060576"/>
            <a:ext cx="9249871" cy="450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569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CDE92-FFB2-F0F7-F207-7615F5924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7854F-9DB1-6601-8A6F-7A4AF3974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as optimization: </a:t>
            </a:r>
            <a:r>
              <a:rPr lang="en-US" dirty="0" err="1"/>
              <a:t>warmup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2AB61-E13B-5BB8-30E6-B7CF28EA8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6429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Goal: Learn the parameter θ of a binomial</a:t>
            </a:r>
          </a:p>
        </p:txBody>
      </p:sp>
      <p:pic>
        <p:nvPicPr>
          <p:cNvPr id="7" name="Picture 6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E776E0E0-3914-63AA-D414-3DFF9B46D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1" y="1900238"/>
            <a:ext cx="8664991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085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3" name="Group"/>
          <p:cNvGrpSpPr/>
          <p:nvPr/>
        </p:nvGrpSpPr>
        <p:grpSpPr>
          <a:xfrm rot="2100000">
            <a:off x="6203174" y="2863906"/>
            <a:ext cx="1112035" cy="1793382"/>
            <a:chOff x="-97282" y="-97282"/>
            <a:chExt cx="2965425" cy="4782350"/>
          </a:xfrm>
        </p:grpSpPr>
        <p:pic>
          <p:nvPicPr>
            <p:cNvPr id="617" name="Line Line" descr="Line Line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 rot="3300000">
              <a:off x="1001143" y="1030155"/>
              <a:ext cx="483628" cy="139701"/>
            </a:xfrm>
            <a:prstGeom prst="rect">
              <a:avLst/>
            </a:prstGeom>
            <a:effectLst/>
          </p:spPr>
        </p:pic>
        <p:pic>
          <p:nvPicPr>
            <p:cNvPr id="619" name="Line Line" descr="Line Line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 rot="3300000">
              <a:off x="1610947" y="331059"/>
              <a:ext cx="483628" cy="139701"/>
            </a:xfrm>
            <a:prstGeom prst="rect">
              <a:avLst/>
            </a:prstGeom>
            <a:effectLst/>
          </p:spPr>
        </p:pic>
        <p:pic>
          <p:nvPicPr>
            <p:cNvPr id="621" name="Line Line" descr="Line Lin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 rot="3300000">
              <a:off x="1435659" y="588850"/>
              <a:ext cx="1747950" cy="139701"/>
            </a:xfrm>
            <a:prstGeom prst="rect">
              <a:avLst/>
            </a:prstGeom>
            <a:effectLst/>
          </p:spPr>
        </p:pic>
        <p:pic>
          <p:nvPicPr>
            <p:cNvPr id="623" name="Line Line" descr="Line Lin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 rot="3346432">
              <a:off x="-303598" y="1886910"/>
              <a:ext cx="1518821" cy="139701"/>
            </a:xfrm>
            <a:prstGeom prst="rect">
              <a:avLst/>
            </a:prstGeom>
            <a:effectLst/>
          </p:spPr>
        </p:pic>
        <p:pic>
          <p:nvPicPr>
            <p:cNvPr id="625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 rot="3300000">
              <a:off x="1096919" y="1688084"/>
              <a:ext cx="603759" cy="139701"/>
            </a:xfrm>
            <a:prstGeom prst="rect">
              <a:avLst/>
            </a:prstGeom>
            <a:effectLst/>
          </p:spPr>
        </p:pic>
        <p:pic>
          <p:nvPicPr>
            <p:cNvPr id="627" name="Line Line" descr="Line Line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 rot="3300000">
              <a:off x="-143180" y="4377072"/>
              <a:ext cx="483628" cy="139701"/>
            </a:xfrm>
            <a:prstGeom prst="rect">
              <a:avLst/>
            </a:prstGeom>
            <a:effectLst/>
          </p:spPr>
        </p:pic>
        <p:pic>
          <p:nvPicPr>
            <p:cNvPr id="629" name="Line Line" descr="Line Line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 rot="3300000">
              <a:off x="-84966" y="3349152"/>
              <a:ext cx="783855" cy="139701"/>
            </a:xfrm>
            <a:prstGeom prst="rect">
              <a:avLst/>
            </a:prstGeom>
            <a:effectLst/>
          </p:spPr>
        </p:pic>
        <p:pic>
          <p:nvPicPr>
            <p:cNvPr id="631" name="Line Line" descr="Line Line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 rot="3300000">
              <a:off x="548750" y="3112268"/>
              <a:ext cx="483628" cy="139701"/>
            </a:xfrm>
            <a:prstGeom prst="rect">
              <a:avLst/>
            </a:prstGeom>
            <a:effectLst/>
          </p:spPr>
        </p:pic>
      </p:grpSp>
      <p:grpSp>
        <p:nvGrpSpPr>
          <p:cNvPr id="645" name="Group"/>
          <p:cNvGrpSpPr/>
          <p:nvPr/>
        </p:nvGrpSpPr>
        <p:grpSpPr>
          <a:xfrm>
            <a:off x="5554265" y="2565844"/>
            <a:ext cx="2387359" cy="2074617"/>
            <a:chOff x="0" y="0"/>
            <a:chExt cx="6366288" cy="5532310"/>
          </a:xfrm>
        </p:grpSpPr>
        <p:sp>
          <p:nvSpPr>
            <p:cNvPr id="634" name="Line"/>
            <p:cNvSpPr/>
            <p:nvPr/>
          </p:nvSpPr>
          <p:spPr>
            <a:xfrm flipV="1">
              <a:off x="-1" y="-1"/>
              <a:ext cx="2" cy="5532312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635" name="Line"/>
            <p:cNvSpPr/>
            <p:nvPr/>
          </p:nvSpPr>
          <p:spPr>
            <a:xfrm>
              <a:off x="0" y="5532310"/>
              <a:ext cx="6366289" cy="1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308074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636" name="Circle"/>
            <p:cNvSpPr/>
            <p:nvPr/>
          </p:nvSpPr>
          <p:spPr>
            <a:xfrm>
              <a:off x="705445" y="3746373"/>
              <a:ext cx="375048" cy="375048"/>
            </a:xfrm>
            <a:prstGeom prst="ellipse">
              <a:avLst/>
            </a:prstGeom>
            <a:solidFill>
              <a:srgbClr val="B51B00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637" name="Circle"/>
            <p:cNvSpPr/>
            <p:nvPr/>
          </p:nvSpPr>
          <p:spPr>
            <a:xfrm>
              <a:off x="2462909" y="1353478"/>
              <a:ext cx="375048" cy="375048"/>
            </a:xfrm>
            <a:prstGeom prst="ellipse">
              <a:avLst/>
            </a:prstGeom>
            <a:solidFill>
              <a:srgbClr val="B51B00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308074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638" name="Circle"/>
            <p:cNvSpPr/>
            <p:nvPr/>
          </p:nvSpPr>
          <p:spPr>
            <a:xfrm>
              <a:off x="4492372" y="2039737"/>
              <a:ext cx="375048" cy="375048"/>
            </a:xfrm>
            <a:prstGeom prst="ellipse">
              <a:avLst/>
            </a:prstGeom>
            <a:solidFill>
              <a:srgbClr val="B51B00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308074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639" name="Circle"/>
            <p:cNvSpPr/>
            <p:nvPr/>
          </p:nvSpPr>
          <p:spPr>
            <a:xfrm>
              <a:off x="2050074" y="3746373"/>
              <a:ext cx="375048" cy="375048"/>
            </a:xfrm>
            <a:prstGeom prst="ellipse">
              <a:avLst/>
            </a:prstGeom>
            <a:solidFill>
              <a:srgbClr val="B51B00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308074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640" name="Circle"/>
            <p:cNvSpPr/>
            <p:nvPr/>
          </p:nvSpPr>
          <p:spPr>
            <a:xfrm>
              <a:off x="1483127" y="2844475"/>
              <a:ext cx="375047" cy="375047"/>
            </a:xfrm>
            <a:prstGeom prst="ellipse">
              <a:avLst/>
            </a:prstGeom>
            <a:solidFill>
              <a:srgbClr val="B51B00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308074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641" name="Circle"/>
            <p:cNvSpPr/>
            <p:nvPr/>
          </p:nvSpPr>
          <p:spPr>
            <a:xfrm>
              <a:off x="3350230" y="2965643"/>
              <a:ext cx="375048" cy="375048"/>
            </a:xfrm>
            <a:prstGeom prst="ellipse">
              <a:avLst/>
            </a:prstGeom>
            <a:solidFill>
              <a:srgbClr val="B51B00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308074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642" name="Circle"/>
            <p:cNvSpPr/>
            <p:nvPr/>
          </p:nvSpPr>
          <p:spPr>
            <a:xfrm>
              <a:off x="4741664" y="3201662"/>
              <a:ext cx="375047" cy="375048"/>
            </a:xfrm>
            <a:prstGeom prst="ellipse">
              <a:avLst/>
            </a:prstGeom>
            <a:solidFill>
              <a:srgbClr val="B51B00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308074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643" name="Circle"/>
            <p:cNvSpPr/>
            <p:nvPr/>
          </p:nvSpPr>
          <p:spPr>
            <a:xfrm>
              <a:off x="4991695" y="1183553"/>
              <a:ext cx="375048" cy="375048"/>
            </a:xfrm>
            <a:prstGeom prst="ellipse">
              <a:avLst/>
            </a:prstGeom>
            <a:solidFill>
              <a:srgbClr val="B51B00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308074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644" name="Circle"/>
            <p:cNvSpPr/>
            <p:nvPr/>
          </p:nvSpPr>
          <p:spPr>
            <a:xfrm>
              <a:off x="3562945" y="1772912"/>
              <a:ext cx="375048" cy="375048"/>
            </a:xfrm>
            <a:prstGeom prst="ellipse">
              <a:avLst/>
            </a:prstGeom>
            <a:solidFill>
              <a:srgbClr val="B51B00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308074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</p:grpSp>
      <p:sp>
        <p:nvSpPr>
          <p:cNvPr id="646" name="Line"/>
          <p:cNvSpPr/>
          <p:nvPr/>
        </p:nvSpPr>
        <p:spPr>
          <a:xfrm flipV="1">
            <a:off x="5664211" y="2844642"/>
            <a:ext cx="2167468" cy="1517023"/>
          </a:xfrm>
          <a:prstGeom prst="line">
            <a:avLst/>
          </a:prstGeom>
          <a:ln w="101600">
            <a:solidFill>
              <a:srgbClr val="0433FF"/>
            </a:solidFill>
            <a:miter lim="400000"/>
          </a:ln>
        </p:spPr>
        <p:txBody>
          <a:bodyPr lIns="26789" tIns="26789" rIns="26789" bIns="26789" anchor="ctr"/>
          <a:lstStyle/>
          <a:p>
            <a:pPr defTabSz="219075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100"/>
          </a:p>
        </p:txBody>
      </p:sp>
      <p:sp>
        <p:nvSpPr>
          <p:cNvPr id="647" name="Goal: find the line of best fit…"/>
          <p:cNvSpPr txBox="1"/>
          <p:nvPr/>
        </p:nvSpPr>
        <p:spPr>
          <a:xfrm>
            <a:off x="791863" y="2478647"/>
            <a:ext cx="4400990" cy="1406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/>
          <a:lstStyle/>
          <a:p>
            <a:pPr lvl="2" defTabSz="308074">
              <a:spcBef>
                <a:spcPts val="750"/>
              </a:spcBef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1875" b="1" dirty="0"/>
              <a:t>Goal</a:t>
            </a:r>
            <a:r>
              <a:rPr sz="1875" dirty="0"/>
              <a:t>: find the line of best fit</a:t>
            </a:r>
          </a:p>
          <a:p>
            <a:pPr lvl="2" defTabSz="219075">
              <a:spcBef>
                <a:spcPts val="750"/>
              </a:spcBef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1875" i="1" dirty="0"/>
              <a:t>x</a:t>
            </a:r>
            <a:r>
              <a:rPr sz="1875" dirty="0"/>
              <a:t> coordinate: features</a:t>
            </a:r>
          </a:p>
          <a:p>
            <a:pPr lvl="2" defTabSz="219075">
              <a:spcBef>
                <a:spcPts val="750"/>
              </a:spcBef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1875" i="1" dirty="0"/>
              <a:t>y</a:t>
            </a:r>
            <a:r>
              <a:rPr sz="1875" dirty="0"/>
              <a:t> coordinate: labels</a:t>
            </a:r>
          </a:p>
        </p:txBody>
      </p:sp>
      <p:sp>
        <p:nvSpPr>
          <p:cNvPr id="648" name="x"/>
          <p:cNvSpPr txBox="1"/>
          <p:nvPr/>
        </p:nvSpPr>
        <p:spPr>
          <a:xfrm>
            <a:off x="6810602" y="4622783"/>
            <a:ext cx="1393729" cy="296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6789" tIns="26789" rIns="26789" bIns="26789" anchor="ctr">
            <a:spAutoFit/>
          </a:bodyPr>
          <a:lstStyle/>
          <a:p>
            <a:pPr lvl="2" defTabSz="219075">
              <a:defRPr sz="42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575" i="1" dirty="0">
                <a:latin typeface="Times Roman"/>
                <a:ea typeface="Times Roman"/>
                <a:cs typeface="Times Roman"/>
                <a:sym typeface="Times Roman"/>
              </a:rPr>
              <a:t>x</a:t>
            </a:r>
          </a:p>
        </p:txBody>
      </p:sp>
      <p:sp>
        <p:nvSpPr>
          <p:cNvPr id="649" name="y"/>
          <p:cNvSpPr txBox="1"/>
          <p:nvPr/>
        </p:nvSpPr>
        <p:spPr>
          <a:xfrm>
            <a:off x="4443758" y="2478647"/>
            <a:ext cx="1220453" cy="296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6789" tIns="26789" rIns="26789" bIns="26789" anchor="ctr">
            <a:spAutoFit/>
          </a:bodyPr>
          <a:lstStyle/>
          <a:p>
            <a:pPr lvl="2" defTabSz="219075">
              <a:defRPr sz="42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575" i="1" dirty="0">
                <a:latin typeface="Times Roman"/>
                <a:ea typeface="Times Roman"/>
                <a:cs typeface="Times Roman"/>
                <a:sym typeface="Times Roman"/>
              </a:rPr>
              <a:t>y</a:t>
            </a:r>
          </a:p>
        </p:txBody>
      </p:sp>
      <p:grpSp>
        <p:nvGrpSpPr>
          <p:cNvPr id="655" name="Group"/>
          <p:cNvGrpSpPr/>
          <p:nvPr/>
        </p:nvGrpSpPr>
        <p:grpSpPr>
          <a:xfrm>
            <a:off x="1097815" y="4166965"/>
            <a:ext cx="3109568" cy="1196211"/>
            <a:chOff x="0" y="0"/>
            <a:chExt cx="8292180" cy="3189893"/>
          </a:xfrm>
        </p:grpSpPr>
        <p:pic>
          <p:nvPicPr>
            <p:cNvPr id="650" name="Image" descr="Image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0"/>
              <a:ext cx="7218363" cy="93441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51" name="Line"/>
            <p:cNvSpPr/>
            <p:nvPr/>
          </p:nvSpPr>
          <p:spPr>
            <a:xfrm flipV="1">
              <a:off x="2517411" y="1141154"/>
              <a:ext cx="1270001" cy="127000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652" name="Intercept / Offset"/>
            <p:cNvSpPr txBox="1"/>
            <p:nvPr/>
          </p:nvSpPr>
          <p:spPr>
            <a:xfrm>
              <a:off x="1304394" y="2430070"/>
              <a:ext cx="3764919" cy="7598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 algn="l" defTabSz="457200">
                <a:defRPr sz="4000"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1500"/>
                <a:t>Intercept / Offset</a:t>
              </a:r>
            </a:p>
          </p:txBody>
        </p:sp>
        <p:sp>
          <p:nvSpPr>
            <p:cNvPr id="653" name="Line"/>
            <p:cNvSpPr/>
            <p:nvPr/>
          </p:nvSpPr>
          <p:spPr>
            <a:xfrm flipH="1" flipV="1">
              <a:off x="6327411" y="1141154"/>
              <a:ext cx="1270001" cy="127000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654" name="Slope"/>
            <p:cNvSpPr txBox="1"/>
            <p:nvPr/>
          </p:nvSpPr>
          <p:spPr>
            <a:xfrm>
              <a:off x="7019396" y="2430070"/>
              <a:ext cx="1272784" cy="7598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 algn="l" defTabSz="457200">
                <a:defRPr sz="4000"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1500"/>
                <a:t>Slope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FC2147E-3336-2325-4E4C-70577624B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Autofit/>
          </a:bodyPr>
          <a:lstStyle/>
          <a:p>
            <a:r>
              <a:rPr lang="en-US" sz="3200" dirty="0"/>
              <a:t>Learning as optimization: linear regression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3" grpId="0" animBg="1" advAuto="0"/>
      <p:bldP spid="646" grpId="0" animBg="1" advAuto="0"/>
      <p:bldP spid="655" grpId="0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Example: Predicting house price from size, location, age…"/>
          <p:cNvSpPr txBox="1"/>
          <p:nvPr/>
        </p:nvSpPr>
        <p:spPr>
          <a:xfrm>
            <a:off x="947363" y="2119193"/>
            <a:ext cx="7851104" cy="3838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/>
          <a:lstStyle/>
          <a:p>
            <a:pPr defTabSz="308074">
              <a:spcBef>
                <a:spcPts val="263"/>
              </a:spcBef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1875" b="1" dirty="0"/>
              <a:t>Example</a:t>
            </a:r>
            <a:r>
              <a:rPr sz="1875" dirty="0"/>
              <a:t>: Predicting house price from size, </a:t>
            </a:r>
            <a:r>
              <a:rPr lang="en-US" sz="1875" dirty="0"/>
              <a:t>location (distance from GHC)</a:t>
            </a:r>
            <a:r>
              <a:rPr sz="1875" dirty="0"/>
              <a:t>, age</a:t>
            </a:r>
          </a:p>
          <a:p>
            <a:pPr defTabSz="308074">
              <a:spcBef>
                <a:spcPts val="263"/>
              </a:spcBef>
              <a:defRPr sz="5000">
                <a:latin typeface="+mn-lt"/>
                <a:ea typeface="+mn-ea"/>
                <a:cs typeface="+mn-cs"/>
                <a:sym typeface="Helvetica"/>
              </a:defRPr>
            </a:pPr>
            <a:endParaRPr sz="1875" dirty="0"/>
          </a:p>
          <a:p>
            <a:pPr defTabSz="308074">
              <a:spcBef>
                <a:spcPts val="263"/>
              </a:spcBef>
              <a:defRPr sz="5000">
                <a:latin typeface="+mn-lt"/>
                <a:ea typeface="+mn-ea"/>
                <a:cs typeface="+mn-cs"/>
                <a:sym typeface="Helvetica"/>
              </a:defRPr>
            </a:pPr>
            <a:br>
              <a:rPr sz="1875" dirty="0"/>
            </a:br>
            <a:r>
              <a:rPr sz="1875" dirty="0"/>
              <a:t>For each observation we have a feature vector, </a:t>
            </a:r>
            <a:r>
              <a:rPr sz="1875" b="1" dirty="0"/>
              <a:t>x</a:t>
            </a:r>
            <a:r>
              <a:rPr sz="1875" dirty="0"/>
              <a:t>, and label, y</a:t>
            </a:r>
            <a:br>
              <a:rPr sz="1875" dirty="0"/>
            </a:br>
            <a:endParaRPr sz="1875" dirty="0"/>
          </a:p>
          <a:p>
            <a:pPr defTabSz="308074">
              <a:spcBef>
                <a:spcPts val="263"/>
              </a:spcBef>
              <a:defRPr sz="5000">
                <a:latin typeface="+mn-lt"/>
                <a:ea typeface="+mn-ea"/>
                <a:cs typeface="+mn-cs"/>
                <a:sym typeface="Helvetica"/>
              </a:defRPr>
            </a:pPr>
            <a:endParaRPr sz="1875" dirty="0"/>
          </a:p>
          <a:p>
            <a:pPr defTabSz="308074">
              <a:spcBef>
                <a:spcPts val="263"/>
              </a:spcBef>
              <a:defRPr sz="5000">
                <a:latin typeface="+mn-lt"/>
                <a:ea typeface="+mn-ea"/>
                <a:cs typeface="+mn-cs"/>
                <a:sym typeface="Helvetica"/>
              </a:defRPr>
            </a:pPr>
            <a:endParaRPr sz="1875" dirty="0"/>
          </a:p>
          <a:p>
            <a:pPr defTabSz="308074">
              <a:spcBef>
                <a:spcPts val="263"/>
              </a:spcBef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lang="en-US" sz="1875" dirty="0"/>
              <a:t>A</a:t>
            </a:r>
            <a:r>
              <a:rPr sz="1875" dirty="0"/>
              <a:t>ssume a </a:t>
            </a:r>
            <a:r>
              <a:rPr sz="1875" i="1" dirty="0"/>
              <a:t>linear</a:t>
            </a:r>
            <a:r>
              <a:rPr sz="1875" dirty="0"/>
              <a:t> mapping between features and label:</a:t>
            </a:r>
            <a:br>
              <a:rPr sz="1875" dirty="0"/>
            </a:br>
            <a:br>
              <a:rPr sz="1875" dirty="0"/>
            </a:br>
            <a:endParaRPr sz="1875" dirty="0"/>
          </a:p>
        </p:txBody>
      </p:sp>
      <p:pic>
        <p:nvPicPr>
          <p:cNvPr id="514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9368" y="3630335"/>
            <a:ext cx="2379087" cy="3879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379" y="5118419"/>
            <a:ext cx="3853762" cy="25691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44" name="Group"/>
          <p:cNvGrpSpPr/>
          <p:nvPr/>
        </p:nvGrpSpPr>
        <p:grpSpPr>
          <a:xfrm>
            <a:off x="7685330" y="869608"/>
            <a:ext cx="1365291" cy="1370767"/>
            <a:chOff x="0" y="-135349"/>
            <a:chExt cx="3640775" cy="3655377"/>
          </a:xfrm>
        </p:grpSpPr>
        <p:grpSp>
          <p:nvGrpSpPr>
            <p:cNvPr id="532" name="Group"/>
            <p:cNvGrpSpPr/>
            <p:nvPr/>
          </p:nvGrpSpPr>
          <p:grpSpPr>
            <a:xfrm rot="2100000">
              <a:off x="843828" y="150130"/>
              <a:ext cx="1967952" cy="3084418"/>
              <a:chOff x="-97041" y="-97282"/>
              <a:chExt cx="1967951" cy="3084417"/>
            </a:xfrm>
          </p:grpSpPr>
          <p:pic>
            <p:nvPicPr>
              <p:cNvPr id="516" name="Line Line" descr="Line Line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3300000">
                <a:off x="633029" y="623044"/>
                <a:ext cx="356341" cy="139701"/>
              </a:xfrm>
              <a:prstGeom prst="rect">
                <a:avLst/>
              </a:prstGeom>
              <a:effectLst/>
            </p:spPr>
          </p:pic>
          <p:pic>
            <p:nvPicPr>
              <p:cNvPr id="518" name="Line Line" descr="Line Line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3300000">
                <a:off x="1017145" y="182683"/>
                <a:ext cx="356341" cy="139701"/>
              </a:xfrm>
              <a:prstGeom prst="rect">
                <a:avLst/>
              </a:prstGeom>
              <a:effectLst/>
            </p:spPr>
          </p:pic>
          <p:pic>
            <p:nvPicPr>
              <p:cNvPr id="520" name="Line Line" descr="Line Line"/>
              <p:cNvPicPr>
                <a:picLocks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rot="3300000">
                <a:off x="906731" y="345066"/>
                <a:ext cx="1152739" cy="139701"/>
              </a:xfrm>
              <a:prstGeom prst="rect">
                <a:avLst/>
              </a:prstGeom>
              <a:effectLst/>
            </p:spPr>
          </p:pic>
          <p:pic>
            <p:nvPicPr>
              <p:cNvPr id="522" name="Line Line" descr="Line Line"/>
              <p:cNvPicPr>
                <a:picLocks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3346432">
                <a:off x="-259898" y="1514538"/>
                <a:ext cx="1008411" cy="139701"/>
              </a:xfrm>
              <a:prstGeom prst="rect">
                <a:avLst/>
              </a:prstGeom>
              <a:effectLst/>
            </p:spPr>
          </p:pic>
          <p:pic>
            <p:nvPicPr>
              <p:cNvPr id="524" name="Line Line" descr="Line Line"/>
              <p:cNvPicPr>
                <a:picLocks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3300000">
                <a:off x="693358" y="1037475"/>
                <a:ext cx="432012" cy="139701"/>
              </a:xfrm>
              <a:prstGeom prst="rect">
                <a:avLst/>
              </a:prstGeom>
              <a:effectLst/>
            </p:spPr>
          </p:pic>
          <p:pic>
            <p:nvPicPr>
              <p:cNvPr id="526" name="Line Line" descr="Line Line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3300000">
                <a:off x="-87782" y="2731272"/>
                <a:ext cx="356341" cy="139701"/>
              </a:xfrm>
              <a:prstGeom prst="rect">
                <a:avLst/>
              </a:prstGeom>
              <a:effectLst/>
            </p:spPr>
          </p:pic>
          <p:pic>
            <p:nvPicPr>
              <p:cNvPr id="528" name="Line Line" descr="Line Line"/>
              <p:cNvPicPr>
                <a:picLocks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rot="3300000">
                <a:off x="-51113" y="2083784"/>
                <a:ext cx="545455" cy="139701"/>
              </a:xfrm>
              <a:prstGeom prst="rect">
                <a:avLst/>
              </a:prstGeom>
              <a:effectLst/>
            </p:spPr>
          </p:pic>
          <p:pic>
            <p:nvPicPr>
              <p:cNvPr id="530" name="Line Line" descr="Line Line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3300000">
                <a:off x="348066" y="1934570"/>
                <a:ext cx="356341" cy="139701"/>
              </a:xfrm>
              <a:prstGeom prst="rect">
                <a:avLst/>
              </a:prstGeom>
              <a:effectLst/>
            </p:spPr>
          </p:pic>
        </p:grpSp>
        <p:grpSp>
          <p:nvGrpSpPr>
            <p:cNvPr id="542" name="Group"/>
            <p:cNvGrpSpPr/>
            <p:nvPr/>
          </p:nvGrpSpPr>
          <p:grpSpPr>
            <a:xfrm>
              <a:off x="259681" y="439025"/>
              <a:ext cx="2936158" cy="1850568"/>
              <a:chOff x="0" y="0"/>
              <a:chExt cx="2936157" cy="1850566"/>
            </a:xfrm>
          </p:grpSpPr>
          <p:sp>
            <p:nvSpPr>
              <p:cNvPr id="533" name="Circle"/>
              <p:cNvSpPr/>
              <p:nvPr/>
            </p:nvSpPr>
            <p:spPr>
              <a:xfrm>
                <a:off x="0" y="1614323"/>
                <a:ext cx="236243" cy="236244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34" name="Circle"/>
              <p:cNvSpPr/>
              <p:nvPr/>
            </p:nvSpPr>
            <p:spPr>
              <a:xfrm>
                <a:off x="835037" y="395027"/>
                <a:ext cx="236244" cy="236243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35" name="Circle"/>
              <p:cNvSpPr/>
              <p:nvPr/>
            </p:nvSpPr>
            <p:spPr>
              <a:xfrm>
                <a:off x="2385390" y="539311"/>
                <a:ext cx="236243" cy="236244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36" name="Circle"/>
              <p:cNvSpPr/>
              <p:nvPr/>
            </p:nvSpPr>
            <p:spPr>
              <a:xfrm>
                <a:off x="846983" y="1614323"/>
                <a:ext cx="236244" cy="236244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37" name="Circle"/>
              <p:cNvSpPr/>
              <p:nvPr/>
            </p:nvSpPr>
            <p:spPr>
              <a:xfrm>
                <a:off x="489862" y="1046216"/>
                <a:ext cx="236244" cy="236244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38" name="Circle"/>
              <p:cNvSpPr/>
              <p:nvPr/>
            </p:nvSpPr>
            <p:spPr>
              <a:xfrm>
                <a:off x="1665953" y="1122540"/>
                <a:ext cx="236244" cy="236244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39" name="Circle"/>
              <p:cNvSpPr/>
              <p:nvPr/>
            </p:nvSpPr>
            <p:spPr>
              <a:xfrm>
                <a:off x="2542419" y="1271209"/>
                <a:ext cx="236244" cy="236244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40" name="Circle"/>
              <p:cNvSpPr/>
              <p:nvPr/>
            </p:nvSpPr>
            <p:spPr>
              <a:xfrm>
                <a:off x="2699914" y="0"/>
                <a:ext cx="236244" cy="236243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41" name="Circle"/>
              <p:cNvSpPr/>
              <p:nvPr/>
            </p:nvSpPr>
            <p:spPr>
              <a:xfrm>
                <a:off x="1799943" y="371238"/>
                <a:ext cx="236243" cy="236243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</p:grpSp>
        <p:sp>
          <p:nvSpPr>
            <p:cNvPr id="543" name="Line"/>
            <p:cNvSpPr/>
            <p:nvPr/>
          </p:nvSpPr>
          <p:spPr>
            <a:xfrm flipV="1">
              <a:off x="-1" y="161809"/>
              <a:ext cx="3640777" cy="2548200"/>
            </a:xfrm>
            <a:prstGeom prst="line">
              <a:avLst/>
            </a:prstGeom>
            <a:noFill/>
            <a:ln w="101600" cap="flat">
              <a:solidFill>
                <a:srgbClr val="0433FF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</p:grpSp>
      <p:sp>
        <p:nvSpPr>
          <p:cNvPr id="545" name="Splitting computation across the network"/>
          <p:cNvSpPr txBox="1"/>
          <p:nvPr/>
        </p:nvSpPr>
        <p:spPr>
          <a:xfrm>
            <a:off x="710868" y="1202607"/>
            <a:ext cx="7493711" cy="609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7144" tIns="17144" rIns="17144" bIns="17144">
            <a:normAutofit/>
          </a:bodyPr>
          <a:lstStyle>
            <a:lvl1pPr algn="l" defTabSz="2438522">
              <a:tabLst>
                <a:tab pos="3632200" algn="l"/>
              </a:tabLst>
              <a:defRPr sz="80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3000" dirty="0"/>
              <a:t>Linear regression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5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" grpId="0" build="p" bldLvl="5" animBg="1" advAuto="0"/>
      <p:bldP spid="514" grpId="0" animBg="1" advAuto="0"/>
      <p:bldP spid="515" grpId="0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Example: Predicting house price from size, location, age…"/>
          <p:cNvSpPr txBox="1"/>
          <p:nvPr/>
        </p:nvSpPr>
        <p:spPr>
          <a:xfrm>
            <a:off x="947363" y="2119193"/>
            <a:ext cx="7851104" cy="3838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/>
          <a:lstStyle/>
          <a:p>
            <a:pPr defTabSz="308074">
              <a:spcBef>
                <a:spcPts val="263"/>
              </a:spcBef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1875" b="1" dirty="0"/>
              <a:t>Example</a:t>
            </a:r>
            <a:r>
              <a:rPr sz="1875" dirty="0"/>
              <a:t>: Predicting house price from size, location, age</a:t>
            </a:r>
          </a:p>
          <a:p>
            <a:pPr defTabSz="308074">
              <a:spcBef>
                <a:spcPts val="263"/>
              </a:spcBef>
              <a:defRPr sz="5000">
                <a:latin typeface="+mn-lt"/>
                <a:ea typeface="+mn-ea"/>
                <a:cs typeface="+mn-cs"/>
                <a:sym typeface="Helvetica"/>
              </a:defRPr>
            </a:pPr>
            <a:endParaRPr sz="1875" dirty="0"/>
          </a:p>
          <a:p>
            <a:pPr defTabSz="308074">
              <a:spcBef>
                <a:spcPts val="263"/>
              </a:spcBef>
              <a:defRPr sz="5000">
                <a:latin typeface="+mn-lt"/>
                <a:ea typeface="+mn-ea"/>
                <a:cs typeface="+mn-cs"/>
                <a:sym typeface="Helvetica"/>
              </a:defRPr>
            </a:pPr>
            <a:br>
              <a:rPr sz="1875" dirty="0"/>
            </a:br>
            <a:r>
              <a:rPr lang="en-US" sz="1875" dirty="0"/>
              <a:t>If we </a:t>
            </a:r>
            <a:r>
              <a:rPr sz="1875" dirty="0"/>
              <a:t>augment the feature vector to incorporate </a:t>
            </a:r>
            <a:r>
              <a:rPr lang="en-US" sz="1875" dirty="0"/>
              <a:t>the intercept term </a:t>
            </a:r>
            <a:r>
              <a:rPr lang="en-US" sz="1875" i="1" dirty="0"/>
              <a:t>w</a:t>
            </a:r>
            <a:r>
              <a:rPr lang="en-US" sz="1875" i="1" baseline="-25000" dirty="0"/>
              <a:t>0</a:t>
            </a:r>
            <a:r>
              <a:rPr sz="1875" dirty="0"/>
              <a:t>:</a:t>
            </a:r>
            <a:br>
              <a:rPr sz="1875" dirty="0"/>
            </a:br>
            <a:endParaRPr sz="1875" dirty="0"/>
          </a:p>
          <a:p>
            <a:pPr defTabSz="308074">
              <a:spcBef>
                <a:spcPts val="263"/>
              </a:spcBef>
              <a:defRPr sz="5000">
                <a:latin typeface="+mn-lt"/>
                <a:ea typeface="+mn-ea"/>
                <a:cs typeface="+mn-cs"/>
                <a:sym typeface="Helvetica"/>
              </a:defRPr>
            </a:pPr>
            <a:endParaRPr sz="1875" dirty="0"/>
          </a:p>
          <a:p>
            <a:pPr defTabSz="308074">
              <a:spcBef>
                <a:spcPts val="263"/>
              </a:spcBef>
              <a:defRPr sz="5000">
                <a:latin typeface="+mn-lt"/>
                <a:ea typeface="+mn-ea"/>
                <a:cs typeface="+mn-cs"/>
                <a:sym typeface="Helvetica"/>
              </a:defRPr>
            </a:pPr>
            <a:endParaRPr sz="1875" dirty="0"/>
          </a:p>
          <a:p>
            <a:pPr defTabSz="308074">
              <a:spcBef>
                <a:spcPts val="263"/>
              </a:spcBef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1875" dirty="0"/>
              <a:t>We can then rewrite this linear mapping as </a:t>
            </a:r>
            <a:r>
              <a:rPr lang="en-US" sz="1875" dirty="0"/>
              <a:t>a dot</a:t>
            </a:r>
            <a:r>
              <a:rPr sz="1875" dirty="0"/>
              <a:t> product:</a:t>
            </a:r>
            <a:br>
              <a:rPr sz="1875" dirty="0"/>
            </a:br>
            <a:br>
              <a:rPr sz="1875" dirty="0"/>
            </a:br>
            <a:endParaRPr sz="1875" dirty="0"/>
          </a:p>
        </p:txBody>
      </p:sp>
      <p:pic>
        <p:nvPicPr>
          <p:cNvPr id="55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34" y="3633010"/>
            <a:ext cx="2801102" cy="382625"/>
          </a:xfrm>
          <a:prstGeom prst="rect">
            <a:avLst/>
          </a:prstGeom>
          <a:ln w="12700">
            <a:miter lim="400000"/>
          </a:ln>
        </p:spPr>
      </p:pic>
      <p:pic>
        <p:nvPicPr>
          <p:cNvPr id="55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8423" y="4777266"/>
            <a:ext cx="3144766" cy="90164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80" name="Group"/>
          <p:cNvGrpSpPr/>
          <p:nvPr/>
        </p:nvGrpSpPr>
        <p:grpSpPr>
          <a:xfrm>
            <a:off x="7685330" y="869608"/>
            <a:ext cx="1365291" cy="1370767"/>
            <a:chOff x="0" y="-135349"/>
            <a:chExt cx="3640775" cy="3655377"/>
          </a:xfrm>
        </p:grpSpPr>
        <p:grpSp>
          <p:nvGrpSpPr>
            <p:cNvPr id="568" name="Group"/>
            <p:cNvGrpSpPr/>
            <p:nvPr/>
          </p:nvGrpSpPr>
          <p:grpSpPr>
            <a:xfrm rot="2100000">
              <a:off x="843828" y="150130"/>
              <a:ext cx="1967952" cy="3084418"/>
              <a:chOff x="-97041" y="-97282"/>
              <a:chExt cx="1967951" cy="3084417"/>
            </a:xfrm>
          </p:grpSpPr>
          <p:pic>
            <p:nvPicPr>
              <p:cNvPr id="552" name="Line Line" descr="Line Line"/>
              <p:cNvPicPr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3300000">
                <a:off x="633029" y="623044"/>
                <a:ext cx="356341" cy="139701"/>
              </a:xfrm>
              <a:prstGeom prst="rect">
                <a:avLst/>
              </a:prstGeom>
              <a:effectLst/>
            </p:spPr>
          </p:pic>
          <p:pic>
            <p:nvPicPr>
              <p:cNvPr id="554" name="Line Line" descr="Line Line"/>
              <p:cNvPicPr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3300000">
                <a:off x="1017145" y="182683"/>
                <a:ext cx="356341" cy="139701"/>
              </a:xfrm>
              <a:prstGeom prst="rect">
                <a:avLst/>
              </a:prstGeom>
              <a:effectLst/>
            </p:spPr>
          </p:pic>
          <p:pic>
            <p:nvPicPr>
              <p:cNvPr id="556" name="Line Line" descr="Line Line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3300000">
                <a:off x="906731" y="345066"/>
                <a:ext cx="1152739" cy="139701"/>
              </a:xfrm>
              <a:prstGeom prst="rect">
                <a:avLst/>
              </a:prstGeom>
              <a:effectLst/>
            </p:spPr>
          </p:pic>
          <p:pic>
            <p:nvPicPr>
              <p:cNvPr id="558" name="Line Line" descr="Line Line"/>
              <p:cNvPicPr>
                <a:picLocks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rot="3346432">
                <a:off x="-259898" y="1514538"/>
                <a:ext cx="1008411" cy="139701"/>
              </a:xfrm>
              <a:prstGeom prst="rect">
                <a:avLst/>
              </a:prstGeom>
              <a:effectLst/>
            </p:spPr>
          </p:pic>
          <p:pic>
            <p:nvPicPr>
              <p:cNvPr id="560" name="Line Line" descr="Line Line"/>
              <p:cNvPicPr>
                <a:picLocks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3300000">
                <a:off x="693358" y="1037475"/>
                <a:ext cx="432012" cy="139701"/>
              </a:xfrm>
              <a:prstGeom prst="rect">
                <a:avLst/>
              </a:prstGeom>
              <a:effectLst/>
            </p:spPr>
          </p:pic>
          <p:pic>
            <p:nvPicPr>
              <p:cNvPr id="562" name="Line Line" descr="Line Line"/>
              <p:cNvPicPr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3300000">
                <a:off x="-87782" y="2731272"/>
                <a:ext cx="356341" cy="139701"/>
              </a:xfrm>
              <a:prstGeom prst="rect">
                <a:avLst/>
              </a:prstGeom>
              <a:effectLst/>
            </p:spPr>
          </p:pic>
          <p:pic>
            <p:nvPicPr>
              <p:cNvPr id="564" name="Line Line" descr="Line Line"/>
              <p:cNvPicPr>
                <a:picLocks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3300000">
                <a:off x="-51113" y="2083784"/>
                <a:ext cx="545455" cy="139701"/>
              </a:xfrm>
              <a:prstGeom prst="rect">
                <a:avLst/>
              </a:prstGeom>
              <a:effectLst/>
            </p:spPr>
          </p:pic>
          <p:pic>
            <p:nvPicPr>
              <p:cNvPr id="566" name="Line Line" descr="Line Line"/>
              <p:cNvPicPr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3300000">
                <a:off x="348066" y="1934570"/>
                <a:ext cx="356341" cy="139701"/>
              </a:xfrm>
              <a:prstGeom prst="rect">
                <a:avLst/>
              </a:prstGeom>
              <a:effectLst/>
            </p:spPr>
          </p:pic>
        </p:grpSp>
        <p:grpSp>
          <p:nvGrpSpPr>
            <p:cNvPr id="578" name="Group"/>
            <p:cNvGrpSpPr/>
            <p:nvPr/>
          </p:nvGrpSpPr>
          <p:grpSpPr>
            <a:xfrm>
              <a:off x="259681" y="439025"/>
              <a:ext cx="2936158" cy="1850568"/>
              <a:chOff x="0" y="0"/>
              <a:chExt cx="2936157" cy="1850566"/>
            </a:xfrm>
          </p:grpSpPr>
          <p:sp>
            <p:nvSpPr>
              <p:cNvPr id="569" name="Circle"/>
              <p:cNvSpPr/>
              <p:nvPr/>
            </p:nvSpPr>
            <p:spPr>
              <a:xfrm>
                <a:off x="0" y="1614323"/>
                <a:ext cx="236243" cy="236244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70" name="Circle"/>
              <p:cNvSpPr/>
              <p:nvPr/>
            </p:nvSpPr>
            <p:spPr>
              <a:xfrm>
                <a:off x="835037" y="395027"/>
                <a:ext cx="236244" cy="236243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71" name="Circle"/>
              <p:cNvSpPr/>
              <p:nvPr/>
            </p:nvSpPr>
            <p:spPr>
              <a:xfrm>
                <a:off x="2385390" y="539311"/>
                <a:ext cx="236243" cy="236244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72" name="Circle"/>
              <p:cNvSpPr/>
              <p:nvPr/>
            </p:nvSpPr>
            <p:spPr>
              <a:xfrm>
                <a:off x="846983" y="1614323"/>
                <a:ext cx="236244" cy="236244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73" name="Circle"/>
              <p:cNvSpPr/>
              <p:nvPr/>
            </p:nvSpPr>
            <p:spPr>
              <a:xfrm>
                <a:off x="489862" y="1046216"/>
                <a:ext cx="236244" cy="236244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74" name="Circle"/>
              <p:cNvSpPr/>
              <p:nvPr/>
            </p:nvSpPr>
            <p:spPr>
              <a:xfrm>
                <a:off x="1665953" y="1122540"/>
                <a:ext cx="236244" cy="236244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75" name="Circle"/>
              <p:cNvSpPr/>
              <p:nvPr/>
            </p:nvSpPr>
            <p:spPr>
              <a:xfrm>
                <a:off x="2542419" y="1271209"/>
                <a:ext cx="236244" cy="236244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76" name="Circle"/>
              <p:cNvSpPr/>
              <p:nvPr/>
            </p:nvSpPr>
            <p:spPr>
              <a:xfrm>
                <a:off x="2699914" y="0"/>
                <a:ext cx="236244" cy="236243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77" name="Circle"/>
              <p:cNvSpPr/>
              <p:nvPr/>
            </p:nvSpPr>
            <p:spPr>
              <a:xfrm>
                <a:off x="1799943" y="371238"/>
                <a:ext cx="236243" cy="236243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</p:grpSp>
        <p:sp>
          <p:nvSpPr>
            <p:cNvPr id="579" name="Line"/>
            <p:cNvSpPr/>
            <p:nvPr/>
          </p:nvSpPr>
          <p:spPr>
            <a:xfrm flipV="1">
              <a:off x="-1" y="161809"/>
              <a:ext cx="3640777" cy="2548200"/>
            </a:xfrm>
            <a:prstGeom prst="line">
              <a:avLst/>
            </a:prstGeom>
            <a:noFill/>
            <a:ln w="101600" cap="flat">
              <a:solidFill>
                <a:srgbClr val="0433FF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</p:grpSp>
      <p:sp>
        <p:nvSpPr>
          <p:cNvPr id="581" name="Splitting computation across the network"/>
          <p:cNvSpPr txBox="1"/>
          <p:nvPr/>
        </p:nvSpPr>
        <p:spPr>
          <a:xfrm>
            <a:off x="710868" y="1202607"/>
            <a:ext cx="7493711" cy="609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7144" tIns="17144" rIns="17144" bIns="17144">
            <a:normAutofit/>
          </a:bodyPr>
          <a:lstStyle>
            <a:lvl1pPr algn="l" defTabSz="2438522">
              <a:tabLst>
                <a:tab pos="3632200" algn="l"/>
              </a:tabLst>
              <a:defRPr sz="80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3000" dirty="0"/>
              <a:t>Linear regression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5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5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5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9" grpId="0" build="p" bldLvl="5" animBg="1" advAuto="0"/>
      <p:bldP spid="550" grpId="0" animBg="1" advAuto="0"/>
      <p:bldP spid="551" grpId="0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Simple…"/>
          <p:cNvSpPr txBox="1"/>
          <p:nvPr/>
        </p:nvSpPr>
        <p:spPr>
          <a:xfrm>
            <a:off x="916781" y="2664023"/>
            <a:ext cx="7187109" cy="2503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/>
          <a:lstStyle/>
          <a:p>
            <a:pPr defTabSz="308074">
              <a:spcBef>
                <a:spcPts val="263"/>
              </a:spcBef>
              <a:defRPr sz="6500" b="1">
                <a:solidFill>
                  <a:schemeClr val="accent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sz="2438" dirty="0"/>
              <a:t>Simple</a:t>
            </a:r>
            <a:br>
              <a:rPr sz="2438" dirty="0"/>
            </a:br>
            <a:endParaRPr sz="2438" dirty="0"/>
          </a:p>
          <a:p>
            <a:pPr defTabSz="308074">
              <a:spcBef>
                <a:spcPts val="263"/>
              </a:spcBef>
              <a:defRPr sz="6500" b="1">
                <a:solidFill>
                  <a:schemeClr val="accent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sz="2438" dirty="0"/>
              <a:t>Often works well in practice</a:t>
            </a:r>
          </a:p>
          <a:p>
            <a:pPr defTabSz="308074">
              <a:spcBef>
                <a:spcPts val="263"/>
              </a:spcBef>
              <a:defRPr sz="6500" b="1">
                <a:solidFill>
                  <a:schemeClr val="accent5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sz="2438" dirty="0"/>
          </a:p>
          <a:p>
            <a:pPr defTabSz="308074">
              <a:spcBef>
                <a:spcPts val="263"/>
              </a:spcBef>
              <a:defRPr sz="6500" b="1">
                <a:solidFill>
                  <a:schemeClr val="accent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US" sz="2438" dirty="0"/>
              <a:t>Linearity isn’t a big deal since you can add new features easily (more later)</a:t>
            </a:r>
            <a:endParaRPr sz="2438" dirty="0"/>
          </a:p>
        </p:txBody>
      </p:sp>
      <p:grpSp>
        <p:nvGrpSpPr>
          <p:cNvPr id="612" name="Group"/>
          <p:cNvGrpSpPr/>
          <p:nvPr/>
        </p:nvGrpSpPr>
        <p:grpSpPr>
          <a:xfrm>
            <a:off x="7685330" y="869608"/>
            <a:ext cx="1365291" cy="1370767"/>
            <a:chOff x="0" y="-135349"/>
            <a:chExt cx="3640775" cy="3655377"/>
          </a:xfrm>
        </p:grpSpPr>
        <p:grpSp>
          <p:nvGrpSpPr>
            <p:cNvPr id="600" name="Group"/>
            <p:cNvGrpSpPr/>
            <p:nvPr/>
          </p:nvGrpSpPr>
          <p:grpSpPr>
            <a:xfrm rot="2100000">
              <a:off x="843828" y="150130"/>
              <a:ext cx="1967952" cy="3084418"/>
              <a:chOff x="-97041" y="-97282"/>
              <a:chExt cx="1967951" cy="3084417"/>
            </a:xfrm>
          </p:grpSpPr>
          <p:pic>
            <p:nvPicPr>
              <p:cNvPr id="584" name="Line Line" descr="Line Line"/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3300000">
                <a:off x="633029" y="623044"/>
                <a:ext cx="356341" cy="139701"/>
              </a:xfrm>
              <a:prstGeom prst="rect">
                <a:avLst/>
              </a:prstGeom>
              <a:effectLst/>
            </p:spPr>
          </p:pic>
          <p:pic>
            <p:nvPicPr>
              <p:cNvPr id="586" name="Line Line" descr="Line Line"/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3300000">
                <a:off x="1017145" y="182683"/>
                <a:ext cx="356341" cy="139701"/>
              </a:xfrm>
              <a:prstGeom prst="rect">
                <a:avLst/>
              </a:prstGeom>
              <a:effectLst/>
            </p:spPr>
          </p:pic>
          <p:pic>
            <p:nvPicPr>
              <p:cNvPr id="588" name="Line Line" descr="Line Line"/>
              <p:cNvPicPr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3300000">
                <a:off x="906731" y="345066"/>
                <a:ext cx="1152739" cy="139701"/>
              </a:xfrm>
              <a:prstGeom prst="rect">
                <a:avLst/>
              </a:prstGeom>
              <a:effectLst/>
            </p:spPr>
          </p:pic>
          <p:pic>
            <p:nvPicPr>
              <p:cNvPr id="590" name="Line Line" descr="Line Line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3346432">
                <a:off x="-259898" y="1514538"/>
                <a:ext cx="1008411" cy="139701"/>
              </a:xfrm>
              <a:prstGeom prst="rect">
                <a:avLst/>
              </a:prstGeom>
              <a:effectLst/>
            </p:spPr>
          </p:pic>
          <p:pic>
            <p:nvPicPr>
              <p:cNvPr id="592" name="Line Line" descr="Line Line"/>
              <p:cNvPicPr>
                <a:picLocks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rot="3300000">
                <a:off x="693358" y="1037475"/>
                <a:ext cx="432012" cy="139701"/>
              </a:xfrm>
              <a:prstGeom prst="rect">
                <a:avLst/>
              </a:prstGeom>
              <a:effectLst/>
            </p:spPr>
          </p:pic>
          <p:pic>
            <p:nvPicPr>
              <p:cNvPr id="594" name="Line Line" descr="Line Line"/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3300000">
                <a:off x="-87782" y="2731272"/>
                <a:ext cx="356341" cy="139701"/>
              </a:xfrm>
              <a:prstGeom prst="rect">
                <a:avLst/>
              </a:prstGeom>
              <a:effectLst/>
            </p:spPr>
          </p:pic>
          <p:pic>
            <p:nvPicPr>
              <p:cNvPr id="596" name="Line Line" descr="Line Line"/>
              <p:cNvPicPr>
                <a:picLocks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3300000">
                <a:off x="-51113" y="2083784"/>
                <a:ext cx="545455" cy="139701"/>
              </a:xfrm>
              <a:prstGeom prst="rect">
                <a:avLst/>
              </a:prstGeom>
              <a:effectLst/>
            </p:spPr>
          </p:pic>
          <p:pic>
            <p:nvPicPr>
              <p:cNvPr id="598" name="Line Line" descr="Line Line"/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3300000">
                <a:off x="348066" y="1934570"/>
                <a:ext cx="356341" cy="139701"/>
              </a:xfrm>
              <a:prstGeom prst="rect">
                <a:avLst/>
              </a:prstGeom>
              <a:effectLst/>
            </p:spPr>
          </p:pic>
        </p:grpSp>
        <p:grpSp>
          <p:nvGrpSpPr>
            <p:cNvPr id="610" name="Group"/>
            <p:cNvGrpSpPr/>
            <p:nvPr/>
          </p:nvGrpSpPr>
          <p:grpSpPr>
            <a:xfrm>
              <a:off x="259681" y="439025"/>
              <a:ext cx="2936158" cy="1850568"/>
              <a:chOff x="0" y="0"/>
              <a:chExt cx="2936157" cy="1850566"/>
            </a:xfrm>
          </p:grpSpPr>
          <p:sp>
            <p:nvSpPr>
              <p:cNvPr id="601" name="Circle"/>
              <p:cNvSpPr/>
              <p:nvPr/>
            </p:nvSpPr>
            <p:spPr>
              <a:xfrm>
                <a:off x="0" y="1614323"/>
                <a:ext cx="236243" cy="236244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602" name="Circle"/>
              <p:cNvSpPr/>
              <p:nvPr/>
            </p:nvSpPr>
            <p:spPr>
              <a:xfrm>
                <a:off x="835037" y="395027"/>
                <a:ext cx="236244" cy="236243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603" name="Circle"/>
              <p:cNvSpPr/>
              <p:nvPr/>
            </p:nvSpPr>
            <p:spPr>
              <a:xfrm>
                <a:off x="2385390" y="539311"/>
                <a:ext cx="236243" cy="236244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604" name="Circle"/>
              <p:cNvSpPr/>
              <p:nvPr/>
            </p:nvSpPr>
            <p:spPr>
              <a:xfrm>
                <a:off x="846983" y="1614323"/>
                <a:ext cx="236244" cy="236244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605" name="Circle"/>
              <p:cNvSpPr/>
              <p:nvPr/>
            </p:nvSpPr>
            <p:spPr>
              <a:xfrm>
                <a:off x="489862" y="1046216"/>
                <a:ext cx="236244" cy="236244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606" name="Circle"/>
              <p:cNvSpPr/>
              <p:nvPr/>
            </p:nvSpPr>
            <p:spPr>
              <a:xfrm>
                <a:off x="1665953" y="1122540"/>
                <a:ext cx="236244" cy="236244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607" name="Circle"/>
              <p:cNvSpPr/>
              <p:nvPr/>
            </p:nvSpPr>
            <p:spPr>
              <a:xfrm>
                <a:off x="2542419" y="1271209"/>
                <a:ext cx="236244" cy="236244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608" name="Circle"/>
              <p:cNvSpPr/>
              <p:nvPr/>
            </p:nvSpPr>
            <p:spPr>
              <a:xfrm>
                <a:off x="2699914" y="0"/>
                <a:ext cx="236244" cy="236243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609" name="Circle"/>
              <p:cNvSpPr/>
              <p:nvPr/>
            </p:nvSpPr>
            <p:spPr>
              <a:xfrm>
                <a:off x="1799943" y="371238"/>
                <a:ext cx="236243" cy="236243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</p:grpSp>
        <p:sp>
          <p:nvSpPr>
            <p:cNvPr id="611" name="Line"/>
            <p:cNvSpPr/>
            <p:nvPr/>
          </p:nvSpPr>
          <p:spPr>
            <a:xfrm flipV="1">
              <a:off x="-1" y="161809"/>
              <a:ext cx="3640777" cy="2548200"/>
            </a:xfrm>
            <a:prstGeom prst="line">
              <a:avLst/>
            </a:prstGeom>
            <a:noFill/>
            <a:ln w="101600" cap="flat">
              <a:solidFill>
                <a:srgbClr val="0433FF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</p:grpSp>
      <p:sp>
        <p:nvSpPr>
          <p:cNvPr id="613" name="Splitting computation across the network"/>
          <p:cNvSpPr txBox="1"/>
          <p:nvPr/>
        </p:nvSpPr>
        <p:spPr>
          <a:xfrm>
            <a:off x="710868" y="1202607"/>
            <a:ext cx="7493711" cy="609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7144" tIns="17144" rIns="17144" bIns="17144">
            <a:normAutofit/>
          </a:bodyPr>
          <a:lstStyle>
            <a:lvl1pPr algn="l" defTabSz="2438522">
              <a:tabLst>
                <a:tab pos="3632200" algn="l"/>
              </a:tabLst>
              <a:defRPr sz="80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3000" dirty="0"/>
              <a:t>Why a linear mapping?</a:t>
            </a:r>
            <a:endParaRPr lang="en-US" sz="3000" dirty="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8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5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" grpId="0" build="p" bldLvl="5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B172D-9D50-5F99-92DB-1A6B0B608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BDF81EE-E479-A30F-4D82-F66B7E01177E}"/>
              </a:ext>
            </a:extLst>
          </p:cNvPr>
          <p:cNvGrpSpPr/>
          <p:nvPr/>
        </p:nvGrpSpPr>
        <p:grpSpPr>
          <a:xfrm>
            <a:off x="4603750" y="1747127"/>
            <a:ext cx="3760573" cy="2440611"/>
            <a:chOff x="4443758" y="2478647"/>
            <a:chExt cx="3760573" cy="2440611"/>
          </a:xfrm>
        </p:grpSpPr>
        <p:grpSp>
          <p:nvGrpSpPr>
            <p:cNvPr id="633" name="Group">
              <a:extLst>
                <a:ext uri="{FF2B5EF4-FFF2-40B4-BE49-F238E27FC236}">
                  <a16:creationId xmlns:a16="http://schemas.microsoft.com/office/drawing/2014/main" id="{12D7F7CF-A7D9-EBB0-2C87-9164C48C2AE2}"/>
                </a:ext>
              </a:extLst>
            </p:cNvPr>
            <p:cNvGrpSpPr/>
            <p:nvPr/>
          </p:nvGrpSpPr>
          <p:grpSpPr>
            <a:xfrm rot="2100000">
              <a:off x="6203174" y="2863906"/>
              <a:ext cx="1112035" cy="1793382"/>
              <a:chOff x="-97282" y="-97282"/>
              <a:chExt cx="2965425" cy="4782350"/>
            </a:xfrm>
          </p:grpSpPr>
          <p:pic>
            <p:nvPicPr>
              <p:cNvPr id="617" name="Line Line" descr="Line Line">
                <a:extLst>
                  <a:ext uri="{FF2B5EF4-FFF2-40B4-BE49-F238E27FC236}">
                    <a16:creationId xmlns:a16="http://schemas.microsoft.com/office/drawing/2014/main" id="{ABDA2799-D38A-08E7-42BA-2056C5F3941A}"/>
                  </a:ext>
                </a:extLst>
              </p:cNvPr>
              <p:cNvPicPr>
                <a:picLocks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3300000">
                <a:off x="1001143" y="1030155"/>
                <a:ext cx="483628" cy="139701"/>
              </a:xfrm>
              <a:prstGeom prst="rect">
                <a:avLst/>
              </a:prstGeom>
              <a:effectLst/>
            </p:spPr>
          </p:pic>
          <p:pic>
            <p:nvPicPr>
              <p:cNvPr id="619" name="Line Line" descr="Line Line">
                <a:extLst>
                  <a:ext uri="{FF2B5EF4-FFF2-40B4-BE49-F238E27FC236}">
                    <a16:creationId xmlns:a16="http://schemas.microsoft.com/office/drawing/2014/main" id="{34C43FE0-2166-CD3A-A34B-34E61B174DF3}"/>
                  </a:ext>
                </a:extLst>
              </p:cNvPr>
              <p:cNvPicPr>
                <a:picLocks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3300000">
                <a:off x="1610947" y="331059"/>
                <a:ext cx="483628" cy="139701"/>
              </a:xfrm>
              <a:prstGeom prst="rect">
                <a:avLst/>
              </a:prstGeom>
              <a:effectLst/>
            </p:spPr>
          </p:pic>
          <p:pic>
            <p:nvPicPr>
              <p:cNvPr id="621" name="Line Line" descr="Line Line">
                <a:extLst>
                  <a:ext uri="{FF2B5EF4-FFF2-40B4-BE49-F238E27FC236}">
                    <a16:creationId xmlns:a16="http://schemas.microsoft.com/office/drawing/2014/main" id="{CF88F82E-960D-0C4B-C3F3-9F050467349F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3300000">
                <a:off x="1435659" y="588850"/>
                <a:ext cx="1747950" cy="139701"/>
              </a:xfrm>
              <a:prstGeom prst="rect">
                <a:avLst/>
              </a:prstGeom>
              <a:effectLst/>
            </p:spPr>
          </p:pic>
          <p:pic>
            <p:nvPicPr>
              <p:cNvPr id="623" name="Line Line" descr="Line Line">
                <a:extLst>
                  <a:ext uri="{FF2B5EF4-FFF2-40B4-BE49-F238E27FC236}">
                    <a16:creationId xmlns:a16="http://schemas.microsoft.com/office/drawing/2014/main" id="{8C9C2E58-B06D-4271-AE81-F11B5271D39A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3346432">
                <a:off x="-303598" y="1886910"/>
                <a:ext cx="1518821" cy="139701"/>
              </a:xfrm>
              <a:prstGeom prst="rect">
                <a:avLst/>
              </a:prstGeom>
              <a:effectLst/>
            </p:spPr>
          </p:pic>
          <p:pic>
            <p:nvPicPr>
              <p:cNvPr id="625" name="Line Line" descr="Line Line">
                <a:extLst>
                  <a:ext uri="{FF2B5EF4-FFF2-40B4-BE49-F238E27FC236}">
                    <a16:creationId xmlns:a16="http://schemas.microsoft.com/office/drawing/2014/main" id="{4CD3263D-0074-74DC-764E-7CB7C114B574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3300000">
                <a:off x="1096919" y="1688084"/>
                <a:ext cx="603759" cy="139701"/>
              </a:xfrm>
              <a:prstGeom prst="rect">
                <a:avLst/>
              </a:prstGeom>
              <a:effectLst/>
            </p:spPr>
          </p:pic>
          <p:pic>
            <p:nvPicPr>
              <p:cNvPr id="627" name="Line Line" descr="Line Line">
                <a:extLst>
                  <a:ext uri="{FF2B5EF4-FFF2-40B4-BE49-F238E27FC236}">
                    <a16:creationId xmlns:a16="http://schemas.microsoft.com/office/drawing/2014/main" id="{3C84D15E-CB2E-FE57-B011-42C050E604D7}"/>
                  </a:ext>
                </a:extLst>
              </p:cNvPr>
              <p:cNvPicPr>
                <a:picLocks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3300000">
                <a:off x="-143180" y="4377072"/>
                <a:ext cx="483628" cy="139701"/>
              </a:xfrm>
              <a:prstGeom prst="rect">
                <a:avLst/>
              </a:prstGeom>
              <a:effectLst/>
            </p:spPr>
          </p:pic>
          <p:pic>
            <p:nvPicPr>
              <p:cNvPr id="629" name="Line Line" descr="Line Line">
                <a:extLst>
                  <a:ext uri="{FF2B5EF4-FFF2-40B4-BE49-F238E27FC236}">
                    <a16:creationId xmlns:a16="http://schemas.microsoft.com/office/drawing/2014/main" id="{FB0E964E-74DD-2220-3E5D-1DF8815DBE5D}"/>
                  </a:ext>
                </a:extLst>
              </p:cNvPr>
              <p:cNvPicPr>
                <a:picLocks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rot="3300000">
                <a:off x="-84966" y="3349152"/>
                <a:ext cx="783855" cy="139701"/>
              </a:xfrm>
              <a:prstGeom prst="rect">
                <a:avLst/>
              </a:prstGeom>
              <a:effectLst/>
            </p:spPr>
          </p:pic>
          <p:pic>
            <p:nvPicPr>
              <p:cNvPr id="631" name="Line Line" descr="Line Line">
                <a:extLst>
                  <a:ext uri="{FF2B5EF4-FFF2-40B4-BE49-F238E27FC236}">
                    <a16:creationId xmlns:a16="http://schemas.microsoft.com/office/drawing/2014/main" id="{1FEAE1F0-6EC4-CA73-F9A0-8E868EBB3024}"/>
                  </a:ext>
                </a:extLst>
              </p:cNvPr>
              <p:cNvPicPr>
                <a:picLocks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3300000">
                <a:off x="548750" y="3112268"/>
                <a:ext cx="483628" cy="139701"/>
              </a:xfrm>
              <a:prstGeom prst="rect">
                <a:avLst/>
              </a:prstGeom>
              <a:effectLst/>
            </p:spPr>
          </p:pic>
        </p:grpSp>
        <p:sp>
          <p:nvSpPr>
            <p:cNvPr id="646" name="Line">
              <a:extLst>
                <a:ext uri="{FF2B5EF4-FFF2-40B4-BE49-F238E27FC236}">
                  <a16:creationId xmlns:a16="http://schemas.microsoft.com/office/drawing/2014/main" id="{A5766CAA-C758-1A11-ECBC-1475204A8502}"/>
                </a:ext>
              </a:extLst>
            </p:cNvPr>
            <p:cNvSpPr/>
            <p:nvPr/>
          </p:nvSpPr>
          <p:spPr>
            <a:xfrm flipV="1">
              <a:off x="5664211" y="2844642"/>
              <a:ext cx="2167468" cy="1517023"/>
            </a:xfrm>
            <a:prstGeom prst="line">
              <a:avLst/>
            </a:prstGeom>
            <a:ln w="101600">
              <a:solidFill>
                <a:srgbClr val="0433FF"/>
              </a:solidFill>
              <a:miter lim="400000"/>
            </a:ln>
          </p:spPr>
          <p:txBody>
            <a:bodyPr lIns="26789" tIns="26789" rIns="26789" bIns="26789" anchor="ctr"/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FC196A7-75ED-0BC0-4833-6CB8A7C7AD24}"/>
                </a:ext>
              </a:extLst>
            </p:cNvPr>
            <p:cNvGrpSpPr/>
            <p:nvPr/>
          </p:nvGrpSpPr>
          <p:grpSpPr>
            <a:xfrm>
              <a:off x="4443758" y="2478647"/>
              <a:ext cx="3760573" cy="2440611"/>
              <a:chOff x="4443758" y="2478647"/>
              <a:chExt cx="3760573" cy="2440611"/>
            </a:xfrm>
          </p:grpSpPr>
          <p:grpSp>
            <p:nvGrpSpPr>
              <p:cNvPr id="645" name="Group">
                <a:extLst>
                  <a:ext uri="{FF2B5EF4-FFF2-40B4-BE49-F238E27FC236}">
                    <a16:creationId xmlns:a16="http://schemas.microsoft.com/office/drawing/2014/main" id="{A7E7CE64-AA0D-2587-0DCE-482E9144E540}"/>
                  </a:ext>
                </a:extLst>
              </p:cNvPr>
              <p:cNvGrpSpPr/>
              <p:nvPr/>
            </p:nvGrpSpPr>
            <p:grpSpPr>
              <a:xfrm>
                <a:off x="5554265" y="2565844"/>
                <a:ext cx="2387359" cy="2074617"/>
                <a:chOff x="0" y="0"/>
                <a:chExt cx="6366288" cy="5532310"/>
              </a:xfrm>
            </p:grpSpPr>
            <p:sp>
              <p:nvSpPr>
                <p:cNvPr id="634" name="Line">
                  <a:extLst>
                    <a:ext uri="{FF2B5EF4-FFF2-40B4-BE49-F238E27FC236}">
                      <a16:creationId xmlns:a16="http://schemas.microsoft.com/office/drawing/2014/main" id="{0F5AEA40-6ED0-B313-A381-D898A3F713A6}"/>
                    </a:ext>
                  </a:extLst>
                </p:cNvPr>
                <p:cNvSpPr/>
                <p:nvPr/>
              </p:nvSpPr>
              <p:spPr>
                <a:xfrm flipV="1">
                  <a:off x="-1" y="-1"/>
                  <a:ext cx="2" cy="5532312"/>
                </a:xfrm>
                <a:prstGeom prst="line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pPr defTabSz="219075">
                    <a:defRPr sz="56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latin typeface="Gill Sans"/>
                      <a:ea typeface="Gill Sans"/>
                      <a:cs typeface="Gill Sans"/>
                      <a:sym typeface="Gill Sans"/>
                    </a:defRPr>
                  </a:pPr>
                  <a:endParaRPr sz="2100"/>
                </a:p>
              </p:txBody>
            </p:sp>
            <p:sp>
              <p:nvSpPr>
                <p:cNvPr id="635" name="Line">
                  <a:extLst>
                    <a:ext uri="{FF2B5EF4-FFF2-40B4-BE49-F238E27FC236}">
                      <a16:creationId xmlns:a16="http://schemas.microsoft.com/office/drawing/2014/main" id="{412DCCAA-2AA9-EBB0-982B-BC6BA04BA18E}"/>
                    </a:ext>
                  </a:extLst>
                </p:cNvPr>
                <p:cNvSpPr/>
                <p:nvPr/>
              </p:nvSpPr>
              <p:spPr>
                <a:xfrm>
                  <a:off x="0" y="5532310"/>
                  <a:ext cx="6366289" cy="1"/>
                </a:xfrm>
                <a:prstGeom prst="line">
                  <a:avLst/>
                </a:prstGeom>
                <a:noFill/>
                <a:ln w="635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pPr defTabSz="308074">
                    <a:defRPr sz="56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latin typeface="Gill Sans"/>
                      <a:ea typeface="Gill Sans"/>
                      <a:cs typeface="Gill Sans"/>
                      <a:sym typeface="Gill Sans"/>
                    </a:defRPr>
                  </a:pPr>
                  <a:endParaRPr sz="2100"/>
                </a:p>
              </p:txBody>
            </p:sp>
            <p:sp>
              <p:nvSpPr>
                <p:cNvPr id="636" name="Circle">
                  <a:extLst>
                    <a:ext uri="{FF2B5EF4-FFF2-40B4-BE49-F238E27FC236}">
                      <a16:creationId xmlns:a16="http://schemas.microsoft.com/office/drawing/2014/main" id="{A89BAE76-5C2C-3628-908F-E88A5B0A9CE9}"/>
                    </a:ext>
                  </a:extLst>
                </p:cNvPr>
                <p:cNvSpPr/>
                <p:nvPr/>
              </p:nvSpPr>
              <p:spPr>
                <a:xfrm>
                  <a:off x="705445" y="3746373"/>
                  <a:ext cx="375048" cy="375048"/>
                </a:xfrm>
                <a:prstGeom prst="ellipse">
                  <a:avLst/>
                </a:prstGeom>
                <a:solidFill>
                  <a:srgbClr val="B51B00"/>
                </a:solidFill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pPr defTabSz="219075">
                    <a:defRPr sz="56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latin typeface="Gill Sans"/>
                      <a:ea typeface="Gill Sans"/>
                      <a:cs typeface="Gill Sans"/>
                      <a:sym typeface="Gill Sans"/>
                    </a:defRPr>
                  </a:pPr>
                  <a:endParaRPr sz="2100"/>
                </a:p>
              </p:txBody>
            </p:sp>
            <p:sp>
              <p:nvSpPr>
                <p:cNvPr id="637" name="Circle">
                  <a:extLst>
                    <a:ext uri="{FF2B5EF4-FFF2-40B4-BE49-F238E27FC236}">
                      <a16:creationId xmlns:a16="http://schemas.microsoft.com/office/drawing/2014/main" id="{FF01BCCC-5435-ADCC-3ED1-58A6F8C13AE3}"/>
                    </a:ext>
                  </a:extLst>
                </p:cNvPr>
                <p:cNvSpPr/>
                <p:nvPr/>
              </p:nvSpPr>
              <p:spPr>
                <a:xfrm>
                  <a:off x="2462909" y="1353478"/>
                  <a:ext cx="375048" cy="375048"/>
                </a:xfrm>
                <a:prstGeom prst="ellipse">
                  <a:avLst/>
                </a:prstGeom>
                <a:solidFill>
                  <a:srgbClr val="B51B00"/>
                </a:solidFill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pPr defTabSz="308074">
                    <a:defRPr sz="56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latin typeface="Gill Sans"/>
                      <a:ea typeface="Gill Sans"/>
                      <a:cs typeface="Gill Sans"/>
                      <a:sym typeface="Gill Sans"/>
                    </a:defRPr>
                  </a:pPr>
                  <a:endParaRPr sz="2100"/>
                </a:p>
              </p:txBody>
            </p:sp>
            <p:sp>
              <p:nvSpPr>
                <p:cNvPr id="638" name="Circle">
                  <a:extLst>
                    <a:ext uri="{FF2B5EF4-FFF2-40B4-BE49-F238E27FC236}">
                      <a16:creationId xmlns:a16="http://schemas.microsoft.com/office/drawing/2014/main" id="{9E2E18F5-25A2-4030-0939-C4CB528022EB}"/>
                    </a:ext>
                  </a:extLst>
                </p:cNvPr>
                <p:cNvSpPr/>
                <p:nvPr/>
              </p:nvSpPr>
              <p:spPr>
                <a:xfrm>
                  <a:off x="4492372" y="2039737"/>
                  <a:ext cx="375048" cy="375048"/>
                </a:xfrm>
                <a:prstGeom prst="ellipse">
                  <a:avLst/>
                </a:prstGeom>
                <a:solidFill>
                  <a:srgbClr val="B51B00"/>
                </a:solidFill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pPr defTabSz="308074">
                    <a:defRPr sz="56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latin typeface="Gill Sans"/>
                      <a:ea typeface="Gill Sans"/>
                      <a:cs typeface="Gill Sans"/>
                      <a:sym typeface="Gill Sans"/>
                    </a:defRPr>
                  </a:pPr>
                  <a:endParaRPr sz="2100"/>
                </a:p>
              </p:txBody>
            </p:sp>
            <p:sp>
              <p:nvSpPr>
                <p:cNvPr id="639" name="Circle">
                  <a:extLst>
                    <a:ext uri="{FF2B5EF4-FFF2-40B4-BE49-F238E27FC236}">
                      <a16:creationId xmlns:a16="http://schemas.microsoft.com/office/drawing/2014/main" id="{04B9F685-6699-C294-E24A-C1B88C364A23}"/>
                    </a:ext>
                  </a:extLst>
                </p:cNvPr>
                <p:cNvSpPr/>
                <p:nvPr/>
              </p:nvSpPr>
              <p:spPr>
                <a:xfrm>
                  <a:off x="2050074" y="3746373"/>
                  <a:ext cx="375048" cy="375048"/>
                </a:xfrm>
                <a:prstGeom prst="ellipse">
                  <a:avLst/>
                </a:prstGeom>
                <a:solidFill>
                  <a:srgbClr val="B51B00"/>
                </a:solidFill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pPr defTabSz="308074">
                    <a:defRPr sz="56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latin typeface="Gill Sans"/>
                      <a:ea typeface="Gill Sans"/>
                      <a:cs typeface="Gill Sans"/>
                      <a:sym typeface="Gill Sans"/>
                    </a:defRPr>
                  </a:pPr>
                  <a:endParaRPr sz="2100"/>
                </a:p>
              </p:txBody>
            </p:sp>
            <p:sp>
              <p:nvSpPr>
                <p:cNvPr id="640" name="Circle">
                  <a:extLst>
                    <a:ext uri="{FF2B5EF4-FFF2-40B4-BE49-F238E27FC236}">
                      <a16:creationId xmlns:a16="http://schemas.microsoft.com/office/drawing/2014/main" id="{7D21E54B-EAF2-25D4-8211-D644F2EC2E33}"/>
                    </a:ext>
                  </a:extLst>
                </p:cNvPr>
                <p:cNvSpPr/>
                <p:nvPr/>
              </p:nvSpPr>
              <p:spPr>
                <a:xfrm>
                  <a:off x="1483127" y="2844475"/>
                  <a:ext cx="375047" cy="375047"/>
                </a:xfrm>
                <a:prstGeom prst="ellipse">
                  <a:avLst/>
                </a:prstGeom>
                <a:solidFill>
                  <a:srgbClr val="B51B00"/>
                </a:solidFill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pPr defTabSz="308074">
                    <a:defRPr sz="56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latin typeface="Gill Sans"/>
                      <a:ea typeface="Gill Sans"/>
                      <a:cs typeface="Gill Sans"/>
                      <a:sym typeface="Gill Sans"/>
                    </a:defRPr>
                  </a:pPr>
                  <a:endParaRPr sz="2100"/>
                </a:p>
              </p:txBody>
            </p:sp>
            <p:sp>
              <p:nvSpPr>
                <p:cNvPr id="641" name="Circle">
                  <a:extLst>
                    <a:ext uri="{FF2B5EF4-FFF2-40B4-BE49-F238E27FC236}">
                      <a16:creationId xmlns:a16="http://schemas.microsoft.com/office/drawing/2014/main" id="{0B259580-8811-5021-BFFF-F381F76EA45B}"/>
                    </a:ext>
                  </a:extLst>
                </p:cNvPr>
                <p:cNvSpPr/>
                <p:nvPr/>
              </p:nvSpPr>
              <p:spPr>
                <a:xfrm>
                  <a:off x="3350230" y="2965643"/>
                  <a:ext cx="375048" cy="375048"/>
                </a:xfrm>
                <a:prstGeom prst="ellipse">
                  <a:avLst/>
                </a:prstGeom>
                <a:solidFill>
                  <a:srgbClr val="B51B00"/>
                </a:solidFill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pPr defTabSz="308074">
                    <a:defRPr sz="56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latin typeface="Gill Sans"/>
                      <a:ea typeface="Gill Sans"/>
                      <a:cs typeface="Gill Sans"/>
                      <a:sym typeface="Gill Sans"/>
                    </a:defRPr>
                  </a:pPr>
                  <a:endParaRPr sz="2100"/>
                </a:p>
              </p:txBody>
            </p:sp>
            <p:sp>
              <p:nvSpPr>
                <p:cNvPr id="642" name="Circle">
                  <a:extLst>
                    <a:ext uri="{FF2B5EF4-FFF2-40B4-BE49-F238E27FC236}">
                      <a16:creationId xmlns:a16="http://schemas.microsoft.com/office/drawing/2014/main" id="{71C72310-4A26-386A-E439-66A2450F6C65}"/>
                    </a:ext>
                  </a:extLst>
                </p:cNvPr>
                <p:cNvSpPr/>
                <p:nvPr/>
              </p:nvSpPr>
              <p:spPr>
                <a:xfrm>
                  <a:off x="4741664" y="3201662"/>
                  <a:ext cx="375047" cy="375048"/>
                </a:xfrm>
                <a:prstGeom prst="ellipse">
                  <a:avLst/>
                </a:prstGeom>
                <a:solidFill>
                  <a:srgbClr val="B51B00"/>
                </a:solidFill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pPr defTabSz="308074">
                    <a:defRPr sz="56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latin typeface="Gill Sans"/>
                      <a:ea typeface="Gill Sans"/>
                      <a:cs typeface="Gill Sans"/>
                      <a:sym typeface="Gill Sans"/>
                    </a:defRPr>
                  </a:pPr>
                  <a:endParaRPr sz="2100"/>
                </a:p>
              </p:txBody>
            </p:sp>
            <p:sp>
              <p:nvSpPr>
                <p:cNvPr id="643" name="Circle">
                  <a:extLst>
                    <a:ext uri="{FF2B5EF4-FFF2-40B4-BE49-F238E27FC236}">
                      <a16:creationId xmlns:a16="http://schemas.microsoft.com/office/drawing/2014/main" id="{132FD1CB-4D5A-149F-2627-8B7D87FE22F8}"/>
                    </a:ext>
                  </a:extLst>
                </p:cNvPr>
                <p:cNvSpPr/>
                <p:nvPr/>
              </p:nvSpPr>
              <p:spPr>
                <a:xfrm>
                  <a:off x="4991695" y="1183553"/>
                  <a:ext cx="375048" cy="375048"/>
                </a:xfrm>
                <a:prstGeom prst="ellipse">
                  <a:avLst/>
                </a:prstGeom>
                <a:solidFill>
                  <a:srgbClr val="B51B00"/>
                </a:solidFill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pPr defTabSz="308074">
                    <a:defRPr sz="56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latin typeface="Gill Sans"/>
                      <a:ea typeface="Gill Sans"/>
                      <a:cs typeface="Gill Sans"/>
                      <a:sym typeface="Gill Sans"/>
                    </a:defRPr>
                  </a:pPr>
                  <a:endParaRPr sz="2100"/>
                </a:p>
              </p:txBody>
            </p:sp>
            <p:sp>
              <p:nvSpPr>
                <p:cNvPr id="644" name="Circle">
                  <a:extLst>
                    <a:ext uri="{FF2B5EF4-FFF2-40B4-BE49-F238E27FC236}">
                      <a16:creationId xmlns:a16="http://schemas.microsoft.com/office/drawing/2014/main" id="{33CD0202-2BEE-6C46-B030-02B3A2121B8D}"/>
                    </a:ext>
                  </a:extLst>
                </p:cNvPr>
                <p:cNvSpPr/>
                <p:nvPr/>
              </p:nvSpPr>
              <p:spPr>
                <a:xfrm>
                  <a:off x="3562945" y="1772912"/>
                  <a:ext cx="375048" cy="375048"/>
                </a:xfrm>
                <a:prstGeom prst="ellipse">
                  <a:avLst/>
                </a:prstGeom>
                <a:solidFill>
                  <a:srgbClr val="B51B00"/>
                </a:solidFill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pPr defTabSz="308074">
                    <a:defRPr sz="56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latin typeface="Gill Sans"/>
                      <a:ea typeface="Gill Sans"/>
                      <a:cs typeface="Gill Sans"/>
                      <a:sym typeface="Gill Sans"/>
                    </a:defRPr>
                  </a:pPr>
                  <a:endParaRPr sz="2100"/>
                </a:p>
              </p:txBody>
            </p:sp>
          </p:grpSp>
          <p:sp>
            <p:nvSpPr>
              <p:cNvPr id="648" name="x">
                <a:extLst>
                  <a:ext uri="{FF2B5EF4-FFF2-40B4-BE49-F238E27FC236}">
                    <a16:creationId xmlns:a16="http://schemas.microsoft.com/office/drawing/2014/main" id="{383AE136-5E70-06D0-EA9E-A6CBAEAA475B}"/>
                  </a:ext>
                </a:extLst>
              </p:cNvPr>
              <p:cNvSpPr txBox="1"/>
              <p:nvPr/>
            </p:nvSpPr>
            <p:spPr>
              <a:xfrm>
                <a:off x="6810602" y="4622783"/>
                <a:ext cx="1393729" cy="2964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26789" tIns="26789" rIns="26789" bIns="26789" anchor="ctr">
                <a:spAutoFit/>
              </a:bodyPr>
              <a:lstStyle/>
              <a:p>
                <a:pPr lvl="2" defTabSz="219075">
                  <a:defRPr sz="4200"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575" i="1" dirty="0">
                    <a:latin typeface="Times Roman"/>
                    <a:ea typeface="Times Roman"/>
                    <a:cs typeface="Times Roman"/>
                    <a:sym typeface="Times Roman"/>
                  </a:rPr>
                  <a:t>x</a:t>
                </a:r>
              </a:p>
            </p:txBody>
          </p:sp>
          <p:sp>
            <p:nvSpPr>
              <p:cNvPr id="649" name="y">
                <a:extLst>
                  <a:ext uri="{FF2B5EF4-FFF2-40B4-BE49-F238E27FC236}">
                    <a16:creationId xmlns:a16="http://schemas.microsoft.com/office/drawing/2014/main" id="{308A39D0-9E45-B971-DA54-949D73E186B3}"/>
                  </a:ext>
                </a:extLst>
              </p:cNvPr>
              <p:cNvSpPr txBox="1"/>
              <p:nvPr/>
            </p:nvSpPr>
            <p:spPr>
              <a:xfrm>
                <a:off x="4443758" y="2478647"/>
                <a:ext cx="1220453" cy="2964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26789" tIns="26789" rIns="26789" bIns="26789" anchor="ctr">
                <a:spAutoFit/>
              </a:bodyPr>
              <a:lstStyle/>
              <a:p>
                <a:pPr lvl="2" defTabSz="219075">
                  <a:defRPr sz="4200"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575" i="1" dirty="0">
                    <a:latin typeface="Times Roman"/>
                    <a:ea typeface="Times Roman"/>
                    <a:cs typeface="Times Roman"/>
                    <a:sym typeface="Times Roman"/>
                  </a:rPr>
                  <a:t>y</a:t>
                </a: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5B0F14D-7734-3301-EDDE-43438C0A9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Autofit/>
          </a:bodyPr>
          <a:lstStyle/>
          <a:p>
            <a:r>
              <a:rPr lang="en-US" sz="3200" dirty="0"/>
              <a:t>Learning as optimization: linear regression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32929C-F083-BAFD-A8B8-41DD9003809E}"/>
              </a:ext>
            </a:extLst>
          </p:cNvPr>
          <p:cNvSpPr txBox="1"/>
          <p:nvPr/>
        </p:nvSpPr>
        <p:spPr>
          <a:xfrm>
            <a:off x="1170432" y="1747127"/>
            <a:ext cx="391363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 learn our binomial’s parameters we assumed wanted to optimize </a:t>
            </a:r>
            <a:r>
              <a:rPr lang="en-US" sz="2400" dirty="0" err="1"/>
              <a:t>Pr</a:t>
            </a:r>
            <a:r>
              <a:rPr lang="en-US" sz="2400" dirty="0"/>
              <a:t>(D).</a:t>
            </a:r>
          </a:p>
          <a:p>
            <a:endParaRPr lang="en-US" sz="2400" dirty="0"/>
          </a:p>
          <a:p>
            <a:r>
              <a:rPr lang="en-US" sz="2400" dirty="0"/>
              <a:t>What do we optimize here?</a:t>
            </a:r>
          </a:p>
          <a:p>
            <a:endParaRPr lang="en-US" sz="2400" dirty="0"/>
          </a:p>
          <a:p>
            <a:r>
              <a:rPr lang="en-US" sz="2400" dirty="0"/>
              <a:t>What do we want our learned function to do?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DAC834-CE66-CADF-3BA0-B454FAE91C90}"/>
              </a:ext>
            </a:extLst>
          </p:cNvPr>
          <p:cNvSpPr txBox="1"/>
          <p:nvPr/>
        </p:nvSpPr>
        <p:spPr>
          <a:xfrm>
            <a:off x="569628" y="5055233"/>
            <a:ext cx="7841530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We need to define what we want to optimize.</a:t>
            </a:r>
          </a:p>
          <a:p>
            <a:r>
              <a:rPr lang="en-US" sz="2400" dirty="0"/>
              <a:t>Usually we </a:t>
            </a:r>
            <a:r>
              <a:rPr lang="en-US" sz="2400" b="1" dirty="0"/>
              <a:t>minimize</a:t>
            </a:r>
            <a:r>
              <a:rPr lang="en-US" sz="2400" dirty="0"/>
              <a:t> instead of maximize so we define a </a:t>
            </a:r>
            <a:r>
              <a:rPr lang="en-US" sz="2400" b="1" i="1" dirty="0"/>
              <a:t>loss function</a:t>
            </a:r>
            <a:r>
              <a:rPr lang="en-US" sz="2400" i="1" dirty="0"/>
              <a:t>, </a:t>
            </a:r>
            <a:r>
              <a:rPr lang="en-US" sz="2400" dirty="0"/>
              <a:t>which describes “how wrong” predictions are. </a:t>
            </a:r>
          </a:p>
        </p:txBody>
      </p:sp>
    </p:spTree>
    <p:extLst>
      <p:ext uri="{BB962C8B-B14F-4D97-AF65-F5344CB8AC3E}">
        <p14:creationId xmlns:p14="http://schemas.microsoft.com/office/powerpoint/2010/main" val="1978252739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6" name="Group"/>
          <p:cNvGrpSpPr/>
          <p:nvPr/>
        </p:nvGrpSpPr>
        <p:grpSpPr>
          <a:xfrm>
            <a:off x="756453" y="815557"/>
            <a:ext cx="7641196" cy="935142"/>
            <a:chOff x="0" y="0"/>
            <a:chExt cx="20376521" cy="2493712"/>
          </a:xfrm>
        </p:grpSpPr>
        <p:sp>
          <p:nvSpPr>
            <p:cNvPr id="702" name="Rectangle"/>
            <p:cNvSpPr/>
            <p:nvPr/>
          </p:nvSpPr>
          <p:spPr>
            <a:xfrm>
              <a:off x="0" y="1049515"/>
              <a:ext cx="20376521" cy="1444196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675"/>
            </a:p>
          </p:txBody>
        </p:sp>
        <p:sp>
          <p:nvSpPr>
            <p:cNvPr id="703" name="Rectangle"/>
            <p:cNvSpPr/>
            <p:nvPr/>
          </p:nvSpPr>
          <p:spPr>
            <a:xfrm>
              <a:off x="0" y="0"/>
              <a:ext cx="20376521" cy="1033211"/>
            </a:xfrm>
            <a:prstGeom prst="rect">
              <a:avLst/>
            </a:prstGeom>
            <a:solidFill>
              <a:srgbClr val="2489BF">
                <a:alpha val="50000"/>
              </a:srgbClr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675"/>
            </a:p>
          </p:txBody>
        </p:sp>
        <p:sp>
          <p:nvSpPr>
            <p:cNvPr id="704" name="Absolute Loss"/>
            <p:cNvSpPr txBox="1"/>
            <p:nvPr/>
          </p:nvSpPr>
          <p:spPr>
            <a:xfrm>
              <a:off x="67334" y="3625"/>
              <a:ext cx="19632376" cy="9959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9050" tIns="19050" rIns="19050" bIns="19050" numCol="1" anchor="ctr">
              <a:noAutofit/>
            </a:bodyPr>
            <a:lstStyle>
              <a:lvl1pPr>
                <a:defRPr sz="5000"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1875"/>
                <a:t>Absolute Loss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5" name="Equation"/>
                <p:cNvSpPr txBox="1"/>
                <p:nvPr/>
              </p:nvSpPr>
              <p:spPr>
                <a:xfrm>
                  <a:off x="5877856" y="1308600"/>
                  <a:ext cx="10097463" cy="118511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defTabSz="3429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ℓ(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),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)=|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oMath>
                    </m:oMathPara>
                  </a14:m>
                  <a:endParaRPr sz="2888" dirty="0"/>
                </a:p>
              </p:txBody>
            </p:sp>
          </mc:Choice>
          <mc:Fallback xmlns="">
            <p:sp>
              <p:nvSpPr>
                <p:cNvPr id="705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7856" y="1308600"/>
                  <a:ext cx="10097463" cy="1185112"/>
                </a:xfrm>
                <a:prstGeom prst="rect">
                  <a:avLst/>
                </a:prstGeom>
                <a:blipFill>
                  <a:blip r:embed="rId2"/>
                  <a:stretch>
                    <a:fillRect l="-1338" r="-2676" b="-3333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707" name="Table 1"/>
          <p:cNvGraphicFramePr/>
          <p:nvPr/>
        </p:nvGraphicFramePr>
        <p:xfrm>
          <a:off x="756453" y="3513168"/>
          <a:ext cx="7631094" cy="1444966"/>
        </p:xfrm>
        <a:graphic>
          <a:graphicData uri="http://schemas.openxmlformats.org/drawingml/2006/table">
            <a:tbl>
              <a:tblPr firstRow="1" bandRow="1"/>
              <a:tblGrid>
                <a:gridCol w="1101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4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1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3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3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5266">
                <a:tc>
                  <a:txBody>
                    <a:bodyPr/>
                    <a:lstStyle/>
                    <a:p>
                      <a:pPr indent="2286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x</a:t>
                      </a:r>
                    </a:p>
                  </a:txBody>
                  <a:tcPr marL="0" marR="0" marT="0" marB="0" horzOverflow="overflow">
                    <a:lnL w="0">
                      <a:miter lim="400000"/>
                    </a:lnL>
                    <a:lnT w="76200">
                      <a:solidFill>
                        <a:srgbClr val="000000"/>
                      </a:solidFill>
                      <a:miter lim="400000"/>
                    </a:lnT>
                    <a:lnB w="76200">
                      <a:solidFill>
                        <a:srgbClr val="000000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y</a:t>
                      </a:r>
                    </a:p>
                  </a:txBody>
                  <a:tcPr marL="0" marR="0" marT="0" marB="0" horzOverflow="overflow">
                    <a:lnT w="76200">
                      <a:solidFill>
                        <a:srgbClr val="000000"/>
                      </a:solidFill>
                      <a:miter lim="400000"/>
                    </a:lnT>
                    <a:lnB w="76200">
                      <a:solidFill>
                        <a:srgbClr val="000000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90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f(x)</a:t>
                      </a:r>
                    </a:p>
                  </a:txBody>
                  <a:tcPr marL="0" marR="0" marT="0" marB="0" horzOverflow="overflow">
                    <a:lnR w="12700">
                      <a:solidFill>
                        <a:srgbClr val="FFFFFF"/>
                      </a:solidFill>
                      <a:miter lim="400000"/>
                    </a:lnR>
                    <a:lnT w="76200">
                      <a:solidFill>
                        <a:srgbClr val="000000"/>
                      </a:solidFill>
                      <a:miter lim="400000"/>
                    </a:lnT>
                    <a:lnB w="76200">
                      <a:solidFill>
                        <a:srgbClr val="000000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90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Square Loss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76200">
                      <a:solidFill>
                        <a:srgbClr val="000000"/>
                      </a:solidFill>
                      <a:miter lim="400000"/>
                    </a:lnT>
                    <a:lnB w="76200">
                      <a:solidFill>
                        <a:srgbClr val="000000"/>
                      </a:solidFill>
                    </a:lnB>
                    <a:solidFill>
                      <a:srgbClr val="01B6B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90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Absolute Loss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0">
                      <a:miter lim="400000"/>
                    </a:lnR>
                    <a:lnT w="76200">
                      <a:solidFill>
                        <a:srgbClr val="000000"/>
                      </a:solidFill>
                      <a:miter lim="400000"/>
                    </a:lnT>
                    <a:lnB w="76200">
                      <a:solidFill>
                        <a:srgbClr val="000000"/>
                      </a:solidFill>
                    </a:lnB>
                    <a:solidFill>
                      <a:srgbClr val="2489BF">
                        <a:alpha val="49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524">
                <a:tc>
                  <a:txBody>
                    <a:bodyPr/>
                    <a:lstStyle/>
                    <a:p>
                      <a:pPr indent="228600">
                        <a:defRPr sz="5000">
                          <a:latin typeface="+mn-lt"/>
                          <a:ea typeface="+mn-ea"/>
                          <a:cs typeface="+mn-cs"/>
                          <a:sym typeface="Helvetica"/>
                        </a:defRPr>
                      </a:pPr>
                      <a:endParaRPr sz="19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horzOverflow="overflow">
                    <a:lnT w="76200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$300,000</a:t>
                      </a:r>
                    </a:p>
                  </a:txBody>
                  <a:tcPr marL="0" marR="0" marT="0" marB="0" anchor="b" horzOverflow="overflow">
                    <a:lnT w="76200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$300,000</a:t>
                      </a:r>
                    </a:p>
                  </a:txBody>
                  <a:tcPr marL="0" marR="0" marT="0" marB="0" anchor="b" horzOverflow="overflow">
                    <a:lnT w="76200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0</a:t>
                      </a:r>
                    </a:p>
                  </a:txBody>
                  <a:tcPr marL="0" marR="0" marT="0" marB="0" anchor="b" horzOverflow="overflow">
                    <a:lnT w="76200">
                      <a:solidFill>
                        <a:srgbClr val="000000"/>
                      </a:solidFill>
                    </a:lnT>
                    <a:solidFill>
                      <a:srgbClr val="01B6B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0</a:t>
                      </a:r>
                    </a:p>
                  </a:txBody>
                  <a:tcPr marL="0" marR="0" marT="0" marB="0" anchor="b" horzOverflow="overflow">
                    <a:lnT w="76200">
                      <a:solidFill>
                        <a:srgbClr val="000000"/>
                      </a:solidFill>
                    </a:lnT>
                    <a:solidFill>
                      <a:srgbClr val="2489B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indent="228600">
                        <a:defRPr sz="5000">
                          <a:latin typeface="+mn-lt"/>
                          <a:ea typeface="+mn-ea"/>
                          <a:cs typeface="+mn-cs"/>
                          <a:sym typeface="Helvetica"/>
                        </a:defRPr>
                      </a:pPr>
                      <a:endParaRPr sz="19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$300,000</a:t>
                      </a:r>
                    </a:p>
                  </a:txBody>
                  <a:tcPr marL="0" marR="0" marT="0" marB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$300,500</a:t>
                      </a:r>
                    </a:p>
                  </a:txBody>
                  <a:tcPr marL="0" marR="0" marT="0" marB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250,000</a:t>
                      </a:r>
                    </a:p>
                  </a:txBody>
                  <a:tcPr marL="0" marR="0" marT="0" marB="0" horzOverflow="overflow">
                    <a:solidFill>
                      <a:srgbClr val="01B6B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500</a:t>
                      </a:r>
                    </a:p>
                  </a:txBody>
                  <a:tcPr marL="0" marR="0" marT="0" marB="0" horzOverflow="overflow">
                    <a:solidFill>
                      <a:srgbClr val="2489B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indent="228600">
                        <a:defRPr sz="5000">
                          <a:latin typeface="+mn-lt"/>
                          <a:ea typeface="+mn-ea"/>
                          <a:cs typeface="+mn-cs"/>
                          <a:sym typeface="Helvetica"/>
                        </a:defRPr>
                      </a:pPr>
                      <a:endParaRPr sz="19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$300,000</a:t>
                      </a:r>
                    </a:p>
                  </a:txBody>
                  <a:tcPr marL="0" marR="0" marT="0" marB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$400,000</a:t>
                      </a:r>
                    </a:p>
                  </a:txBody>
                  <a:tcPr marL="0" marR="0" marT="0" marB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1E+10</a:t>
                      </a:r>
                    </a:p>
                  </a:txBody>
                  <a:tcPr marL="0" marR="0" marT="0" marB="0" horzOverflow="overflow">
                    <a:solidFill>
                      <a:srgbClr val="01B6B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100,000</a:t>
                      </a:r>
                    </a:p>
                  </a:txBody>
                  <a:tcPr marL="0" marR="0" marT="0" marB="0" horzOverflow="overflow">
                    <a:solidFill>
                      <a:srgbClr val="2489B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08" name="house.pdf" descr="house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549" y="4142826"/>
            <a:ext cx="754841" cy="7625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13" name="Group"/>
          <p:cNvGrpSpPr/>
          <p:nvPr/>
        </p:nvGrpSpPr>
        <p:grpSpPr>
          <a:xfrm>
            <a:off x="791935" y="2134415"/>
            <a:ext cx="7641196" cy="935142"/>
            <a:chOff x="0" y="0"/>
            <a:chExt cx="20376521" cy="2493711"/>
          </a:xfrm>
        </p:grpSpPr>
        <p:sp>
          <p:nvSpPr>
            <p:cNvPr id="709" name="Rectangle"/>
            <p:cNvSpPr/>
            <p:nvPr/>
          </p:nvSpPr>
          <p:spPr>
            <a:xfrm>
              <a:off x="0" y="1049515"/>
              <a:ext cx="20376521" cy="1444196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675"/>
            </a:p>
          </p:txBody>
        </p:sp>
        <p:sp>
          <p:nvSpPr>
            <p:cNvPr id="710" name="Rectangle"/>
            <p:cNvSpPr/>
            <p:nvPr/>
          </p:nvSpPr>
          <p:spPr>
            <a:xfrm>
              <a:off x="0" y="0"/>
              <a:ext cx="20376521" cy="1033211"/>
            </a:xfrm>
            <a:prstGeom prst="rect">
              <a:avLst/>
            </a:prstGeom>
            <a:solidFill>
              <a:srgbClr val="01B6BA">
                <a:alpha val="50000"/>
              </a:srgbClr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675"/>
            </a:p>
          </p:txBody>
        </p:sp>
        <p:sp>
          <p:nvSpPr>
            <p:cNvPr id="711" name="Square Loss"/>
            <p:cNvSpPr txBox="1"/>
            <p:nvPr/>
          </p:nvSpPr>
          <p:spPr>
            <a:xfrm>
              <a:off x="67334" y="3625"/>
              <a:ext cx="19632376" cy="9959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9050" tIns="19050" rIns="19050" bIns="19050" numCol="1" anchor="ctr">
              <a:noAutofit/>
            </a:bodyPr>
            <a:lstStyle>
              <a:lvl1pPr>
                <a:defRPr sz="5000"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1875" dirty="0"/>
                <a:t>Square Loss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2" name="Equation"/>
                <p:cNvSpPr txBox="1"/>
                <p:nvPr/>
              </p:nvSpPr>
              <p:spPr>
                <a:xfrm>
                  <a:off x="5877856" y="1136466"/>
                  <a:ext cx="10754055" cy="118511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defTabSz="3429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ℓ(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),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)=(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sSupPr>
                            <m:ctrlPr>
                              <a:rPr sz="2888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2888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sz="2888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sz="2888" dirty="0"/>
                </a:p>
              </p:txBody>
            </p:sp>
          </mc:Choice>
          <mc:Fallback xmlns="">
            <p:sp>
              <p:nvSpPr>
                <p:cNvPr id="712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7856" y="1136466"/>
                  <a:ext cx="10754055" cy="1185112"/>
                </a:xfrm>
                <a:prstGeom prst="rect">
                  <a:avLst/>
                </a:prstGeom>
                <a:blipFill>
                  <a:blip r:embed="rId4"/>
                  <a:stretch>
                    <a:fillRect l="-1254" b="-36111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14" name="Rectangle 9"/>
          <p:cNvSpPr txBox="1"/>
          <p:nvPr/>
        </p:nvSpPr>
        <p:spPr>
          <a:xfrm>
            <a:off x="710869" y="1037708"/>
            <a:ext cx="34689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7145" rIns="17145">
            <a:spAutoFit/>
          </a:bodyPr>
          <a:lstStyle>
            <a:lvl1pPr algn="l">
              <a:defRPr sz="3600" b="1" cap="all" spc="600">
                <a:solidFill>
                  <a:schemeClr val="accent5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endParaRPr sz="13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8EFC82-0A9A-A20B-3170-84DD3B04C3D0}"/>
              </a:ext>
            </a:extLst>
          </p:cNvPr>
          <p:cNvSpPr txBox="1"/>
          <p:nvPr/>
        </p:nvSpPr>
        <p:spPr>
          <a:xfrm>
            <a:off x="687258" y="5404793"/>
            <a:ext cx="7700289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Square loss</a:t>
            </a:r>
            <a:r>
              <a:rPr lang="en-US" sz="2400" dirty="0"/>
              <a:t> turns out to be very useful in practice: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optimization problem is very nice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“least squares” linear regression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7780F1-4FBD-4EC0-F1AC-CBD7DB4BC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General idea: Empirical risk minimization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34A7B0-49BE-B190-2DA1-941FDD207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12</a:t>
            </a:fld>
            <a:endParaRPr lang="en-US"/>
          </a:p>
        </p:txBody>
      </p:sp>
      <p:sp>
        <p:nvSpPr>
          <p:cNvPr id="5" name="A popular approach in supervised ML…">
            <a:extLst>
              <a:ext uri="{FF2B5EF4-FFF2-40B4-BE49-F238E27FC236}">
                <a16:creationId xmlns:a16="http://schemas.microsoft.com/office/drawing/2014/main" id="{86E81C36-1184-FACA-5A9F-1D7BB86727E3}"/>
              </a:ext>
            </a:extLst>
          </p:cNvPr>
          <p:cNvSpPr txBox="1"/>
          <p:nvPr/>
        </p:nvSpPr>
        <p:spPr>
          <a:xfrm>
            <a:off x="720380" y="2940207"/>
            <a:ext cx="7800887" cy="2254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50" tIns="19050" rIns="19050" bIns="19050" anchor="ctr">
            <a:spAutoFit/>
          </a:bodyPr>
          <a:lstStyle/>
          <a:p>
            <a:pPr marL="187993" indent="-187993">
              <a:buSzPct val="100000"/>
              <a:buChar char="•"/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2400" dirty="0"/>
              <a:t>A popular approach in supervised ML</a:t>
            </a:r>
          </a:p>
          <a:p>
            <a:pPr marL="187993" indent="-187993">
              <a:buSzPct val="100000"/>
              <a:buChar char="•"/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2400" dirty="0"/>
              <a:t>Given a loss 𝓁 and data (x</a:t>
            </a:r>
            <a:r>
              <a:rPr sz="2400" baseline="-5999" dirty="0"/>
              <a:t>1</a:t>
            </a:r>
            <a:r>
              <a:rPr sz="2400" dirty="0"/>
              <a:t>, y</a:t>
            </a:r>
            <a:r>
              <a:rPr sz="2400" baseline="-5999" dirty="0"/>
              <a:t>1</a:t>
            </a:r>
            <a:r>
              <a:rPr sz="2400" dirty="0"/>
              <a:t>), … (</a:t>
            </a:r>
            <a:r>
              <a:rPr sz="2400" dirty="0" err="1"/>
              <a:t>x</a:t>
            </a:r>
            <a:r>
              <a:rPr sz="2400" baseline="-5999" dirty="0" err="1"/>
              <a:t>n</a:t>
            </a:r>
            <a:r>
              <a:rPr sz="2400" dirty="0"/>
              <a:t>, </a:t>
            </a:r>
            <a:r>
              <a:rPr sz="2400" dirty="0" err="1"/>
              <a:t>y</a:t>
            </a:r>
            <a:r>
              <a:rPr sz="2400" baseline="-5999" dirty="0" err="1"/>
              <a:t>n</a:t>
            </a:r>
            <a:r>
              <a:rPr sz="2400" dirty="0"/>
              <a:t>), we estimate a predictor </a:t>
            </a:r>
            <a:r>
              <a:rPr sz="2400" i="1" dirty="0"/>
              <a:t>f</a:t>
            </a:r>
            <a:r>
              <a:rPr sz="2400" dirty="0"/>
              <a:t> by minimizing the</a:t>
            </a:r>
            <a:r>
              <a:rPr lang="en-US" sz="2400" dirty="0"/>
              <a:t> loss on the data</a:t>
            </a:r>
            <a:r>
              <a:rPr sz="2400" dirty="0"/>
              <a:t> </a:t>
            </a:r>
            <a:r>
              <a:rPr lang="en-US" sz="2400" dirty="0"/>
              <a:t>(</a:t>
            </a:r>
            <a:r>
              <a:rPr sz="2400" i="1" dirty="0"/>
              <a:t>empirical risk</a:t>
            </a:r>
            <a:r>
              <a:rPr lang="en-US" sz="2400" i="1" dirty="0"/>
              <a:t>)</a:t>
            </a:r>
            <a:endParaRPr sz="2400" i="1" dirty="0"/>
          </a:p>
          <a:p>
            <a:pPr marL="187993" indent="-187993">
              <a:buSzPct val="100000"/>
              <a:buChar char="•"/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2400" dirty="0"/>
              <a:t>We typically restrict this predictor to lie in some class, </a:t>
            </a:r>
            <a:r>
              <a:rPr sz="2400" i="1" dirty="0"/>
              <a:t>F</a:t>
            </a:r>
          </a:p>
          <a:p>
            <a:pPr marL="473743" lvl="2" indent="-187993">
              <a:buSzPct val="100000"/>
              <a:buChar char="•"/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2400" dirty="0"/>
              <a:t>Could reflect our prior knowledge about the task</a:t>
            </a:r>
          </a:p>
          <a:p>
            <a:pPr marL="473743" lvl="2" indent="-187993">
              <a:buSzPct val="100000"/>
              <a:buChar char="•"/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2400" dirty="0"/>
              <a:t>Or may be for computational convenience</a:t>
            </a:r>
          </a:p>
        </p:txBody>
      </p:sp>
      <p:sp>
        <p:nvSpPr>
          <p:cNvPr id="9" name="Question: how should we select our function class, F, and our loss function, 𝓁 ??">
            <a:extLst>
              <a:ext uri="{FF2B5EF4-FFF2-40B4-BE49-F238E27FC236}">
                <a16:creationId xmlns:a16="http://schemas.microsoft.com/office/drawing/2014/main" id="{7BBC374E-7E29-8603-C721-1AB3B0DED01D}"/>
              </a:ext>
            </a:extLst>
          </p:cNvPr>
          <p:cNvSpPr txBox="1"/>
          <p:nvPr/>
        </p:nvSpPr>
        <p:spPr>
          <a:xfrm>
            <a:off x="720380" y="5571608"/>
            <a:ext cx="7800887" cy="407804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50" tIns="19050" rIns="19050" bIns="19050" anchor="ctr">
            <a:spAutoFit/>
          </a:bodyPr>
          <a:lstStyle/>
          <a:p>
            <a:pPr algn="l">
              <a:defRPr sz="5000">
                <a:solidFill>
                  <a:schemeClr val="accent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US" sz="2400" dirty="0"/>
              <a:t>Can apply to many function classes F and many loss functions</a:t>
            </a:r>
            <a:endParaRPr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Group">
                <a:extLst>
                  <a:ext uri="{FF2B5EF4-FFF2-40B4-BE49-F238E27FC236}">
                    <a16:creationId xmlns:a16="http://schemas.microsoft.com/office/drawing/2014/main" id="{0A21747D-D774-9C5C-1785-073CCAD21696}"/>
                  </a:ext>
                </a:extLst>
              </p:cNvPr>
              <p:cNvSpPr txBox="1"/>
              <p:nvPr/>
            </p:nvSpPr>
            <p:spPr>
              <a:xfrm>
                <a:off x="1693889" y="1547786"/>
                <a:ext cx="5070554" cy="89024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0" tIns="0" rIns="0" bIns="0">
                <a:spAutoFit/>
              </a:bodyPr>
              <a:lstStyle/>
              <a:p>
                <a:pPr defTabSz="3429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limUpp>
                            <m:limUppPr>
                              <m:ctrlP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lim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̂</m:t>
                              </m:r>
                            </m:lim>
                          </m:limUpp>
                        </m:e>
                        <m:sub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ar-AE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arg</m:t>
                      </m:r>
                      <m:limLow>
                        <m:limLowPr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e>
                        <m:lim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lim>
                      </m:limLow>
                      <m:f>
                        <m:fPr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limUpp>
                        <m:limUppPr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e>
                        <m:lim>
                          <m:r>
                            <a:rPr lang="ar-AE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lim>
                      </m:limUpp>
                      <m:r>
                        <a:rPr lang="ar-AE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ℓ(</m:t>
                      </m:r>
                      <m:r>
                        <a:rPr lang="ar-AE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ar-AE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sSub>
                        <m:sSubPr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800" dirty="0"/>
              </a:p>
            </p:txBody>
          </p:sp>
        </mc:Choice>
        <mc:Fallback xmlns="">
          <p:sp>
            <p:nvSpPr>
              <p:cNvPr id="10" name="Group">
                <a:extLst>
                  <a:ext uri="{FF2B5EF4-FFF2-40B4-BE49-F238E27FC236}">
                    <a16:creationId xmlns:a16="http://schemas.microsoft.com/office/drawing/2014/main" id="{0A21747D-D774-9C5C-1785-073CCAD21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889" y="1547786"/>
                <a:ext cx="5070554" cy="890244"/>
              </a:xfrm>
              <a:prstGeom prst="rect">
                <a:avLst/>
              </a:prstGeom>
              <a:blipFill>
                <a:blip r:embed="rId2"/>
                <a:stretch>
                  <a:fillRect b="-845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6150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9A7FB-7BBF-5A7A-C90B-DBCD865D3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14EDF4-1ED1-C927-B4F9-071ECC95C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General idea: Empirical risk minimization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6D1E8F-37F5-8AE7-63BF-AED2A8FC7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13</a:t>
            </a:fld>
            <a:endParaRPr lang="en-US"/>
          </a:p>
        </p:txBody>
      </p:sp>
      <p:sp>
        <p:nvSpPr>
          <p:cNvPr id="5" name="A popular approach in supervised ML…">
            <a:extLst>
              <a:ext uri="{FF2B5EF4-FFF2-40B4-BE49-F238E27FC236}">
                <a16:creationId xmlns:a16="http://schemas.microsoft.com/office/drawing/2014/main" id="{03233AD0-7FD0-4417-E03C-BFE53FCD1DA9}"/>
              </a:ext>
            </a:extLst>
          </p:cNvPr>
          <p:cNvSpPr txBox="1"/>
          <p:nvPr/>
        </p:nvSpPr>
        <p:spPr>
          <a:xfrm>
            <a:off x="720380" y="2764648"/>
            <a:ext cx="7800887" cy="407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50" tIns="19050" rIns="19050" bIns="19050" anchor="ctr">
            <a:spAutoFit/>
          </a:bodyPr>
          <a:lstStyle/>
          <a:p>
            <a:pPr>
              <a:buSzPct val="100000"/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lang="en-US" sz="2400" dirty="0"/>
              <a:t>Example: find parameter theta of a Bernoulli</a:t>
            </a:r>
          </a:p>
        </p:txBody>
      </p:sp>
      <p:sp>
        <p:nvSpPr>
          <p:cNvPr id="9" name="Question: how should we select our function class, F, and our loss function, 𝓁 ??">
            <a:extLst>
              <a:ext uri="{FF2B5EF4-FFF2-40B4-BE49-F238E27FC236}">
                <a16:creationId xmlns:a16="http://schemas.microsoft.com/office/drawing/2014/main" id="{B15B0604-4BD9-0BCF-16C5-A4BACFD3A680}"/>
              </a:ext>
            </a:extLst>
          </p:cNvPr>
          <p:cNvSpPr txBox="1"/>
          <p:nvPr/>
        </p:nvSpPr>
        <p:spPr>
          <a:xfrm>
            <a:off x="720380" y="5571608"/>
            <a:ext cx="7800887" cy="407804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50" tIns="19050" rIns="19050" bIns="19050" anchor="ctr">
            <a:spAutoFit/>
          </a:bodyPr>
          <a:lstStyle/>
          <a:p>
            <a:pPr algn="l">
              <a:defRPr sz="5000">
                <a:solidFill>
                  <a:schemeClr val="accent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US" sz="2400" dirty="0"/>
              <a:t>Can apply to many function classes F and many loss functions</a:t>
            </a:r>
            <a:endParaRPr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Group">
                <a:extLst>
                  <a:ext uri="{FF2B5EF4-FFF2-40B4-BE49-F238E27FC236}">
                    <a16:creationId xmlns:a16="http://schemas.microsoft.com/office/drawing/2014/main" id="{07D59897-A9C4-5835-E445-99782E54772B}"/>
                  </a:ext>
                </a:extLst>
              </p:cNvPr>
              <p:cNvSpPr txBox="1"/>
              <p:nvPr/>
            </p:nvSpPr>
            <p:spPr>
              <a:xfrm>
                <a:off x="1693889" y="1547786"/>
                <a:ext cx="5070554" cy="89024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0" tIns="0" rIns="0" bIns="0">
                <a:spAutoFit/>
              </a:bodyPr>
              <a:lstStyle/>
              <a:p>
                <a:pPr defTabSz="3429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limUpp>
                            <m:limUppPr>
                              <m:ctrlP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lim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̂</m:t>
                              </m:r>
                            </m:lim>
                          </m:limUpp>
                        </m:e>
                        <m:sub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ar-AE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arg</m:t>
                      </m:r>
                      <m:limLow>
                        <m:limLowPr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e>
                        <m:lim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lim>
                      </m:limLow>
                      <m:f>
                        <m:fPr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limUpp>
                        <m:limUppPr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e>
                        <m:lim>
                          <m:r>
                            <a:rPr lang="ar-AE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lim>
                      </m:limUpp>
                      <m:r>
                        <a:rPr lang="ar-AE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ℓ(</m:t>
                      </m:r>
                      <m:r>
                        <a:rPr lang="ar-AE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ar-AE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sSub>
                        <m:sSubPr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800" dirty="0"/>
              </a:p>
            </p:txBody>
          </p:sp>
        </mc:Choice>
        <mc:Fallback xmlns="">
          <p:sp>
            <p:nvSpPr>
              <p:cNvPr id="10" name="Group">
                <a:extLst>
                  <a:ext uri="{FF2B5EF4-FFF2-40B4-BE49-F238E27FC236}">
                    <a16:creationId xmlns:a16="http://schemas.microsoft.com/office/drawing/2014/main" id="{0A21747D-D774-9C5C-1785-073CCAD21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889" y="1547786"/>
                <a:ext cx="5070554" cy="890244"/>
              </a:xfrm>
              <a:prstGeom prst="rect">
                <a:avLst/>
              </a:prstGeom>
              <a:blipFill>
                <a:blip r:embed="rId2"/>
                <a:stretch>
                  <a:fillRect b="-845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D8F917F3-3FDF-947B-0EA2-2E6269F8FF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507" t="30374" r="10099" b="50352"/>
          <a:stretch/>
        </p:blipFill>
        <p:spPr>
          <a:xfrm>
            <a:off x="2126192" y="3428181"/>
            <a:ext cx="5493808" cy="8683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906412-8040-4037-0704-D56D577D352E}"/>
              </a:ext>
            </a:extLst>
          </p:cNvPr>
          <p:cNvSpPr txBox="1"/>
          <p:nvPr/>
        </p:nvSpPr>
        <p:spPr>
          <a:xfrm>
            <a:off x="671805" y="4353144"/>
            <a:ext cx="3900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Loss = -log </a:t>
            </a:r>
            <a:r>
              <a:rPr lang="en-US" sz="2400" dirty="0" err="1"/>
              <a:t>Pr</a:t>
            </a:r>
            <a:r>
              <a:rPr lang="en-US" sz="2400" dirty="0"/>
              <a:t>(D) </a:t>
            </a:r>
          </a:p>
        </p:txBody>
      </p:sp>
    </p:spTree>
    <p:extLst>
      <p:ext uri="{BB962C8B-B14F-4D97-AF65-F5344CB8AC3E}">
        <p14:creationId xmlns:p14="http://schemas.microsoft.com/office/powerpoint/2010/main" val="3750325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07E18-F57F-705E-CCCE-C67E3A079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CE542F3-C7ED-E95C-15BA-999B1A36F249}"/>
              </a:ext>
            </a:extLst>
          </p:cNvPr>
          <p:cNvGrpSpPr/>
          <p:nvPr/>
        </p:nvGrpSpPr>
        <p:grpSpPr>
          <a:xfrm>
            <a:off x="4908453" y="1968982"/>
            <a:ext cx="3760573" cy="2440611"/>
            <a:chOff x="4443758" y="2478647"/>
            <a:chExt cx="3760573" cy="2440611"/>
          </a:xfrm>
        </p:grpSpPr>
        <p:grpSp>
          <p:nvGrpSpPr>
            <p:cNvPr id="633" name="Group">
              <a:extLst>
                <a:ext uri="{FF2B5EF4-FFF2-40B4-BE49-F238E27FC236}">
                  <a16:creationId xmlns:a16="http://schemas.microsoft.com/office/drawing/2014/main" id="{707E0C46-E143-10CD-968B-92B9814CE267}"/>
                </a:ext>
              </a:extLst>
            </p:cNvPr>
            <p:cNvGrpSpPr/>
            <p:nvPr/>
          </p:nvGrpSpPr>
          <p:grpSpPr>
            <a:xfrm rot="2100000">
              <a:off x="6203174" y="2863906"/>
              <a:ext cx="1112035" cy="1793382"/>
              <a:chOff x="-97282" y="-97282"/>
              <a:chExt cx="2965425" cy="4782350"/>
            </a:xfrm>
          </p:grpSpPr>
          <p:pic>
            <p:nvPicPr>
              <p:cNvPr id="617" name="Line Line" descr="Line Line">
                <a:extLst>
                  <a:ext uri="{FF2B5EF4-FFF2-40B4-BE49-F238E27FC236}">
                    <a16:creationId xmlns:a16="http://schemas.microsoft.com/office/drawing/2014/main" id="{E50FA328-61F5-27CA-55D2-8E46EF58BE65}"/>
                  </a:ext>
                </a:extLst>
              </p:cNvPr>
              <p:cNvPicPr>
                <a:picLocks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3300000">
                <a:off x="1001143" y="1030155"/>
                <a:ext cx="483628" cy="139701"/>
              </a:xfrm>
              <a:prstGeom prst="rect">
                <a:avLst/>
              </a:prstGeom>
              <a:effectLst/>
            </p:spPr>
          </p:pic>
          <p:pic>
            <p:nvPicPr>
              <p:cNvPr id="619" name="Line Line" descr="Line Line">
                <a:extLst>
                  <a:ext uri="{FF2B5EF4-FFF2-40B4-BE49-F238E27FC236}">
                    <a16:creationId xmlns:a16="http://schemas.microsoft.com/office/drawing/2014/main" id="{D72BFEEA-7825-FC3C-757F-89CEC57F610B}"/>
                  </a:ext>
                </a:extLst>
              </p:cNvPr>
              <p:cNvPicPr>
                <a:picLocks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3300000">
                <a:off x="1610947" y="331059"/>
                <a:ext cx="483628" cy="139701"/>
              </a:xfrm>
              <a:prstGeom prst="rect">
                <a:avLst/>
              </a:prstGeom>
              <a:effectLst/>
            </p:spPr>
          </p:pic>
          <p:pic>
            <p:nvPicPr>
              <p:cNvPr id="621" name="Line Line" descr="Line Line">
                <a:extLst>
                  <a:ext uri="{FF2B5EF4-FFF2-40B4-BE49-F238E27FC236}">
                    <a16:creationId xmlns:a16="http://schemas.microsoft.com/office/drawing/2014/main" id="{67DDAC99-4BC3-4D54-3617-B2C9CEEB1B85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3300000">
                <a:off x="1435659" y="588850"/>
                <a:ext cx="1747950" cy="139701"/>
              </a:xfrm>
              <a:prstGeom prst="rect">
                <a:avLst/>
              </a:prstGeom>
              <a:effectLst/>
            </p:spPr>
          </p:pic>
          <p:pic>
            <p:nvPicPr>
              <p:cNvPr id="623" name="Line Line" descr="Line Line">
                <a:extLst>
                  <a:ext uri="{FF2B5EF4-FFF2-40B4-BE49-F238E27FC236}">
                    <a16:creationId xmlns:a16="http://schemas.microsoft.com/office/drawing/2014/main" id="{04AA570A-2F27-6A01-1334-991166696FE4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3346432">
                <a:off x="-303598" y="1886910"/>
                <a:ext cx="1518821" cy="139701"/>
              </a:xfrm>
              <a:prstGeom prst="rect">
                <a:avLst/>
              </a:prstGeom>
              <a:effectLst/>
            </p:spPr>
          </p:pic>
          <p:pic>
            <p:nvPicPr>
              <p:cNvPr id="625" name="Line Line" descr="Line Line">
                <a:extLst>
                  <a:ext uri="{FF2B5EF4-FFF2-40B4-BE49-F238E27FC236}">
                    <a16:creationId xmlns:a16="http://schemas.microsoft.com/office/drawing/2014/main" id="{AF9BAF07-504C-BA4E-305C-6B7F8E941B3D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3300000">
                <a:off x="1096919" y="1688084"/>
                <a:ext cx="603759" cy="139701"/>
              </a:xfrm>
              <a:prstGeom prst="rect">
                <a:avLst/>
              </a:prstGeom>
              <a:effectLst/>
            </p:spPr>
          </p:pic>
          <p:pic>
            <p:nvPicPr>
              <p:cNvPr id="627" name="Line Line" descr="Line Line">
                <a:extLst>
                  <a:ext uri="{FF2B5EF4-FFF2-40B4-BE49-F238E27FC236}">
                    <a16:creationId xmlns:a16="http://schemas.microsoft.com/office/drawing/2014/main" id="{BAA2B16F-9A96-56FE-6C09-D9F8B320B459}"/>
                  </a:ext>
                </a:extLst>
              </p:cNvPr>
              <p:cNvPicPr>
                <a:picLocks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3300000">
                <a:off x="-143180" y="4377072"/>
                <a:ext cx="483628" cy="139701"/>
              </a:xfrm>
              <a:prstGeom prst="rect">
                <a:avLst/>
              </a:prstGeom>
              <a:effectLst/>
            </p:spPr>
          </p:pic>
          <p:pic>
            <p:nvPicPr>
              <p:cNvPr id="629" name="Line Line" descr="Line Line">
                <a:extLst>
                  <a:ext uri="{FF2B5EF4-FFF2-40B4-BE49-F238E27FC236}">
                    <a16:creationId xmlns:a16="http://schemas.microsoft.com/office/drawing/2014/main" id="{901FA91B-BE97-E93F-E4FC-A8B3415C3F82}"/>
                  </a:ext>
                </a:extLst>
              </p:cNvPr>
              <p:cNvPicPr>
                <a:picLocks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rot="3300000">
                <a:off x="-84966" y="3349152"/>
                <a:ext cx="783855" cy="139701"/>
              </a:xfrm>
              <a:prstGeom prst="rect">
                <a:avLst/>
              </a:prstGeom>
              <a:effectLst/>
            </p:spPr>
          </p:pic>
          <p:pic>
            <p:nvPicPr>
              <p:cNvPr id="631" name="Line Line" descr="Line Line">
                <a:extLst>
                  <a:ext uri="{FF2B5EF4-FFF2-40B4-BE49-F238E27FC236}">
                    <a16:creationId xmlns:a16="http://schemas.microsoft.com/office/drawing/2014/main" id="{A93B6D3C-73B1-6B87-19E3-3D9645E89262}"/>
                  </a:ext>
                </a:extLst>
              </p:cNvPr>
              <p:cNvPicPr>
                <a:picLocks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3300000">
                <a:off x="548750" y="3112268"/>
                <a:ext cx="483628" cy="139701"/>
              </a:xfrm>
              <a:prstGeom prst="rect">
                <a:avLst/>
              </a:prstGeom>
              <a:effectLst/>
            </p:spPr>
          </p:pic>
        </p:grpSp>
        <p:grpSp>
          <p:nvGrpSpPr>
            <p:cNvPr id="645" name="Group">
              <a:extLst>
                <a:ext uri="{FF2B5EF4-FFF2-40B4-BE49-F238E27FC236}">
                  <a16:creationId xmlns:a16="http://schemas.microsoft.com/office/drawing/2014/main" id="{7F4D460D-D3D2-0119-3246-EB5EDEEDA44F}"/>
                </a:ext>
              </a:extLst>
            </p:cNvPr>
            <p:cNvGrpSpPr/>
            <p:nvPr/>
          </p:nvGrpSpPr>
          <p:grpSpPr>
            <a:xfrm>
              <a:off x="5554265" y="2565844"/>
              <a:ext cx="2387359" cy="2074617"/>
              <a:chOff x="0" y="0"/>
              <a:chExt cx="6366288" cy="5532310"/>
            </a:xfrm>
          </p:grpSpPr>
          <p:sp>
            <p:nvSpPr>
              <p:cNvPr id="634" name="Line">
                <a:extLst>
                  <a:ext uri="{FF2B5EF4-FFF2-40B4-BE49-F238E27FC236}">
                    <a16:creationId xmlns:a16="http://schemas.microsoft.com/office/drawing/2014/main" id="{0B15FAB3-1499-2AC3-F67B-96DA0882F677}"/>
                  </a:ext>
                </a:extLst>
              </p:cNvPr>
              <p:cNvSpPr/>
              <p:nvPr/>
            </p:nvSpPr>
            <p:spPr>
              <a:xfrm flipV="1">
                <a:off x="-1" y="-1"/>
                <a:ext cx="2" cy="5532312"/>
              </a:xfrm>
              <a:prstGeom prst="line">
                <a:avLst/>
              </a:prstGeom>
              <a:noFill/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635" name="Line">
                <a:extLst>
                  <a:ext uri="{FF2B5EF4-FFF2-40B4-BE49-F238E27FC236}">
                    <a16:creationId xmlns:a16="http://schemas.microsoft.com/office/drawing/2014/main" id="{C52B8A46-0890-121B-010C-3C4F34708405}"/>
                  </a:ext>
                </a:extLst>
              </p:cNvPr>
              <p:cNvSpPr/>
              <p:nvPr/>
            </p:nvSpPr>
            <p:spPr>
              <a:xfrm>
                <a:off x="0" y="5532310"/>
                <a:ext cx="6366289" cy="1"/>
              </a:xfrm>
              <a:prstGeom prst="line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636" name="Circle">
                <a:extLst>
                  <a:ext uri="{FF2B5EF4-FFF2-40B4-BE49-F238E27FC236}">
                    <a16:creationId xmlns:a16="http://schemas.microsoft.com/office/drawing/2014/main" id="{E10C51CA-1E33-BC9B-6A49-AF0F8E703C44}"/>
                  </a:ext>
                </a:extLst>
              </p:cNvPr>
              <p:cNvSpPr/>
              <p:nvPr/>
            </p:nvSpPr>
            <p:spPr>
              <a:xfrm>
                <a:off x="705445" y="3746373"/>
                <a:ext cx="375048" cy="375048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637" name="Circle">
                <a:extLst>
                  <a:ext uri="{FF2B5EF4-FFF2-40B4-BE49-F238E27FC236}">
                    <a16:creationId xmlns:a16="http://schemas.microsoft.com/office/drawing/2014/main" id="{A4F432BE-8229-F63D-4973-8B65CF083B55}"/>
                  </a:ext>
                </a:extLst>
              </p:cNvPr>
              <p:cNvSpPr/>
              <p:nvPr/>
            </p:nvSpPr>
            <p:spPr>
              <a:xfrm>
                <a:off x="2462909" y="1353478"/>
                <a:ext cx="375048" cy="375048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638" name="Circle">
                <a:extLst>
                  <a:ext uri="{FF2B5EF4-FFF2-40B4-BE49-F238E27FC236}">
                    <a16:creationId xmlns:a16="http://schemas.microsoft.com/office/drawing/2014/main" id="{D6BE33ED-B71F-ADA6-2AC7-F60ADB07D7D6}"/>
                  </a:ext>
                </a:extLst>
              </p:cNvPr>
              <p:cNvSpPr/>
              <p:nvPr/>
            </p:nvSpPr>
            <p:spPr>
              <a:xfrm>
                <a:off x="4492372" y="2039737"/>
                <a:ext cx="375048" cy="375048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639" name="Circle">
                <a:extLst>
                  <a:ext uri="{FF2B5EF4-FFF2-40B4-BE49-F238E27FC236}">
                    <a16:creationId xmlns:a16="http://schemas.microsoft.com/office/drawing/2014/main" id="{9504B295-FED6-73F8-FC28-F45325EA378A}"/>
                  </a:ext>
                </a:extLst>
              </p:cNvPr>
              <p:cNvSpPr/>
              <p:nvPr/>
            </p:nvSpPr>
            <p:spPr>
              <a:xfrm>
                <a:off x="2050074" y="3746373"/>
                <a:ext cx="375048" cy="375048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640" name="Circle">
                <a:extLst>
                  <a:ext uri="{FF2B5EF4-FFF2-40B4-BE49-F238E27FC236}">
                    <a16:creationId xmlns:a16="http://schemas.microsoft.com/office/drawing/2014/main" id="{421D35EA-4C51-D79E-6E60-A7AE96CC4761}"/>
                  </a:ext>
                </a:extLst>
              </p:cNvPr>
              <p:cNvSpPr/>
              <p:nvPr/>
            </p:nvSpPr>
            <p:spPr>
              <a:xfrm>
                <a:off x="1483127" y="2844475"/>
                <a:ext cx="375047" cy="375047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641" name="Circle">
                <a:extLst>
                  <a:ext uri="{FF2B5EF4-FFF2-40B4-BE49-F238E27FC236}">
                    <a16:creationId xmlns:a16="http://schemas.microsoft.com/office/drawing/2014/main" id="{9D75C596-43A8-8495-28E9-696C5C001EE2}"/>
                  </a:ext>
                </a:extLst>
              </p:cNvPr>
              <p:cNvSpPr/>
              <p:nvPr/>
            </p:nvSpPr>
            <p:spPr>
              <a:xfrm>
                <a:off x="3350230" y="2965643"/>
                <a:ext cx="375048" cy="375048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642" name="Circle">
                <a:extLst>
                  <a:ext uri="{FF2B5EF4-FFF2-40B4-BE49-F238E27FC236}">
                    <a16:creationId xmlns:a16="http://schemas.microsoft.com/office/drawing/2014/main" id="{7C171960-E830-C455-9F7F-E6D21D645EC4}"/>
                  </a:ext>
                </a:extLst>
              </p:cNvPr>
              <p:cNvSpPr/>
              <p:nvPr/>
            </p:nvSpPr>
            <p:spPr>
              <a:xfrm>
                <a:off x="4741664" y="3201662"/>
                <a:ext cx="375047" cy="375048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643" name="Circle">
                <a:extLst>
                  <a:ext uri="{FF2B5EF4-FFF2-40B4-BE49-F238E27FC236}">
                    <a16:creationId xmlns:a16="http://schemas.microsoft.com/office/drawing/2014/main" id="{129E1CBA-B1EB-8BFE-4871-EB312C3542DA}"/>
                  </a:ext>
                </a:extLst>
              </p:cNvPr>
              <p:cNvSpPr/>
              <p:nvPr/>
            </p:nvSpPr>
            <p:spPr>
              <a:xfrm>
                <a:off x="4991695" y="1183553"/>
                <a:ext cx="375048" cy="375048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644" name="Circle">
                <a:extLst>
                  <a:ext uri="{FF2B5EF4-FFF2-40B4-BE49-F238E27FC236}">
                    <a16:creationId xmlns:a16="http://schemas.microsoft.com/office/drawing/2014/main" id="{977E3138-22B0-A26C-169C-0851E641B0EB}"/>
                  </a:ext>
                </a:extLst>
              </p:cNvPr>
              <p:cNvSpPr/>
              <p:nvPr/>
            </p:nvSpPr>
            <p:spPr>
              <a:xfrm>
                <a:off x="3562945" y="1772912"/>
                <a:ext cx="375048" cy="375048"/>
              </a:xfrm>
              <a:prstGeom prst="ellipse">
                <a:avLst/>
              </a:prstGeom>
              <a:solidFill>
                <a:srgbClr val="B51B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</p:grpSp>
        <p:sp>
          <p:nvSpPr>
            <p:cNvPr id="646" name="Line">
              <a:extLst>
                <a:ext uri="{FF2B5EF4-FFF2-40B4-BE49-F238E27FC236}">
                  <a16:creationId xmlns:a16="http://schemas.microsoft.com/office/drawing/2014/main" id="{55ED356B-1A53-8D21-2781-B4DD13BB260A}"/>
                </a:ext>
              </a:extLst>
            </p:cNvPr>
            <p:cNvSpPr/>
            <p:nvPr/>
          </p:nvSpPr>
          <p:spPr>
            <a:xfrm flipV="1">
              <a:off x="5664211" y="2844642"/>
              <a:ext cx="2167468" cy="1517023"/>
            </a:xfrm>
            <a:prstGeom prst="line">
              <a:avLst/>
            </a:prstGeom>
            <a:ln w="101600">
              <a:solidFill>
                <a:srgbClr val="0433FF"/>
              </a:solidFill>
              <a:miter lim="400000"/>
            </a:ln>
          </p:spPr>
          <p:txBody>
            <a:bodyPr lIns="26789" tIns="26789" rIns="26789" bIns="26789" anchor="ctr"/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648" name="x">
              <a:extLst>
                <a:ext uri="{FF2B5EF4-FFF2-40B4-BE49-F238E27FC236}">
                  <a16:creationId xmlns:a16="http://schemas.microsoft.com/office/drawing/2014/main" id="{3DC2069D-0E55-61A2-197D-AF1898E9D7E7}"/>
                </a:ext>
              </a:extLst>
            </p:cNvPr>
            <p:cNvSpPr txBox="1"/>
            <p:nvPr/>
          </p:nvSpPr>
          <p:spPr>
            <a:xfrm>
              <a:off x="6810602" y="4622783"/>
              <a:ext cx="1393729" cy="29647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6789" tIns="26789" rIns="26789" bIns="26789" anchor="ctr">
              <a:spAutoFit/>
            </a:bodyPr>
            <a:lstStyle/>
            <a:p>
              <a:pPr lvl="2" defTabSz="219075">
                <a:defRPr sz="4200"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  <a:r>
                <a:rPr sz="1575" i="1" dirty="0">
                  <a:latin typeface="Times Roman"/>
                  <a:ea typeface="Times Roman"/>
                  <a:cs typeface="Times Roman"/>
                  <a:sym typeface="Times Roman"/>
                </a:rPr>
                <a:t>x</a:t>
              </a:r>
            </a:p>
          </p:txBody>
        </p:sp>
        <p:sp>
          <p:nvSpPr>
            <p:cNvPr id="649" name="y">
              <a:extLst>
                <a:ext uri="{FF2B5EF4-FFF2-40B4-BE49-F238E27FC236}">
                  <a16:creationId xmlns:a16="http://schemas.microsoft.com/office/drawing/2014/main" id="{87878BC3-D6DA-305E-6700-AEC1C70F8981}"/>
                </a:ext>
              </a:extLst>
            </p:cNvPr>
            <p:cNvSpPr txBox="1"/>
            <p:nvPr/>
          </p:nvSpPr>
          <p:spPr>
            <a:xfrm>
              <a:off x="4443758" y="2478647"/>
              <a:ext cx="1220453" cy="29647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6789" tIns="26789" rIns="26789" bIns="26789" anchor="ctr">
              <a:spAutoFit/>
            </a:bodyPr>
            <a:lstStyle/>
            <a:p>
              <a:pPr lvl="2" defTabSz="219075">
                <a:defRPr sz="4200"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  <a:r>
                <a:rPr sz="1575" i="1" dirty="0">
                  <a:latin typeface="Times Roman"/>
                  <a:ea typeface="Times Roman"/>
                  <a:cs typeface="Times Roman"/>
                  <a:sym typeface="Times Roman"/>
                </a:rPr>
                <a:t>y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61C3A1C-8B0B-0EA4-99BB-97E7F4FD5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Autofit/>
          </a:bodyPr>
          <a:lstStyle/>
          <a:p>
            <a:r>
              <a:rPr lang="en-US" sz="3200" dirty="0"/>
              <a:t>Learning as optimization: </a:t>
            </a:r>
            <a:br>
              <a:rPr lang="en-US" sz="3200" dirty="0"/>
            </a:br>
            <a:r>
              <a:rPr lang="en-US" sz="3200" dirty="0"/>
              <a:t>linear least squares regression</a:t>
            </a:r>
            <a:br>
              <a:rPr lang="en-US" sz="3200" dirty="0"/>
            </a:br>
            <a:r>
              <a:rPr lang="en-US" sz="3200" dirty="0"/>
              <a:t>as empirical risk minimization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Group">
                <a:extLst>
                  <a:ext uri="{FF2B5EF4-FFF2-40B4-BE49-F238E27FC236}">
                    <a16:creationId xmlns:a16="http://schemas.microsoft.com/office/drawing/2014/main" id="{6DB56631-ADB8-A951-F202-1CDFECEF500E}"/>
                  </a:ext>
                </a:extLst>
              </p:cNvPr>
              <p:cNvSpPr txBox="1"/>
              <p:nvPr/>
            </p:nvSpPr>
            <p:spPr>
              <a:xfrm>
                <a:off x="443752" y="1981769"/>
                <a:ext cx="5070554" cy="89024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0" tIns="0" rIns="0" bIns="0">
                <a:spAutoFit/>
              </a:bodyPr>
              <a:lstStyle/>
              <a:p>
                <a:pPr defTabSz="3429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limUpp>
                            <m:limUppPr>
                              <m:ctrlP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lim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̂</m:t>
                              </m:r>
                            </m:lim>
                          </m:limUpp>
                        </m:e>
                        <m:sub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ar-AE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arg</m:t>
                      </m:r>
                      <m:limLow>
                        <m:limLowPr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e>
                        <m:lim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lim>
                      </m:limLow>
                      <m:f>
                        <m:fPr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limUpp>
                        <m:limUppPr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e>
                        <m:lim>
                          <m:r>
                            <a:rPr lang="ar-AE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lim>
                      </m:limUpp>
                      <m:r>
                        <a:rPr lang="ar-AE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ℓ(</m:t>
                      </m:r>
                      <m:r>
                        <a:rPr lang="ar-AE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ar-AE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sSub>
                        <m:sSubPr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800" dirty="0"/>
              </a:p>
            </p:txBody>
          </p:sp>
        </mc:Choice>
        <mc:Fallback xmlns="">
          <p:sp>
            <p:nvSpPr>
              <p:cNvPr id="4" name="Group">
                <a:extLst>
                  <a:ext uri="{FF2B5EF4-FFF2-40B4-BE49-F238E27FC236}">
                    <a16:creationId xmlns:a16="http://schemas.microsoft.com/office/drawing/2014/main" id="{6DB56631-ADB8-A951-F202-1CDFECEF5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752" y="1981769"/>
                <a:ext cx="5070554" cy="890244"/>
              </a:xfrm>
              <a:prstGeom prst="rect">
                <a:avLst/>
              </a:prstGeom>
              <a:blipFill>
                <a:blip r:embed="rId7"/>
                <a:stretch>
                  <a:fillRect b="-7042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E207E3B-BE81-8C1A-E2EF-E4A3B3E73A8B}"/>
              </a:ext>
            </a:extLst>
          </p:cNvPr>
          <p:cNvSpPr txBox="1"/>
          <p:nvPr/>
        </p:nvSpPr>
        <p:spPr>
          <a:xfrm>
            <a:off x="400301" y="3193179"/>
            <a:ext cx="548647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X is the examples: a matrix with N rows (each an example) and D columns (each a feature)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w </a:t>
            </a:r>
            <a:r>
              <a:rPr lang="en-US" sz="2400" dirty="0"/>
              <a:t>is length-D weight </a:t>
            </a:r>
            <a:r>
              <a:rPr lang="en-US" sz="2400" dirty="0" err="1"/>
              <a:t>vectcor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y </a:t>
            </a:r>
            <a:r>
              <a:rPr lang="en-US" sz="2400" dirty="0"/>
              <a:t>is a length-N vector of target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L(</a:t>
            </a:r>
            <a:r>
              <a:rPr lang="en-US" sz="2400" b="1" dirty="0"/>
              <a:t>w; </a:t>
            </a:r>
            <a:r>
              <a:rPr lang="en-US" sz="2400" dirty="0"/>
              <a:t>X, </a:t>
            </a:r>
            <a:r>
              <a:rPr lang="en-US" sz="2400" b="1" dirty="0"/>
              <a:t>y</a:t>
            </a:r>
            <a:r>
              <a:rPr lang="en-US" sz="2400" dirty="0"/>
              <a:t>) is the overall </a:t>
            </a:r>
            <a:r>
              <a:rPr lang="en-US" sz="2400" b="1" dirty="0"/>
              <a:t>square</a:t>
            </a:r>
            <a:r>
              <a:rPr lang="en-US" sz="2400" dirty="0"/>
              <a:t> loss on the N examples</a:t>
            </a:r>
          </a:p>
        </p:txBody>
      </p:sp>
    </p:spTree>
    <p:extLst>
      <p:ext uri="{BB962C8B-B14F-4D97-AF65-F5344CB8AC3E}">
        <p14:creationId xmlns:p14="http://schemas.microsoft.com/office/powerpoint/2010/main" val="260899616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B2E41-6C92-D5DF-04A3-B0AB02663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8A6B1-9DAE-A829-6A00-93D91E895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Autofit/>
          </a:bodyPr>
          <a:lstStyle/>
          <a:p>
            <a:r>
              <a:rPr lang="en-US" sz="3200" dirty="0"/>
              <a:t>Learning as optimization: </a:t>
            </a:r>
            <a:br>
              <a:rPr lang="en-US" sz="3200" dirty="0"/>
            </a:br>
            <a:r>
              <a:rPr lang="en-US" sz="3200" dirty="0"/>
              <a:t>linear least squares regression</a:t>
            </a:r>
            <a:br>
              <a:rPr lang="en-US" sz="3200" dirty="0"/>
            </a:br>
            <a:r>
              <a:rPr lang="en-US" sz="3200" dirty="0"/>
              <a:t>as empirical risk minimization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47FA25-0379-F149-D339-C50B946733D3}"/>
              </a:ext>
            </a:extLst>
          </p:cNvPr>
          <p:cNvSpPr txBox="1"/>
          <p:nvPr/>
        </p:nvSpPr>
        <p:spPr>
          <a:xfrm>
            <a:off x="670124" y="1709153"/>
            <a:ext cx="82579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X is the examples: a matrix with N rows (each an example) and D columns (each a feature)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w </a:t>
            </a:r>
            <a:r>
              <a:rPr lang="en-US" sz="2400" dirty="0"/>
              <a:t>is length-D weight </a:t>
            </a:r>
            <a:r>
              <a:rPr lang="en-US" sz="2400" dirty="0" err="1"/>
              <a:t>vectcor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y </a:t>
            </a:r>
            <a:r>
              <a:rPr lang="en-US" sz="2400" dirty="0"/>
              <a:t>is a length-N vector of target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L(</a:t>
            </a:r>
            <a:r>
              <a:rPr lang="en-US" sz="2400" b="1" dirty="0"/>
              <a:t>w; </a:t>
            </a:r>
            <a:r>
              <a:rPr lang="en-US" sz="2400" dirty="0"/>
              <a:t>X, </a:t>
            </a:r>
            <a:r>
              <a:rPr lang="en-US" sz="2400" b="1" dirty="0"/>
              <a:t>y</a:t>
            </a:r>
            <a:r>
              <a:rPr lang="en-US" sz="2400" dirty="0"/>
              <a:t>) is the overall loss on the N 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Optimization task: find </a:t>
            </a:r>
            <a:r>
              <a:rPr lang="en-US" sz="2400" b="1" dirty="0"/>
              <a:t>w </a:t>
            </a:r>
            <a:r>
              <a:rPr lang="en-US" sz="2400" dirty="0"/>
              <a:t>to minimize L :</a:t>
            </a:r>
          </a:p>
        </p:txBody>
      </p:sp>
      <p:pic>
        <p:nvPicPr>
          <p:cNvPr id="7" name="Picture 6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4E70478F-DEBB-FC2A-5808-8A70FD383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081" y="4386809"/>
            <a:ext cx="4449838" cy="131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66371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43AF2-ADBB-DA0D-C382-DA556960B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EE499-42A7-D4E1-899E-47D624257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Autofit/>
          </a:bodyPr>
          <a:lstStyle/>
          <a:p>
            <a:r>
              <a:rPr lang="en-US" sz="3200" dirty="0"/>
              <a:t>Learning as optimization: </a:t>
            </a:r>
            <a:br>
              <a:rPr lang="en-US" sz="3200" dirty="0"/>
            </a:br>
            <a:r>
              <a:rPr lang="en-US" sz="3200" dirty="0"/>
              <a:t>linear least squares regression</a:t>
            </a:r>
            <a:br>
              <a:rPr lang="en-US" sz="3200" dirty="0"/>
            </a:br>
            <a:r>
              <a:rPr lang="en-US" sz="3200" dirty="0"/>
              <a:t>as empirical risk minimization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AFFCD3-2402-20CE-B13E-E6914E837A15}"/>
              </a:ext>
            </a:extLst>
          </p:cNvPr>
          <p:cNvSpPr txBox="1"/>
          <p:nvPr/>
        </p:nvSpPr>
        <p:spPr>
          <a:xfrm>
            <a:off x="670124" y="3555812"/>
            <a:ext cx="8257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Optimization task: find </a:t>
            </a:r>
            <a:r>
              <a:rPr lang="en-US" sz="2400" b="1" dirty="0"/>
              <a:t>w </a:t>
            </a:r>
            <a:r>
              <a:rPr lang="en-US" sz="2400" dirty="0"/>
              <a:t>to minimize L :</a:t>
            </a:r>
          </a:p>
        </p:txBody>
      </p:sp>
      <p:pic>
        <p:nvPicPr>
          <p:cNvPr id="7" name="Picture 6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8AE450D5-7E96-5A4D-6B8A-13C4D3D99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081" y="4386809"/>
            <a:ext cx="4449838" cy="13104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02F571-C985-B2D3-92F6-AAD0B70869CC}"/>
              </a:ext>
            </a:extLst>
          </p:cNvPr>
          <p:cNvSpPr txBox="1"/>
          <p:nvPr/>
        </p:nvSpPr>
        <p:spPr>
          <a:xfrm>
            <a:off x="1148878" y="1520474"/>
            <a:ext cx="6846244" cy="2246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If you assume the data </a:t>
            </a:r>
            <a:r>
              <a:rPr lang="en-US" sz="2800" b="1" dirty="0"/>
              <a:t>y=</a:t>
            </a:r>
            <a:r>
              <a:rPr lang="en-US" sz="2800" dirty="0" err="1"/>
              <a:t>X</a:t>
            </a:r>
            <a:r>
              <a:rPr lang="en-US" sz="2800" b="1" dirty="0" err="1"/>
              <a:t>w</a:t>
            </a:r>
            <a:r>
              <a:rPr lang="en-US" sz="2800" b="1" dirty="0"/>
              <a:t> </a:t>
            </a:r>
            <a:r>
              <a:rPr lang="en-US" sz="2800" dirty="0"/>
              <a:t>+ </a:t>
            </a:r>
            <a:r>
              <a:rPr lang="en-US" sz="2800" b="1" dirty="0"/>
              <a:t>n</a:t>
            </a:r>
            <a:r>
              <a:rPr lang="en-US" sz="2800" dirty="0"/>
              <a:t> where </a:t>
            </a:r>
            <a:r>
              <a:rPr lang="en-US" sz="2800" b="1" dirty="0"/>
              <a:t>n </a:t>
            </a:r>
            <a:r>
              <a:rPr lang="en-US" sz="2800" dirty="0"/>
              <a:t>is Gaussian noise then</a:t>
            </a:r>
          </a:p>
          <a:p>
            <a:endParaRPr lang="en-US" sz="2800" dirty="0"/>
          </a:p>
          <a:p>
            <a:pPr algn="ctr"/>
            <a:r>
              <a:rPr lang="en-US" sz="2800" dirty="0"/>
              <a:t>least-squares </a:t>
            </a:r>
            <a:r>
              <a:rPr lang="en-US" sz="2800" dirty="0">
                <a:sym typeface="Wingdings" pitchFamily="2" charset="2"/>
              </a:rPr>
              <a:t> maximum likelihood</a:t>
            </a:r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8914501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9896C2-D8D8-C7BF-8E83-9B1812E7D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709E770-091E-4E61-5763-7E706A9868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00"/>
          <a:stretch/>
        </p:blipFill>
        <p:spPr bwMode="auto">
          <a:xfrm>
            <a:off x="627634" y="137160"/>
            <a:ext cx="4887913" cy="658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1C751E95-1370-35A1-8FF6-1885A7A451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31" t="83067" r="18821" b="4000"/>
          <a:stretch/>
        </p:blipFill>
        <p:spPr bwMode="auto">
          <a:xfrm>
            <a:off x="4773835" y="4646645"/>
            <a:ext cx="3861948" cy="125707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B1EB4B3-C911-613E-9CAC-464636C90F52}"/>
              </a:ext>
            </a:extLst>
          </p:cNvPr>
          <p:cNvCxnSpPr>
            <a:cxnSpLocks/>
          </p:cNvCxnSpPr>
          <p:nvPr/>
        </p:nvCxnSpPr>
        <p:spPr>
          <a:xfrm flipH="1" flipV="1">
            <a:off x="3273552" y="1243584"/>
            <a:ext cx="1950537" cy="192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4FA5A19-4262-55C5-485A-4B6A52200910}"/>
              </a:ext>
            </a:extLst>
          </p:cNvPr>
          <p:cNvCxnSpPr>
            <a:cxnSpLocks/>
          </p:cNvCxnSpPr>
          <p:nvPr/>
        </p:nvCxnSpPr>
        <p:spPr>
          <a:xfrm flipH="1">
            <a:off x="4005072" y="5491611"/>
            <a:ext cx="768763" cy="10473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A505F30-9BCA-6D4C-1151-EE45D96141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77" t="6400" r="26456" b="73600"/>
          <a:stretch/>
        </p:blipFill>
        <p:spPr bwMode="auto">
          <a:xfrm>
            <a:off x="5224089" y="234472"/>
            <a:ext cx="4237152" cy="2403572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5BB56C9-0733-845D-0C4D-9FE8E4405C16}"/>
              </a:ext>
            </a:extLst>
          </p:cNvPr>
          <p:cNvSpPr/>
          <p:nvPr/>
        </p:nvSpPr>
        <p:spPr>
          <a:xfrm>
            <a:off x="7620000" y="524380"/>
            <a:ext cx="2481943" cy="2904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39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CDEE5-3CB8-34FE-3A48-1B0AAC8DC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144EE-E7C4-FCC5-E883-32BEAFFC3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Autofit/>
          </a:bodyPr>
          <a:lstStyle/>
          <a:p>
            <a:r>
              <a:rPr lang="en-US" sz="3200" dirty="0"/>
              <a:t>Learning as optimization: </a:t>
            </a:r>
            <a:br>
              <a:rPr lang="en-US" sz="3200" dirty="0"/>
            </a:br>
            <a:r>
              <a:rPr lang="en-US" sz="3200" dirty="0"/>
              <a:t>linear least squares regression</a:t>
            </a:r>
            <a:br>
              <a:rPr lang="en-US" sz="3200" dirty="0"/>
            </a:br>
            <a:r>
              <a:rPr lang="en-US" sz="3200" dirty="0"/>
              <a:t>as empirical risk minimization</a:t>
            </a:r>
          </a:p>
        </p:txBody>
      </p:sp>
      <p:pic>
        <p:nvPicPr>
          <p:cNvPr id="7" name="Picture 6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2A4B8BF9-0A13-C2A8-9CB4-8F0EFEB21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169" y="1388038"/>
            <a:ext cx="4068710" cy="1198228"/>
          </a:xfrm>
          <a:prstGeom prst="rect">
            <a:avLst/>
          </a:prstGeom>
        </p:spPr>
      </p:pic>
      <p:pic>
        <p:nvPicPr>
          <p:cNvPr id="4" name="Picture 3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E1656904-3FF9-1A6F-3352-EA3E10DF4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2555500"/>
            <a:ext cx="8743766" cy="343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55234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FB2B6-9A68-90D6-DC5F-F8626377E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ED5DC-F697-D744-BD2E-8EBE36AA0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Autofit/>
          </a:bodyPr>
          <a:lstStyle/>
          <a:p>
            <a:r>
              <a:rPr lang="en-US" sz="3200" dirty="0"/>
              <a:t>Learning as optimization: </a:t>
            </a:r>
            <a:br>
              <a:rPr lang="en-US" sz="3200" dirty="0"/>
            </a:br>
            <a:r>
              <a:rPr lang="en-US" sz="3200" dirty="0"/>
              <a:t>linear least squares regression</a:t>
            </a:r>
            <a:br>
              <a:rPr lang="en-US" sz="3200" dirty="0"/>
            </a:br>
            <a:r>
              <a:rPr lang="en-US" sz="3200" dirty="0"/>
              <a:t>as empirical risk minimization</a:t>
            </a:r>
          </a:p>
        </p:txBody>
      </p:sp>
      <p:pic>
        <p:nvPicPr>
          <p:cNvPr id="7" name="Picture 6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17D48AC4-FF51-A1D9-BBFA-E911E8E56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169" y="1388038"/>
            <a:ext cx="4068710" cy="1198228"/>
          </a:xfrm>
          <a:prstGeom prst="rect">
            <a:avLst/>
          </a:prstGeom>
        </p:spPr>
      </p:pic>
      <p:pic>
        <p:nvPicPr>
          <p:cNvPr id="4" name="Picture 3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B8587DFD-7DFF-BEEC-E30C-E3B26AE793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539" r="72165" b="10805"/>
          <a:stretch/>
        </p:blipFill>
        <p:spPr>
          <a:xfrm>
            <a:off x="279400" y="2612499"/>
            <a:ext cx="2433820" cy="640367"/>
          </a:xfrm>
          <a:prstGeom prst="rect">
            <a:avLst/>
          </a:prstGeom>
        </p:spPr>
      </p:pic>
      <p:pic>
        <p:nvPicPr>
          <p:cNvPr id="5" name="Picture 4" descr="A group of math equations&#10;&#10;AI-generated content may be incorrect.">
            <a:extLst>
              <a:ext uri="{FF2B5EF4-FFF2-40B4-BE49-F238E27FC236}">
                <a16:creationId xmlns:a16="http://schemas.microsoft.com/office/drawing/2014/main" id="{AB67F535-E199-8331-424B-E933934872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3774" y="2811235"/>
            <a:ext cx="336550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86913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39773-BC36-416F-11EC-5B90AA4C6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AE1A4-60DF-6773-6DF2-E7F83715B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Autofit/>
          </a:bodyPr>
          <a:lstStyle/>
          <a:p>
            <a:r>
              <a:rPr lang="en-US" sz="3200" dirty="0"/>
              <a:t>Learning as optimization: </a:t>
            </a:r>
            <a:br>
              <a:rPr lang="en-US" sz="3200" dirty="0"/>
            </a:br>
            <a:r>
              <a:rPr lang="en-US" sz="3200" dirty="0"/>
              <a:t>linear least squares regression</a:t>
            </a:r>
            <a:br>
              <a:rPr lang="en-US" sz="3200" dirty="0"/>
            </a:br>
            <a:r>
              <a:rPr lang="en-US" sz="3200" dirty="0"/>
              <a:t>as empirical risk minimization</a:t>
            </a:r>
          </a:p>
        </p:txBody>
      </p:sp>
      <p:pic>
        <p:nvPicPr>
          <p:cNvPr id="7" name="Picture 6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4B28FFA2-1A55-F381-30B2-4EFDD892C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169" y="1388038"/>
            <a:ext cx="4068710" cy="1198228"/>
          </a:xfrm>
          <a:prstGeom prst="rect">
            <a:avLst/>
          </a:prstGeom>
        </p:spPr>
      </p:pic>
      <p:pic>
        <p:nvPicPr>
          <p:cNvPr id="5" name="Picture 4" descr="A group of math equations&#10;&#10;AI-generated content may be incorrect.">
            <a:extLst>
              <a:ext uri="{FF2B5EF4-FFF2-40B4-BE49-F238E27FC236}">
                <a16:creationId xmlns:a16="http://schemas.microsoft.com/office/drawing/2014/main" id="{D2058E59-7204-587C-D642-1AF3F4FBCF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543"/>
          <a:stretch/>
        </p:blipFill>
        <p:spPr>
          <a:xfrm>
            <a:off x="2407041" y="2447126"/>
            <a:ext cx="3365500" cy="8604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59890A-4EA7-5E25-EAA4-DFAD2C656E97}"/>
              </a:ext>
            </a:extLst>
          </p:cNvPr>
          <p:cNvSpPr txBox="1"/>
          <p:nvPr/>
        </p:nvSpPr>
        <p:spPr>
          <a:xfrm>
            <a:off x="569626" y="2577580"/>
            <a:ext cx="2278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Minimum is where:</a:t>
            </a:r>
          </a:p>
        </p:txBody>
      </p:sp>
      <p:pic>
        <p:nvPicPr>
          <p:cNvPr id="8" name="Picture 7" descr="A math equations with black text&#10;&#10;AI-generated content may be incorrect.">
            <a:extLst>
              <a:ext uri="{FF2B5EF4-FFF2-40B4-BE49-F238E27FC236}">
                <a16:creationId xmlns:a16="http://schemas.microsoft.com/office/drawing/2014/main" id="{F4D023EB-ED91-C23F-A3B5-B1C47F1336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438012"/>
            <a:ext cx="8976049" cy="261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412206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8CFD2-0EE5-5441-3310-F8E0A9F61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462BA-1E24-992C-B017-E1F70E78B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Autofit/>
          </a:bodyPr>
          <a:lstStyle/>
          <a:p>
            <a:r>
              <a:rPr lang="en-US" sz="3200" dirty="0"/>
              <a:t>Learning as optimization: </a:t>
            </a:r>
            <a:br>
              <a:rPr lang="en-US" sz="3200" dirty="0"/>
            </a:br>
            <a:r>
              <a:rPr lang="en-US" sz="3200" dirty="0"/>
              <a:t>linear least squares regression</a:t>
            </a:r>
            <a:br>
              <a:rPr lang="en-US" sz="3200" dirty="0"/>
            </a:br>
            <a:r>
              <a:rPr lang="en-US" sz="3200" dirty="0"/>
              <a:t>as empirical risk minimization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94770F-2F1C-AF2F-5997-0738AEECB68E}"/>
              </a:ext>
            </a:extLst>
          </p:cNvPr>
          <p:cNvSpPr txBox="1"/>
          <p:nvPr/>
        </p:nvSpPr>
        <p:spPr>
          <a:xfrm>
            <a:off x="670124" y="1709153"/>
            <a:ext cx="8257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Task: find </a:t>
            </a:r>
            <a:r>
              <a:rPr lang="en-US" sz="2400" b="1" dirty="0"/>
              <a:t>w </a:t>
            </a:r>
            <a:r>
              <a:rPr lang="en-US" sz="2400" dirty="0"/>
              <a:t>to minimize L:</a:t>
            </a:r>
          </a:p>
        </p:txBody>
      </p:sp>
      <p:pic>
        <p:nvPicPr>
          <p:cNvPr id="7" name="Picture 6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492A5129-E4CA-8811-7A6B-8689859B9C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139"/>
          <a:stretch/>
        </p:blipFill>
        <p:spPr>
          <a:xfrm>
            <a:off x="2017297" y="2170818"/>
            <a:ext cx="4449838" cy="1020348"/>
          </a:xfrm>
          <a:prstGeom prst="rect">
            <a:avLst/>
          </a:prstGeom>
        </p:spPr>
      </p:pic>
      <p:pic>
        <p:nvPicPr>
          <p:cNvPr id="3" name="Picture 2" descr="A math equations with black text&#10;&#10;AI-generated content may be incorrect.">
            <a:extLst>
              <a:ext uri="{FF2B5EF4-FFF2-40B4-BE49-F238E27FC236}">
                <a16:creationId xmlns:a16="http://schemas.microsoft.com/office/drawing/2014/main" id="{F828B5DA-05C0-DA89-EE02-D40D8858A3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412" t="80532" r="34034" b="4008"/>
          <a:stretch/>
        </p:blipFill>
        <p:spPr>
          <a:xfrm>
            <a:off x="4895427" y="3152139"/>
            <a:ext cx="3295577" cy="5596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5C921B-FDBA-17BE-C8B1-016B202F4579}"/>
              </a:ext>
            </a:extLst>
          </p:cNvPr>
          <p:cNvSpPr txBox="1"/>
          <p:nvPr/>
        </p:nvSpPr>
        <p:spPr>
          <a:xfrm>
            <a:off x="279400" y="3250101"/>
            <a:ext cx="4906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So: solve this system of D equations: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2C3E02-3711-CF9C-1AF2-68BAC9D95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24" y="3988975"/>
            <a:ext cx="4536703" cy="562948"/>
          </a:xfrm>
          <a:prstGeom prst="rect">
            <a:avLst/>
          </a:prstGeom>
        </p:spPr>
      </p:pic>
      <p:sp>
        <p:nvSpPr>
          <p:cNvPr id="6" name="Up Arrow 5">
            <a:extLst>
              <a:ext uri="{FF2B5EF4-FFF2-40B4-BE49-F238E27FC236}">
                <a16:creationId xmlns:a16="http://schemas.microsoft.com/office/drawing/2014/main" id="{0966E90D-284E-0EB0-264E-27D628E6C041}"/>
              </a:ext>
            </a:extLst>
          </p:cNvPr>
          <p:cNvSpPr/>
          <p:nvPr/>
        </p:nvSpPr>
        <p:spPr>
          <a:xfrm rot="20543232">
            <a:off x="5622213" y="3768170"/>
            <a:ext cx="619007" cy="1589147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166C2B-318F-37C8-FDDB-D297038F26E7}"/>
              </a:ext>
            </a:extLst>
          </p:cNvPr>
          <p:cNvSpPr txBox="1"/>
          <p:nvPr/>
        </p:nvSpPr>
        <p:spPr>
          <a:xfrm>
            <a:off x="4799112" y="5644075"/>
            <a:ext cx="3234001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Expensive for large N, D</a:t>
            </a:r>
          </a:p>
        </p:txBody>
      </p:sp>
      <p:sp>
        <p:nvSpPr>
          <p:cNvPr id="10" name="Up Arrow 9">
            <a:extLst>
              <a:ext uri="{FF2B5EF4-FFF2-40B4-BE49-F238E27FC236}">
                <a16:creationId xmlns:a16="http://schemas.microsoft.com/office/drawing/2014/main" id="{953FE37D-921D-F2FC-A986-1CE642BE7C80}"/>
              </a:ext>
            </a:extLst>
          </p:cNvPr>
          <p:cNvSpPr/>
          <p:nvPr/>
        </p:nvSpPr>
        <p:spPr>
          <a:xfrm rot="18965733">
            <a:off x="3697632" y="4354273"/>
            <a:ext cx="619007" cy="1589147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B0072A-4BB5-6EB1-DCEF-3CFEB123FF5C}"/>
              </a:ext>
            </a:extLst>
          </p:cNvPr>
          <p:cNvSpPr txBox="1"/>
          <p:nvPr/>
        </p:nvSpPr>
        <p:spPr>
          <a:xfrm>
            <a:off x="5909999" y="1558627"/>
            <a:ext cx="3234001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What else can we do?</a:t>
            </a:r>
          </a:p>
        </p:txBody>
      </p:sp>
    </p:spTree>
    <p:extLst>
      <p:ext uri="{BB962C8B-B14F-4D97-AF65-F5344CB8AC3E}">
        <p14:creationId xmlns:p14="http://schemas.microsoft.com/office/powerpoint/2010/main" val="26003119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 for Linear Regression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190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F2C3E-656E-71D6-7567-1F29E3D0F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32AC3-0F6D-707F-3F66-3A19771B7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Autofit/>
          </a:bodyPr>
          <a:lstStyle/>
          <a:p>
            <a:r>
              <a:rPr lang="en-US" sz="3200" dirty="0"/>
              <a:t>Learning as optimization: </a:t>
            </a:r>
            <a:br>
              <a:rPr lang="en-US" sz="3200" dirty="0"/>
            </a:br>
            <a:r>
              <a:rPr lang="en-US" sz="3200" dirty="0"/>
              <a:t>linear least squares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99E367-0CD1-FC52-5873-F8E849E2E287}"/>
              </a:ext>
            </a:extLst>
          </p:cNvPr>
          <p:cNvSpPr txBox="1"/>
          <p:nvPr/>
        </p:nvSpPr>
        <p:spPr>
          <a:xfrm>
            <a:off x="670124" y="1812503"/>
            <a:ext cx="8257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 minimize</a:t>
            </a:r>
          </a:p>
        </p:txBody>
      </p:sp>
      <p:pic>
        <p:nvPicPr>
          <p:cNvPr id="7" name="Picture 6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80628D1F-39BE-F6CA-9968-9AE54F78B5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139"/>
          <a:stretch/>
        </p:blipFill>
        <p:spPr>
          <a:xfrm>
            <a:off x="2772307" y="1587242"/>
            <a:ext cx="4449838" cy="1020348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307F5BBD-E375-837B-FC9D-68A9F91536D2}"/>
              </a:ext>
            </a:extLst>
          </p:cNvPr>
          <p:cNvGrpSpPr/>
          <p:nvPr/>
        </p:nvGrpSpPr>
        <p:grpSpPr>
          <a:xfrm>
            <a:off x="2580518" y="2707587"/>
            <a:ext cx="3548819" cy="559627"/>
            <a:chOff x="0" y="0"/>
            <a:chExt cx="9463517" cy="1492338"/>
          </a:xfrm>
        </p:grpSpPr>
        <p:sp>
          <p:nvSpPr>
            <p:cNvPr id="9" name="Rounded Rectangle">
              <a:extLst>
                <a:ext uri="{FF2B5EF4-FFF2-40B4-BE49-F238E27FC236}">
                  <a16:creationId xmlns:a16="http://schemas.microsoft.com/office/drawing/2014/main" id="{7B4C0B3C-3D67-75FB-0F60-A2BE407958AD}"/>
                </a:ext>
              </a:extLst>
            </p:cNvPr>
            <p:cNvSpPr/>
            <p:nvPr/>
          </p:nvSpPr>
          <p:spPr>
            <a:xfrm>
              <a:off x="0" y="0"/>
              <a:ext cx="9463517" cy="1492338"/>
            </a:xfrm>
            <a:prstGeom prst="roundRect">
              <a:avLst>
                <a:gd name="adj" fmla="val 6954"/>
              </a:avLst>
            </a:prstGeom>
            <a:solidFill>
              <a:srgbClr val="A8D6FF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A2490882-7C57-0BCF-1F18-68C6776789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29906" y="387575"/>
              <a:ext cx="6091536" cy="83609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" name="Computation: O(nk2 + k3) operations">
            <a:extLst>
              <a:ext uri="{FF2B5EF4-FFF2-40B4-BE49-F238E27FC236}">
                <a16:creationId xmlns:a16="http://schemas.microsoft.com/office/drawing/2014/main" id="{EFADDCE4-468C-4C4E-63FE-258EB8FC2DB3}"/>
              </a:ext>
            </a:extLst>
          </p:cNvPr>
          <p:cNvSpPr txBox="1"/>
          <p:nvPr/>
        </p:nvSpPr>
        <p:spPr>
          <a:xfrm>
            <a:off x="-209958" y="3614268"/>
            <a:ext cx="9138057" cy="62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/>
          <a:lstStyle/>
          <a:p>
            <a:pPr lvl="2" indent="171450" defTabSz="308074">
              <a:spcBef>
                <a:spcPts val="375"/>
              </a:spcBef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lang="en-US" sz="2400" b="1" dirty="0"/>
              <a:t>Cost</a:t>
            </a:r>
            <a:r>
              <a:rPr sz="2400" dirty="0"/>
              <a:t>: O(</a:t>
            </a:r>
            <a:r>
              <a:rPr lang="en-US" sz="2400" i="1" dirty="0"/>
              <a:t>ND</a:t>
            </a:r>
            <a:r>
              <a:rPr sz="2400" baseline="31999" dirty="0"/>
              <a:t>2</a:t>
            </a:r>
            <a:r>
              <a:rPr sz="2400" dirty="0"/>
              <a:t> + </a:t>
            </a:r>
            <a:r>
              <a:rPr lang="en-US" sz="2400" i="1" dirty="0"/>
              <a:t>D</a:t>
            </a:r>
            <a:r>
              <a:rPr sz="2400" i="1" baseline="31999" dirty="0"/>
              <a:t>3</a:t>
            </a:r>
            <a:r>
              <a:rPr sz="2400" dirty="0"/>
              <a:t>) operations</a:t>
            </a:r>
            <a:r>
              <a:rPr lang="en-US" sz="2400" dirty="0"/>
              <a:t> - Impractical for large D!</a:t>
            </a:r>
            <a:endParaRPr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F4F540-7D53-D39B-1476-6A96EA65DBA7}"/>
              </a:ext>
            </a:extLst>
          </p:cNvPr>
          <p:cNvSpPr txBox="1"/>
          <p:nvPr/>
        </p:nvSpPr>
        <p:spPr>
          <a:xfrm>
            <a:off x="679307" y="2437061"/>
            <a:ext cx="8257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Compute</a:t>
            </a:r>
          </a:p>
        </p:txBody>
      </p:sp>
      <p:sp>
        <p:nvSpPr>
          <p:cNvPr id="16" name="Computation: O(nk2 + k3) operations">
            <a:extLst>
              <a:ext uri="{FF2B5EF4-FFF2-40B4-BE49-F238E27FC236}">
                <a16:creationId xmlns:a16="http://schemas.microsoft.com/office/drawing/2014/main" id="{4563762E-3B2E-DA73-A100-BBF226F1C08A}"/>
              </a:ext>
            </a:extLst>
          </p:cNvPr>
          <p:cNvSpPr txBox="1"/>
          <p:nvPr/>
        </p:nvSpPr>
        <p:spPr>
          <a:xfrm>
            <a:off x="-214102" y="4238824"/>
            <a:ext cx="8986627" cy="2619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/>
          <a:lstStyle/>
          <a:p>
            <a:pPr lvl="2" indent="171450" defTabSz="308074">
              <a:spcBef>
                <a:spcPts val="375"/>
              </a:spcBef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lang="en-US" sz="2400" b="1" dirty="0"/>
              <a:t>More scalable method: </a:t>
            </a:r>
            <a:r>
              <a:rPr lang="en-US" sz="2400" dirty="0"/>
              <a:t>gradient descent</a:t>
            </a:r>
          </a:p>
          <a:p>
            <a:pPr lvl="2" indent="171450" defTabSz="308074">
              <a:spcBef>
                <a:spcPts val="375"/>
              </a:spcBef>
              <a:defRPr sz="5000">
                <a:latin typeface="+mn-lt"/>
                <a:ea typeface="+mn-ea"/>
                <a:cs typeface="+mn-cs"/>
                <a:sym typeface="Helvetica"/>
              </a:defRPr>
            </a:pPr>
            <a:endParaRPr lang="en-US" sz="2400" dirty="0"/>
          </a:p>
          <a:p>
            <a:pPr lvl="2" indent="171450" defTabSz="308074">
              <a:spcBef>
                <a:spcPts val="375"/>
              </a:spcBef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lang="en-US" sz="2400" dirty="0"/>
              <a:t>Each iteration is O(DN) </a:t>
            </a:r>
          </a:p>
          <a:p>
            <a:pPr lvl="2" indent="171450" defTabSz="308074">
              <a:spcBef>
                <a:spcPts val="375"/>
              </a:spcBef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lang="en-US" sz="2400" dirty="0"/>
              <a:t>Often converges quickly</a:t>
            </a:r>
          </a:p>
          <a:p>
            <a:pPr lvl="2" indent="171450" defTabSz="308074">
              <a:spcBef>
                <a:spcPts val="375"/>
              </a:spcBef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lang="en-US" sz="2400" dirty="0"/>
              <a:t>Can also exploit sparse features and can parallelize</a:t>
            </a:r>
          </a:p>
          <a:p>
            <a:pPr lvl="2" indent="171450" defTabSz="308074">
              <a:spcBef>
                <a:spcPts val="375"/>
              </a:spcBef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lang="en-US" sz="2400" dirty="0"/>
              <a:t>Generalizes to many other empirical risk minimization settings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4377391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8" name="Connection Line"/>
          <p:cNvSpPr/>
          <p:nvPr/>
        </p:nvSpPr>
        <p:spPr>
          <a:xfrm>
            <a:off x="5648404" y="2500739"/>
            <a:ext cx="2268663" cy="18201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1" extrusionOk="0">
                <a:moveTo>
                  <a:pt x="21600" y="0"/>
                </a:moveTo>
                <a:cubicBezTo>
                  <a:pt x="15000" y="21473"/>
                  <a:pt x="7800" y="21600"/>
                  <a:pt x="0" y="381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/>
          <a:lstStyle/>
          <a:p>
            <a:endParaRPr sz="675"/>
          </a:p>
        </p:txBody>
      </p:sp>
      <p:sp>
        <p:nvSpPr>
          <p:cNvPr id="5257" name="Start at a random point…"/>
          <p:cNvSpPr txBox="1"/>
          <p:nvPr/>
        </p:nvSpPr>
        <p:spPr>
          <a:xfrm>
            <a:off x="330003" y="2885237"/>
            <a:ext cx="3529412" cy="149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defTabSz="171450"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1875"/>
              <a:t>Start at a random point</a:t>
            </a:r>
          </a:p>
          <a:p>
            <a:pPr defTabSz="171450">
              <a:defRPr sz="5000">
                <a:latin typeface="+mn-lt"/>
                <a:ea typeface="+mn-ea"/>
                <a:cs typeface="+mn-cs"/>
                <a:sym typeface="Helvetica"/>
              </a:defRPr>
            </a:pPr>
            <a:endParaRPr sz="1875"/>
          </a:p>
          <a:p>
            <a:pPr indent="476250" defTabSz="171450"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1875"/>
              <a:t>Determine a descent direction</a:t>
            </a:r>
          </a:p>
          <a:p>
            <a:pPr indent="476250" defTabSz="171450"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1875"/>
              <a:t>Choose a step size</a:t>
            </a:r>
          </a:p>
          <a:p>
            <a:pPr indent="476250" defTabSz="171450"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1875"/>
              <a:t>Update</a:t>
            </a:r>
          </a:p>
        </p:txBody>
      </p:sp>
      <p:sp>
        <p:nvSpPr>
          <p:cNvPr id="5258" name="Line"/>
          <p:cNvSpPr/>
          <p:nvPr/>
        </p:nvSpPr>
        <p:spPr>
          <a:xfrm flipV="1">
            <a:off x="5127129" y="2503420"/>
            <a:ext cx="0" cy="2137041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26789" tIns="26789" rIns="26789" bIns="26789" anchor="ctr"/>
          <a:lstStyle/>
          <a:p>
            <a:pPr defTabSz="219075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100"/>
          </a:p>
        </p:txBody>
      </p:sp>
      <p:sp>
        <p:nvSpPr>
          <p:cNvPr id="5259" name="Line"/>
          <p:cNvSpPr/>
          <p:nvPr/>
        </p:nvSpPr>
        <p:spPr>
          <a:xfrm>
            <a:off x="5130171" y="4636806"/>
            <a:ext cx="3400640" cy="0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26789" tIns="26789" rIns="26789" bIns="26789" anchor="ctr"/>
          <a:lstStyle/>
          <a:p>
            <a:pPr defTabSz="219075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100"/>
          </a:p>
        </p:txBody>
      </p:sp>
      <p:sp>
        <p:nvSpPr>
          <p:cNvPr id="5260" name="w"/>
          <p:cNvSpPr txBox="1"/>
          <p:nvPr/>
        </p:nvSpPr>
        <p:spPr>
          <a:xfrm>
            <a:off x="8298258" y="4562690"/>
            <a:ext cx="259286" cy="423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l" defTabSz="457200">
              <a:defRPr sz="6400" i="1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sz="2400"/>
              <a:t>w</a:t>
            </a:r>
          </a:p>
        </p:txBody>
      </p:sp>
      <p:sp>
        <p:nvSpPr>
          <p:cNvPr id="5261" name="f(w)"/>
          <p:cNvSpPr txBox="1"/>
          <p:nvPr/>
        </p:nvSpPr>
        <p:spPr>
          <a:xfrm>
            <a:off x="4521000" y="2415859"/>
            <a:ext cx="488516" cy="377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l" defTabSz="457200">
              <a:defRPr sz="5600" i="1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sz="2100"/>
              <a:t>f(w)</a:t>
            </a:r>
          </a:p>
        </p:txBody>
      </p:sp>
      <p:grpSp>
        <p:nvGrpSpPr>
          <p:cNvPr id="5265" name="Group"/>
          <p:cNvGrpSpPr/>
          <p:nvPr/>
        </p:nvGrpSpPr>
        <p:grpSpPr>
          <a:xfrm>
            <a:off x="7455491" y="3466636"/>
            <a:ext cx="476250" cy="1754999"/>
            <a:chOff x="0" y="-508000"/>
            <a:chExt cx="1270000" cy="4679995"/>
          </a:xfrm>
        </p:grpSpPr>
        <p:sp>
          <p:nvSpPr>
            <p:cNvPr id="5262" name="Line"/>
            <p:cNvSpPr/>
            <p:nvPr/>
          </p:nvSpPr>
          <p:spPr>
            <a:xfrm flipV="1">
              <a:off x="261526" y="-348692"/>
              <a:ext cx="1" cy="3029539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263" name="Circle"/>
            <p:cNvSpPr/>
            <p:nvPr/>
          </p:nvSpPr>
          <p:spPr>
            <a:xfrm>
              <a:off x="116323" y="-508000"/>
              <a:ext cx="267891" cy="267891"/>
            </a:xfrm>
            <a:prstGeom prst="ellipse">
              <a:avLst/>
            </a:prstGeom>
            <a:solidFill>
              <a:srgbClr val="00882B"/>
            </a:solidFill>
            <a:ln w="12700" cap="flat">
              <a:noFill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264" name="Group"/>
            <p:cNvSpPr/>
            <p:nvPr/>
          </p:nvSpPr>
          <p:spPr>
            <a:xfrm>
              <a:off x="0" y="2901995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pPr defTabSz="308074">
                <a:defRPr sz="3500"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  <a:r>
                <a:rPr sz="1313" i="1">
                  <a:latin typeface="Times Roman"/>
                  <a:ea typeface="Times Roman"/>
                  <a:cs typeface="Times Roman"/>
                  <a:sym typeface="Times Roman"/>
                </a:rPr>
                <a:t>w</a:t>
              </a:r>
              <a:r>
                <a:rPr sz="1313" i="1" baseline="-5999">
                  <a:latin typeface="Times Roman"/>
                  <a:ea typeface="Times Roman"/>
                  <a:cs typeface="Times Roman"/>
                  <a:sym typeface="Times Roman"/>
                </a:rPr>
                <a:t>1</a:t>
              </a:r>
            </a:p>
          </p:txBody>
        </p:sp>
      </p:grpSp>
      <p:grpSp>
        <p:nvGrpSpPr>
          <p:cNvPr id="5270" name="Group"/>
          <p:cNvGrpSpPr/>
          <p:nvPr/>
        </p:nvGrpSpPr>
        <p:grpSpPr>
          <a:xfrm>
            <a:off x="7702994" y="2922985"/>
            <a:ext cx="476250" cy="2298676"/>
            <a:chOff x="0" y="0"/>
            <a:chExt cx="1270000" cy="6129802"/>
          </a:xfrm>
        </p:grpSpPr>
        <p:sp>
          <p:nvSpPr>
            <p:cNvPr id="5266" name="Line"/>
            <p:cNvSpPr/>
            <p:nvPr/>
          </p:nvSpPr>
          <p:spPr>
            <a:xfrm flipV="1">
              <a:off x="198419" y="135341"/>
              <a:ext cx="1" cy="4490616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grpSp>
          <p:nvGrpSpPr>
            <p:cNvPr id="5269" name="Group"/>
            <p:cNvGrpSpPr/>
            <p:nvPr/>
          </p:nvGrpSpPr>
          <p:grpSpPr>
            <a:xfrm>
              <a:off x="0" y="0"/>
              <a:ext cx="1270000" cy="6129803"/>
              <a:chOff x="0" y="0"/>
              <a:chExt cx="1270000" cy="6129802"/>
            </a:xfrm>
          </p:grpSpPr>
          <p:sp>
            <p:nvSpPr>
              <p:cNvPr id="5267" name="w0"/>
              <p:cNvSpPr/>
              <p:nvPr/>
            </p:nvSpPr>
            <p:spPr>
              <a:xfrm>
                <a:off x="0" y="4859802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26789" tIns="26789" rIns="26789" bIns="26789" numCol="1" anchor="ctr">
                <a:spAutoFit/>
              </a:bodyPr>
              <a:lstStyle/>
              <a:p>
                <a:pPr defTabSz="308074">
                  <a:defRPr sz="3500"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313" i="1">
                    <a:latin typeface="Times Roman"/>
                    <a:ea typeface="Times Roman"/>
                    <a:cs typeface="Times Roman"/>
                    <a:sym typeface="Times Roman"/>
                  </a:rPr>
                  <a:t>w</a:t>
                </a:r>
                <a:r>
                  <a:rPr sz="1313" baseline="-5999">
                    <a:latin typeface="Times Roman"/>
                    <a:ea typeface="Times Roman"/>
                    <a:cs typeface="Times Roman"/>
                    <a:sym typeface="Times Roman"/>
                  </a:rPr>
                  <a:t>0</a:t>
                </a:r>
              </a:p>
            </p:txBody>
          </p:sp>
          <p:sp>
            <p:nvSpPr>
              <p:cNvPr id="5268" name="Circle"/>
              <p:cNvSpPr/>
              <p:nvPr/>
            </p:nvSpPr>
            <p:spPr>
              <a:xfrm>
                <a:off x="58237" y="0"/>
                <a:ext cx="267891" cy="267891"/>
              </a:xfrm>
              <a:prstGeom prst="ellipse">
                <a:avLst/>
              </a:prstGeom>
              <a:solidFill>
                <a:srgbClr val="00882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</p:grpSp>
      </p:grpSp>
      <p:pic>
        <p:nvPicPr>
          <p:cNvPr id="5271" name="Line Line" descr="Line Lin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887320" y="4602047"/>
            <a:ext cx="939682" cy="171714"/>
          </a:xfrm>
          <a:prstGeom prst="rect">
            <a:avLst/>
          </a:prstGeom>
        </p:spPr>
      </p:pic>
      <p:grpSp>
        <p:nvGrpSpPr>
          <p:cNvPr id="5276" name="Group"/>
          <p:cNvGrpSpPr/>
          <p:nvPr/>
        </p:nvGrpSpPr>
        <p:grpSpPr>
          <a:xfrm>
            <a:off x="6734610" y="4275832"/>
            <a:ext cx="275316" cy="634542"/>
            <a:chOff x="0" y="-127000"/>
            <a:chExt cx="734174" cy="1692111"/>
          </a:xfrm>
        </p:grpSpPr>
        <p:sp>
          <p:nvSpPr>
            <p:cNvPr id="5273" name="Line"/>
            <p:cNvSpPr/>
            <p:nvPr/>
          </p:nvSpPr>
          <p:spPr>
            <a:xfrm flipV="1">
              <a:off x="253473" y="113661"/>
              <a:ext cx="1" cy="782234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274" name="w*"/>
            <p:cNvSpPr txBox="1"/>
            <p:nvPr/>
          </p:nvSpPr>
          <p:spPr>
            <a:xfrm>
              <a:off x="0" y="712954"/>
              <a:ext cx="734174" cy="8521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pPr defTabSz="308074">
                <a:defRPr sz="4600"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  <a:r>
                <a:rPr sz="1725" i="1">
                  <a:latin typeface="Times Roman"/>
                  <a:ea typeface="Times Roman"/>
                  <a:cs typeface="Times Roman"/>
                  <a:sym typeface="Times Roman"/>
                </a:rPr>
                <a:t>w</a:t>
              </a:r>
              <a:r>
                <a:rPr sz="1725" i="1" baseline="31999">
                  <a:latin typeface="Times Roman"/>
                  <a:ea typeface="Times Roman"/>
                  <a:cs typeface="Times Roman"/>
                  <a:sym typeface="Times Roman"/>
                </a:rPr>
                <a:t>*</a:t>
              </a:r>
            </a:p>
          </p:txBody>
        </p:sp>
        <p:sp>
          <p:nvSpPr>
            <p:cNvPr id="5275" name="Circle"/>
            <p:cNvSpPr/>
            <p:nvPr/>
          </p:nvSpPr>
          <p:spPr>
            <a:xfrm>
              <a:off x="122419" y="-127000"/>
              <a:ext cx="267892" cy="267891"/>
            </a:xfrm>
            <a:prstGeom prst="ellipse">
              <a:avLst/>
            </a:prstGeom>
            <a:solidFill>
              <a:srgbClr val="0365C0"/>
            </a:solidFill>
            <a:ln w="12700" cap="flat">
              <a:noFill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</p:grpSp>
      <p:sp>
        <p:nvSpPr>
          <p:cNvPr id="5277" name="Splitting computation across the network"/>
          <p:cNvSpPr txBox="1"/>
          <p:nvPr/>
        </p:nvSpPr>
        <p:spPr>
          <a:xfrm>
            <a:off x="710868" y="1202607"/>
            <a:ext cx="7493711" cy="609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7144" tIns="17144" rIns="17144" bIns="17144">
            <a:normAutofit/>
          </a:bodyPr>
          <a:lstStyle>
            <a:lvl1pPr algn="l" defTabSz="2438522">
              <a:tabLst>
                <a:tab pos="3632200" algn="l"/>
              </a:tabLst>
              <a:defRPr sz="80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3000"/>
              <a:t>Gradient descent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25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5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5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52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mp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1000" fill="hold"/>
                                        <p:tgtEl>
                                          <p:spTgt spid="5271"/>
                                        </p:tgtEl>
                                      </p:cBhvr>
                                      <p:by x="32366" y="32366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-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32813 -0.000386" pathEditMode="relative">
                                      <p:cBhvr>
                                        <p:cTn id="31" dur="1000" fill="hold"/>
                                        <p:tgtEl>
                                          <p:spTgt spid="52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52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5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5257">
                                            <p:txEl>
                                              <p:charRg st="81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57" grpId="0" build="p" bldLvl="5" animBg="1" advAuto="0"/>
      <p:bldP spid="5265" grpId="0" animBg="1" advAuto="0"/>
      <p:bldP spid="5270" grpId="0" animBg="1" advAuto="0"/>
      <p:bldP spid="5271" grpId="0" animBg="1" advAuto="0"/>
      <p:bldP spid="5271" grpId="1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0" name="Start at a random point…"/>
          <p:cNvSpPr txBox="1"/>
          <p:nvPr/>
        </p:nvSpPr>
        <p:spPr>
          <a:xfrm>
            <a:off x="330003" y="2740967"/>
            <a:ext cx="3529412" cy="1785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defTabSz="171450"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1875"/>
              <a:t>Start at a random point</a:t>
            </a:r>
          </a:p>
          <a:p>
            <a:pPr defTabSz="171450">
              <a:defRPr sz="5000" b="1">
                <a:latin typeface="+mn-lt"/>
                <a:ea typeface="+mn-ea"/>
                <a:cs typeface="+mn-cs"/>
                <a:sym typeface="Helvetica"/>
              </a:defRPr>
            </a:pPr>
            <a:r>
              <a:rPr sz="1875"/>
              <a:t>Repeat</a:t>
            </a:r>
          </a:p>
          <a:p>
            <a:pPr indent="476250" defTabSz="171450"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1875"/>
              <a:t>Determine a descent direction</a:t>
            </a:r>
          </a:p>
          <a:p>
            <a:pPr indent="476250" defTabSz="171450"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1875"/>
              <a:t>Choose a step size</a:t>
            </a:r>
          </a:p>
          <a:p>
            <a:pPr indent="476250" defTabSz="171450"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1875"/>
              <a:t>Update</a:t>
            </a:r>
          </a:p>
          <a:p>
            <a:pPr defTabSz="171450"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1875" b="1"/>
              <a:t>Until</a:t>
            </a:r>
            <a:r>
              <a:rPr sz="1875"/>
              <a:t> stopping criterion is satisfied</a:t>
            </a:r>
          </a:p>
        </p:txBody>
      </p:sp>
      <p:sp>
        <p:nvSpPr>
          <p:cNvPr id="5281" name="Line"/>
          <p:cNvSpPr/>
          <p:nvPr/>
        </p:nvSpPr>
        <p:spPr>
          <a:xfrm flipV="1">
            <a:off x="5127129" y="2503420"/>
            <a:ext cx="0" cy="2137041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26789" tIns="26789" rIns="26789" bIns="26789" anchor="ctr"/>
          <a:lstStyle/>
          <a:p>
            <a:pPr defTabSz="219075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100"/>
          </a:p>
        </p:txBody>
      </p:sp>
      <p:sp>
        <p:nvSpPr>
          <p:cNvPr id="5282" name="Line"/>
          <p:cNvSpPr/>
          <p:nvPr/>
        </p:nvSpPr>
        <p:spPr>
          <a:xfrm>
            <a:off x="5130171" y="4636806"/>
            <a:ext cx="3400640" cy="0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26789" tIns="26789" rIns="26789" bIns="26789" anchor="ctr"/>
          <a:lstStyle/>
          <a:p>
            <a:pPr defTabSz="219075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100"/>
          </a:p>
        </p:txBody>
      </p:sp>
      <p:sp>
        <p:nvSpPr>
          <p:cNvPr id="5283" name="w"/>
          <p:cNvSpPr txBox="1"/>
          <p:nvPr/>
        </p:nvSpPr>
        <p:spPr>
          <a:xfrm>
            <a:off x="8298258" y="4562690"/>
            <a:ext cx="259286" cy="423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l" defTabSz="457200">
              <a:defRPr sz="6400" i="1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sz="2400"/>
              <a:t>w</a:t>
            </a:r>
          </a:p>
        </p:txBody>
      </p:sp>
      <p:sp>
        <p:nvSpPr>
          <p:cNvPr id="5284" name="f(w)"/>
          <p:cNvSpPr txBox="1"/>
          <p:nvPr/>
        </p:nvSpPr>
        <p:spPr>
          <a:xfrm>
            <a:off x="4521000" y="2415859"/>
            <a:ext cx="488516" cy="377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l" defTabSz="457200">
              <a:defRPr sz="5600" i="1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sz="2100"/>
              <a:t>f(w)</a:t>
            </a:r>
          </a:p>
        </p:txBody>
      </p:sp>
      <p:sp>
        <p:nvSpPr>
          <p:cNvPr id="5285" name="Line"/>
          <p:cNvSpPr/>
          <p:nvPr/>
        </p:nvSpPr>
        <p:spPr>
          <a:xfrm flipV="1">
            <a:off x="684576" y="3339013"/>
            <a:ext cx="0" cy="268100"/>
          </a:xfrm>
          <a:prstGeom prst="line">
            <a:avLst/>
          </a:prstGeom>
          <a:ln w="152400">
            <a:solidFill>
              <a:srgbClr val="C82506"/>
            </a:solidFill>
            <a:miter lim="400000"/>
          </a:ln>
        </p:spPr>
        <p:txBody>
          <a:bodyPr lIns="26789" tIns="26789" rIns="26789" bIns="26789" anchor="ctr"/>
          <a:lstStyle/>
          <a:p>
            <a:pPr defTabSz="219075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100"/>
          </a:p>
        </p:txBody>
      </p:sp>
      <p:sp>
        <p:nvSpPr>
          <p:cNvPr id="5307" name="Connection Line"/>
          <p:cNvSpPr/>
          <p:nvPr/>
        </p:nvSpPr>
        <p:spPr>
          <a:xfrm>
            <a:off x="5648404" y="2500739"/>
            <a:ext cx="2268663" cy="18201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1" extrusionOk="0">
                <a:moveTo>
                  <a:pt x="21600" y="0"/>
                </a:moveTo>
                <a:cubicBezTo>
                  <a:pt x="15000" y="21473"/>
                  <a:pt x="7800" y="21600"/>
                  <a:pt x="0" y="381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/>
          <a:lstStyle/>
          <a:p>
            <a:endParaRPr sz="675"/>
          </a:p>
        </p:txBody>
      </p:sp>
      <p:pic>
        <p:nvPicPr>
          <p:cNvPr id="5287" name="Line Line" descr="Line Lin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653958" y="4602047"/>
            <a:ext cx="939682" cy="171714"/>
          </a:xfrm>
          <a:prstGeom prst="rect">
            <a:avLst/>
          </a:prstGeom>
        </p:spPr>
      </p:pic>
      <p:grpSp>
        <p:nvGrpSpPr>
          <p:cNvPr id="5292" name="Group"/>
          <p:cNvGrpSpPr/>
          <p:nvPr/>
        </p:nvGrpSpPr>
        <p:grpSpPr>
          <a:xfrm>
            <a:off x="7217366" y="3928599"/>
            <a:ext cx="476250" cy="1293036"/>
            <a:chOff x="0" y="0"/>
            <a:chExt cx="1270000" cy="3448095"/>
          </a:xfrm>
        </p:grpSpPr>
        <p:sp>
          <p:nvSpPr>
            <p:cNvPr id="5289" name="Line"/>
            <p:cNvSpPr/>
            <p:nvPr/>
          </p:nvSpPr>
          <p:spPr>
            <a:xfrm flipV="1">
              <a:off x="236126" y="141836"/>
              <a:ext cx="1" cy="178879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290" name="Circle"/>
            <p:cNvSpPr/>
            <p:nvPr/>
          </p:nvSpPr>
          <p:spPr>
            <a:xfrm>
              <a:off x="90923" y="0"/>
              <a:ext cx="267891" cy="267891"/>
            </a:xfrm>
            <a:prstGeom prst="ellipse">
              <a:avLst/>
            </a:prstGeom>
            <a:solidFill>
              <a:srgbClr val="00882B"/>
            </a:solidFill>
            <a:ln w="12700" cap="flat">
              <a:noFill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291" name="Group"/>
            <p:cNvSpPr/>
            <p:nvPr/>
          </p:nvSpPr>
          <p:spPr>
            <a:xfrm>
              <a:off x="0" y="2178095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pPr defTabSz="308074">
                <a:defRPr sz="3500"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  <a:r>
                <a:rPr sz="1313" i="1">
                  <a:latin typeface="Times Roman"/>
                  <a:ea typeface="Times Roman"/>
                  <a:cs typeface="Times Roman"/>
                  <a:sym typeface="Times Roman"/>
                </a:rPr>
                <a:t>w</a:t>
              </a:r>
              <a:r>
                <a:rPr sz="1313" i="1" baseline="-5999">
                  <a:latin typeface="Times Roman"/>
                  <a:ea typeface="Times Roman"/>
                  <a:cs typeface="Times Roman"/>
                  <a:sym typeface="Times Roman"/>
                </a:rPr>
                <a:t>2</a:t>
              </a:r>
            </a:p>
          </p:txBody>
        </p:sp>
      </p:grpSp>
      <p:grpSp>
        <p:nvGrpSpPr>
          <p:cNvPr id="5296" name="Group"/>
          <p:cNvGrpSpPr/>
          <p:nvPr/>
        </p:nvGrpSpPr>
        <p:grpSpPr>
          <a:xfrm>
            <a:off x="7455491" y="3466636"/>
            <a:ext cx="476250" cy="1754999"/>
            <a:chOff x="0" y="-508000"/>
            <a:chExt cx="1270000" cy="4679995"/>
          </a:xfrm>
        </p:grpSpPr>
        <p:sp>
          <p:nvSpPr>
            <p:cNvPr id="5293" name="Line"/>
            <p:cNvSpPr/>
            <p:nvPr/>
          </p:nvSpPr>
          <p:spPr>
            <a:xfrm flipV="1">
              <a:off x="261526" y="-348692"/>
              <a:ext cx="1" cy="3029539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294" name="Circle"/>
            <p:cNvSpPr/>
            <p:nvPr/>
          </p:nvSpPr>
          <p:spPr>
            <a:xfrm>
              <a:off x="116323" y="-508000"/>
              <a:ext cx="267891" cy="267891"/>
            </a:xfrm>
            <a:prstGeom prst="ellipse">
              <a:avLst/>
            </a:prstGeom>
            <a:solidFill>
              <a:srgbClr val="00882B"/>
            </a:solidFill>
            <a:ln w="12700" cap="flat">
              <a:noFill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295" name="Group"/>
            <p:cNvSpPr/>
            <p:nvPr/>
          </p:nvSpPr>
          <p:spPr>
            <a:xfrm>
              <a:off x="0" y="2901995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pPr defTabSz="308074">
                <a:defRPr sz="3500"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  <a:r>
                <a:rPr sz="1313" i="1">
                  <a:latin typeface="Times Roman"/>
                  <a:ea typeface="Times Roman"/>
                  <a:cs typeface="Times Roman"/>
                  <a:sym typeface="Times Roman"/>
                </a:rPr>
                <a:t>w</a:t>
              </a:r>
              <a:r>
                <a:rPr sz="1313" i="1" baseline="-5999">
                  <a:latin typeface="Times Roman"/>
                  <a:ea typeface="Times Roman"/>
                  <a:cs typeface="Times Roman"/>
                  <a:sym typeface="Times Roman"/>
                </a:rPr>
                <a:t>1</a:t>
              </a:r>
            </a:p>
          </p:txBody>
        </p:sp>
      </p:grpSp>
      <p:grpSp>
        <p:nvGrpSpPr>
          <p:cNvPr id="5301" name="Group"/>
          <p:cNvGrpSpPr/>
          <p:nvPr/>
        </p:nvGrpSpPr>
        <p:grpSpPr>
          <a:xfrm>
            <a:off x="7702994" y="2922985"/>
            <a:ext cx="476250" cy="2298676"/>
            <a:chOff x="0" y="0"/>
            <a:chExt cx="1270000" cy="6129802"/>
          </a:xfrm>
        </p:grpSpPr>
        <p:sp>
          <p:nvSpPr>
            <p:cNvPr id="5297" name="Line"/>
            <p:cNvSpPr/>
            <p:nvPr/>
          </p:nvSpPr>
          <p:spPr>
            <a:xfrm flipV="1">
              <a:off x="198419" y="135341"/>
              <a:ext cx="1" cy="4490616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grpSp>
          <p:nvGrpSpPr>
            <p:cNvPr id="5300" name="Group"/>
            <p:cNvGrpSpPr/>
            <p:nvPr/>
          </p:nvGrpSpPr>
          <p:grpSpPr>
            <a:xfrm>
              <a:off x="0" y="0"/>
              <a:ext cx="1270000" cy="6129803"/>
              <a:chOff x="0" y="0"/>
              <a:chExt cx="1270000" cy="6129802"/>
            </a:xfrm>
          </p:grpSpPr>
          <p:sp>
            <p:nvSpPr>
              <p:cNvPr id="5298" name="w0"/>
              <p:cNvSpPr/>
              <p:nvPr/>
            </p:nvSpPr>
            <p:spPr>
              <a:xfrm>
                <a:off x="0" y="4859802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26789" tIns="26789" rIns="26789" bIns="26789" numCol="1" anchor="ctr">
                <a:spAutoFit/>
              </a:bodyPr>
              <a:lstStyle/>
              <a:p>
                <a:pPr defTabSz="308074">
                  <a:defRPr sz="3500"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313" i="1">
                    <a:latin typeface="Times Roman"/>
                    <a:ea typeface="Times Roman"/>
                    <a:cs typeface="Times Roman"/>
                    <a:sym typeface="Times Roman"/>
                  </a:rPr>
                  <a:t>w</a:t>
                </a:r>
                <a:r>
                  <a:rPr sz="1313" baseline="-5999">
                    <a:latin typeface="Times Roman"/>
                    <a:ea typeface="Times Roman"/>
                    <a:cs typeface="Times Roman"/>
                    <a:sym typeface="Times Roman"/>
                  </a:rPr>
                  <a:t>0</a:t>
                </a:r>
              </a:p>
            </p:txBody>
          </p:sp>
          <p:sp>
            <p:nvSpPr>
              <p:cNvPr id="5299" name="Circle"/>
              <p:cNvSpPr/>
              <p:nvPr/>
            </p:nvSpPr>
            <p:spPr>
              <a:xfrm>
                <a:off x="58237" y="0"/>
                <a:ext cx="267891" cy="267891"/>
              </a:xfrm>
              <a:prstGeom prst="ellipse">
                <a:avLst/>
              </a:prstGeom>
              <a:solidFill>
                <a:srgbClr val="00882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</p:grpSp>
      </p:grpSp>
      <p:grpSp>
        <p:nvGrpSpPr>
          <p:cNvPr id="5305" name="Group"/>
          <p:cNvGrpSpPr/>
          <p:nvPr/>
        </p:nvGrpSpPr>
        <p:grpSpPr>
          <a:xfrm>
            <a:off x="6734610" y="4275832"/>
            <a:ext cx="275316" cy="634542"/>
            <a:chOff x="0" y="-127000"/>
            <a:chExt cx="734174" cy="1692111"/>
          </a:xfrm>
        </p:grpSpPr>
        <p:sp>
          <p:nvSpPr>
            <p:cNvPr id="5302" name="Line"/>
            <p:cNvSpPr/>
            <p:nvPr/>
          </p:nvSpPr>
          <p:spPr>
            <a:xfrm flipV="1">
              <a:off x="253473" y="113661"/>
              <a:ext cx="1" cy="782234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303" name="w*"/>
            <p:cNvSpPr txBox="1"/>
            <p:nvPr/>
          </p:nvSpPr>
          <p:spPr>
            <a:xfrm>
              <a:off x="0" y="712954"/>
              <a:ext cx="734174" cy="8521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pPr defTabSz="308074">
                <a:defRPr sz="4600"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  <a:r>
                <a:rPr sz="1725" i="1">
                  <a:latin typeface="Times Roman"/>
                  <a:ea typeface="Times Roman"/>
                  <a:cs typeface="Times Roman"/>
                  <a:sym typeface="Times Roman"/>
                </a:rPr>
                <a:t>w</a:t>
              </a:r>
              <a:r>
                <a:rPr sz="1725" i="1" baseline="31999">
                  <a:latin typeface="Times Roman"/>
                  <a:ea typeface="Times Roman"/>
                  <a:cs typeface="Times Roman"/>
                  <a:sym typeface="Times Roman"/>
                </a:rPr>
                <a:t>*</a:t>
              </a:r>
            </a:p>
          </p:txBody>
        </p:sp>
        <p:sp>
          <p:nvSpPr>
            <p:cNvPr id="5304" name="Circle"/>
            <p:cNvSpPr/>
            <p:nvPr/>
          </p:nvSpPr>
          <p:spPr>
            <a:xfrm>
              <a:off x="122419" y="-127000"/>
              <a:ext cx="267892" cy="267891"/>
            </a:xfrm>
            <a:prstGeom prst="ellipse">
              <a:avLst/>
            </a:prstGeom>
            <a:solidFill>
              <a:srgbClr val="0365C0"/>
            </a:solidFill>
            <a:ln w="12700" cap="flat">
              <a:noFill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</p:grpSp>
      <p:sp>
        <p:nvSpPr>
          <p:cNvPr id="5306" name="Splitting computation across the network"/>
          <p:cNvSpPr txBox="1"/>
          <p:nvPr/>
        </p:nvSpPr>
        <p:spPr>
          <a:xfrm>
            <a:off x="710868" y="1202607"/>
            <a:ext cx="7493711" cy="609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7144" tIns="17144" rIns="17144" bIns="17144">
            <a:normAutofit/>
          </a:bodyPr>
          <a:lstStyle>
            <a:lvl1pPr algn="l" defTabSz="2438522">
              <a:tabLst>
                <a:tab pos="3632200" algn="l"/>
              </a:tabLst>
              <a:defRPr sz="80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3000"/>
              <a:t>Gradient descent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-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00024 0.066319" pathEditMode="relative">
                                      <p:cBhvr>
                                        <p:cTn id="14" dur="1000" fill="hold"/>
                                        <p:tgtEl>
                                          <p:spTgt spid="52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mp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1000" fill="hold"/>
                                        <p:tgtEl>
                                          <p:spTgt spid="5287"/>
                                        </p:tgtEl>
                                      </p:cBhvr>
                                      <p:by x="32366" y="32366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-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32813 -0.000386" pathEditMode="relative">
                                      <p:cBhvr>
                                        <p:cTn id="20" dur="1000" fill="hold"/>
                                        <p:tgtEl>
                                          <p:spTgt spid="52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-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024 0.066319 L 0.000000 0.130396" pathEditMode="relative">
                                      <p:cBhvr>
                                        <p:cTn id="24" dur="1000" fill="hold"/>
                                        <p:tgtEl>
                                          <p:spTgt spid="52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5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85" grpId="0" animBg="1" advAuto="0"/>
      <p:bldP spid="5287" grpId="0" animBg="1" advAuto="0"/>
      <p:bldP spid="5287" grpId="1" animBg="1" advAuto="0"/>
      <p:bldP spid="5292" grpId="0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9" name="Start at a random point…"/>
          <p:cNvSpPr txBox="1"/>
          <p:nvPr/>
        </p:nvSpPr>
        <p:spPr>
          <a:xfrm>
            <a:off x="330003" y="2740967"/>
            <a:ext cx="3529412" cy="1785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defTabSz="171450"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1875"/>
              <a:t>Start at a random point</a:t>
            </a:r>
          </a:p>
          <a:p>
            <a:pPr defTabSz="171450">
              <a:defRPr sz="5000" b="1">
                <a:latin typeface="+mn-lt"/>
                <a:ea typeface="+mn-ea"/>
                <a:cs typeface="+mn-cs"/>
                <a:sym typeface="Helvetica"/>
              </a:defRPr>
            </a:pPr>
            <a:r>
              <a:rPr sz="1875"/>
              <a:t>Repeat</a:t>
            </a:r>
          </a:p>
          <a:p>
            <a:pPr indent="476250" defTabSz="171450"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1875"/>
              <a:t>Determine a descent direction</a:t>
            </a:r>
          </a:p>
          <a:p>
            <a:pPr indent="476250" defTabSz="171450"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1875"/>
              <a:t>Choose a step size</a:t>
            </a:r>
          </a:p>
          <a:p>
            <a:pPr indent="476250" defTabSz="171450"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1875"/>
              <a:t>Update</a:t>
            </a:r>
          </a:p>
          <a:p>
            <a:pPr defTabSz="171450"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1875" b="1"/>
              <a:t>Until</a:t>
            </a:r>
            <a:r>
              <a:rPr sz="1875"/>
              <a:t> stopping criterion is satisfied</a:t>
            </a:r>
          </a:p>
        </p:txBody>
      </p:sp>
      <p:sp>
        <p:nvSpPr>
          <p:cNvPr id="5310" name="Line"/>
          <p:cNvSpPr/>
          <p:nvPr/>
        </p:nvSpPr>
        <p:spPr>
          <a:xfrm flipV="1">
            <a:off x="5127129" y="2503420"/>
            <a:ext cx="0" cy="2137041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26789" tIns="26789" rIns="26789" bIns="26789" anchor="ctr"/>
          <a:lstStyle/>
          <a:p>
            <a:pPr defTabSz="219075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100"/>
          </a:p>
        </p:txBody>
      </p:sp>
      <p:sp>
        <p:nvSpPr>
          <p:cNvPr id="5311" name="Line"/>
          <p:cNvSpPr/>
          <p:nvPr/>
        </p:nvSpPr>
        <p:spPr>
          <a:xfrm>
            <a:off x="5130171" y="4636806"/>
            <a:ext cx="3400640" cy="0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26789" tIns="26789" rIns="26789" bIns="26789" anchor="ctr"/>
          <a:lstStyle/>
          <a:p>
            <a:pPr defTabSz="219075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100"/>
          </a:p>
        </p:txBody>
      </p:sp>
      <p:sp>
        <p:nvSpPr>
          <p:cNvPr id="5312" name="w"/>
          <p:cNvSpPr txBox="1"/>
          <p:nvPr/>
        </p:nvSpPr>
        <p:spPr>
          <a:xfrm>
            <a:off x="8298258" y="4562690"/>
            <a:ext cx="259286" cy="423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l" defTabSz="457200">
              <a:defRPr sz="6400" i="1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sz="2400"/>
              <a:t>w</a:t>
            </a:r>
          </a:p>
        </p:txBody>
      </p:sp>
      <p:sp>
        <p:nvSpPr>
          <p:cNvPr id="5313" name="f(w)"/>
          <p:cNvSpPr txBox="1"/>
          <p:nvPr/>
        </p:nvSpPr>
        <p:spPr>
          <a:xfrm>
            <a:off x="4521000" y="2415859"/>
            <a:ext cx="488516" cy="377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l" defTabSz="457200">
              <a:defRPr sz="5600" i="1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sz="2100"/>
              <a:t>f(w)</a:t>
            </a:r>
          </a:p>
        </p:txBody>
      </p:sp>
      <p:sp>
        <p:nvSpPr>
          <p:cNvPr id="5340" name="Connection Line"/>
          <p:cNvSpPr/>
          <p:nvPr/>
        </p:nvSpPr>
        <p:spPr>
          <a:xfrm>
            <a:off x="5648404" y="2500739"/>
            <a:ext cx="2268663" cy="18201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1" extrusionOk="0">
                <a:moveTo>
                  <a:pt x="21600" y="0"/>
                </a:moveTo>
                <a:cubicBezTo>
                  <a:pt x="15000" y="21473"/>
                  <a:pt x="7800" y="21600"/>
                  <a:pt x="0" y="381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/>
          <a:lstStyle/>
          <a:p>
            <a:endParaRPr sz="675"/>
          </a:p>
        </p:txBody>
      </p:sp>
      <p:grpSp>
        <p:nvGrpSpPr>
          <p:cNvPr id="5318" name="Group"/>
          <p:cNvGrpSpPr/>
          <p:nvPr/>
        </p:nvGrpSpPr>
        <p:grpSpPr>
          <a:xfrm>
            <a:off x="7217366" y="3928599"/>
            <a:ext cx="476250" cy="1293036"/>
            <a:chOff x="0" y="0"/>
            <a:chExt cx="1270000" cy="3448095"/>
          </a:xfrm>
        </p:grpSpPr>
        <p:sp>
          <p:nvSpPr>
            <p:cNvPr id="5315" name="Line"/>
            <p:cNvSpPr/>
            <p:nvPr/>
          </p:nvSpPr>
          <p:spPr>
            <a:xfrm flipV="1">
              <a:off x="236126" y="141836"/>
              <a:ext cx="1" cy="178879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316" name="Circle"/>
            <p:cNvSpPr/>
            <p:nvPr/>
          </p:nvSpPr>
          <p:spPr>
            <a:xfrm>
              <a:off x="90923" y="0"/>
              <a:ext cx="267891" cy="267891"/>
            </a:xfrm>
            <a:prstGeom prst="ellipse">
              <a:avLst/>
            </a:prstGeom>
            <a:solidFill>
              <a:srgbClr val="00882B"/>
            </a:solidFill>
            <a:ln w="12700" cap="flat">
              <a:noFill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317" name="Group"/>
            <p:cNvSpPr/>
            <p:nvPr/>
          </p:nvSpPr>
          <p:spPr>
            <a:xfrm>
              <a:off x="0" y="2178095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pPr defTabSz="308074">
                <a:defRPr sz="3500"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  <a:r>
                <a:rPr sz="1313" i="1">
                  <a:latin typeface="Times Roman"/>
                  <a:ea typeface="Times Roman"/>
                  <a:cs typeface="Times Roman"/>
                  <a:sym typeface="Times Roman"/>
                </a:rPr>
                <a:t>w</a:t>
              </a:r>
              <a:r>
                <a:rPr sz="1313" i="1" baseline="-5999">
                  <a:latin typeface="Times Roman"/>
                  <a:ea typeface="Times Roman"/>
                  <a:cs typeface="Times Roman"/>
                  <a:sym typeface="Times Roman"/>
                </a:rPr>
                <a:t>2</a:t>
              </a:r>
            </a:p>
          </p:txBody>
        </p:sp>
      </p:grpSp>
      <p:grpSp>
        <p:nvGrpSpPr>
          <p:cNvPr id="5322" name="Group"/>
          <p:cNvGrpSpPr/>
          <p:nvPr/>
        </p:nvGrpSpPr>
        <p:grpSpPr>
          <a:xfrm>
            <a:off x="7455491" y="3466636"/>
            <a:ext cx="476250" cy="1754999"/>
            <a:chOff x="0" y="-508000"/>
            <a:chExt cx="1270000" cy="4679995"/>
          </a:xfrm>
        </p:grpSpPr>
        <p:sp>
          <p:nvSpPr>
            <p:cNvPr id="5319" name="Line"/>
            <p:cNvSpPr/>
            <p:nvPr/>
          </p:nvSpPr>
          <p:spPr>
            <a:xfrm flipV="1">
              <a:off x="261526" y="-348692"/>
              <a:ext cx="1" cy="3029539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320" name="Circle"/>
            <p:cNvSpPr/>
            <p:nvPr/>
          </p:nvSpPr>
          <p:spPr>
            <a:xfrm>
              <a:off x="116323" y="-508000"/>
              <a:ext cx="267891" cy="267891"/>
            </a:xfrm>
            <a:prstGeom prst="ellipse">
              <a:avLst/>
            </a:prstGeom>
            <a:solidFill>
              <a:srgbClr val="00882B"/>
            </a:solidFill>
            <a:ln w="12700" cap="flat">
              <a:noFill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321" name="Group"/>
            <p:cNvSpPr/>
            <p:nvPr/>
          </p:nvSpPr>
          <p:spPr>
            <a:xfrm>
              <a:off x="0" y="2901995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pPr defTabSz="308074">
                <a:defRPr sz="3500"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  <a:r>
                <a:rPr sz="1313" i="1">
                  <a:latin typeface="Times Roman"/>
                  <a:ea typeface="Times Roman"/>
                  <a:cs typeface="Times Roman"/>
                  <a:sym typeface="Times Roman"/>
                </a:rPr>
                <a:t>w</a:t>
              </a:r>
              <a:r>
                <a:rPr sz="1313" i="1" baseline="-5999">
                  <a:latin typeface="Times Roman"/>
                  <a:ea typeface="Times Roman"/>
                  <a:cs typeface="Times Roman"/>
                  <a:sym typeface="Times Roman"/>
                </a:rPr>
                <a:t>1</a:t>
              </a:r>
            </a:p>
          </p:txBody>
        </p:sp>
      </p:grpSp>
      <p:grpSp>
        <p:nvGrpSpPr>
          <p:cNvPr id="5327" name="Group"/>
          <p:cNvGrpSpPr/>
          <p:nvPr/>
        </p:nvGrpSpPr>
        <p:grpSpPr>
          <a:xfrm>
            <a:off x="7702994" y="2922985"/>
            <a:ext cx="476250" cy="2298676"/>
            <a:chOff x="0" y="0"/>
            <a:chExt cx="1270000" cy="6129802"/>
          </a:xfrm>
        </p:grpSpPr>
        <p:sp>
          <p:nvSpPr>
            <p:cNvPr id="5323" name="Line"/>
            <p:cNvSpPr/>
            <p:nvPr/>
          </p:nvSpPr>
          <p:spPr>
            <a:xfrm flipV="1">
              <a:off x="198419" y="135341"/>
              <a:ext cx="1" cy="4490616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grpSp>
          <p:nvGrpSpPr>
            <p:cNvPr id="5326" name="Group"/>
            <p:cNvGrpSpPr/>
            <p:nvPr/>
          </p:nvGrpSpPr>
          <p:grpSpPr>
            <a:xfrm>
              <a:off x="0" y="0"/>
              <a:ext cx="1270000" cy="6129803"/>
              <a:chOff x="0" y="0"/>
              <a:chExt cx="1270000" cy="6129802"/>
            </a:xfrm>
          </p:grpSpPr>
          <p:sp>
            <p:nvSpPr>
              <p:cNvPr id="5324" name="w0"/>
              <p:cNvSpPr/>
              <p:nvPr/>
            </p:nvSpPr>
            <p:spPr>
              <a:xfrm>
                <a:off x="0" y="4859802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26789" tIns="26789" rIns="26789" bIns="26789" numCol="1" anchor="ctr">
                <a:spAutoFit/>
              </a:bodyPr>
              <a:lstStyle/>
              <a:p>
                <a:pPr defTabSz="308074">
                  <a:defRPr sz="3500"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313" i="1">
                    <a:latin typeface="Times Roman"/>
                    <a:ea typeface="Times Roman"/>
                    <a:cs typeface="Times Roman"/>
                    <a:sym typeface="Times Roman"/>
                  </a:rPr>
                  <a:t>w</a:t>
                </a:r>
                <a:r>
                  <a:rPr sz="1313" baseline="-5999">
                    <a:latin typeface="Times Roman"/>
                    <a:ea typeface="Times Roman"/>
                    <a:cs typeface="Times Roman"/>
                    <a:sym typeface="Times Roman"/>
                  </a:rPr>
                  <a:t>0</a:t>
                </a:r>
              </a:p>
            </p:txBody>
          </p:sp>
          <p:sp>
            <p:nvSpPr>
              <p:cNvPr id="5325" name="Circle"/>
              <p:cNvSpPr/>
              <p:nvPr/>
            </p:nvSpPr>
            <p:spPr>
              <a:xfrm>
                <a:off x="58237" y="0"/>
                <a:ext cx="267891" cy="267891"/>
              </a:xfrm>
              <a:prstGeom prst="ellipse">
                <a:avLst/>
              </a:prstGeom>
              <a:solidFill>
                <a:srgbClr val="00882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</p:grpSp>
      </p:grpSp>
      <p:grpSp>
        <p:nvGrpSpPr>
          <p:cNvPr id="5331" name="Group"/>
          <p:cNvGrpSpPr/>
          <p:nvPr/>
        </p:nvGrpSpPr>
        <p:grpSpPr>
          <a:xfrm>
            <a:off x="6734610" y="4275832"/>
            <a:ext cx="275316" cy="634542"/>
            <a:chOff x="0" y="-127000"/>
            <a:chExt cx="734174" cy="1692111"/>
          </a:xfrm>
        </p:grpSpPr>
        <p:sp>
          <p:nvSpPr>
            <p:cNvPr id="5328" name="Line"/>
            <p:cNvSpPr/>
            <p:nvPr/>
          </p:nvSpPr>
          <p:spPr>
            <a:xfrm flipV="1">
              <a:off x="253473" y="113661"/>
              <a:ext cx="1" cy="782234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329" name="w*"/>
            <p:cNvSpPr txBox="1"/>
            <p:nvPr/>
          </p:nvSpPr>
          <p:spPr>
            <a:xfrm>
              <a:off x="0" y="712954"/>
              <a:ext cx="734174" cy="8521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pPr defTabSz="308074">
                <a:defRPr sz="4600"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  <a:r>
                <a:rPr sz="1725" i="1">
                  <a:latin typeface="Times Roman"/>
                  <a:ea typeface="Times Roman"/>
                  <a:cs typeface="Times Roman"/>
                  <a:sym typeface="Times Roman"/>
                </a:rPr>
                <a:t>w</a:t>
              </a:r>
              <a:r>
                <a:rPr sz="1725" i="1" baseline="31999">
                  <a:latin typeface="Times Roman"/>
                  <a:ea typeface="Times Roman"/>
                  <a:cs typeface="Times Roman"/>
                  <a:sym typeface="Times Roman"/>
                </a:rPr>
                <a:t>*</a:t>
              </a:r>
            </a:p>
          </p:txBody>
        </p:sp>
        <p:sp>
          <p:nvSpPr>
            <p:cNvPr id="5330" name="Circle"/>
            <p:cNvSpPr/>
            <p:nvPr/>
          </p:nvSpPr>
          <p:spPr>
            <a:xfrm>
              <a:off x="122419" y="-127000"/>
              <a:ext cx="267892" cy="267891"/>
            </a:xfrm>
            <a:prstGeom prst="ellipse">
              <a:avLst/>
            </a:prstGeom>
            <a:solidFill>
              <a:srgbClr val="0365C0"/>
            </a:solidFill>
            <a:ln w="12700" cap="flat">
              <a:noFill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</p:grpSp>
      <p:sp>
        <p:nvSpPr>
          <p:cNvPr id="5332" name="Group"/>
          <p:cNvSpPr/>
          <p:nvPr/>
        </p:nvSpPr>
        <p:spPr>
          <a:xfrm>
            <a:off x="7012578" y="4721573"/>
            <a:ext cx="476250" cy="476250"/>
          </a:xfrm>
          <a:prstGeom prst="line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l" defTabSz="821531">
              <a:defRPr sz="3500" i="1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i="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1313"/>
              <a:t>…</a:t>
            </a:r>
          </a:p>
        </p:txBody>
      </p:sp>
      <p:grpSp>
        <p:nvGrpSpPr>
          <p:cNvPr id="5335" name="Group"/>
          <p:cNvGrpSpPr/>
          <p:nvPr/>
        </p:nvGrpSpPr>
        <p:grpSpPr>
          <a:xfrm>
            <a:off x="7108586" y="4109574"/>
            <a:ext cx="100460" cy="540145"/>
            <a:chOff x="0" y="0"/>
            <a:chExt cx="267890" cy="1440385"/>
          </a:xfrm>
        </p:grpSpPr>
        <p:sp>
          <p:nvSpPr>
            <p:cNvPr id="5333" name="Line"/>
            <p:cNvSpPr/>
            <p:nvPr/>
          </p:nvSpPr>
          <p:spPr>
            <a:xfrm flipV="1">
              <a:off x="145203" y="146083"/>
              <a:ext cx="1" cy="1294303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334" name="Circle"/>
            <p:cNvSpPr/>
            <p:nvPr/>
          </p:nvSpPr>
          <p:spPr>
            <a:xfrm>
              <a:off x="0" y="0"/>
              <a:ext cx="267891" cy="267891"/>
            </a:xfrm>
            <a:prstGeom prst="ellipse">
              <a:avLst/>
            </a:prstGeom>
            <a:solidFill>
              <a:srgbClr val="00882B"/>
            </a:solidFill>
            <a:ln w="12700" cap="flat">
              <a:noFill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</p:grpSp>
      <p:grpSp>
        <p:nvGrpSpPr>
          <p:cNvPr id="5338" name="Group"/>
          <p:cNvGrpSpPr/>
          <p:nvPr/>
        </p:nvGrpSpPr>
        <p:grpSpPr>
          <a:xfrm>
            <a:off x="6989524" y="4200062"/>
            <a:ext cx="100460" cy="454587"/>
            <a:chOff x="0" y="0"/>
            <a:chExt cx="267890" cy="1212232"/>
          </a:xfrm>
        </p:grpSpPr>
        <p:sp>
          <p:nvSpPr>
            <p:cNvPr id="5336" name="Line"/>
            <p:cNvSpPr/>
            <p:nvPr/>
          </p:nvSpPr>
          <p:spPr>
            <a:xfrm flipV="1">
              <a:off x="145203" y="260383"/>
              <a:ext cx="1" cy="951850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337" name="Circle"/>
            <p:cNvSpPr/>
            <p:nvPr/>
          </p:nvSpPr>
          <p:spPr>
            <a:xfrm>
              <a:off x="0" y="0"/>
              <a:ext cx="267891" cy="267891"/>
            </a:xfrm>
            <a:prstGeom prst="ellipse">
              <a:avLst/>
            </a:prstGeom>
            <a:solidFill>
              <a:srgbClr val="00882B"/>
            </a:solidFill>
            <a:ln w="12700" cap="flat">
              <a:noFill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</p:grpSp>
      <p:sp>
        <p:nvSpPr>
          <p:cNvPr id="5339" name="Splitting computation across the network"/>
          <p:cNvSpPr txBox="1"/>
          <p:nvPr/>
        </p:nvSpPr>
        <p:spPr>
          <a:xfrm>
            <a:off x="710868" y="1202607"/>
            <a:ext cx="7493711" cy="609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7144" tIns="17144" rIns="17144" bIns="17144">
            <a:normAutofit/>
          </a:bodyPr>
          <a:lstStyle>
            <a:lvl1pPr algn="l" defTabSz="2438522">
              <a:tabLst>
                <a:tab pos="3632200" algn="l"/>
              </a:tabLst>
              <a:defRPr sz="80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3000"/>
              <a:t>Gradient descent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5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18" grpId="0" animBg="1" advAuto="0"/>
      <p:bldP spid="5322" grpId="0" animBg="1" advAuto="0"/>
      <p:bldP spid="5327" grpId="0" animBg="1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47" name="Group"/>
          <p:cNvGrpSpPr/>
          <p:nvPr/>
        </p:nvGrpSpPr>
        <p:grpSpPr>
          <a:xfrm>
            <a:off x="5352949" y="1930679"/>
            <a:ext cx="2999037" cy="2889501"/>
            <a:chOff x="0" y="-6135"/>
            <a:chExt cx="7997429" cy="7705336"/>
          </a:xfrm>
        </p:grpSpPr>
        <p:sp>
          <p:nvSpPr>
            <p:cNvPr id="5342" name="Line"/>
            <p:cNvSpPr/>
            <p:nvPr/>
          </p:nvSpPr>
          <p:spPr>
            <a:xfrm>
              <a:off x="267143" y="6809360"/>
              <a:ext cx="7730286" cy="1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343" name="Line"/>
            <p:cNvSpPr/>
            <p:nvPr/>
          </p:nvSpPr>
          <p:spPr>
            <a:xfrm flipV="1">
              <a:off x="259031" y="1120332"/>
              <a:ext cx="1" cy="5698775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344" name="w"/>
            <p:cNvSpPr txBox="1"/>
            <p:nvPr/>
          </p:nvSpPr>
          <p:spPr>
            <a:xfrm>
              <a:off x="7304485" y="6570046"/>
              <a:ext cx="691429" cy="11291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 algn="l" defTabSz="457200">
                <a:defRPr sz="6400" i="1"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sz="2400"/>
                <a:t>w</a:t>
              </a:r>
            </a:p>
          </p:txBody>
        </p:sp>
        <p:sp>
          <p:nvSpPr>
            <p:cNvPr id="5345" name="g(w)"/>
            <p:cNvSpPr txBox="1"/>
            <p:nvPr/>
          </p:nvSpPr>
          <p:spPr>
            <a:xfrm>
              <a:off x="0" y="-6135"/>
              <a:ext cx="1460869" cy="10060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 algn="l" defTabSz="457200">
                <a:defRPr sz="5600" i="1"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sz="2100"/>
                <a:t>g(w)</a:t>
              </a:r>
            </a:p>
          </p:txBody>
        </p:sp>
        <p:sp>
          <p:nvSpPr>
            <p:cNvPr id="5346" name="Line"/>
            <p:cNvSpPr/>
            <p:nvPr/>
          </p:nvSpPr>
          <p:spPr>
            <a:xfrm>
              <a:off x="414453" y="1562812"/>
              <a:ext cx="7521913" cy="4589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40" extrusionOk="0">
                  <a:moveTo>
                    <a:pt x="0" y="0"/>
                  </a:moveTo>
                  <a:cubicBezTo>
                    <a:pt x="154" y="1617"/>
                    <a:pt x="477" y="3177"/>
                    <a:pt x="952" y="4616"/>
                  </a:cubicBezTo>
                  <a:cubicBezTo>
                    <a:pt x="1519" y="6335"/>
                    <a:pt x="2311" y="7889"/>
                    <a:pt x="2648" y="9786"/>
                  </a:cubicBezTo>
                  <a:cubicBezTo>
                    <a:pt x="2782" y="10539"/>
                    <a:pt x="2835" y="11323"/>
                    <a:pt x="2919" y="12095"/>
                  </a:cubicBezTo>
                  <a:cubicBezTo>
                    <a:pt x="3027" y="13080"/>
                    <a:pt x="3246" y="14074"/>
                    <a:pt x="3826" y="14324"/>
                  </a:cubicBezTo>
                  <a:cubicBezTo>
                    <a:pt x="4807" y="14747"/>
                    <a:pt x="5332" y="12800"/>
                    <a:pt x="5781" y="11060"/>
                  </a:cubicBezTo>
                  <a:cubicBezTo>
                    <a:pt x="5984" y="10270"/>
                    <a:pt x="6284" y="9551"/>
                    <a:pt x="6672" y="8966"/>
                  </a:cubicBezTo>
                  <a:cubicBezTo>
                    <a:pt x="7060" y="8379"/>
                    <a:pt x="7527" y="7942"/>
                    <a:pt x="8042" y="7722"/>
                  </a:cubicBezTo>
                  <a:cubicBezTo>
                    <a:pt x="8508" y="7523"/>
                    <a:pt x="8998" y="7510"/>
                    <a:pt x="9469" y="7683"/>
                  </a:cubicBezTo>
                  <a:cubicBezTo>
                    <a:pt x="10620" y="9341"/>
                    <a:pt x="11691" y="11137"/>
                    <a:pt x="12673" y="13055"/>
                  </a:cubicBezTo>
                  <a:cubicBezTo>
                    <a:pt x="13036" y="13765"/>
                    <a:pt x="13387" y="14491"/>
                    <a:pt x="13684" y="15277"/>
                  </a:cubicBezTo>
                  <a:cubicBezTo>
                    <a:pt x="14731" y="18048"/>
                    <a:pt x="15611" y="21600"/>
                    <a:pt x="17526" y="21211"/>
                  </a:cubicBezTo>
                  <a:cubicBezTo>
                    <a:pt x="18313" y="21051"/>
                    <a:pt x="18919" y="20184"/>
                    <a:pt x="19380" y="19205"/>
                  </a:cubicBezTo>
                  <a:cubicBezTo>
                    <a:pt x="20115" y="17645"/>
                    <a:pt x="20539" y="15805"/>
                    <a:pt x="20870" y="13956"/>
                  </a:cubicBezTo>
                  <a:cubicBezTo>
                    <a:pt x="21202" y="12105"/>
                    <a:pt x="21447" y="10201"/>
                    <a:pt x="21600" y="8261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</p:grpSp>
      <p:sp>
        <p:nvSpPr>
          <p:cNvPr id="5348" name="Non-convex"/>
          <p:cNvSpPr txBox="1"/>
          <p:nvPr/>
        </p:nvSpPr>
        <p:spPr>
          <a:xfrm>
            <a:off x="6914469" y="1947992"/>
            <a:ext cx="1272383" cy="342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l" defTabSz="457200">
              <a:defRPr sz="50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1875"/>
              <a:t>Non-convex</a:t>
            </a:r>
          </a:p>
        </p:txBody>
      </p:sp>
      <p:sp>
        <p:nvSpPr>
          <p:cNvPr id="5349" name="Any local minimum is a global minimum"/>
          <p:cNvSpPr txBox="1"/>
          <p:nvPr/>
        </p:nvSpPr>
        <p:spPr>
          <a:xfrm>
            <a:off x="103038" y="4809993"/>
            <a:ext cx="4613664" cy="342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defTabSz="457200">
              <a:defRPr sz="50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1875"/>
              <a:t>Any local minimum is a global minimum</a:t>
            </a:r>
          </a:p>
        </p:txBody>
      </p:sp>
      <p:sp>
        <p:nvSpPr>
          <p:cNvPr id="5350" name="Least Squares, Ridge Regression, and Logistic Regression are all convex!…"/>
          <p:cNvSpPr txBox="1"/>
          <p:nvPr/>
        </p:nvSpPr>
        <p:spPr>
          <a:xfrm>
            <a:off x="974292" y="5550416"/>
            <a:ext cx="7264369" cy="631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/>
          <a:p>
            <a:pPr defTabSz="171450">
              <a:defRPr sz="5000" b="1">
                <a:latin typeface="+mn-lt"/>
                <a:ea typeface="+mn-ea"/>
                <a:cs typeface="+mn-cs"/>
                <a:sym typeface="Helvetica"/>
              </a:defRPr>
            </a:pPr>
            <a:r>
              <a:rPr lang="en-US" sz="1875" i="1" dirty="0"/>
              <a:t>Many linear models (linear regression, logistic regression, ridge regression, …) are convex</a:t>
            </a:r>
            <a:endParaRPr sz="1875" i="1" dirty="0"/>
          </a:p>
        </p:txBody>
      </p:sp>
      <p:sp>
        <p:nvSpPr>
          <p:cNvPr id="5351" name="Group"/>
          <p:cNvSpPr/>
          <p:nvPr/>
        </p:nvSpPr>
        <p:spPr>
          <a:xfrm>
            <a:off x="5516222" y="2688829"/>
            <a:ext cx="100460" cy="100459"/>
          </a:xfrm>
          <a:prstGeom prst="ellipse">
            <a:avLst/>
          </a:prstGeom>
          <a:solidFill>
            <a:srgbClr val="00882B"/>
          </a:solidFill>
          <a:ln w="12700">
            <a:miter lim="400000"/>
          </a:ln>
        </p:spPr>
        <p:txBody>
          <a:bodyPr lIns="26789" tIns="26789" rIns="26789" bIns="26789" anchor="ctr"/>
          <a:lstStyle/>
          <a:p>
            <a:pPr defTabSz="219075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100"/>
          </a:p>
        </p:txBody>
      </p:sp>
      <p:grpSp>
        <p:nvGrpSpPr>
          <p:cNvPr id="5357" name="Group"/>
          <p:cNvGrpSpPr/>
          <p:nvPr/>
        </p:nvGrpSpPr>
        <p:grpSpPr>
          <a:xfrm>
            <a:off x="5703746" y="3023692"/>
            <a:ext cx="412415" cy="722729"/>
            <a:chOff x="0" y="0"/>
            <a:chExt cx="1099772" cy="1927274"/>
          </a:xfrm>
        </p:grpSpPr>
        <p:sp>
          <p:nvSpPr>
            <p:cNvPr id="5352" name="Group"/>
            <p:cNvSpPr/>
            <p:nvPr/>
          </p:nvSpPr>
          <p:spPr>
            <a:xfrm>
              <a:off x="0" y="0"/>
              <a:ext cx="267891" cy="267891"/>
            </a:xfrm>
            <a:prstGeom prst="ellipse">
              <a:avLst/>
            </a:prstGeom>
            <a:solidFill>
              <a:srgbClr val="00882B"/>
            </a:solidFill>
            <a:ln w="12700" cap="flat">
              <a:noFill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grpSp>
          <p:nvGrpSpPr>
            <p:cNvPr id="5356" name="Group"/>
            <p:cNvGrpSpPr/>
            <p:nvPr/>
          </p:nvGrpSpPr>
          <p:grpSpPr>
            <a:xfrm>
              <a:off x="247616" y="660796"/>
              <a:ext cx="852156" cy="1266478"/>
              <a:chOff x="115645" y="0"/>
              <a:chExt cx="852155" cy="1266476"/>
            </a:xfrm>
          </p:grpSpPr>
          <p:sp>
            <p:nvSpPr>
              <p:cNvPr id="5353" name="Group"/>
              <p:cNvSpPr/>
              <p:nvPr/>
            </p:nvSpPr>
            <p:spPr>
              <a:xfrm>
                <a:off x="135919" y="0"/>
                <a:ext cx="267891" cy="267891"/>
              </a:xfrm>
              <a:prstGeom prst="ellipse">
                <a:avLst/>
              </a:prstGeom>
              <a:solidFill>
                <a:srgbClr val="00882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354" name="Group"/>
              <p:cNvSpPr/>
              <p:nvPr/>
            </p:nvSpPr>
            <p:spPr>
              <a:xfrm>
                <a:off x="225216" y="410765"/>
                <a:ext cx="267891" cy="267892"/>
              </a:xfrm>
              <a:prstGeom prst="ellipse">
                <a:avLst/>
              </a:prstGeom>
              <a:solidFill>
                <a:srgbClr val="00882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355" name="…"/>
              <p:cNvSpPr txBox="1"/>
              <p:nvPr/>
            </p:nvSpPr>
            <p:spPr>
              <a:xfrm rot="3436062">
                <a:off x="174636" y="473311"/>
                <a:ext cx="734174" cy="8521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26789" tIns="26789" rIns="26789" bIns="26789" numCol="1" anchor="ctr">
                <a:spAutoFit/>
              </a:bodyPr>
              <a:lstStyle>
                <a:lvl1pPr algn="l" defTabSz="821531">
                  <a:defRPr sz="4600" i="1">
                    <a:latin typeface="Times Roman"/>
                    <a:ea typeface="Times Roman"/>
                    <a:cs typeface="Times Roman"/>
                    <a:sym typeface="Times Roman"/>
                  </a:defRPr>
                </a:lvl1pPr>
              </a:lstStyle>
              <a:p>
                <a:pPr>
                  <a:defRPr i="0"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725"/>
                  <a:t>…</a:t>
                </a:r>
              </a:p>
            </p:txBody>
          </p:sp>
        </p:grpSp>
      </p:grpSp>
      <p:sp>
        <p:nvSpPr>
          <p:cNvPr id="5358" name="Group"/>
          <p:cNvSpPr/>
          <p:nvPr/>
        </p:nvSpPr>
        <p:spPr>
          <a:xfrm>
            <a:off x="8188431" y="3559473"/>
            <a:ext cx="100460" cy="100460"/>
          </a:xfrm>
          <a:prstGeom prst="ellipse">
            <a:avLst/>
          </a:prstGeom>
          <a:solidFill>
            <a:srgbClr val="00882B"/>
          </a:solidFill>
          <a:ln w="12700">
            <a:miter lim="400000"/>
          </a:ln>
        </p:spPr>
        <p:txBody>
          <a:bodyPr lIns="26789" tIns="26789" rIns="26789" bIns="26789" anchor="ctr"/>
          <a:lstStyle/>
          <a:p>
            <a:pPr defTabSz="219075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100"/>
          </a:p>
        </p:txBody>
      </p:sp>
      <p:grpSp>
        <p:nvGrpSpPr>
          <p:cNvPr id="5362" name="Group"/>
          <p:cNvGrpSpPr/>
          <p:nvPr/>
        </p:nvGrpSpPr>
        <p:grpSpPr>
          <a:xfrm>
            <a:off x="7449823" y="3773785"/>
            <a:ext cx="778793" cy="421165"/>
            <a:chOff x="-959493" y="0"/>
            <a:chExt cx="2076781" cy="1123104"/>
          </a:xfrm>
        </p:grpSpPr>
        <p:sp>
          <p:nvSpPr>
            <p:cNvPr id="5359" name="Group"/>
            <p:cNvSpPr/>
            <p:nvPr/>
          </p:nvSpPr>
          <p:spPr>
            <a:xfrm>
              <a:off x="849397" y="0"/>
              <a:ext cx="267891" cy="267891"/>
            </a:xfrm>
            <a:prstGeom prst="ellipse">
              <a:avLst/>
            </a:prstGeom>
            <a:solidFill>
              <a:srgbClr val="00882B"/>
            </a:solidFill>
            <a:ln w="12700" cap="flat">
              <a:noFill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360" name="Group"/>
            <p:cNvSpPr/>
            <p:nvPr/>
          </p:nvSpPr>
          <p:spPr>
            <a:xfrm>
              <a:off x="545787" y="607218"/>
              <a:ext cx="267892" cy="267892"/>
            </a:xfrm>
            <a:prstGeom prst="ellipse">
              <a:avLst/>
            </a:prstGeom>
            <a:solidFill>
              <a:srgbClr val="00882B"/>
            </a:solidFill>
            <a:ln w="12700" cap="flat">
              <a:noFill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361" name="…"/>
            <p:cNvSpPr/>
            <p:nvPr/>
          </p:nvSpPr>
          <p:spPr>
            <a:xfrm flipH="1" flipV="1">
              <a:off x="-959494" y="756106"/>
              <a:ext cx="1758157" cy="366999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 algn="l" defTabSz="821531">
                <a:defRPr sz="4600" i="1"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pPr>
                <a:defRPr i="0"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  <a:r>
                <a:rPr sz="1725"/>
                <a:t>…</a:t>
              </a:r>
            </a:p>
          </p:txBody>
        </p:sp>
      </p:grpSp>
      <p:grpSp>
        <p:nvGrpSpPr>
          <p:cNvPr id="5369" name="Group"/>
          <p:cNvGrpSpPr/>
          <p:nvPr/>
        </p:nvGrpSpPr>
        <p:grpSpPr>
          <a:xfrm>
            <a:off x="621703" y="1930679"/>
            <a:ext cx="2999037" cy="2898431"/>
            <a:chOff x="0" y="-6135"/>
            <a:chExt cx="7997429" cy="7729147"/>
          </a:xfrm>
        </p:grpSpPr>
        <p:sp>
          <p:nvSpPr>
            <p:cNvPr id="5363" name="Line"/>
            <p:cNvSpPr/>
            <p:nvPr/>
          </p:nvSpPr>
          <p:spPr>
            <a:xfrm flipV="1">
              <a:off x="259031" y="1120332"/>
              <a:ext cx="1" cy="5698775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364" name="Line"/>
            <p:cNvSpPr/>
            <p:nvPr/>
          </p:nvSpPr>
          <p:spPr>
            <a:xfrm>
              <a:off x="267143" y="6809360"/>
              <a:ext cx="7730286" cy="1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365" name="w"/>
            <p:cNvSpPr txBox="1"/>
            <p:nvPr/>
          </p:nvSpPr>
          <p:spPr>
            <a:xfrm>
              <a:off x="7304485" y="6593858"/>
              <a:ext cx="691429" cy="11291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 algn="l" defTabSz="457200">
                <a:defRPr sz="6400" i="1"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sz="2400"/>
                <a:t>w</a:t>
              </a:r>
            </a:p>
          </p:txBody>
        </p:sp>
        <p:sp>
          <p:nvSpPr>
            <p:cNvPr id="5366" name="f(w)"/>
            <p:cNvSpPr txBox="1"/>
            <p:nvPr/>
          </p:nvSpPr>
          <p:spPr>
            <a:xfrm>
              <a:off x="0" y="-6135"/>
              <a:ext cx="1302709" cy="10060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 algn="l" defTabSz="457200">
                <a:defRPr sz="5600" i="1"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sz="2100"/>
                <a:t>f(w)</a:t>
              </a:r>
            </a:p>
          </p:txBody>
        </p:sp>
        <p:sp>
          <p:nvSpPr>
            <p:cNvPr id="5367" name="Convex"/>
            <p:cNvSpPr txBox="1"/>
            <p:nvPr/>
          </p:nvSpPr>
          <p:spPr>
            <a:xfrm>
              <a:off x="3987236" y="252662"/>
              <a:ext cx="2183290" cy="9137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 algn="l" defTabSz="457200">
                <a:defRPr sz="5000"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1875"/>
                <a:t>Convex</a:t>
              </a:r>
            </a:p>
          </p:txBody>
        </p:sp>
        <p:sp>
          <p:nvSpPr>
            <p:cNvPr id="5390" name="Connection Line"/>
            <p:cNvSpPr/>
            <p:nvPr/>
          </p:nvSpPr>
          <p:spPr>
            <a:xfrm>
              <a:off x="1339535" y="1133025"/>
              <a:ext cx="6049767" cy="48537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1" extrusionOk="0">
                  <a:moveTo>
                    <a:pt x="21600" y="0"/>
                  </a:moveTo>
                  <a:cubicBezTo>
                    <a:pt x="15000" y="21473"/>
                    <a:pt x="7800" y="21600"/>
                    <a:pt x="0" y="381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 sz="675"/>
            </a:p>
          </p:txBody>
        </p:sp>
      </p:grpSp>
      <p:grpSp>
        <p:nvGrpSpPr>
          <p:cNvPr id="5373" name="Group"/>
          <p:cNvGrpSpPr/>
          <p:nvPr/>
        </p:nvGrpSpPr>
        <p:grpSpPr>
          <a:xfrm>
            <a:off x="2210235" y="4132957"/>
            <a:ext cx="275316" cy="634542"/>
            <a:chOff x="0" y="-127000"/>
            <a:chExt cx="734174" cy="1692111"/>
          </a:xfrm>
        </p:grpSpPr>
        <p:sp>
          <p:nvSpPr>
            <p:cNvPr id="5370" name="Line"/>
            <p:cNvSpPr/>
            <p:nvPr/>
          </p:nvSpPr>
          <p:spPr>
            <a:xfrm flipV="1">
              <a:off x="253473" y="113661"/>
              <a:ext cx="1" cy="782234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371" name="w*"/>
            <p:cNvSpPr txBox="1"/>
            <p:nvPr/>
          </p:nvSpPr>
          <p:spPr>
            <a:xfrm>
              <a:off x="0" y="712954"/>
              <a:ext cx="734174" cy="8521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pPr defTabSz="308074">
                <a:defRPr sz="4600"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  <a:r>
                <a:rPr sz="1725" i="1">
                  <a:latin typeface="Times Roman"/>
                  <a:ea typeface="Times Roman"/>
                  <a:cs typeface="Times Roman"/>
                  <a:sym typeface="Times Roman"/>
                </a:rPr>
                <a:t>w</a:t>
              </a:r>
              <a:r>
                <a:rPr sz="1725" i="1" baseline="31999">
                  <a:latin typeface="Times Roman"/>
                  <a:ea typeface="Times Roman"/>
                  <a:cs typeface="Times Roman"/>
                  <a:sym typeface="Times Roman"/>
                </a:rPr>
                <a:t>*</a:t>
              </a:r>
            </a:p>
          </p:txBody>
        </p:sp>
        <p:sp>
          <p:nvSpPr>
            <p:cNvPr id="5372" name="Circle"/>
            <p:cNvSpPr/>
            <p:nvPr/>
          </p:nvSpPr>
          <p:spPr>
            <a:xfrm>
              <a:off x="122419" y="-127000"/>
              <a:ext cx="267892" cy="267891"/>
            </a:xfrm>
            <a:prstGeom prst="ellipse">
              <a:avLst/>
            </a:prstGeom>
            <a:solidFill>
              <a:srgbClr val="0365C0"/>
            </a:solidFill>
            <a:ln w="12700" cap="flat">
              <a:noFill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</p:grpSp>
      <p:sp>
        <p:nvSpPr>
          <p:cNvPr id="5374" name="Multiple local minima may exist"/>
          <p:cNvSpPr txBox="1"/>
          <p:nvPr/>
        </p:nvSpPr>
        <p:spPr>
          <a:xfrm>
            <a:off x="5189434" y="4809993"/>
            <a:ext cx="3109425" cy="342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defTabSz="457200">
              <a:defRPr sz="50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1875"/>
              <a:t>Multiple local minima may exist</a:t>
            </a:r>
          </a:p>
        </p:txBody>
      </p:sp>
      <p:grpSp>
        <p:nvGrpSpPr>
          <p:cNvPr id="5383" name="Group"/>
          <p:cNvGrpSpPr/>
          <p:nvPr/>
        </p:nvGrpSpPr>
        <p:grpSpPr>
          <a:xfrm>
            <a:off x="5920179" y="3632894"/>
            <a:ext cx="2037441" cy="1135498"/>
            <a:chOff x="-1" y="-1"/>
            <a:chExt cx="5433174" cy="3027992"/>
          </a:xfrm>
        </p:grpSpPr>
        <p:grpSp>
          <p:nvGrpSpPr>
            <p:cNvPr id="5378" name="Group"/>
            <p:cNvGrpSpPr/>
            <p:nvPr/>
          </p:nvGrpSpPr>
          <p:grpSpPr>
            <a:xfrm>
              <a:off x="4699000" y="1482328"/>
              <a:ext cx="734173" cy="1532964"/>
              <a:chOff x="0" y="0"/>
              <a:chExt cx="734173" cy="1532963"/>
            </a:xfrm>
          </p:grpSpPr>
          <p:sp>
            <p:nvSpPr>
              <p:cNvPr id="5375" name="Line"/>
              <p:cNvSpPr/>
              <p:nvPr/>
            </p:nvSpPr>
            <p:spPr>
              <a:xfrm flipV="1">
                <a:off x="222269" y="77989"/>
                <a:ext cx="1" cy="782234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376" name="w*"/>
              <p:cNvSpPr txBox="1"/>
              <p:nvPr/>
            </p:nvSpPr>
            <p:spPr>
              <a:xfrm>
                <a:off x="0" y="680807"/>
                <a:ext cx="734173" cy="85215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26789" tIns="26789" rIns="26789" bIns="26789" numCol="1" anchor="ctr">
                <a:spAutoFit/>
              </a:bodyPr>
              <a:lstStyle/>
              <a:p>
                <a:pPr defTabSz="308074">
                  <a:defRPr sz="4600"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725" i="1">
                    <a:latin typeface="Times Roman"/>
                    <a:ea typeface="Times Roman"/>
                    <a:cs typeface="Times Roman"/>
                    <a:sym typeface="Times Roman"/>
                  </a:rPr>
                  <a:t>w</a:t>
                </a:r>
                <a:r>
                  <a:rPr sz="1725" i="1" baseline="31999">
                    <a:latin typeface="Times Roman"/>
                    <a:ea typeface="Times Roman"/>
                    <a:cs typeface="Times Roman"/>
                    <a:sym typeface="Times Roman"/>
                  </a:rPr>
                  <a:t>*</a:t>
                </a:r>
              </a:p>
            </p:txBody>
          </p:sp>
          <p:sp>
            <p:nvSpPr>
              <p:cNvPr id="5377" name="Circle"/>
              <p:cNvSpPr/>
              <p:nvPr/>
            </p:nvSpPr>
            <p:spPr>
              <a:xfrm>
                <a:off x="81656" y="0"/>
                <a:ext cx="267891" cy="267891"/>
              </a:xfrm>
              <a:prstGeom prst="ellipse">
                <a:avLst/>
              </a:prstGeom>
              <a:solidFill>
                <a:srgbClr val="0365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</p:grpSp>
        <p:grpSp>
          <p:nvGrpSpPr>
            <p:cNvPr id="5382" name="Group"/>
            <p:cNvGrpSpPr/>
            <p:nvPr/>
          </p:nvGrpSpPr>
          <p:grpSpPr>
            <a:xfrm>
              <a:off x="-1" y="-1"/>
              <a:ext cx="623035" cy="3027992"/>
              <a:chOff x="0" y="0"/>
              <a:chExt cx="623034" cy="3027990"/>
            </a:xfrm>
          </p:grpSpPr>
          <p:sp>
            <p:nvSpPr>
              <p:cNvPr id="5379" name="Circle"/>
              <p:cNvSpPr/>
              <p:nvPr/>
            </p:nvSpPr>
            <p:spPr>
              <a:xfrm>
                <a:off x="155079" y="0"/>
                <a:ext cx="267891" cy="267891"/>
              </a:xfrm>
              <a:prstGeom prst="ellipse">
                <a:avLst/>
              </a:prstGeom>
              <a:solidFill>
                <a:srgbClr val="C8250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380" name="Line"/>
              <p:cNvSpPr/>
              <p:nvPr/>
            </p:nvSpPr>
            <p:spPr>
              <a:xfrm flipV="1">
                <a:off x="294236" y="307251"/>
                <a:ext cx="1" cy="2003164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381" name="w′"/>
              <p:cNvSpPr txBox="1"/>
              <p:nvPr/>
            </p:nvSpPr>
            <p:spPr>
              <a:xfrm>
                <a:off x="0" y="2175834"/>
                <a:ext cx="623034" cy="85215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26789" tIns="26789" rIns="26789" bIns="26789" numCol="1" anchor="ctr">
                <a:spAutoFit/>
              </a:bodyPr>
              <a:lstStyle/>
              <a:p>
                <a:pPr defTabSz="308074">
                  <a:defRPr sz="4600"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725" i="1">
                    <a:latin typeface="Times Roman"/>
                    <a:ea typeface="Times Roman"/>
                    <a:cs typeface="Times Roman"/>
                    <a:sym typeface="Times Roman"/>
                  </a:rPr>
                  <a:t>w</a:t>
                </a:r>
                <a:r>
                  <a:rPr sz="1725" i="1" baseline="31999">
                    <a:latin typeface="Times Roman"/>
                    <a:ea typeface="Times Roman"/>
                    <a:cs typeface="Times Roman"/>
                    <a:sym typeface="Times Roman"/>
                  </a:rPr>
                  <a:t>′</a:t>
                </a:r>
              </a:p>
            </p:txBody>
          </p:sp>
        </p:grpSp>
      </p:grpSp>
      <p:sp>
        <p:nvSpPr>
          <p:cNvPr id="5384" name="Group"/>
          <p:cNvSpPr/>
          <p:nvPr/>
        </p:nvSpPr>
        <p:spPr>
          <a:xfrm>
            <a:off x="2873481" y="3559473"/>
            <a:ext cx="100460" cy="100460"/>
          </a:xfrm>
          <a:prstGeom prst="ellipse">
            <a:avLst/>
          </a:prstGeom>
          <a:solidFill>
            <a:srgbClr val="00882B"/>
          </a:solidFill>
          <a:ln w="12700">
            <a:miter lim="400000"/>
          </a:ln>
        </p:spPr>
        <p:txBody>
          <a:bodyPr lIns="26789" tIns="26789" rIns="26789" bIns="26789" anchor="ctr"/>
          <a:lstStyle/>
          <a:p>
            <a:pPr defTabSz="219075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100"/>
          </a:p>
        </p:txBody>
      </p:sp>
      <p:grpSp>
        <p:nvGrpSpPr>
          <p:cNvPr id="5388" name="Group"/>
          <p:cNvGrpSpPr/>
          <p:nvPr/>
        </p:nvGrpSpPr>
        <p:grpSpPr>
          <a:xfrm>
            <a:off x="2011048" y="3773785"/>
            <a:ext cx="835943" cy="373540"/>
            <a:chOff x="-959493" y="0"/>
            <a:chExt cx="2229181" cy="996104"/>
          </a:xfrm>
        </p:grpSpPr>
        <p:sp>
          <p:nvSpPr>
            <p:cNvPr id="5385" name="Group"/>
            <p:cNvSpPr/>
            <p:nvPr/>
          </p:nvSpPr>
          <p:spPr>
            <a:xfrm>
              <a:off x="1001797" y="0"/>
              <a:ext cx="267891" cy="267891"/>
            </a:xfrm>
            <a:prstGeom prst="ellipse">
              <a:avLst/>
            </a:prstGeom>
            <a:solidFill>
              <a:srgbClr val="00882B"/>
            </a:solidFill>
            <a:ln w="12700" cap="flat">
              <a:noFill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386" name="Group"/>
            <p:cNvSpPr/>
            <p:nvPr/>
          </p:nvSpPr>
          <p:spPr>
            <a:xfrm>
              <a:off x="571187" y="480218"/>
              <a:ext cx="267892" cy="267892"/>
            </a:xfrm>
            <a:prstGeom prst="ellipse">
              <a:avLst/>
            </a:prstGeom>
            <a:solidFill>
              <a:srgbClr val="00882B"/>
            </a:solidFill>
            <a:ln w="12700" cap="flat">
              <a:noFill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387" name="…"/>
            <p:cNvSpPr/>
            <p:nvPr/>
          </p:nvSpPr>
          <p:spPr>
            <a:xfrm flipH="1" flipV="1">
              <a:off x="-959494" y="629106"/>
              <a:ext cx="1758157" cy="366999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 algn="l" defTabSz="821531">
                <a:defRPr sz="4600" i="1"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pPr>
                <a:defRPr i="0"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  <a:r>
                <a:rPr sz="1725"/>
                <a:t>…</a:t>
              </a:r>
            </a:p>
          </p:txBody>
        </p:sp>
      </p:grpSp>
      <p:sp>
        <p:nvSpPr>
          <p:cNvPr id="5389" name="Splitting computation across the network"/>
          <p:cNvSpPr txBox="1"/>
          <p:nvPr/>
        </p:nvSpPr>
        <p:spPr>
          <a:xfrm>
            <a:off x="710868" y="1202607"/>
            <a:ext cx="7493711" cy="609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7144" tIns="17144" rIns="17144" bIns="17144">
            <a:normAutofit/>
          </a:bodyPr>
          <a:lstStyle>
            <a:lvl1pPr algn="l" defTabSz="2438522">
              <a:tabLst>
                <a:tab pos="3632200" algn="l"/>
              </a:tabLst>
              <a:defRPr sz="80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3000"/>
              <a:t>Where will we converge?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5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5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49" grpId="0" animBg="1" advAuto="0"/>
      <p:bldP spid="5350" grpId="0" animBg="1" advAuto="0"/>
      <p:bldP spid="5351" grpId="0" animBg="1" advAuto="0"/>
      <p:bldP spid="5357" grpId="0" animBg="1" advAuto="0"/>
      <p:bldP spid="5358" grpId="0" animBg="1" advAuto="0"/>
      <p:bldP spid="5362" grpId="0" animBg="1" advAuto="0"/>
      <p:bldP spid="5369" grpId="0" animBg="1" advAuto="0"/>
      <p:bldP spid="5373" grpId="0" animBg="1" advAuto="0"/>
      <p:bldP spid="5374" grpId="0" animBg="1" advAuto="0"/>
      <p:bldP spid="5383" grpId="0" animBg="1" advAuto="0"/>
      <p:bldP spid="5384" grpId="0" animBg="1" advAuto="0"/>
      <p:bldP spid="5388" grpId="0" animBg="1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97" name="Group"/>
          <p:cNvGrpSpPr/>
          <p:nvPr/>
        </p:nvGrpSpPr>
        <p:grpSpPr>
          <a:xfrm>
            <a:off x="4631676" y="4657254"/>
            <a:ext cx="4165265" cy="873942"/>
            <a:chOff x="0" y="0"/>
            <a:chExt cx="11107373" cy="2330509"/>
          </a:xfrm>
        </p:grpSpPr>
        <p:sp>
          <p:nvSpPr>
            <p:cNvPr id="5394" name="Rounded Rectangle"/>
            <p:cNvSpPr/>
            <p:nvPr/>
          </p:nvSpPr>
          <p:spPr>
            <a:xfrm>
              <a:off x="0" y="0"/>
              <a:ext cx="11107374" cy="2014921"/>
            </a:xfrm>
            <a:prstGeom prst="roundRect">
              <a:avLst>
                <a:gd name="adj" fmla="val 5721"/>
              </a:avLst>
            </a:prstGeom>
            <a:solidFill>
              <a:srgbClr val="A8D6FF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308074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395" name="Update Rule:"/>
            <p:cNvSpPr/>
            <p:nvPr/>
          </p:nvSpPr>
          <p:spPr>
            <a:xfrm>
              <a:off x="476020" y="106050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 algn="l" defTabSz="457200">
                <a:defRPr sz="5000" b="1"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1875"/>
                <a:t>Update Rule:</a:t>
              </a:r>
            </a:p>
          </p:txBody>
        </p:sp>
        <p:pic>
          <p:nvPicPr>
            <p:cNvPr id="5396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06234" y="342959"/>
              <a:ext cx="6527801" cy="14605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398" name="We can only move in two directions…"/>
          <p:cNvSpPr txBox="1"/>
          <p:nvPr/>
        </p:nvSpPr>
        <p:spPr>
          <a:xfrm>
            <a:off x="612184" y="4611042"/>
            <a:ext cx="4451531" cy="1067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/>
          <a:lstStyle/>
          <a:p>
            <a:pPr lvl="2" defTabSz="308074">
              <a:spcBef>
                <a:spcPts val="750"/>
              </a:spcBef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1875"/>
              <a:t>We can only move in two directions</a:t>
            </a:r>
          </a:p>
          <a:p>
            <a:pPr lvl="2" defTabSz="308074">
              <a:spcBef>
                <a:spcPts val="1500"/>
              </a:spcBef>
              <a:defRPr sz="5000" b="1">
                <a:solidFill>
                  <a:schemeClr val="accent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sz="1875"/>
              <a:t>Negative slope is direction of descent!</a:t>
            </a:r>
          </a:p>
        </p:txBody>
      </p:sp>
      <p:grpSp>
        <p:nvGrpSpPr>
          <p:cNvPr id="5403" name="Group"/>
          <p:cNvGrpSpPr/>
          <p:nvPr/>
        </p:nvGrpSpPr>
        <p:grpSpPr>
          <a:xfrm>
            <a:off x="3410508" y="2426791"/>
            <a:ext cx="476250" cy="2298677"/>
            <a:chOff x="0" y="0"/>
            <a:chExt cx="1270000" cy="6129802"/>
          </a:xfrm>
        </p:grpSpPr>
        <p:sp>
          <p:nvSpPr>
            <p:cNvPr id="5399" name="Line"/>
            <p:cNvSpPr/>
            <p:nvPr/>
          </p:nvSpPr>
          <p:spPr>
            <a:xfrm flipV="1">
              <a:off x="198419" y="135341"/>
              <a:ext cx="1" cy="4490616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grpSp>
          <p:nvGrpSpPr>
            <p:cNvPr id="5402" name="Group"/>
            <p:cNvGrpSpPr/>
            <p:nvPr/>
          </p:nvGrpSpPr>
          <p:grpSpPr>
            <a:xfrm>
              <a:off x="0" y="0"/>
              <a:ext cx="1270000" cy="6129803"/>
              <a:chOff x="0" y="0"/>
              <a:chExt cx="1270000" cy="6129802"/>
            </a:xfrm>
          </p:grpSpPr>
          <p:sp>
            <p:nvSpPr>
              <p:cNvPr id="5400" name="w0"/>
              <p:cNvSpPr/>
              <p:nvPr/>
            </p:nvSpPr>
            <p:spPr>
              <a:xfrm>
                <a:off x="0" y="4859802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26789" tIns="26789" rIns="26789" bIns="26789" numCol="1" anchor="ctr">
                <a:spAutoFit/>
              </a:bodyPr>
              <a:lstStyle/>
              <a:p>
                <a:pPr defTabSz="308074">
                  <a:defRPr sz="3500"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313" i="1">
                    <a:latin typeface="Times Roman"/>
                    <a:ea typeface="Times Roman"/>
                    <a:cs typeface="Times Roman"/>
                    <a:sym typeface="Times Roman"/>
                  </a:rPr>
                  <a:t>w</a:t>
                </a:r>
                <a:r>
                  <a:rPr sz="1313" baseline="-5999">
                    <a:latin typeface="Times Roman"/>
                    <a:ea typeface="Times Roman"/>
                    <a:cs typeface="Times Roman"/>
                    <a:sym typeface="Times Roman"/>
                  </a:rPr>
                  <a:t>0</a:t>
                </a:r>
              </a:p>
            </p:txBody>
          </p:sp>
          <p:sp>
            <p:nvSpPr>
              <p:cNvPr id="5401" name="Circle"/>
              <p:cNvSpPr/>
              <p:nvPr/>
            </p:nvSpPr>
            <p:spPr>
              <a:xfrm>
                <a:off x="58237" y="0"/>
                <a:ext cx="267891" cy="267891"/>
              </a:xfrm>
              <a:prstGeom prst="ellipse">
                <a:avLst/>
              </a:prstGeom>
              <a:solidFill>
                <a:srgbClr val="00882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</p:grpSp>
      </p:grpSp>
      <p:pic>
        <p:nvPicPr>
          <p:cNvPr id="5404" name="Line Line" descr="Line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594835" y="3962979"/>
            <a:ext cx="939681" cy="171714"/>
          </a:xfrm>
          <a:prstGeom prst="rect">
            <a:avLst/>
          </a:prstGeom>
        </p:spPr>
      </p:pic>
      <p:grpSp>
        <p:nvGrpSpPr>
          <p:cNvPr id="5416" name="Group"/>
          <p:cNvGrpSpPr/>
          <p:nvPr/>
        </p:nvGrpSpPr>
        <p:grpSpPr>
          <a:xfrm>
            <a:off x="228514" y="1919665"/>
            <a:ext cx="4036545" cy="2570266"/>
            <a:chOff x="-1" y="-6135"/>
            <a:chExt cx="10764118" cy="6854038"/>
          </a:xfrm>
        </p:grpSpPr>
        <p:sp>
          <p:nvSpPr>
            <p:cNvPr id="5406" name="w"/>
            <p:cNvSpPr txBox="1"/>
            <p:nvPr/>
          </p:nvSpPr>
          <p:spPr>
            <a:xfrm>
              <a:off x="10072688" y="5718749"/>
              <a:ext cx="691429" cy="11291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 algn="l" defTabSz="457200">
                <a:defRPr sz="6400" i="1"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sz="2400"/>
                <a:t>w</a:t>
              </a:r>
            </a:p>
          </p:txBody>
        </p:sp>
        <p:grpSp>
          <p:nvGrpSpPr>
            <p:cNvPr id="5415" name="Group"/>
            <p:cNvGrpSpPr/>
            <p:nvPr/>
          </p:nvGrpSpPr>
          <p:grpSpPr>
            <a:xfrm>
              <a:off x="-1" y="-6135"/>
              <a:ext cx="10692830" cy="6652040"/>
              <a:chOff x="0" y="-6134"/>
              <a:chExt cx="10692828" cy="6652038"/>
            </a:xfrm>
          </p:grpSpPr>
          <p:sp>
            <p:nvSpPr>
              <p:cNvPr id="5455" name="Connection Line"/>
              <p:cNvSpPr/>
              <p:nvPr/>
            </p:nvSpPr>
            <p:spPr>
              <a:xfrm>
                <a:off x="3006410" y="220212"/>
                <a:ext cx="6049767" cy="48537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201" extrusionOk="0">
                    <a:moveTo>
                      <a:pt x="21600" y="0"/>
                    </a:moveTo>
                    <a:cubicBezTo>
                      <a:pt x="15000" y="21473"/>
                      <a:pt x="7800" y="21600"/>
                      <a:pt x="0" y="381"/>
                    </a:cubicBezTo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/>
              <a:lstStyle/>
              <a:p>
                <a:endParaRPr sz="675"/>
              </a:p>
            </p:txBody>
          </p:sp>
          <p:sp>
            <p:nvSpPr>
              <p:cNvPr id="5408" name="Line"/>
              <p:cNvSpPr/>
              <p:nvPr/>
            </p:nvSpPr>
            <p:spPr>
              <a:xfrm flipV="1">
                <a:off x="1616343" y="227362"/>
                <a:ext cx="1" cy="5698776"/>
              </a:xfrm>
              <a:prstGeom prst="line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409" name="Line"/>
              <p:cNvSpPr/>
              <p:nvPr/>
            </p:nvSpPr>
            <p:spPr>
              <a:xfrm>
                <a:off x="1624457" y="5916391"/>
                <a:ext cx="9068371" cy="1"/>
              </a:xfrm>
              <a:prstGeom prst="line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410" name="f(w)"/>
              <p:cNvSpPr txBox="1"/>
              <p:nvPr/>
            </p:nvSpPr>
            <p:spPr>
              <a:xfrm>
                <a:off x="0" y="-6134"/>
                <a:ext cx="1302709" cy="100604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26789" tIns="26789" rIns="26789" bIns="26789" numCol="1" anchor="ctr">
                <a:spAutoFit/>
              </a:bodyPr>
              <a:lstStyle>
                <a:lvl1pPr algn="l" defTabSz="457200">
                  <a:defRPr sz="5600" i="1">
                    <a:latin typeface="Times Roman"/>
                    <a:ea typeface="Times Roman"/>
                    <a:cs typeface="Times Roman"/>
                    <a:sym typeface="Times Roman"/>
                  </a:defRPr>
                </a:lvl1pPr>
              </a:lstStyle>
              <a:p>
                <a:r>
                  <a:rPr sz="2100"/>
                  <a:t>f(w)</a:t>
                </a:r>
              </a:p>
            </p:txBody>
          </p:sp>
          <p:grpSp>
            <p:nvGrpSpPr>
              <p:cNvPr id="5414" name="Group"/>
              <p:cNvGrpSpPr/>
              <p:nvPr/>
            </p:nvGrpSpPr>
            <p:grpSpPr>
              <a:xfrm>
                <a:off x="5902960" y="4953793"/>
                <a:ext cx="734176" cy="1692111"/>
                <a:chOff x="0" y="-127000"/>
                <a:chExt cx="734174" cy="1692109"/>
              </a:xfrm>
            </p:grpSpPr>
            <p:sp>
              <p:nvSpPr>
                <p:cNvPr id="5411" name="Line"/>
                <p:cNvSpPr/>
                <p:nvPr/>
              </p:nvSpPr>
              <p:spPr>
                <a:xfrm flipV="1">
                  <a:off x="253473" y="113661"/>
                  <a:ext cx="1" cy="782234"/>
                </a:xfrm>
                <a:prstGeom prst="line">
                  <a:avLst/>
                </a:prstGeom>
                <a:noFill/>
                <a:ln w="50800" cap="rnd">
                  <a:solidFill>
                    <a:srgbClr val="000000"/>
                  </a:solidFill>
                  <a:custDash>
                    <a:ds d="100000" sp="200000"/>
                  </a:custDash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pPr defTabSz="219075">
                    <a:defRPr sz="56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latin typeface="Gill Sans"/>
                      <a:ea typeface="Gill Sans"/>
                      <a:cs typeface="Gill Sans"/>
                      <a:sym typeface="Gill Sans"/>
                    </a:defRPr>
                  </a:pPr>
                  <a:endParaRPr sz="2100"/>
                </a:p>
              </p:txBody>
            </p:sp>
            <p:sp>
              <p:nvSpPr>
                <p:cNvPr id="5412" name="w*"/>
                <p:cNvSpPr txBox="1"/>
                <p:nvPr/>
              </p:nvSpPr>
              <p:spPr>
                <a:xfrm>
                  <a:off x="0" y="712953"/>
                  <a:ext cx="734174" cy="85215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none" lIns="26789" tIns="26789" rIns="26789" bIns="26789" numCol="1" anchor="ctr">
                  <a:spAutoFit/>
                </a:bodyPr>
                <a:lstStyle/>
                <a:p>
                  <a:pPr defTabSz="308074">
                    <a:defRPr sz="4600">
                      <a:latin typeface="Helvetica Neue Light"/>
                      <a:ea typeface="Helvetica Neue Light"/>
                      <a:cs typeface="Helvetica Neue Light"/>
                      <a:sym typeface="Helvetica Neue Light"/>
                    </a:defRPr>
                  </a:pPr>
                  <a:r>
                    <a:rPr sz="1725" i="1">
                      <a:latin typeface="Times Roman"/>
                      <a:ea typeface="Times Roman"/>
                      <a:cs typeface="Times Roman"/>
                      <a:sym typeface="Times Roman"/>
                    </a:rPr>
                    <a:t>w</a:t>
                  </a:r>
                  <a:r>
                    <a:rPr sz="1725" i="1" baseline="31999">
                      <a:latin typeface="Times Roman"/>
                      <a:ea typeface="Times Roman"/>
                      <a:cs typeface="Times Roman"/>
                      <a:sym typeface="Times Roman"/>
                    </a:rPr>
                    <a:t>*</a:t>
                  </a:r>
                </a:p>
              </p:txBody>
            </p:sp>
            <p:sp>
              <p:nvSpPr>
                <p:cNvPr id="5413" name="Circle"/>
                <p:cNvSpPr/>
                <p:nvPr/>
              </p:nvSpPr>
              <p:spPr>
                <a:xfrm>
                  <a:off x="122419" y="-127000"/>
                  <a:ext cx="267892" cy="267891"/>
                </a:xfrm>
                <a:prstGeom prst="ellipse">
                  <a:avLst/>
                </a:prstGeom>
                <a:solidFill>
                  <a:srgbClr val="0365C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pPr defTabSz="219075">
                    <a:defRPr sz="56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latin typeface="Gill Sans"/>
                      <a:ea typeface="Gill Sans"/>
                      <a:cs typeface="Gill Sans"/>
                      <a:sym typeface="Gill Sans"/>
                    </a:defRPr>
                  </a:pPr>
                  <a:endParaRPr sz="2100"/>
                </a:p>
              </p:txBody>
            </p:sp>
          </p:grpSp>
        </p:grpSp>
      </p:grpSp>
      <p:grpSp>
        <p:nvGrpSpPr>
          <p:cNvPr id="5426" name="Group"/>
          <p:cNvGrpSpPr/>
          <p:nvPr/>
        </p:nvGrpSpPr>
        <p:grpSpPr>
          <a:xfrm>
            <a:off x="4324265" y="1919666"/>
            <a:ext cx="4036544" cy="2570265"/>
            <a:chOff x="0" y="-6135"/>
            <a:chExt cx="10764116" cy="6854038"/>
          </a:xfrm>
        </p:grpSpPr>
        <p:sp>
          <p:nvSpPr>
            <p:cNvPr id="5456" name="Connection Line"/>
            <p:cNvSpPr/>
            <p:nvPr/>
          </p:nvSpPr>
          <p:spPr>
            <a:xfrm>
              <a:off x="3006410" y="220212"/>
              <a:ext cx="6049767" cy="48537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1" extrusionOk="0">
                  <a:moveTo>
                    <a:pt x="21600" y="0"/>
                  </a:moveTo>
                  <a:cubicBezTo>
                    <a:pt x="15000" y="21473"/>
                    <a:pt x="7800" y="21600"/>
                    <a:pt x="0" y="381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 sz="675"/>
            </a:p>
          </p:txBody>
        </p:sp>
        <p:sp>
          <p:nvSpPr>
            <p:cNvPr id="5418" name="Line"/>
            <p:cNvSpPr/>
            <p:nvPr/>
          </p:nvSpPr>
          <p:spPr>
            <a:xfrm flipV="1">
              <a:off x="1616343" y="227362"/>
              <a:ext cx="1" cy="5698776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419" name="Line"/>
            <p:cNvSpPr/>
            <p:nvPr/>
          </p:nvSpPr>
          <p:spPr>
            <a:xfrm>
              <a:off x="1624457" y="5916391"/>
              <a:ext cx="9068371" cy="1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420" name="w"/>
            <p:cNvSpPr txBox="1"/>
            <p:nvPr/>
          </p:nvSpPr>
          <p:spPr>
            <a:xfrm>
              <a:off x="10072687" y="5718749"/>
              <a:ext cx="691429" cy="11291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 algn="l" defTabSz="457200">
                <a:defRPr sz="6400" i="1"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sz="2400"/>
                <a:t>w</a:t>
              </a:r>
            </a:p>
          </p:txBody>
        </p:sp>
        <p:sp>
          <p:nvSpPr>
            <p:cNvPr id="5421" name="f(w)"/>
            <p:cNvSpPr txBox="1"/>
            <p:nvPr/>
          </p:nvSpPr>
          <p:spPr>
            <a:xfrm>
              <a:off x="0" y="-6135"/>
              <a:ext cx="1302709" cy="10060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 algn="l" defTabSz="457200">
                <a:defRPr sz="5600" i="1"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sz="2100"/>
                <a:t>f(w)</a:t>
              </a:r>
            </a:p>
          </p:txBody>
        </p:sp>
        <p:grpSp>
          <p:nvGrpSpPr>
            <p:cNvPr id="5425" name="Group"/>
            <p:cNvGrpSpPr/>
            <p:nvPr/>
          </p:nvGrpSpPr>
          <p:grpSpPr>
            <a:xfrm>
              <a:off x="5902960" y="4953793"/>
              <a:ext cx="734176" cy="1692111"/>
              <a:chOff x="0" y="-127000"/>
              <a:chExt cx="734174" cy="1692109"/>
            </a:xfrm>
          </p:grpSpPr>
          <p:sp>
            <p:nvSpPr>
              <p:cNvPr id="5422" name="Line"/>
              <p:cNvSpPr/>
              <p:nvPr/>
            </p:nvSpPr>
            <p:spPr>
              <a:xfrm flipV="1">
                <a:off x="253473" y="113661"/>
                <a:ext cx="1" cy="782234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423" name="w*"/>
              <p:cNvSpPr txBox="1"/>
              <p:nvPr/>
            </p:nvSpPr>
            <p:spPr>
              <a:xfrm>
                <a:off x="0" y="712953"/>
                <a:ext cx="734174" cy="85215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26789" tIns="26789" rIns="26789" bIns="26789" numCol="1" anchor="ctr">
                <a:spAutoFit/>
              </a:bodyPr>
              <a:lstStyle/>
              <a:p>
                <a:pPr defTabSz="308074">
                  <a:defRPr sz="4600"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725" i="1">
                    <a:latin typeface="Times Roman"/>
                    <a:ea typeface="Times Roman"/>
                    <a:cs typeface="Times Roman"/>
                    <a:sym typeface="Times Roman"/>
                  </a:rPr>
                  <a:t>w</a:t>
                </a:r>
                <a:r>
                  <a:rPr sz="1725" i="1" baseline="31999">
                    <a:latin typeface="Times Roman"/>
                    <a:ea typeface="Times Roman"/>
                    <a:cs typeface="Times Roman"/>
                    <a:sym typeface="Times Roman"/>
                  </a:rPr>
                  <a:t>*</a:t>
                </a:r>
              </a:p>
            </p:txBody>
          </p:sp>
          <p:sp>
            <p:nvSpPr>
              <p:cNvPr id="5424" name="Circle"/>
              <p:cNvSpPr/>
              <p:nvPr/>
            </p:nvSpPr>
            <p:spPr>
              <a:xfrm>
                <a:off x="122419" y="-127000"/>
                <a:ext cx="267892" cy="267891"/>
              </a:xfrm>
              <a:prstGeom prst="ellipse">
                <a:avLst/>
              </a:prstGeom>
              <a:solidFill>
                <a:srgbClr val="0365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</p:grpSp>
      </p:grpSp>
      <p:grpSp>
        <p:nvGrpSpPr>
          <p:cNvPr id="5430" name="Group"/>
          <p:cNvGrpSpPr/>
          <p:nvPr/>
        </p:nvGrpSpPr>
        <p:grpSpPr>
          <a:xfrm>
            <a:off x="2218629" y="1771856"/>
            <a:ext cx="1291619" cy="1874897"/>
            <a:chOff x="0" y="-183030"/>
            <a:chExt cx="3444317" cy="4999724"/>
          </a:xfrm>
        </p:grpSpPr>
        <p:pic>
          <p:nvPicPr>
            <p:cNvPr id="5427" name="Line Line" descr="Line Lin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7409879">
              <a:off x="663465" y="2285081"/>
              <a:ext cx="4999724" cy="63501"/>
            </a:xfrm>
            <a:prstGeom prst="rect">
              <a:avLst/>
            </a:prstGeom>
            <a:effectLst/>
          </p:spPr>
        </p:pic>
        <p:sp>
          <p:nvSpPr>
            <p:cNvPr id="5429" name="positive ⇒ go left!"/>
            <p:cNvSpPr txBox="1"/>
            <p:nvPr/>
          </p:nvSpPr>
          <p:spPr>
            <a:xfrm>
              <a:off x="0" y="477244"/>
              <a:ext cx="3444317" cy="6674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 algn="l" defTabSz="457200">
                <a:defRPr sz="3400"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lvl1pPr>
            </a:lstStyle>
            <a:p>
              <a:r>
                <a:rPr sz="1275"/>
                <a:t>positive ⇒ go left!</a:t>
              </a:r>
            </a:p>
          </p:txBody>
        </p:sp>
      </p:grpSp>
      <p:grpSp>
        <p:nvGrpSpPr>
          <p:cNvPr id="5435" name="Group"/>
          <p:cNvGrpSpPr/>
          <p:nvPr/>
        </p:nvGrpSpPr>
        <p:grpSpPr>
          <a:xfrm>
            <a:off x="5539345" y="2426791"/>
            <a:ext cx="476250" cy="2298677"/>
            <a:chOff x="0" y="0"/>
            <a:chExt cx="1270000" cy="6129802"/>
          </a:xfrm>
        </p:grpSpPr>
        <p:sp>
          <p:nvSpPr>
            <p:cNvPr id="5431" name="Line"/>
            <p:cNvSpPr/>
            <p:nvPr/>
          </p:nvSpPr>
          <p:spPr>
            <a:xfrm flipV="1">
              <a:off x="198419" y="135341"/>
              <a:ext cx="1" cy="4490616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grpSp>
          <p:nvGrpSpPr>
            <p:cNvPr id="5434" name="Group"/>
            <p:cNvGrpSpPr/>
            <p:nvPr/>
          </p:nvGrpSpPr>
          <p:grpSpPr>
            <a:xfrm>
              <a:off x="0" y="0"/>
              <a:ext cx="1270000" cy="6129803"/>
              <a:chOff x="0" y="0"/>
              <a:chExt cx="1270000" cy="6129802"/>
            </a:xfrm>
          </p:grpSpPr>
          <p:sp>
            <p:nvSpPr>
              <p:cNvPr id="5432" name="w0"/>
              <p:cNvSpPr/>
              <p:nvPr/>
            </p:nvSpPr>
            <p:spPr>
              <a:xfrm>
                <a:off x="0" y="4859802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26789" tIns="26789" rIns="26789" bIns="26789" numCol="1" anchor="ctr">
                <a:spAutoFit/>
              </a:bodyPr>
              <a:lstStyle/>
              <a:p>
                <a:pPr defTabSz="308074">
                  <a:defRPr sz="3500"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313" i="1">
                    <a:latin typeface="Times Roman"/>
                    <a:ea typeface="Times Roman"/>
                    <a:cs typeface="Times Roman"/>
                    <a:sym typeface="Times Roman"/>
                  </a:rPr>
                  <a:t>w</a:t>
                </a:r>
                <a:r>
                  <a:rPr sz="1313" baseline="-5999">
                    <a:latin typeface="Times Roman"/>
                    <a:ea typeface="Times Roman"/>
                    <a:cs typeface="Times Roman"/>
                    <a:sym typeface="Times Roman"/>
                  </a:rPr>
                  <a:t>0</a:t>
                </a:r>
              </a:p>
            </p:txBody>
          </p:sp>
          <p:sp>
            <p:nvSpPr>
              <p:cNvPr id="5433" name="Circle"/>
              <p:cNvSpPr/>
              <p:nvPr/>
            </p:nvSpPr>
            <p:spPr>
              <a:xfrm>
                <a:off x="58237" y="0"/>
                <a:ext cx="267891" cy="267891"/>
              </a:xfrm>
              <a:prstGeom prst="ellipse">
                <a:avLst/>
              </a:prstGeom>
              <a:solidFill>
                <a:srgbClr val="00882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</p:grpSp>
      </p:grpSp>
      <p:pic>
        <p:nvPicPr>
          <p:cNvPr id="5436" name="Line Line" descr="Line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5595210" y="3962735"/>
            <a:ext cx="939682" cy="171714"/>
          </a:xfrm>
          <a:prstGeom prst="rect">
            <a:avLst/>
          </a:prstGeom>
        </p:spPr>
      </p:pic>
      <p:grpSp>
        <p:nvGrpSpPr>
          <p:cNvPr id="5441" name="Group"/>
          <p:cNvGrpSpPr/>
          <p:nvPr/>
        </p:nvGrpSpPr>
        <p:grpSpPr>
          <a:xfrm>
            <a:off x="5622461" y="1745886"/>
            <a:ext cx="1450317" cy="2120050"/>
            <a:chOff x="778777" y="-259520"/>
            <a:chExt cx="3867509" cy="5653466"/>
          </a:xfrm>
        </p:grpSpPr>
        <p:pic>
          <p:nvPicPr>
            <p:cNvPr id="5438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4802531">
              <a:off x="-1721587" y="2535462"/>
              <a:ext cx="5653466" cy="63501"/>
            </a:xfrm>
            <a:prstGeom prst="rect">
              <a:avLst/>
            </a:prstGeom>
            <a:effectLst/>
          </p:spPr>
        </p:pic>
        <p:sp>
          <p:nvSpPr>
            <p:cNvPr id="5440" name="negative ⇒ go right!"/>
            <p:cNvSpPr txBox="1"/>
            <p:nvPr/>
          </p:nvSpPr>
          <p:spPr>
            <a:xfrm>
              <a:off x="778777" y="470008"/>
              <a:ext cx="3867509" cy="6674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 algn="l" defTabSz="457200">
                <a:defRPr sz="3400"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lvl1pPr>
            </a:lstStyle>
            <a:p>
              <a:r>
                <a:rPr sz="1275"/>
                <a:t>negative ⇒ go right!</a:t>
              </a:r>
            </a:p>
          </p:txBody>
        </p:sp>
      </p:grpSp>
      <p:grpSp>
        <p:nvGrpSpPr>
          <p:cNvPr id="5445" name="Group"/>
          <p:cNvGrpSpPr/>
          <p:nvPr/>
        </p:nvGrpSpPr>
        <p:grpSpPr>
          <a:xfrm>
            <a:off x="999688" y="3589596"/>
            <a:ext cx="2040638" cy="258345"/>
            <a:chOff x="0" y="-8219"/>
            <a:chExt cx="5441701" cy="688916"/>
          </a:xfrm>
        </p:grpSpPr>
        <p:pic>
          <p:nvPicPr>
            <p:cNvPr id="5442" name="Line Line" descr="Line Line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63617" y="617196"/>
              <a:ext cx="2978084" cy="63501"/>
            </a:xfrm>
            <a:prstGeom prst="rect">
              <a:avLst/>
            </a:prstGeom>
            <a:effectLst/>
          </p:spPr>
        </p:pic>
        <p:sp>
          <p:nvSpPr>
            <p:cNvPr id="5444" name="zero ⇒ done!"/>
            <p:cNvSpPr txBox="1"/>
            <p:nvPr/>
          </p:nvSpPr>
          <p:spPr>
            <a:xfrm>
              <a:off x="0" y="-8219"/>
              <a:ext cx="2632131" cy="6674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 algn="l" defTabSz="457200">
                <a:defRPr sz="3400"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lvl1pPr>
            </a:lstStyle>
            <a:p>
              <a:r>
                <a:rPr sz="1275"/>
                <a:t>zero ⇒ done!</a:t>
              </a:r>
            </a:p>
          </p:txBody>
        </p:sp>
      </p:grpSp>
      <p:grpSp>
        <p:nvGrpSpPr>
          <p:cNvPr id="5453" name="Group"/>
          <p:cNvGrpSpPr/>
          <p:nvPr/>
        </p:nvGrpSpPr>
        <p:grpSpPr>
          <a:xfrm>
            <a:off x="7019375" y="4312855"/>
            <a:ext cx="1108250" cy="1946758"/>
            <a:chOff x="115141" y="-3674"/>
            <a:chExt cx="2955333" cy="5191354"/>
          </a:xfrm>
        </p:grpSpPr>
        <p:grpSp>
          <p:nvGrpSpPr>
            <p:cNvPr id="5448" name="Group"/>
            <p:cNvGrpSpPr/>
            <p:nvPr/>
          </p:nvGrpSpPr>
          <p:grpSpPr>
            <a:xfrm>
              <a:off x="115141" y="-3674"/>
              <a:ext cx="1995205" cy="1862525"/>
              <a:chOff x="-1" y="-3674"/>
              <a:chExt cx="1995203" cy="1862524"/>
            </a:xfrm>
          </p:grpSpPr>
          <p:sp>
            <p:nvSpPr>
              <p:cNvPr id="5446" name="Step Size"/>
              <p:cNvSpPr txBox="1"/>
              <p:nvPr/>
            </p:nvSpPr>
            <p:spPr>
              <a:xfrm>
                <a:off x="-1" y="-3674"/>
                <a:ext cx="1995203" cy="7598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26789" tIns="26789" rIns="26789" bIns="26789" numCol="1" anchor="ctr">
                <a:spAutoFit/>
              </a:bodyPr>
              <a:lstStyle>
                <a:lvl1pPr defTabSz="457200">
                  <a:defRPr sz="4000">
                    <a:latin typeface="+mn-lt"/>
                    <a:ea typeface="+mn-ea"/>
                    <a:cs typeface="+mn-cs"/>
                    <a:sym typeface="Helvetica"/>
                  </a:defRPr>
                </a:lvl1pPr>
              </a:lstStyle>
              <a:p>
                <a:r>
                  <a:rPr sz="1500"/>
                  <a:t>Step Size</a:t>
                </a:r>
              </a:p>
            </p:txBody>
          </p:sp>
          <p:sp>
            <p:nvSpPr>
              <p:cNvPr id="5447" name="Line"/>
              <p:cNvSpPr/>
              <p:nvPr/>
            </p:nvSpPr>
            <p:spPr>
              <a:xfrm>
                <a:off x="1542594" y="745370"/>
                <a:ext cx="285472" cy="111348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</p:grpSp>
        <p:grpSp>
          <p:nvGrpSpPr>
            <p:cNvPr id="5452" name="Group"/>
            <p:cNvGrpSpPr/>
            <p:nvPr/>
          </p:nvGrpSpPr>
          <p:grpSpPr>
            <a:xfrm>
              <a:off x="1493223" y="2330860"/>
              <a:ext cx="1577251" cy="2856820"/>
              <a:chOff x="1493223" y="0"/>
              <a:chExt cx="1577249" cy="2856819"/>
            </a:xfrm>
          </p:grpSpPr>
          <p:sp>
            <p:nvSpPr>
              <p:cNvPr id="5449" name="Line"/>
              <p:cNvSpPr/>
              <p:nvPr/>
            </p:nvSpPr>
            <p:spPr>
              <a:xfrm flipH="1">
                <a:off x="1795328" y="520498"/>
                <a:ext cx="810422" cy="810423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450" name="Negative Slope"/>
              <p:cNvSpPr/>
              <p:nvPr/>
            </p:nvSpPr>
            <p:spPr>
              <a:xfrm>
                <a:off x="1800473" y="1586819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26789" tIns="26789" rIns="26789" bIns="26789" numCol="1" anchor="ctr">
                <a:spAutoFit/>
              </a:bodyPr>
              <a:lstStyle>
                <a:lvl1pPr defTabSz="457200">
                  <a:defRPr sz="4000">
                    <a:latin typeface="+mn-lt"/>
                    <a:ea typeface="+mn-ea"/>
                    <a:cs typeface="+mn-cs"/>
                    <a:sym typeface="Helvetica"/>
                  </a:defRPr>
                </a:lvl1pPr>
              </a:lstStyle>
              <a:p>
                <a:r>
                  <a:rPr sz="1500"/>
                  <a:t>Negative Slope</a:t>
                </a:r>
              </a:p>
            </p:txBody>
          </p:sp>
          <p:sp>
            <p:nvSpPr>
              <p:cNvPr id="5451" name="Line"/>
              <p:cNvSpPr/>
              <p:nvPr/>
            </p:nvSpPr>
            <p:spPr>
              <a:xfrm>
                <a:off x="1493223" y="-1"/>
                <a:ext cx="308705" cy="1337076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</p:grpSp>
      </p:grpSp>
      <p:sp>
        <p:nvSpPr>
          <p:cNvPr id="5454" name="Splitting computation across the network"/>
          <p:cNvSpPr txBox="1"/>
          <p:nvPr/>
        </p:nvSpPr>
        <p:spPr>
          <a:xfrm>
            <a:off x="710868" y="1202607"/>
            <a:ext cx="7493711" cy="609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7144" tIns="17144" rIns="17144" bIns="17144">
            <a:normAutofit/>
          </a:bodyPr>
          <a:lstStyle>
            <a:lvl1pPr algn="l" defTabSz="2438522">
              <a:tabLst>
                <a:tab pos="3632200" algn="l"/>
              </a:tabLst>
              <a:defRPr sz="80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3000" dirty="0">
                <a:latin typeface="Calibri" panose="020F0502020204030204" pitchFamily="34" charset="0"/>
                <a:cs typeface="Calibri" panose="020F0502020204030204" pitchFamily="34" charset="0"/>
              </a:rPr>
              <a:t>Choosing a descent direction (1D)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539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5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5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5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5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53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5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7" grpId="0" animBg="1" advAuto="0"/>
      <p:bldP spid="5398" grpId="0" build="p" bldLvl="5" animBg="1" advAuto="0"/>
      <p:bldP spid="5403" grpId="0" animBg="1" advAuto="0"/>
      <p:bldP spid="5404" grpId="0" animBg="1" advAuto="0"/>
      <p:bldP spid="5416" grpId="0" animBg="1" advAuto="0"/>
      <p:bldP spid="5426" grpId="0" animBg="1" advAuto="0"/>
      <p:bldP spid="5430" grpId="0" animBg="1" advAuto="0"/>
      <p:bldP spid="5435" grpId="0" animBg="1" advAuto="0"/>
      <p:bldP spid="5436" grpId="0" animBg="1" advAuto="0"/>
      <p:bldP spid="5441" grpId="0" animBg="1" advAuto="0"/>
      <p:bldP spid="5445" grpId="0" animBg="1" advAuto="0"/>
      <p:bldP spid="5453" grpId="0" animBg="1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8" name="We can move anywhere in…"/>
          <p:cNvSpPr txBox="1"/>
          <p:nvPr/>
        </p:nvSpPr>
        <p:spPr>
          <a:xfrm>
            <a:off x="10072" y="4782535"/>
            <a:ext cx="3740789" cy="1188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/>
          <a:lstStyle/>
          <a:p>
            <a:pPr lvl="2" defTabSz="308074">
              <a:spcBef>
                <a:spcPts val="750"/>
              </a:spcBef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1875" dirty="0"/>
              <a:t>We can move anywhere in </a:t>
            </a:r>
          </a:p>
          <a:p>
            <a:pPr lvl="2" defTabSz="308074">
              <a:spcBef>
                <a:spcPts val="1500"/>
              </a:spcBef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1875" dirty="0"/>
              <a:t>Negative gradient is direction of </a:t>
            </a:r>
            <a:r>
              <a:rPr sz="1875" i="1" dirty="0"/>
              <a:t>steepest</a:t>
            </a:r>
            <a:r>
              <a:rPr sz="1875" dirty="0"/>
              <a:t> descent!</a:t>
            </a:r>
          </a:p>
        </p:txBody>
      </p:sp>
      <p:sp>
        <p:nvSpPr>
          <p:cNvPr id="5459" name="2D Example:…"/>
          <p:cNvSpPr txBox="1"/>
          <p:nvPr/>
        </p:nvSpPr>
        <p:spPr>
          <a:xfrm>
            <a:off x="4661546" y="2146877"/>
            <a:ext cx="3858360" cy="1790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/>
          <a:lstStyle/>
          <a:p>
            <a:pPr lvl="2" defTabSz="308074">
              <a:spcBef>
                <a:spcPts val="750"/>
              </a:spcBef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1875"/>
              <a:t>2D Example: </a:t>
            </a:r>
          </a:p>
          <a:p>
            <a:pPr marL="285750" lvl="2" indent="-285750" defTabSz="308074">
              <a:spcBef>
                <a:spcPts val="375"/>
              </a:spcBef>
              <a:buSzPct val="125000"/>
              <a:buChar char="•"/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1875"/>
              <a:t>Function values are in black/white and black represents higher values</a:t>
            </a:r>
          </a:p>
          <a:p>
            <a:pPr marL="285750" lvl="2" indent="-285750" defTabSz="308074">
              <a:spcBef>
                <a:spcPts val="375"/>
              </a:spcBef>
              <a:buSzPct val="125000"/>
              <a:buChar char="•"/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1875"/>
              <a:t>Arrows are gradients</a:t>
            </a:r>
          </a:p>
        </p:txBody>
      </p:sp>
      <p:grpSp>
        <p:nvGrpSpPr>
          <p:cNvPr id="5462" name="Group"/>
          <p:cNvGrpSpPr/>
          <p:nvPr/>
        </p:nvGrpSpPr>
        <p:grpSpPr>
          <a:xfrm>
            <a:off x="524621" y="2052479"/>
            <a:ext cx="3820665" cy="2151726"/>
            <a:chOff x="0" y="0"/>
            <a:chExt cx="10188440" cy="5737936"/>
          </a:xfrm>
        </p:grpSpPr>
        <p:sp>
          <p:nvSpPr>
            <p:cNvPr id="5460" name="&quot;Gradient2&quot; by Sarang. Licensed under CC BY-SA 2.5 via Wikimedia Commons…"/>
            <p:cNvSpPr txBox="1"/>
            <p:nvPr/>
          </p:nvSpPr>
          <p:spPr>
            <a:xfrm>
              <a:off x="1395629" y="5101224"/>
              <a:ext cx="7397184" cy="6367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6789" tIns="26789" rIns="26789" bIns="26789" numCol="1" anchor="ctr">
              <a:spAutoFit/>
            </a:bodyPr>
            <a:lstStyle/>
            <a:p>
              <a:pPr defTabSz="17145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r>
                <a:rPr sz="600"/>
                <a:t>"Gradient2" by Sarang. Licensed under CC BY-SA 2.5 via Wikimedia Commons </a:t>
              </a:r>
            </a:p>
            <a:p>
              <a:pPr defTabSz="171450">
                <a:defRPr sz="1600">
                  <a:latin typeface="+mn-lt"/>
                  <a:ea typeface="+mn-ea"/>
                  <a:cs typeface="+mn-cs"/>
                  <a:sym typeface="Helvetica"/>
                </a:defRPr>
              </a:pPr>
              <a:r>
                <a:rPr sz="600" u="sng">
                  <a:solidFill>
                    <a:srgbClr val="0000FF"/>
                  </a:solidFill>
                  <a:hlinkClick r:id="rId3"/>
                </a:rPr>
                <a:t>http://commons.wikimedia.org/wiki/File:Gradient2.svg#/media/File:Gradient2.svg</a:t>
              </a:r>
            </a:p>
          </p:txBody>
        </p:sp>
        <p:pic>
          <p:nvPicPr>
            <p:cNvPr id="5461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10188440" cy="507384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5469" name="Group"/>
          <p:cNvGrpSpPr/>
          <p:nvPr/>
        </p:nvGrpSpPr>
        <p:grpSpPr>
          <a:xfrm>
            <a:off x="4677850" y="4264822"/>
            <a:ext cx="4153825" cy="1094924"/>
            <a:chOff x="0" y="376237"/>
            <a:chExt cx="11076864" cy="2919796"/>
          </a:xfrm>
        </p:grpSpPr>
        <p:sp>
          <p:nvSpPr>
            <p:cNvPr id="5463" name="Rounded Rectangle"/>
            <p:cNvSpPr/>
            <p:nvPr/>
          </p:nvSpPr>
          <p:spPr>
            <a:xfrm>
              <a:off x="0" y="914722"/>
              <a:ext cx="11076864" cy="1774759"/>
            </a:xfrm>
            <a:prstGeom prst="roundRect">
              <a:avLst>
                <a:gd name="adj" fmla="val 5721"/>
              </a:avLst>
            </a:prstGeom>
            <a:solidFill>
              <a:srgbClr val="A8D6FF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308074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464" name="Update Rule:"/>
            <p:cNvSpPr/>
            <p:nvPr/>
          </p:nvSpPr>
          <p:spPr>
            <a:xfrm>
              <a:off x="263989" y="202603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 algn="l" defTabSz="457200">
                <a:defRPr sz="5000" b="1"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1875" dirty="0"/>
                <a:t>Update Rule:</a:t>
              </a:r>
              <a:r>
                <a:rPr lang="en-US" sz="1875" dirty="0"/>
                <a:t>  </a:t>
              </a:r>
              <a:endParaRPr sz="1875" dirty="0"/>
            </a:p>
          </p:txBody>
        </p:sp>
        <p:grpSp>
          <p:nvGrpSpPr>
            <p:cNvPr id="5467" name="Group"/>
            <p:cNvGrpSpPr/>
            <p:nvPr/>
          </p:nvGrpSpPr>
          <p:grpSpPr>
            <a:xfrm>
              <a:off x="7282043" y="376237"/>
              <a:ext cx="1270001" cy="1482613"/>
              <a:chOff x="1164976" y="376237"/>
              <a:chExt cx="1270000" cy="1482612"/>
            </a:xfrm>
          </p:grpSpPr>
          <p:sp>
            <p:nvSpPr>
              <p:cNvPr id="5465" name="Step Size"/>
              <p:cNvSpPr/>
              <p:nvPr/>
            </p:nvSpPr>
            <p:spPr>
              <a:xfrm>
                <a:off x="1164976" y="376237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26789" tIns="26789" rIns="26789" bIns="26789" numCol="1" anchor="ctr">
                <a:spAutoFit/>
              </a:bodyPr>
              <a:lstStyle>
                <a:lvl1pPr defTabSz="457200">
                  <a:defRPr sz="4000">
                    <a:latin typeface="+mn-lt"/>
                    <a:ea typeface="+mn-ea"/>
                    <a:cs typeface="+mn-cs"/>
                    <a:sym typeface="Helvetica"/>
                  </a:defRPr>
                </a:lvl1pPr>
              </a:lstStyle>
              <a:p>
                <a:r>
                  <a:rPr sz="1500"/>
                  <a:t>Step Size</a:t>
                </a:r>
              </a:p>
            </p:txBody>
          </p:sp>
          <p:sp>
            <p:nvSpPr>
              <p:cNvPr id="5466" name="Line"/>
              <p:cNvSpPr/>
              <p:nvPr/>
            </p:nvSpPr>
            <p:spPr>
              <a:xfrm>
                <a:off x="1542594" y="745370"/>
                <a:ext cx="285472" cy="111348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</p:grpSp>
        <p:pic>
          <p:nvPicPr>
            <p:cNvPr id="5468" name="Image" descr="Image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4325911" y="1686444"/>
              <a:ext cx="6667500" cy="7112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470" name="Splitting computation across the network"/>
          <p:cNvSpPr txBox="1"/>
          <p:nvPr/>
        </p:nvSpPr>
        <p:spPr>
          <a:xfrm>
            <a:off x="710868" y="1202607"/>
            <a:ext cx="7493711" cy="609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7144" tIns="17144" rIns="17144" bIns="17144">
            <a:normAutofit/>
          </a:bodyPr>
          <a:lstStyle>
            <a:lvl1pPr algn="l" defTabSz="2438522">
              <a:tabLst>
                <a:tab pos="3632200" algn="l"/>
              </a:tabLst>
              <a:defRPr sz="80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3000"/>
              <a:t>Choosing a descent direction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71" name="Equation"/>
              <p:cNvSpPr txBox="1"/>
              <p:nvPr/>
            </p:nvSpPr>
            <p:spPr>
              <a:xfrm>
                <a:off x="3243484" y="4756417"/>
                <a:ext cx="1034519" cy="37587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0" tIns="0" rIns="0" bIns="0">
                <a:spAutoFit/>
              </a:bodyPr>
              <a:lstStyle/>
              <a:p>
                <a:pPr defTabSz="3429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547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484" y="4756417"/>
                <a:ext cx="1034519" cy="375872"/>
              </a:xfrm>
              <a:prstGeom prst="rect">
                <a:avLst/>
              </a:prstGeom>
              <a:blipFill>
                <a:blip r:embed="rId6"/>
                <a:stretch>
                  <a:fillRect b="-6452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5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58" grpId="0" animBg="1" advAuto="0"/>
      <p:bldP spid="5469" grpId="0" animBg="1" advAuto="0"/>
      <p:bldP spid="5471" grpId="0" animBg="1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2" name="Theoretical convergence results for various step sizes…"/>
          <p:cNvSpPr txBox="1"/>
          <p:nvPr/>
        </p:nvSpPr>
        <p:spPr>
          <a:xfrm>
            <a:off x="1879296" y="4554646"/>
            <a:ext cx="6810328" cy="1011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/>
          <a:lstStyle/>
          <a:p>
            <a:pPr lvl="2" indent="171450" defTabSz="308074">
              <a:spcBef>
                <a:spcPts val="2063"/>
              </a:spcBef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1875" dirty="0"/>
              <a:t>Theoretical convergence results for various step sizes</a:t>
            </a:r>
          </a:p>
          <a:p>
            <a:pPr lvl="2" indent="171450" defTabSz="308074">
              <a:spcBef>
                <a:spcPts val="750"/>
              </a:spcBef>
              <a:defRPr sz="5000">
                <a:latin typeface="+mn-lt"/>
                <a:ea typeface="+mn-ea"/>
                <a:cs typeface="+mn-cs"/>
                <a:sym typeface="Helvetica"/>
              </a:defRPr>
            </a:pPr>
            <a:r>
              <a:rPr sz="1875" dirty="0"/>
              <a:t>A common step size is                 </a:t>
            </a:r>
          </a:p>
        </p:txBody>
      </p:sp>
      <p:grpSp>
        <p:nvGrpSpPr>
          <p:cNvPr id="5525" name="Group"/>
          <p:cNvGrpSpPr/>
          <p:nvPr/>
        </p:nvGrpSpPr>
        <p:grpSpPr>
          <a:xfrm>
            <a:off x="296143" y="1890613"/>
            <a:ext cx="2831687" cy="2626815"/>
            <a:chOff x="0" y="0"/>
            <a:chExt cx="7551163" cy="7004839"/>
          </a:xfrm>
        </p:grpSpPr>
        <p:sp>
          <p:nvSpPr>
            <p:cNvPr id="5493" name="Too small: converge very slowly"/>
            <p:cNvSpPr txBox="1"/>
            <p:nvPr/>
          </p:nvSpPr>
          <p:spPr>
            <a:xfrm>
              <a:off x="918670" y="5182199"/>
              <a:ext cx="6632494" cy="1822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6789" tIns="26789" rIns="26789" bIns="26789" numCol="1" anchor="ctr">
              <a:noAutofit/>
            </a:bodyPr>
            <a:lstStyle>
              <a:lvl1pPr defTabSz="457200">
                <a:defRPr sz="4000"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1500"/>
                <a:t>Too small: converge very slowly</a:t>
              </a:r>
            </a:p>
          </p:txBody>
        </p:sp>
        <p:grpSp>
          <p:nvGrpSpPr>
            <p:cNvPr id="5502" name="Group"/>
            <p:cNvGrpSpPr/>
            <p:nvPr/>
          </p:nvGrpSpPr>
          <p:grpSpPr>
            <a:xfrm>
              <a:off x="0" y="0"/>
              <a:ext cx="7140251" cy="6067246"/>
              <a:chOff x="0" y="0"/>
              <a:chExt cx="7140250" cy="6067246"/>
            </a:xfrm>
          </p:grpSpPr>
          <p:sp>
            <p:nvSpPr>
              <p:cNvPr id="5494" name="w"/>
              <p:cNvSpPr txBox="1"/>
              <p:nvPr/>
            </p:nvSpPr>
            <p:spPr>
              <a:xfrm>
                <a:off x="6454559" y="4993149"/>
                <a:ext cx="685692" cy="10740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26789" tIns="26789" rIns="26789" bIns="26789" numCol="1" anchor="ctr">
                <a:noAutofit/>
              </a:bodyPr>
              <a:lstStyle>
                <a:lvl1pPr algn="l" defTabSz="457200">
                  <a:defRPr sz="4600" i="1">
                    <a:latin typeface="Times Roman"/>
                    <a:ea typeface="Times Roman"/>
                    <a:cs typeface="Times Roman"/>
                    <a:sym typeface="Times Roman"/>
                  </a:defRPr>
                </a:lvl1pPr>
              </a:lstStyle>
              <a:p>
                <a:r>
                  <a:rPr sz="1725"/>
                  <a:t>w</a:t>
                </a:r>
              </a:p>
            </p:txBody>
          </p:sp>
          <p:sp>
            <p:nvSpPr>
              <p:cNvPr id="5495" name="f(w)"/>
              <p:cNvSpPr txBox="1"/>
              <p:nvPr/>
            </p:nvSpPr>
            <p:spPr>
              <a:xfrm>
                <a:off x="0" y="0"/>
                <a:ext cx="1379134" cy="10740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26789" tIns="26789" rIns="26789" bIns="26789" numCol="1" anchor="ctr">
                <a:noAutofit/>
              </a:bodyPr>
              <a:lstStyle>
                <a:lvl1pPr algn="l" defTabSz="457200">
                  <a:defRPr sz="4600" i="1">
                    <a:latin typeface="Times Roman"/>
                    <a:ea typeface="Times Roman"/>
                    <a:cs typeface="Times Roman"/>
                    <a:sym typeface="Times Roman"/>
                  </a:defRPr>
                </a:lvl1pPr>
              </a:lstStyle>
              <a:p>
                <a:r>
                  <a:rPr sz="1725"/>
                  <a:t>f(w)</a:t>
                </a:r>
              </a:p>
            </p:txBody>
          </p:sp>
          <p:sp>
            <p:nvSpPr>
              <p:cNvPr id="5496" name="w*"/>
              <p:cNvSpPr txBox="1"/>
              <p:nvPr/>
            </p:nvSpPr>
            <p:spPr>
              <a:xfrm>
                <a:off x="3852986" y="5057036"/>
                <a:ext cx="834730" cy="9463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4000"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500" i="1">
                    <a:latin typeface="Times Roman"/>
                    <a:ea typeface="Times Roman"/>
                    <a:cs typeface="Times Roman"/>
                    <a:sym typeface="Times Roman"/>
                  </a:rPr>
                  <a:t>w</a:t>
                </a:r>
                <a:r>
                  <a:rPr sz="1500" i="1" baseline="31999">
                    <a:latin typeface="Times Roman"/>
                    <a:ea typeface="Times Roman"/>
                    <a:cs typeface="Times Roman"/>
                    <a:sym typeface="Times Roman"/>
                  </a:rPr>
                  <a:t>*</a:t>
                </a:r>
              </a:p>
            </p:txBody>
          </p:sp>
          <p:sp>
            <p:nvSpPr>
              <p:cNvPr id="5584" name="Connection Line"/>
              <p:cNvSpPr/>
              <p:nvPr/>
            </p:nvSpPr>
            <p:spPr>
              <a:xfrm>
                <a:off x="2164875" y="283968"/>
                <a:ext cx="4001630" cy="41422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201" extrusionOk="0">
                    <a:moveTo>
                      <a:pt x="21600" y="0"/>
                    </a:moveTo>
                    <a:cubicBezTo>
                      <a:pt x="15287" y="21473"/>
                      <a:pt x="8087" y="21600"/>
                      <a:pt x="0" y="381"/>
                    </a:cubicBezTo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/>
              <a:lstStyle/>
              <a:p>
                <a:endParaRPr sz="675"/>
              </a:p>
            </p:txBody>
          </p:sp>
          <p:sp>
            <p:nvSpPr>
              <p:cNvPr id="5498" name="Line"/>
              <p:cNvSpPr/>
              <p:nvPr/>
            </p:nvSpPr>
            <p:spPr>
              <a:xfrm flipV="1">
                <a:off x="1457753" y="290070"/>
                <a:ext cx="1" cy="4863289"/>
              </a:xfrm>
              <a:prstGeom prst="line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499" name="Line"/>
              <p:cNvSpPr/>
              <p:nvPr/>
            </p:nvSpPr>
            <p:spPr>
              <a:xfrm>
                <a:off x="1464678" y="5145041"/>
                <a:ext cx="5611345" cy="1"/>
              </a:xfrm>
              <a:prstGeom prst="line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500" name="Line"/>
              <p:cNvSpPr/>
              <p:nvPr/>
            </p:nvSpPr>
            <p:spPr>
              <a:xfrm flipV="1">
                <a:off x="4214212" y="4528946"/>
                <a:ext cx="1" cy="667553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501" name="Circle"/>
              <p:cNvSpPr/>
              <p:nvPr/>
            </p:nvSpPr>
            <p:spPr>
              <a:xfrm>
                <a:off x="4102371" y="4323568"/>
                <a:ext cx="228617" cy="228616"/>
              </a:xfrm>
              <a:prstGeom prst="ellipse">
                <a:avLst/>
              </a:prstGeom>
              <a:solidFill>
                <a:srgbClr val="0365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</p:grpSp>
        <p:sp>
          <p:nvSpPr>
            <p:cNvPr id="5503" name="Line"/>
            <p:cNvSpPr/>
            <p:nvPr/>
          </p:nvSpPr>
          <p:spPr>
            <a:xfrm>
              <a:off x="2323315" y="927364"/>
              <a:ext cx="129049" cy="1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04" name="Line"/>
            <p:cNvSpPr/>
            <p:nvPr/>
          </p:nvSpPr>
          <p:spPr>
            <a:xfrm>
              <a:off x="2412215" y="1168664"/>
              <a:ext cx="129049" cy="1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05" name="Line"/>
            <p:cNvSpPr/>
            <p:nvPr/>
          </p:nvSpPr>
          <p:spPr>
            <a:xfrm flipV="1">
              <a:off x="2424333" y="901688"/>
              <a:ext cx="1" cy="292386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06" name="Line"/>
            <p:cNvSpPr/>
            <p:nvPr/>
          </p:nvSpPr>
          <p:spPr>
            <a:xfrm>
              <a:off x="2501115" y="1422664"/>
              <a:ext cx="129049" cy="1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07" name="Line"/>
            <p:cNvSpPr/>
            <p:nvPr/>
          </p:nvSpPr>
          <p:spPr>
            <a:xfrm flipV="1">
              <a:off x="2500533" y="1155964"/>
              <a:ext cx="12701" cy="292110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08" name="Line"/>
            <p:cNvSpPr/>
            <p:nvPr/>
          </p:nvSpPr>
          <p:spPr>
            <a:xfrm>
              <a:off x="2590015" y="1676664"/>
              <a:ext cx="129049" cy="1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09" name="Line"/>
            <p:cNvSpPr/>
            <p:nvPr/>
          </p:nvSpPr>
          <p:spPr>
            <a:xfrm flipV="1">
              <a:off x="2589433" y="1409964"/>
              <a:ext cx="25401" cy="292110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10" name="Line"/>
            <p:cNvSpPr/>
            <p:nvPr/>
          </p:nvSpPr>
          <p:spPr>
            <a:xfrm flipV="1">
              <a:off x="2678333" y="1651264"/>
              <a:ext cx="25401" cy="292110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11" name="Line"/>
            <p:cNvSpPr/>
            <p:nvPr/>
          </p:nvSpPr>
          <p:spPr>
            <a:xfrm>
              <a:off x="2653515" y="1943364"/>
              <a:ext cx="129049" cy="1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12" name="Line"/>
            <p:cNvSpPr/>
            <p:nvPr/>
          </p:nvSpPr>
          <p:spPr>
            <a:xfrm flipV="1">
              <a:off x="2754533" y="1917964"/>
              <a:ext cx="12701" cy="292110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13" name="Line"/>
            <p:cNvSpPr/>
            <p:nvPr/>
          </p:nvSpPr>
          <p:spPr>
            <a:xfrm>
              <a:off x="2729715" y="2184664"/>
              <a:ext cx="129049" cy="1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14" name="Line"/>
            <p:cNvSpPr/>
            <p:nvPr/>
          </p:nvSpPr>
          <p:spPr>
            <a:xfrm flipH="1" flipV="1">
              <a:off x="2843433" y="2159264"/>
              <a:ext cx="12701" cy="292110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15" name="Line"/>
            <p:cNvSpPr/>
            <p:nvPr/>
          </p:nvSpPr>
          <p:spPr>
            <a:xfrm>
              <a:off x="2831315" y="2438664"/>
              <a:ext cx="129049" cy="1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16" name="Line"/>
            <p:cNvSpPr/>
            <p:nvPr/>
          </p:nvSpPr>
          <p:spPr>
            <a:xfrm flipH="1" flipV="1">
              <a:off x="2932333" y="2413264"/>
              <a:ext cx="12701" cy="292110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17" name="Line"/>
            <p:cNvSpPr/>
            <p:nvPr/>
          </p:nvSpPr>
          <p:spPr>
            <a:xfrm>
              <a:off x="2920215" y="2692664"/>
              <a:ext cx="129049" cy="1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18" name="Line"/>
            <p:cNvSpPr/>
            <p:nvPr/>
          </p:nvSpPr>
          <p:spPr>
            <a:xfrm flipH="1" flipV="1">
              <a:off x="3033933" y="2667264"/>
              <a:ext cx="12701" cy="292110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19" name="Line"/>
            <p:cNvSpPr/>
            <p:nvPr/>
          </p:nvSpPr>
          <p:spPr>
            <a:xfrm>
              <a:off x="3034515" y="2946664"/>
              <a:ext cx="129049" cy="1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20" name="Line"/>
            <p:cNvSpPr/>
            <p:nvPr/>
          </p:nvSpPr>
          <p:spPr>
            <a:xfrm flipH="1" flipV="1">
              <a:off x="3160933" y="2921264"/>
              <a:ext cx="12701" cy="292110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21" name="Line"/>
            <p:cNvSpPr/>
            <p:nvPr/>
          </p:nvSpPr>
          <p:spPr>
            <a:xfrm>
              <a:off x="3161515" y="3200664"/>
              <a:ext cx="129049" cy="1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22" name="Line"/>
            <p:cNvSpPr/>
            <p:nvPr/>
          </p:nvSpPr>
          <p:spPr>
            <a:xfrm flipH="1" flipV="1">
              <a:off x="3287933" y="3175264"/>
              <a:ext cx="12701" cy="292110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23" name="Line"/>
            <p:cNvSpPr/>
            <p:nvPr/>
          </p:nvSpPr>
          <p:spPr>
            <a:xfrm>
              <a:off x="3352015" y="3454664"/>
              <a:ext cx="129049" cy="1"/>
            </a:xfrm>
            <a:prstGeom prst="line">
              <a:avLst/>
            </a:prstGeom>
            <a:noFill/>
            <a:ln w="25400" cap="flat">
              <a:solidFill>
                <a:srgbClr val="FF26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24" name="Line"/>
            <p:cNvSpPr/>
            <p:nvPr/>
          </p:nvSpPr>
          <p:spPr>
            <a:xfrm>
              <a:off x="3288515" y="3454664"/>
              <a:ext cx="129049" cy="1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</p:grpSp>
      <p:grpSp>
        <p:nvGrpSpPr>
          <p:cNvPr id="5546" name="Group"/>
          <p:cNvGrpSpPr/>
          <p:nvPr/>
        </p:nvGrpSpPr>
        <p:grpSpPr>
          <a:xfrm>
            <a:off x="3124347" y="1890613"/>
            <a:ext cx="2864969" cy="2626815"/>
            <a:chOff x="0" y="0"/>
            <a:chExt cx="7639916" cy="7004839"/>
          </a:xfrm>
        </p:grpSpPr>
        <p:sp>
          <p:nvSpPr>
            <p:cNvPr id="5526" name="Too big: overshoot, can diverge"/>
            <p:cNvSpPr txBox="1"/>
            <p:nvPr/>
          </p:nvSpPr>
          <p:spPr>
            <a:xfrm>
              <a:off x="882475" y="5182199"/>
              <a:ext cx="6757442" cy="1822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6789" tIns="26789" rIns="26789" bIns="26789" numCol="1" anchor="ctr">
              <a:noAutofit/>
            </a:bodyPr>
            <a:lstStyle>
              <a:lvl1pPr defTabSz="457200">
                <a:defRPr sz="4000"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1500"/>
                <a:t>Too big: overshoot, can diverge</a:t>
              </a:r>
            </a:p>
          </p:txBody>
        </p:sp>
        <p:grpSp>
          <p:nvGrpSpPr>
            <p:cNvPr id="5535" name="Group"/>
            <p:cNvGrpSpPr/>
            <p:nvPr/>
          </p:nvGrpSpPr>
          <p:grpSpPr>
            <a:xfrm>
              <a:off x="0" y="0"/>
              <a:ext cx="7140251" cy="6067246"/>
              <a:chOff x="0" y="0"/>
              <a:chExt cx="7140250" cy="6067246"/>
            </a:xfrm>
          </p:grpSpPr>
          <p:sp>
            <p:nvSpPr>
              <p:cNvPr id="5527" name="w"/>
              <p:cNvSpPr txBox="1"/>
              <p:nvPr/>
            </p:nvSpPr>
            <p:spPr>
              <a:xfrm>
                <a:off x="6454559" y="4993149"/>
                <a:ext cx="685692" cy="10740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26789" tIns="26789" rIns="26789" bIns="26789" numCol="1" anchor="ctr">
                <a:noAutofit/>
              </a:bodyPr>
              <a:lstStyle>
                <a:lvl1pPr algn="l" defTabSz="457200">
                  <a:defRPr sz="4600" i="1">
                    <a:latin typeface="Times Roman"/>
                    <a:ea typeface="Times Roman"/>
                    <a:cs typeface="Times Roman"/>
                    <a:sym typeface="Times Roman"/>
                  </a:defRPr>
                </a:lvl1pPr>
              </a:lstStyle>
              <a:p>
                <a:r>
                  <a:rPr sz="1725"/>
                  <a:t>w</a:t>
                </a:r>
              </a:p>
            </p:txBody>
          </p:sp>
          <p:sp>
            <p:nvSpPr>
              <p:cNvPr id="5528" name="f(w)"/>
              <p:cNvSpPr txBox="1"/>
              <p:nvPr/>
            </p:nvSpPr>
            <p:spPr>
              <a:xfrm>
                <a:off x="0" y="0"/>
                <a:ext cx="1379134" cy="10740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26789" tIns="26789" rIns="26789" bIns="26789" numCol="1" anchor="ctr">
                <a:noAutofit/>
              </a:bodyPr>
              <a:lstStyle>
                <a:lvl1pPr algn="l" defTabSz="457200">
                  <a:defRPr sz="4600" i="1">
                    <a:latin typeface="Times Roman"/>
                    <a:ea typeface="Times Roman"/>
                    <a:cs typeface="Times Roman"/>
                    <a:sym typeface="Times Roman"/>
                  </a:defRPr>
                </a:lvl1pPr>
              </a:lstStyle>
              <a:p>
                <a:r>
                  <a:rPr sz="1725"/>
                  <a:t>f(w)</a:t>
                </a:r>
              </a:p>
            </p:txBody>
          </p:sp>
          <p:sp>
            <p:nvSpPr>
              <p:cNvPr id="5529" name="w*"/>
              <p:cNvSpPr txBox="1"/>
              <p:nvPr/>
            </p:nvSpPr>
            <p:spPr>
              <a:xfrm>
                <a:off x="3852986" y="5057036"/>
                <a:ext cx="834730" cy="9463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4000"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500" i="1">
                    <a:latin typeface="Times Roman"/>
                    <a:ea typeface="Times Roman"/>
                    <a:cs typeface="Times Roman"/>
                    <a:sym typeface="Times Roman"/>
                  </a:rPr>
                  <a:t>w</a:t>
                </a:r>
                <a:r>
                  <a:rPr sz="1500" i="1" baseline="31999">
                    <a:latin typeface="Times Roman"/>
                    <a:ea typeface="Times Roman"/>
                    <a:cs typeface="Times Roman"/>
                    <a:sym typeface="Times Roman"/>
                  </a:rPr>
                  <a:t>*</a:t>
                </a:r>
              </a:p>
            </p:txBody>
          </p:sp>
          <p:sp>
            <p:nvSpPr>
              <p:cNvPr id="5585" name="Connection Line"/>
              <p:cNvSpPr/>
              <p:nvPr/>
            </p:nvSpPr>
            <p:spPr>
              <a:xfrm>
                <a:off x="2164875" y="283968"/>
                <a:ext cx="4001630" cy="41422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201" extrusionOk="0">
                    <a:moveTo>
                      <a:pt x="21600" y="0"/>
                    </a:moveTo>
                    <a:cubicBezTo>
                      <a:pt x="15287" y="21473"/>
                      <a:pt x="8087" y="21600"/>
                      <a:pt x="0" y="381"/>
                    </a:cubicBezTo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/>
              <a:lstStyle/>
              <a:p>
                <a:endParaRPr sz="675"/>
              </a:p>
            </p:txBody>
          </p:sp>
          <p:sp>
            <p:nvSpPr>
              <p:cNvPr id="5531" name="Line"/>
              <p:cNvSpPr/>
              <p:nvPr/>
            </p:nvSpPr>
            <p:spPr>
              <a:xfrm flipV="1">
                <a:off x="1457753" y="290070"/>
                <a:ext cx="1" cy="4863289"/>
              </a:xfrm>
              <a:prstGeom prst="line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532" name="Line"/>
              <p:cNvSpPr/>
              <p:nvPr/>
            </p:nvSpPr>
            <p:spPr>
              <a:xfrm>
                <a:off x="1464678" y="5145041"/>
                <a:ext cx="5611345" cy="1"/>
              </a:xfrm>
              <a:prstGeom prst="line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533" name="Line"/>
              <p:cNvSpPr/>
              <p:nvPr/>
            </p:nvSpPr>
            <p:spPr>
              <a:xfrm flipV="1">
                <a:off x="4214212" y="4528946"/>
                <a:ext cx="1" cy="667553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534" name="Circle"/>
              <p:cNvSpPr/>
              <p:nvPr/>
            </p:nvSpPr>
            <p:spPr>
              <a:xfrm>
                <a:off x="4102371" y="4323568"/>
                <a:ext cx="228617" cy="228616"/>
              </a:xfrm>
              <a:prstGeom prst="ellipse">
                <a:avLst/>
              </a:prstGeom>
              <a:solidFill>
                <a:srgbClr val="0365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</p:grpSp>
        <p:sp>
          <p:nvSpPr>
            <p:cNvPr id="5536" name="Line"/>
            <p:cNvSpPr/>
            <p:nvPr/>
          </p:nvSpPr>
          <p:spPr>
            <a:xfrm>
              <a:off x="2367571" y="1037430"/>
              <a:ext cx="3535704" cy="388476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37" name="Line"/>
            <p:cNvSpPr/>
            <p:nvPr/>
          </p:nvSpPr>
          <p:spPr>
            <a:xfrm flipV="1">
              <a:off x="2535622" y="1417442"/>
              <a:ext cx="3347311" cy="245270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38" name="Line"/>
            <p:cNvSpPr/>
            <p:nvPr/>
          </p:nvSpPr>
          <p:spPr>
            <a:xfrm>
              <a:off x="2545371" y="1659730"/>
              <a:ext cx="3180104" cy="296255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39" name="Line"/>
            <p:cNvSpPr/>
            <p:nvPr/>
          </p:nvSpPr>
          <p:spPr>
            <a:xfrm flipV="1">
              <a:off x="2756979" y="1950841"/>
              <a:ext cx="2998954" cy="286099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40" name="Line"/>
            <p:cNvSpPr/>
            <p:nvPr/>
          </p:nvSpPr>
          <p:spPr>
            <a:xfrm>
              <a:off x="2773972" y="2243931"/>
              <a:ext cx="2870612" cy="154321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41" name="Line"/>
            <p:cNvSpPr/>
            <p:nvPr/>
          </p:nvSpPr>
          <p:spPr>
            <a:xfrm flipV="1">
              <a:off x="2871278" y="2395341"/>
              <a:ext cx="2770355" cy="186000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42" name="Line"/>
            <p:cNvSpPr/>
            <p:nvPr/>
          </p:nvSpPr>
          <p:spPr>
            <a:xfrm>
              <a:off x="2875571" y="2586831"/>
              <a:ext cx="2667412" cy="150873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43" name="Line"/>
            <p:cNvSpPr/>
            <p:nvPr/>
          </p:nvSpPr>
          <p:spPr>
            <a:xfrm flipV="1">
              <a:off x="3010978" y="2738241"/>
              <a:ext cx="2516355" cy="164643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44" name="Line"/>
            <p:cNvSpPr/>
            <p:nvPr/>
          </p:nvSpPr>
          <p:spPr>
            <a:xfrm>
              <a:off x="3015272" y="2904331"/>
              <a:ext cx="1815495" cy="135296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45" name="Line"/>
            <p:cNvSpPr/>
            <p:nvPr/>
          </p:nvSpPr>
          <p:spPr>
            <a:xfrm>
              <a:off x="3116872" y="2917031"/>
              <a:ext cx="1815495" cy="135296"/>
            </a:xfrm>
            <a:prstGeom prst="line">
              <a:avLst/>
            </a:prstGeom>
            <a:noFill/>
            <a:ln w="25400" cap="flat">
              <a:solidFill>
                <a:srgbClr val="FF26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</p:grpSp>
      <p:grpSp>
        <p:nvGrpSpPr>
          <p:cNvPr id="5571" name="Group"/>
          <p:cNvGrpSpPr/>
          <p:nvPr/>
        </p:nvGrpSpPr>
        <p:grpSpPr>
          <a:xfrm>
            <a:off x="5952551" y="1890613"/>
            <a:ext cx="2813130" cy="2641103"/>
            <a:chOff x="0" y="0"/>
            <a:chExt cx="7501678" cy="7042939"/>
          </a:xfrm>
        </p:grpSpPr>
        <p:sp>
          <p:nvSpPr>
            <p:cNvPr id="5547" name="Reduce size over time"/>
            <p:cNvSpPr txBox="1"/>
            <p:nvPr/>
          </p:nvSpPr>
          <p:spPr>
            <a:xfrm>
              <a:off x="1153787" y="5220299"/>
              <a:ext cx="6347892" cy="1822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6789" tIns="26789" rIns="26789" bIns="26789" numCol="1" anchor="ctr">
              <a:noAutofit/>
            </a:bodyPr>
            <a:lstStyle>
              <a:lvl1pPr defTabSz="457200">
                <a:defRPr sz="4000"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1500"/>
                <a:t>Reduce size over time</a:t>
              </a:r>
            </a:p>
          </p:txBody>
        </p:sp>
        <p:grpSp>
          <p:nvGrpSpPr>
            <p:cNvPr id="5556" name="Group"/>
            <p:cNvGrpSpPr/>
            <p:nvPr/>
          </p:nvGrpSpPr>
          <p:grpSpPr>
            <a:xfrm>
              <a:off x="0" y="0"/>
              <a:ext cx="7140251" cy="6067246"/>
              <a:chOff x="0" y="0"/>
              <a:chExt cx="7140250" cy="6067246"/>
            </a:xfrm>
          </p:grpSpPr>
          <p:sp>
            <p:nvSpPr>
              <p:cNvPr id="5548" name="w"/>
              <p:cNvSpPr txBox="1"/>
              <p:nvPr/>
            </p:nvSpPr>
            <p:spPr>
              <a:xfrm>
                <a:off x="6454559" y="4993149"/>
                <a:ext cx="685692" cy="10740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26789" tIns="26789" rIns="26789" bIns="26789" numCol="1" anchor="ctr">
                <a:noAutofit/>
              </a:bodyPr>
              <a:lstStyle>
                <a:lvl1pPr algn="l" defTabSz="457200">
                  <a:defRPr sz="4600" i="1">
                    <a:latin typeface="Times Roman"/>
                    <a:ea typeface="Times Roman"/>
                    <a:cs typeface="Times Roman"/>
                    <a:sym typeface="Times Roman"/>
                  </a:defRPr>
                </a:lvl1pPr>
              </a:lstStyle>
              <a:p>
                <a:r>
                  <a:rPr sz="1725"/>
                  <a:t>w</a:t>
                </a:r>
              </a:p>
            </p:txBody>
          </p:sp>
          <p:sp>
            <p:nvSpPr>
              <p:cNvPr id="5549" name="f(w)"/>
              <p:cNvSpPr txBox="1"/>
              <p:nvPr/>
            </p:nvSpPr>
            <p:spPr>
              <a:xfrm>
                <a:off x="0" y="0"/>
                <a:ext cx="1379134" cy="10740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26789" tIns="26789" rIns="26789" bIns="26789" numCol="1" anchor="ctr">
                <a:noAutofit/>
              </a:bodyPr>
              <a:lstStyle>
                <a:lvl1pPr algn="l" defTabSz="457200">
                  <a:defRPr sz="4600" i="1">
                    <a:latin typeface="Times Roman"/>
                    <a:ea typeface="Times Roman"/>
                    <a:cs typeface="Times Roman"/>
                    <a:sym typeface="Times Roman"/>
                  </a:defRPr>
                </a:lvl1pPr>
              </a:lstStyle>
              <a:p>
                <a:r>
                  <a:rPr sz="1725"/>
                  <a:t>f(w)</a:t>
                </a:r>
              </a:p>
            </p:txBody>
          </p:sp>
          <p:sp>
            <p:nvSpPr>
              <p:cNvPr id="5550" name="w*"/>
              <p:cNvSpPr txBox="1"/>
              <p:nvPr/>
            </p:nvSpPr>
            <p:spPr>
              <a:xfrm>
                <a:off x="3852986" y="5057036"/>
                <a:ext cx="834730" cy="9463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308074">
                  <a:defRPr sz="4000"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sz="1500" i="1">
                    <a:latin typeface="Times Roman"/>
                    <a:ea typeface="Times Roman"/>
                    <a:cs typeface="Times Roman"/>
                    <a:sym typeface="Times Roman"/>
                  </a:rPr>
                  <a:t>w</a:t>
                </a:r>
                <a:r>
                  <a:rPr sz="1500" i="1" baseline="31999">
                    <a:latin typeface="Times Roman"/>
                    <a:ea typeface="Times Roman"/>
                    <a:cs typeface="Times Roman"/>
                    <a:sym typeface="Times Roman"/>
                  </a:rPr>
                  <a:t>*</a:t>
                </a:r>
              </a:p>
            </p:txBody>
          </p:sp>
          <p:sp>
            <p:nvSpPr>
              <p:cNvPr id="5586" name="Connection Line"/>
              <p:cNvSpPr/>
              <p:nvPr/>
            </p:nvSpPr>
            <p:spPr>
              <a:xfrm>
                <a:off x="2164875" y="283968"/>
                <a:ext cx="4001630" cy="41422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201" extrusionOk="0">
                    <a:moveTo>
                      <a:pt x="21600" y="0"/>
                    </a:moveTo>
                    <a:cubicBezTo>
                      <a:pt x="15287" y="21473"/>
                      <a:pt x="8087" y="21600"/>
                      <a:pt x="0" y="381"/>
                    </a:cubicBezTo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/>
              <a:lstStyle/>
              <a:p>
                <a:endParaRPr sz="675"/>
              </a:p>
            </p:txBody>
          </p:sp>
          <p:sp>
            <p:nvSpPr>
              <p:cNvPr id="5552" name="Line"/>
              <p:cNvSpPr/>
              <p:nvPr/>
            </p:nvSpPr>
            <p:spPr>
              <a:xfrm flipV="1">
                <a:off x="1457753" y="290070"/>
                <a:ext cx="1" cy="4863289"/>
              </a:xfrm>
              <a:prstGeom prst="line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553" name="Line"/>
              <p:cNvSpPr/>
              <p:nvPr/>
            </p:nvSpPr>
            <p:spPr>
              <a:xfrm>
                <a:off x="1464678" y="5145041"/>
                <a:ext cx="5611345" cy="1"/>
              </a:xfrm>
              <a:prstGeom prst="line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554" name="Line"/>
              <p:cNvSpPr/>
              <p:nvPr/>
            </p:nvSpPr>
            <p:spPr>
              <a:xfrm flipV="1">
                <a:off x="4214212" y="4528946"/>
                <a:ext cx="1" cy="667553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  <p:sp>
            <p:nvSpPr>
              <p:cNvPr id="5555" name="Circle"/>
              <p:cNvSpPr/>
              <p:nvPr/>
            </p:nvSpPr>
            <p:spPr>
              <a:xfrm>
                <a:off x="4102371" y="4323568"/>
                <a:ext cx="228617" cy="228616"/>
              </a:xfrm>
              <a:prstGeom prst="ellipse">
                <a:avLst/>
              </a:prstGeom>
              <a:solidFill>
                <a:srgbClr val="0365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</p:grpSp>
        <p:sp>
          <p:nvSpPr>
            <p:cNvPr id="5557" name="Line"/>
            <p:cNvSpPr/>
            <p:nvPr/>
          </p:nvSpPr>
          <p:spPr>
            <a:xfrm>
              <a:off x="2301761" y="800364"/>
              <a:ext cx="329717" cy="1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58" name="Line"/>
            <p:cNvSpPr/>
            <p:nvPr/>
          </p:nvSpPr>
          <p:spPr>
            <a:xfrm flipV="1">
              <a:off x="2567903" y="805286"/>
              <a:ext cx="38101" cy="827365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59" name="Line"/>
            <p:cNvSpPr/>
            <p:nvPr/>
          </p:nvSpPr>
          <p:spPr>
            <a:xfrm>
              <a:off x="2543061" y="1625864"/>
              <a:ext cx="228117" cy="1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60" name="Line"/>
            <p:cNvSpPr/>
            <p:nvPr/>
          </p:nvSpPr>
          <p:spPr>
            <a:xfrm>
              <a:off x="2744631" y="2191723"/>
              <a:ext cx="192549" cy="1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61" name="Line"/>
            <p:cNvSpPr/>
            <p:nvPr/>
          </p:nvSpPr>
          <p:spPr>
            <a:xfrm flipV="1">
              <a:off x="2762612" y="1604697"/>
              <a:ext cx="1" cy="604789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62" name="Line"/>
            <p:cNvSpPr/>
            <p:nvPr/>
          </p:nvSpPr>
          <p:spPr>
            <a:xfrm flipV="1">
              <a:off x="2910755" y="2178309"/>
              <a:ext cx="1" cy="455343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63" name="Line"/>
            <p:cNvSpPr/>
            <p:nvPr/>
          </p:nvSpPr>
          <p:spPr>
            <a:xfrm>
              <a:off x="2898661" y="2616464"/>
              <a:ext cx="179849" cy="1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64" name="Line"/>
            <p:cNvSpPr/>
            <p:nvPr/>
          </p:nvSpPr>
          <p:spPr>
            <a:xfrm flipV="1">
              <a:off x="3050479" y="2595297"/>
              <a:ext cx="12701" cy="346210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65" name="Line"/>
            <p:cNvSpPr/>
            <p:nvPr/>
          </p:nvSpPr>
          <p:spPr>
            <a:xfrm>
              <a:off x="3046922" y="2949410"/>
              <a:ext cx="129049" cy="1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66" name="Line"/>
            <p:cNvSpPr/>
            <p:nvPr/>
          </p:nvSpPr>
          <p:spPr>
            <a:xfrm flipV="1">
              <a:off x="3174410" y="2929825"/>
              <a:ext cx="1" cy="292110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67" name="Line"/>
            <p:cNvSpPr/>
            <p:nvPr/>
          </p:nvSpPr>
          <p:spPr>
            <a:xfrm>
              <a:off x="3163826" y="3225600"/>
              <a:ext cx="129050" cy="1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68" name="Line"/>
            <p:cNvSpPr/>
            <p:nvPr/>
          </p:nvSpPr>
          <p:spPr>
            <a:xfrm flipH="1" flipV="1">
              <a:off x="3304479" y="3213364"/>
              <a:ext cx="12701" cy="292110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69" name="Line"/>
            <p:cNvSpPr/>
            <p:nvPr/>
          </p:nvSpPr>
          <p:spPr>
            <a:xfrm>
              <a:off x="3381261" y="3492764"/>
              <a:ext cx="129049" cy="1"/>
            </a:xfrm>
            <a:prstGeom prst="line">
              <a:avLst/>
            </a:prstGeom>
            <a:noFill/>
            <a:ln w="25400" cap="flat">
              <a:solidFill>
                <a:srgbClr val="FF26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  <p:sp>
          <p:nvSpPr>
            <p:cNvPr id="5570" name="Line"/>
            <p:cNvSpPr/>
            <p:nvPr/>
          </p:nvSpPr>
          <p:spPr>
            <a:xfrm>
              <a:off x="3317761" y="3492764"/>
              <a:ext cx="129049" cy="1"/>
            </a:xfrm>
            <a:prstGeom prst="line">
              <a:avLst/>
            </a:prstGeom>
            <a:noFill/>
            <a:ln w="508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 defTabSz="219075">
                <a:defRPr sz="5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100"/>
            </a:p>
          </p:txBody>
        </p:sp>
      </p:grpSp>
      <p:grpSp>
        <p:nvGrpSpPr>
          <p:cNvPr id="5582" name="Group"/>
          <p:cNvGrpSpPr/>
          <p:nvPr/>
        </p:nvGrpSpPr>
        <p:grpSpPr>
          <a:xfrm>
            <a:off x="4017351" y="5178498"/>
            <a:ext cx="4588709" cy="1389185"/>
            <a:chOff x="1970012" y="306111"/>
            <a:chExt cx="9406234" cy="2927629"/>
          </a:xfrm>
        </p:grpSpPr>
        <p:pic>
          <p:nvPicPr>
            <p:cNvPr id="5572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58963" y="306111"/>
              <a:ext cx="2878047" cy="15418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5575" name="Group"/>
            <p:cNvGrpSpPr/>
            <p:nvPr/>
          </p:nvGrpSpPr>
          <p:grpSpPr>
            <a:xfrm>
              <a:off x="6979704" y="371204"/>
              <a:ext cx="3943810" cy="1275034"/>
              <a:chOff x="0" y="371204"/>
              <a:chExt cx="3943808" cy="1275032"/>
            </a:xfrm>
          </p:grpSpPr>
          <p:sp>
            <p:nvSpPr>
              <p:cNvPr id="5573" name="Constant"/>
              <p:cNvSpPr/>
              <p:nvPr/>
            </p:nvSpPr>
            <p:spPr>
              <a:xfrm>
                <a:off x="2673808" y="376237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26789" tIns="26789" rIns="26789" bIns="26789" numCol="1" anchor="ctr">
                <a:spAutoFit/>
              </a:bodyPr>
              <a:lstStyle>
                <a:lvl1pPr defTabSz="457200">
                  <a:defRPr sz="4000">
                    <a:latin typeface="+mn-lt"/>
                    <a:ea typeface="+mn-ea"/>
                    <a:cs typeface="+mn-cs"/>
                    <a:sym typeface="Helvetica"/>
                  </a:defRPr>
                </a:lvl1pPr>
              </a:lstStyle>
              <a:p>
                <a:r>
                  <a:rPr sz="1500"/>
                  <a:t>Constant</a:t>
                </a:r>
              </a:p>
            </p:txBody>
          </p:sp>
          <p:sp>
            <p:nvSpPr>
              <p:cNvPr id="5574" name="Line"/>
              <p:cNvSpPr/>
              <p:nvPr/>
            </p:nvSpPr>
            <p:spPr>
              <a:xfrm flipV="1">
                <a:off x="0" y="371204"/>
                <a:ext cx="1372490" cy="163194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</p:grpSp>
        <p:grpSp>
          <p:nvGrpSpPr>
            <p:cNvPr id="5578" name="Group"/>
            <p:cNvGrpSpPr/>
            <p:nvPr/>
          </p:nvGrpSpPr>
          <p:grpSpPr>
            <a:xfrm>
              <a:off x="7233704" y="1269999"/>
              <a:ext cx="4142542" cy="752476"/>
              <a:chOff x="0" y="0"/>
              <a:chExt cx="4142541" cy="752475"/>
            </a:xfrm>
          </p:grpSpPr>
          <p:sp>
            <p:nvSpPr>
              <p:cNvPr id="5576" name="Iteration #"/>
              <p:cNvSpPr txBox="1"/>
              <p:nvPr/>
            </p:nvSpPr>
            <p:spPr>
              <a:xfrm>
                <a:off x="1398847" y="0"/>
                <a:ext cx="2743695" cy="7524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26789" tIns="26789" rIns="26789" bIns="26789" numCol="1" anchor="ctr">
                <a:noAutofit/>
              </a:bodyPr>
              <a:lstStyle>
                <a:lvl1pPr defTabSz="457200">
                  <a:defRPr sz="4000">
                    <a:latin typeface="+mn-lt"/>
                    <a:ea typeface="+mn-ea"/>
                    <a:cs typeface="+mn-cs"/>
                    <a:sym typeface="Helvetica"/>
                  </a:defRPr>
                </a:lvl1pPr>
              </a:lstStyle>
              <a:p>
                <a:r>
                  <a:rPr sz="1500"/>
                  <a:t>Iteration #</a:t>
                </a:r>
              </a:p>
            </p:txBody>
          </p:sp>
          <p:sp>
            <p:nvSpPr>
              <p:cNvPr id="5577" name="Line"/>
              <p:cNvSpPr/>
              <p:nvPr/>
            </p:nvSpPr>
            <p:spPr>
              <a:xfrm>
                <a:off x="-1" y="280397"/>
                <a:ext cx="1300766" cy="15930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</p:grpSp>
        <p:grpSp>
          <p:nvGrpSpPr>
            <p:cNvPr id="5581" name="Group"/>
            <p:cNvGrpSpPr/>
            <p:nvPr/>
          </p:nvGrpSpPr>
          <p:grpSpPr>
            <a:xfrm>
              <a:off x="1970012" y="1577014"/>
              <a:ext cx="3746771" cy="1656726"/>
              <a:chOff x="1970013" y="-10486"/>
              <a:chExt cx="3746769" cy="1656724"/>
            </a:xfrm>
          </p:grpSpPr>
          <p:sp>
            <p:nvSpPr>
              <p:cNvPr id="5579" name="# Training Points"/>
              <p:cNvSpPr/>
              <p:nvPr/>
            </p:nvSpPr>
            <p:spPr>
              <a:xfrm>
                <a:off x="1970013" y="376237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26789" tIns="26789" rIns="26789" bIns="26789" numCol="1" anchor="ctr">
                <a:spAutoFit/>
              </a:bodyPr>
              <a:lstStyle>
                <a:lvl1pPr defTabSz="457200">
                  <a:defRPr sz="4000">
                    <a:latin typeface="+mn-lt"/>
                    <a:ea typeface="+mn-ea"/>
                    <a:cs typeface="+mn-cs"/>
                    <a:sym typeface="Helvetica"/>
                  </a:defRPr>
                </a:lvl1pPr>
              </a:lstStyle>
              <a:p>
                <a:r>
                  <a:rPr sz="1500" dirty="0"/>
                  <a:t># Training Points</a:t>
                </a:r>
              </a:p>
            </p:txBody>
          </p:sp>
          <p:sp>
            <p:nvSpPr>
              <p:cNvPr id="5580" name="Line"/>
              <p:cNvSpPr/>
              <p:nvPr/>
            </p:nvSpPr>
            <p:spPr>
              <a:xfrm flipV="1">
                <a:off x="4416017" y="-10486"/>
                <a:ext cx="1300765" cy="17367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defTabSz="219075">
                  <a:defRPr sz="56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2100"/>
              </a:p>
            </p:txBody>
          </p:sp>
        </p:grpSp>
      </p:grpSp>
      <p:sp>
        <p:nvSpPr>
          <p:cNvPr id="5583" name="Splitting computation across the network"/>
          <p:cNvSpPr txBox="1"/>
          <p:nvPr/>
        </p:nvSpPr>
        <p:spPr>
          <a:xfrm>
            <a:off x="710868" y="1202607"/>
            <a:ext cx="7493711" cy="609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7144" tIns="17144" rIns="17144" bIns="17144">
            <a:normAutofit/>
          </a:bodyPr>
          <a:lstStyle>
            <a:lvl1pPr algn="l" defTabSz="2438522">
              <a:tabLst>
                <a:tab pos="3632200" algn="l"/>
              </a:tabLst>
              <a:defRPr sz="80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3000"/>
              <a:t>Choosing a step size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49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5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4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92" grpId="0" build="p" bldLvl="5" animBg="1" advAuto="0"/>
      <p:bldP spid="5525" grpId="0" animBg="1" advAuto="0"/>
      <p:bldP spid="5546" grpId="0" animBg="1" advAuto="0"/>
      <p:bldP spid="5571" grpId="0" animBg="1" advAuto="0"/>
      <p:bldP spid="5582" grpId="0" animBg="1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CDEE5-3CB8-34FE-3A48-1B0AAC8DC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144EE-E7C4-FCC5-E883-32BEAFFC3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Autofit/>
          </a:bodyPr>
          <a:lstStyle/>
          <a:p>
            <a:r>
              <a:rPr lang="en-US" sz="3200" dirty="0"/>
              <a:t>Least squares with gradient descent</a:t>
            </a:r>
          </a:p>
        </p:txBody>
      </p:sp>
      <p:pic>
        <p:nvPicPr>
          <p:cNvPr id="7" name="Picture 6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2A4B8BF9-0A13-C2A8-9CB4-8F0EFEB21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545" y="1004956"/>
            <a:ext cx="3613918" cy="1064293"/>
          </a:xfrm>
          <a:prstGeom prst="rect">
            <a:avLst/>
          </a:prstGeom>
        </p:spPr>
      </p:pic>
      <p:pic>
        <p:nvPicPr>
          <p:cNvPr id="8" name="Picture 7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E43D04ED-2816-6096-941A-B5D6A07D2C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19"/>
          <a:stretch/>
        </p:blipFill>
        <p:spPr>
          <a:xfrm>
            <a:off x="534988" y="2069249"/>
            <a:ext cx="7772400" cy="455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402216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D9995-D277-2489-8DFA-8C0BBE040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59627-8542-29C0-EC0E-76063007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Autofit/>
          </a:bodyPr>
          <a:lstStyle/>
          <a:p>
            <a:r>
              <a:rPr lang="en-US" sz="3200" dirty="0"/>
              <a:t>Least squares linear with gradient descent</a:t>
            </a:r>
          </a:p>
        </p:txBody>
      </p:sp>
      <p:pic>
        <p:nvPicPr>
          <p:cNvPr id="7" name="Picture 6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FFA30424-BB96-1FCA-F742-3A56DEB31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545" y="1004956"/>
            <a:ext cx="3613918" cy="1064293"/>
          </a:xfrm>
          <a:prstGeom prst="rect">
            <a:avLst/>
          </a:prstGeom>
        </p:spPr>
      </p:pic>
      <p:pic>
        <p:nvPicPr>
          <p:cNvPr id="8" name="Picture 7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3DE2E04C-6A97-F18F-3583-86BC778E65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145" t="82664" b="1"/>
          <a:stretch/>
        </p:blipFill>
        <p:spPr>
          <a:xfrm>
            <a:off x="4237530" y="2948356"/>
            <a:ext cx="4906470" cy="9612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6BE729-AF48-B507-64F4-D955F257DC50}"/>
              </a:ext>
            </a:extLst>
          </p:cNvPr>
          <p:cNvSpPr txBox="1"/>
          <p:nvPr/>
        </p:nvSpPr>
        <p:spPr>
          <a:xfrm>
            <a:off x="100832" y="2300287"/>
            <a:ext cx="48140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Initialize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8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For t=1, … until converged: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Compute gradient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Update: </a:t>
            </a:r>
            <a:r>
              <a:rPr lang="en-US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800" b="1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 = w</a:t>
            </a:r>
            <a:r>
              <a:rPr lang="en-US" sz="28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t-1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-  ⍺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7E033C-A5A2-A28F-8270-D7070D2C16E0}"/>
              </a:ext>
            </a:extLst>
          </p:cNvPr>
          <p:cNvSpPr txBox="1"/>
          <p:nvPr/>
        </p:nvSpPr>
        <p:spPr>
          <a:xfrm>
            <a:off x="5840281" y="1798868"/>
            <a:ext cx="3234001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What else can we do?</a:t>
            </a:r>
          </a:p>
        </p:txBody>
      </p:sp>
    </p:spTree>
    <p:extLst>
      <p:ext uri="{BB962C8B-B14F-4D97-AF65-F5344CB8AC3E}">
        <p14:creationId xmlns:p14="http://schemas.microsoft.com/office/powerpoint/2010/main" val="599132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0665B-B88D-D95A-CF8A-DDD81481D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98F0E-A131-AF87-154A-568585FC7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Autofit/>
          </a:bodyPr>
          <a:lstStyle/>
          <a:p>
            <a:r>
              <a:rPr lang="en-US" sz="3200" dirty="0"/>
              <a:t>Least squares linear with </a:t>
            </a:r>
            <a:r>
              <a:rPr lang="en-US" sz="3200" u="sng" dirty="0"/>
              <a:t>parallel</a:t>
            </a:r>
            <a:r>
              <a:rPr lang="en-US" sz="3200" dirty="0"/>
              <a:t> gradient descent</a:t>
            </a:r>
          </a:p>
        </p:txBody>
      </p:sp>
      <p:pic>
        <p:nvPicPr>
          <p:cNvPr id="7" name="Picture 6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6679603F-6C49-F35A-8655-342FDBDBB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545" y="1004956"/>
            <a:ext cx="3613918" cy="10642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BC398D-3AEA-7447-1254-40C1C30012E2}"/>
              </a:ext>
            </a:extLst>
          </p:cNvPr>
          <p:cNvSpPr txBox="1"/>
          <p:nvPr/>
        </p:nvSpPr>
        <p:spPr>
          <a:xfrm>
            <a:off x="100832" y="2300287"/>
            <a:ext cx="48140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Initialize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8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=1, … until converged: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Compute gradient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Update: </a:t>
            </a:r>
            <a:r>
              <a:rPr lang="en-US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800" b="1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 = w</a:t>
            </a:r>
            <a:r>
              <a:rPr lang="en-US" sz="28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i-1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- 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⍺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 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FD0960-D7F2-715D-85C8-CF5BF7572BD3}"/>
              </a:ext>
            </a:extLst>
          </p:cNvPr>
          <p:cNvSpPr txBox="1"/>
          <p:nvPr/>
        </p:nvSpPr>
        <p:spPr>
          <a:xfrm>
            <a:off x="1510530" y="4733666"/>
            <a:ext cx="6604769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Computation of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g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can be done in parallel!</a:t>
            </a:r>
          </a:p>
        </p:txBody>
      </p:sp>
      <p:pic>
        <p:nvPicPr>
          <p:cNvPr id="9" name="Picture 8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975057B-9ABE-E063-F784-D71050FE91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56" t="12344"/>
          <a:stretch/>
        </p:blipFill>
        <p:spPr>
          <a:xfrm>
            <a:off x="4071938" y="3007418"/>
            <a:ext cx="5072062" cy="80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406818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68790-A229-9698-DD69-3E51A6ACA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6D2035-E83D-6143-835D-B24B6FDB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4" name="Picture 3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3AF38750-46B2-A90E-9F20-A386BF7CC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060332" cy="50577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B1A60D-5078-767E-896D-DDE7DF4106C6}"/>
              </a:ext>
            </a:extLst>
          </p:cNvPr>
          <p:cNvSpPr txBox="1"/>
          <p:nvPr/>
        </p:nvSpPr>
        <p:spPr>
          <a:xfrm>
            <a:off x="1739132" y="5656372"/>
            <a:ext cx="4814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Update: </a:t>
            </a:r>
            <a:r>
              <a:rPr lang="en-US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800" b="1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 = w</a:t>
            </a:r>
            <a:r>
              <a:rPr lang="en-US" sz="28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i-1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- 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⍺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</a:p>
        </p:txBody>
      </p:sp>
      <p:pic>
        <p:nvPicPr>
          <p:cNvPr id="7" name="Picture 6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306E0D2B-6CCF-A609-532C-EA7CD376AA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289" t="82664" r="-1" b="1"/>
          <a:stretch/>
        </p:blipFill>
        <p:spPr>
          <a:xfrm>
            <a:off x="5014912" y="678408"/>
            <a:ext cx="2528887" cy="904741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799504-4611-94E3-6584-4D21E6354F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893532"/>
              </p:ext>
            </p:extLst>
          </p:nvPr>
        </p:nvGraphicFramePr>
        <p:xfrm>
          <a:off x="6553200" y="2528887"/>
          <a:ext cx="2507132" cy="235743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253566">
                  <a:extLst>
                    <a:ext uri="{9D8B030D-6E8A-4147-A177-3AD203B41FA5}">
                      <a16:colId xmlns:a16="http://schemas.microsoft.com/office/drawing/2014/main" val="3408727939"/>
                    </a:ext>
                  </a:extLst>
                </a:gridCol>
                <a:gridCol w="1253566">
                  <a:extLst>
                    <a:ext uri="{9D8B030D-6E8A-4147-A177-3AD203B41FA5}">
                      <a16:colId xmlns:a16="http://schemas.microsoft.com/office/drawing/2014/main" val="2862021064"/>
                    </a:ext>
                  </a:extLst>
                </a:gridCol>
              </a:tblGrid>
              <a:tr h="711217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O(ND) distributed storage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092495"/>
                  </a:ext>
                </a:extLst>
              </a:tr>
              <a:tr h="9350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O(ND) distributed computation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O(D) local storage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882016"/>
                  </a:ext>
                </a:extLst>
              </a:tr>
              <a:tr h="71121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O(D) local computation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O(D) local storage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602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16212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6EE74C-8D56-D017-3B73-4945804D9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F76A238-BEE2-94DE-BE95-757BB7061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36525"/>
            <a:ext cx="9138199" cy="5121275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8EC683B-7232-7DB3-0AFA-1FEC500AE755}"/>
              </a:ext>
            </a:extLst>
          </p:cNvPr>
          <p:cNvGraphicFramePr>
            <a:graphicFrameLocks noGrp="1"/>
          </p:cNvGraphicFramePr>
          <p:nvPr/>
        </p:nvGraphicFramePr>
        <p:xfrm>
          <a:off x="6553200" y="2697162"/>
          <a:ext cx="2507132" cy="235743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253566">
                  <a:extLst>
                    <a:ext uri="{9D8B030D-6E8A-4147-A177-3AD203B41FA5}">
                      <a16:colId xmlns:a16="http://schemas.microsoft.com/office/drawing/2014/main" val="3408727939"/>
                    </a:ext>
                  </a:extLst>
                </a:gridCol>
                <a:gridCol w="1253566">
                  <a:extLst>
                    <a:ext uri="{9D8B030D-6E8A-4147-A177-3AD203B41FA5}">
                      <a16:colId xmlns:a16="http://schemas.microsoft.com/office/drawing/2014/main" val="2862021064"/>
                    </a:ext>
                  </a:extLst>
                </a:gridCol>
              </a:tblGrid>
              <a:tr h="711217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O(ND) distributed storage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092495"/>
                  </a:ext>
                </a:extLst>
              </a:tr>
              <a:tr h="9350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O(ND) distributed computation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O(D) local storage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882016"/>
                  </a:ext>
                </a:extLst>
              </a:tr>
              <a:tr h="71121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O(D) local computation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O(D) local storage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602534"/>
                  </a:ext>
                </a:extLst>
              </a:tr>
            </a:tbl>
          </a:graphicData>
        </a:graphic>
      </p:graphicFrame>
      <p:pic>
        <p:nvPicPr>
          <p:cNvPr id="4" name="Picture 3" descr="A computer code with text&#10;&#10;AI-generated content may be incorrect.">
            <a:extLst>
              <a:ext uri="{FF2B5EF4-FFF2-40B4-BE49-F238E27FC236}">
                <a16:creationId xmlns:a16="http://schemas.microsoft.com/office/drawing/2014/main" id="{79ABDB13-6F53-B75D-724B-DA7A4C9EB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3" y="265112"/>
            <a:ext cx="9061557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092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7C342-6F46-F192-419C-15978F3B8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32CE8-1DDC-9ADC-E141-7738368CE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Least squares linear with </a:t>
            </a:r>
            <a:r>
              <a:rPr lang="en-US" sz="3200" u="sng" dirty="0"/>
              <a:t>parallel</a:t>
            </a:r>
            <a:r>
              <a:rPr lang="en-US" sz="3200" dirty="0"/>
              <a:t> gradient descent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D4091D-E106-784B-E254-5EF768F55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many, many approaches to doing gradient descent in parallel</a:t>
            </a:r>
          </a:p>
          <a:p>
            <a:r>
              <a:rPr lang="en-US" dirty="0"/>
              <a:t>We’ll talk more about them later …</a:t>
            </a:r>
          </a:p>
          <a:p>
            <a:pPr lvl="1"/>
            <a:r>
              <a:rPr lang="en-US" dirty="0"/>
              <a:t>Often they combine gradient (batch gradient) and </a:t>
            </a:r>
            <a:r>
              <a:rPr lang="en-US" b="1" dirty="0"/>
              <a:t>stochastic </a:t>
            </a:r>
            <a:r>
              <a:rPr lang="en-US" dirty="0"/>
              <a:t>gradient</a:t>
            </a:r>
          </a:p>
        </p:txBody>
      </p:sp>
    </p:spTree>
    <p:extLst>
      <p:ext uri="{BB962C8B-B14F-4D97-AF65-F5344CB8AC3E}">
        <p14:creationId xmlns:p14="http://schemas.microsoft.com/office/powerpoint/2010/main" val="8446738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Variants of GRADIENT DESCENT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7282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640665B-B88D-D95A-CF8A-DDD81481D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98F0E-A131-AF87-154A-568585FC7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Autofit/>
          </a:bodyPr>
          <a:lstStyle/>
          <a:p>
            <a:r>
              <a:rPr lang="en-US" sz="3200" dirty="0"/>
              <a:t>Least squares linear with parallel gradient descent</a:t>
            </a:r>
          </a:p>
        </p:txBody>
      </p:sp>
      <p:pic>
        <p:nvPicPr>
          <p:cNvPr id="7" name="Picture 6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6679603F-6C49-F35A-8655-342FDBDBB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682" y="987896"/>
            <a:ext cx="3613918" cy="10642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BC398D-3AEA-7447-1254-40C1C30012E2}"/>
              </a:ext>
            </a:extLst>
          </p:cNvPr>
          <p:cNvSpPr txBox="1"/>
          <p:nvPr/>
        </p:nvSpPr>
        <p:spPr>
          <a:xfrm>
            <a:off x="100832" y="1534329"/>
            <a:ext cx="48140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Initialize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8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=1, … until converged: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Compute gradient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Update: </a:t>
            </a:r>
            <a:r>
              <a:rPr lang="en-US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800" b="1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 = w</a:t>
            </a:r>
            <a:r>
              <a:rPr lang="en-US" sz="28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i-1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-  ⍺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</a:p>
        </p:txBody>
      </p:sp>
      <p:pic>
        <p:nvPicPr>
          <p:cNvPr id="9" name="Picture 8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975057B-9ABE-E063-F784-D71050FE91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56" t="12344"/>
          <a:stretch/>
        </p:blipFill>
        <p:spPr>
          <a:xfrm>
            <a:off x="4071938" y="2241460"/>
            <a:ext cx="5072062" cy="804862"/>
          </a:xfrm>
          <a:prstGeom prst="rect">
            <a:avLst/>
          </a:prstGeom>
        </p:spPr>
      </p:pic>
      <p:pic>
        <p:nvPicPr>
          <p:cNvPr id="10" name="Picture 9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720F04FF-DDED-01CB-95F3-27F72B688D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9223" r="27272"/>
          <a:stretch/>
        </p:blipFill>
        <p:spPr>
          <a:xfrm>
            <a:off x="954386" y="3753453"/>
            <a:ext cx="6589414" cy="25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995776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Stochastic gradient descent (SGD)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1" y="1512394"/>
            <a:ext cx="7131888" cy="4963329"/>
          </a:xfrm>
        </p:spPr>
        <p:txBody>
          <a:bodyPr>
            <a:normAutofit/>
          </a:bodyPr>
          <a:lstStyle/>
          <a:p>
            <a:r>
              <a:rPr lang="en-US" sz="2400" b="1" dirty="0"/>
              <a:t>Big-data</a:t>
            </a:r>
            <a:r>
              <a:rPr lang="en-US" sz="2400" dirty="0"/>
              <a:t> problem: the gradient depends on all the data.  Can we approximate it with less memory?</a:t>
            </a:r>
          </a:p>
          <a:p>
            <a:r>
              <a:rPr lang="en-US" sz="2400" b="1" dirty="0"/>
              <a:t>Solution: </a:t>
            </a:r>
          </a:p>
          <a:p>
            <a:pPr lvl="1"/>
            <a:r>
              <a:rPr lang="en-US" sz="2400" dirty="0"/>
              <a:t>sample a small subset of examples B&lt;&lt;N</a:t>
            </a:r>
          </a:p>
          <a:p>
            <a:pPr lvl="1"/>
            <a:r>
              <a:rPr lang="en-US" sz="2400" b="1" dirty="0"/>
              <a:t>approximate </a:t>
            </a:r>
            <a:r>
              <a:rPr lang="en-US" sz="2400" dirty="0"/>
              <a:t>the gradient using them</a:t>
            </a:r>
          </a:p>
          <a:p>
            <a:pPr lvl="2"/>
            <a:r>
              <a:rPr lang="en-US" sz="2400" dirty="0"/>
              <a:t>“on average” this is the right direction</a:t>
            </a:r>
          </a:p>
          <a:p>
            <a:pPr lvl="1"/>
            <a:r>
              <a:rPr lang="en-US" sz="2400" dirty="0"/>
              <a:t>take a step in that direction</a:t>
            </a:r>
          </a:p>
          <a:p>
            <a:pPr lvl="1"/>
            <a:r>
              <a:rPr lang="en-US" sz="2400" dirty="0"/>
              <a:t>repeat….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6159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31C5E-AAD5-12FA-0784-91DDB2EAD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8D994-4B92-EBC5-3D6C-C22577E61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Stochastic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4035E-102D-2675-59A3-CB5495B4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89441"/>
            <a:ext cx="7035800" cy="2463409"/>
          </a:xfrm>
        </p:spPr>
        <p:txBody>
          <a:bodyPr>
            <a:normAutofit/>
          </a:bodyPr>
          <a:lstStyle/>
          <a:p>
            <a:r>
              <a:rPr lang="en-US" sz="2400" dirty="0"/>
              <a:t>sample a “minibatch” of examples B&lt;&lt;N</a:t>
            </a:r>
          </a:p>
          <a:p>
            <a:r>
              <a:rPr lang="en-US" sz="2400" b="1" dirty="0"/>
              <a:t>approximate </a:t>
            </a:r>
            <a:r>
              <a:rPr lang="en-US" sz="2400" dirty="0"/>
              <a:t>the gradient using them</a:t>
            </a:r>
          </a:p>
          <a:p>
            <a:pPr lvl="1"/>
            <a:r>
              <a:rPr lang="en-US" sz="2800" dirty="0"/>
              <a:t>“on average” this is the right direction</a:t>
            </a:r>
          </a:p>
          <a:p>
            <a:r>
              <a:rPr lang="en-US" sz="2400" dirty="0"/>
              <a:t>take a step in that direction</a:t>
            </a:r>
          </a:p>
          <a:p>
            <a:r>
              <a:rPr lang="en-US" sz="2400" dirty="0"/>
              <a:t>repeat….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BFF0EF-55C4-BE09-3640-1763BAE77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1026" name="Picture 2" descr="types of Gradient Descent">
            <a:extLst>
              <a:ext uri="{FF2B5EF4-FFF2-40B4-BE49-F238E27FC236}">
                <a16:creationId xmlns:a16="http://schemas.microsoft.com/office/drawing/2014/main" id="{EE58CD69-6B3D-5BC2-AEF6-E87DB5D9B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1" y="3424257"/>
            <a:ext cx="5600700" cy="3141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9AD1A00-BBBB-43D6-355D-6B2D17843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1" y="4572000"/>
            <a:ext cx="2535595" cy="199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49272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F312C-C658-753C-4465-3A8C406D3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06DAE-DE23-2E0F-FA6F-6DBEE69E4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Stochastic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62BA3-417F-17CB-85E9-44C7303E1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89441"/>
            <a:ext cx="5588000" cy="1529959"/>
          </a:xfrm>
        </p:spPr>
        <p:txBody>
          <a:bodyPr>
            <a:normAutofit lnSpcReduction="10000"/>
          </a:bodyPr>
          <a:lstStyle/>
          <a:p>
            <a:r>
              <a:rPr lang="en-US" sz="1600" dirty="0"/>
              <a:t>sample a “minibatch” of examples B&lt;&lt;N</a:t>
            </a:r>
          </a:p>
          <a:p>
            <a:r>
              <a:rPr lang="en-US" sz="1600" b="1" dirty="0"/>
              <a:t>approximate </a:t>
            </a:r>
            <a:r>
              <a:rPr lang="en-US" sz="1600" dirty="0"/>
              <a:t>the gradient using them</a:t>
            </a:r>
          </a:p>
          <a:p>
            <a:pPr lvl="1"/>
            <a:r>
              <a:rPr lang="en-US" sz="1800" dirty="0"/>
              <a:t>“on average” this is the right direction</a:t>
            </a:r>
          </a:p>
          <a:p>
            <a:r>
              <a:rPr lang="en-US" sz="1600" dirty="0"/>
              <a:t>take a step in that direction</a:t>
            </a:r>
          </a:p>
          <a:p>
            <a:r>
              <a:rPr lang="en-US" sz="1600" dirty="0"/>
              <a:t>repeat….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F2444F-97A2-1ECB-60A1-CBB597141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2050" name="Picture 2" descr="A Brief Primer: Stochastic Gradient Descent | Samvit Jain">
            <a:extLst>
              <a:ext uri="{FF2B5EF4-FFF2-40B4-BE49-F238E27FC236}">
                <a16:creationId xmlns:a16="http://schemas.microsoft.com/office/drawing/2014/main" id="{1A9D1353-BDE6-F005-56A9-3A2450D48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401" y="2686050"/>
            <a:ext cx="7571199" cy="3941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8F5CA9-8102-5E5D-9C57-6F2124652E27}"/>
              </a:ext>
            </a:extLst>
          </p:cNvPr>
          <p:cNvSpPr txBox="1"/>
          <p:nvPr/>
        </p:nvSpPr>
        <p:spPr>
          <a:xfrm>
            <a:off x="4857750" y="1096962"/>
            <a:ext cx="4057650" cy="2246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For non-convex problems SGD/GD find a local minimum.  SGD tends to find ”flat”, not “sharp” minima.</a:t>
            </a:r>
          </a:p>
        </p:txBody>
      </p:sp>
    </p:spTree>
    <p:extLst>
      <p:ext uri="{BB962C8B-B14F-4D97-AF65-F5344CB8AC3E}">
        <p14:creationId xmlns:p14="http://schemas.microsoft.com/office/powerpoint/2010/main" val="24663281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C83C3-A4AB-847C-B213-22F5306F6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D040F-D4E3-D1E3-14B1-12A14ACCD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Stochastic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CE0F2-21F7-7A10-BE90-7E2846C58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89441"/>
            <a:ext cx="5588000" cy="1529959"/>
          </a:xfrm>
        </p:spPr>
        <p:txBody>
          <a:bodyPr>
            <a:normAutofit lnSpcReduction="10000"/>
          </a:bodyPr>
          <a:lstStyle/>
          <a:p>
            <a:r>
              <a:rPr lang="en-US" sz="1600" dirty="0"/>
              <a:t>sample a “minibatch” of examples B&lt;&lt;N</a:t>
            </a:r>
          </a:p>
          <a:p>
            <a:r>
              <a:rPr lang="en-US" sz="1600" b="1" dirty="0"/>
              <a:t>approximate </a:t>
            </a:r>
            <a:r>
              <a:rPr lang="en-US" sz="1600" dirty="0"/>
              <a:t>the gradient using them</a:t>
            </a:r>
          </a:p>
          <a:p>
            <a:pPr lvl="1"/>
            <a:r>
              <a:rPr lang="en-US" sz="1800" dirty="0"/>
              <a:t>“on average” this is the right direction</a:t>
            </a:r>
          </a:p>
          <a:p>
            <a:r>
              <a:rPr lang="en-US" sz="1600" dirty="0"/>
              <a:t>take a step in that direction</a:t>
            </a:r>
          </a:p>
          <a:p>
            <a:r>
              <a:rPr lang="en-US" sz="1600" dirty="0"/>
              <a:t>repeat….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EA72EB-D5BA-E69A-9C2B-71383B0AF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65A6FE-C033-8A4A-D759-DF79025526E3}"/>
              </a:ext>
            </a:extLst>
          </p:cNvPr>
          <p:cNvSpPr txBox="1"/>
          <p:nvPr/>
        </p:nvSpPr>
        <p:spPr>
          <a:xfrm>
            <a:off x="4857750" y="1096962"/>
            <a:ext cx="4057650" cy="39703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For non-convex problems SGD/GD find a </a:t>
            </a:r>
            <a:r>
              <a:rPr lang="en-US" sz="2800" b="1" dirty="0"/>
              <a:t>local</a:t>
            </a:r>
            <a:r>
              <a:rPr lang="en-US" sz="2800" dirty="0"/>
              <a:t> minimum.  SGD tends to find “flat”, not “sharp” local minima.</a:t>
            </a:r>
          </a:p>
          <a:p>
            <a:endParaRPr lang="en-US" sz="2800" dirty="0"/>
          </a:p>
          <a:p>
            <a:r>
              <a:rPr lang="en-US" sz="2800" dirty="0"/>
              <a:t>Variants of SGD are almost </a:t>
            </a:r>
            <a:r>
              <a:rPr lang="en-US" sz="2800" b="1" dirty="0"/>
              <a:t>always</a:t>
            </a:r>
            <a:r>
              <a:rPr lang="en-US" sz="2800" dirty="0"/>
              <a:t> used in </a:t>
            </a:r>
            <a:r>
              <a:rPr lang="en-US" sz="2800" b="1" dirty="0"/>
              <a:t>deep learning</a:t>
            </a:r>
            <a:r>
              <a:rPr lang="en-US" sz="2800" dirty="0"/>
              <a:t>.</a:t>
            </a:r>
          </a:p>
        </p:txBody>
      </p:sp>
      <p:pic>
        <p:nvPicPr>
          <p:cNvPr id="7" name="Picture 6" descr="A graph on a paper&#10;&#10;AI-generated content may be incorrect.">
            <a:extLst>
              <a:ext uri="{FF2B5EF4-FFF2-40B4-BE49-F238E27FC236}">
                <a16:creationId xmlns:a16="http://schemas.microsoft.com/office/drawing/2014/main" id="{F966FFD5-B6AE-7691-BC95-A6122A1CD8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11" t="939" b="16094"/>
          <a:stretch/>
        </p:blipFill>
        <p:spPr>
          <a:xfrm>
            <a:off x="0" y="3238500"/>
            <a:ext cx="4807451" cy="33665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44BD6E-FDF6-75B4-2707-C66948FCCFC8}"/>
              </a:ext>
            </a:extLst>
          </p:cNvPr>
          <p:cNvSpPr txBox="1"/>
          <p:nvPr/>
        </p:nvSpPr>
        <p:spPr>
          <a:xfrm>
            <a:off x="5219700" y="5486380"/>
            <a:ext cx="3155950" cy="95410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SGD is very memory-efficient!</a:t>
            </a:r>
          </a:p>
        </p:txBody>
      </p:sp>
    </p:spTree>
    <p:extLst>
      <p:ext uri="{BB962C8B-B14F-4D97-AF65-F5344CB8AC3E}">
        <p14:creationId xmlns:p14="http://schemas.microsoft.com/office/powerpoint/2010/main" val="3930678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1C067-DD05-861F-D37B-1B6ACFE46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6B695-0ADC-2CCE-E4D6-038FB0401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Recap: gradient descent for least squares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EBB60D-0F19-57CD-2578-02465D743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10" name="Picture 9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0D46593C-A702-3EFD-6B24-1B369EFFD5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19"/>
          <a:stretch/>
        </p:blipFill>
        <p:spPr>
          <a:xfrm>
            <a:off x="462783" y="1096962"/>
            <a:ext cx="7423124" cy="43492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4A9274-1F81-A53E-0529-71260A7F2E0D}"/>
              </a:ext>
            </a:extLst>
          </p:cNvPr>
          <p:cNvSpPr txBox="1"/>
          <p:nvPr/>
        </p:nvSpPr>
        <p:spPr>
          <a:xfrm>
            <a:off x="279400" y="5121811"/>
            <a:ext cx="48140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Initialize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0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=1, … until converged: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Compute gradient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Update: </a:t>
            </a:r>
            <a:r>
              <a:rPr lang="en-US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000" b="1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= w</a:t>
            </a:r>
            <a:r>
              <a:rPr lang="en-US" sz="20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i-1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-  ⍺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2451031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29F35-7384-E8DF-271F-4987D19C7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6D212-E28A-C9E1-F4F0-AC1D13AA6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SGD for least squares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1C64E5-078E-E254-141C-B692C1301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44</a:t>
            </a:fld>
            <a:endParaRPr lang="en-US"/>
          </a:p>
        </p:txBody>
      </p:sp>
      <p:pic>
        <p:nvPicPr>
          <p:cNvPr id="10" name="Picture 9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24E8FCD4-11AD-EDBD-276F-C9911452B3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19" b="53678"/>
          <a:stretch/>
        </p:blipFill>
        <p:spPr>
          <a:xfrm>
            <a:off x="462783" y="1096962"/>
            <a:ext cx="7423124" cy="1968967"/>
          </a:xfrm>
          <a:prstGeom prst="rect">
            <a:avLst/>
          </a:prstGeom>
        </p:spPr>
      </p:pic>
      <p:pic>
        <p:nvPicPr>
          <p:cNvPr id="4" name="Picture 3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63A5BE60-AAF7-80B0-A1FC-F4AF8A9DCA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10" t="2822"/>
          <a:stretch/>
        </p:blipFill>
        <p:spPr>
          <a:xfrm>
            <a:off x="3227294" y="3981904"/>
            <a:ext cx="4929488" cy="9573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F1ECB2-716C-CE91-9976-AD7A5EB34877}"/>
              </a:ext>
            </a:extLst>
          </p:cNvPr>
          <p:cNvSpPr txBox="1"/>
          <p:nvPr/>
        </p:nvSpPr>
        <p:spPr>
          <a:xfrm>
            <a:off x="462783" y="2970282"/>
            <a:ext cx="48140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Initialize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0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t=1, … until converged: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each example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i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Compute gradient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Update: </a:t>
            </a:r>
            <a:r>
              <a:rPr lang="en-US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000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new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000" b="1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prev</a:t>
            </a:r>
            <a:r>
              <a:rPr lang="en-US" sz="20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-  ⍺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4043446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SGD for linear regression ~ streaming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900" y="1512394"/>
            <a:ext cx="6038415" cy="4963329"/>
          </a:xfrm>
        </p:spPr>
        <p:txBody>
          <a:bodyPr>
            <a:normAutofit/>
          </a:bodyPr>
          <a:lstStyle/>
          <a:p>
            <a:r>
              <a:rPr lang="en-US" sz="2400" dirty="0"/>
              <a:t>Streaming: </a:t>
            </a:r>
          </a:p>
          <a:p>
            <a:pPr lvl="1"/>
            <a:r>
              <a:rPr lang="en-US" sz="2400" dirty="0"/>
              <a:t>pass through the data </a:t>
            </a:r>
            <a:r>
              <a:rPr lang="en-US" sz="2400" i="1" dirty="0"/>
              <a:t>once</a:t>
            </a:r>
          </a:p>
          <a:p>
            <a:pPr lvl="1"/>
            <a:r>
              <a:rPr lang="en-US" sz="2400" dirty="0"/>
              <a:t>hold model + one example in memory</a:t>
            </a:r>
          </a:p>
          <a:p>
            <a:pPr lvl="1"/>
            <a:r>
              <a:rPr lang="en-US" sz="2400" dirty="0"/>
              <a:t>update model for each example</a:t>
            </a:r>
          </a:p>
          <a:p>
            <a:r>
              <a:rPr lang="en-US" sz="2400" dirty="0"/>
              <a:t>Stochastic gradient:</a:t>
            </a:r>
          </a:p>
          <a:p>
            <a:pPr lvl="1"/>
            <a:r>
              <a:rPr lang="en-US" sz="2400" dirty="0"/>
              <a:t>pass through the data </a:t>
            </a:r>
            <a:r>
              <a:rPr lang="en-US" sz="2400" i="1" dirty="0"/>
              <a:t>multiple times</a:t>
            </a:r>
          </a:p>
          <a:p>
            <a:pPr lvl="2"/>
            <a:r>
              <a:rPr lang="en-US" sz="2400" dirty="0"/>
              <a:t>stream through a disk file repeatedly</a:t>
            </a:r>
          </a:p>
          <a:p>
            <a:pPr lvl="1"/>
            <a:r>
              <a:rPr lang="en-US" sz="2400" dirty="0"/>
              <a:t>hold model and B examples in memory</a:t>
            </a:r>
          </a:p>
          <a:p>
            <a:pPr lvl="1"/>
            <a:r>
              <a:rPr lang="en-US" sz="2400" dirty="0"/>
              <a:t>update model </a:t>
            </a:r>
            <a:r>
              <a:rPr lang="en-US" sz="2400" i="1" dirty="0"/>
              <a:t>via gradient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54315" y="1378417"/>
            <a:ext cx="2673785" cy="415498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B = </a:t>
            </a:r>
            <a:r>
              <a:rPr lang="en-US" sz="2400" b="1" dirty="0"/>
              <a:t>one</a:t>
            </a:r>
            <a:r>
              <a:rPr lang="en-US" sz="2400" dirty="0"/>
              <a:t> example is a popular choice</a:t>
            </a:r>
          </a:p>
          <a:p>
            <a:endParaRPr lang="en-US" sz="2400" dirty="0"/>
          </a:p>
          <a:p>
            <a:r>
              <a:rPr lang="en-US" sz="2400" dirty="0"/>
              <a:t>its simple </a:t>
            </a:r>
            <a:r>
              <a:rPr lang="en-US" sz="2400" dirty="0">
                <a:sym typeface="Wingdings"/>
              </a:rPr>
              <a:t>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sometimes its cheaper to evaluate 100 examples at once than one example 100 times </a:t>
            </a:r>
            <a:r>
              <a:rPr lang="en-US" sz="2400" dirty="0">
                <a:sym typeface="Wingdings"/>
              </a:rPr>
              <a:t>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2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5BD58-6B1A-33A5-B7AA-DB6E22728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B0DC2-625C-4290-6362-9FEAF5886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Parallel SGD?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8589CA-1B10-B80D-FB0C-61C768D4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EFF4A0E-2A8E-585E-82AA-9368F00CC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2630394"/>
            <a:ext cx="8648700" cy="381485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Option 1: Make minibatch B larger and parallelize computation of B</a:t>
            </a:r>
          </a:p>
          <a:p>
            <a:pPr lvl="1"/>
            <a:r>
              <a:rPr lang="en-US" dirty="0"/>
              <a:t>E.g., vectorize the gradient computation and use a GPU</a:t>
            </a:r>
          </a:p>
          <a:p>
            <a:r>
              <a:rPr lang="en-US" dirty="0"/>
              <a:t>Option 2: Run multiple SGD processes in parallel, and synchronize them occasionally</a:t>
            </a:r>
          </a:p>
          <a:p>
            <a:pPr lvl="1"/>
            <a:r>
              <a:rPr lang="en-US" dirty="0"/>
              <a:t>More on this later</a:t>
            </a:r>
          </a:p>
          <a:p>
            <a:pPr lvl="1"/>
            <a:r>
              <a:rPr lang="en-US" dirty="0"/>
              <a:t>Better suited to cluster-level parallelism</a:t>
            </a:r>
          </a:p>
          <a:p>
            <a:pPr lvl="1"/>
            <a:r>
              <a:rPr lang="en-US" dirty="0"/>
              <a:t>Harder to analyze and few formal guarantees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0108D8-2986-3D38-DA8C-196CC5F83367}"/>
              </a:ext>
            </a:extLst>
          </p:cNvPr>
          <p:cNvSpPr txBox="1"/>
          <p:nvPr/>
        </p:nvSpPr>
        <p:spPr>
          <a:xfrm>
            <a:off x="4329932" y="805306"/>
            <a:ext cx="481406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Initialize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0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t=1, … until converged: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each example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i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Compute gradient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Update: </a:t>
            </a:r>
            <a:r>
              <a:rPr lang="en-US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000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new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000" b="1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prev</a:t>
            </a:r>
            <a:r>
              <a:rPr lang="en-US" sz="20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-  ⍺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</a:p>
        </p:txBody>
      </p:sp>
      <p:pic>
        <p:nvPicPr>
          <p:cNvPr id="12" name="Picture 1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E767A45-580A-EC2B-25FC-2412E8F77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97" y="905482"/>
            <a:ext cx="9050306" cy="3090666"/>
          </a:xfrm>
          <a:prstGeom prst="rect">
            <a:avLst/>
          </a:prstGeom>
        </p:spPr>
      </p:pic>
      <p:sp>
        <p:nvSpPr>
          <p:cNvPr id="3" name="Up Arrow 2">
            <a:extLst>
              <a:ext uri="{FF2B5EF4-FFF2-40B4-BE49-F238E27FC236}">
                <a16:creationId xmlns:a16="http://schemas.microsoft.com/office/drawing/2014/main" id="{6C40393A-F2B0-18E7-DC7B-3F5D87398BB8}"/>
              </a:ext>
            </a:extLst>
          </p:cNvPr>
          <p:cNvSpPr/>
          <p:nvPr/>
        </p:nvSpPr>
        <p:spPr>
          <a:xfrm>
            <a:off x="7371184" y="2220686"/>
            <a:ext cx="522514" cy="727787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302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32735-105F-E606-A6BC-D75039B04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80178-EC35-C4E1-B5BF-E07AB2679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On beyond SGD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1BAAF2-D326-628F-4F4E-C547173C1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7101B9-7925-87FB-3AB4-7CB174800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4680451" cy="518795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Momentum: combine update with weighted average of previous ones </a:t>
            </a:r>
          </a:p>
          <a:p>
            <a:r>
              <a:rPr lang="en-US" dirty="0" err="1"/>
              <a:t>AdaGrad</a:t>
            </a:r>
            <a:r>
              <a:rPr lang="en-US" dirty="0"/>
              <a:t>, </a:t>
            </a:r>
            <a:r>
              <a:rPr lang="en-US" dirty="0" err="1"/>
              <a:t>RMSProp</a:t>
            </a:r>
            <a:r>
              <a:rPr lang="en-US" dirty="0"/>
              <a:t>: Adjust learning rate for each parameter</a:t>
            </a:r>
          </a:p>
          <a:p>
            <a:r>
              <a:rPr lang="en-US" dirty="0"/>
              <a:t>Adam: combines </a:t>
            </a:r>
            <a:r>
              <a:rPr lang="en-US" dirty="0" err="1"/>
              <a:t>RMSProp</a:t>
            </a:r>
            <a:r>
              <a:rPr lang="en-US" dirty="0"/>
              <a:t>/</a:t>
            </a:r>
            <a:r>
              <a:rPr lang="en-US" dirty="0" err="1"/>
              <a:t>AdaGrad</a:t>
            </a:r>
            <a:r>
              <a:rPr lang="en-US" dirty="0"/>
              <a:t> ideas and momentum</a:t>
            </a:r>
          </a:p>
          <a:p>
            <a:r>
              <a:rPr lang="en-US" dirty="0" err="1"/>
              <a:t>AdaFactor</a:t>
            </a:r>
            <a:r>
              <a:rPr lang="en-US" dirty="0"/>
              <a:t>: more memory-efficient version of Adam</a:t>
            </a:r>
          </a:p>
          <a:p>
            <a:r>
              <a:rPr lang="en-US" dirty="0"/>
              <a:t>Using carefully-tuned optimizers is important especially for non-convex DL problems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258AF9-68D3-3C5B-2C30-2A62D61113C4}"/>
              </a:ext>
            </a:extLst>
          </p:cNvPr>
          <p:cNvSpPr txBox="1"/>
          <p:nvPr/>
        </p:nvSpPr>
        <p:spPr>
          <a:xfrm>
            <a:off x="5010150" y="1249362"/>
            <a:ext cx="4057650" cy="304698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For non-convex problems SGD/GD find a </a:t>
            </a:r>
            <a:r>
              <a:rPr lang="en-US" sz="2400" b="1" dirty="0"/>
              <a:t>local</a:t>
            </a:r>
            <a:r>
              <a:rPr lang="en-US" sz="2400" dirty="0"/>
              <a:t> minimum.  SGD tends to find “flat”, not “sharp” local minima.</a:t>
            </a:r>
          </a:p>
          <a:p>
            <a:endParaRPr lang="en-US" sz="2400" dirty="0"/>
          </a:p>
          <a:p>
            <a:r>
              <a:rPr lang="en-US" sz="2400" dirty="0"/>
              <a:t>Variants of SGD are almost </a:t>
            </a:r>
            <a:r>
              <a:rPr lang="en-US" sz="2400" b="1" dirty="0"/>
              <a:t>always</a:t>
            </a:r>
            <a:r>
              <a:rPr lang="en-US" sz="2400" dirty="0"/>
              <a:t> used in </a:t>
            </a:r>
            <a:r>
              <a:rPr lang="en-US" sz="2400" b="1" dirty="0"/>
              <a:t>deep learning</a:t>
            </a:r>
            <a:r>
              <a:rPr lang="en-US" sz="2400" dirty="0"/>
              <a:t>.</a:t>
            </a:r>
          </a:p>
        </p:txBody>
      </p:sp>
      <p:pic>
        <p:nvPicPr>
          <p:cNvPr id="9" name="Picture 8" descr="A graph on a paper&#10;&#10;AI-generated content may be incorrect.">
            <a:extLst>
              <a:ext uri="{FF2B5EF4-FFF2-40B4-BE49-F238E27FC236}">
                <a16:creationId xmlns:a16="http://schemas.microsoft.com/office/drawing/2014/main" id="{68DC59FD-1260-EE5A-0EC4-79936290CE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11" t="939" b="16094"/>
          <a:stretch/>
        </p:blipFill>
        <p:spPr>
          <a:xfrm>
            <a:off x="5172075" y="4325254"/>
            <a:ext cx="3692525" cy="258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41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865437"/>
            <a:ext cx="7772400" cy="1470025"/>
          </a:xfrm>
        </p:spPr>
        <p:txBody>
          <a:bodyPr>
            <a:normAutofit/>
          </a:bodyPr>
          <a:lstStyle/>
          <a:p>
            <a:r>
              <a:rPr lang="en-US" u="sng" dirty="0"/>
              <a:t>Logistic</a:t>
            </a:r>
            <a:r>
              <a:rPr lang="en-US" dirty="0"/>
              <a:t> Regression with Stochastic Gradient Descent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59744-7EE3-DBAA-FFEA-0302F1671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B20763-7296-F925-1CD7-B91F88961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A14AC-8406-C212-153A-2CE01E73CBE4}"/>
              </a:ext>
            </a:extLst>
          </p:cNvPr>
          <p:cNvSpPr txBox="1"/>
          <p:nvPr/>
        </p:nvSpPr>
        <p:spPr>
          <a:xfrm>
            <a:off x="1743075" y="5644574"/>
            <a:ext cx="3069287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The “logistic function”</a:t>
            </a:r>
          </a:p>
        </p:txBody>
      </p:sp>
      <p:pic>
        <p:nvPicPr>
          <p:cNvPr id="11" name="Picture 10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8EA3554B-8B41-B90E-C79B-D7EFFA3F5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0278"/>
            <a:ext cx="7772400" cy="40098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9A35BB-7D4D-228F-8E1B-FD8387ABC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513" y="4207341"/>
            <a:ext cx="3069287" cy="189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217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Learning as optimization for logistic regression</a:t>
            </a:r>
          </a:p>
        </p:txBody>
      </p:sp>
      <p:pic>
        <p:nvPicPr>
          <p:cNvPr id="15" name="Picture 14" descr="Screen Shot 2012-02-13 at 11.14.49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66" y="4249851"/>
            <a:ext cx="8936033" cy="1375663"/>
          </a:xfrm>
          <a:prstGeom prst="rect">
            <a:avLst/>
          </a:prstGeom>
        </p:spPr>
      </p:pic>
      <p:pic>
        <p:nvPicPr>
          <p:cNvPr id="4" name="Picture 3" descr="Screen Shot 2012-02-15 at 2.57.56 P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1" r="9939"/>
          <a:stretch/>
        </p:blipFill>
        <p:spPr>
          <a:xfrm>
            <a:off x="4708710" y="1262993"/>
            <a:ext cx="4252680" cy="909102"/>
          </a:xfrm>
          <a:prstGeom prst="rect">
            <a:avLst/>
          </a:prstGeom>
        </p:spPr>
      </p:pic>
      <p:pic>
        <p:nvPicPr>
          <p:cNvPr id="5" name="Picture 4" descr="Screen Shot 2012-02-15 at 2.58.01 PM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7"/>
          <a:stretch/>
        </p:blipFill>
        <p:spPr>
          <a:xfrm>
            <a:off x="2436431" y="2784590"/>
            <a:ext cx="6707568" cy="1283633"/>
          </a:xfrm>
          <a:prstGeom prst="rect">
            <a:avLst/>
          </a:prstGeom>
        </p:spPr>
      </p:pic>
      <p:pic>
        <p:nvPicPr>
          <p:cNvPr id="6" name="Picture 5" descr="Screen Shot 2012-02-15 at 2.58.10 P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999" y="5417236"/>
            <a:ext cx="7239000" cy="1358900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62993"/>
            <a:ext cx="5112852" cy="5028422"/>
          </a:xfrm>
        </p:spPr>
        <p:txBody>
          <a:bodyPr>
            <a:normAutofit/>
          </a:bodyPr>
          <a:lstStyle/>
          <a:p>
            <a:r>
              <a:rPr lang="en-US" sz="2000" dirty="0"/>
              <a:t>Goal: Learn the parameter </a:t>
            </a:r>
            <a:r>
              <a:rPr lang="en-US" sz="2000" b="1" dirty="0"/>
              <a:t>w</a:t>
            </a:r>
            <a:r>
              <a:rPr lang="en-US" sz="2000" dirty="0"/>
              <a:t> of the classifier</a:t>
            </a:r>
          </a:p>
          <a:p>
            <a:endParaRPr lang="en-US" sz="2000" dirty="0"/>
          </a:p>
          <a:p>
            <a:r>
              <a:rPr lang="en-US" sz="2000" dirty="0"/>
              <a:t>Probability of a single example P(</a:t>
            </a:r>
            <a:r>
              <a:rPr lang="en-US" sz="2000" dirty="0" err="1"/>
              <a:t>y|</a:t>
            </a:r>
            <a:r>
              <a:rPr lang="en-US" sz="2000" b="1" dirty="0" err="1"/>
              <a:t>x,</a:t>
            </a:r>
            <a:r>
              <a:rPr lang="en-US" sz="2000" dirty="0" err="1"/>
              <a:t>w</a:t>
            </a:r>
            <a:r>
              <a:rPr lang="en-US" sz="2000" dirty="0"/>
              <a:t>) would be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Or with logs (maximum likelihood)::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9" name="Picture 8" descr="A close-up of a symbol&#10;&#10;AI-generated content may be incorrect.">
            <a:extLst>
              <a:ext uri="{FF2B5EF4-FFF2-40B4-BE49-F238E27FC236}">
                <a16:creationId xmlns:a16="http://schemas.microsoft.com/office/drawing/2014/main" id="{90E46626-B785-36F7-CA22-5F789AC0A6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5259" y="2172095"/>
            <a:ext cx="3323123" cy="481730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7C05966-7B4D-6E84-BC03-9C08B6FFB594}"/>
              </a:ext>
            </a:extLst>
          </p:cNvPr>
          <p:cNvSpPr txBox="1"/>
          <p:nvPr/>
        </p:nvSpPr>
        <p:spPr>
          <a:xfrm>
            <a:off x="100013" y="6445250"/>
            <a:ext cx="3286125" cy="40011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Notation: </a:t>
            </a:r>
            <a:r>
              <a:rPr lang="en-US" sz="2000" i="1" dirty="0" err="1"/>
              <a:t>x</a:t>
            </a:r>
            <a:r>
              <a:rPr lang="en-US" sz="2000" i="1" baseline="30000" dirty="0" err="1"/>
              <a:t>j</a:t>
            </a:r>
            <a:r>
              <a:rPr lang="en-US" sz="2000" baseline="30000" dirty="0"/>
              <a:t> </a:t>
            </a:r>
            <a:r>
              <a:rPr lang="en-US" sz="2000" dirty="0"/>
              <a:t>is j-</a:t>
            </a:r>
            <a:r>
              <a:rPr lang="en-US" sz="2000" dirty="0" err="1"/>
              <a:t>th</a:t>
            </a:r>
            <a:r>
              <a:rPr lang="en-US" sz="2000" dirty="0"/>
              <a:t> feature</a:t>
            </a:r>
          </a:p>
        </p:txBody>
      </p:sp>
    </p:spTree>
    <p:extLst>
      <p:ext uri="{BB962C8B-B14F-4D97-AF65-F5344CB8AC3E}">
        <p14:creationId xmlns:p14="http://schemas.microsoft.com/office/powerpoint/2010/main" val="2579561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2-02-13 at 11.03.14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574380"/>
          </a:xfrm>
          <a:prstGeom prst="rect">
            <a:avLst/>
          </a:prstGeom>
        </p:spPr>
      </p:pic>
      <p:pic>
        <p:nvPicPr>
          <p:cNvPr id="5" name="Picture 4" descr="Screen Shot 2012-02-13 at 11.03.18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0035"/>
            <a:ext cx="9144000" cy="1630326"/>
          </a:xfrm>
          <a:prstGeom prst="rect">
            <a:avLst/>
          </a:prstGeom>
        </p:spPr>
      </p:pic>
      <p:pic>
        <p:nvPicPr>
          <p:cNvPr id="6" name="Picture 5" descr="Screen Shot 2012-02-13 at 11.03.24 AM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80071" y="3075417"/>
            <a:ext cx="2041282" cy="53488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731344" y="1888918"/>
            <a:ext cx="864503" cy="650983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Screen Shot 2012-02-15 at 2.58.10 P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3810095"/>
            <a:ext cx="7239000" cy="13589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170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2-02-13 at 11.03.33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44103"/>
            <a:ext cx="9144000" cy="3990497"/>
          </a:xfrm>
          <a:prstGeom prst="rect">
            <a:avLst/>
          </a:prstGeom>
        </p:spPr>
      </p:pic>
      <p:pic>
        <p:nvPicPr>
          <p:cNvPr id="3" name="Picture 2" descr="Screen Shot 2012-02-13 at 11.03.50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6691"/>
            <a:ext cx="9144000" cy="1063459"/>
          </a:xfrm>
          <a:prstGeom prst="rect">
            <a:avLst/>
          </a:prstGeom>
        </p:spPr>
      </p:pic>
      <p:pic>
        <p:nvPicPr>
          <p:cNvPr id="8" name="Picture 7" descr="Screen Shot 2012-02-13 at 11.03.54 AM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8"/>
          <a:stretch/>
        </p:blipFill>
        <p:spPr>
          <a:xfrm>
            <a:off x="-128075" y="5816160"/>
            <a:ext cx="3828900" cy="1041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38748" y="2044103"/>
            <a:ext cx="1152672" cy="1178797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Screen Shot 2012-02-13 at 11.03.42 A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652" y="2283776"/>
            <a:ext cx="1752348" cy="70727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718336" y="4823678"/>
            <a:ext cx="2977736" cy="1109873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418254" y="463901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93062" y="1186113"/>
            <a:ext cx="2476111" cy="857990"/>
          </a:xfrm>
          <a:prstGeom prst="round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4696072" y="4821779"/>
            <a:ext cx="2695580" cy="1111772"/>
          </a:xfrm>
          <a:prstGeom prst="round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creen Shot 2012-02-15 at 2.58.10 PM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950" y="0"/>
            <a:ext cx="6235049" cy="117043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197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4" grpId="0" animBg="1"/>
      <p:bldP spid="1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2-02-13 at 11.03.14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574380"/>
          </a:xfrm>
          <a:prstGeom prst="rect">
            <a:avLst/>
          </a:prstGeom>
        </p:spPr>
      </p:pic>
      <p:pic>
        <p:nvPicPr>
          <p:cNvPr id="5" name="Picture 4" descr="Screen Shot 2012-02-13 at 11.03.18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2983"/>
            <a:ext cx="9144000" cy="163032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731344" y="1437163"/>
            <a:ext cx="864503" cy="650983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Screen Shot 2012-02-13 at 11.03.54 AM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8"/>
          <a:stretch/>
        </p:blipFill>
        <p:spPr>
          <a:xfrm>
            <a:off x="1334111" y="2437566"/>
            <a:ext cx="3423330" cy="931485"/>
          </a:xfrm>
          <a:prstGeom prst="rect">
            <a:avLst/>
          </a:prstGeom>
        </p:spPr>
      </p:pic>
      <p:pic>
        <p:nvPicPr>
          <p:cNvPr id="8" name="Picture 7" descr="Screen Shot 2012-02-13 at 11.24.04 A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9" r="7809"/>
          <a:stretch/>
        </p:blipFill>
        <p:spPr>
          <a:xfrm>
            <a:off x="-28872" y="4416938"/>
            <a:ext cx="6643768" cy="1193919"/>
          </a:xfrm>
          <a:prstGeom prst="rect">
            <a:avLst/>
          </a:prstGeom>
        </p:spPr>
      </p:pic>
      <p:pic>
        <p:nvPicPr>
          <p:cNvPr id="11" name="Picture 10" descr="Screen Shot 2012-02-13 at 11.27.09 AM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69051"/>
            <a:ext cx="9144000" cy="1018057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53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A8944C-6BF2-EF79-E578-DB052CEAA66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227" t="12871"/>
          <a:stretch/>
        </p:blipFill>
        <p:spPr>
          <a:xfrm>
            <a:off x="6553200" y="4872551"/>
            <a:ext cx="2868614" cy="4442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E9C1B70-1E8A-9BCC-1184-0A7EEB6BFC90}"/>
              </a:ext>
            </a:extLst>
          </p:cNvPr>
          <p:cNvSpPr txBox="1"/>
          <p:nvPr/>
        </p:nvSpPr>
        <p:spPr>
          <a:xfrm>
            <a:off x="871537" y="5745867"/>
            <a:ext cx="3797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Recall linear regression SGD update:</a:t>
            </a:r>
          </a:p>
        </p:txBody>
      </p:sp>
      <p:pic>
        <p:nvPicPr>
          <p:cNvPr id="15" name="Picture 1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76D3E9D0-4E16-5B41-56E3-CAB5BA31EA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1363" y="5610857"/>
            <a:ext cx="37211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985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5C2F8-6D85-940E-8DAD-06ACB1B0C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55405B-758A-3B28-3859-A986DEF03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3620E5-EF8F-CDB3-257C-A8C37AD36410}"/>
              </a:ext>
            </a:extLst>
          </p:cNvPr>
          <p:cNvSpPr txBox="1"/>
          <p:nvPr/>
        </p:nvSpPr>
        <p:spPr>
          <a:xfrm>
            <a:off x="1012824" y="1588205"/>
            <a:ext cx="3797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Recall linear regression SGD update:</a:t>
            </a:r>
          </a:p>
        </p:txBody>
      </p:sp>
      <p:pic>
        <p:nvPicPr>
          <p:cNvPr id="15" name="Picture 1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568C31F4-7DB2-5DCB-3BE8-F06E157D7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650" y="1453195"/>
            <a:ext cx="3721100" cy="939800"/>
          </a:xfrm>
          <a:prstGeom prst="rect">
            <a:avLst/>
          </a:prstGeom>
        </p:spPr>
      </p:pic>
      <p:pic>
        <p:nvPicPr>
          <p:cNvPr id="3" name="Picture 2" descr="Screen Shot 2012-02-13 at 11.24.04 AM.png">
            <a:extLst>
              <a:ext uri="{FF2B5EF4-FFF2-40B4-BE49-F238E27FC236}">
                <a16:creationId xmlns:a16="http://schemas.microsoft.com/office/drawing/2014/main" id="{6141830E-95DD-C846-6C3F-3AF710896E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9" r="7809"/>
          <a:stretch/>
        </p:blipFill>
        <p:spPr>
          <a:xfrm>
            <a:off x="112415" y="259276"/>
            <a:ext cx="6643768" cy="11939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169BFD-9ED6-AFA3-DD89-F264E43F27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27" t="12871"/>
          <a:stretch/>
        </p:blipFill>
        <p:spPr>
          <a:xfrm>
            <a:off x="6694487" y="714889"/>
            <a:ext cx="2868614" cy="4442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775CB3-B7E0-11CC-B031-14960069BE3E}"/>
              </a:ext>
            </a:extLst>
          </p:cNvPr>
          <p:cNvSpPr txBox="1"/>
          <p:nvPr/>
        </p:nvSpPr>
        <p:spPr>
          <a:xfrm>
            <a:off x="757238" y="3100388"/>
            <a:ext cx="7543800" cy="304698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William’s comments: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Logistic regression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loss is a special-case of cross-entropy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very closely related to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softmax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this is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very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widely used in DL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Kind of crazy they are so similar!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Linear regression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Logistic regression/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softmax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75682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82FC2-A40E-3454-3C7D-3C2CEFAE3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Expectation-Maximization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9DA69F-9CDF-9550-A076-9CE890EB8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55</a:t>
            </a:fld>
            <a:endParaRPr lang="en-US"/>
          </a:p>
        </p:txBody>
      </p:sp>
      <p:pic>
        <p:nvPicPr>
          <p:cNvPr id="5" name="Picture 4" descr="A diagram of a complex object&#10;&#10;AI-generated content may be incorrect.">
            <a:extLst>
              <a:ext uri="{FF2B5EF4-FFF2-40B4-BE49-F238E27FC236}">
                <a16:creationId xmlns:a16="http://schemas.microsoft.com/office/drawing/2014/main" id="{5850F4FA-78C3-E22E-5C8E-18C477CFF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9" y="1032622"/>
            <a:ext cx="3669617" cy="33194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774C62-8520-6067-47EC-3F7493441199}"/>
              </a:ext>
            </a:extLst>
          </p:cNvPr>
          <p:cNvSpPr txBox="1"/>
          <p:nvPr/>
        </p:nvSpPr>
        <p:spPr>
          <a:xfrm>
            <a:off x="600075" y="1441231"/>
            <a:ext cx="363260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EM is a kind of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coordinate ascent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Split variables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w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to optimize into two sets:  </a:t>
            </a:r>
            <a:r>
              <a:rPr lang="en-US" sz="2000" i="1" dirty="0" err="1">
                <a:latin typeface="Calibri" panose="020F0502020204030204" pitchFamily="34" charset="0"/>
                <a:cs typeface="Calibri" panose="020F0502020204030204" pitchFamily="34" charset="0"/>
              </a:rPr>
              <a:t>x,y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Fix one set (</a:t>
            </a:r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x)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and optimize the other (</a:t>
            </a:r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y)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Then fix </a:t>
            </a:r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y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and optimize </a:t>
            </a:r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Then repeat…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497376-0A87-FD5D-7718-2E23BEBE644F}"/>
              </a:ext>
            </a:extLst>
          </p:cNvPr>
          <p:cNvSpPr txBox="1"/>
          <p:nvPr/>
        </p:nvSpPr>
        <p:spPr>
          <a:xfrm>
            <a:off x="1144627" y="4257585"/>
            <a:ext cx="68547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7953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A2A9B-70C6-0F8F-81A6-0B79B2152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43C75-AC69-39D0-68F2-D87FF27FB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Expectation-Maximization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F8777B-6C16-A62E-E468-E185E4C7A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20883A-82ED-3E08-84C3-EACAFEEAD1B9}"/>
              </a:ext>
            </a:extLst>
          </p:cNvPr>
          <p:cNvSpPr txBox="1"/>
          <p:nvPr/>
        </p:nvSpPr>
        <p:spPr>
          <a:xfrm>
            <a:off x="600075" y="1441231"/>
            <a:ext cx="363260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 EM there is typically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instances 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“soft assignment” of each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4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to a “cluster”,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sz="24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sz="2400" i="1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i,j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Pr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4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in cluster j)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parameters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</a:p>
          <a:p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Then do coordinate descent on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w, Z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to maximize 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–log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|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w, Z)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5F79584-4626-E304-60A6-D0E95C573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4838" y="1396999"/>
            <a:ext cx="4572000" cy="392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70673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3026569"/>
            <a:ext cx="8648700" cy="8048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An example from Ron </a:t>
            </a:r>
            <a:r>
              <a:rPr lang="en-US" dirty="0" err="1"/>
              <a:t>Bekkerman</a:t>
            </a:r>
            <a:br>
              <a:rPr lang="en-US" dirty="0"/>
            </a:br>
            <a:r>
              <a:rPr lang="en-US" dirty="0"/>
              <a:t>k-means in Map-Reduce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2929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i="1" dirty="0"/>
              <a:t>k</a:t>
            </a:r>
            <a:r>
              <a:rPr lang="en-US" dirty="0"/>
              <a:t>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An EM-like algorithm:</a:t>
            </a:r>
          </a:p>
          <a:p>
            <a:r>
              <a:rPr lang="en-US" dirty="0"/>
              <a:t>Initialize </a:t>
            </a:r>
            <a:r>
              <a:rPr lang="en-US" i="1" dirty="0">
                <a:latin typeface="Times New Roman" pitchFamily="18" charset="0"/>
              </a:rPr>
              <a:t>k</a:t>
            </a:r>
            <a:r>
              <a:rPr lang="en-US" dirty="0"/>
              <a:t> cluster </a:t>
            </a:r>
            <a:r>
              <a:rPr lang="en-US" dirty="0" err="1"/>
              <a:t>centroids</a:t>
            </a:r>
            <a:endParaRPr lang="en-US" dirty="0"/>
          </a:p>
          <a:p>
            <a:r>
              <a:rPr lang="en-US" dirty="0"/>
              <a:t>E-step: associate each data instance with the closest </a:t>
            </a:r>
            <a:r>
              <a:rPr lang="en-US" dirty="0" err="1"/>
              <a:t>centroid</a:t>
            </a:r>
            <a:endParaRPr lang="en-US" dirty="0"/>
          </a:p>
          <a:p>
            <a:pPr lvl="1"/>
            <a:r>
              <a:rPr lang="en-US" dirty="0"/>
              <a:t>Find expected values of cluster assignments given the data and </a:t>
            </a:r>
            <a:r>
              <a:rPr lang="en-US" dirty="0" err="1"/>
              <a:t>centroids</a:t>
            </a:r>
            <a:endParaRPr lang="en-US" dirty="0"/>
          </a:p>
          <a:p>
            <a:r>
              <a:rPr lang="en-US" dirty="0"/>
              <a:t>M-step: recalculate </a:t>
            </a:r>
            <a:r>
              <a:rPr lang="en-US" dirty="0" err="1"/>
              <a:t>centroids</a:t>
            </a:r>
            <a:r>
              <a:rPr lang="en-US" dirty="0"/>
              <a:t> as an average of the associated data instances</a:t>
            </a:r>
          </a:p>
          <a:p>
            <a:pPr lvl="1"/>
            <a:r>
              <a:rPr lang="en-US" dirty="0"/>
              <a:t>Find new </a:t>
            </a:r>
            <a:r>
              <a:rPr lang="en-US" dirty="0" err="1"/>
              <a:t>centroids</a:t>
            </a:r>
            <a:r>
              <a:rPr lang="en-US" dirty="0"/>
              <a:t> that maximize that expectation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8674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i="1" dirty="0"/>
              <a:t>k</a:t>
            </a:r>
            <a:r>
              <a:rPr lang="en-US" dirty="0"/>
              <a:t>-means Clustering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828800" y="1143000"/>
            <a:ext cx="5486400" cy="5486400"/>
          </a:xfrm>
          <a:prstGeom prst="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2362200" y="160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/>
          <p:nvPr/>
        </p:nvSpPr>
        <p:spPr>
          <a:xfrm>
            <a:off x="3429000" y="1752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2590800" y="1676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3581400" y="160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/>
          <p:cNvSpPr/>
          <p:nvPr/>
        </p:nvSpPr>
        <p:spPr>
          <a:xfrm>
            <a:off x="6248400" y="2971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/>
          <p:cNvSpPr/>
          <p:nvPr/>
        </p:nvSpPr>
        <p:spPr>
          <a:xfrm>
            <a:off x="56388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/>
          <p:cNvSpPr/>
          <p:nvPr/>
        </p:nvSpPr>
        <p:spPr>
          <a:xfrm>
            <a:off x="4114800" y="1524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/>
          <p:cNvSpPr/>
          <p:nvPr/>
        </p:nvSpPr>
        <p:spPr>
          <a:xfrm>
            <a:off x="22098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/>
          <p:cNvSpPr/>
          <p:nvPr/>
        </p:nvSpPr>
        <p:spPr>
          <a:xfrm>
            <a:off x="3124200" y="2209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/>
          <p:cNvSpPr/>
          <p:nvPr/>
        </p:nvSpPr>
        <p:spPr>
          <a:xfrm>
            <a:off x="34290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/>
          <p:cNvSpPr/>
          <p:nvPr/>
        </p:nvSpPr>
        <p:spPr>
          <a:xfrm>
            <a:off x="28194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/>
          <p:cNvSpPr/>
          <p:nvPr/>
        </p:nvSpPr>
        <p:spPr>
          <a:xfrm>
            <a:off x="38100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/>
          <p:cNvSpPr/>
          <p:nvPr/>
        </p:nvSpPr>
        <p:spPr>
          <a:xfrm>
            <a:off x="5867400" y="2895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/>
          <p:cNvSpPr/>
          <p:nvPr/>
        </p:nvSpPr>
        <p:spPr>
          <a:xfrm>
            <a:off x="5791200" y="182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/>
          <p:cNvSpPr/>
          <p:nvPr/>
        </p:nvSpPr>
        <p:spPr>
          <a:xfrm>
            <a:off x="43434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/>
          <p:cNvSpPr/>
          <p:nvPr/>
        </p:nvSpPr>
        <p:spPr>
          <a:xfrm>
            <a:off x="24384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/>
          <p:cNvSpPr/>
          <p:nvPr/>
        </p:nvSpPr>
        <p:spPr>
          <a:xfrm>
            <a:off x="36576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/>
          <p:cNvSpPr/>
          <p:nvPr/>
        </p:nvSpPr>
        <p:spPr>
          <a:xfrm>
            <a:off x="31242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/>
          <p:cNvSpPr/>
          <p:nvPr/>
        </p:nvSpPr>
        <p:spPr>
          <a:xfrm>
            <a:off x="28194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/>
          <p:cNvSpPr/>
          <p:nvPr/>
        </p:nvSpPr>
        <p:spPr>
          <a:xfrm>
            <a:off x="37338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/>
          <p:cNvSpPr/>
          <p:nvPr/>
        </p:nvSpPr>
        <p:spPr>
          <a:xfrm>
            <a:off x="5943600" y="2362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/>
          <p:cNvSpPr/>
          <p:nvPr/>
        </p:nvSpPr>
        <p:spPr>
          <a:xfrm>
            <a:off x="5181600" y="3048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/>
          <p:cNvSpPr/>
          <p:nvPr/>
        </p:nvSpPr>
        <p:spPr>
          <a:xfrm>
            <a:off x="4114800" y="2438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/>
          <p:cNvSpPr/>
          <p:nvPr/>
        </p:nvSpPr>
        <p:spPr>
          <a:xfrm>
            <a:off x="22098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/>
          <p:cNvSpPr/>
          <p:nvPr/>
        </p:nvSpPr>
        <p:spPr>
          <a:xfrm>
            <a:off x="3429000" y="4191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/>
          <p:cNvSpPr/>
          <p:nvPr/>
        </p:nvSpPr>
        <p:spPr>
          <a:xfrm>
            <a:off x="28956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/>
          <p:cNvSpPr/>
          <p:nvPr/>
        </p:nvSpPr>
        <p:spPr>
          <a:xfrm>
            <a:off x="25908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/>
          <p:cNvSpPr/>
          <p:nvPr/>
        </p:nvSpPr>
        <p:spPr>
          <a:xfrm>
            <a:off x="37338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/>
          <p:cNvSpPr/>
          <p:nvPr/>
        </p:nvSpPr>
        <p:spPr>
          <a:xfrm>
            <a:off x="67056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/>
          <p:cNvSpPr/>
          <p:nvPr/>
        </p:nvSpPr>
        <p:spPr>
          <a:xfrm>
            <a:off x="5791200" y="3810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/>
          <p:cNvSpPr/>
          <p:nvPr/>
        </p:nvSpPr>
        <p:spPr>
          <a:xfrm>
            <a:off x="41910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/>
          <p:cNvSpPr/>
          <p:nvPr/>
        </p:nvSpPr>
        <p:spPr>
          <a:xfrm>
            <a:off x="24384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/>
          <p:cNvSpPr/>
          <p:nvPr/>
        </p:nvSpPr>
        <p:spPr>
          <a:xfrm>
            <a:off x="34290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/>
          <p:cNvSpPr/>
          <p:nvPr/>
        </p:nvSpPr>
        <p:spPr>
          <a:xfrm>
            <a:off x="31242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/>
          <p:cNvSpPr/>
          <p:nvPr/>
        </p:nvSpPr>
        <p:spPr>
          <a:xfrm>
            <a:off x="3886200" y="3124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/>
          <p:cNvSpPr/>
          <p:nvPr/>
        </p:nvSpPr>
        <p:spPr>
          <a:xfrm>
            <a:off x="6400800" y="2133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/>
          <p:cNvSpPr/>
          <p:nvPr/>
        </p:nvSpPr>
        <p:spPr>
          <a:xfrm>
            <a:off x="58674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/>
          <p:cNvSpPr/>
          <p:nvPr/>
        </p:nvSpPr>
        <p:spPr>
          <a:xfrm>
            <a:off x="5943600" y="3352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/>
          <p:cNvSpPr/>
          <p:nvPr/>
        </p:nvSpPr>
        <p:spPr>
          <a:xfrm>
            <a:off x="2438400" y="3429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/>
          <p:cNvSpPr/>
          <p:nvPr/>
        </p:nvSpPr>
        <p:spPr>
          <a:xfrm>
            <a:off x="3276600" y="3124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/>
          <p:cNvSpPr/>
          <p:nvPr/>
        </p:nvSpPr>
        <p:spPr>
          <a:xfrm>
            <a:off x="3200400" y="3429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/>
          <p:cNvSpPr/>
          <p:nvPr/>
        </p:nvSpPr>
        <p:spPr>
          <a:xfrm>
            <a:off x="2819400" y="3200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/>
          <p:cNvSpPr/>
          <p:nvPr/>
        </p:nvSpPr>
        <p:spPr>
          <a:xfrm>
            <a:off x="3733800" y="3505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/>
          <p:cNvSpPr/>
          <p:nvPr/>
        </p:nvSpPr>
        <p:spPr>
          <a:xfrm>
            <a:off x="61722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/>
          <p:cNvSpPr/>
          <p:nvPr/>
        </p:nvSpPr>
        <p:spPr>
          <a:xfrm>
            <a:off x="6553200" y="3200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/>
          <p:cNvSpPr/>
          <p:nvPr/>
        </p:nvSpPr>
        <p:spPr>
          <a:xfrm>
            <a:off x="3276600" y="541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/>
          <p:cNvSpPr/>
          <p:nvPr/>
        </p:nvSpPr>
        <p:spPr>
          <a:xfrm>
            <a:off x="4800600" y="541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/>
          <p:cNvSpPr/>
          <p:nvPr/>
        </p:nvSpPr>
        <p:spPr>
          <a:xfrm>
            <a:off x="3886200" y="5029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/>
          <p:cNvSpPr/>
          <p:nvPr/>
        </p:nvSpPr>
        <p:spPr>
          <a:xfrm>
            <a:off x="5867400" y="563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/>
          <p:cNvSpPr/>
          <p:nvPr/>
        </p:nvSpPr>
        <p:spPr>
          <a:xfrm>
            <a:off x="4419600" y="5105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/>
          <p:cNvSpPr/>
          <p:nvPr/>
        </p:nvSpPr>
        <p:spPr>
          <a:xfrm>
            <a:off x="5181600" y="4724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/>
          <p:cNvSpPr/>
          <p:nvPr/>
        </p:nvSpPr>
        <p:spPr>
          <a:xfrm>
            <a:off x="5105400" y="5105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/>
          <p:cNvSpPr/>
          <p:nvPr/>
        </p:nvSpPr>
        <p:spPr>
          <a:xfrm>
            <a:off x="4724400" y="6172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/>
          <p:cNvSpPr/>
          <p:nvPr/>
        </p:nvSpPr>
        <p:spPr>
          <a:xfrm>
            <a:off x="5181600" y="5334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/>
          <p:cNvSpPr/>
          <p:nvPr/>
        </p:nvSpPr>
        <p:spPr>
          <a:xfrm>
            <a:off x="5486400" y="5943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/>
          <p:cNvSpPr/>
          <p:nvPr/>
        </p:nvSpPr>
        <p:spPr>
          <a:xfrm>
            <a:off x="4267200" y="563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/>
          <p:cNvSpPr/>
          <p:nvPr/>
        </p:nvSpPr>
        <p:spPr>
          <a:xfrm>
            <a:off x="4953000" y="563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/>
          <p:cNvSpPr/>
          <p:nvPr/>
        </p:nvSpPr>
        <p:spPr>
          <a:xfrm>
            <a:off x="5410200" y="5562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/>
          <p:cNvSpPr/>
          <p:nvPr/>
        </p:nvSpPr>
        <p:spPr>
          <a:xfrm>
            <a:off x="5638800" y="5181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/>
          <p:cNvSpPr/>
          <p:nvPr/>
        </p:nvSpPr>
        <p:spPr>
          <a:xfrm>
            <a:off x="4876800" y="5181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/>
          <p:cNvSpPr/>
          <p:nvPr/>
        </p:nvSpPr>
        <p:spPr>
          <a:xfrm>
            <a:off x="5943600" y="4876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/>
          <p:cNvSpPr/>
          <p:nvPr/>
        </p:nvSpPr>
        <p:spPr>
          <a:xfrm>
            <a:off x="2743200" y="3886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/>
          <p:cNvSpPr/>
          <p:nvPr/>
        </p:nvSpPr>
        <p:spPr>
          <a:xfrm>
            <a:off x="5029200" y="2209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/>
          <p:cNvSpPr/>
          <p:nvPr/>
        </p:nvSpPr>
        <p:spPr>
          <a:xfrm rot="21407003">
            <a:off x="1978867" y="1140656"/>
            <a:ext cx="2768645" cy="3196723"/>
          </a:xfrm>
          <a:prstGeom prst="ellipse">
            <a:avLst/>
          </a:prstGeom>
          <a:noFill/>
          <a:ln w="38100">
            <a:solidFill>
              <a:srgbClr val="CC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/>
          <p:cNvSpPr/>
          <p:nvPr/>
        </p:nvSpPr>
        <p:spPr>
          <a:xfrm rot="223987">
            <a:off x="5102132" y="1776204"/>
            <a:ext cx="1785562" cy="2244747"/>
          </a:xfrm>
          <a:prstGeom prst="ellipse">
            <a:avLst/>
          </a:prstGeom>
          <a:noFill/>
          <a:ln w="38100">
            <a:solidFill>
              <a:srgbClr val="CC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/>
          <p:cNvSpPr/>
          <p:nvPr/>
        </p:nvSpPr>
        <p:spPr>
          <a:xfrm rot="5400000">
            <a:off x="3787430" y="4061170"/>
            <a:ext cx="1797737" cy="2819401"/>
          </a:xfrm>
          <a:prstGeom prst="ellipse">
            <a:avLst/>
          </a:prstGeom>
          <a:noFill/>
          <a:ln w="3810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/>
          <p:cNvSpPr txBox="1"/>
          <p:nvPr/>
        </p:nvSpPr>
        <p:spPr>
          <a:xfrm>
            <a:off x="5867400" y="4267200"/>
            <a:ext cx="1219200" cy="306467"/>
          </a:xfrm>
          <a:prstGeom prst="wedgeRoundRectCallout">
            <a:avLst>
              <a:gd name="adj1" fmla="val -35126"/>
              <a:gd name="adj2" fmla="val 151355"/>
              <a:gd name="adj3" fmla="val 16667"/>
            </a:avLst>
          </a:prstGeom>
          <a:noFill/>
          <a:ln w="38100">
            <a:solidFill>
              <a:schemeClr val="accent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b="1" dirty="0" err="1"/>
              <a:t>centroids</a:t>
            </a:r>
            <a:endParaRPr lang="en-US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841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500" fill="hold"/>
                                        <p:tgtEl>
                                          <p:spTgt spid="13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500" fill="hold"/>
                                        <p:tgtEl>
                                          <p:spTgt spid="11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500" fill="hold"/>
                                        <p:tgtEl>
                                          <p:spTgt spid="13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2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34" dur="2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2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7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90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9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10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10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11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11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11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2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26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30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1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34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38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42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46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7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50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54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58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62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3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66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7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70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74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5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78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9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8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86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9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9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9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02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06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10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1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14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1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22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3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26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7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9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30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34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5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38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9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1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4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46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5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5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5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5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9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1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6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5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66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7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7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1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29325E-6 L 0.03334 -0.12211 " pathEditMode="relative" rAng="0" ptsTypes="AA">
                                      <p:cBhvr>
                                        <p:cTn id="275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0" y="-6100"/>
                                    </p:animMotion>
                                  </p:childTnLst>
                                </p:cTn>
                              </p:par>
                              <p:par>
                                <p:cTn id="276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33333E-6 L 0.03334 0.02223 " pathEditMode="relative" rAng="0" ptsTypes="AA">
                                      <p:cBhvr>
                                        <p:cTn id="27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0" y="1100"/>
                                    </p:animMotion>
                                  </p:childTnLst>
                                </p:cTn>
                              </p:par>
                              <p:par>
                                <p:cTn id="278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22222E-6 L -0.08333 0.06667 " pathEditMode="relative" rAng="0" ptsTypes="AA">
                                      <p:cBhvr>
                                        <p:cTn id="279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00" y="3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3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84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5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8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9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9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30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30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30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1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312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316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9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320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1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3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324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5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35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333 0.06667 L -0.125 0.07778 " pathEditMode="relative" rAng="0" ptsTypes="AA">
                                      <p:cBhvr>
                                        <p:cTn id="329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00" y="600"/>
                                    </p:animMotion>
                                  </p:childTnLst>
                                </p:cTn>
                              </p:par>
                              <p:par>
                                <p:cTn id="330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334 0.02223 L 0.09167 0.06667 " pathEditMode="relative" rAng="0" ptsTypes="AA">
                                      <p:cBhvr>
                                        <p:cTn id="331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00" y="2200"/>
                                    </p:animMotion>
                                  </p:childTnLst>
                                </p:cTn>
                              </p:par>
                              <p:par>
                                <p:cTn id="332" presetID="64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334 -0.12222 L 0.05834 -0.17778 " pathEditMode="relative" rAng="0" ptsTypes="AA">
                                      <p:cBhvr>
                                        <p:cTn id="333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0" y="-2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33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34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 animBg="1"/>
      <p:bldP spid="137" grpId="1" animBg="1"/>
      <p:bldP spid="137" grpId="2" animBg="1"/>
      <p:bldP spid="118" grpId="0" animBg="1"/>
      <p:bldP spid="118" grpId="1" animBg="1"/>
      <p:bldP spid="118" grpId="2" animBg="1"/>
      <p:bldP spid="130" grpId="0" animBg="1"/>
      <p:bldP spid="130" grpId="1" animBg="1"/>
      <p:bldP spid="130" grpId="2" animBg="1"/>
      <p:bldP spid="147" grpId="0" animBg="1"/>
      <p:bldP spid="148" grpId="0" animBg="1"/>
      <p:bldP spid="149" grpId="0" animBg="1"/>
      <p:bldP spid="70" grpId="0" animBg="1"/>
      <p:bldP spid="70" grpId="1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Rectangle 292"/>
          <p:cNvSpPr/>
          <p:nvPr/>
        </p:nvSpPr>
        <p:spPr>
          <a:xfrm>
            <a:off x="1828800" y="1143000"/>
            <a:ext cx="5486400" cy="5486400"/>
          </a:xfrm>
          <a:prstGeom prst="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Parallelizing </a:t>
            </a:r>
            <a:r>
              <a:rPr lang="en-US" i="1" dirty="0"/>
              <a:t>k</a:t>
            </a:r>
            <a:r>
              <a:rPr lang="en-US" dirty="0"/>
              <a:t>-means</a:t>
            </a:r>
          </a:p>
        </p:txBody>
      </p:sp>
      <p:sp>
        <p:nvSpPr>
          <p:cNvPr id="50" name="Oval 49"/>
          <p:cNvSpPr/>
          <p:nvPr/>
        </p:nvSpPr>
        <p:spPr>
          <a:xfrm>
            <a:off x="2362200" y="160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/>
          <p:cNvSpPr/>
          <p:nvPr/>
        </p:nvSpPr>
        <p:spPr>
          <a:xfrm>
            <a:off x="3429000" y="1752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/>
          <p:cNvSpPr/>
          <p:nvPr/>
        </p:nvSpPr>
        <p:spPr>
          <a:xfrm>
            <a:off x="3048000" y="182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/>
          <p:cNvSpPr/>
          <p:nvPr/>
        </p:nvSpPr>
        <p:spPr>
          <a:xfrm>
            <a:off x="2819400" y="1524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Oval 295"/>
          <p:cNvSpPr/>
          <p:nvPr/>
        </p:nvSpPr>
        <p:spPr>
          <a:xfrm>
            <a:off x="3581400" y="160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Oval 296"/>
          <p:cNvSpPr/>
          <p:nvPr/>
        </p:nvSpPr>
        <p:spPr>
          <a:xfrm>
            <a:off x="6248400" y="2971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Oval 297"/>
          <p:cNvSpPr/>
          <p:nvPr/>
        </p:nvSpPr>
        <p:spPr>
          <a:xfrm>
            <a:off x="56388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Oval 298"/>
          <p:cNvSpPr/>
          <p:nvPr/>
        </p:nvSpPr>
        <p:spPr>
          <a:xfrm>
            <a:off x="4114800" y="1524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Oval 299"/>
          <p:cNvSpPr/>
          <p:nvPr/>
        </p:nvSpPr>
        <p:spPr>
          <a:xfrm>
            <a:off x="22098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Oval 300"/>
          <p:cNvSpPr/>
          <p:nvPr/>
        </p:nvSpPr>
        <p:spPr>
          <a:xfrm>
            <a:off x="3124200" y="2209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2" name="Oval 301"/>
          <p:cNvSpPr/>
          <p:nvPr/>
        </p:nvSpPr>
        <p:spPr>
          <a:xfrm>
            <a:off x="34290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Oval 302"/>
          <p:cNvSpPr/>
          <p:nvPr/>
        </p:nvSpPr>
        <p:spPr>
          <a:xfrm>
            <a:off x="28194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Oval 303"/>
          <p:cNvSpPr/>
          <p:nvPr/>
        </p:nvSpPr>
        <p:spPr>
          <a:xfrm>
            <a:off x="38100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Oval 304"/>
          <p:cNvSpPr/>
          <p:nvPr/>
        </p:nvSpPr>
        <p:spPr>
          <a:xfrm>
            <a:off x="5867400" y="2895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Oval 305"/>
          <p:cNvSpPr/>
          <p:nvPr/>
        </p:nvSpPr>
        <p:spPr>
          <a:xfrm>
            <a:off x="5791200" y="182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" name="Oval 306"/>
          <p:cNvSpPr/>
          <p:nvPr/>
        </p:nvSpPr>
        <p:spPr>
          <a:xfrm>
            <a:off x="43434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" name="Oval 307"/>
          <p:cNvSpPr/>
          <p:nvPr/>
        </p:nvSpPr>
        <p:spPr>
          <a:xfrm>
            <a:off x="24384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" name="Oval 308"/>
          <p:cNvSpPr/>
          <p:nvPr/>
        </p:nvSpPr>
        <p:spPr>
          <a:xfrm>
            <a:off x="36576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Oval 309"/>
          <p:cNvSpPr/>
          <p:nvPr/>
        </p:nvSpPr>
        <p:spPr>
          <a:xfrm>
            <a:off x="31242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Oval 310"/>
          <p:cNvSpPr/>
          <p:nvPr/>
        </p:nvSpPr>
        <p:spPr>
          <a:xfrm>
            <a:off x="28194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Oval 311"/>
          <p:cNvSpPr/>
          <p:nvPr/>
        </p:nvSpPr>
        <p:spPr>
          <a:xfrm>
            <a:off x="37338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" name="Oval 312"/>
          <p:cNvSpPr/>
          <p:nvPr/>
        </p:nvSpPr>
        <p:spPr>
          <a:xfrm>
            <a:off x="5943600" y="2362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4" name="Oval 313"/>
          <p:cNvSpPr/>
          <p:nvPr/>
        </p:nvSpPr>
        <p:spPr>
          <a:xfrm>
            <a:off x="5181600" y="3048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Oval 314"/>
          <p:cNvSpPr/>
          <p:nvPr/>
        </p:nvSpPr>
        <p:spPr>
          <a:xfrm>
            <a:off x="4114800" y="2438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Oval 315"/>
          <p:cNvSpPr/>
          <p:nvPr/>
        </p:nvSpPr>
        <p:spPr>
          <a:xfrm>
            <a:off x="22098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Oval 316"/>
          <p:cNvSpPr/>
          <p:nvPr/>
        </p:nvSpPr>
        <p:spPr>
          <a:xfrm>
            <a:off x="3429000" y="4191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Oval 317"/>
          <p:cNvSpPr/>
          <p:nvPr/>
        </p:nvSpPr>
        <p:spPr>
          <a:xfrm>
            <a:off x="28956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Oval 318"/>
          <p:cNvSpPr/>
          <p:nvPr/>
        </p:nvSpPr>
        <p:spPr>
          <a:xfrm>
            <a:off x="25908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Oval 319"/>
          <p:cNvSpPr/>
          <p:nvPr/>
        </p:nvSpPr>
        <p:spPr>
          <a:xfrm>
            <a:off x="37338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Oval 320"/>
          <p:cNvSpPr/>
          <p:nvPr/>
        </p:nvSpPr>
        <p:spPr>
          <a:xfrm>
            <a:off x="67056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Oval 321"/>
          <p:cNvSpPr/>
          <p:nvPr/>
        </p:nvSpPr>
        <p:spPr>
          <a:xfrm>
            <a:off x="5715000" y="3505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" name="Oval 322"/>
          <p:cNvSpPr/>
          <p:nvPr/>
        </p:nvSpPr>
        <p:spPr>
          <a:xfrm>
            <a:off x="41910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4" name="Oval 323"/>
          <p:cNvSpPr/>
          <p:nvPr/>
        </p:nvSpPr>
        <p:spPr>
          <a:xfrm>
            <a:off x="24384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" name="Oval 324"/>
          <p:cNvSpPr/>
          <p:nvPr/>
        </p:nvSpPr>
        <p:spPr>
          <a:xfrm>
            <a:off x="34290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Oval 325"/>
          <p:cNvSpPr/>
          <p:nvPr/>
        </p:nvSpPr>
        <p:spPr>
          <a:xfrm>
            <a:off x="31242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" name="Oval 326"/>
          <p:cNvSpPr/>
          <p:nvPr/>
        </p:nvSpPr>
        <p:spPr>
          <a:xfrm>
            <a:off x="2743200" y="3886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Oval 327"/>
          <p:cNvSpPr/>
          <p:nvPr/>
        </p:nvSpPr>
        <p:spPr>
          <a:xfrm>
            <a:off x="3886200" y="3124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" name="Oval 328"/>
          <p:cNvSpPr/>
          <p:nvPr/>
        </p:nvSpPr>
        <p:spPr>
          <a:xfrm>
            <a:off x="6400800" y="2133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Oval 329"/>
          <p:cNvSpPr/>
          <p:nvPr/>
        </p:nvSpPr>
        <p:spPr>
          <a:xfrm>
            <a:off x="58674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" name="Oval 330"/>
          <p:cNvSpPr/>
          <p:nvPr/>
        </p:nvSpPr>
        <p:spPr>
          <a:xfrm>
            <a:off x="5943600" y="3352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Oval 331"/>
          <p:cNvSpPr/>
          <p:nvPr/>
        </p:nvSpPr>
        <p:spPr>
          <a:xfrm>
            <a:off x="2438400" y="3429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Oval 332"/>
          <p:cNvSpPr/>
          <p:nvPr/>
        </p:nvSpPr>
        <p:spPr>
          <a:xfrm>
            <a:off x="3276600" y="3124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" name="Oval 333"/>
          <p:cNvSpPr/>
          <p:nvPr/>
        </p:nvSpPr>
        <p:spPr>
          <a:xfrm>
            <a:off x="3200400" y="3429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" name="Oval 334"/>
          <p:cNvSpPr/>
          <p:nvPr/>
        </p:nvSpPr>
        <p:spPr>
          <a:xfrm>
            <a:off x="2819400" y="3200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" name="Oval 335"/>
          <p:cNvSpPr/>
          <p:nvPr/>
        </p:nvSpPr>
        <p:spPr>
          <a:xfrm>
            <a:off x="3733800" y="3505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" name="Oval 336"/>
          <p:cNvSpPr/>
          <p:nvPr/>
        </p:nvSpPr>
        <p:spPr>
          <a:xfrm>
            <a:off x="61722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" name="Oval 337"/>
          <p:cNvSpPr/>
          <p:nvPr/>
        </p:nvSpPr>
        <p:spPr>
          <a:xfrm>
            <a:off x="6553200" y="3276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9" name="Oval 338"/>
          <p:cNvSpPr/>
          <p:nvPr/>
        </p:nvSpPr>
        <p:spPr>
          <a:xfrm>
            <a:off x="5029200" y="2209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0" name="Oval 339"/>
          <p:cNvSpPr/>
          <p:nvPr/>
        </p:nvSpPr>
        <p:spPr>
          <a:xfrm>
            <a:off x="3276600" y="541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1" name="Oval 340"/>
          <p:cNvSpPr/>
          <p:nvPr/>
        </p:nvSpPr>
        <p:spPr>
          <a:xfrm>
            <a:off x="4800600" y="541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" name="Oval 341"/>
          <p:cNvSpPr/>
          <p:nvPr/>
        </p:nvSpPr>
        <p:spPr>
          <a:xfrm>
            <a:off x="3886200" y="5029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" name="Oval 342"/>
          <p:cNvSpPr/>
          <p:nvPr/>
        </p:nvSpPr>
        <p:spPr>
          <a:xfrm>
            <a:off x="5867400" y="563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4" name="Oval 343"/>
          <p:cNvSpPr/>
          <p:nvPr/>
        </p:nvSpPr>
        <p:spPr>
          <a:xfrm>
            <a:off x="4419600" y="5105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5" name="Oval 344"/>
          <p:cNvSpPr/>
          <p:nvPr/>
        </p:nvSpPr>
        <p:spPr>
          <a:xfrm>
            <a:off x="5181600" y="4724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6" name="Oval 345"/>
          <p:cNvSpPr/>
          <p:nvPr/>
        </p:nvSpPr>
        <p:spPr>
          <a:xfrm>
            <a:off x="5943600" y="4876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" name="Oval 346"/>
          <p:cNvSpPr/>
          <p:nvPr/>
        </p:nvSpPr>
        <p:spPr>
          <a:xfrm>
            <a:off x="5105400" y="5105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" name="Oval 347"/>
          <p:cNvSpPr/>
          <p:nvPr/>
        </p:nvSpPr>
        <p:spPr>
          <a:xfrm>
            <a:off x="4724400" y="6172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9" name="Oval 348"/>
          <p:cNvSpPr/>
          <p:nvPr/>
        </p:nvSpPr>
        <p:spPr>
          <a:xfrm>
            <a:off x="5181600" y="5334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" name="Oval 349"/>
          <p:cNvSpPr/>
          <p:nvPr/>
        </p:nvSpPr>
        <p:spPr>
          <a:xfrm>
            <a:off x="5486400" y="5943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" name="Oval 350"/>
          <p:cNvSpPr/>
          <p:nvPr/>
        </p:nvSpPr>
        <p:spPr>
          <a:xfrm>
            <a:off x="4267200" y="563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2" name="Oval 351"/>
          <p:cNvSpPr/>
          <p:nvPr/>
        </p:nvSpPr>
        <p:spPr>
          <a:xfrm>
            <a:off x="4953000" y="563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3" name="Oval 352"/>
          <p:cNvSpPr/>
          <p:nvPr/>
        </p:nvSpPr>
        <p:spPr>
          <a:xfrm>
            <a:off x="5410200" y="5562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4" name="Oval 353"/>
          <p:cNvSpPr/>
          <p:nvPr/>
        </p:nvSpPr>
        <p:spPr>
          <a:xfrm>
            <a:off x="5638800" y="5181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5" name="Oval 354"/>
          <p:cNvSpPr/>
          <p:nvPr/>
        </p:nvSpPr>
        <p:spPr>
          <a:xfrm>
            <a:off x="4876800" y="5181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4536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500" fill="hold"/>
                                        <p:tgtEl>
                                          <p:spTgt spid="33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500" fill="hold"/>
                                        <p:tgtEl>
                                          <p:spTgt spid="32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500" fill="hold"/>
                                        <p:tgtEl>
                                          <p:spTgt spid="34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" grpId="0" animBg="1"/>
      <p:bldP spid="339" grpId="0" animBg="1"/>
      <p:bldP spid="34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1828800" y="1143000"/>
            <a:ext cx="5486400" cy="5486400"/>
            <a:chOff x="1828800" y="1143000"/>
            <a:chExt cx="5486400" cy="5486400"/>
          </a:xfrm>
        </p:grpSpPr>
        <p:sp>
          <p:nvSpPr>
            <p:cNvPr id="91" name="Oval 90"/>
            <p:cNvSpPr/>
            <p:nvPr/>
          </p:nvSpPr>
          <p:spPr>
            <a:xfrm>
              <a:off x="3429000" y="1752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/>
            <p:cNvSpPr/>
            <p:nvPr/>
          </p:nvSpPr>
          <p:spPr>
            <a:xfrm>
              <a:off x="3048000" y="1828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Oval 298"/>
            <p:cNvSpPr/>
            <p:nvPr/>
          </p:nvSpPr>
          <p:spPr>
            <a:xfrm>
              <a:off x="4114800" y="1524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" name="Oval 302"/>
            <p:cNvSpPr/>
            <p:nvPr/>
          </p:nvSpPr>
          <p:spPr>
            <a:xfrm>
              <a:off x="2819400" y="1981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" name="Oval 303"/>
            <p:cNvSpPr/>
            <p:nvPr/>
          </p:nvSpPr>
          <p:spPr>
            <a:xfrm>
              <a:off x="3810000" y="1981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Oval 304"/>
            <p:cNvSpPr/>
            <p:nvPr/>
          </p:nvSpPr>
          <p:spPr>
            <a:xfrm>
              <a:off x="5867400" y="2895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" name="Oval 307"/>
            <p:cNvSpPr/>
            <p:nvPr/>
          </p:nvSpPr>
          <p:spPr>
            <a:xfrm>
              <a:off x="2438400" y="1981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" name="Oval 309"/>
            <p:cNvSpPr/>
            <p:nvPr/>
          </p:nvSpPr>
          <p:spPr>
            <a:xfrm>
              <a:off x="3124200" y="2514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" name="Oval 311"/>
            <p:cNvSpPr/>
            <p:nvPr/>
          </p:nvSpPr>
          <p:spPr>
            <a:xfrm>
              <a:off x="3733800" y="2286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" name="Oval 312"/>
            <p:cNvSpPr/>
            <p:nvPr/>
          </p:nvSpPr>
          <p:spPr>
            <a:xfrm>
              <a:off x="5943600" y="2362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" name="Oval 313"/>
            <p:cNvSpPr/>
            <p:nvPr/>
          </p:nvSpPr>
          <p:spPr>
            <a:xfrm>
              <a:off x="5181600" y="3048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Oval 318"/>
            <p:cNvSpPr/>
            <p:nvPr/>
          </p:nvSpPr>
          <p:spPr>
            <a:xfrm>
              <a:off x="2590800" y="2514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" name="Oval 319"/>
            <p:cNvSpPr/>
            <p:nvPr/>
          </p:nvSpPr>
          <p:spPr>
            <a:xfrm>
              <a:off x="3733800" y="2819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" name="Oval 320"/>
            <p:cNvSpPr/>
            <p:nvPr/>
          </p:nvSpPr>
          <p:spPr>
            <a:xfrm>
              <a:off x="6705600" y="2667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" name="Oval 322"/>
            <p:cNvSpPr/>
            <p:nvPr/>
          </p:nvSpPr>
          <p:spPr>
            <a:xfrm>
              <a:off x="4191000" y="2819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" name="Oval 323"/>
            <p:cNvSpPr/>
            <p:nvPr/>
          </p:nvSpPr>
          <p:spPr>
            <a:xfrm>
              <a:off x="2438400" y="2819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" name="Oval 325"/>
            <p:cNvSpPr/>
            <p:nvPr/>
          </p:nvSpPr>
          <p:spPr>
            <a:xfrm>
              <a:off x="3124200" y="2819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" name="Oval 330"/>
            <p:cNvSpPr/>
            <p:nvPr/>
          </p:nvSpPr>
          <p:spPr>
            <a:xfrm>
              <a:off x="5943600" y="3352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" name="Oval 331"/>
            <p:cNvSpPr/>
            <p:nvPr/>
          </p:nvSpPr>
          <p:spPr>
            <a:xfrm>
              <a:off x="2438400" y="3429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" name="Oval 333"/>
            <p:cNvSpPr/>
            <p:nvPr/>
          </p:nvSpPr>
          <p:spPr>
            <a:xfrm>
              <a:off x="3200400" y="3429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" name="Oval 335"/>
            <p:cNvSpPr/>
            <p:nvPr/>
          </p:nvSpPr>
          <p:spPr>
            <a:xfrm>
              <a:off x="3733800" y="3505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Oval 336"/>
            <p:cNvSpPr/>
            <p:nvPr/>
          </p:nvSpPr>
          <p:spPr>
            <a:xfrm>
              <a:off x="6172200" y="2667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" name="Oval 339"/>
            <p:cNvSpPr/>
            <p:nvPr/>
          </p:nvSpPr>
          <p:spPr>
            <a:xfrm>
              <a:off x="3276600" y="5410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" name="Oval 340"/>
            <p:cNvSpPr/>
            <p:nvPr/>
          </p:nvSpPr>
          <p:spPr>
            <a:xfrm>
              <a:off x="4800600" y="5410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3" name="Oval 342"/>
            <p:cNvSpPr/>
            <p:nvPr/>
          </p:nvSpPr>
          <p:spPr>
            <a:xfrm>
              <a:off x="5867400" y="5638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" name="Oval 343"/>
            <p:cNvSpPr/>
            <p:nvPr/>
          </p:nvSpPr>
          <p:spPr>
            <a:xfrm>
              <a:off x="4419600" y="5105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Oval 344"/>
            <p:cNvSpPr/>
            <p:nvPr/>
          </p:nvSpPr>
          <p:spPr>
            <a:xfrm>
              <a:off x="5181600" y="4724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" name="Oval 348"/>
            <p:cNvSpPr/>
            <p:nvPr/>
          </p:nvSpPr>
          <p:spPr>
            <a:xfrm>
              <a:off x="5181600" y="5334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" name="Oval 349"/>
            <p:cNvSpPr/>
            <p:nvPr/>
          </p:nvSpPr>
          <p:spPr>
            <a:xfrm>
              <a:off x="5486400" y="5943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" name="Oval 350"/>
            <p:cNvSpPr/>
            <p:nvPr/>
          </p:nvSpPr>
          <p:spPr>
            <a:xfrm>
              <a:off x="4267200" y="5638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1828800" y="1143000"/>
              <a:ext cx="5486400" cy="5486400"/>
            </a:xfrm>
            <a:prstGeom prst="rect">
              <a:avLst/>
            </a:prstGeom>
            <a:noFill/>
            <a:ln w="381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/>
            <p:cNvSpPr/>
            <p:nvPr/>
          </p:nvSpPr>
          <p:spPr>
            <a:xfrm>
              <a:off x="2703489" y="384904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4992392" y="2185491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5906792" y="4869783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Parallelizing </a:t>
            </a:r>
            <a:r>
              <a:rPr lang="en-US" i="1" dirty="0"/>
              <a:t>k</a:t>
            </a:r>
            <a:r>
              <a:rPr lang="en-US" dirty="0"/>
              <a:t>-means</a:t>
            </a:r>
          </a:p>
        </p:txBody>
      </p:sp>
      <p:grpSp>
        <p:nvGrpSpPr>
          <p:cNvPr id="76" name="Group 75"/>
          <p:cNvGrpSpPr/>
          <p:nvPr/>
        </p:nvGrpSpPr>
        <p:grpSpPr>
          <a:xfrm>
            <a:off x="1828800" y="1143000"/>
            <a:ext cx="5486400" cy="5486400"/>
            <a:chOff x="1828800" y="1143000"/>
            <a:chExt cx="5486400" cy="5486400"/>
          </a:xfrm>
        </p:grpSpPr>
        <p:sp>
          <p:nvSpPr>
            <p:cNvPr id="293" name="Rectangle 292"/>
            <p:cNvSpPr/>
            <p:nvPr/>
          </p:nvSpPr>
          <p:spPr>
            <a:xfrm>
              <a:off x="1828800" y="1143000"/>
              <a:ext cx="5486400" cy="5486400"/>
            </a:xfrm>
            <a:prstGeom prst="rect">
              <a:avLst/>
            </a:prstGeom>
            <a:noFill/>
            <a:ln w="381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/>
            <p:cNvSpPr/>
            <p:nvPr/>
          </p:nvSpPr>
          <p:spPr>
            <a:xfrm>
              <a:off x="2362200" y="1600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/>
            <p:cNvSpPr/>
            <p:nvPr/>
          </p:nvSpPr>
          <p:spPr>
            <a:xfrm>
              <a:off x="2819400" y="1524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Oval 295"/>
            <p:cNvSpPr/>
            <p:nvPr/>
          </p:nvSpPr>
          <p:spPr>
            <a:xfrm>
              <a:off x="3581400" y="1600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Oval 296"/>
            <p:cNvSpPr/>
            <p:nvPr/>
          </p:nvSpPr>
          <p:spPr>
            <a:xfrm>
              <a:off x="6248400" y="2971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Oval 297"/>
            <p:cNvSpPr/>
            <p:nvPr/>
          </p:nvSpPr>
          <p:spPr>
            <a:xfrm>
              <a:off x="5638800" y="2514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Oval 299"/>
            <p:cNvSpPr/>
            <p:nvPr/>
          </p:nvSpPr>
          <p:spPr>
            <a:xfrm>
              <a:off x="2209800" y="2286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Oval 300"/>
            <p:cNvSpPr/>
            <p:nvPr/>
          </p:nvSpPr>
          <p:spPr>
            <a:xfrm>
              <a:off x="3124200" y="2209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Oval 301"/>
            <p:cNvSpPr/>
            <p:nvPr/>
          </p:nvSpPr>
          <p:spPr>
            <a:xfrm>
              <a:off x="3429000" y="2286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Oval 305"/>
            <p:cNvSpPr/>
            <p:nvPr/>
          </p:nvSpPr>
          <p:spPr>
            <a:xfrm>
              <a:off x="5791200" y="1828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" name="Oval 306"/>
            <p:cNvSpPr/>
            <p:nvPr/>
          </p:nvSpPr>
          <p:spPr>
            <a:xfrm>
              <a:off x="4343400" y="1981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" name="Oval 308"/>
            <p:cNvSpPr/>
            <p:nvPr/>
          </p:nvSpPr>
          <p:spPr>
            <a:xfrm>
              <a:off x="3657600" y="2514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" name="Oval 310"/>
            <p:cNvSpPr/>
            <p:nvPr/>
          </p:nvSpPr>
          <p:spPr>
            <a:xfrm>
              <a:off x="2819400" y="2286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" name="Oval 314"/>
            <p:cNvSpPr/>
            <p:nvPr/>
          </p:nvSpPr>
          <p:spPr>
            <a:xfrm>
              <a:off x="4114800" y="2438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Oval 315"/>
            <p:cNvSpPr/>
            <p:nvPr/>
          </p:nvSpPr>
          <p:spPr>
            <a:xfrm>
              <a:off x="2209800" y="2667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" name="Oval 316"/>
            <p:cNvSpPr/>
            <p:nvPr/>
          </p:nvSpPr>
          <p:spPr>
            <a:xfrm>
              <a:off x="3429000" y="4191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" name="Oval 317"/>
            <p:cNvSpPr/>
            <p:nvPr/>
          </p:nvSpPr>
          <p:spPr>
            <a:xfrm>
              <a:off x="2895600" y="2667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Oval 321"/>
            <p:cNvSpPr/>
            <p:nvPr/>
          </p:nvSpPr>
          <p:spPr>
            <a:xfrm>
              <a:off x="5715000" y="3505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" name="Oval 324"/>
            <p:cNvSpPr/>
            <p:nvPr/>
          </p:nvSpPr>
          <p:spPr>
            <a:xfrm>
              <a:off x="3429000" y="2819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" name="Oval 326"/>
            <p:cNvSpPr/>
            <p:nvPr/>
          </p:nvSpPr>
          <p:spPr>
            <a:xfrm>
              <a:off x="2705461" y="3845558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" name="Oval 327"/>
            <p:cNvSpPr/>
            <p:nvPr/>
          </p:nvSpPr>
          <p:spPr>
            <a:xfrm>
              <a:off x="3886200" y="3124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" name="Oval 328"/>
            <p:cNvSpPr/>
            <p:nvPr/>
          </p:nvSpPr>
          <p:spPr>
            <a:xfrm>
              <a:off x="6400800" y="2133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" name="Oval 329"/>
            <p:cNvSpPr/>
            <p:nvPr/>
          </p:nvSpPr>
          <p:spPr>
            <a:xfrm>
              <a:off x="5867400" y="2667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Oval 332"/>
            <p:cNvSpPr/>
            <p:nvPr/>
          </p:nvSpPr>
          <p:spPr>
            <a:xfrm>
              <a:off x="3276600" y="3124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Oval 334"/>
            <p:cNvSpPr/>
            <p:nvPr/>
          </p:nvSpPr>
          <p:spPr>
            <a:xfrm>
              <a:off x="2819400" y="3200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Oval 337"/>
            <p:cNvSpPr/>
            <p:nvPr/>
          </p:nvSpPr>
          <p:spPr>
            <a:xfrm>
              <a:off x="6553200" y="3276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" name="Oval 338"/>
            <p:cNvSpPr/>
            <p:nvPr/>
          </p:nvSpPr>
          <p:spPr>
            <a:xfrm>
              <a:off x="4994364" y="2182009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Oval 341"/>
            <p:cNvSpPr/>
            <p:nvPr/>
          </p:nvSpPr>
          <p:spPr>
            <a:xfrm>
              <a:off x="3886200" y="5029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" name="Oval 345"/>
            <p:cNvSpPr/>
            <p:nvPr/>
          </p:nvSpPr>
          <p:spPr>
            <a:xfrm>
              <a:off x="5908764" y="4854871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" name="Oval 346"/>
            <p:cNvSpPr/>
            <p:nvPr/>
          </p:nvSpPr>
          <p:spPr>
            <a:xfrm>
              <a:off x="5105400" y="5105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" name="Oval 347"/>
            <p:cNvSpPr/>
            <p:nvPr/>
          </p:nvSpPr>
          <p:spPr>
            <a:xfrm>
              <a:off x="4724400" y="6172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" name="Oval 351"/>
            <p:cNvSpPr/>
            <p:nvPr/>
          </p:nvSpPr>
          <p:spPr>
            <a:xfrm>
              <a:off x="4953000" y="5638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" name="Oval 352"/>
            <p:cNvSpPr/>
            <p:nvPr/>
          </p:nvSpPr>
          <p:spPr>
            <a:xfrm>
              <a:off x="5410200" y="5562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4" name="Oval 353"/>
            <p:cNvSpPr/>
            <p:nvPr/>
          </p:nvSpPr>
          <p:spPr>
            <a:xfrm>
              <a:off x="5638800" y="5181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" name="Oval 354"/>
            <p:cNvSpPr/>
            <p:nvPr/>
          </p:nvSpPr>
          <p:spPr>
            <a:xfrm>
              <a:off x="4876800" y="5181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5249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76"/>
                                        </p:tgtEl>
                                      </p:cBhvr>
                                      <p:by x="66000" y="66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500" fill="hold"/>
                                        <p:tgtEl>
                                          <p:spTgt spid="75"/>
                                        </p:tgtEl>
                                      </p:cBhvr>
                                      <p:by x="66000" y="66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Oval 90"/>
          <p:cNvSpPr/>
          <p:nvPr/>
        </p:nvSpPr>
        <p:spPr>
          <a:xfrm>
            <a:off x="1526211" y="2472615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/>
          <p:cNvSpPr/>
          <p:nvPr/>
        </p:nvSpPr>
        <p:spPr>
          <a:xfrm>
            <a:off x="1274751" y="2522907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Oval 298"/>
          <p:cNvSpPr/>
          <p:nvPr/>
        </p:nvSpPr>
        <p:spPr>
          <a:xfrm>
            <a:off x="1978839" y="232173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Oval 302"/>
          <p:cNvSpPr/>
          <p:nvPr/>
        </p:nvSpPr>
        <p:spPr>
          <a:xfrm>
            <a:off x="1123875" y="2623491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Oval 303"/>
          <p:cNvSpPr/>
          <p:nvPr/>
        </p:nvSpPr>
        <p:spPr>
          <a:xfrm>
            <a:off x="1777671" y="2623491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Oval 304"/>
          <p:cNvSpPr/>
          <p:nvPr/>
        </p:nvSpPr>
        <p:spPr>
          <a:xfrm>
            <a:off x="3135555" y="3226995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" name="Oval 307"/>
          <p:cNvSpPr/>
          <p:nvPr/>
        </p:nvSpPr>
        <p:spPr>
          <a:xfrm>
            <a:off x="872415" y="2623491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Oval 309"/>
          <p:cNvSpPr/>
          <p:nvPr/>
        </p:nvSpPr>
        <p:spPr>
          <a:xfrm>
            <a:off x="1325043" y="2975535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Oval 311"/>
          <p:cNvSpPr/>
          <p:nvPr/>
        </p:nvSpPr>
        <p:spPr>
          <a:xfrm>
            <a:off x="1727379" y="282465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" name="Oval 312"/>
          <p:cNvSpPr/>
          <p:nvPr/>
        </p:nvSpPr>
        <p:spPr>
          <a:xfrm>
            <a:off x="3185847" y="2874951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4" name="Oval 313"/>
          <p:cNvSpPr/>
          <p:nvPr/>
        </p:nvSpPr>
        <p:spPr>
          <a:xfrm>
            <a:off x="2682927" y="332757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Oval 318"/>
          <p:cNvSpPr/>
          <p:nvPr/>
        </p:nvSpPr>
        <p:spPr>
          <a:xfrm>
            <a:off x="972999" y="2975535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Oval 319"/>
          <p:cNvSpPr/>
          <p:nvPr/>
        </p:nvSpPr>
        <p:spPr>
          <a:xfrm>
            <a:off x="1727379" y="3176703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Oval 320"/>
          <p:cNvSpPr/>
          <p:nvPr/>
        </p:nvSpPr>
        <p:spPr>
          <a:xfrm>
            <a:off x="3688767" y="307611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" name="Oval 322"/>
          <p:cNvSpPr/>
          <p:nvPr/>
        </p:nvSpPr>
        <p:spPr>
          <a:xfrm>
            <a:off x="2029131" y="3176703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4" name="Oval 323"/>
          <p:cNvSpPr/>
          <p:nvPr/>
        </p:nvSpPr>
        <p:spPr>
          <a:xfrm>
            <a:off x="872415" y="3176703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Oval 325"/>
          <p:cNvSpPr/>
          <p:nvPr/>
        </p:nvSpPr>
        <p:spPr>
          <a:xfrm>
            <a:off x="1325043" y="3176703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" name="Oval 330"/>
          <p:cNvSpPr/>
          <p:nvPr/>
        </p:nvSpPr>
        <p:spPr>
          <a:xfrm>
            <a:off x="3185847" y="3528747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Oval 331"/>
          <p:cNvSpPr/>
          <p:nvPr/>
        </p:nvSpPr>
        <p:spPr>
          <a:xfrm>
            <a:off x="872415" y="357903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" name="Oval 333"/>
          <p:cNvSpPr/>
          <p:nvPr/>
        </p:nvSpPr>
        <p:spPr>
          <a:xfrm>
            <a:off x="1375335" y="357903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" name="Oval 335"/>
          <p:cNvSpPr/>
          <p:nvPr/>
        </p:nvSpPr>
        <p:spPr>
          <a:xfrm>
            <a:off x="1727379" y="3629331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" name="Oval 336"/>
          <p:cNvSpPr/>
          <p:nvPr/>
        </p:nvSpPr>
        <p:spPr>
          <a:xfrm>
            <a:off x="3336723" y="307611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0" name="Oval 339"/>
          <p:cNvSpPr/>
          <p:nvPr/>
        </p:nvSpPr>
        <p:spPr>
          <a:xfrm>
            <a:off x="1425627" y="4886631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1" name="Oval 340"/>
          <p:cNvSpPr/>
          <p:nvPr/>
        </p:nvSpPr>
        <p:spPr>
          <a:xfrm>
            <a:off x="2431467" y="4886631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" name="Oval 342"/>
          <p:cNvSpPr/>
          <p:nvPr/>
        </p:nvSpPr>
        <p:spPr>
          <a:xfrm>
            <a:off x="3135555" y="5037507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4" name="Oval 343"/>
          <p:cNvSpPr/>
          <p:nvPr/>
        </p:nvSpPr>
        <p:spPr>
          <a:xfrm>
            <a:off x="2180007" y="4685463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5" name="Oval 344"/>
          <p:cNvSpPr/>
          <p:nvPr/>
        </p:nvSpPr>
        <p:spPr>
          <a:xfrm>
            <a:off x="2682927" y="4434003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9" name="Oval 348"/>
          <p:cNvSpPr/>
          <p:nvPr/>
        </p:nvSpPr>
        <p:spPr>
          <a:xfrm>
            <a:off x="2682927" y="483633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" name="Oval 349"/>
          <p:cNvSpPr/>
          <p:nvPr/>
        </p:nvSpPr>
        <p:spPr>
          <a:xfrm>
            <a:off x="2884095" y="5238675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" name="Oval 350"/>
          <p:cNvSpPr/>
          <p:nvPr/>
        </p:nvSpPr>
        <p:spPr>
          <a:xfrm>
            <a:off x="2079423" y="5037507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70079" y="2070279"/>
            <a:ext cx="3621024" cy="3621024"/>
          </a:xfrm>
          <a:prstGeom prst="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1047374" y="3856265"/>
            <a:ext cx="150876" cy="1508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/>
          <p:cNvSpPr/>
          <p:nvPr/>
        </p:nvSpPr>
        <p:spPr>
          <a:xfrm>
            <a:off x="2558050" y="2758323"/>
            <a:ext cx="150876" cy="1508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3161554" y="4529956"/>
            <a:ext cx="150876" cy="1508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Parallelizing </a:t>
            </a:r>
            <a:r>
              <a:rPr lang="en-US" i="1" dirty="0"/>
              <a:t>k</a:t>
            </a:r>
            <a:r>
              <a:rPr lang="en-US" dirty="0"/>
              <a:t>-means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5041005" y="2066544"/>
            <a:ext cx="3621024" cy="3621024"/>
          </a:xfrm>
          <a:prstGeom prst="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5393049" y="236829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/>
          <p:cNvSpPr/>
          <p:nvPr/>
        </p:nvSpPr>
        <p:spPr>
          <a:xfrm>
            <a:off x="5694801" y="231800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Oval 295"/>
          <p:cNvSpPr/>
          <p:nvPr/>
        </p:nvSpPr>
        <p:spPr>
          <a:xfrm>
            <a:off x="6197721" y="236829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Oval 296"/>
          <p:cNvSpPr/>
          <p:nvPr/>
        </p:nvSpPr>
        <p:spPr>
          <a:xfrm>
            <a:off x="7957941" y="3273552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Oval 297"/>
          <p:cNvSpPr/>
          <p:nvPr/>
        </p:nvSpPr>
        <p:spPr>
          <a:xfrm>
            <a:off x="7555605" y="2971800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Oval 299"/>
          <p:cNvSpPr/>
          <p:nvPr/>
        </p:nvSpPr>
        <p:spPr>
          <a:xfrm>
            <a:off x="5292465" y="282092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Oval 300"/>
          <p:cNvSpPr/>
          <p:nvPr/>
        </p:nvSpPr>
        <p:spPr>
          <a:xfrm>
            <a:off x="5895969" y="2770632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2" name="Oval 301"/>
          <p:cNvSpPr/>
          <p:nvPr/>
        </p:nvSpPr>
        <p:spPr>
          <a:xfrm>
            <a:off x="6097137" y="282092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Oval 305"/>
          <p:cNvSpPr/>
          <p:nvPr/>
        </p:nvSpPr>
        <p:spPr>
          <a:xfrm>
            <a:off x="7656189" y="2519172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" name="Oval 306"/>
          <p:cNvSpPr/>
          <p:nvPr/>
        </p:nvSpPr>
        <p:spPr>
          <a:xfrm>
            <a:off x="6700641" y="261975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" name="Oval 308"/>
          <p:cNvSpPr/>
          <p:nvPr/>
        </p:nvSpPr>
        <p:spPr>
          <a:xfrm>
            <a:off x="6248013" y="2971800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Oval 310"/>
          <p:cNvSpPr/>
          <p:nvPr/>
        </p:nvSpPr>
        <p:spPr>
          <a:xfrm>
            <a:off x="5694801" y="282092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Oval 314"/>
          <p:cNvSpPr/>
          <p:nvPr/>
        </p:nvSpPr>
        <p:spPr>
          <a:xfrm>
            <a:off x="6549765" y="2921508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Oval 315"/>
          <p:cNvSpPr/>
          <p:nvPr/>
        </p:nvSpPr>
        <p:spPr>
          <a:xfrm>
            <a:off x="5292465" y="307238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Oval 316"/>
          <p:cNvSpPr/>
          <p:nvPr/>
        </p:nvSpPr>
        <p:spPr>
          <a:xfrm>
            <a:off x="6097137" y="407822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Oval 317"/>
          <p:cNvSpPr/>
          <p:nvPr/>
        </p:nvSpPr>
        <p:spPr>
          <a:xfrm>
            <a:off x="5745093" y="307238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Oval 321"/>
          <p:cNvSpPr/>
          <p:nvPr/>
        </p:nvSpPr>
        <p:spPr>
          <a:xfrm>
            <a:off x="7605897" y="362559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" name="Oval 324"/>
          <p:cNvSpPr/>
          <p:nvPr/>
        </p:nvSpPr>
        <p:spPr>
          <a:xfrm>
            <a:off x="6097137" y="3172968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" name="Oval 326"/>
          <p:cNvSpPr/>
          <p:nvPr/>
        </p:nvSpPr>
        <p:spPr>
          <a:xfrm>
            <a:off x="5619601" y="3850232"/>
            <a:ext cx="150876" cy="1508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Oval 327"/>
          <p:cNvSpPr/>
          <p:nvPr/>
        </p:nvSpPr>
        <p:spPr>
          <a:xfrm>
            <a:off x="6398889" y="337413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" name="Oval 328"/>
          <p:cNvSpPr/>
          <p:nvPr/>
        </p:nvSpPr>
        <p:spPr>
          <a:xfrm>
            <a:off x="8058525" y="2720340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Oval 329"/>
          <p:cNvSpPr/>
          <p:nvPr/>
        </p:nvSpPr>
        <p:spPr>
          <a:xfrm>
            <a:off x="7706481" y="307238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Oval 332"/>
          <p:cNvSpPr/>
          <p:nvPr/>
        </p:nvSpPr>
        <p:spPr>
          <a:xfrm>
            <a:off x="5996553" y="337413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" name="Oval 334"/>
          <p:cNvSpPr/>
          <p:nvPr/>
        </p:nvSpPr>
        <p:spPr>
          <a:xfrm>
            <a:off x="5694801" y="3424428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" name="Oval 337"/>
          <p:cNvSpPr/>
          <p:nvPr/>
        </p:nvSpPr>
        <p:spPr>
          <a:xfrm>
            <a:off x="8159109" y="3474720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9" name="Oval 338"/>
          <p:cNvSpPr/>
          <p:nvPr/>
        </p:nvSpPr>
        <p:spPr>
          <a:xfrm>
            <a:off x="7130277" y="2752290"/>
            <a:ext cx="150876" cy="1508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" name="Oval 341"/>
          <p:cNvSpPr/>
          <p:nvPr/>
        </p:nvSpPr>
        <p:spPr>
          <a:xfrm>
            <a:off x="6398889" y="463143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6" name="Oval 345"/>
          <p:cNvSpPr/>
          <p:nvPr/>
        </p:nvSpPr>
        <p:spPr>
          <a:xfrm>
            <a:off x="7733781" y="4516379"/>
            <a:ext cx="150876" cy="1508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" name="Oval 346"/>
          <p:cNvSpPr/>
          <p:nvPr/>
        </p:nvSpPr>
        <p:spPr>
          <a:xfrm>
            <a:off x="7203561" y="4681728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" name="Oval 347"/>
          <p:cNvSpPr/>
          <p:nvPr/>
        </p:nvSpPr>
        <p:spPr>
          <a:xfrm>
            <a:off x="6952101" y="538581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2" name="Oval 351"/>
          <p:cNvSpPr/>
          <p:nvPr/>
        </p:nvSpPr>
        <p:spPr>
          <a:xfrm>
            <a:off x="7102977" y="5033772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3" name="Oval 352"/>
          <p:cNvSpPr/>
          <p:nvPr/>
        </p:nvSpPr>
        <p:spPr>
          <a:xfrm>
            <a:off x="7404729" y="4983480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4" name="Oval 353"/>
          <p:cNvSpPr/>
          <p:nvPr/>
        </p:nvSpPr>
        <p:spPr>
          <a:xfrm>
            <a:off x="7555605" y="4732020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5" name="Oval 354"/>
          <p:cNvSpPr/>
          <p:nvPr/>
        </p:nvSpPr>
        <p:spPr>
          <a:xfrm>
            <a:off x="7052685" y="4732020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1828800" y="1143000"/>
            <a:ext cx="5486400" cy="5486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2" name="Group 91"/>
          <p:cNvGrpSpPr/>
          <p:nvPr/>
        </p:nvGrpSpPr>
        <p:grpSpPr>
          <a:xfrm>
            <a:off x="5039949" y="2065488"/>
            <a:ext cx="3621024" cy="3621024"/>
            <a:chOff x="5039949" y="2065488"/>
            <a:chExt cx="3621024" cy="3621024"/>
          </a:xfrm>
        </p:grpSpPr>
        <p:sp>
          <p:nvSpPr>
            <p:cNvPr id="83" name="Oval 82"/>
            <p:cNvSpPr/>
            <p:nvPr/>
          </p:nvSpPr>
          <p:spPr>
            <a:xfrm>
              <a:off x="5826126" y="3218956"/>
              <a:ext cx="150876" cy="1508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/>
            <p:cNvSpPr/>
            <p:nvPr/>
          </p:nvSpPr>
          <p:spPr>
            <a:xfrm>
              <a:off x="7222238" y="4854857"/>
              <a:ext cx="150876" cy="1508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/>
            <p:cNvSpPr/>
            <p:nvPr/>
          </p:nvSpPr>
          <p:spPr>
            <a:xfrm>
              <a:off x="7310694" y="2967442"/>
              <a:ext cx="150876" cy="1508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5039949" y="2065488"/>
              <a:ext cx="3621024" cy="3621024"/>
            </a:xfrm>
            <a:prstGeom prst="rect">
              <a:avLst/>
            </a:prstGeom>
            <a:noFill/>
            <a:ln w="381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472220" y="2069223"/>
            <a:ext cx="3621024" cy="3621024"/>
            <a:chOff x="472220" y="2069223"/>
            <a:chExt cx="3621024" cy="3621024"/>
          </a:xfrm>
        </p:grpSpPr>
        <p:sp>
          <p:nvSpPr>
            <p:cNvPr id="79" name="Oval 78"/>
            <p:cNvSpPr/>
            <p:nvPr/>
          </p:nvSpPr>
          <p:spPr>
            <a:xfrm>
              <a:off x="1231746" y="3340449"/>
              <a:ext cx="150876" cy="1508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/>
            <p:cNvSpPr/>
            <p:nvPr/>
          </p:nvSpPr>
          <p:spPr>
            <a:xfrm>
              <a:off x="2477589" y="2968508"/>
              <a:ext cx="150876" cy="1508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/>
            <p:cNvSpPr/>
            <p:nvPr/>
          </p:nvSpPr>
          <p:spPr>
            <a:xfrm>
              <a:off x="2556454" y="4904947"/>
              <a:ext cx="150876" cy="1508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472220" y="2069223"/>
              <a:ext cx="3621024" cy="3621024"/>
            </a:xfrm>
            <a:prstGeom prst="rect">
              <a:avLst/>
            </a:prstGeom>
            <a:noFill/>
            <a:ln w="381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Oval 93"/>
          <p:cNvSpPr/>
          <p:nvPr/>
        </p:nvSpPr>
        <p:spPr>
          <a:xfrm>
            <a:off x="3001677" y="2969794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/>
          <p:cNvSpPr/>
          <p:nvPr/>
        </p:nvSpPr>
        <p:spPr>
          <a:xfrm>
            <a:off x="5058759" y="2503984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/>
          <p:cNvSpPr/>
          <p:nvPr/>
        </p:nvSpPr>
        <p:spPr>
          <a:xfrm>
            <a:off x="5058757" y="5370025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3453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5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5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5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5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79" dur="5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5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5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5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95" dur="5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99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03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500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07" dur="500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500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5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" dur="5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5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15" dur="5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5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500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19" dur="500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" dur="500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23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27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31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5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35" dur="5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" dur="5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39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43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47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51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5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55" dur="5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" dur="5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" dur="5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59" dur="5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0" dur="5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63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5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67" dur="5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" dur="5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5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71" dur="5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2" dur="5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75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79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0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83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4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87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9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4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95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6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99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203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4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6" dur="5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207" dur="5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8" dur="5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211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215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6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8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219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0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5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223" dur="5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5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6" dur="500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27" dur="500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8" dur="500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0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31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2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5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35" dur="5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5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8" dur="5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39" dur="5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0" dur="5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2" dur="5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43" dur="5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4" dur="5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47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2.22222E-6 L 0.02309 -0.0919 " pathEditMode="relative" rAng="0" ptsTypes="AA">
                                      <p:cBhvr>
                                        <p:cTn id="252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0" y="-4600"/>
                                    </p:animMotion>
                                  </p:childTnLst>
                                </p:cTn>
                              </p:par>
                              <p:par>
                                <p:cTn id="25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48148E-6 L 0.02049 0.0331 " pathEditMode="relative" rAng="0" ptsTypes="AA">
                                      <p:cBhvr>
                                        <p:cTn id="254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0" y="1600"/>
                                    </p:animMotion>
                                  </p:childTnLst>
                                </p:cTn>
                              </p:par>
                              <p:par>
                                <p:cTn id="25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4.44444E-6 L -0.05677 0.05139 " pathEditMode="relative" rAng="0" ptsTypes="AA">
                                      <p:cBhvr>
                                        <p:cTn id="256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00" y="2600"/>
                                    </p:animMotion>
                                  </p:childTnLst>
                                </p:cTn>
                              </p:par>
                              <p:par>
                                <p:cTn id="25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85185E-6 L 0.02101 -0.07593 " pathEditMode="relative" rAng="0" ptsTypes="AA">
                                      <p:cBhvr>
                                        <p:cTn id="25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0" y="-3800"/>
                                    </p:animMotion>
                                  </p:childTnLst>
                                </p:cTn>
                              </p:par>
                              <p:par>
                                <p:cTn id="25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4.44444E-6 L -0.00851 0.03195 " pathEditMode="relative" rAng="0" ptsTypes="AA">
                                      <p:cBhvr>
                                        <p:cTn id="26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0" y="1600"/>
                                    </p:animMotion>
                                  </p:childTnLst>
                                </p:cTn>
                              </p:par>
                              <p:par>
                                <p:cTn id="26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2.22222E-6 L -0.06684 0.05555 " pathEditMode="relative" rAng="0" ptsTypes="AA">
                                      <p:cBhvr>
                                        <p:cTn id="26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00" y="2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7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27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4" dur="500" fill="hold"/>
                                        <p:tgtEl>
                                          <p:spTgt spid="9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7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6" dur="500" fill="hold"/>
                                        <p:tgtEl>
                                          <p:spTgt spid="9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500"/>
                            </p:stCondLst>
                            <p:childTnLst>
                              <p:par>
                                <p:cTn id="2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2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5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3" grpId="0" animBg="1"/>
      <p:bldP spid="74" grpId="0" animBg="1"/>
      <p:bldP spid="327" grpId="0" animBg="1"/>
      <p:bldP spid="339" grpId="0" animBg="1"/>
      <p:bldP spid="346" grpId="0" animBg="1"/>
      <p:bldP spid="93" grpId="0" animBg="1"/>
      <p:bldP spid="94" grpId="0" animBg="1"/>
      <p:bldP spid="95" grpId="0" animBg="1"/>
      <p:bldP spid="96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k</a:t>
            </a:r>
            <a:r>
              <a:rPr lang="en-US" dirty="0"/>
              <a:t>-means on </a:t>
            </a:r>
            <a:r>
              <a:rPr lang="en-US" dirty="0" err="1"/>
              <a:t>MapReduce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39000"/>
            <a:ext cx="8229600" cy="4525963"/>
          </a:xfrm>
        </p:spPr>
        <p:txBody>
          <a:bodyPr/>
          <a:lstStyle/>
          <a:p>
            <a:r>
              <a:rPr lang="en-US" dirty="0" err="1"/>
              <a:t>Mappers</a:t>
            </a:r>
            <a:r>
              <a:rPr lang="en-US" dirty="0"/>
              <a:t> read data portions and </a:t>
            </a:r>
            <a:r>
              <a:rPr lang="en-US" dirty="0" err="1"/>
              <a:t>centroids</a:t>
            </a:r>
            <a:endParaRPr lang="en-US" dirty="0"/>
          </a:p>
          <a:p>
            <a:r>
              <a:rPr lang="en-US" dirty="0" err="1"/>
              <a:t>Mappers</a:t>
            </a:r>
            <a:r>
              <a:rPr lang="en-US" dirty="0"/>
              <a:t> </a:t>
            </a:r>
            <a:r>
              <a:rPr lang="en-US" b="1" dirty="0"/>
              <a:t>assign data instances </a:t>
            </a:r>
            <a:r>
              <a:rPr lang="en-US" dirty="0"/>
              <a:t>to clusters</a:t>
            </a:r>
          </a:p>
          <a:p>
            <a:r>
              <a:rPr lang="en-US" dirty="0" err="1"/>
              <a:t>Mappers</a:t>
            </a:r>
            <a:r>
              <a:rPr lang="en-US" dirty="0"/>
              <a:t> </a:t>
            </a:r>
            <a:r>
              <a:rPr lang="en-US" b="1" dirty="0"/>
              <a:t>compute new local </a:t>
            </a:r>
            <a:r>
              <a:rPr lang="en-US" b="1" dirty="0" err="1"/>
              <a:t>centroids</a:t>
            </a:r>
            <a:r>
              <a:rPr lang="en-US" b="1" dirty="0"/>
              <a:t> </a:t>
            </a:r>
            <a:r>
              <a:rPr lang="en-US" dirty="0"/>
              <a:t>and local cluster sizes</a:t>
            </a:r>
          </a:p>
          <a:p>
            <a:r>
              <a:rPr lang="en-US" dirty="0"/>
              <a:t>Reducers </a:t>
            </a:r>
            <a:r>
              <a:rPr lang="en-US" b="1" dirty="0"/>
              <a:t>aggregate local </a:t>
            </a:r>
            <a:r>
              <a:rPr lang="en-US" b="1" dirty="0" err="1"/>
              <a:t>centroids</a:t>
            </a:r>
            <a:r>
              <a:rPr lang="en-US" b="1" dirty="0"/>
              <a:t> </a:t>
            </a:r>
            <a:r>
              <a:rPr lang="en-US" dirty="0"/>
              <a:t>(weighted by local cluster sizes) into new global </a:t>
            </a:r>
            <a:r>
              <a:rPr lang="en-US" dirty="0" err="1"/>
              <a:t>centroids</a:t>
            </a:r>
            <a:endParaRPr lang="en-US" dirty="0"/>
          </a:p>
          <a:p>
            <a:r>
              <a:rPr lang="en-US" dirty="0"/>
              <a:t>Reducers </a:t>
            </a:r>
            <a:r>
              <a:rPr lang="en-US" b="1" dirty="0"/>
              <a:t>write the new </a:t>
            </a:r>
            <a:r>
              <a:rPr lang="en-US" b="1" dirty="0" err="1"/>
              <a:t>centroids</a:t>
            </a:r>
            <a:endParaRPr lang="en-US" b="1" dirty="0"/>
          </a:p>
        </p:txBody>
      </p:sp>
      <p:sp>
        <p:nvSpPr>
          <p:cNvPr id="5" name="Circular Arrow 4"/>
          <p:cNvSpPr/>
          <p:nvPr/>
        </p:nvSpPr>
        <p:spPr>
          <a:xfrm rot="3925217" flipH="1">
            <a:off x="5240918" y="2424358"/>
            <a:ext cx="4431004" cy="3872169"/>
          </a:xfrm>
          <a:prstGeom prst="circularArrow">
            <a:avLst>
              <a:gd name="adj1" fmla="val 4215"/>
              <a:gd name="adj2" fmla="val 971679"/>
              <a:gd name="adj3" fmla="val 17905064"/>
              <a:gd name="adj4" fmla="val 8037137"/>
              <a:gd name="adj5" fmla="val 80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219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k</a:t>
            </a:r>
            <a:r>
              <a:rPr lang="en-US" dirty="0"/>
              <a:t>-means in Apache Pig: input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/>
              <a:t>Assume we need to cluster documents</a:t>
            </a:r>
          </a:p>
          <a:p>
            <a:pPr lvl="1"/>
            <a:r>
              <a:rPr lang="en-US" dirty="0"/>
              <a:t>Stored in a 3-column table </a:t>
            </a:r>
            <a:r>
              <a:rPr lang="en-US" i="1" dirty="0">
                <a:latin typeface="Times New Roman" pitchFamily="18" charset="0"/>
              </a:rPr>
              <a:t>D</a:t>
            </a:r>
            <a:r>
              <a:rPr lang="en-US" dirty="0">
                <a:latin typeface="Times New Roman" pitchFamily="18" charset="0"/>
              </a:rPr>
              <a:t>:</a:t>
            </a:r>
            <a:endParaRPr lang="en-US" i="1" dirty="0">
              <a:latin typeface="Times New Roman" pitchFamily="18" charset="0"/>
            </a:endParaRPr>
          </a:p>
          <a:p>
            <a:endParaRPr lang="en-US" dirty="0"/>
          </a:p>
          <a:p>
            <a:endParaRPr lang="en-US" dirty="0"/>
          </a:p>
          <a:p>
            <a:pPr lvl="3"/>
            <a:endParaRPr lang="en-US" dirty="0"/>
          </a:p>
          <a:p>
            <a:pPr lvl="4">
              <a:buNone/>
            </a:pPr>
            <a:endParaRPr lang="en-US" dirty="0"/>
          </a:p>
          <a:p>
            <a:r>
              <a:rPr lang="en-US" dirty="0"/>
              <a:t>Initial </a:t>
            </a:r>
            <a:r>
              <a:rPr lang="en-US" dirty="0" err="1"/>
              <a:t>centroids</a:t>
            </a:r>
            <a:r>
              <a:rPr lang="en-US" dirty="0"/>
              <a:t> are </a:t>
            </a:r>
            <a:r>
              <a:rPr lang="en-US" i="1" dirty="0">
                <a:latin typeface="Times New Roman" pitchFamily="18" charset="0"/>
              </a:rPr>
              <a:t>k</a:t>
            </a:r>
            <a:r>
              <a:rPr lang="en-US" dirty="0"/>
              <a:t> randomly chosen docs</a:t>
            </a:r>
          </a:p>
          <a:p>
            <a:pPr lvl="1"/>
            <a:r>
              <a:rPr lang="en-US" dirty="0"/>
              <a:t>Stored in table </a:t>
            </a:r>
            <a:r>
              <a:rPr lang="en-US" i="1" dirty="0">
                <a:latin typeface="Times New Roman" pitchFamily="18" charset="0"/>
              </a:rPr>
              <a:t>C</a:t>
            </a:r>
            <a:r>
              <a:rPr lang="en-US" dirty="0"/>
              <a:t> in the same format as above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2819400"/>
          <a:ext cx="573447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1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1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1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r>
                        <a:rPr lang="en-US" sz="2400" dirty="0"/>
                        <a:t>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doc1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Carnegie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doc1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Mellon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759151"/>
      </p:ext>
    </p:extLst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k</a:t>
            </a:r>
            <a:r>
              <a:rPr lang="en-US" dirty="0"/>
              <a:t>-means in Apache Pig: E-step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524000"/>
            <a:ext cx="8305800" cy="5016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Calibri"/>
                <a:cs typeface="Calibri"/>
              </a:rPr>
              <a:t>D_C</a:t>
            </a:r>
            <a:r>
              <a:rPr lang="en-US" sz="2400" dirty="0">
                <a:latin typeface="Calibri"/>
                <a:cs typeface="Calibri"/>
              </a:rPr>
              <a:t> = </a:t>
            </a:r>
            <a:r>
              <a:rPr lang="en-US" sz="2400" b="1" dirty="0">
                <a:latin typeface="Calibri"/>
                <a:cs typeface="Calibri"/>
              </a:rPr>
              <a:t>JOIN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C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BY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w</a:t>
            </a:r>
            <a:r>
              <a:rPr lang="en-US" sz="2400" dirty="0">
                <a:latin typeface="Calibri"/>
                <a:cs typeface="Calibri"/>
              </a:rPr>
              <a:t>, </a:t>
            </a:r>
            <a:r>
              <a:rPr lang="en-US" sz="2400" i="1" dirty="0">
                <a:latin typeface="Calibri"/>
                <a:cs typeface="Calibri"/>
              </a:rPr>
              <a:t>D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BY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w</a:t>
            </a:r>
            <a:r>
              <a:rPr lang="en-US" sz="2400" dirty="0">
                <a:latin typeface="Calibri"/>
                <a:cs typeface="Calibri"/>
              </a:rPr>
              <a:t>;</a:t>
            </a:r>
          </a:p>
          <a:p>
            <a:r>
              <a:rPr lang="en-US" sz="2400" i="1" dirty="0">
                <a:latin typeface="Calibri"/>
                <a:cs typeface="Calibri"/>
              </a:rPr>
              <a:t>PROD</a:t>
            </a:r>
            <a:r>
              <a:rPr lang="en-US" sz="2400" dirty="0">
                <a:latin typeface="Calibri"/>
                <a:cs typeface="Calibri"/>
              </a:rPr>
              <a:t> = </a:t>
            </a:r>
            <a:r>
              <a:rPr lang="en-US" sz="2400" b="1" dirty="0">
                <a:latin typeface="Calibri"/>
                <a:cs typeface="Calibri"/>
              </a:rPr>
              <a:t>FOREACH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D_C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GENERATE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d</a:t>
            </a:r>
            <a:r>
              <a:rPr lang="en-US" sz="2400" dirty="0">
                <a:latin typeface="Calibri"/>
                <a:cs typeface="Calibri"/>
              </a:rPr>
              <a:t>, </a:t>
            </a:r>
            <a:r>
              <a:rPr lang="en-US" sz="2400" i="1" dirty="0">
                <a:latin typeface="Calibri"/>
                <a:cs typeface="Calibri"/>
              </a:rPr>
              <a:t>c</a:t>
            </a:r>
            <a:r>
              <a:rPr lang="en-US" sz="2400" dirty="0">
                <a:latin typeface="Calibri"/>
                <a:cs typeface="Calibri"/>
              </a:rPr>
              <a:t>, </a:t>
            </a:r>
            <a:r>
              <a:rPr lang="en-US" sz="2400" i="1" dirty="0">
                <a:latin typeface="Calibri"/>
                <a:cs typeface="Calibri"/>
              </a:rPr>
              <a:t>i</a:t>
            </a:r>
            <a:r>
              <a:rPr lang="en-US" sz="2400" i="1" baseline="-25000" dirty="0">
                <a:latin typeface="Calibri"/>
                <a:cs typeface="Calibri"/>
              </a:rPr>
              <a:t>d</a:t>
            </a:r>
            <a:r>
              <a:rPr lang="en-US" sz="2400" i="1" dirty="0">
                <a:latin typeface="Calibri"/>
                <a:cs typeface="Calibri"/>
              </a:rPr>
              <a:t> * </a:t>
            </a:r>
            <a:r>
              <a:rPr lang="en-US" sz="2400" i="1" dirty="0" err="1">
                <a:latin typeface="Calibri"/>
                <a:cs typeface="Calibri"/>
              </a:rPr>
              <a:t>i</a:t>
            </a:r>
            <a:r>
              <a:rPr lang="en-US" sz="2400" i="1" baseline="-25000" dirty="0" err="1">
                <a:latin typeface="Calibri"/>
                <a:cs typeface="Calibri"/>
              </a:rPr>
              <a:t>c</a:t>
            </a:r>
            <a:r>
              <a:rPr lang="en-US" sz="2400" i="1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AS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 err="1">
                <a:latin typeface="Calibri"/>
                <a:cs typeface="Calibri"/>
              </a:rPr>
              <a:t>i</a:t>
            </a:r>
            <a:r>
              <a:rPr lang="en-US" sz="2400" i="1" baseline="-25000" dirty="0" err="1">
                <a:latin typeface="Calibri"/>
                <a:cs typeface="Calibri"/>
              </a:rPr>
              <a:t>d</a:t>
            </a:r>
            <a:r>
              <a:rPr lang="en-US" sz="2400" i="1" dirty="0" err="1">
                <a:latin typeface="Calibri"/>
                <a:cs typeface="Calibri"/>
              </a:rPr>
              <a:t>i</a:t>
            </a:r>
            <a:r>
              <a:rPr lang="en-US" sz="2400" i="1" baseline="-25000" dirty="0" err="1">
                <a:latin typeface="Calibri"/>
                <a:cs typeface="Calibri"/>
              </a:rPr>
              <a:t>c</a:t>
            </a:r>
            <a:r>
              <a:rPr lang="en-US" sz="2400" i="1" baseline="-2500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;</a:t>
            </a:r>
          </a:p>
          <a:p>
            <a:endParaRPr lang="en-US" sz="1400" dirty="0">
              <a:latin typeface="Calibri"/>
              <a:cs typeface="Calibri"/>
            </a:endParaRPr>
          </a:p>
          <a:p>
            <a:r>
              <a:rPr lang="en-US" sz="2400" i="1" dirty="0" err="1">
                <a:latin typeface="Calibri"/>
                <a:cs typeface="Calibri"/>
              </a:rPr>
              <a:t>PROD</a:t>
            </a:r>
            <a:r>
              <a:rPr lang="en-US" sz="2400" i="1" baseline="-25000" dirty="0" err="1">
                <a:latin typeface="Calibri"/>
                <a:cs typeface="Calibri"/>
              </a:rPr>
              <a:t>g</a:t>
            </a:r>
            <a:r>
              <a:rPr lang="en-US" sz="2400" dirty="0">
                <a:latin typeface="Calibri"/>
                <a:cs typeface="Calibri"/>
              </a:rPr>
              <a:t> = </a:t>
            </a:r>
            <a:r>
              <a:rPr lang="en-US" sz="2400" b="1" dirty="0">
                <a:latin typeface="Calibri"/>
                <a:cs typeface="Calibri"/>
              </a:rPr>
              <a:t>GROUP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PROD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BY</a:t>
            </a:r>
            <a:r>
              <a:rPr lang="en-US" sz="2400" dirty="0">
                <a:latin typeface="Calibri"/>
                <a:cs typeface="Calibri"/>
              </a:rPr>
              <a:t> (</a:t>
            </a:r>
            <a:r>
              <a:rPr lang="en-US" sz="2400" i="1" dirty="0">
                <a:latin typeface="Calibri"/>
                <a:cs typeface="Calibri"/>
              </a:rPr>
              <a:t>d</a:t>
            </a:r>
            <a:r>
              <a:rPr lang="en-US" sz="2400" dirty="0">
                <a:latin typeface="Calibri"/>
                <a:cs typeface="Calibri"/>
              </a:rPr>
              <a:t>, </a:t>
            </a:r>
            <a:r>
              <a:rPr lang="en-US" sz="2400" i="1" dirty="0">
                <a:latin typeface="Calibri"/>
                <a:cs typeface="Calibri"/>
              </a:rPr>
              <a:t>c</a:t>
            </a:r>
            <a:r>
              <a:rPr lang="en-US" sz="2400" dirty="0">
                <a:latin typeface="Calibri"/>
                <a:cs typeface="Calibri"/>
              </a:rPr>
              <a:t>);</a:t>
            </a:r>
          </a:p>
          <a:p>
            <a:r>
              <a:rPr lang="en-US" sz="2400" i="1" dirty="0">
                <a:latin typeface="Calibri"/>
                <a:cs typeface="Calibri"/>
              </a:rPr>
              <a:t>DOT_PROD</a:t>
            </a:r>
            <a:r>
              <a:rPr lang="en-US" sz="2400" dirty="0">
                <a:latin typeface="Calibri"/>
                <a:cs typeface="Calibri"/>
              </a:rPr>
              <a:t> = </a:t>
            </a:r>
            <a:r>
              <a:rPr lang="en-US" sz="2400" b="1" dirty="0">
                <a:latin typeface="Calibri"/>
                <a:cs typeface="Calibri"/>
              </a:rPr>
              <a:t>FOREACH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 err="1">
                <a:latin typeface="Calibri"/>
                <a:cs typeface="Calibri"/>
              </a:rPr>
              <a:t>PROD</a:t>
            </a:r>
            <a:r>
              <a:rPr lang="en-US" sz="2400" i="1" baseline="-25000" dirty="0" err="1">
                <a:latin typeface="Calibri"/>
                <a:cs typeface="Calibri"/>
              </a:rPr>
              <a:t>g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GENERATE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d</a:t>
            </a:r>
            <a:r>
              <a:rPr lang="en-US" sz="2400" dirty="0">
                <a:latin typeface="Calibri"/>
                <a:cs typeface="Calibri"/>
              </a:rPr>
              <a:t>, </a:t>
            </a:r>
            <a:r>
              <a:rPr lang="en-US" sz="2400" i="1" dirty="0">
                <a:latin typeface="Calibri"/>
                <a:cs typeface="Calibri"/>
              </a:rPr>
              <a:t>c</a:t>
            </a:r>
            <a:r>
              <a:rPr lang="en-US" sz="2400" dirty="0">
                <a:latin typeface="Calibri"/>
                <a:cs typeface="Calibri"/>
              </a:rPr>
              <a:t>, SUM(</a:t>
            </a:r>
            <a:r>
              <a:rPr lang="en-US" sz="2400" i="1" dirty="0" err="1">
                <a:latin typeface="Calibri"/>
                <a:cs typeface="Calibri"/>
              </a:rPr>
              <a:t>i</a:t>
            </a:r>
            <a:r>
              <a:rPr lang="en-US" sz="2400" i="1" baseline="-25000" dirty="0" err="1">
                <a:latin typeface="Calibri"/>
                <a:cs typeface="Calibri"/>
              </a:rPr>
              <a:t>d</a:t>
            </a:r>
            <a:r>
              <a:rPr lang="en-US" sz="2400" i="1" dirty="0" err="1">
                <a:latin typeface="Calibri"/>
                <a:cs typeface="Calibri"/>
              </a:rPr>
              <a:t>i</a:t>
            </a:r>
            <a:r>
              <a:rPr lang="en-US" sz="2400" i="1" baseline="-25000" dirty="0" err="1">
                <a:latin typeface="Calibri"/>
                <a:cs typeface="Calibri"/>
              </a:rPr>
              <a:t>c</a:t>
            </a:r>
            <a:r>
              <a:rPr lang="en-US" sz="2400" dirty="0">
                <a:latin typeface="Calibri"/>
                <a:cs typeface="Calibri"/>
              </a:rPr>
              <a:t>) </a:t>
            </a:r>
            <a:r>
              <a:rPr lang="en-US" sz="2400" b="1" dirty="0">
                <a:latin typeface="Calibri"/>
                <a:cs typeface="Calibri"/>
              </a:rPr>
              <a:t>AS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 err="1">
                <a:latin typeface="Calibri"/>
                <a:cs typeface="Calibri"/>
              </a:rPr>
              <a:t>d</a:t>
            </a:r>
            <a:r>
              <a:rPr lang="en-US" sz="2400" dirty="0" err="1">
                <a:latin typeface="Calibri"/>
                <a:cs typeface="Calibri"/>
              </a:rPr>
              <a:t>X</a:t>
            </a:r>
            <a:r>
              <a:rPr lang="en-US" sz="2400" i="1" dirty="0" err="1">
                <a:latin typeface="Calibri"/>
                <a:cs typeface="Calibri"/>
              </a:rPr>
              <a:t>c</a:t>
            </a:r>
            <a:r>
              <a:rPr lang="en-US" sz="2400" dirty="0">
                <a:latin typeface="Calibri"/>
                <a:cs typeface="Calibri"/>
              </a:rPr>
              <a:t>;</a:t>
            </a:r>
          </a:p>
          <a:p>
            <a:endParaRPr lang="en-US" sz="1400" dirty="0">
              <a:latin typeface="Calibri"/>
              <a:cs typeface="Calibri"/>
            </a:endParaRPr>
          </a:p>
          <a:p>
            <a:r>
              <a:rPr lang="en-US" sz="2400" i="1" dirty="0">
                <a:latin typeface="Calibri"/>
                <a:cs typeface="Calibri"/>
              </a:rPr>
              <a:t>SQR</a:t>
            </a:r>
            <a:r>
              <a:rPr lang="en-US" sz="2400" dirty="0">
                <a:latin typeface="Calibri"/>
                <a:cs typeface="Calibri"/>
              </a:rPr>
              <a:t> = </a:t>
            </a:r>
            <a:r>
              <a:rPr lang="en-US" sz="2400" b="1" dirty="0">
                <a:latin typeface="Calibri"/>
                <a:cs typeface="Calibri"/>
              </a:rPr>
              <a:t>FOREACH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C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GENERATE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c</a:t>
            </a:r>
            <a:r>
              <a:rPr lang="en-US" sz="2400" dirty="0">
                <a:latin typeface="Calibri"/>
                <a:cs typeface="Calibri"/>
              </a:rPr>
              <a:t>, </a:t>
            </a:r>
            <a:r>
              <a:rPr lang="en-US" sz="2400" i="1" dirty="0" err="1">
                <a:latin typeface="Calibri"/>
                <a:cs typeface="Calibri"/>
              </a:rPr>
              <a:t>i</a:t>
            </a:r>
            <a:r>
              <a:rPr lang="en-US" sz="2400" i="1" baseline="-25000" dirty="0" err="1">
                <a:latin typeface="Calibri"/>
                <a:cs typeface="Calibri"/>
              </a:rPr>
              <a:t>c</a:t>
            </a:r>
            <a:r>
              <a:rPr lang="en-US" sz="2400" i="1" dirty="0">
                <a:latin typeface="Calibri"/>
                <a:cs typeface="Calibri"/>
              </a:rPr>
              <a:t> * </a:t>
            </a:r>
            <a:r>
              <a:rPr lang="en-US" sz="2400" i="1" dirty="0" err="1">
                <a:latin typeface="Calibri"/>
                <a:cs typeface="Calibri"/>
              </a:rPr>
              <a:t>i</a:t>
            </a:r>
            <a:r>
              <a:rPr lang="en-US" sz="2400" i="1" baseline="-25000" dirty="0" err="1">
                <a:latin typeface="Calibri"/>
                <a:cs typeface="Calibri"/>
              </a:rPr>
              <a:t>c</a:t>
            </a:r>
            <a:r>
              <a:rPr lang="en-US" sz="2400" i="1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AS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i</a:t>
            </a:r>
            <a:r>
              <a:rPr lang="en-US" sz="2400" i="1" baseline="-25000" dirty="0">
                <a:latin typeface="Calibri"/>
                <a:cs typeface="Calibri"/>
              </a:rPr>
              <a:t>c</a:t>
            </a:r>
            <a:r>
              <a:rPr lang="en-US" sz="2400" i="1" baseline="30000" dirty="0">
                <a:latin typeface="Calibri"/>
                <a:cs typeface="Calibri"/>
              </a:rPr>
              <a:t>2</a:t>
            </a:r>
            <a:r>
              <a:rPr lang="en-US" sz="2400" dirty="0">
                <a:latin typeface="Calibri"/>
                <a:cs typeface="Calibri"/>
              </a:rPr>
              <a:t>;</a:t>
            </a:r>
          </a:p>
          <a:p>
            <a:r>
              <a:rPr lang="en-US" sz="2400" i="1" dirty="0" err="1">
                <a:latin typeface="Calibri"/>
                <a:cs typeface="Calibri"/>
              </a:rPr>
              <a:t>SQR</a:t>
            </a:r>
            <a:r>
              <a:rPr lang="en-US" sz="2400" i="1" baseline="-25000" dirty="0" err="1">
                <a:latin typeface="Calibri"/>
                <a:cs typeface="Calibri"/>
              </a:rPr>
              <a:t>g</a:t>
            </a:r>
            <a:r>
              <a:rPr lang="en-US" sz="2400" dirty="0">
                <a:latin typeface="Calibri"/>
                <a:cs typeface="Calibri"/>
              </a:rPr>
              <a:t> = </a:t>
            </a:r>
            <a:r>
              <a:rPr lang="en-US" sz="2400" b="1" dirty="0">
                <a:latin typeface="Calibri"/>
                <a:cs typeface="Calibri"/>
              </a:rPr>
              <a:t>GROUP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SQR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BY</a:t>
            </a:r>
            <a:r>
              <a:rPr lang="en-US" sz="2400" dirty="0">
                <a:latin typeface="Calibri"/>
                <a:cs typeface="Calibri"/>
              </a:rPr>
              <a:t> c;</a:t>
            </a:r>
          </a:p>
          <a:p>
            <a:r>
              <a:rPr lang="en-US" sz="2400" i="1" dirty="0">
                <a:latin typeface="Calibri"/>
                <a:cs typeface="Calibri"/>
              </a:rPr>
              <a:t>LEN_C </a:t>
            </a:r>
            <a:r>
              <a:rPr lang="en-US" sz="2400" dirty="0">
                <a:latin typeface="Calibri"/>
                <a:cs typeface="Calibri"/>
              </a:rPr>
              <a:t>= </a:t>
            </a:r>
            <a:r>
              <a:rPr lang="en-US" sz="2400" b="1" dirty="0">
                <a:latin typeface="Calibri"/>
                <a:cs typeface="Calibri"/>
              </a:rPr>
              <a:t>FOREACH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 err="1">
                <a:latin typeface="Calibri"/>
                <a:cs typeface="Calibri"/>
              </a:rPr>
              <a:t>SQR</a:t>
            </a:r>
            <a:r>
              <a:rPr lang="en-US" sz="2400" i="1" baseline="-25000" dirty="0" err="1">
                <a:latin typeface="Calibri"/>
                <a:cs typeface="Calibri"/>
              </a:rPr>
              <a:t>g</a:t>
            </a:r>
            <a:r>
              <a:rPr lang="en-US" sz="2400" i="1" baseline="-2500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GENERATE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c</a:t>
            </a:r>
            <a:r>
              <a:rPr lang="en-US" sz="2400" dirty="0">
                <a:latin typeface="Calibri"/>
                <a:cs typeface="Calibri"/>
              </a:rPr>
              <a:t>, SQRT(SUM(</a:t>
            </a:r>
            <a:r>
              <a:rPr lang="en-US" sz="2400" i="1" dirty="0">
                <a:latin typeface="Calibri"/>
                <a:cs typeface="Calibri"/>
              </a:rPr>
              <a:t>i</a:t>
            </a:r>
            <a:r>
              <a:rPr lang="en-US" sz="2400" i="1" baseline="-25000" dirty="0">
                <a:latin typeface="Calibri"/>
                <a:cs typeface="Calibri"/>
              </a:rPr>
              <a:t>c</a:t>
            </a:r>
            <a:r>
              <a:rPr lang="en-US" sz="2400" i="1" baseline="30000" dirty="0">
                <a:latin typeface="Calibri"/>
                <a:cs typeface="Calibri"/>
              </a:rPr>
              <a:t>2</a:t>
            </a:r>
            <a:r>
              <a:rPr lang="en-US" sz="2400" dirty="0">
                <a:latin typeface="Calibri"/>
                <a:cs typeface="Calibri"/>
              </a:rPr>
              <a:t>)) </a:t>
            </a:r>
            <a:r>
              <a:rPr lang="en-US" sz="2400" b="1" dirty="0">
                <a:latin typeface="Calibri"/>
                <a:cs typeface="Calibri"/>
              </a:rPr>
              <a:t>AS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 err="1">
                <a:latin typeface="Calibri"/>
                <a:cs typeface="Calibri"/>
              </a:rPr>
              <a:t>len</a:t>
            </a:r>
            <a:r>
              <a:rPr lang="en-US" sz="2400" i="1" baseline="-25000" dirty="0" err="1">
                <a:latin typeface="Calibri"/>
                <a:cs typeface="Calibri"/>
              </a:rPr>
              <a:t>c</a:t>
            </a:r>
            <a:r>
              <a:rPr lang="en-US" sz="2400" dirty="0">
                <a:latin typeface="Calibri"/>
                <a:cs typeface="Calibri"/>
              </a:rPr>
              <a:t>;</a:t>
            </a:r>
          </a:p>
          <a:p>
            <a:endParaRPr lang="en-US" sz="1400" dirty="0">
              <a:latin typeface="Calibri"/>
              <a:cs typeface="Calibri"/>
            </a:endParaRPr>
          </a:p>
          <a:p>
            <a:r>
              <a:rPr lang="en-US" sz="2400" i="1" dirty="0">
                <a:latin typeface="Calibri"/>
                <a:cs typeface="Calibri"/>
              </a:rPr>
              <a:t>DOT_LEN</a:t>
            </a:r>
            <a:r>
              <a:rPr lang="en-US" sz="2400" dirty="0">
                <a:latin typeface="Calibri"/>
                <a:cs typeface="Calibri"/>
              </a:rPr>
              <a:t> = </a:t>
            </a:r>
            <a:r>
              <a:rPr lang="en-US" sz="2400" b="1" dirty="0">
                <a:latin typeface="Calibri"/>
                <a:cs typeface="Calibri"/>
              </a:rPr>
              <a:t>JOIN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LEN_C  </a:t>
            </a:r>
            <a:r>
              <a:rPr lang="en-US" sz="2400" b="1" dirty="0">
                <a:latin typeface="Calibri"/>
                <a:cs typeface="Calibri"/>
              </a:rPr>
              <a:t>BY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c</a:t>
            </a:r>
            <a:r>
              <a:rPr lang="en-US" sz="2400" dirty="0">
                <a:latin typeface="Calibri"/>
                <a:cs typeface="Calibri"/>
              </a:rPr>
              <a:t>, </a:t>
            </a:r>
            <a:r>
              <a:rPr lang="en-US" sz="2400" i="1" dirty="0">
                <a:latin typeface="Calibri"/>
                <a:cs typeface="Calibri"/>
              </a:rPr>
              <a:t>DOT_PROD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BY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c</a:t>
            </a:r>
            <a:r>
              <a:rPr lang="en-US" sz="2400" dirty="0">
                <a:latin typeface="Calibri"/>
                <a:cs typeface="Calibri"/>
              </a:rPr>
              <a:t>;</a:t>
            </a:r>
          </a:p>
          <a:p>
            <a:r>
              <a:rPr lang="en-US" sz="2400" i="1" dirty="0">
                <a:latin typeface="Calibri"/>
                <a:cs typeface="Calibri"/>
              </a:rPr>
              <a:t>SIM</a:t>
            </a:r>
            <a:r>
              <a:rPr lang="en-US" sz="2400" dirty="0">
                <a:latin typeface="Calibri"/>
                <a:cs typeface="Calibri"/>
              </a:rPr>
              <a:t> = </a:t>
            </a:r>
            <a:r>
              <a:rPr lang="en-US" sz="2400" b="1" dirty="0">
                <a:latin typeface="Calibri"/>
                <a:cs typeface="Calibri"/>
              </a:rPr>
              <a:t>FOREACH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DOT_LEN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GENERATE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d</a:t>
            </a:r>
            <a:r>
              <a:rPr lang="en-US" sz="2400" dirty="0">
                <a:latin typeface="Calibri"/>
                <a:cs typeface="Calibri"/>
              </a:rPr>
              <a:t>, </a:t>
            </a:r>
            <a:r>
              <a:rPr lang="en-US" sz="2400" i="1" dirty="0">
                <a:latin typeface="Calibri"/>
                <a:cs typeface="Calibri"/>
              </a:rPr>
              <a:t>c</a:t>
            </a:r>
            <a:r>
              <a:rPr lang="en-US" sz="2400" dirty="0">
                <a:latin typeface="Calibri"/>
                <a:cs typeface="Calibri"/>
              </a:rPr>
              <a:t>, </a:t>
            </a:r>
            <a:r>
              <a:rPr lang="en-US" sz="2400" i="1" dirty="0" err="1">
                <a:latin typeface="Calibri"/>
                <a:cs typeface="Calibri"/>
              </a:rPr>
              <a:t>d</a:t>
            </a:r>
            <a:r>
              <a:rPr lang="en-US" sz="2400" dirty="0" err="1">
                <a:latin typeface="Calibri"/>
                <a:cs typeface="Calibri"/>
              </a:rPr>
              <a:t>X</a:t>
            </a:r>
            <a:r>
              <a:rPr lang="en-US" sz="2400" i="1" dirty="0" err="1">
                <a:latin typeface="Calibri"/>
                <a:cs typeface="Calibri"/>
              </a:rPr>
              <a:t>c</a:t>
            </a:r>
            <a:r>
              <a:rPr lang="en-US" sz="2400" i="1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/ </a:t>
            </a:r>
            <a:r>
              <a:rPr lang="en-US" sz="2400" i="1" dirty="0" err="1">
                <a:latin typeface="Calibri"/>
                <a:cs typeface="Calibri"/>
              </a:rPr>
              <a:t>len</a:t>
            </a:r>
            <a:r>
              <a:rPr lang="en-US" sz="2400" i="1" baseline="-25000" dirty="0" err="1">
                <a:latin typeface="Calibri"/>
                <a:cs typeface="Calibri"/>
              </a:rPr>
              <a:t>c</a:t>
            </a:r>
            <a:r>
              <a:rPr lang="en-US" sz="2400" dirty="0">
                <a:latin typeface="Calibri"/>
                <a:cs typeface="Calibri"/>
              </a:rPr>
              <a:t>;</a:t>
            </a:r>
          </a:p>
          <a:p>
            <a:endParaRPr lang="en-US" sz="1400" dirty="0">
              <a:latin typeface="Calibri"/>
              <a:cs typeface="Calibri"/>
            </a:endParaRPr>
          </a:p>
          <a:p>
            <a:r>
              <a:rPr lang="en-US" sz="2400" i="1" dirty="0" err="1">
                <a:latin typeface="Calibri"/>
                <a:cs typeface="Calibri"/>
              </a:rPr>
              <a:t>SIM</a:t>
            </a:r>
            <a:r>
              <a:rPr lang="en-US" sz="2400" i="1" baseline="-25000" dirty="0" err="1">
                <a:latin typeface="Calibri"/>
                <a:cs typeface="Calibri"/>
              </a:rPr>
              <a:t>g</a:t>
            </a:r>
            <a:r>
              <a:rPr lang="en-US" sz="2400" dirty="0">
                <a:latin typeface="Calibri"/>
                <a:cs typeface="Calibri"/>
              </a:rPr>
              <a:t> = </a:t>
            </a:r>
            <a:r>
              <a:rPr lang="en-US" sz="2400" b="1" dirty="0">
                <a:latin typeface="Calibri"/>
                <a:cs typeface="Calibri"/>
              </a:rPr>
              <a:t>GROUP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SIM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BY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d</a:t>
            </a:r>
            <a:r>
              <a:rPr lang="en-US" sz="2400" dirty="0">
                <a:latin typeface="Calibri"/>
                <a:cs typeface="Calibri"/>
              </a:rPr>
              <a:t>;</a:t>
            </a:r>
          </a:p>
          <a:p>
            <a:r>
              <a:rPr lang="en-US" sz="2400" i="1" dirty="0">
                <a:latin typeface="Calibri"/>
                <a:cs typeface="Calibri"/>
              </a:rPr>
              <a:t>CLUSTERS </a:t>
            </a:r>
            <a:r>
              <a:rPr lang="en-US" sz="2400" dirty="0">
                <a:latin typeface="Calibri"/>
                <a:cs typeface="Calibri"/>
              </a:rPr>
              <a:t>= </a:t>
            </a:r>
            <a:r>
              <a:rPr lang="en-US" sz="2400" b="1" dirty="0">
                <a:latin typeface="Calibri"/>
                <a:cs typeface="Calibri"/>
              </a:rPr>
              <a:t>FOREACH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 err="1">
                <a:latin typeface="Calibri"/>
                <a:cs typeface="Calibri"/>
              </a:rPr>
              <a:t>SIM</a:t>
            </a:r>
            <a:r>
              <a:rPr lang="en-US" sz="2400" i="1" baseline="-25000" dirty="0" err="1">
                <a:latin typeface="Calibri"/>
                <a:cs typeface="Calibri"/>
              </a:rPr>
              <a:t>g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GENERATE</a:t>
            </a:r>
            <a:r>
              <a:rPr lang="en-US" sz="2400" dirty="0">
                <a:latin typeface="Calibri"/>
                <a:cs typeface="Calibri"/>
              </a:rPr>
              <a:t> TOP(1, 2, </a:t>
            </a:r>
            <a:r>
              <a:rPr lang="en-US" sz="2400" i="1" dirty="0">
                <a:latin typeface="Calibri"/>
                <a:cs typeface="Calibri"/>
              </a:rPr>
              <a:t>SIM</a:t>
            </a:r>
            <a:r>
              <a:rPr lang="en-US" sz="2400" dirty="0">
                <a:latin typeface="Calibri"/>
                <a:cs typeface="Calibri"/>
              </a:rPr>
              <a:t>);</a:t>
            </a:r>
          </a:p>
        </p:txBody>
      </p:sp>
      <p:sp>
        <p:nvSpPr>
          <p:cNvPr id="12" name="Oval 11"/>
          <p:cNvSpPr/>
          <p:nvPr/>
        </p:nvSpPr>
        <p:spPr>
          <a:xfrm>
            <a:off x="1322504" y="1419522"/>
            <a:ext cx="914400" cy="7620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008304" y="4619922"/>
            <a:ext cx="914400" cy="7620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703504" y="2410122"/>
            <a:ext cx="1143000" cy="7620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551104" y="3705522"/>
            <a:ext cx="1143000" cy="7620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474904" y="5534322"/>
            <a:ext cx="1143000" cy="7620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629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8" grpId="0" animBg="1"/>
      <p:bldP spid="9" grpId="0" animBg="1"/>
      <p:bldP spid="13" grpId="0" animBg="1"/>
      <p:bldP spid="1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k</a:t>
            </a:r>
            <a:r>
              <a:rPr lang="en-US" dirty="0"/>
              <a:t>-means in Apache Pig: M-step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24000"/>
            <a:ext cx="8458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Calibri"/>
                <a:cs typeface="Calibri"/>
              </a:rPr>
              <a:t>D_C_W </a:t>
            </a:r>
            <a:r>
              <a:rPr lang="en-US" sz="2400" dirty="0">
                <a:latin typeface="Calibri"/>
                <a:cs typeface="Calibri"/>
              </a:rPr>
              <a:t>=</a:t>
            </a:r>
            <a:r>
              <a:rPr lang="en-US" sz="2400" i="1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JOIN</a:t>
            </a:r>
            <a:r>
              <a:rPr lang="en-US" sz="2400" i="1" dirty="0">
                <a:latin typeface="Calibri"/>
                <a:cs typeface="Calibri"/>
              </a:rPr>
              <a:t> CLUSTERS </a:t>
            </a:r>
            <a:r>
              <a:rPr lang="en-US" sz="2400" b="1" dirty="0">
                <a:latin typeface="Calibri"/>
                <a:cs typeface="Calibri"/>
              </a:rPr>
              <a:t>BY</a:t>
            </a:r>
            <a:r>
              <a:rPr lang="en-US" sz="2400" i="1" dirty="0">
                <a:latin typeface="Calibri"/>
                <a:cs typeface="Calibri"/>
              </a:rPr>
              <a:t> d</a:t>
            </a:r>
            <a:r>
              <a:rPr lang="en-US" sz="2400" dirty="0">
                <a:latin typeface="Calibri"/>
                <a:cs typeface="Calibri"/>
              </a:rPr>
              <a:t>,</a:t>
            </a:r>
            <a:r>
              <a:rPr lang="en-US" sz="2400" i="1" dirty="0">
                <a:latin typeface="Calibri"/>
                <a:cs typeface="Calibri"/>
              </a:rPr>
              <a:t> D </a:t>
            </a:r>
            <a:r>
              <a:rPr lang="en-US" sz="2400" b="1" dirty="0">
                <a:latin typeface="Calibri"/>
                <a:cs typeface="Calibri"/>
              </a:rPr>
              <a:t>BY</a:t>
            </a:r>
            <a:r>
              <a:rPr lang="en-US" sz="2400" i="1" dirty="0">
                <a:latin typeface="Calibri"/>
                <a:cs typeface="Calibri"/>
              </a:rPr>
              <a:t> d</a:t>
            </a:r>
            <a:r>
              <a:rPr lang="en-US" sz="2400" dirty="0">
                <a:latin typeface="Calibri"/>
                <a:cs typeface="Calibri"/>
              </a:rPr>
              <a:t>;</a:t>
            </a:r>
          </a:p>
          <a:p>
            <a:endParaRPr lang="en-US" sz="2400" i="1" dirty="0">
              <a:latin typeface="Calibri"/>
              <a:cs typeface="Calibri"/>
            </a:endParaRPr>
          </a:p>
          <a:p>
            <a:r>
              <a:rPr lang="en-US" sz="2400" i="1" dirty="0" err="1">
                <a:latin typeface="Calibri"/>
                <a:cs typeface="Calibri"/>
              </a:rPr>
              <a:t>D_C_W</a:t>
            </a:r>
            <a:r>
              <a:rPr lang="en-US" sz="2400" i="1" baseline="-25000" dirty="0" err="1">
                <a:latin typeface="Calibri"/>
                <a:cs typeface="Calibri"/>
              </a:rPr>
              <a:t>g</a:t>
            </a:r>
            <a:r>
              <a:rPr lang="en-US" sz="2400" i="1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=</a:t>
            </a:r>
            <a:r>
              <a:rPr lang="en-US" sz="2400" i="1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GROUP</a:t>
            </a:r>
            <a:r>
              <a:rPr lang="en-US" sz="2400" i="1" dirty="0">
                <a:latin typeface="Calibri"/>
                <a:cs typeface="Calibri"/>
              </a:rPr>
              <a:t> D_C_W </a:t>
            </a:r>
            <a:r>
              <a:rPr lang="en-US" sz="2400" b="1" dirty="0">
                <a:latin typeface="Calibri"/>
                <a:cs typeface="Calibri"/>
              </a:rPr>
              <a:t>BY</a:t>
            </a:r>
            <a:r>
              <a:rPr lang="en-US" sz="2400" i="1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(</a:t>
            </a:r>
            <a:r>
              <a:rPr lang="en-US" sz="2400" i="1" dirty="0">
                <a:latin typeface="Calibri"/>
                <a:cs typeface="Calibri"/>
              </a:rPr>
              <a:t>c</a:t>
            </a:r>
            <a:r>
              <a:rPr lang="en-US" sz="2400" dirty="0">
                <a:latin typeface="Calibri"/>
                <a:cs typeface="Calibri"/>
              </a:rPr>
              <a:t>,</a:t>
            </a:r>
            <a:r>
              <a:rPr lang="en-US" sz="2400" i="1" dirty="0">
                <a:latin typeface="Calibri"/>
                <a:cs typeface="Calibri"/>
              </a:rPr>
              <a:t> w</a:t>
            </a:r>
            <a:r>
              <a:rPr lang="en-US" sz="2400" dirty="0">
                <a:latin typeface="Calibri"/>
                <a:cs typeface="Calibri"/>
              </a:rPr>
              <a:t>);</a:t>
            </a:r>
          </a:p>
          <a:p>
            <a:r>
              <a:rPr lang="en-US" sz="2400" i="1" dirty="0">
                <a:latin typeface="Calibri"/>
                <a:cs typeface="Calibri"/>
              </a:rPr>
              <a:t>SUMS </a:t>
            </a:r>
            <a:r>
              <a:rPr lang="en-US" sz="2400" dirty="0">
                <a:latin typeface="Calibri"/>
                <a:cs typeface="Calibri"/>
              </a:rPr>
              <a:t>=</a:t>
            </a:r>
            <a:r>
              <a:rPr lang="en-US" sz="2400" i="1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FOREACH</a:t>
            </a:r>
            <a:r>
              <a:rPr lang="en-US" sz="2400" i="1" dirty="0">
                <a:latin typeface="Calibri"/>
                <a:cs typeface="Calibri"/>
              </a:rPr>
              <a:t> </a:t>
            </a:r>
            <a:r>
              <a:rPr lang="en-US" sz="2400" i="1" dirty="0" err="1">
                <a:latin typeface="Calibri"/>
                <a:cs typeface="Calibri"/>
              </a:rPr>
              <a:t>D_C_W</a:t>
            </a:r>
            <a:r>
              <a:rPr lang="en-US" sz="2400" i="1" baseline="-25000" dirty="0" err="1">
                <a:latin typeface="Calibri"/>
                <a:cs typeface="Calibri"/>
              </a:rPr>
              <a:t>g</a:t>
            </a:r>
            <a:r>
              <a:rPr lang="en-US" sz="2400" i="1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GENERATE</a:t>
            </a:r>
            <a:r>
              <a:rPr lang="en-US" sz="2400" i="1" dirty="0">
                <a:latin typeface="Calibri"/>
                <a:cs typeface="Calibri"/>
              </a:rPr>
              <a:t> c</a:t>
            </a:r>
            <a:r>
              <a:rPr lang="en-US" sz="2400" dirty="0">
                <a:latin typeface="Calibri"/>
                <a:cs typeface="Calibri"/>
              </a:rPr>
              <a:t>,</a:t>
            </a:r>
            <a:r>
              <a:rPr lang="en-US" sz="2400" i="1" dirty="0">
                <a:latin typeface="Calibri"/>
                <a:cs typeface="Calibri"/>
              </a:rPr>
              <a:t> w</a:t>
            </a:r>
            <a:r>
              <a:rPr lang="en-US" sz="2400" dirty="0">
                <a:latin typeface="Calibri"/>
                <a:cs typeface="Calibri"/>
              </a:rPr>
              <a:t>,</a:t>
            </a:r>
            <a:r>
              <a:rPr lang="en-US" sz="2400" i="1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SUM(</a:t>
            </a:r>
            <a:r>
              <a:rPr lang="en-US" sz="2400" i="1" dirty="0">
                <a:latin typeface="Calibri"/>
                <a:cs typeface="Calibri"/>
              </a:rPr>
              <a:t>i</a:t>
            </a:r>
            <a:r>
              <a:rPr lang="en-US" sz="2400" i="1" baseline="-25000" dirty="0">
                <a:latin typeface="Calibri"/>
                <a:cs typeface="Calibri"/>
              </a:rPr>
              <a:t>d</a:t>
            </a:r>
            <a:r>
              <a:rPr lang="en-US" sz="2400" dirty="0">
                <a:latin typeface="Calibri"/>
                <a:cs typeface="Calibri"/>
              </a:rPr>
              <a:t>) </a:t>
            </a:r>
            <a:r>
              <a:rPr lang="en-US" sz="2400" b="1" dirty="0">
                <a:latin typeface="Calibri"/>
                <a:cs typeface="Calibri"/>
              </a:rPr>
              <a:t>AS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sum</a:t>
            </a:r>
            <a:r>
              <a:rPr lang="en-US" sz="2400" dirty="0">
                <a:latin typeface="Calibri"/>
                <a:cs typeface="Calibri"/>
              </a:rPr>
              <a:t>;</a:t>
            </a:r>
          </a:p>
          <a:p>
            <a:endParaRPr lang="en-US" sz="2400" i="1" dirty="0">
              <a:latin typeface="Calibri"/>
              <a:cs typeface="Calibri"/>
            </a:endParaRPr>
          </a:p>
          <a:p>
            <a:r>
              <a:rPr lang="en-US" sz="2400" i="1" dirty="0" err="1">
                <a:latin typeface="Calibri"/>
                <a:cs typeface="Calibri"/>
              </a:rPr>
              <a:t>D_C_W</a:t>
            </a:r>
            <a:r>
              <a:rPr lang="en-US" sz="2400" i="1" baseline="-25000" dirty="0" err="1">
                <a:latin typeface="Calibri"/>
                <a:cs typeface="Calibri"/>
              </a:rPr>
              <a:t>gg</a:t>
            </a:r>
            <a:r>
              <a:rPr lang="en-US" sz="2400" i="1" baseline="-2500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= </a:t>
            </a:r>
            <a:r>
              <a:rPr lang="en-US" sz="2400" b="1" dirty="0">
                <a:latin typeface="Calibri"/>
                <a:cs typeface="Calibri"/>
              </a:rPr>
              <a:t>GROUP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D_C_W </a:t>
            </a:r>
            <a:r>
              <a:rPr lang="en-US" sz="2400" b="1" dirty="0">
                <a:latin typeface="Calibri"/>
                <a:cs typeface="Calibri"/>
              </a:rPr>
              <a:t>BY</a:t>
            </a:r>
            <a:r>
              <a:rPr lang="en-US" sz="2400" i="1" dirty="0">
                <a:latin typeface="Calibri"/>
                <a:cs typeface="Calibri"/>
              </a:rPr>
              <a:t> c</a:t>
            </a:r>
            <a:r>
              <a:rPr lang="en-US" sz="2400" dirty="0">
                <a:latin typeface="Calibri"/>
                <a:cs typeface="Calibri"/>
              </a:rPr>
              <a:t>;</a:t>
            </a:r>
          </a:p>
          <a:p>
            <a:r>
              <a:rPr lang="en-US" sz="2400" i="1" dirty="0">
                <a:latin typeface="Calibri"/>
                <a:cs typeface="Calibri"/>
              </a:rPr>
              <a:t>SIZES </a:t>
            </a:r>
            <a:r>
              <a:rPr lang="en-US" sz="2400" dirty="0">
                <a:latin typeface="Calibri"/>
                <a:cs typeface="Calibri"/>
              </a:rPr>
              <a:t>= </a:t>
            </a:r>
            <a:r>
              <a:rPr lang="en-US" sz="2400" b="1" dirty="0">
                <a:latin typeface="Calibri"/>
                <a:cs typeface="Calibri"/>
              </a:rPr>
              <a:t>FOREACH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 err="1">
                <a:latin typeface="Calibri"/>
                <a:cs typeface="Calibri"/>
              </a:rPr>
              <a:t>D_C_W</a:t>
            </a:r>
            <a:r>
              <a:rPr lang="en-US" sz="2400" i="1" baseline="-25000" dirty="0" err="1">
                <a:latin typeface="Calibri"/>
                <a:cs typeface="Calibri"/>
              </a:rPr>
              <a:t>gg</a:t>
            </a:r>
            <a:r>
              <a:rPr lang="en-US" sz="2400" i="1" baseline="-2500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GENERATE</a:t>
            </a:r>
            <a:r>
              <a:rPr lang="en-US" sz="2400" i="1" dirty="0">
                <a:latin typeface="Calibri"/>
                <a:cs typeface="Calibri"/>
              </a:rPr>
              <a:t> c</a:t>
            </a:r>
            <a:r>
              <a:rPr lang="en-US" sz="2400" dirty="0">
                <a:latin typeface="Calibri"/>
                <a:cs typeface="Calibri"/>
              </a:rPr>
              <a:t>, COUNT(</a:t>
            </a:r>
            <a:r>
              <a:rPr lang="en-US" sz="2400" i="1" dirty="0">
                <a:latin typeface="Calibri"/>
                <a:cs typeface="Calibri"/>
              </a:rPr>
              <a:t>D_C_W</a:t>
            </a:r>
            <a:r>
              <a:rPr lang="en-US" sz="2400" dirty="0">
                <a:latin typeface="Calibri"/>
                <a:cs typeface="Calibri"/>
              </a:rPr>
              <a:t>)</a:t>
            </a:r>
            <a:r>
              <a:rPr lang="en-US" sz="2400" i="1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AS</a:t>
            </a:r>
            <a:r>
              <a:rPr lang="en-US" sz="2400" i="1" dirty="0">
                <a:latin typeface="Calibri"/>
                <a:cs typeface="Calibri"/>
              </a:rPr>
              <a:t> size</a:t>
            </a:r>
            <a:r>
              <a:rPr lang="en-US" sz="2400" dirty="0">
                <a:latin typeface="Calibri"/>
                <a:cs typeface="Calibri"/>
              </a:rPr>
              <a:t>;</a:t>
            </a:r>
          </a:p>
          <a:p>
            <a:endParaRPr lang="en-US" sz="2400" i="1" dirty="0">
              <a:latin typeface="Calibri"/>
              <a:cs typeface="Calibri"/>
            </a:endParaRPr>
          </a:p>
          <a:p>
            <a:r>
              <a:rPr lang="en-US" sz="2400" i="1" dirty="0">
                <a:latin typeface="Calibri"/>
                <a:cs typeface="Calibri"/>
              </a:rPr>
              <a:t>SUMS_SIZES </a:t>
            </a:r>
            <a:r>
              <a:rPr lang="en-US" sz="2400" dirty="0">
                <a:latin typeface="Calibri"/>
                <a:cs typeface="Calibri"/>
              </a:rPr>
              <a:t>= </a:t>
            </a:r>
            <a:r>
              <a:rPr lang="en-US" sz="2400" b="1" dirty="0">
                <a:latin typeface="Calibri"/>
                <a:cs typeface="Calibri"/>
              </a:rPr>
              <a:t>JOIN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Calibri"/>
                <a:cs typeface="Calibri"/>
              </a:rPr>
              <a:t>SIZES </a:t>
            </a:r>
            <a:r>
              <a:rPr lang="en-US" sz="2400" b="1" dirty="0">
                <a:latin typeface="Calibri"/>
                <a:cs typeface="Calibri"/>
              </a:rPr>
              <a:t>BY</a:t>
            </a:r>
            <a:r>
              <a:rPr lang="en-US" sz="2400" i="1" dirty="0">
                <a:latin typeface="Calibri"/>
                <a:cs typeface="Calibri"/>
              </a:rPr>
              <a:t> c</a:t>
            </a:r>
            <a:r>
              <a:rPr lang="en-US" sz="2400" dirty="0">
                <a:latin typeface="Calibri"/>
                <a:cs typeface="Calibri"/>
              </a:rPr>
              <a:t>,</a:t>
            </a:r>
            <a:r>
              <a:rPr lang="en-US" sz="2400" i="1" dirty="0">
                <a:latin typeface="Calibri"/>
                <a:cs typeface="Calibri"/>
              </a:rPr>
              <a:t> SUMS </a:t>
            </a:r>
            <a:r>
              <a:rPr lang="en-US" sz="2400" b="1" dirty="0">
                <a:latin typeface="Calibri"/>
                <a:cs typeface="Calibri"/>
              </a:rPr>
              <a:t>BY</a:t>
            </a:r>
            <a:r>
              <a:rPr lang="en-US" sz="2400" i="1" dirty="0">
                <a:latin typeface="Calibri"/>
                <a:cs typeface="Calibri"/>
              </a:rPr>
              <a:t> c</a:t>
            </a:r>
            <a:r>
              <a:rPr lang="en-US" sz="2400" dirty="0">
                <a:latin typeface="Calibri"/>
                <a:cs typeface="Calibri"/>
              </a:rPr>
              <a:t>;</a:t>
            </a:r>
          </a:p>
          <a:p>
            <a:r>
              <a:rPr lang="en-US" sz="2400" i="1" dirty="0">
                <a:latin typeface="Calibri"/>
                <a:cs typeface="Calibri"/>
              </a:rPr>
              <a:t>C </a:t>
            </a:r>
            <a:r>
              <a:rPr lang="en-US" sz="2400" dirty="0">
                <a:latin typeface="Calibri"/>
                <a:cs typeface="Calibri"/>
              </a:rPr>
              <a:t>= </a:t>
            </a:r>
            <a:r>
              <a:rPr lang="en-US" sz="2400" b="1" dirty="0">
                <a:latin typeface="Calibri"/>
                <a:cs typeface="Calibri"/>
              </a:rPr>
              <a:t>FOREACH</a:t>
            </a:r>
            <a:r>
              <a:rPr lang="en-US" sz="2400" dirty="0">
                <a:latin typeface="Calibri"/>
                <a:cs typeface="Calibri"/>
              </a:rPr>
              <a:t>  </a:t>
            </a:r>
            <a:r>
              <a:rPr lang="en-US" sz="2400" i="1" dirty="0">
                <a:latin typeface="Calibri"/>
                <a:cs typeface="Calibri"/>
              </a:rPr>
              <a:t>SUMS_SIZES  </a:t>
            </a:r>
            <a:r>
              <a:rPr lang="en-US" sz="2400" b="1" dirty="0">
                <a:latin typeface="Calibri"/>
                <a:cs typeface="Calibri"/>
              </a:rPr>
              <a:t>GENERATE</a:t>
            </a:r>
            <a:r>
              <a:rPr lang="en-US" sz="2400" i="1" dirty="0">
                <a:latin typeface="Calibri"/>
                <a:cs typeface="Calibri"/>
              </a:rPr>
              <a:t> c</a:t>
            </a:r>
            <a:r>
              <a:rPr lang="en-US" sz="2400" dirty="0">
                <a:latin typeface="Calibri"/>
                <a:cs typeface="Calibri"/>
              </a:rPr>
              <a:t>, </a:t>
            </a:r>
            <a:r>
              <a:rPr lang="en-US" sz="2400" i="1" dirty="0">
                <a:latin typeface="Calibri"/>
                <a:cs typeface="Calibri"/>
              </a:rPr>
              <a:t>w</a:t>
            </a:r>
            <a:r>
              <a:rPr lang="en-US" sz="2400" dirty="0">
                <a:latin typeface="Calibri"/>
                <a:cs typeface="Calibri"/>
              </a:rPr>
              <a:t>,</a:t>
            </a:r>
            <a:r>
              <a:rPr lang="en-US" sz="2400" i="1" dirty="0">
                <a:latin typeface="Calibri"/>
                <a:cs typeface="Calibri"/>
              </a:rPr>
              <a:t> sum </a:t>
            </a:r>
            <a:r>
              <a:rPr lang="en-US" sz="2400" dirty="0">
                <a:latin typeface="Calibri"/>
                <a:cs typeface="Calibri"/>
              </a:rPr>
              <a:t>/ </a:t>
            </a:r>
            <a:r>
              <a:rPr lang="en-US" sz="2400" i="1" dirty="0">
                <a:latin typeface="Calibri"/>
                <a:cs typeface="Calibri"/>
              </a:rPr>
              <a:t>size </a:t>
            </a:r>
            <a:r>
              <a:rPr lang="en-US" sz="2400" b="1" dirty="0">
                <a:latin typeface="Calibri"/>
                <a:cs typeface="Calibri"/>
              </a:rPr>
              <a:t>AS</a:t>
            </a:r>
            <a:r>
              <a:rPr lang="en-US" sz="2400" i="1" dirty="0">
                <a:latin typeface="Calibri"/>
                <a:cs typeface="Calibri"/>
              </a:rPr>
              <a:t> </a:t>
            </a:r>
            <a:r>
              <a:rPr lang="en-US" sz="2400" i="1" dirty="0" err="1">
                <a:latin typeface="Calibri"/>
                <a:cs typeface="Calibri"/>
              </a:rPr>
              <a:t>i</a:t>
            </a:r>
            <a:r>
              <a:rPr lang="en-US" sz="2400" i="1" baseline="-25000" dirty="0" err="1">
                <a:latin typeface="Calibri"/>
                <a:cs typeface="Calibri"/>
              </a:rPr>
              <a:t>c</a:t>
            </a:r>
            <a:r>
              <a:rPr lang="en-US" sz="2400" i="1" baseline="-2500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;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3200400"/>
            <a:ext cx="1143000" cy="7620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752600" y="2133600"/>
            <a:ext cx="1143000" cy="7620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209800" y="4267200"/>
            <a:ext cx="914400" cy="7620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00200" y="1371600"/>
            <a:ext cx="914400" cy="7620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196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Data is read, and model is written, with every iteration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39000"/>
            <a:ext cx="8229600" cy="4525963"/>
          </a:xfrm>
        </p:spPr>
        <p:txBody>
          <a:bodyPr/>
          <a:lstStyle/>
          <a:p>
            <a:r>
              <a:rPr lang="en-US" dirty="0" err="1"/>
              <a:t>Mappers</a:t>
            </a:r>
            <a:r>
              <a:rPr lang="en-US" dirty="0"/>
              <a:t> read data portions and </a:t>
            </a:r>
            <a:r>
              <a:rPr lang="en-US" dirty="0" err="1"/>
              <a:t>centroids</a:t>
            </a:r>
            <a:endParaRPr lang="en-US" dirty="0"/>
          </a:p>
          <a:p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Mappers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assign data instances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to clusters</a:t>
            </a:r>
          </a:p>
          <a:p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Mappers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compute new local </a:t>
            </a:r>
            <a:r>
              <a:rPr lang="en-US" b="1" dirty="0" err="1">
                <a:solidFill>
                  <a:schemeClr val="bg1">
                    <a:lumMod val="65000"/>
                  </a:schemeClr>
                </a:solidFill>
              </a:rPr>
              <a:t>centroids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and local cluster sizes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Reducers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aggregate local </a:t>
            </a:r>
            <a:r>
              <a:rPr lang="en-US" b="1" dirty="0" err="1">
                <a:solidFill>
                  <a:schemeClr val="bg1">
                    <a:lumMod val="65000"/>
                  </a:schemeClr>
                </a:solidFill>
              </a:rPr>
              <a:t>centroids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(weighted by local cluster sizes) into new global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centroids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/>
              <a:t>Reducers </a:t>
            </a:r>
            <a:r>
              <a:rPr lang="en-US" b="1" dirty="0"/>
              <a:t>write the new </a:t>
            </a:r>
            <a:r>
              <a:rPr lang="en-US" b="1" dirty="0" err="1"/>
              <a:t>centroids</a:t>
            </a:r>
            <a:endParaRPr lang="en-US" b="1" dirty="0"/>
          </a:p>
        </p:txBody>
      </p:sp>
      <p:sp>
        <p:nvSpPr>
          <p:cNvPr id="5" name="Circular Arrow 4"/>
          <p:cNvSpPr/>
          <p:nvPr/>
        </p:nvSpPr>
        <p:spPr>
          <a:xfrm rot="3925217" flipH="1">
            <a:off x="5240918" y="2424358"/>
            <a:ext cx="4431004" cy="3872169"/>
          </a:xfrm>
          <a:prstGeom prst="circularArrow">
            <a:avLst>
              <a:gd name="adj1" fmla="val 4215"/>
              <a:gd name="adj2" fmla="val 971679"/>
              <a:gd name="adj3" fmla="val 17905064"/>
              <a:gd name="adj4" fmla="val 8037137"/>
              <a:gd name="adj5" fmla="val 80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8676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1B9E7-6332-B5CC-14DF-58C74E04C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74C12-54C5-7420-89A5-192DBA6C5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6AF48-4293-D630-52A6-BCB77155C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39000"/>
            <a:ext cx="5054252" cy="2507323"/>
          </a:xfrm>
        </p:spPr>
        <p:txBody>
          <a:bodyPr>
            <a:normAutofit fontScale="55000" lnSpcReduction="20000"/>
          </a:bodyPr>
          <a:lstStyle/>
          <a:p>
            <a:r>
              <a:rPr lang="en-US" dirty="0" err="1"/>
              <a:t>Mappers</a:t>
            </a:r>
            <a:r>
              <a:rPr lang="en-US" dirty="0"/>
              <a:t> read data portions and </a:t>
            </a:r>
            <a:r>
              <a:rPr lang="en-US" dirty="0" err="1"/>
              <a:t>centroids</a:t>
            </a:r>
            <a:endParaRPr lang="en-US" dirty="0"/>
          </a:p>
          <a:p>
            <a:r>
              <a:rPr lang="en-US" dirty="0" err="1"/>
              <a:t>Mappers</a:t>
            </a:r>
            <a:r>
              <a:rPr lang="en-US" dirty="0"/>
              <a:t> </a:t>
            </a:r>
            <a:r>
              <a:rPr lang="en-US" b="1" dirty="0"/>
              <a:t>assign data instances </a:t>
            </a:r>
            <a:r>
              <a:rPr lang="en-US" dirty="0"/>
              <a:t>to clusters</a:t>
            </a:r>
          </a:p>
          <a:p>
            <a:r>
              <a:rPr lang="en-US" dirty="0" err="1"/>
              <a:t>Mappers</a:t>
            </a:r>
            <a:r>
              <a:rPr lang="en-US" dirty="0"/>
              <a:t> </a:t>
            </a:r>
            <a:r>
              <a:rPr lang="en-US" b="1" dirty="0"/>
              <a:t>compute new local </a:t>
            </a:r>
            <a:r>
              <a:rPr lang="en-US" b="1" dirty="0" err="1"/>
              <a:t>centroids</a:t>
            </a:r>
            <a:r>
              <a:rPr lang="en-US" b="1" dirty="0"/>
              <a:t> </a:t>
            </a:r>
            <a:r>
              <a:rPr lang="en-US" dirty="0"/>
              <a:t>and local cluster sizes</a:t>
            </a:r>
          </a:p>
          <a:p>
            <a:r>
              <a:rPr lang="en-US" dirty="0"/>
              <a:t>Reducers </a:t>
            </a:r>
            <a:r>
              <a:rPr lang="en-US" b="1" dirty="0"/>
              <a:t>aggregate local </a:t>
            </a:r>
            <a:r>
              <a:rPr lang="en-US" b="1" dirty="0" err="1"/>
              <a:t>centroids</a:t>
            </a:r>
            <a:r>
              <a:rPr lang="en-US" b="1" dirty="0"/>
              <a:t> </a:t>
            </a:r>
            <a:r>
              <a:rPr lang="en-US" dirty="0"/>
              <a:t>(weighted by local cluster sizes) into new global </a:t>
            </a:r>
            <a:r>
              <a:rPr lang="en-US" dirty="0" err="1"/>
              <a:t>centroids</a:t>
            </a:r>
            <a:endParaRPr lang="en-US" dirty="0"/>
          </a:p>
          <a:p>
            <a:r>
              <a:rPr lang="en-US" dirty="0"/>
              <a:t>Reducers </a:t>
            </a:r>
            <a:r>
              <a:rPr lang="en-US" b="1" dirty="0"/>
              <a:t>write the new </a:t>
            </a:r>
            <a:r>
              <a:rPr lang="en-US" b="1" dirty="0" err="1"/>
              <a:t>centroids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F26968-11C1-8A44-BC41-7CE164AB86E5}"/>
              </a:ext>
            </a:extLst>
          </p:cNvPr>
          <p:cNvSpPr txBox="1"/>
          <p:nvPr/>
        </p:nvSpPr>
        <p:spPr>
          <a:xfrm>
            <a:off x="5715000" y="1295400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Panda et al, Chapter 2</a:t>
            </a:r>
          </a:p>
        </p:txBody>
      </p:sp>
      <p:sp>
        <p:nvSpPr>
          <p:cNvPr id="5" name="Circular Arrow 4">
            <a:extLst>
              <a:ext uri="{FF2B5EF4-FFF2-40B4-BE49-F238E27FC236}">
                <a16:creationId xmlns:a16="http://schemas.microsoft.com/office/drawing/2014/main" id="{C8713D35-BC5C-FA57-ACEB-5B463E483C80}"/>
              </a:ext>
            </a:extLst>
          </p:cNvPr>
          <p:cNvSpPr/>
          <p:nvPr/>
        </p:nvSpPr>
        <p:spPr>
          <a:xfrm rot="3925217" flipH="1">
            <a:off x="3721640" y="1962127"/>
            <a:ext cx="2207077" cy="2061068"/>
          </a:xfrm>
          <a:prstGeom prst="circularArrow">
            <a:avLst>
              <a:gd name="adj1" fmla="val 4215"/>
              <a:gd name="adj2" fmla="val 971679"/>
              <a:gd name="adj3" fmla="val 17905064"/>
              <a:gd name="adj4" fmla="val 8037137"/>
              <a:gd name="adj5" fmla="val 80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DA0F4-0DE8-4D39-5DA3-C318AE607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A595AA-EB6C-4A67-E227-56AD56B35B9E}"/>
              </a:ext>
            </a:extLst>
          </p:cNvPr>
          <p:cNvSpPr txBox="1"/>
          <p:nvPr/>
        </p:nvSpPr>
        <p:spPr>
          <a:xfrm>
            <a:off x="657225" y="4114800"/>
            <a:ext cx="76581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What should be in memory and what should be in an RDD?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How many Shuffle-Sorts are needed for one pass?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Assume we can map through documents</a:t>
            </a:r>
          </a:p>
        </p:txBody>
      </p:sp>
    </p:spTree>
    <p:extLst>
      <p:ext uri="{BB962C8B-B14F-4D97-AF65-F5344CB8AC3E}">
        <p14:creationId xmlns:p14="http://schemas.microsoft.com/office/powerpoint/2010/main" val="2477448382"/>
      </p:ext>
    </p:extLst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58ACC-43CA-9CEF-3077-4E1FD5A72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6153E-1764-8E5D-A5CD-B877A3E67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26A9C-3835-2041-F637-6EF100ADF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39000"/>
            <a:ext cx="5054252" cy="2507323"/>
          </a:xfrm>
        </p:spPr>
        <p:txBody>
          <a:bodyPr>
            <a:normAutofit fontScale="55000" lnSpcReduction="20000"/>
          </a:bodyPr>
          <a:lstStyle/>
          <a:p>
            <a:r>
              <a:rPr lang="en-US" dirty="0" err="1"/>
              <a:t>Mappers</a:t>
            </a:r>
            <a:r>
              <a:rPr lang="en-US" dirty="0"/>
              <a:t> read data portions and </a:t>
            </a:r>
            <a:r>
              <a:rPr lang="en-US" dirty="0" err="1"/>
              <a:t>centroids</a:t>
            </a:r>
            <a:endParaRPr lang="en-US" dirty="0"/>
          </a:p>
          <a:p>
            <a:r>
              <a:rPr lang="en-US" dirty="0" err="1"/>
              <a:t>Mappers</a:t>
            </a:r>
            <a:r>
              <a:rPr lang="en-US" dirty="0"/>
              <a:t> </a:t>
            </a:r>
            <a:r>
              <a:rPr lang="en-US" b="1" dirty="0"/>
              <a:t>assign data instances </a:t>
            </a:r>
            <a:r>
              <a:rPr lang="en-US" dirty="0"/>
              <a:t>to clusters</a:t>
            </a:r>
          </a:p>
          <a:p>
            <a:r>
              <a:rPr lang="en-US" dirty="0" err="1"/>
              <a:t>Mappers</a:t>
            </a:r>
            <a:r>
              <a:rPr lang="en-US" dirty="0"/>
              <a:t> </a:t>
            </a:r>
            <a:r>
              <a:rPr lang="en-US" b="1" dirty="0"/>
              <a:t>compute new local </a:t>
            </a:r>
            <a:r>
              <a:rPr lang="en-US" b="1" dirty="0" err="1"/>
              <a:t>centroids</a:t>
            </a:r>
            <a:r>
              <a:rPr lang="en-US" b="1" dirty="0"/>
              <a:t> </a:t>
            </a:r>
            <a:r>
              <a:rPr lang="en-US" dirty="0"/>
              <a:t>and local cluster sizes</a:t>
            </a:r>
          </a:p>
          <a:p>
            <a:r>
              <a:rPr lang="en-US" dirty="0"/>
              <a:t>Reducers </a:t>
            </a:r>
            <a:r>
              <a:rPr lang="en-US" b="1" dirty="0"/>
              <a:t>aggregate local </a:t>
            </a:r>
            <a:r>
              <a:rPr lang="en-US" b="1" dirty="0" err="1"/>
              <a:t>centroids</a:t>
            </a:r>
            <a:r>
              <a:rPr lang="en-US" b="1" dirty="0"/>
              <a:t> </a:t>
            </a:r>
            <a:r>
              <a:rPr lang="en-US" dirty="0"/>
              <a:t>(weighted by local cluster sizes) into new global </a:t>
            </a:r>
            <a:r>
              <a:rPr lang="en-US" dirty="0" err="1"/>
              <a:t>centroids</a:t>
            </a:r>
            <a:endParaRPr lang="en-US" dirty="0"/>
          </a:p>
          <a:p>
            <a:r>
              <a:rPr lang="en-US" dirty="0"/>
              <a:t>Reducers </a:t>
            </a:r>
            <a:r>
              <a:rPr lang="en-US" b="1" dirty="0"/>
              <a:t>write the new </a:t>
            </a:r>
            <a:r>
              <a:rPr lang="en-US" b="1" dirty="0" err="1"/>
              <a:t>centroids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94C25A-2DD8-7FC8-620C-9FAE7F050047}"/>
              </a:ext>
            </a:extLst>
          </p:cNvPr>
          <p:cNvSpPr txBox="1"/>
          <p:nvPr/>
        </p:nvSpPr>
        <p:spPr>
          <a:xfrm>
            <a:off x="5715000" y="1295400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Panda et al, Chapter 2</a:t>
            </a:r>
          </a:p>
        </p:txBody>
      </p:sp>
      <p:sp>
        <p:nvSpPr>
          <p:cNvPr id="5" name="Circular Arrow 4">
            <a:extLst>
              <a:ext uri="{FF2B5EF4-FFF2-40B4-BE49-F238E27FC236}">
                <a16:creationId xmlns:a16="http://schemas.microsoft.com/office/drawing/2014/main" id="{185BD5D7-3BA6-DA43-7FA3-83A5A493063A}"/>
              </a:ext>
            </a:extLst>
          </p:cNvPr>
          <p:cNvSpPr/>
          <p:nvPr/>
        </p:nvSpPr>
        <p:spPr>
          <a:xfrm rot="3925217" flipH="1">
            <a:off x="3721640" y="1962127"/>
            <a:ext cx="2207077" cy="2061068"/>
          </a:xfrm>
          <a:prstGeom prst="circularArrow">
            <a:avLst>
              <a:gd name="adj1" fmla="val 4215"/>
              <a:gd name="adj2" fmla="val 971679"/>
              <a:gd name="adj3" fmla="val 17905064"/>
              <a:gd name="adj4" fmla="val 8037137"/>
              <a:gd name="adj5" fmla="val 80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5B611-3E5A-9933-9D2B-29AC91DC6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61BDE1-BC6D-D966-9CF0-32F5008E56A8}"/>
              </a:ext>
            </a:extLst>
          </p:cNvPr>
          <p:cNvSpPr txBox="1"/>
          <p:nvPr/>
        </p:nvSpPr>
        <p:spPr>
          <a:xfrm>
            <a:off x="657225" y="4114800"/>
            <a:ext cx="76581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Sketch: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Map only: With all centroids in mapper memory, assign each doc to a centroid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outputting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docid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 centroid index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Shuffle-sort: Count number of docs per centroid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Map-Reduce: join docs to centroids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Map-Reduce: accumulate doc weights for each centroid</a:t>
            </a:r>
          </a:p>
        </p:txBody>
      </p:sp>
    </p:spTree>
    <p:extLst>
      <p:ext uri="{BB962C8B-B14F-4D97-AF65-F5344CB8AC3E}">
        <p14:creationId xmlns:p14="http://schemas.microsoft.com/office/powerpoint/2010/main" val="937315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4267</TotalTime>
  <Words>3077</Words>
  <Application>Microsoft Macintosh PowerPoint</Application>
  <PresentationFormat>On-screen Show (4:3)</PresentationFormat>
  <Paragraphs>536</Paragraphs>
  <Slides>69</Slides>
  <Notes>9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7" baseType="lpstr">
      <vt:lpstr>Arial</vt:lpstr>
      <vt:lpstr>Calibri</vt:lpstr>
      <vt:lpstr>Cambria Math</vt:lpstr>
      <vt:lpstr>Gill Sans MT</vt:lpstr>
      <vt:lpstr>Times New Roman</vt:lpstr>
      <vt:lpstr>Times Roman</vt:lpstr>
      <vt:lpstr>Wingdings</vt:lpstr>
      <vt:lpstr>Office Theme</vt:lpstr>
      <vt:lpstr>10-605 / 10-405 Learning as Optimization - 1</vt:lpstr>
      <vt:lpstr>Recap: the course so far</vt:lpstr>
      <vt:lpstr>Learning As Optimization: Motivation</vt:lpstr>
      <vt:lpstr>Learning as optimization: warmup</vt:lpstr>
      <vt:lpstr>Learning as optimization: warmup</vt:lpstr>
      <vt:lpstr>Learning as optimization: linear regression</vt:lpstr>
      <vt:lpstr>PowerPoint Presentation</vt:lpstr>
      <vt:lpstr>PowerPoint Presentation</vt:lpstr>
      <vt:lpstr>PowerPoint Presentation</vt:lpstr>
      <vt:lpstr>Learning as optimization: linear regression</vt:lpstr>
      <vt:lpstr>PowerPoint Presentation</vt:lpstr>
      <vt:lpstr>General idea: Empirical risk minimization</vt:lpstr>
      <vt:lpstr>General idea: Empirical risk minimization</vt:lpstr>
      <vt:lpstr>Learning as optimization:  linear least squares regression as empirical risk minimization</vt:lpstr>
      <vt:lpstr>Learning as optimization:  linear least squares regression as empirical risk minimization</vt:lpstr>
      <vt:lpstr>Learning as optimization:  linear least squares regression as empirical risk minimization</vt:lpstr>
      <vt:lpstr>PowerPoint Presentation</vt:lpstr>
      <vt:lpstr>Learning as optimization:  linear least squares regression as empirical risk minimization</vt:lpstr>
      <vt:lpstr>Learning as optimization:  linear least squares regression as empirical risk minimization</vt:lpstr>
      <vt:lpstr>Learning as optimization:  linear least squares regression as empirical risk minimization</vt:lpstr>
      <vt:lpstr>Learning as optimization:  linear least squares regression as empirical risk minimization</vt:lpstr>
      <vt:lpstr>GRADIENT DESCENT for Linear Regression</vt:lpstr>
      <vt:lpstr>Learning as optimization:  linear least squares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Least squares with gradient descent</vt:lpstr>
      <vt:lpstr>Least squares linear with gradient descent</vt:lpstr>
      <vt:lpstr>Least squares linear with parallel gradient descent</vt:lpstr>
      <vt:lpstr>PowerPoint Presentation</vt:lpstr>
      <vt:lpstr>PowerPoint Presentation</vt:lpstr>
      <vt:lpstr>Least squares linear with parallel gradient descent</vt:lpstr>
      <vt:lpstr>Variants of GRADIENT DESCENT</vt:lpstr>
      <vt:lpstr>Least squares linear with parallel gradient descent</vt:lpstr>
      <vt:lpstr>Stochastic gradient descent (SGD)</vt:lpstr>
      <vt:lpstr>Stochastic gradient descent</vt:lpstr>
      <vt:lpstr>Stochastic gradient descent</vt:lpstr>
      <vt:lpstr>Stochastic gradient descent</vt:lpstr>
      <vt:lpstr>Recap: gradient descent for least squares</vt:lpstr>
      <vt:lpstr>SGD for least squares</vt:lpstr>
      <vt:lpstr>SGD for linear regression ~ streaming</vt:lpstr>
      <vt:lpstr>Parallel SGD?</vt:lpstr>
      <vt:lpstr>On beyond SGD</vt:lpstr>
      <vt:lpstr>Logistic Regression with Stochastic Gradient Descent</vt:lpstr>
      <vt:lpstr>Logistic regression</vt:lpstr>
      <vt:lpstr>Learning as optimization for logistic regression</vt:lpstr>
      <vt:lpstr>PowerPoint Presentation</vt:lpstr>
      <vt:lpstr>PowerPoint Presentation</vt:lpstr>
      <vt:lpstr>PowerPoint Presentation</vt:lpstr>
      <vt:lpstr>PowerPoint Presentation</vt:lpstr>
      <vt:lpstr>Expectation-Maximization</vt:lpstr>
      <vt:lpstr>Expectation-Maximization</vt:lpstr>
      <vt:lpstr>An example from Ron Bekkerman k-means in Map-Reduce</vt:lpstr>
      <vt:lpstr>Example: k-means clustering</vt:lpstr>
      <vt:lpstr>k-means Clustering</vt:lpstr>
      <vt:lpstr>Parallelizing k-means</vt:lpstr>
      <vt:lpstr>Parallelizing k-means</vt:lpstr>
      <vt:lpstr>Parallelizing k-means</vt:lpstr>
      <vt:lpstr>k-means on MapReduce</vt:lpstr>
      <vt:lpstr>k-means in Apache Pig: input data</vt:lpstr>
      <vt:lpstr>k-means in Apache Pig: E-step</vt:lpstr>
      <vt:lpstr>k-means in Apache Pig: M-step</vt:lpstr>
      <vt:lpstr>Data is read, and model is written, with every iteration</vt:lpstr>
      <vt:lpstr>Questions</vt:lpstr>
      <vt:lpstr>Questions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from Big Datasets</dc:title>
  <dc:creator>William Cohen</dc:creator>
  <cp:lastModifiedBy>William W Cohen</cp:lastModifiedBy>
  <cp:revision>337</cp:revision>
  <dcterms:created xsi:type="dcterms:W3CDTF">2012-01-03T16:05:59Z</dcterms:created>
  <dcterms:modified xsi:type="dcterms:W3CDTF">2025-01-27T17:11:30Z</dcterms:modified>
</cp:coreProperties>
</file>