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75" r:id="rId2"/>
    <p:sldId id="402" r:id="rId3"/>
    <p:sldId id="448" r:id="rId4"/>
    <p:sldId id="462" r:id="rId5"/>
    <p:sldId id="449" r:id="rId6"/>
    <p:sldId id="450" r:id="rId7"/>
    <p:sldId id="452" r:id="rId8"/>
    <p:sldId id="451" r:id="rId9"/>
    <p:sldId id="453" r:id="rId10"/>
    <p:sldId id="454" r:id="rId11"/>
    <p:sldId id="455" r:id="rId12"/>
    <p:sldId id="457" r:id="rId13"/>
    <p:sldId id="459" r:id="rId14"/>
    <p:sldId id="460" r:id="rId15"/>
    <p:sldId id="458" r:id="rId16"/>
    <p:sldId id="461" r:id="rId17"/>
    <p:sldId id="471" r:id="rId18"/>
    <p:sldId id="463" r:id="rId19"/>
    <p:sldId id="464" r:id="rId20"/>
    <p:sldId id="466" r:id="rId21"/>
    <p:sldId id="465" r:id="rId22"/>
    <p:sldId id="467" r:id="rId23"/>
    <p:sldId id="469" r:id="rId24"/>
    <p:sldId id="468" r:id="rId25"/>
    <p:sldId id="470" r:id="rId26"/>
    <p:sldId id="434" r:id="rId27"/>
    <p:sldId id="427" r:id="rId28"/>
    <p:sldId id="435" r:id="rId29"/>
    <p:sldId id="437" r:id="rId30"/>
    <p:sldId id="436" r:id="rId31"/>
    <p:sldId id="438" r:id="rId32"/>
    <p:sldId id="440" r:id="rId33"/>
    <p:sldId id="439" r:id="rId34"/>
    <p:sldId id="44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19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18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search/cs?searchtype=author&amp;query=Verwimp,+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arxiv.org/search/cs?searchtype=author&amp;query=Wambacq,+P" TargetMode="External"/><Relationship Id="rId5" Type="http://schemas.openxmlformats.org/officeDocument/2006/relationships/hyperlink" Target="https://arxiv.org/search/cs?searchtype=author&amp;query=Van+hamme,+H" TargetMode="External"/><Relationship Id="rId4" Type="http://schemas.openxmlformats.org/officeDocument/2006/relationships/hyperlink" Target="https://arxiv.org/search/cs?searchtype=author&amp;query=Pelemans,+J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9E3E4-B271-0886-606B-7A7A600C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41624-E18D-B71B-680B-7FFB769EC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35449-682F-9458-9902-08EF9417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61FCC-16B6-2565-DAC8-27D1D38BB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12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EB82D-829A-3478-ABBC-1C7B85FE3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8AA62-F157-2E7E-D2E6-0619F2A45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8F3EEF-4A5A-42A7-DDDE-7F152D4AB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0D61D-6DC4-BF35-05A3-224341F2E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5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26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04CD-BF82-0087-582A-1924C5D0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90F66-A5F3-2249-AC09-43CC85402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AB4A7C-9C01-DC8C-2A42-17781CDB0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F2174-7034-A174-DE86-1E7382A3F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21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4225D-29EB-922A-12AA-1954CBE9C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86556-918E-31B2-3BB7-4B13EF625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5831F-D924-C507-1C52-41AE0190F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ts val="2099"/>
              </a:lnSpc>
              <a:spcAft>
                <a:spcPts val="900"/>
              </a:spcAft>
            </a:pPr>
            <a:r>
              <a:rPr lang="en-US" b="1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Character-Word LSTM Language Models</a:t>
            </a:r>
          </a:p>
          <a:p>
            <a:pPr algn="l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3"/>
              </a:rPr>
              <a:t>Lyan Verwimp</a:t>
            </a:r>
            <a:r>
              <a:rPr lang="en-US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4"/>
              </a:rPr>
              <a:t>Joris Pelemans</a:t>
            </a:r>
            <a:r>
              <a:rPr lang="en-US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5"/>
              </a:rPr>
              <a:t>Hugo Van hamme</a:t>
            </a:r>
            <a:r>
              <a:rPr lang="en-US" b="0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, 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Lucida Grande" panose="020B0600040502020204" pitchFamily="34" charset="0"/>
                <a:hlinkClick r:id="rId6"/>
              </a:rPr>
              <a:t>Patrick Wambacq</a:t>
            </a:r>
            <a:endParaRPr lang="en-US" b="0" i="0" dirty="0">
              <a:solidFill>
                <a:srgbClr val="000000"/>
              </a:solidFill>
              <a:effectLst/>
              <a:latin typeface="Lucida Grande" panose="020B06000405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5D3CE-8F78-9298-3A61-D80A1B500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801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8023-2096-A665-E92B-FBDBE293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ECA51-2166-AC8A-F5FC-1DCE7197A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3CBBC-2122-4CAD-F183-4BD87B19F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525AC-9D45-A095-003E-616ED6490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54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82E3-F714-13A8-2A5A-1DFF806E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E02C5-3A7D-BAE6-73B9-75875A1F5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A2E493-39E0-9DFE-C847-75B77A678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/docs/transformers/</a:t>
            </a:r>
            <a:r>
              <a:rPr lang="en-US" dirty="0" err="1"/>
              <a:t>tokenizer_summary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04BA8-D304-DBAA-D202-91BCA0164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22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0B71F-C055-DBC0-8635-F03D7057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2D720-EFC8-743E-B5FE-6866C87DA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2C827-F6EE-FAA5-E841-E94658C2F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/docs/transformers/</a:t>
            </a:r>
            <a:r>
              <a:rPr lang="en-US" dirty="0" err="1"/>
              <a:t>tokenizer_summary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AAED7-C38E-AEBE-2D9E-1637F9BBF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80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7AE8-7496-7E31-FB1E-A44AA9642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14F08-5F99-12E7-E86B-161FBD344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61D79-66C7-80EF-8AB2-C6ED9F6E9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8177-AB2B-B8CB-0C65-7B3877E7A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73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C5E0A-E9CB-FDC7-83FC-55F67719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B743D-FE25-1C82-7624-3D4F5E9EA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AC22D-8CEF-6072-6246-47AE1FCF7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DC30A-7F03-0B7C-215A-7D4D839B8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023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36BCF-7D93-EA5C-F62A-35963AFD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8752B6-DC0E-09B6-7CC7-73D9B864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E004D-C7B5-FCE6-B4C8-89FE850E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20B98-02EE-05A7-04EC-0CB4E468A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785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43E5B-8636-A99C-FD58-016D5797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8260E-A4F2-AB01-8FA1-A42E875A7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9FB5-EC9A-9246-972D-BB60D0236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 for </a:t>
            </a:r>
            <a:r>
              <a:rPr lang="en-US" dirty="0" err="1"/>
              <a:t>sentencepieces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D1BB4-F061-DF83-4F5C-7E2332CFF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50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B0EB3-AB8B-8AE7-451D-A118488C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33C58-3E68-8E11-1ADD-0C597D0ED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673C6-7D12-E157-81B8-CDC61D0A3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/docs/transformers/</a:t>
            </a:r>
            <a:r>
              <a:rPr lang="en-US" dirty="0" err="1"/>
              <a:t>tokenizer_summary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4037-AA0D-87AC-1C4E-5E501D8C1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73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7FD9D-558E-1709-F0D2-3B0F676C8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BBCE7-702E-3B98-D3A0-BD7A6F9B7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73BBB-DA35-A4F7-AA8B-5B78ABB02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/pdf/1508.07909 </a:t>
            </a:r>
          </a:p>
          <a:p>
            <a:r>
              <a:rPr lang="en-US" dirty="0"/>
              <a:t>https://</a:t>
            </a:r>
            <a:r>
              <a:rPr lang="en-US" dirty="0" err="1"/>
              <a:t>huggingface.co</a:t>
            </a:r>
            <a:r>
              <a:rPr lang="en-US" dirty="0"/>
              <a:t>/docs/transformers/</a:t>
            </a:r>
            <a:r>
              <a:rPr lang="en-US" dirty="0" err="1"/>
              <a:t>tokenizer_summary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337E3-E011-22CB-EF7C-3DE43F4DE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94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67B3-FAAB-E5B7-C3BC-4E3C7BEC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99F78-B208-5550-7F13-96DFA97F6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176C3-A862-58D9-0FCF-90E0FF35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/pdf/2010.11929/1000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28888-D3BE-A8DF-280E-5F42A1BAA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06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E706F-6335-1554-08DC-C15E40B4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F5895-7EB3-2355-0FFC-D0C3622B6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2EC82-456A-C594-54E7-A3C60CF1D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B1E85-DA83-89A1-D66D-8F6B994F4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639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AB34-9B39-250B-E77D-BEAA4EEA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0152B-4A59-4D42-59CD-5AE3E5D9B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4F39D-B933-EB68-03EE-B0D2992D5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E326E-BB08-7A2D-DE6C-D28428CCA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244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3448D-2913-4668-E2DD-400004A36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6DDD8-97BF-A723-113F-A0801E967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06802-0DD9-863A-FB0E-0B7E892B9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5DB25-F0E3-9412-AF2D-BD7909E2B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596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medium.com</a:t>
            </a:r>
            <a:r>
              <a:rPr lang="en-US" dirty="0"/>
              <a:t>/@</a:t>
            </a:r>
            <a:r>
              <a:rPr lang="en-US" dirty="0" err="1"/>
              <a:t>joaolages</a:t>
            </a:r>
            <a:r>
              <a:rPr lang="en-US" dirty="0"/>
              <a:t>/kv-caching-explained-276520203249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89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37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D7B4-8048-8667-173A-D91BEBE6A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FEEA3-0C6E-705F-0FA7-471BC5F1F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AAC7A-A76C-E335-D6BC-72129EAB3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8C2DC-10DA-D987-15F2-60548B51B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414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FA4B-D200-2870-C3BB-28770D96F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01D3B-EE71-77FD-CE7D-35875707D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38795-F39F-3D4E-B3CF-9CE43DFCC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07026-A779-D352-435E-EB24F8A84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378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edium.com/@joaolages/kv-caching-explained-276520203249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Transformers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F53E-81B4-D1EB-324B-77E5EE227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57F1095-8068-087D-B031-7009979FF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95" y="189291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72304F-A418-D044-1ACB-4A1396EED224}"/>
              </a:ext>
            </a:extLst>
          </p:cNvPr>
          <p:cNvSpPr txBox="1"/>
          <p:nvPr/>
        </p:nvSpPr>
        <p:spPr>
          <a:xfrm>
            <a:off x="5344885" y="384631"/>
            <a:ext cx="291690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token vocabulary that is used is </a:t>
            </a:r>
            <a:r>
              <a:rPr lang="en-US" b="1" dirty="0"/>
              <a:t>important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B68753-6CE3-C2D8-EC1D-D54C18B9EF43}"/>
              </a:ext>
            </a:extLst>
          </p:cNvPr>
          <p:cNvSpPr txBox="1"/>
          <p:nvPr/>
        </p:nvSpPr>
        <p:spPr>
          <a:xfrm>
            <a:off x="5344885" y="1451431"/>
            <a:ext cx="2916908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For NLP, current approaches use techniques like Byte Pair Encoding, </a:t>
            </a:r>
            <a:r>
              <a:rPr lang="en-US" dirty="0" err="1"/>
              <a:t>wordpieces</a:t>
            </a:r>
            <a:r>
              <a:rPr lang="en-US" dirty="0"/>
              <a:t>, or sentence pieces---which are all quite similar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A3AF8-948D-E9F3-98AB-0D5D3AF60844}"/>
              </a:ext>
            </a:extLst>
          </p:cNvPr>
          <p:cNvSpPr txBox="1"/>
          <p:nvPr/>
        </p:nvSpPr>
        <p:spPr>
          <a:xfrm>
            <a:off x="5344885" y="3349228"/>
            <a:ext cx="291690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BPE tokenizers (and the rest) are </a:t>
            </a:r>
            <a:r>
              <a:rPr lang="en-US" b="1" dirty="0"/>
              <a:t>trained</a:t>
            </a:r>
            <a:r>
              <a:rPr lang="en-US" dirty="0"/>
              <a:t> on a corpus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7522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AA6B5-D132-6A2B-CAA3-B941DF09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4084-D13A-CB3A-ECA0-F163E022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NLP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E859CB99-36AE-4CFD-24ED-DF1DCE2C9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847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73C8-F461-D02C-1BDC-F36496E56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71685-CB13-2C17-D167-DBB87C64D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0"/>
            <a:ext cx="4241799" cy="5308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1990’s NLP: English tokenization was spaces and a few special rules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“don’t” </a:t>
            </a:r>
            <a:r>
              <a:rPr lang="en-US" dirty="0">
                <a:sym typeface="Wingdings" pitchFamily="2" charset="2"/>
              </a:rPr>
              <a:t> “do” + “</a:t>
            </a:r>
            <a:r>
              <a:rPr lang="en-US" dirty="0" err="1">
                <a:sym typeface="Wingdings" pitchFamily="2" charset="2"/>
              </a:rPr>
              <a:t>n’t</a:t>
            </a:r>
            <a:r>
              <a:rPr lang="en-US" dirty="0">
                <a:sym typeface="Wingdings" pitchFamily="2" charset="2"/>
              </a:rPr>
              <a:t>”</a:t>
            </a:r>
          </a:p>
          <a:p>
            <a:pPr lvl="1"/>
            <a:r>
              <a:rPr lang="en-US" dirty="0">
                <a:sym typeface="Wingdings" pitchFamily="2" charset="2"/>
              </a:rPr>
              <a:t>This never worked well for other languages</a:t>
            </a:r>
            <a:endParaRPr lang="en-US" dirty="0"/>
          </a:p>
          <a:p>
            <a:pPr lvl="1"/>
            <a:r>
              <a:rPr lang="en-US" dirty="0">
                <a:sym typeface="Wingdings" pitchFamily="2" charset="2"/>
              </a:rPr>
              <a:t>This also leads to many many tokens for English</a:t>
            </a:r>
          </a:p>
          <a:p>
            <a:pPr lvl="1"/>
            <a:r>
              <a:rPr lang="en-US" dirty="0">
                <a:sym typeface="Wingdings" pitchFamily="2" charset="2"/>
              </a:rPr>
              <a:t>In practice you always need an UNK token for words not seen in training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814C0797-C219-8E35-3CA7-7107F08AE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667C43-9A1E-F4FB-27DA-D0A90DDC7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514" y="5319272"/>
            <a:ext cx="3559629" cy="927209"/>
          </a:xfrm>
          <a:prstGeom prst="rect">
            <a:avLst/>
          </a:prstGeom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5691332-85E7-3E5F-6481-F79459DB3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798" y="1096961"/>
            <a:ext cx="4241800" cy="418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5858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F6841-F073-C69B-456A-D2C7363B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56CD-1759-68B1-6AB5-43A89BC79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8DD3F-3AAC-9F6E-C6DD-9855ABBAC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0"/>
            <a:ext cx="4241799" cy="5308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1990’s NLP: English tokenization was spaces and a few special rules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 “don’t” </a:t>
            </a:r>
            <a:r>
              <a:rPr lang="en-US" dirty="0">
                <a:sym typeface="Wingdings" pitchFamily="2" charset="2"/>
              </a:rPr>
              <a:t> “do” + “</a:t>
            </a:r>
            <a:r>
              <a:rPr lang="en-US" dirty="0" err="1">
                <a:sym typeface="Wingdings" pitchFamily="2" charset="2"/>
              </a:rPr>
              <a:t>n’t</a:t>
            </a:r>
            <a:r>
              <a:rPr lang="en-US" dirty="0">
                <a:sym typeface="Wingdings" pitchFamily="2" charset="2"/>
              </a:rPr>
              <a:t>”</a:t>
            </a:r>
          </a:p>
          <a:p>
            <a:pPr lvl="1"/>
            <a:r>
              <a:rPr lang="en-US" dirty="0">
                <a:sym typeface="Wingdings" pitchFamily="2" charset="2"/>
              </a:rPr>
              <a:t>This never worked well for other languages</a:t>
            </a:r>
            <a:endParaRPr lang="en-US" dirty="0"/>
          </a:p>
          <a:p>
            <a:pPr lvl="1"/>
            <a:r>
              <a:rPr lang="en-US" dirty="0">
                <a:sym typeface="Wingdings" pitchFamily="2" charset="2"/>
              </a:rPr>
              <a:t>This also leads to many many tokens for English</a:t>
            </a:r>
          </a:p>
          <a:p>
            <a:pPr lvl="1"/>
            <a:r>
              <a:rPr lang="en-US" dirty="0">
                <a:sym typeface="Wingdings" pitchFamily="2" charset="2"/>
              </a:rPr>
              <a:t>In practice you always need an UNK token for words not seen in training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40E0EC73-679C-8AC4-9A06-4CB5020AE3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35D040-667A-CCEB-19B0-A189C919528B}"/>
              </a:ext>
            </a:extLst>
          </p:cNvPr>
          <p:cNvSpPr txBox="1">
            <a:spLocks/>
          </p:cNvSpPr>
          <p:nvPr/>
        </p:nvSpPr>
        <p:spPr>
          <a:xfrm>
            <a:off x="4947557" y="1283267"/>
            <a:ext cx="3753757" cy="429146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UNK token might mean many different things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a new emerging entity/phrase (e.g. LSTM, FAFO, </a:t>
            </a:r>
            <a:r>
              <a:rPr lang="en-US" dirty="0" err="1">
                <a:sym typeface="Wingdings" pitchFamily="2" charset="2"/>
              </a:rPr>
              <a:t>Groq</a:t>
            </a:r>
            <a:r>
              <a:rPr lang="en-US" dirty="0">
                <a:sym typeface="Wingdings" pitchFamily="2" charset="2"/>
              </a:rPr>
              <a:t>, …)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a </a:t>
            </a:r>
            <a:r>
              <a:rPr lang="en-US" dirty="0" err="1">
                <a:sym typeface="Wingdings" pitchFamily="2" charset="2"/>
              </a:rPr>
              <a:t>missspelling</a:t>
            </a:r>
            <a:endParaRPr lang="en-US" dirty="0">
              <a:sym typeface="Wingdings" pitchFamily="2" charset="2"/>
            </a:endParaRPr>
          </a:p>
          <a:p>
            <a:pPr marL="514350" indent="-457200"/>
            <a:r>
              <a:rPr lang="en-US" dirty="0">
                <a:sym typeface="Wingdings" pitchFamily="2" charset="2"/>
              </a:rPr>
              <a:t>a big number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…</a:t>
            </a:r>
          </a:p>
          <a:p>
            <a:pPr marL="57150" indent="0">
              <a:buNone/>
            </a:pPr>
            <a:endParaRPr lang="en-US" dirty="0">
              <a:sym typeface="Wingdings" pitchFamily="2" charset="2"/>
            </a:endParaRPr>
          </a:p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TFIDF suggests rare entity names are </a:t>
            </a:r>
            <a:r>
              <a:rPr lang="en-US" b="1" dirty="0">
                <a:sym typeface="Wingdings" pitchFamily="2" charset="2"/>
              </a:rPr>
              <a:t>important.</a:t>
            </a:r>
          </a:p>
        </p:txBody>
      </p:sp>
    </p:spTree>
    <p:extLst>
      <p:ext uri="{BB962C8B-B14F-4D97-AF65-F5344CB8AC3E}">
        <p14:creationId xmlns:p14="http://schemas.microsoft.com/office/powerpoint/2010/main" val="127016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81BA-CE88-848A-08A0-B6B2C0E8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8F478-90A5-17B2-5073-344623E03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A7706-0E6E-F022-AC73-14079FFAE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0"/>
            <a:ext cx="4292598" cy="47189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Mid-2000’s: character-level LSTM models and hybrid token-level/character-level models</a:t>
            </a:r>
          </a:p>
          <a:p>
            <a:pPr lvl="1"/>
            <a:r>
              <a:rPr lang="en-US" dirty="0">
                <a:sym typeface="Wingdings" pitchFamily="2" charset="2"/>
              </a:rPr>
              <a:t>But Transformers get very large with longer sequences.</a:t>
            </a:r>
          </a:p>
          <a:p>
            <a:pPr lvl="1"/>
            <a:r>
              <a:rPr lang="en-US" dirty="0">
                <a:sym typeface="Wingdings" pitchFamily="2" charset="2"/>
              </a:rPr>
              <a:t>Also: revival of old 1990’s approaches to compressing text by finding frequent </a:t>
            </a:r>
            <a:r>
              <a:rPr lang="en-US" dirty="0" err="1">
                <a:sym typeface="Wingdings" pitchFamily="2" charset="2"/>
              </a:rPr>
              <a:t>subwords</a:t>
            </a:r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DF038711-2B77-8A0E-BE00-7C5D4B34A6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F21E84-14A7-35BD-7CFB-FA95E73E85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53"/>
          <a:stretch/>
        </p:blipFill>
        <p:spPr>
          <a:xfrm>
            <a:off x="5127170" y="1096962"/>
            <a:ext cx="3536949" cy="4444957"/>
          </a:xfrm>
          <a:prstGeom prst="rect">
            <a:avLst/>
          </a:prstGeom>
          <a:ln w="28575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3144884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34473-000D-96B5-C55C-4143AEC1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7F91-3F1D-C771-E595-CC0A0E8AA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054F7-D540-97FF-A219-6CA86CB03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3" y="1257300"/>
            <a:ext cx="4032248" cy="5308600"/>
          </a:xfrm>
        </p:spPr>
        <p:txBody>
          <a:bodyPr>
            <a:normAutofit/>
          </a:bodyPr>
          <a:lstStyle/>
          <a:p>
            <a:r>
              <a:rPr lang="en-US" dirty="0"/>
              <a:t>Idea: reduce the number of tokens by finding meaningful </a:t>
            </a:r>
            <a:r>
              <a:rPr lang="en-US" b="1" dirty="0" err="1"/>
              <a:t>subwords</a:t>
            </a:r>
            <a:endParaRPr lang="en-US" b="1" dirty="0"/>
          </a:p>
          <a:p>
            <a:r>
              <a:rPr lang="en-US" dirty="0">
                <a:sym typeface="Wingdings" pitchFamily="2" charset="2"/>
              </a:rPr>
              <a:t>Simplest version of this is Byte Pair Encoding (BPE)</a:t>
            </a:r>
          </a:p>
          <a:p>
            <a:r>
              <a:rPr lang="en-US" dirty="0">
                <a:sym typeface="Wingdings" pitchFamily="2" charset="2"/>
              </a:rPr>
              <a:t>BERT used a variant called </a:t>
            </a:r>
            <a:r>
              <a:rPr lang="en-US" b="1" dirty="0" err="1">
                <a:sym typeface="Wingdings" pitchFamily="2" charset="2"/>
              </a:rPr>
              <a:t>wordpieces</a:t>
            </a:r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4720724E-2FEE-6684-7B9A-C79EA06CCC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904744-208F-4E64-50F7-D5AB0A891E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350" y="1096962"/>
            <a:ext cx="3808782" cy="568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7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3092-9F2F-6A36-BF95-9B853EA01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ED51-D097-4CBD-5BC8-26FFF888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GPT2: BPE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825E2B4E-1C57-A364-9D84-2560F13B7B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CDC5EAE-BBE4-CFA1-1B97-8804DEF0AB03}"/>
              </a:ext>
            </a:extLst>
          </p:cNvPr>
          <p:cNvSpPr txBox="1">
            <a:spLocks/>
          </p:cNvSpPr>
          <p:nvPr/>
        </p:nvSpPr>
        <p:spPr>
          <a:xfrm>
            <a:off x="279401" y="1283268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Step 1: Find all tokens in the corpus and save their frequency.</a:t>
            </a:r>
            <a:endParaRPr lang="en-US" b="1" dirty="0">
              <a:sym typeface="Wingdings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2D371-A551-85FD-4FF0-A5F5453B2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1" y="1905844"/>
            <a:ext cx="7632700" cy="6604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68199A0-B065-4A49-4EBC-C6595032112E}"/>
              </a:ext>
            </a:extLst>
          </p:cNvPr>
          <p:cNvSpPr txBox="1">
            <a:spLocks/>
          </p:cNvSpPr>
          <p:nvPr/>
        </p:nvSpPr>
        <p:spPr>
          <a:xfrm>
            <a:off x="279400" y="2750806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2: Break all the tokens into </a:t>
            </a:r>
            <a:r>
              <a:rPr lang="en-US" sz="2200" b="1" dirty="0">
                <a:sym typeface="Wingdings" pitchFamily="2" charset="2"/>
              </a:rPr>
              <a:t>characters</a:t>
            </a:r>
            <a:r>
              <a:rPr lang="en-US" sz="2200" dirty="0">
                <a:sym typeface="Wingdings" pitchFamily="2" charset="2"/>
              </a:rPr>
              <a:t> (the initial vocabulary)</a:t>
            </a:r>
            <a:endParaRPr lang="en-US" sz="2200" b="1" dirty="0">
              <a:sym typeface="Wingdings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E53C7E-99E0-95D7-0D92-2477CB0DFB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55" t="20810" b="21302"/>
          <a:stretch/>
        </p:blipFill>
        <p:spPr>
          <a:xfrm>
            <a:off x="326568" y="3417323"/>
            <a:ext cx="11664950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DF6DABB-3D4E-B4A1-78B1-BE69D43F038C}"/>
              </a:ext>
            </a:extLst>
          </p:cNvPr>
          <p:cNvSpPr txBox="1">
            <a:spLocks/>
          </p:cNvSpPr>
          <p:nvPr/>
        </p:nvSpPr>
        <p:spPr>
          <a:xfrm>
            <a:off x="326568" y="4135391"/>
            <a:ext cx="7632700" cy="16441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3: Repeat for </a:t>
            </a:r>
            <a:r>
              <a:rPr lang="en-US" sz="2200" dirty="0" err="1">
                <a:sym typeface="Wingdings" pitchFamily="2" charset="2"/>
              </a:rPr>
              <a:t>i</a:t>
            </a:r>
            <a:r>
              <a:rPr lang="en-US" sz="2200" dirty="0">
                <a:sym typeface="Wingdings" pitchFamily="2" charset="2"/>
              </a:rPr>
              <a:t> = 1, … </a:t>
            </a:r>
            <a:r>
              <a:rPr lang="en-US" sz="2200" dirty="0" err="1">
                <a:sym typeface="Wingdings" pitchFamily="2" charset="2"/>
              </a:rPr>
              <a:t>max_merges</a:t>
            </a:r>
            <a:r>
              <a:rPr lang="en-US" sz="2200" dirty="0">
                <a:sym typeface="Wingdings" pitchFamily="2" charset="2"/>
              </a:rPr>
              <a:t>: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Find the ordered pair that occurs most frequently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Add that pair to the vocabulary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Replace that pair with the new word everywhere</a:t>
            </a:r>
          </a:p>
          <a:p>
            <a:pPr marL="57150" indent="0">
              <a:buNone/>
            </a:pPr>
            <a:endParaRPr lang="en-US" sz="2200" b="1" dirty="0">
              <a:sym typeface="Wingdings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8FC448-3AB2-397E-E348-607D9913B361}"/>
              </a:ext>
            </a:extLst>
          </p:cNvPr>
          <p:cNvSpPr txBox="1"/>
          <p:nvPr/>
        </p:nvSpPr>
        <p:spPr>
          <a:xfrm>
            <a:off x="6760028" y="4541970"/>
            <a:ext cx="1714500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u,g</a:t>
            </a:r>
            <a:r>
              <a:rPr lang="en-US" dirty="0"/>
              <a:t> occurs 20x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03BB8-AAB8-899B-F1FE-B95DB1778022}"/>
              </a:ext>
            </a:extLst>
          </p:cNvPr>
          <p:cNvSpPr txBox="1"/>
          <p:nvPr/>
        </p:nvSpPr>
        <p:spPr>
          <a:xfrm>
            <a:off x="6569528" y="4911302"/>
            <a:ext cx="2574472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“ug” is a new </a:t>
            </a:r>
            <a:r>
              <a:rPr lang="en-US" dirty="0" err="1"/>
              <a:t>subword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2808D2-C42F-181B-5423-49D78780AE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67" y="6072894"/>
            <a:ext cx="10776919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0A6C6F35-81E0-4C13-9340-E59C1CD5EE70}"/>
              </a:ext>
            </a:extLst>
          </p:cNvPr>
          <p:cNvSpPr/>
          <p:nvPr/>
        </p:nvSpPr>
        <p:spPr>
          <a:xfrm>
            <a:off x="5078186" y="3959834"/>
            <a:ext cx="489857" cy="211306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22D392E-53CB-A1E1-9686-DEB5FEB96DA8}"/>
              </a:ext>
            </a:extLst>
          </p:cNvPr>
          <p:cNvSpPr/>
          <p:nvPr/>
        </p:nvSpPr>
        <p:spPr>
          <a:xfrm>
            <a:off x="3233057" y="4153633"/>
            <a:ext cx="2188029" cy="4312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4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D4AC1-A555-55C4-90F7-8C05E289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F913-6B45-BB2B-2913-D848C38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GPT2: BPE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07E057BC-BC23-575B-220B-1A8579AE9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1C2CB2C-7FDD-7E9F-810F-AFD3CB3C250E}"/>
              </a:ext>
            </a:extLst>
          </p:cNvPr>
          <p:cNvSpPr txBox="1">
            <a:spLocks/>
          </p:cNvSpPr>
          <p:nvPr/>
        </p:nvSpPr>
        <p:spPr>
          <a:xfrm>
            <a:off x="279401" y="1220241"/>
            <a:ext cx="7632700" cy="16441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3: Repeat for </a:t>
            </a:r>
            <a:r>
              <a:rPr lang="en-US" sz="2200" dirty="0" err="1">
                <a:sym typeface="Wingdings" pitchFamily="2" charset="2"/>
              </a:rPr>
              <a:t>i</a:t>
            </a:r>
            <a:r>
              <a:rPr lang="en-US" sz="2200" dirty="0">
                <a:sym typeface="Wingdings" pitchFamily="2" charset="2"/>
              </a:rPr>
              <a:t> = 1, … </a:t>
            </a:r>
            <a:r>
              <a:rPr lang="en-US" sz="2200" dirty="0" err="1">
                <a:sym typeface="Wingdings" pitchFamily="2" charset="2"/>
              </a:rPr>
              <a:t>max_merges</a:t>
            </a:r>
            <a:r>
              <a:rPr lang="en-US" sz="2200" dirty="0">
                <a:sym typeface="Wingdings" pitchFamily="2" charset="2"/>
              </a:rPr>
              <a:t>: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Find the ordered pair that occurs most frequently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Add that pair to the vocabulary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Replace that pair with the new word everywhere</a:t>
            </a:r>
          </a:p>
          <a:p>
            <a:pPr marL="57150" indent="0">
              <a:buNone/>
            </a:pPr>
            <a:endParaRPr lang="en-US" sz="2200" b="1" dirty="0">
              <a:sym typeface="Wingdings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8C988-A08F-7354-4FD7-D24D905318DD}"/>
              </a:ext>
            </a:extLst>
          </p:cNvPr>
          <p:cNvSpPr txBox="1"/>
          <p:nvPr/>
        </p:nvSpPr>
        <p:spPr>
          <a:xfrm>
            <a:off x="6712861" y="1708464"/>
            <a:ext cx="1714500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u,n</a:t>
            </a:r>
            <a:r>
              <a:rPr lang="en-US" dirty="0"/>
              <a:t> occurs 16x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54FCD6-117A-BC58-7891-DC9F04AC134B}"/>
              </a:ext>
            </a:extLst>
          </p:cNvPr>
          <p:cNvSpPr txBox="1"/>
          <p:nvPr/>
        </p:nvSpPr>
        <p:spPr>
          <a:xfrm>
            <a:off x="6353628" y="2091229"/>
            <a:ext cx="2574472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“un” is a new </a:t>
            </a:r>
            <a:r>
              <a:rPr lang="en-US" dirty="0" err="1"/>
              <a:t>subword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DA82BE-E2E9-1400-5E1A-E3684C9EE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3157744"/>
            <a:ext cx="10776919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6C615C-00E9-B99D-529E-DFC2C1724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" y="4490365"/>
            <a:ext cx="8666617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34BD3434-C179-D147-7FF5-1895723B40E0}"/>
              </a:ext>
            </a:extLst>
          </p:cNvPr>
          <p:cNvSpPr/>
          <p:nvPr/>
        </p:nvSpPr>
        <p:spPr>
          <a:xfrm>
            <a:off x="4572000" y="3698585"/>
            <a:ext cx="408214" cy="79178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2A804-8A51-1D11-3D4E-EC4F60764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BA5F-A21B-9A50-FB19-DB41FBE0A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45CB2-91FB-AE38-94FF-31A79B49B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3" y="1257301"/>
            <a:ext cx="3989840" cy="3669874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ym typeface="Wingdings" pitchFamily="2" charset="2"/>
              </a:rPr>
              <a:t>BPE is simple and very efficient when you apply it </a:t>
            </a:r>
            <a:r>
              <a:rPr lang="en-US" i="1" dirty="0">
                <a:sym typeface="Wingdings" pitchFamily="2" charset="2"/>
              </a:rPr>
              <a:t>reduce </a:t>
            </a:r>
            <a:r>
              <a:rPr lang="en-US" dirty="0">
                <a:sym typeface="Wingdings" pitchFamily="2" charset="2"/>
              </a:rPr>
              <a:t>the number of tokens</a:t>
            </a:r>
          </a:p>
          <a:p>
            <a:pPr lvl="1"/>
            <a:r>
              <a:rPr lang="en-US" dirty="0">
                <a:sym typeface="Wingdings" pitchFamily="2" charset="2"/>
              </a:rPr>
              <a:t>use a </a:t>
            </a:r>
            <a:r>
              <a:rPr lang="en-US" b="1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to store the weighted corpus and update all the counts incrementally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D770F0C5-BFBF-F8AB-1202-2DDE4FC01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A31CD6-B8C1-6EA8-C283-28A3BFF1BDBA}"/>
              </a:ext>
            </a:extLst>
          </p:cNvPr>
          <p:cNvSpPr txBox="1"/>
          <p:nvPr/>
        </p:nvSpPr>
        <p:spPr>
          <a:xfrm>
            <a:off x="6613071" y="1518557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&lt;s&gt;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F26834-4988-AE71-FDE1-C7CC890FA6D1}"/>
              </a:ext>
            </a:extLst>
          </p:cNvPr>
          <p:cNvSpPr txBox="1"/>
          <p:nvPr/>
        </p:nvSpPr>
        <p:spPr>
          <a:xfrm>
            <a:off x="6079671" y="23534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4EABE-A7C9-3581-2805-020B5EC3018E}"/>
              </a:ext>
            </a:extLst>
          </p:cNvPr>
          <p:cNvSpPr txBox="1"/>
          <p:nvPr/>
        </p:nvSpPr>
        <p:spPr>
          <a:xfrm>
            <a:off x="7234010" y="23534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C72E9D-36C2-751B-0A0A-793181081CDF}"/>
              </a:ext>
            </a:extLst>
          </p:cNvPr>
          <p:cNvSpPr txBox="1"/>
          <p:nvPr/>
        </p:nvSpPr>
        <p:spPr>
          <a:xfrm>
            <a:off x="6079671" y="3144347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7DD461-5EA2-F634-361D-9F2E666CC3E2}"/>
              </a:ext>
            </a:extLst>
          </p:cNvPr>
          <p:cNvSpPr txBox="1"/>
          <p:nvPr/>
        </p:nvSpPr>
        <p:spPr>
          <a:xfrm>
            <a:off x="7234010" y="3144347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5F4C50-E382-8495-2FE2-2537EF17B42A}"/>
              </a:ext>
            </a:extLst>
          </p:cNvPr>
          <p:cNvSpPr txBox="1"/>
          <p:nvPr/>
        </p:nvSpPr>
        <p:spPr>
          <a:xfrm>
            <a:off x="6079671" y="39213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E4A6CA-6A7C-8368-3FE2-8E7F6FDC4B46}"/>
              </a:ext>
            </a:extLst>
          </p:cNvPr>
          <p:cNvSpPr txBox="1"/>
          <p:nvPr/>
        </p:nvSpPr>
        <p:spPr>
          <a:xfrm>
            <a:off x="6948260" y="3935274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7ED034-81E8-3877-AD0D-99DA11B37C42}"/>
              </a:ext>
            </a:extLst>
          </p:cNvPr>
          <p:cNvSpPr txBox="1"/>
          <p:nvPr/>
        </p:nvSpPr>
        <p:spPr>
          <a:xfrm>
            <a:off x="7653110" y="3935274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B78027-16E2-7E36-2108-F05E1B8EED63}"/>
              </a:ext>
            </a:extLst>
          </p:cNvPr>
          <p:cNvSpPr txBox="1"/>
          <p:nvPr/>
        </p:nvSpPr>
        <p:spPr>
          <a:xfrm>
            <a:off x="5535159" y="4727979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CEBCEEE-1404-059D-7C6E-FDF870EFF622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289221" y="1887889"/>
            <a:ext cx="609600" cy="465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8CD9D0-CB7B-D73A-80A2-6A06AF6A8BB5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898821" y="1887889"/>
            <a:ext cx="544739" cy="465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8B97A7-0A90-E609-FCC0-4ED874858C0C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6289221" y="2736706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4E2B9C-5CC5-E5A4-B107-4335A31D377E}"/>
              </a:ext>
            </a:extLst>
          </p:cNvPr>
          <p:cNvCxnSpPr>
            <a:cxnSpLocks/>
          </p:cNvCxnSpPr>
          <p:nvPr/>
        </p:nvCxnSpPr>
        <p:spPr>
          <a:xfrm>
            <a:off x="7440839" y="2736706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EED07A5-D4F1-F1AC-5767-9FC3B193EEEC}"/>
              </a:ext>
            </a:extLst>
          </p:cNvPr>
          <p:cNvCxnSpPr>
            <a:cxnSpLocks/>
          </p:cNvCxnSpPr>
          <p:nvPr/>
        </p:nvCxnSpPr>
        <p:spPr>
          <a:xfrm>
            <a:off x="6289221" y="3513679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88F257-C482-D44E-C845-605C3E7B41F0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157810" y="3513679"/>
            <a:ext cx="283029" cy="421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24378EC-74CC-B7D7-1755-C6210E8B09FD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440839" y="3513679"/>
            <a:ext cx="421821" cy="421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FBCF3A-23C2-C4D3-1047-F1CDAB04E3A7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5744709" y="4304606"/>
            <a:ext cx="552676" cy="423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0E3C54-4CCE-9CB3-AEE6-07037047E010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6318476" y="4325538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697CFDC-094B-7F2F-FF04-9073C9DEE6A4}"/>
              </a:ext>
            </a:extLst>
          </p:cNvPr>
          <p:cNvSpPr txBox="1"/>
          <p:nvPr/>
        </p:nvSpPr>
        <p:spPr>
          <a:xfrm>
            <a:off x="6254295" y="4741933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539103E-814F-5AF4-E9C1-4DCCEDE0684C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7157810" y="4319011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4177E67-DC75-788B-8D29-81336ECC7FAC}"/>
              </a:ext>
            </a:extLst>
          </p:cNvPr>
          <p:cNvSpPr txBox="1"/>
          <p:nvPr/>
        </p:nvSpPr>
        <p:spPr>
          <a:xfrm>
            <a:off x="7093629" y="4735406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8DA6A1-AFDC-37F8-1833-F6EBDDD80988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7896903" y="4319011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9036E6A-4680-6DFC-D46D-11F55C57DB56}"/>
              </a:ext>
            </a:extLst>
          </p:cNvPr>
          <p:cNvSpPr txBox="1"/>
          <p:nvPr/>
        </p:nvSpPr>
        <p:spPr>
          <a:xfrm>
            <a:off x="7832722" y="4735406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B993EB9-E3B6-C6A6-2B44-D176AD13F709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5732690" y="5114527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9DB1413-F628-4481-0F19-6AD5B551E54A}"/>
              </a:ext>
            </a:extLst>
          </p:cNvPr>
          <p:cNvSpPr txBox="1"/>
          <p:nvPr/>
        </p:nvSpPr>
        <p:spPr>
          <a:xfrm>
            <a:off x="5668509" y="5530922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D8F664-8C7F-EE00-47B4-9476921EAD84}"/>
              </a:ext>
            </a:extLst>
          </p:cNvPr>
          <p:cNvSpPr txBox="1"/>
          <p:nvPr/>
        </p:nvSpPr>
        <p:spPr>
          <a:xfrm>
            <a:off x="8092164" y="235435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C9A21F-8BC8-98CA-29CF-77B0D663B52D}"/>
              </a:ext>
            </a:extLst>
          </p:cNvPr>
          <p:cNvCxnSpPr>
            <a:cxnSpLocks/>
            <a:stCxn id="5" idx="2"/>
            <a:endCxn id="40" idx="0"/>
          </p:cNvCxnSpPr>
          <p:nvPr/>
        </p:nvCxnSpPr>
        <p:spPr>
          <a:xfrm>
            <a:off x="6898821" y="1887889"/>
            <a:ext cx="1402893" cy="46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1233CD3-643D-0EC4-553B-EB54814D7E93}"/>
              </a:ext>
            </a:extLst>
          </p:cNvPr>
          <p:cNvSpPr txBox="1"/>
          <p:nvPr/>
        </p:nvSpPr>
        <p:spPr>
          <a:xfrm>
            <a:off x="8145689" y="3154482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D4C41E-01DA-6037-B0F6-FC46711B547C}"/>
              </a:ext>
            </a:extLst>
          </p:cNvPr>
          <p:cNvSpPr txBox="1"/>
          <p:nvPr/>
        </p:nvSpPr>
        <p:spPr>
          <a:xfrm>
            <a:off x="8455483" y="3911600"/>
            <a:ext cx="36557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87DC060-1D9D-632B-F4B5-8634C6007943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355239" y="2746841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9929DCA-D738-679A-2CD0-BF5E880C7ED1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8355239" y="3523814"/>
            <a:ext cx="283030" cy="38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3F7B54A-70D3-9259-F116-A4DF79C3D621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8615360" y="4325538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679CB38-E91F-A976-C432-7C25E7C37554}"/>
              </a:ext>
            </a:extLst>
          </p:cNvPr>
          <p:cNvSpPr txBox="1"/>
          <p:nvPr/>
        </p:nvSpPr>
        <p:spPr>
          <a:xfrm>
            <a:off x="8551179" y="4741933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17D281-2070-D9F3-A167-D8336379990C}"/>
              </a:ext>
            </a:extLst>
          </p:cNvPr>
          <p:cNvSpPr txBox="1"/>
          <p:nvPr/>
        </p:nvSpPr>
        <p:spPr>
          <a:xfrm>
            <a:off x="5668509" y="6041571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2964B2-6DFC-9057-6C17-B1A57166133A}"/>
              </a:ext>
            </a:extLst>
          </p:cNvPr>
          <p:cNvSpPr txBox="1"/>
          <p:nvPr/>
        </p:nvSpPr>
        <p:spPr>
          <a:xfrm>
            <a:off x="6240461" y="525174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03CB8B-C032-AE9D-C1D3-8898D0F44021}"/>
              </a:ext>
            </a:extLst>
          </p:cNvPr>
          <p:cNvSpPr txBox="1"/>
          <p:nvPr/>
        </p:nvSpPr>
        <p:spPr>
          <a:xfrm>
            <a:off x="7806870" y="520650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500D86-C697-E0AB-E9FB-65832AA8B6B8}"/>
              </a:ext>
            </a:extLst>
          </p:cNvPr>
          <p:cNvSpPr txBox="1"/>
          <p:nvPr/>
        </p:nvSpPr>
        <p:spPr>
          <a:xfrm>
            <a:off x="6988968" y="524711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0421D7-28AA-B366-AF6B-78CEBC6F8D5E}"/>
              </a:ext>
            </a:extLst>
          </p:cNvPr>
          <p:cNvSpPr txBox="1"/>
          <p:nvPr/>
        </p:nvSpPr>
        <p:spPr>
          <a:xfrm>
            <a:off x="8496754" y="5214799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1D7B90-6702-DDDF-E7D9-192689553CAA}"/>
              </a:ext>
            </a:extLst>
          </p:cNvPr>
          <p:cNvSpPr txBox="1"/>
          <p:nvPr/>
        </p:nvSpPr>
        <p:spPr>
          <a:xfrm>
            <a:off x="5472904" y="3918207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4CA502-511D-E8F9-6601-6AC0E179DF0D}"/>
              </a:ext>
            </a:extLst>
          </p:cNvPr>
          <p:cNvSpPr txBox="1"/>
          <p:nvPr/>
        </p:nvSpPr>
        <p:spPr>
          <a:xfrm>
            <a:off x="6684054" y="3123788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D3547D-D7DE-6F6D-5FBA-1C6FBEE152F7}"/>
              </a:ext>
            </a:extLst>
          </p:cNvPr>
          <p:cNvSpPr txBox="1"/>
          <p:nvPr/>
        </p:nvSpPr>
        <p:spPr>
          <a:xfrm>
            <a:off x="5431067" y="2322017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C88744-7BD4-B381-4C18-682ED332F454}"/>
              </a:ext>
            </a:extLst>
          </p:cNvPr>
          <p:cNvSpPr txBox="1"/>
          <p:nvPr/>
        </p:nvSpPr>
        <p:spPr>
          <a:xfrm>
            <a:off x="6652533" y="237759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C160F5-1B21-D4B6-845C-8854D31F4661}"/>
              </a:ext>
            </a:extLst>
          </p:cNvPr>
          <p:cNvSpPr txBox="1"/>
          <p:nvPr/>
        </p:nvSpPr>
        <p:spPr>
          <a:xfrm>
            <a:off x="8424862" y="236064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BAAC95-34C0-E6FE-E673-C5CC193DA136}"/>
              </a:ext>
            </a:extLst>
          </p:cNvPr>
          <p:cNvSpPr txBox="1"/>
          <p:nvPr/>
        </p:nvSpPr>
        <p:spPr>
          <a:xfrm>
            <a:off x="5013665" y="4741933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4B126B-FA81-1B28-39D7-C55AFAED6BD2}"/>
              </a:ext>
            </a:extLst>
          </p:cNvPr>
          <p:cNvSpPr txBox="1"/>
          <p:nvPr/>
        </p:nvSpPr>
        <p:spPr>
          <a:xfrm>
            <a:off x="5420859" y="3111848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8AED14-C8A8-BF66-F358-E43CFDFE133C}"/>
              </a:ext>
            </a:extLst>
          </p:cNvPr>
          <p:cNvSpPr txBox="1"/>
          <p:nvPr/>
        </p:nvSpPr>
        <p:spPr>
          <a:xfrm>
            <a:off x="6493105" y="397921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EEFFA4-B4BB-2890-E84A-7F5B70D1A032}"/>
              </a:ext>
            </a:extLst>
          </p:cNvPr>
          <p:cNvSpPr txBox="1"/>
          <p:nvPr/>
        </p:nvSpPr>
        <p:spPr>
          <a:xfrm>
            <a:off x="8526573" y="3149723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30887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D184B-FED8-351F-277D-687568D60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C2ACB-F0D0-60EE-5F42-ABDE3E0F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BERT / GPT2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356FC-3A4D-C596-86DC-0A24C5897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1"/>
            <a:ext cx="4074885" cy="489668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ym typeface="Wingdings" pitchFamily="2" charset="2"/>
              </a:rPr>
              <a:t>BPE is simple and very efficient when you apply it </a:t>
            </a:r>
            <a:r>
              <a:rPr lang="en-US" i="1" dirty="0">
                <a:sym typeface="Wingdings" pitchFamily="2" charset="2"/>
              </a:rPr>
              <a:t>reduce </a:t>
            </a:r>
            <a:r>
              <a:rPr lang="en-US" dirty="0">
                <a:sym typeface="Wingdings" pitchFamily="2" charset="2"/>
              </a:rPr>
              <a:t>the number of tokens</a:t>
            </a:r>
          </a:p>
          <a:p>
            <a:pPr lvl="1"/>
            <a:r>
              <a:rPr lang="en-US" dirty="0">
                <a:sym typeface="Wingdings" pitchFamily="2" charset="2"/>
              </a:rPr>
              <a:t>use a </a:t>
            </a:r>
            <a:r>
              <a:rPr lang="en-US" b="1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to store the weighted corpus and update all the counts incrementally</a:t>
            </a:r>
          </a:p>
          <a:p>
            <a:r>
              <a:rPr lang="en-US" dirty="0">
                <a:sym typeface="Wingdings" pitchFamily="2" charset="2"/>
              </a:rPr>
              <a:t>The </a:t>
            </a:r>
            <a:r>
              <a:rPr lang="en-US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of tokens is much </a:t>
            </a:r>
            <a:r>
              <a:rPr lang="en-US" b="1" dirty="0">
                <a:sym typeface="Wingdings" pitchFamily="2" charset="2"/>
              </a:rPr>
              <a:t>smaller</a:t>
            </a:r>
            <a:r>
              <a:rPr lang="en-US" dirty="0">
                <a:sym typeface="Wingdings" pitchFamily="2" charset="2"/>
              </a:rPr>
              <a:t> than the full corpus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33E8CB4C-CDEA-9031-012C-4EB5A399E1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1CA84D-511A-8DE6-173E-ED89A5B910B3}"/>
              </a:ext>
            </a:extLst>
          </p:cNvPr>
          <p:cNvSpPr txBox="1"/>
          <p:nvPr/>
        </p:nvSpPr>
        <p:spPr>
          <a:xfrm>
            <a:off x="6613071" y="1518557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&lt;s&gt;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94625E-108A-F7BA-4A14-C457790C327A}"/>
              </a:ext>
            </a:extLst>
          </p:cNvPr>
          <p:cNvSpPr txBox="1"/>
          <p:nvPr/>
        </p:nvSpPr>
        <p:spPr>
          <a:xfrm>
            <a:off x="6079671" y="23534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018D5-2620-68C4-CCB5-265B33FDFC4F}"/>
              </a:ext>
            </a:extLst>
          </p:cNvPr>
          <p:cNvSpPr txBox="1"/>
          <p:nvPr/>
        </p:nvSpPr>
        <p:spPr>
          <a:xfrm>
            <a:off x="7234010" y="235342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03A54-664D-3EC2-D4AE-E00BFFA142DF}"/>
              </a:ext>
            </a:extLst>
          </p:cNvPr>
          <p:cNvSpPr txBox="1"/>
          <p:nvPr/>
        </p:nvSpPr>
        <p:spPr>
          <a:xfrm>
            <a:off x="7234010" y="3144347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E143C9-C956-FCB6-DC22-85A500F4D358}"/>
              </a:ext>
            </a:extLst>
          </p:cNvPr>
          <p:cNvSpPr txBox="1"/>
          <p:nvPr/>
        </p:nvSpPr>
        <p:spPr>
          <a:xfrm>
            <a:off x="5996217" y="3921320"/>
            <a:ext cx="502554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125E-E65F-9FE3-1347-9068E7D5C26A}"/>
              </a:ext>
            </a:extLst>
          </p:cNvPr>
          <p:cNvSpPr txBox="1"/>
          <p:nvPr/>
        </p:nvSpPr>
        <p:spPr>
          <a:xfrm>
            <a:off x="6877502" y="3948809"/>
            <a:ext cx="571502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225186-36FA-3C8D-3EE4-056638DE00A9}"/>
              </a:ext>
            </a:extLst>
          </p:cNvPr>
          <p:cNvSpPr txBox="1"/>
          <p:nvPr/>
        </p:nvSpPr>
        <p:spPr>
          <a:xfrm>
            <a:off x="7653110" y="3935274"/>
            <a:ext cx="514806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32375-8BEF-9BDB-A1AB-7078B9EF14EA}"/>
              </a:ext>
            </a:extLst>
          </p:cNvPr>
          <p:cNvSpPr txBox="1"/>
          <p:nvPr/>
        </p:nvSpPr>
        <p:spPr>
          <a:xfrm>
            <a:off x="5535159" y="4727979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1E6621-CD34-405C-A5E9-A7DDC36CE32E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289221" y="1887889"/>
            <a:ext cx="609600" cy="465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537B15-6081-6814-7778-9711F8169098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6898821" y="1887889"/>
            <a:ext cx="544739" cy="465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C8600A-9960-7411-FC86-46C6528C997B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6247494" y="2736706"/>
            <a:ext cx="41727" cy="1184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F3B930-C5A3-57DD-CCA1-FDFF74CD4E1C}"/>
              </a:ext>
            </a:extLst>
          </p:cNvPr>
          <p:cNvCxnSpPr>
            <a:cxnSpLocks/>
          </p:cNvCxnSpPr>
          <p:nvPr/>
        </p:nvCxnSpPr>
        <p:spPr>
          <a:xfrm>
            <a:off x="7440839" y="2736706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6F817FE-E5D5-6E27-B87F-77EC2EF59BF4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536545" y="3513679"/>
            <a:ext cx="373968" cy="421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DCD5EA-E000-032A-8430-17A47A09653B}"/>
              </a:ext>
            </a:extLst>
          </p:cNvPr>
          <p:cNvCxnSpPr>
            <a:cxnSpLocks/>
            <a:endCxn id="14" idx="0"/>
          </p:cNvCxnSpPr>
          <p:nvPr/>
        </p:nvCxnSpPr>
        <p:spPr>
          <a:xfrm flipH="1">
            <a:off x="5744709" y="4304606"/>
            <a:ext cx="552676" cy="423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8628BE-9FA9-503D-CFA0-C03F4D798742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6318476" y="4325538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6B5EA58-A5C0-3A7C-058B-48896973AE7E}"/>
              </a:ext>
            </a:extLst>
          </p:cNvPr>
          <p:cNvSpPr txBox="1"/>
          <p:nvPr/>
        </p:nvSpPr>
        <p:spPr>
          <a:xfrm>
            <a:off x="6254295" y="4741933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9F9D5E-C67E-4053-8759-31707C208759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7157810" y="4319011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0EEE1E9-9B13-05BA-1538-67102860641B}"/>
              </a:ext>
            </a:extLst>
          </p:cNvPr>
          <p:cNvSpPr txBox="1"/>
          <p:nvPr/>
        </p:nvSpPr>
        <p:spPr>
          <a:xfrm>
            <a:off x="7093629" y="4735406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D1B7B40-D2B2-D4A6-34DF-2184F547C86A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7896903" y="4319011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70888FC-8BC3-2127-7133-A4E2905EEA05}"/>
              </a:ext>
            </a:extLst>
          </p:cNvPr>
          <p:cNvSpPr txBox="1"/>
          <p:nvPr/>
        </p:nvSpPr>
        <p:spPr>
          <a:xfrm>
            <a:off x="7832722" y="4735406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4210AB9-50BD-316B-401C-AFD5D8D05A27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5732690" y="5114527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A1CD64D4-1988-DD76-ED9D-ACD432E72119}"/>
              </a:ext>
            </a:extLst>
          </p:cNvPr>
          <p:cNvSpPr txBox="1"/>
          <p:nvPr/>
        </p:nvSpPr>
        <p:spPr>
          <a:xfrm>
            <a:off x="5668509" y="5530922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E87697-9811-4535-2ECA-E8501E22AB36}"/>
              </a:ext>
            </a:extLst>
          </p:cNvPr>
          <p:cNvSpPr txBox="1"/>
          <p:nvPr/>
        </p:nvSpPr>
        <p:spPr>
          <a:xfrm>
            <a:off x="8092164" y="2354350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7EF97BB-9D5B-8DAE-B6B7-5B33FDCB1422}"/>
              </a:ext>
            </a:extLst>
          </p:cNvPr>
          <p:cNvCxnSpPr>
            <a:cxnSpLocks/>
            <a:stCxn id="5" idx="2"/>
            <a:endCxn id="40" idx="0"/>
          </p:cNvCxnSpPr>
          <p:nvPr/>
        </p:nvCxnSpPr>
        <p:spPr>
          <a:xfrm>
            <a:off x="6898821" y="1887889"/>
            <a:ext cx="1402893" cy="4664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00D0062-6A97-301A-B6D1-E0C7485FA656}"/>
              </a:ext>
            </a:extLst>
          </p:cNvPr>
          <p:cNvSpPr txBox="1"/>
          <p:nvPr/>
        </p:nvSpPr>
        <p:spPr>
          <a:xfrm>
            <a:off x="8145689" y="3154482"/>
            <a:ext cx="4191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081CA8-238D-7037-8269-78E15E05611A}"/>
              </a:ext>
            </a:extLst>
          </p:cNvPr>
          <p:cNvSpPr txBox="1"/>
          <p:nvPr/>
        </p:nvSpPr>
        <p:spPr>
          <a:xfrm>
            <a:off x="8455483" y="3911600"/>
            <a:ext cx="365571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C116154-C208-3EB3-3933-275930FD235A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355239" y="2746841"/>
            <a:ext cx="0" cy="4076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658F280-E052-2F3D-E8AB-FDF89BCA53A3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8355239" y="3523814"/>
            <a:ext cx="283030" cy="387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661853C-B0B4-056A-AEA5-FCCDE30EA671}"/>
              </a:ext>
            </a:extLst>
          </p:cNvPr>
          <p:cNvCxnSpPr>
            <a:cxnSpLocks/>
            <a:endCxn id="49" idx="0"/>
          </p:cNvCxnSpPr>
          <p:nvPr/>
        </p:nvCxnSpPr>
        <p:spPr>
          <a:xfrm>
            <a:off x="8615360" y="4325538"/>
            <a:ext cx="221569" cy="416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5F4FE15-9012-E397-2293-E108189B320A}"/>
              </a:ext>
            </a:extLst>
          </p:cNvPr>
          <p:cNvSpPr txBox="1"/>
          <p:nvPr/>
        </p:nvSpPr>
        <p:spPr>
          <a:xfrm>
            <a:off x="8551179" y="4741933"/>
            <a:ext cx="5715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&lt;e&gt;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F12B84-8724-0D1B-19A1-B4BEC97F3F66}"/>
              </a:ext>
            </a:extLst>
          </p:cNvPr>
          <p:cNvSpPr txBox="1"/>
          <p:nvPr/>
        </p:nvSpPr>
        <p:spPr>
          <a:xfrm>
            <a:off x="5668509" y="6041571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BC714C-9A51-71D8-81D4-0629C2AA27C1}"/>
              </a:ext>
            </a:extLst>
          </p:cNvPr>
          <p:cNvSpPr txBox="1"/>
          <p:nvPr/>
        </p:nvSpPr>
        <p:spPr>
          <a:xfrm>
            <a:off x="6240461" y="525174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648E38-F76B-E805-716D-1ED97B6B668C}"/>
              </a:ext>
            </a:extLst>
          </p:cNvPr>
          <p:cNvSpPr txBox="1"/>
          <p:nvPr/>
        </p:nvSpPr>
        <p:spPr>
          <a:xfrm>
            <a:off x="7806870" y="520650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8DDE04-F56C-37CE-284E-6BEC0DACE489}"/>
              </a:ext>
            </a:extLst>
          </p:cNvPr>
          <p:cNvSpPr txBox="1"/>
          <p:nvPr/>
        </p:nvSpPr>
        <p:spPr>
          <a:xfrm>
            <a:off x="6988968" y="524711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2ACE9C-9B45-5143-3AA2-27F62875B191}"/>
              </a:ext>
            </a:extLst>
          </p:cNvPr>
          <p:cNvSpPr txBox="1"/>
          <p:nvPr/>
        </p:nvSpPr>
        <p:spPr>
          <a:xfrm>
            <a:off x="8496754" y="5214799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3AF7DA-E310-E4E8-13E8-FEA5AB76B001}"/>
              </a:ext>
            </a:extLst>
          </p:cNvPr>
          <p:cNvSpPr txBox="1"/>
          <p:nvPr/>
        </p:nvSpPr>
        <p:spPr>
          <a:xfrm>
            <a:off x="5472904" y="3918207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D551C0-EA4B-2259-F076-765E64F41D52}"/>
              </a:ext>
            </a:extLst>
          </p:cNvPr>
          <p:cNvSpPr txBox="1"/>
          <p:nvPr/>
        </p:nvSpPr>
        <p:spPr>
          <a:xfrm>
            <a:off x="6684054" y="3123788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AA23D0-3D9B-499A-0D15-098D05C1334E}"/>
              </a:ext>
            </a:extLst>
          </p:cNvPr>
          <p:cNvSpPr txBox="1"/>
          <p:nvPr/>
        </p:nvSpPr>
        <p:spPr>
          <a:xfrm>
            <a:off x="5431067" y="2322017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55BC64-C6A4-DA4B-C3F2-39E12702C6AD}"/>
              </a:ext>
            </a:extLst>
          </p:cNvPr>
          <p:cNvSpPr txBox="1"/>
          <p:nvPr/>
        </p:nvSpPr>
        <p:spPr>
          <a:xfrm>
            <a:off x="6652533" y="237759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C1BBB2-FB41-9186-C324-3A5C5326224A}"/>
              </a:ext>
            </a:extLst>
          </p:cNvPr>
          <p:cNvSpPr txBox="1"/>
          <p:nvPr/>
        </p:nvSpPr>
        <p:spPr>
          <a:xfrm>
            <a:off x="8424862" y="2360645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28478D2-7AAB-F7E2-41A3-1B0D8DD27FEE}"/>
              </a:ext>
            </a:extLst>
          </p:cNvPr>
          <p:cNvSpPr txBox="1"/>
          <p:nvPr/>
        </p:nvSpPr>
        <p:spPr>
          <a:xfrm>
            <a:off x="5013665" y="4741933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A8C1B3-5977-EFFE-FAD3-6E90C0ACDDF8}"/>
              </a:ext>
            </a:extLst>
          </p:cNvPr>
          <p:cNvSpPr txBox="1"/>
          <p:nvPr/>
        </p:nvSpPr>
        <p:spPr>
          <a:xfrm>
            <a:off x="5420859" y="3111848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755C93-7C70-94A7-2E05-08C83845314D}"/>
              </a:ext>
            </a:extLst>
          </p:cNvPr>
          <p:cNvSpPr txBox="1"/>
          <p:nvPr/>
        </p:nvSpPr>
        <p:spPr>
          <a:xfrm>
            <a:off x="6476776" y="3979210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0804FD-5F82-5AE7-7F2E-88C62E984F12}"/>
              </a:ext>
            </a:extLst>
          </p:cNvPr>
          <p:cNvSpPr txBox="1"/>
          <p:nvPr/>
        </p:nvSpPr>
        <p:spPr>
          <a:xfrm>
            <a:off x="8526573" y="3149723"/>
            <a:ext cx="620712" cy="37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A927D823-994D-55F0-837A-F2B80E798101}"/>
              </a:ext>
            </a:extLst>
          </p:cNvPr>
          <p:cNvCxnSpPr>
            <a:stCxn id="58" idx="3"/>
            <a:endCxn id="62" idx="0"/>
          </p:cNvCxnSpPr>
          <p:nvPr/>
        </p:nvCxnSpPr>
        <p:spPr>
          <a:xfrm flipH="1">
            <a:off x="6787132" y="2565374"/>
            <a:ext cx="486113" cy="1413836"/>
          </a:xfrm>
          <a:prstGeom prst="curvedConnector4">
            <a:avLst>
              <a:gd name="adj1" fmla="val 188104"/>
              <a:gd name="adj2" fmla="val 9128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38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356C-03D3-5C7B-0B4C-D535CC39D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08E8-0B51-7241-F21D-3BCE1791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CB723-E1A8-74BF-3432-E31BD04EA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2" y="1257300"/>
            <a:ext cx="4144737" cy="530859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ym typeface="Wingdings" pitchFamily="2" charset="2"/>
              </a:rPr>
              <a:t>BPE is simple and very efficient when you apply it </a:t>
            </a:r>
            <a:r>
              <a:rPr lang="en-US" i="1" dirty="0">
                <a:sym typeface="Wingdings" pitchFamily="2" charset="2"/>
              </a:rPr>
              <a:t>reduce </a:t>
            </a:r>
            <a:r>
              <a:rPr lang="en-US" dirty="0">
                <a:sym typeface="Wingdings" pitchFamily="2" charset="2"/>
              </a:rPr>
              <a:t>the number of tokens</a:t>
            </a:r>
          </a:p>
          <a:p>
            <a:pPr lvl="1"/>
            <a:r>
              <a:rPr lang="en-US" dirty="0">
                <a:sym typeface="Wingdings" pitchFamily="2" charset="2"/>
              </a:rPr>
              <a:t>use a </a:t>
            </a:r>
            <a:r>
              <a:rPr lang="en-US" b="1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to store the weighted corpus and update all the counts incrementally</a:t>
            </a:r>
          </a:p>
          <a:p>
            <a:r>
              <a:rPr lang="en-US" dirty="0">
                <a:sym typeface="Wingdings" pitchFamily="2" charset="2"/>
              </a:rPr>
              <a:t>The </a:t>
            </a:r>
            <a:r>
              <a:rPr lang="en-US" dirty="0" err="1">
                <a:sym typeface="Wingdings" pitchFamily="2" charset="2"/>
              </a:rPr>
              <a:t>trie</a:t>
            </a:r>
            <a:r>
              <a:rPr lang="en-US" dirty="0">
                <a:sym typeface="Wingdings" pitchFamily="2" charset="2"/>
              </a:rPr>
              <a:t> of tokens is much </a:t>
            </a:r>
            <a:r>
              <a:rPr lang="en-US" b="1" dirty="0">
                <a:sym typeface="Wingdings" pitchFamily="2" charset="2"/>
              </a:rPr>
              <a:t>smaller</a:t>
            </a:r>
            <a:r>
              <a:rPr lang="en-US" dirty="0">
                <a:sym typeface="Wingdings" pitchFamily="2" charset="2"/>
              </a:rPr>
              <a:t> than the full corpus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58842F6B-2BCD-A662-E463-288A9C86F9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2301D8-9C55-EA65-E426-592C1C35525E}"/>
              </a:ext>
            </a:extLst>
          </p:cNvPr>
          <p:cNvSpPr txBox="1">
            <a:spLocks/>
          </p:cNvSpPr>
          <p:nvPr/>
        </p:nvSpPr>
        <p:spPr>
          <a:xfrm>
            <a:off x="4947558" y="1283267"/>
            <a:ext cx="3461656" cy="31845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Wordpieces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was used in BERT: much like </a:t>
            </a:r>
            <a:r>
              <a:rPr lang="en-US" b="1" dirty="0">
                <a:sym typeface="Wingdings" pitchFamily="2" charset="2"/>
              </a:rPr>
              <a:t>BPE</a:t>
            </a:r>
            <a:r>
              <a:rPr lang="en-US" dirty="0">
                <a:sym typeface="Wingdings" pitchFamily="2" charset="2"/>
              </a:rPr>
              <a:t> but tries to maximize the probability of the corpus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under a naïve Bayes-like model of probability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main difference: instead of scoring pairs by </a:t>
            </a:r>
            <a:r>
              <a:rPr lang="en-US" b="1" dirty="0">
                <a:sym typeface="Wingdings" pitchFamily="2" charset="2"/>
              </a:rPr>
              <a:t>frequency</a:t>
            </a:r>
            <a:r>
              <a:rPr lang="en-US" dirty="0">
                <a:sym typeface="Wingdings" pitchFamily="2" charset="2"/>
              </a:rPr>
              <a:t> score of </a:t>
            </a:r>
            <a:r>
              <a:rPr lang="en-US" b="1" dirty="0">
                <a:sym typeface="Wingdings" pitchFamily="2" charset="2"/>
              </a:rPr>
              <a:t>pointwise mutual information</a:t>
            </a:r>
            <a:endParaRPr lang="en-US" dirty="0">
              <a:sym typeface="Wingdings" pitchFamily="2" charset="2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2F7C65-8F4C-C631-CECE-C059133A46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1094"/>
          <a:stretch/>
        </p:blipFill>
        <p:spPr>
          <a:xfrm>
            <a:off x="4947558" y="5297005"/>
            <a:ext cx="3685321" cy="83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60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F141-7497-CE03-669C-24A804F9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9001-DAC9-23AD-DD69-12777A441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86D3263F-C035-63D7-F5A7-9655BD0DC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C7F63AF-4DA8-B050-E43B-5AB574BF77E3}"/>
              </a:ext>
            </a:extLst>
          </p:cNvPr>
          <p:cNvSpPr txBox="1">
            <a:spLocks/>
          </p:cNvSpPr>
          <p:nvPr/>
        </p:nvSpPr>
        <p:spPr>
          <a:xfrm>
            <a:off x="4947558" y="1283267"/>
            <a:ext cx="3461656" cy="318457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Wordpieces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was used in BERT: much like </a:t>
            </a:r>
            <a:r>
              <a:rPr lang="en-US" b="1" dirty="0">
                <a:sym typeface="Wingdings" pitchFamily="2" charset="2"/>
              </a:rPr>
              <a:t>BPE</a:t>
            </a:r>
            <a:r>
              <a:rPr lang="en-US" dirty="0">
                <a:sym typeface="Wingdings" pitchFamily="2" charset="2"/>
              </a:rPr>
              <a:t> but tries to maximize the probability of the corpus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under a naïve Bayes-like model of probability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main difference: instead of scoring pairs by </a:t>
            </a:r>
            <a:r>
              <a:rPr lang="en-US" b="1" dirty="0">
                <a:sym typeface="Wingdings" pitchFamily="2" charset="2"/>
              </a:rPr>
              <a:t>frequency</a:t>
            </a:r>
            <a:r>
              <a:rPr lang="en-US" dirty="0">
                <a:sym typeface="Wingdings" pitchFamily="2" charset="2"/>
              </a:rPr>
              <a:t> score of </a:t>
            </a:r>
            <a:r>
              <a:rPr lang="en-US" b="1" dirty="0">
                <a:sym typeface="Wingdings" pitchFamily="2" charset="2"/>
              </a:rPr>
              <a:t>pointwise mutual information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C7320B-C522-86F2-1878-CD0789137AFF}"/>
              </a:ext>
            </a:extLst>
          </p:cNvPr>
          <p:cNvSpPr txBox="1">
            <a:spLocks/>
          </p:cNvSpPr>
          <p:nvPr/>
        </p:nvSpPr>
        <p:spPr>
          <a:xfrm>
            <a:off x="734788" y="1283267"/>
            <a:ext cx="3837212" cy="386023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Wordpieces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and </a:t>
            </a:r>
            <a:r>
              <a:rPr lang="en-US" b="1" dirty="0">
                <a:sym typeface="Wingdings" pitchFamily="2" charset="2"/>
              </a:rPr>
              <a:t>BPE </a:t>
            </a:r>
            <a:r>
              <a:rPr lang="en-US" dirty="0">
                <a:sym typeface="Wingdings" pitchFamily="2" charset="2"/>
              </a:rPr>
              <a:t>are constrained by the initial tokenization.</a:t>
            </a:r>
          </a:p>
          <a:p>
            <a:pPr marL="514350" indent="-457200"/>
            <a:r>
              <a:rPr lang="en-US" dirty="0">
                <a:sym typeface="Wingdings" pitchFamily="2" charset="2"/>
              </a:rPr>
              <a:t>Could be a problem, e.g., if you tokenized Python code naively.</a:t>
            </a:r>
          </a:p>
          <a:p>
            <a:pPr marL="57150" indent="0">
              <a:buNone/>
            </a:pPr>
            <a:endParaRPr lang="en-US" b="1" dirty="0">
              <a:sym typeface="Wingdings" pitchFamily="2" charset="2"/>
            </a:endParaRPr>
          </a:p>
          <a:p>
            <a:pPr marL="57150" indent="0">
              <a:buNone/>
            </a:pPr>
            <a:r>
              <a:rPr lang="en-US" b="1" dirty="0" err="1">
                <a:sym typeface="Wingdings" pitchFamily="2" charset="2"/>
              </a:rPr>
              <a:t>SentencePieces</a:t>
            </a:r>
            <a:r>
              <a:rPr lang="en-US" b="1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starts with “sentences” instead of words.</a:t>
            </a:r>
          </a:p>
          <a:p>
            <a:pPr marL="57150" indent="0">
              <a:buNone/>
            </a:pPr>
            <a:endParaRPr lang="en-US" dirty="0">
              <a:sym typeface="Wingdings" pitchFamily="2" charset="2"/>
            </a:endParaRPr>
          </a:p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Common approach now is to use BPE on a </a:t>
            </a:r>
            <a:r>
              <a:rPr lang="en-US" b="1" dirty="0">
                <a:sym typeface="Wingdings" pitchFamily="2" charset="2"/>
              </a:rPr>
              <a:t>large</a:t>
            </a:r>
            <a:r>
              <a:rPr lang="en-US" dirty="0">
                <a:sym typeface="Wingdings" pitchFamily="2" charset="2"/>
              </a:rPr>
              <a:t> corpus with </a:t>
            </a:r>
            <a:r>
              <a:rPr lang="en-US" b="1" dirty="0">
                <a:sym typeface="Wingdings" pitchFamily="2" charset="2"/>
              </a:rPr>
              <a:t>minimal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b="1" dirty="0">
                <a:sym typeface="Wingdings" pitchFamily="2" charset="2"/>
              </a:rPr>
              <a:t>pre-splitting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dirty="0" err="1">
                <a:sym typeface="Wingdings" pitchFamily="2" charset="2"/>
              </a:rPr>
              <a:t>eg</a:t>
            </a:r>
            <a:r>
              <a:rPr lang="en-US" dirty="0">
                <a:sym typeface="Wingdings" pitchFamily="2" charset="2"/>
              </a:rPr>
              <a:t> using all </a:t>
            </a:r>
            <a:r>
              <a:rPr lang="en-US" b="1" dirty="0">
                <a:sym typeface="Wingdings" pitchFamily="2" charset="2"/>
              </a:rPr>
              <a:t>bytes </a:t>
            </a:r>
            <a:r>
              <a:rPr lang="en-US" dirty="0">
                <a:sym typeface="Wingdings" pitchFamily="2" charset="2"/>
              </a:rPr>
              <a:t>as the initial vocabulary</a:t>
            </a:r>
          </a:p>
          <a:p>
            <a:pPr marL="57150" indent="0">
              <a:buNone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DCF56B-126A-953E-FC34-2D224BA85206}"/>
              </a:ext>
            </a:extLst>
          </p:cNvPr>
          <p:cNvSpPr txBox="1">
            <a:spLocks/>
          </p:cNvSpPr>
          <p:nvPr/>
        </p:nvSpPr>
        <p:spPr>
          <a:xfrm>
            <a:off x="4947558" y="4699862"/>
            <a:ext cx="3461656" cy="11980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Other approaches start with lots of proposed tokens and </a:t>
            </a:r>
            <a:r>
              <a:rPr lang="en-US" dirty="0" err="1">
                <a:sym typeface="Wingdings" pitchFamily="2" charset="2"/>
              </a:rPr>
              <a:t>subtokens</a:t>
            </a:r>
            <a:r>
              <a:rPr lang="en-US" dirty="0">
                <a:sym typeface="Wingdings" pitchFamily="2" charset="2"/>
              </a:rPr>
              <a:t> and repeatedly </a:t>
            </a:r>
            <a:r>
              <a:rPr lang="en-US" b="1" dirty="0">
                <a:sym typeface="Wingdings" pitchFamily="2" charset="2"/>
              </a:rPr>
              <a:t>prune away </a:t>
            </a:r>
            <a:r>
              <a:rPr lang="en-US" dirty="0" err="1">
                <a:sym typeface="Wingdings" pitchFamily="2" charset="2"/>
              </a:rPr>
              <a:t>subtokens</a:t>
            </a:r>
            <a:r>
              <a:rPr lang="en-US" dirty="0">
                <a:sym typeface="Wingdings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949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7E2B-FD61-1F9C-1AF1-240BCE63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D2C7-3CD4-B81D-31B1-ADC5D0644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C38147FD-3137-2216-EEE4-6919D9BDB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7102F1-43AD-BFC6-9E32-46EBA9C3F580}"/>
              </a:ext>
            </a:extLst>
          </p:cNvPr>
          <p:cNvSpPr txBox="1">
            <a:spLocks/>
          </p:cNvSpPr>
          <p:nvPr/>
        </p:nvSpPr>
        <p:spPr>
          <a:xfrm>
            <a:off x="279401" y="1283268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Step 1: Find all tokens in the corpus and save their frequency.</a:t>
            </a:r>
            <a:endParaRPr lang="en-US" b="1" dirty="0">
              <a:sym typeface="Wingdings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2E5915-A915-74FD-05B8-A5C4E2841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1" y="1905844"/>
            <a:ext cx="7632700" cy="6604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5754FB5-AD28-33DE-00D4-DDADEA1A8405}"/>
              </a:ext>
            </a:extLst>
          </p:cNvPr>
          <p:cNvSpPr txBox="1">
            <a:spLocks/>
          </p:cNvSpPr>
          <p:nvPr/>
        </p:nvSpPr>
        <p:spPr>
          <a:xfrm>
            <a:off x="279400" y="2750806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2: Break all the tokens into </a:t>
            </a:r>
            <a:r>
              <a:rPr lang="en-US" sz="2200" b="1" dirty="0">
                <a:sym typeface="Wingdings" pitchFamily="2" charset="2"/>
              </a:rPr>
              <a:t>characters</a:t>
            </a:r>
            <a:r>
              <a:rPr lang="en-US" sz="2200" dirty="0">
                <a:sym typeface="Wingdings" pitchFamily="2" charset="2"/>
              </a:rPr>
              <a:t> (the initial vocabulary)</a:t>
            </a:r>
            <a:endParaRPr lang="en-US" sz="2200" b="1" dirty="0">
              <a:sym typeface="Wingdings" pitchFamily="2" charset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D850C8-233A-8851-0096-F8529556D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55" t="20810" b="21302"/>
          <a:stretch/>
        </p:blipFill>
        <p:spPr>
          <a:xfrm>
            <a:off x="326568" y="3417323"/>
            <a:ext cx="11664950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C8A9FDE-B167-5500-C6FB-69054392C959}"/>
              </a:ext>
            </a:extLst>
          </p:cNvPr>
          <p:cNvSpPr txBox="1">
            <a:spLocks/>
          </p:cNvSpPr>
          <p:nvPr/>
        </p:nvSpPr>
        <p:spPr>
          <a:xfrm>
            <a:off x="326568" y="4135391"/>
            <a:ext cx="7632700" cy="164418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3: Repeat for </a:t>
            </a:r>
            <a:r>
              <a:rPr lang="en-US" sz="2200" dirty="0" err="1">
                <a:sym typeface="Wingdings" pitchFamily="2" charset="2"/>
              </a:rPr>
              <a:t>i</a:t>
            </a:r>
            <a:r>
              <a:rPr lang="en-US" sz="2200" dirty="0">
                <a:sym typeface="Wingdings" pitchFamily="2" charset="2"/>
              </a:rPr>
              <a:t> = 1, … </a:t>
            </a:r>
            <a:r>
              <a:rPr lang="en-US" sz="2200" dirty="0" err="1">
                <a:sym typeface="Wingdings" pitchFamily="2" charset="2"/>
              </a:rPr>
              <a:t>max_merges</a:t>
            </a:r>
            <a:r>
              <a:rPr lang="en-US" sz="2200" dirty="0">
                <a:sym typeface="Wingdings" pitchFamily="2" charset="2"/>
              </a:rPr>
              <a:t>: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Find the ordered pair that occurs most frequently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Add that pair to the vocabulary</a:t>
            </a:r>
          </a:p>
          <a:p>
            <a:pPr marL="400050"/>
            <a:r>
              <a:rPr lang="en-US" sz="2200" dirty="0">
                <a:sym typeface="Wingdings" pitchFamily="2" charset="2"/>
              </a:rPr>
              <a:t>Replace that pair with the new word everywhere</a:t>
            </a:r>
          </a:p>
          <a:p>
            <a:pPr marL="57150" indent="0">
              <a:buNone/>
            </a:pPr>
            <a:endParaRPr lang="en-US" sz="2200" b="1" dirty="0">
              <a:sym typeface="Wingdings" pitchFamily="2" charset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A3D93C-2A62-1DE0-6FFA-5AE7A0A954A7}"/>
              </a:ext>
            </a:extLst>
          </p:cNvPr>
          <p:cNvSpPr txBox="1"/>
          <p:nvPr/>
        </p:nvSpPr>
        <p:spPr>
          <a:xfrm>
            <a:off x="6760028" y="4541970"/>
            <a:ext cx="1714500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u,g</a:t>
            </a:r>
            <a:r>
              <a:rPr lang="en-US" dirty="0"/>
              <a:t> occurs 20x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990BC-E269-5F14-7003-C025511F31FA}"/>
              </a:ext>
            </a:extLst>
          </p:cNvPr>
          <p:cNvSpPr txBox="1"/>
          <p:nvPr/>
        </p:nvSpPr>
        <p:spPr>
          <a:xfrm>
            <a:off x="6569528" y="4911302"/>
            <a:ext cx="2574472" cy="369332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“ug” is a new </a:t>
            </a:r>
            <a:r>
              <a:rPr lang="en-US" dirty="0" err="1"/>
              <a:t>subword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3D4F43-206A-6B01-01F5-DF7CA7C5A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567" y="6072894"/>
            <a:ext cx="10776919" cy="542511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9" name="Down Arrow 18">
            <a:extLst>
              <a:ext uri="{FF2B5EF4-FFF2-40B4-BE49-F238E27FC236}">
                <a16:creationId xmlns:a16="http://schemas.microsoft.com/office/drawing/2014/main" id="{CCD92A06-CDB3-1676-B009-B75DB3DA14C2}"/>
              </a:ext>
            </a:extLst>
          </p:cNvPr>
          <p:cNvSpPr/>
          <p:nvPr/>
        </p:nvSpPr>
        <p:spPr>
          <a:xfrm>
            <a:off x="5078186" y="3959834"/>
            <a:ext cx="489857" cy="211306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DFBDB3-E61E-1CE4-8F54-31EEEFE0C4CB}"/>
              </a:ext>
            </a:extLst>
          </p:cNvPr>
          <p:cNvSpPr/>
          <p:nvPr/>
        </p:nvSpPr>
        <p:spPr>
          <a:xfrm>
            <a:off x="3657600" y="2566244"/>
            <a:ext cx="3775075" cy="8510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6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D054-7512-E1CF-4830-FF0C54F2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100C-1E22-2390-5812-5A2387A1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in Later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9AE49DC4-032B-93ED-B493-2726D1572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57AF25-F9C1-CB02-12CB-E6C6E663AD2F}"/>
              </a:ext>
            </a:extLst>
          </p:cNvPr>
          <p:cNvSpPr txBox="1">
            <a:spLocks/>
          </p:cNvSpPr>
          <p:nvPr/>
        </p:nvSpPr>
        <p:spPr>
          <a:xfrm>
            <a:off x="279401" y="1283268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dirty="0">
                <a:sym typeface="Wingdings" pitchFamily="2" charset="2"/>
              </a:rPr>
              <a:t>Step 1: Find all tokens in the corpus and save their frequency.</a:t>
            </a:r>
            <a:endParaRPr lang="en-US" b="1" dirty="0">
              <a:sym typeface="Wingdings" pitchFamily="2" charset="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C271F1-3B42-8CA2-9961-D409E11B5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1" y="1905844"/>
            <a:ext cx="7632700" cy="660400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5718335-E958-0724-BFED-6E051F5B0440}"/>
              </a:ext>
            </a:extLst>
          </p:cNvPr>
          <p:cNvSpPr txBox="1">
            <a:spLocks/>
          </p:cNvSpPr>
          <p:nvPr/>
        </p:nvSpPr>
        <p:spPr>
          <a:xfrm>
            <a:off x="279400" y="2750806"/>
            <a:ext cx="7632700" cy="4312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buNone/>
            </a:pPr>
            <a:r>
              <a:rPr lang="en-US" sz="2200" dirty="0">
                <a:sym typeface="Wingdings" pitchFamily="2" charset="2"/>
              </a:rPr>
              <a:t>Step 2: Break all the tokens into </a:t>
            </a:r>
            <a:r>
              <a:rPr lang="en-US" sz="2200" b="1" dirty="0">
                <a:sym typeface="Wingdings" pitchFamily="2" charset="2"/>
              </a:rPr>
              <a:t>characters</a:t>
            </a:r>
            <a:r>
              <a:rPr lang="en-US" sz="2200" dirty="0">
                <a:sym typeface="Wingdings" pitchFamily="2" charset="2"/>
              </a:rPr>
              <a:t> (the initial vocabulary)</a:t>
            </a:r>
            <a:endParaRPr lang="en-US" sz="2200" b="1" dirty="0">
              <a:sym typeface="Wingdings" pitchFamily="2" charset="2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97EB3C-3808-09BA-0B8D-8C62CDF4FFB5}"/>
              </a:ext>
            </a:extLst>
          </p:cNvPr>
          <p:cNvSpPr/>
          <p:nvPr/>
        </p:nvSpPr>
        <p:spPr>
          <a:xfrm>
            <a:off x="3657600" y="2566244"/>
            <a:ext cx="3775075" cy="8510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2920CDE-16EB-0848-D94B-16AAF623E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4218344"/>
            <a:ext cx="7772400" cy="2417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7C54F5-6606-645D-FC98-0D86B9D2C426}"/>
              </a:ext>
            </a:extLst>
          </p:cNvPr>
          <p:cNvSpPr txBox="1"/>
          <p:nvPr/>
        </p:nvSpPr>
        <p:spPr>
          <a:xfrm>
            <a:off x="7781471" y="4907683"/>
            <a:ext cx="1016000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ascii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480EA4-ADF0-9E0B-A9DD-331E6FDA2D0D}"/>
              </a:ext>
            </a:extLst>
          </p:cNvPr>
          <p:cNvSpPr txBox="1"/>
          <p:nvPr/>
        </p:nvSpPr>
        <p:spPr>
          <a:xfrm>
            <a:off x="5535386" y="5306858"/>
            <a:ext cx="360861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 Latin alphabets, Greek, Hebrew, …,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F3676-B7E2-B6B5-E725-8502595DB2CF}"/>
              </a:ext>
            </a:extLst>
          </p:cNvPr>
          <p:cNvSpPr txBox="1"/>
          <p:nvPr/>
        </p:nvSpPr>
        <p:spPr>
          <a:xfrm>
            <a:off x="7233557" y="5685882"/>
            <a:ext cx="156391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mostly CJK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550F22-072B-8B38-C931-329391743304}"/>
              </a:ext>
            </a:extLst>
          </p:cNvPr>
          <p:cNvSpPr txBox="1"/>
          <p:nvPr/>
        </p:nvSpPr>
        <p:spPr>
          <a:xfrm>
            <a:off x="7781470" y="6068223"/>
            <a:ext cx="1152979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emojis …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F53A67-6AFD-AA40-3FCA-E86A1CBE0060}"/>
              </a:ext>
            </a:extLst>
          </p:cNvPr>
          <p:cNvSpPr txBox="1"/>
          <p:nvPr/>
        </p:nvSpPr>
        <p:spPr>
          <a:xfrm>
            <a:off x="5963557" y="3553804"/>
            <a:ext cx="2938236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All the </a:t>
            </a:r>
            <a:r>
              <a:rPr lang="en-US" sz="1600" b="1" dirty="0"/>
              <a:t>bytes</a:t>
            </a:r>
            <a:r>
              <a:rPr lang="en-US" sz="1600" dirty="0"/>
              <a:t> from UTF-8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7FE78B-4BFC-E212-5C3C-7EEEB1FCBDFB}"/>
              </a:ext>
            </a:extLst>
          </p:cNvPr>
          <p:cNvSpPr/>
          <p:nvPr/>
        </p:nvSpPr>
        <p:spPr>
          <a:xfrm>
            <a:off x="3608615" y="4907683"/>
            <a:ext cx="963385" cy="43123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99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CFF7-5525-2CF3-FE0C-8B438F20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Impacts of BPE for Transformers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8B4C2-A567-976C-BC3C-7C6CDC199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2743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Math is hard</a:t>
            </a:r>
          </a:p>
          <a:p>
            <a:pPr lvl="1"/>
            <a:r>
              <a:rPr lang="en-US" dirty="0"/>
              <a:t>some common integers are tokens, some are not</a:t>
            </a:r>
          </a:p>
          <a:p>
            <a:r>
              <a:rPr lang="en-US" dirty="0"/>
              <a:t>Spelling is hard</a:t>
            </a:r>
          </a:p>
          <a:p>
            <a:pPr lvl="1"/>
            <a:r>
              <a:rPr lang="en-US" dirty="0"/>
              <a:t>“How many r’s in the word strawberry?”</a:t>
            </a:r>
          </a:p>
          <a:p>
            <a:pPr lvl="1"/>
            <a:r>
              <a:rPr lang="en-US" dirty="0"/>
              <a:t>“How many times does the letter e appear in the word catsup?</a:t>
            </a:r>
          </a:p>
          <a:p>
            <a:r>
              <a:rPr lang="en-US" dirty="0"/>
              <a:t>Emoticons are hard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AC2CC3-13B2-E171-D98A-4BA486AD8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4160838"/>
            <a:ext cx="8883562" cy="240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369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EC5D5-5909-CA01-FD02-96B291B6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31CB6-13C7-A378-247B-E185F2B7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0F535E0D-19A3-4E06-0B6D-6043FDDBC8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5C1142F0-B2BD-9B9E-92CB-2363D16C5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21" y="2093005"/>
            <a:ext cx="7772400" cy="380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21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4ACA-B6B4-7E38-954A-9853278A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6347-A048-2CA6-24ED-6F1C0E32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F538DD68-76DF-D5F5-904A-ED6E49A6E3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transformer&#10;&#10;AI-generated content may be incorrect.">
            <a:extLst>
              <a:ext uri="{FF2B5EF4-FFF2-40B4-BE49-F238E27FC236}">
                <a16:creationId xmlns:a16="http://schemas.microsoft.com/office/drawing/2014/main" id="{040A1C8B-1CDD-728A-57EA-70EC8860C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99" y="1096961"/>
            <a:ext cx="8261507" cy="500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55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F12FC-846C-557A-2C3A-D33971EC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50AEE-4B68-D1FC-9E6E-D0A4C757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Tokenization for Vision Transformers</a:t>
            </a:r>
          </a:p>
        </p:txBody>
      </p:sp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697C3CDB-A58B-CFE7-4DF3-328B1EFDE8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1" b="4412"/>
          <a:stretch/>
        </p:blipFill>
        <p:spPr bwMode="auto">
          <a:xfrm>
            <a:off x="1711325" y="9503228"/>
            <a:ext cx="572135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D02E15-5AEA-5A35-B349-CA0BE12E8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" y="1362528"/>
            <a:ext cx="7302500" cy="233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1DD165-528D-8A63-FCAB-1B233EF06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49561"/>
            <a:ext cx="7772400" cy="3308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E4DAF0-F7E0-2727-FDB6-1BFB6ED3C3BF}"/>
              </a:ext>
            </a:extLst>
          </p:cNvPr>
          <p:cNvSpPr txBox="1"/>
          <p:nvPr/>
        </p:nvSpPr>
        <p:spPr>
          <a:xfrm>
            <a:off x="2916917" y="3549560"/>
            <a:ext cx="302668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JFT = 300M images @ Google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D4A9B-C250-2861-C816-B161621C469A}"/>
              </a:ext>
            </a:extLst>
          </p:cNvPr>
          <p:cNvSpPr txBox="1"/>
          <p:nvPr/>
        </p:nvSpPr>
        <p:spPr>
          <a:xfrm>
            <a:off x="6688816" y="3528885"/>
            <a:ext cx="2004334" cy="3385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Also trained on JFT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162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652F8-D362-E8B4-1131-31E8EDB3C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Transformers – 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91DA1-B915-2A26-B802-F0C500BDE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440057" cy="38862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ViTs</a:t>
            </a:r>
            <a:r>
              <a:rPr lang="en-US" dirty="0"/>
              <a:t> have a weaker bias than CNNs and usually need more data to train</a:t>
            </a:r>
          </a:p>
          <a:p>
            <a:pPr lvl="1"/>
            <a:r>
              <a:rPr lang="en-US" dirty="0"/>
              <a:t>They don’t “know” that local-area features matter</a:t>
            </a:r>
          </a:p>
          <a:p>
            <a:r>
              <a:rPr lang="en-US" dirty="0"/>
              <a:t>Transformers are not the </a:t>
            </a:r>
            <a:r>
              <a:rPr lang="en-US" dirty="0" err="1"/>
              <a:t>SoTA</a:t>
            </a:r>
            <a:r>
              <a:rPr lang="en-US" dirty="0"/>
              <a:t> way of </a:t>
            </a:r>
            <a:r>
              <a:rPr lang="en-US" b="1" dirty="0"/>
              <a:t>generating</a:t>
            </a:r>
            <a:r>
              <a:rPr lang="en-US" i="1" dirty="0"/>
              <a:t> </a:t>
            </a:r>
            <a:r>
              <a:rPr lang="en-US" dirty="0"/>
              <a:t>images</a:t>
            </a:r>
          </a:p>
          <a:p>
            <a:pPr lvl="1"/>
            <a:r>
              <a:rPr lang="en-US" dirty="0"/>
              <a:t>Although they often do quite well!</a:t>
            </a:r>
          </a:p>
          <a:p>
            <a:r>
              <a:rPr lang="en-US" dirty="0" err="1"/>
              <a:t>ViTs</a:t>
            </a:r>
            <a:r>
              <a:rPr lang="en-US" dirty="0"/>
              <a:t> are excellent for multimodal vision/language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4070224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F087-5CD0-64A7-5B9C-4A26FB452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46A30-6575-07A0-7F0A-846CBDD8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1CBF0-9CE8-B356-29FE-2297F0C7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96963"/>
            <a:ext cx="7380514" cy="23745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558024-2195-44CA-B581-75944EDECD6A}"/>
              </a:ext>
            </a:extLst>
          </p:cNvPr>
          <p:cNvSpPr txBox="1"/>
          <p:nvPr/>
        </p:nvSpPr>
        <p:spPr>
          <a:xfrm>
            <a:off x="7527471" y="109696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2022</a:t>
            </a:r>
          </a:p>
        </p:txBody>
      </p:sp>
    </p:spTree>
    <p:extLst>
      <p:ext uri="{BB962C8B-B14F-4D97-AF65-F5344CB8AC3E}">
        <p14:creationId xmlns:p14="http://schemas.microsoft.com/office/powerpoint/2010/main" val="4250488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E0F67-5240-EF65-5000-D1C093BE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7DE-AF98-36BE-5A75-D81C76EFF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Multi-Model Transformer: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D4F955-BC44-5714-6151-3FD9A4AD3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5" y="1183724"/>
            <a:ext cx="4468015" cy="3564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89A77C-37AD-BC3B-E2D8-4AD0BA60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357" y="1096962"/>
            <a:ext cx="4263908" cy="400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68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3F3B8-B00C-C5A4-F040-182078A70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B764-174E-255D-7051-0A7BFEC14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Transformers – Pros and Cons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DD4B0C-DEEC-A651-4D74-284B8E8EE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00" y="3304081"/>
            <a:ext cx="1794328" cy="1431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227DE-4BBC-12A2-3152-93AA86BC4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008" y="1523916"/>
            <a:ext cx="3796393" cy="35648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65E5B3-3A27-32A8-C98E-65B919AAF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64" y="1767292"/>
            <a:ext cx="3466944" cy="13990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F457B8-23BA-3573-6A84-3C24042C7CAA}"/>
              </a:ext>
            </a:extLst>
          </p:cNvPr>
          <p:cNvSpPr txBox="1"/>
          <p:nvPr/>
        </p:nvSpPr>
        <p:spPr>
          <a:xfrm>
            <a:off x="279401" y="2053153"/>
            <a:ext cx="53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D6521-E4C1-54A2-8486-98372C581D61}"/>
              </a:ext>
            </a:extLst>
          </p:cNvPr>
          <p:cNvSpPr txBox="1"/>
          <p:nvPr/>
        </p:nvSpPr>
        <p:spPr>
          <a:xfrm>
            <a:off x="279400" y="3634771"/>
            <a:ext cx="73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2. FT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BA7B06-DA32-20C8-63D3-3DC3A9E8F7DA}"/>
              </a:ext>
            </a:extLst>
          </p:cNvPr>
          <p:cNvSpPr txBox="1"/>
          <p:nvPr/>
        </p:nvSpPr>
        <p:spPr>
          <a:xfrm>
            <a:off x="279400" y="1260248"/>
            <a:ext cx="225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   </a:t>
            </a:r>
            <a:r>
              <a:rPr lang="en-US" dirty="0" err="1"/>
              <a:t>ViT</a:t>
            </a:r>
            <a:r>
              <a:rPr lang="en-US" dirty="0"/>
              <a:t> and T5</a:t>
            </a:r>
          </a:p>
        </p:txBody>
      </p:sp>
    </p:spTree>
    <p:extLst>
      <p:ext uri="{BB962C8B-B14F-4D97-AF65-F5344CB8AC3E}">
        <p14:creationId xmlns:p14="http://schemas.microsoft.com/office/powerpoint/2010/main" val="2778202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Caching for Transformers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22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3553-5C74-6886-2527-07E1C103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CFDE6114-6AD6-48A0-6F09-CDA27E33A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42" y="378583"/>
            <a:ext cx="4396105" cy="647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CB60D31-F8B0-3DE9-803A-4C3A1D48A7F8}"/>
              </a:ext>
            </a:extLst>
          </p:cNvPr>
          <p:cNvSpPr/>
          <p:nvPr/>
        </p:nvSpPr>
        <p:spPr>
          <a:xfrm>
            <a:off x="2688907" y="3946870"/>
            <a:ext cx="1311594" cy="839443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BA1C-C129-4152-E92B-AACE86B952D7}"/>
              </a:ext>
            </a:extLst>
          </p:cNvPr>
          <p:cNvSpPr txBox="1"/>
          <p:nvPr/>
        </p:nvSpPr>
        <p:spPr>
          <a:xfrm>
            <a:off x="4957763" y="4043425"/>
            <a:ext cx="3571875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Masked</a:t>
            </a:r>
            <a:r>
              <a:rPr lang="en-US" dirty="0"/>
              <a:t> self-attention is used in the decoder</a:t>
            </a:r>
          </a:p>
        </p:txBody>
      </p:sp>
      <p:pic>
        <p:nvPicPr>
          <p:cNvPr id="6" name="Picture 5" descr="A black text with a square and a square formula&#10;&#10;AI-generated content may be incorrect.">
            <a:extLst>
              <a:ext uri="{FF2B5EF4-FFF2-40B4-BE49-F238E27FC236}">
                <a16:creationId xmlns:a16="http://schemas.microsoft.com/office/drawing/2014/main" id="{897F2294-DB0A-B2B2-5622-2304696893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456" y="46371"/>
            <a:ext cx="4826544" cy="9139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0D0F09-71B0-8541-CF70-A58CD83812AC}"/>
              </a:ext>
            </a:extLst>
          </p:cNvPr>
          <p:cNvSpPr txBox="1"/>
          <p:nvPr/>
        </p:nvSpPr>
        <p:spPr>
          <a:xfrm>
            <a:off x="4537755" y="960334"/>
            <a:ext cx="43859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</a:t>
            </a:r>
            <a:r>
              <a:rPr lang="en-US" b="1" dirty="0"/>
              <a:t>masked</a:t>
            </a:r>
            <a:r>
              <a:rPr lang="en-US" dirty="0"/>
              <a:t> self-attention, the </a:t>
            </a:r>
            <a:r>
              <a:rPr lang="en-US" b="1" dirty="0"/>
              <a:t>query</a:t>
            </a:r>
            <a:r>
              <a:rPr lang="en-US" dirty="0"/>
              <a:t> for token at </a:t>
            </a:r>
            <a:r>
              <a:rPr lang="en-US" b="1" dirty="0"/>
              <a:t>position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dirty="0"/>
              <a:t>can only attend to </a:t>
            </a:r>
            <a:r>
              <a:rPr lang="en-US" dirty="0" err="1"/>
              <a:t>thr</a:t>
            </a:r>
            <a:r>
              <a:rPr lang="en-US" dirty="0"/>
              <a:t> </a:t>
            </a:r>
            <a:r>
              <a:rPr lang="en-US" b="1" dirty="0"/>
              <a:t>keys</a:t>
            </a:r>
            <a:r>
              <a:rPr lang="en-US" dirty="0"/>
              <a:t> for tokens at positions </a:t>
            </a:r>
            <a:r>
              <a:rPr lang="en-US" b="1" dirty="0"/>
              <a:t>0,1,…,</a:t>
            </a:r>
            <a:r>
              <a:rPr lang="en-US" b="1" dirty="0" err="1"/>
              <a:t>i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4BE0-1B17-936D-6261-34E080634115}"/>
              </a:ext>
            </a:extLst>
          </p:cNvPr>
          <p:cNvSpPr txBox="1"/>
          <p:nvPr/>
        </p:nvSpPr>
        <p:spPr>
          <a:xfrm>
            <a:off x="4662351" y="1891245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This is done with a </a:t>
            </a:r>
            <a:r>
              <a:rPr lang="en-US" b="1" dirty="0"/>
              <a:t>mask</a:t>
            </a:r>
            <a:r>
              <a:rPr lang="en-US" dirty="0"/>
              <a:t> </a:t>
            </a:r>
            <a:endParaRPr lang="en-US" b="1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683999D-0DF9-50CC-38D5-74AFD06B7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633" y="2465415"/>
            <a:ext cx="4157663" cy="301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32D992-0B04-835B-068F-8AEAA4B09D0D}"/>
              </a:ext>
            </a:extLst>
          </p:cNvPr>
          <p:cNvSpPr txBox="1"/>
          <p:nvPr/>
        </p:nvSpPr>
        <p:spPr>
          <a:xfrm>
            <a:off x="4662350" y="5642902"/>
            <a:ext cx="438594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Prediction for token at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/>
              <a:t>not affec</a:t>
            </a:r>
            <a:r>
              <a:rPr lang="en-US" dirty="0"/>
              <a:t>ted by “future” tokens at i+1,i+2, …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3A4E5E-95B2-BBFA-58FF-E2D394AEB1D7}"/>
              </a:ext>
            </a:extLst>
          </p:cNvPr>
          <p:cNvSpPr txBox="1"/>
          <p:nvPr/>
        </p:nvSpPr>
        <p:spPr>
          <a:xfrm>
            <a:off x="4537754" y="6337426"/>
            <a:ext cx="438594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aka ”causal LM” or “causal masking”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BCDA5-BECF-89A4-DC84-D6DC8FC891B5}"/>
              </a:ext>
            </a:extLst>
          </p:cNvPr>
          <p:cNvSpPr txBox="1"/>
          <p:nvPr/>
        </p:nvSpPr>
        <p:spPr>
          <a:xfrm>
            <a:off x="381476" y="207793"/>
            <a:ext cx="2149453" cy="18158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</a:t>
            </a:r>
            <a:r>
              <a:rPr lang="en-US" sz="2800" b="1" dirty="0"/>
              <a:t>masked </a:t>
            </a:r>
            <a:r>
              <a:rPr lang="en-US" sz="2800" dirty="0"/>
              <a:t>self-attention</a:t>
            </a:r>
          </a:p>
        </p:txBody>
      </p:sp>
    </p:spTree>
    <p:extLst>
      <p:ext uri="{BB962C8B-B14F-4D97-AF65-F5344CB8AC3E}">
        <p14:creationId xmlns:p14="http://schemas.microsoft.com/office/powerpoint/2010/main" val="140386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3EBA-C811-7A8F-43EB-BED43F0E2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Architecture of the GPT family of models">
            <a:extLst>
              <a:ext uri="{FF2B5EF4-FFF2-40B4-BE49-F238E27FC236}">
                <a16:creationId xmlns:a16="http://schemas.microsoft.com/office/drawing/2014/main" id="{470F2B51-9D26-1126-7C70-23B84D4F8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669" y="384285"/>
            <a:ext cx="3400410" cy="64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C321215B-887E-DD2B-1076-08C049E65FD7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D6679E9-3121-3E6D-3B0A-597F2235754B}"/>
              </a:ext>
            </a:extLst>
          </p:cNvPr>
          <p:cNvSpPr/>
          <p:nvPr/>
        </p:nvSpPr>
        <p:spPr>
          <a:xfrm>
            <a:off x="5999077" y="4632670"/>
            <a:ext cx="2083566" cy="1017016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7F1D99-24A3-EDAD-0714-A4C3D58B97AE}"/>
              </a:ext>
            </a:extLst>
          </p:cNvPr>
          <p:cNvSpPr txBox="1"/>
          <p:nvPr/>
        </p:nvSpPr>
        <p:spPr>
          <a:xfrm>
            <a:off x="381476" y="207793"/>
            <a:ext cx="4399834" cy="181588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</a:t>
            </a:r>
            <a:r>
              <a:rPr lang="en-US" sz="2800" b="1" dirty="0"/>
              <a:t>masked </a:t>
            </a:r>
            <a:r>
              <a:rPr lang="en-US" sz="2800" dirty="0"/>
              <a:t>self-attention is </a:t>
            </a:r>
            <a:r>
              <a:rPr lang="en-US" sz="2800" b="1" dirty="0"/>
              <a:t>always </a:t>
            </a:r>
            <a:r>
              <a:rPr lang="en-US" sz="2800" dirty="0"/>
              <a:t>used in decoder-only Transformers</a:t>
            </a:r>
          </a:p>
        </p:txBody>
      </p:sp>
      <p:pic>
        <p:nvPicPr>
          <p:cNvPr id="18" name="Picture 17" descr="A diagram of software coding&#10;&#10;AI-generated content may be incorrect.">
            <a:extLst>
              <a:ext uri="{FF2B5EF4-FFF2-40B4-BE49-F238E27FC236}">
                <a16:creationId xmlns:a16="http://schemas.microsoft.com/office/drawing/2014/main" id="{326DB01F-7793-72F3-EA38-9871E23FE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443" y="3429000"/>
            <a:ext cx="2151225" cy="2824843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85678144-0464-35D5-FC5A-1CEBC7EC02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53" b="6173"/>
          <a:stretch/>
        </p:blipFill>
        <p:spPr bwMode="auto">
          <a:xfrm>
            <a:off x="278278" y="3869872"/>
            <a:ext cx="2355847" cy="219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446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9B94-B64D-55FC-84C6-8F73F263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A49CB87D-36B3-A521-354B-5B0E8A045032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AF9201-7C29-6041-1932-D9D4CCA6F00E}"/>
              </a:ext>
            </a:extLst>
          </p:cNvPr>
          <p:cNvSpPr txBox="1"/>
          <p:nvPr/>
        </p:nvSpPr>
        <p:spPr>
          <a:xfrm>
            <a:off x="381475" y="207793"/>
            <a:ext cx="7080681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Recap: generation</a:t>
            </a:r>
            <a:r>
              <a:rPr lang="en-US" sz="2800" b="1" dirty="0"/>
              <a:t> </a:t>
            </a:r>
            <a:r>
              <a:rPr lang="en-US" sz="2800" dirty="0"/>
              <a:t>is </a:t>
            </a:r>
            <a:r>
              <a:rPr lang="en-US" sz="2800" b="1" dirty="0"/>
              <a:t>auto-regressive</a:t>
            </a:r>
            <a:endParaRPr lang="en-US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E22721-AB65-6D41-AAF1-0BC509FBA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9144000" cy="319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8F0DD2-C6DE-217B-759A-4C1262CD8B85}"/>
              </a:ext>
            </a:extLst>
          </p:cNvPr>
          <p:cNvSpPr txBox="1"/>
          <p:nvPr/>
        </p:nvSpPr>
        <p:spPr>
          <a:xfrm>
            <a:off x="381475" y="5372100"/>
            <a:ext cx="861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https://medium.com/@joaolages/kv-caching-explained-276520203249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013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7A6A-0560-1339-AF0E-606F2A3A0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813B-DD92-09EA-E7FB-1CB3C300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09C3F2-3446-117E-F3E3-A18B88608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75707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B89D9CA-627E-4853-4A00-E74291283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486" y="1108983"/>
            <a:ext cx="3284493" cy="1216479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ECB4A1-C8CC-3F57-8968-7634DDA3C69A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2988128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7032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Step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690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E2CFCD-D57B-547B-0C87-D7833B384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0" r="1890"/>
          <a:stretch/>
        </p:blipFill>
        <p:spPr>
          <a:xfrm>
            <a:off x="0" y="1690771"/>
            <a:ext cx="9144000" cy="51672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2E0B6E-36C8-306A-9B86-D595D5D4F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9BCE2-29BB-1035-EF65-051B85ED3E8F}"/>
              </a:ext>
            </a:extLst>
          </p:cNvPr>
          <p:cNvSpPr txBox="1"/>
          <p:nvPr/>
        </p:nvSpPr>
        <p:spPr>
          <a:xfrm>
            <a:off x="2367643" y="1347106"/>
            <a:ext cx="571500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MSA (Masked Self Attention) the QK</a:t>
            </a:r>
            <a:r>
              <a:rPr lang="en-US" baseline="30000" dirty="0"/>
              <a:t>T</a:t>
            </a:r>
            <a:r>
              <a:rPr lang="en-US" dirty="0"/>
              <a:t> </a:t>
            </a:r>
            <a:r>
              <a:rPr lang="en-US" dirty="0" err="1"/>
              <a:t>matmul</a:t>
            </a:r>
            <a:r>
              <a:rPr lang="en-US" dirty="0"/>
              <a:t> is the only place where information from one </a:t>
            </a:r>
            <a:r>
              <a:rPr lang="en-US" b="1" dirty="0"/>
              <a:t>token’s representation </a:t>
            </a:r>
            <a:r>
              <a:rPr lang="en-US" dirty="0"/>
              <a:t>is moved to </a:t>
            </a:r>
            <a:r>
              <a:rPr lang="en-US" b="1" dirty="0"/>
              <a:t>another token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F08F-FB38-31EC-98D2-AB3E27336D39}"/>
              </a:ext>
            </a:extLst>
          </p:cNvPr>
          <p:cNvSpPr txBox="1"/>
          <p:nvPr/>
        </p:nvSpPr>
        <p:spPr>
          <a:xfrm>
            <a:off x="4572000" y="2276234"/>
            <a:ext cx="3750128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b="1" dirty="0"/>
              <a:t>x</a:t>
            </a:r>
            <a:r>
              <a:rPr lang="en-US" baseline="-25000" dirty="0"/>
              <a:t>i</a:t>
            </a:r>
            <a:r>
              <a:rPr lang="en-US" b="1" dirty="0"/>
              <a:t> </a:t>
            </a:r>
            <a:r>
              <a:rPr lang="en-US" dirty="0"/>
              <a:t>is token representation</a:t>
            </a:r>
          </a:p>
          <a:p>
            <a:r>
              <a:rPr lang="en-US" b="1" dirty="0"/>
              <a:t>q</a:t>
            </a:r>
            <a:r>
              <a:rPr lang="en-US" baseline="-25000" dirty="0"/>
              <a:t>i </a:t>
            </a:r>
            <a:r>
              <a:rPr lang="en-US" dirty="0"/>
              <a:t>= </a:t>
            </a:r>
            <a:r>
              <a:rPr lang="en-US" b="1" dirty="0"/>
              <a:t>x</a:t>
            </a:r>
            <a:r>
              <a:rPr lang="en-US" baseline="-25000" dirty="0"/>
              <a:t>i </a:t>
            </a:r>
            <a:r>
              <a:rPr lang="en-US" dirty="0"/>
              <a:t>W</a:t>
            </a:r>
            <a:r>
              <a:rPr lang="en-US" baseline="-25000" dirty="0"/>
              <a:t>Q.  </a:t>
            </a:r>
            <a:r>
              <a:rPr lang="en-US" dirty="0"/>
              <a:t>; </a:t>
            </a:r>
            <a:r>
              <a:rPr lang="en-US" b="1" dirty="0"/>
              <a:t>k</a:t>
            </a:r>
            <a:r>
              <a:rPr lang="en-US" baseline="-25000" dirty="0"/>
              <a:t>i </a:t>
            </a:r>
            <a:r>
              <a:rPr lang="en-US" dirty="0"/>
              <a:t>= </a:t>
            </a:r>
            <a:r>
              <a:rPr lang="en-US" b="1" dirty="0"/>
              <a:t>x</a:t>
            </a:r>
            <a:r>
              <a:rPr lang="en-US" baseline="-25000" dirty="0"/>
              <a:t>i </a:t>
            </a:r>
            <a:r>
              <a:rPr lang="en-US" dirty="0"/>
              <a:t>W</a:t>
            </a:r>
            <a:r>
              <a:rPr lang="en-US" baseline="-25000" dirty="0"/>
              <a:t>K. </a:t>
            </a:r>
            <a:r>
              <a:rPr lang="en-US" dirty="0"/>
              <a:t>; </a:t>
            </a:r>
            <a:r>
              <a:rPr lang="en-US" b="1" dirty="0"/>
              <a:t>v</a:t>
            </a:r>
            <a:r>
              <a:rPr lang="en-US" baseline="-25000" dirty="0"/>
              <a:t>i </a:t>
            </a:r>
            <a:r>
              <a:rPr lang="en-US" dirty="0"/>
              <a:t>= </a:t>
            </a:r>
            <a:r>
              <a:rPr lang="en-US" b="1" dirty="0"/>
              <a:t>x</a:t>
            </a:r>
            <a:r>
              <a:rPr lang="en-US" baseline="-25000" dirty="0"/>
              <a:t>i </a:t>
            </a:r>
            <a:r>
              <a:rPr lang="en-US" dirty="0"/>
              <a:t>W</a:t>
            </a:r>
            <a:r>
              <a:rPr lang="en-US" baseline="-25000" dirty="0"/>
              <a:t>V.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604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6065F-918C-2A5B-EC3C-93951FDAE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B5E485-0019-DE4E-5438-CD5B382B34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6884"/>
          <a:stretch/>
        </p:blipFill>
        <p:spPr>
          <a:xfrm>
            <a:off x="-179614" y="3677807"/>
            <a:ext cx="9144000" cy="23147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7FC0B-615F-58F3-1BF2-E9A8A3E02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A98ABF19-F6BA-041D-44D6-8FFCD03516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25FF0E-274C-1748-265F-D5BC8ED7368D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5929E8-9D16-43E2-D357-65F261C98DE6}"/>
              </a:ext>
            </a:extLst>
          </p:cNvPr>
          <p:cNvSpPr/>
          <p:nvPr/>
        </p:nvSpPr>
        <p:spPr>
          <a:xfrm>
            <a:off x="7036595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75372B1-6B47-2DC8-BB92-D13B9D72A6B9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21F3CD-2301-55AB-F1A1-4A96500624F5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698758A-12B4-8232-2379-4401C7DB79C7}"/>
              </a:ext>
            </a:extLst>
          </p:cNvPr>
          <p:cNvSpPr/>
          <p:nvPr/>
        </p:nvSpPr>
        <p:spPr>
          <a:xfrm>
            <a:off x="2076450" y="4072616"/>
            <a:ext cx="748393" cy="141378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855C21-58F4-3EE9-8937-82BD92CF16EC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6193FDF-0B47-8E22-17D3-5ED796867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937" b="77461"/>
          <a:stretch/>
        </p:blipFill>
        <p:spPr bwMode="auto">
          <a:xfrm>
            <a:off x="3046242" y="1634331"/>
            <a:ext cx="1503022" cy="90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8A336D1-12FE-3F2A-8DF2-331BEFC2FC66}"/>
              </a:ext>
            </a:extLst>
          </p:cNvPr>
          <p:cNvSpPr/>
          <p:nvPr/>
        </p:nvSpPr>
        <p:spPr>
          <a:xfrm>
            <a:off x="3484927" y="1680890"/>
            <a:ext cx="450260" cy="40862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CD5E584-03AF-A033-AF46-71CA6555B802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224AC0-DD59-1FB4-518D-84F172F0FF8D}"/>
              </a:ext>
            </a:extLst>
          </p:cNvPr>
          <p:cNvSpPr txBox="1"/>
          <p:nvPr/>
        </p:nvSpPr>
        <p:spPr>
          <a:xfrm>
            <a:off x="1765868" y="6202730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</p:spTree>
    <p:extLst>
      <p:ext uri="{BB962C8B-B14F-4D97-AF65-F5344CB8AC3E}">
        <p14:creationId xmlns:p14="http://schemas.microsoft.com/office/powerpoint/2010/main" val="25160711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6A024-B0C4-5867-3992-AFC118B5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8FF19C-B6F0-BD74-7969-DDC64A53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28373"/>
          <a:stretch/>
        </p:blipFill>
        <p:spPr>
          <a:xfrm>
            <a:off x="-179614" y="3677807"/>
            <a:ext cx="9144000" cy="12044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038549-C9E0-DA1F-EBC0-8CEAC6FB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CFD05748-1BF0-7F94-F4A2-7A14C05FB1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A385B71-CC00-2C2D-FACB-8F0809F33601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1385018-1335-E7CE-B9D7-B601996896C1}"/>
              </a:ext>
            </a:extLst>
          </p:cNvPr>
          <p:cNvSpPr/>
          <p:nvPr/>
        </p:nvSpPr>
        <p:spPr>
          <a:xfrm>
            <a:off x="7036595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088DD8-8B62-23F9-5DCC-9BE504ACE5C6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042B09-D1A0-96C9-56B2-D1A57F753E15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BD334E-37C0-309D-418D-754EC8D236CA}"/>
              </a:ext>
            </a:extLst>
          </p:cNvPr>
          <p:cNvSpPr/>
          <p:nvPr/>
        </p:nvSpPr>
        <p:spPr>
          <a:xfrm>
            <a:off x="2076450" y="4072616"/>
            <a:ext cx="748393" cy="141378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A1AF04-6203-DA14-054C-8E781DB4B3EF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5C46FA61-0DC9-2231-233D-E4F6E7195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700" b="88682"/>
          <a:stretch/>
        </p:blipFill>
        <p:spPr bwMode="auto">
          <a:xfrm>
            <a:off x="3046242" y="1634331"/>
            <a:ext cx="905273" cy="45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A76B5AF-9285-5D04-5917-CB0C23F2BB53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B16691-C778-578A-DFF6-27BCBC964960}"/>
              </a:ext>
            </a:extLst>
          </p:cNvPr>
          <p:cNvSpPr/>
          <p:nvPr/>
        </p:nvSpPr>
        <p:spPr>
          <a:xfrm>
            <a:off x="2824843" y="4147457"/>
            <a:ext cx="660083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45375-E064-785B-C6C4-7D9AD0C5C69B}"/>
              </a:ext>
            </a:extLst>
          </p:cNvPr>
          <p:cNvSpPr txBox="1"/>
          <p:nvPr/>
        </p:nvSpPr>
        <p:spPr>
          <a:xfrm>
            <a:off x="1765868" y="6202730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50F9CF-92D5-75D0-DB1B-9B16633F6F86}"/>
              </a:ext>
            </a:extLst>
          </p:cNvPr>
          <p:cNvSpPr/>
          <p:nvPr/>
        </p:nvSpPr>
        <p:spPr>
          <a:xfrm>
            <a:off x="4658825" y="4147457"/>
            <a:ext cx="660083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06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0AC02-582F-B85A-8C1D-7B8906022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B83C9-53EF-584B-4CB6-87EEC96E66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0" t="48318" r="1890" b="23948"/>
          <a:stretch/>
        </p:blipFill>
        <p:spPr>
          <a:xfrm>
            <a:off x="-179614" y="3677807"/>
            <a:ext cx="9144000" cy="14330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2C7D1A-A34B-2D51-1D8F-195F6303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Key-Value Caching</a:t>
            </a:r>
          </a:p>
        </p:txBody>
      </p:sp>
      <p:pic>
        <p:nvPicPr>
          <p:cNvPr id="6" name="Picture 5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407E35AD-A10F-BC4D-4292-99CF438E9C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186"/>
          <a:stretch/>
        </p:blipFill>
        <p:spPr>
          <a:xfrm>
            <a:off x="5192486" y="1634331"/>
            <a:ext cx="3284493" cy="6911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73591B-382B-B8E7-9CD5-A67EB7C30FC8}"/>
              </a:ext>
            </a:extLst>
          </p:cNvPr>
          <p:cNvGraphicFramePr>
            <a:graphicFrameLocks noGrp="1"/>
          </p:cNvGraphicFramePr>
          <p:nvPr/>
        </p:nvGraphicFramePr>
        <p:xfrm>
          <a:off x="5488851" y="2089514"/>
          <a:ext cx="309548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393">
                  <a:extLst>
                    <a:ext uri="{9D8B030D-6E8A-4147-A177-3AD203B41FA5}">
                      <a16:colId xmlns:a16="http://schemas.microsoft.com/office/drawing/2014/main" val="1189598918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2864686766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93321219"/>
                    </a:ext>
                  </a:extLst>
                </a:gridCol>
                <a:gridCol w="747032">
                  <a:extLst>
                    <a:ext uri="{9D8B030D-6E8A-4147-A177-3AD203B41FA5}">
                      <a16:colId xmlns:a16="http://schemas.microsoft.com/office/drawing/2014/main" val="3227872021"/>
                    </a:ext>
                  </a:extLst>
                </a:gridCol>
              </a:tblGrid>
              <a:tr h="519340"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Step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13317"/>
                  </a:ext>
                </a:extLst>
              </a:tr>
            </a:tbl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57E540-EEAB-1B31-4AC4-6509C7B3705B}"/>
              </a:ext>
            </a:extLst>
          </p:cNvPr>
          <p:cNvSpPr/>
          <p:nvPr/>
        </p:nvSpPr>
        <p:spPr>
          <a:xfrm>
            <a:off x="7787711" y="1319686"/>
            <a:ext cx="718458" cy="1449707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6D492D-C417-240F-ABCC-8C808E4882D3}"/>
              </a:ext>
            </a:extLst>
          </p:cNvPr>
          <p:cNvSpPr/>
          <p:nvPr/>
        </p:nvSpPr>
        <p:spPr>
          <a:xfrm>
            <a:off x="457200" y="4147457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01ACE91-856C-E90C-4C90-50F92255BA42}"/>
              </a:ext>
            </a:extLst>
          </p:cNvPr>
          <p:cNvSpPr/>
          <p:nvPr/>
        </p:nvSpPr>
        <p:spPr>
          <a:xfrm>
            <a:off x="5834743" y="4147457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6AA87BD-5979-893D-3CD5-03BED9C62F0A}"/>
              </a:ext>
            </a:extLst>
          </p:cNvPr>
          <p:cNvSpPr/>
          <p:nvPr/>
        </p:nvSpPr>
        <p:spPr>
          <a:xfrm>
            <a:off x="2076450" y="4072616"/>
            <a:ext cx="734923" cy="1433035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03530B-A7C7-665F-D600-ADB1CC711191}"/>
              </a:ext>
            </a:extLst>
          </p:cNvPr>
          <p:cNvSpPr/>
          <p:nvPr/>
        </p:nvSpPr>
        <p:spPr>
          <a:xfrm>
            <a:off x="3797753" y="4225016"/>
            <a:ext cx="774247" cy="657227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D340377-1E28-D8C0-4A98-B69713306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72" b="84997"/>
          <a:stretch/>
        </p:blipFill>
        <p:spPr bwMode="auto">
          <a:xfrm>
            <a:off x="3046242" y="1634331"/>
            <a:ext cx="1101215" cy="60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CD58D9-7314-5F34-FE38-0136EB4768AC}"/>
              </a:ext>
            </a:extLst>
          </p:cNvPr>
          <p:cNvSpPr/>
          <p:nvPr/>
        </p:nvSpPr>
        <p:spPr>
          <a:xfrm>
            <a:off x="3484926" y="1680890"/>
            <a:ext cx="793160" cy="603398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5481BA8-73D2-03CC-D537-613578EA9263}"/>
              </a:ext>
            </a:extLst>
          </p:cNvPr>
          <p:cNvSpPr/>
          <p:nvPr/>
        </p:nvSpPr>
        <p:spPr>
          <a:xfrm>
            <a:off x="7344456" y="4186236"/>
            <a:ext cx="1404257" cy="73478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C1C43A-0042-851D-E342-4C551E1A57ED}"/>
              </a:ext>
            </a:extLst>
          </p:cNvPr>
          <p:cNvSpPr/>
          <p:nvPr/>
        </p:nvSpPr>
        <p:spPr>
          <a:xfrm>
            <a:off x="3124200" y="4147457"/>
            <a:ext cx="360726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A21F8-7EE4-157B-4062-3C404B1ACD5E}"/>
              </a:ext>
            </a:extLst>
          </p:cNvPr>
          <p:cNvSpPr txBox="1"/>
          <p:nvPr/>
        </p:nvSpPr>
        <p:spPr>
          <a:xfrm>
            <a:off x="1577407" y="5786911"/>
            <a:ext cx="5989185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Third</a:t>
            </a:r>
            <a:r>
              <a:rPr lang="en-US" dirty="0"/>
              <a:t> output depends only on the first </a:t>
            </a:r>
            <a:r>
              <a:rPr lang="en-US" b="1" dirty="0"/>
              <a:t>two</a:t>
            </a:r>
            <a:r>
              <a:rPr lang="en-US" dirty="0"/>
              <a:t> tokens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F0C788-6A89-7F98-B084-3530851B29AC}"/>
              </a:ext>
            </a:extLst>
          </p:cNvPr>
          <p:cNvSpPr txBox="1"/>
          <p:nvPr/>
        </p:nvSpPr>
        <p:spPr>
          <a:xfrm>
            <a:off x="1798526" y="6214030"/>
            <a:ext cx="6707643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Fourth output</a:t>
            </a:r>
            <a:r>
              <a:rPr lang="en-US" dirty="0"/>
              <a:t> output depends only on the first </a:t>
            </a:r>
            <a:r>
              <a:rPr lang="en-US" b="1" dirty="0"/>
              <a:t>three</a:t>
            </a:r>
            <a:r>
              <a:rPr lang="en-US" dirty="0"/>
              <a:t> tokens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385600-380B-64C1-446F-5FB407930338}"/>
              </a:ext>
            </a:extLst>
          </p:cNvPr>
          <p:cNvSpPr txBox="1"/>
          <p:nvPr/>
        </p:nvSpPr>
        <p:spPr>
          <a:xfrm>
            <a:off x="777307" y="2792408"/>
            <a:ext cx="6707643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Stuff in green boxes has not changed since step 3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9590B0-2361-1255-A817-E5B2D150BEA9}"/>
              </a:ext>
            </a:extLst>
          </p:cNvPr>
          <p:cNvSpPr txBox="1"/>
          <p:nvPr/>
        </p:nvSpPr>
        <p:spPr>
          <a:xfrm>
            <a:off x="777307" y="3319855"/>
            <a:ext cx="7807033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keys </a:t>
            </a:r>
            <a:r>
              <a:rPr lang="en-US" sz="2000" dirty="0"/>
              <a:t>and </a:t>
            </a:r>
            <a:r>
              <a:rPr lang="en-US" sz="2000" b="1" dirty="0"/>
              <a:t>values </a:t>
            </a:r>
            <a:r>
              <a:rPr lang="en-US" sz="2000" dirty="0"/>
              <a:t>can be </a:t>
            </a:r>
            <a:r>
              <a:rPr lang="en-US" sz="2000" b="1" dirty="0"/>
              <a:t>cached and re-used </a:t>
            </a:r>
            <a:r>
              <a:rPr lang="en-US" sz="2000" dirty="0"/>
              <a:t>in forward pass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A5C1FB-C28E-15E0-2571-BB55B9D1E580}"/>
              </a:ext>
            </a:extLst>
          </p:cNvPr>
          <p:cNvSpPr/>
          <p:nvPr/>
        </p:nvSpPr>
        <p:spPr>
          <a:xfrm>
            <a:off x="4971984" y="4198583"/>
            <a:ext cx="360726" cy="12504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0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21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FE418-C172-35BF-A2C8-7C3FD941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Architecture of the GPT family of models">
            <a:extLst>
              <a:ext uri="{FF2B5EF4-FFF2-40B4-BE49-F238E27FC236}">
                <a16:creationId xmlns:a16="http://schemas.microsoft.com/office/drawing/2014/main" id="{27F64460-2B53-6C24-8CB0-EC9B711B0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669" y="384285"/>
            <a:ext cx="3400410" cy="645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itle 1">
            <a:extLst>
              <a:ext uri="{FF2B5EF4-FFF2-40B4-BE49-F238E27FC236}">
                <a16:creationId xmlns:a16="http://schemas.microsoft.com/office/drawing/2014/main" id="{750123BC-9337-547C-8F6A-5FFEAF1656A0}"/>
              </a:ext>
            </a:extLst>
          </p:cNvPr>
          <p:cNvSpPr txBox="1">
            <a:spLocks/>
          </p:cNvSpPr>
          <p:nvPr/>
        </p:nvSpPr>
        <p:spPr>
          <a:xfrm>
            <a:off x="5669758" y="-143475"/>
            <a:ext cx="4399834" cy="772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rgbClr val="0070C0"/>
                </a:solidFill>
                <a:latin typeface="Calibri"/>
                <a:ea typeface="+mj-ea"/>
                <a:cs typeface="Calibri"/>
              </a:defRPr>
            </a:lvl1pPr>
          </a:lstStyle>
          <a:p>
            <a:r>
              <a:rPr lang="en-US" dirty="0"/>
              <a:t>GPT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326D87-1DD8-B9FE-55A3-510BA25EEEDC}"/>
              </a:ext>
            </a:extLst>
          </p:cNvPr>
          <p:cNvSpPr/>
          <p:nvPr/>
        </p:nvSpPr>
        <p:spPr>
          <a:xfrm>
            <a:off x="5999077" y="4632670"/>
            <a:ext cx="2083566" cy="1017016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A68116-B3C4-9EED-934A-ACDB77271126}"/>
              </a:ext>
            </a:extLst>
          </p:cNvPr>
          <p:cNvSpPr txBox="1"/>
          <p:nvPr/>
        </p:nvSpPr>
        <p:spPr>
          <a:xfrm>
            <a:off x="381476" y="207793"/>
            <a:ext cx="4399834" cy="353943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Important point</a:t>
            </a:r>
            <a:r>
              <a:rPr lang="en-US" sz="2800" dirty="0"/>
              <a:t>: the FFN and </a:t>
            </a:r>
            <a:r>
              <a:rPr lang="en-US" sz="2800" dirty="0" err="1"/>
              <a:t>LayerNorms</a:t>
            </a:r>
            <a:r>
              <a:rPr lang="en-US" sz="2800" dirty="0"/>
              <a:t> are applied independently to each token position, so there MSA is the </a:t>
            </a:r>
            <a:r>
              <a:rPr lang="en-US" sz="2800" b="1" dirty="0"/>
              <a:t>only </a:t>
            </a:r>
            <a:r>
              <a:rPr lang="en-US" sz="2800" dirty="0"/>
              <a:t>place where information moves from one token position to another.</a:t>
            </a:r>
          </a:p>
        </p:txBody>
      </p:sp>
    </p:spTree>
    <p:extLst>
      <p:ext uri="{BB962C8B-B14F-4D97-AF65-F5344CB8AC3E}">
        <p14:creationId xmlns:p14="http://schemas.microsoft.com/office/powerpoint/2010/main" val="3513738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2662</TotalTime>
  <Words>1519</Words>
  <Application>Microsoft Macintosh PowerPoint</Application>
  <PresentationFormat>On-screen Show (4:3)</PresentationFormat>
  <Paragraphs>261</Paragraphs>
  <Slides>34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Cambria Math</vt:lpstr>
      <vt:lpstr>Gill Sans MT</vt:lpstr>
      <vt:lpstr>Lucida Grande</vt:lpstr>
      <vt:lpstr>Wingdings</vt:lpstr>
      <vt:lpstr>Office Theme</vt:lpstr>
      <vt:lpstr>10-605 / 10-405</vt:lpstr>
      <vt:lpstr>Tokenization for Transformers</vt:lpstr>
      <vt:lpstr>PowerPoint Presentation</vt:lpstr>
      <vt:lpstr>Tokenization for NLP Transformers</vt:lpstr>
      <vt:lpstr>Tokenization for NLP</vt:lpstr>
      <vt:lpstr>Tokenization for NLP</vt:lpstr>
      <vt:lpstr>Tokenization for NLP</vt:lpstr>
      <vt:lpstr>Tokenization in BERT / GPT2</vt:lpstr>
      <vt:lpstr>Tokenization in BERT / GPT2: BPE</vt:lpstr>
      <vt:lpstr>Tokenization in BERT / GPT2: BPE</vt:lpstr>
      <vt:lpstr>Tokenization in BERT / GPT2</vt:lpstr>
      <vt:lpstr>Tokenization in BERT / GPT2</vt:lpstr>
      <vt:lpstr>Tokenization in Later Transformers</vt:lpstr>
      <vt:lpstr>Tokenization in Later Transformers</vt:lpstr>
      <vt:lpstr>Tokenization in Later Transformers</vt:lpstr>
      <vt:lpstr>Tokenization in Later Transformers</vt:lpstr>
      <vt:lpstr>Impacts of BPE for Transformers</vt:lpstr>
      <vt:lpstr>Tokenization for Vision Transformers</vt:lpstr>
      <vt:lpstr>Tokenization for Vision Transformers</vt:lpstr>
      <vt:lpstr>Tokenization for Vision Transformers</vt:lpstr>
      <vt:lpstr>Vision Transformers – Pros and Cons</vt:lpstr>
      <vt:lpstr>Multi-Model Transformer: Example</vt:lpstr>
      <vt:lpstr>Multi-Model Transformer: Example</vt:lpstr>
      <vt:lpstr>Vision Transformers – Pros and Cons</vt:lpstr>
      <vt:lpstr>Key-Value Caching for Transformers</vt:lpstr>
      <vt:lpstr>PowerPoint Presentation</vt:lpstr>
      <vt:lpstr>PowerPoint Presentation</vt:lpstr>
      <vt:lpstr>PowerPoint Presentation</vt:lpstr>
      <vt:lpstr>Observation</vt:lpstr>
      <vt:lpstr>Observation</vt:lpstr>
      <vt:lpstr>Observation</vt:lpstr>
      <vt:lpstr>Observation</vt:lpstr>
      <vt:lpstr>Key-Value Caching</vt:lpstr>
      <vt:lpstr>PowerPoint Presentation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325</cp:revision>
  <dcterms:created xsi:type="dcterms:W3CDTF">2013-01-13T19:42:44Z</dcterms:created>
  <dcterms:modified xsi:type="dcterms:W3CDTF">2025-03-17T15:23:20Z</dcterms:modified>
</cp:coreProperties>
</file>