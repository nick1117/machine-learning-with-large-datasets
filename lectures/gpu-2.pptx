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91"/>
  </p:notesMasterIdLst>
  <p:sldIdLst>
    <p:sldId id="375" r:id="rId3"/>
    <p:sldId id="572" r:id="rId4"/>
    <p:sldId id="575" r:id="rId5"/>
    <p:sldId id="265" r:id="rId6"/>
    <p:sldId id="574" r:id="rId7"/>
    <p:sldId id="264" r:id="rId8"/>
    <p:sldId id="576" r:id="rId9"/>
    <p:sldId id="273" r:id="rId10"/>
    <p:sldId id="577" r:id="rId11"/>
    <p:sldId id="261" r:id="rId12"/>
    <p:sldId id="266" r:id="rId13"/>
    <p:sldId id="269" r:id="rId14"/>
    <p:sldId id="270" r:id="rId15"/>
    <p:sldId id="271" r:id="rId16"/>
    <p:sldId id="281" r:id="rId17"/>
    <p:sldId id="274" r:id="rId18"/>
    <p:sldId id="436" r:id="rId19"/>
    <p:sldId id="578" r:id="rId20"/>
    <p:sldId id="278" r:id="rId21"/>
    <p:sldId id="276" r:id="rId22"/>
    <p:sldId id="279" r:id="rId23"/>
    <p:sldId id="579" r:id="rId24"/>
    <p:sldId id="282" r:id="rId25"/>
    <p:sldId id="283" r:id="rId26"/>
    <p:sldId id="287" r:id="rId27"/>
    <p:sldId id="401" r:id="rId28"/>
    <p:sldId id="402" r:id="rId29"/>
    <p:sldId id="289" r:id="rId30"/>
    <p:sldId id="404" r:id="rId31"/>
    <p:sldId id="403" r:id="rId32"/>
    <p:sldId id="405" r:id="rId33"/>
    <p:sldId id="406" r:id="rId34"/>
    <p:sldId id="407" r:id="rId35"/>
    <p:sldId id="411" r:id="rId36"/>
    <p:sldId id="412" r:id="rId37"/>
    <p:sldId id="413" r:id="rId38"/>
    <p:sldId id="409" r:id="rId39"/>
    <p:sldId id="410" r:id="rId40"/>
    <p:sldId id="295" r:id="rId41"/>
    <p:sldId id="294" r:id="rId42"/>
    <p:sldId id="581" r:id="rId43"/>
    <p:sldId id="304" r:id="rId44"/>
    <p:sldId id="305" r:id="rId45"/>
    <p:sldId id="396" r:id="rId46"/>
    <p:sldId id="306" r:id="rId47"/>
    <p:sldId id="307" r:id="rId48"/>
    <p:sldId id="308" r:id="rId49"/>
    <p:sldId id="309" r:id="rId50"/>
    <p:sldId id="582" r:id="rId51"/>
    <p:sldId id="414" r:id="rId52"/>
    <p:sldId id="415" r:id="rId53"/>
    <p:sldId id="416" r:id="rId54"/>
    <p:sldId id="417" r:id="rId55"/>
    <p:sldId id="418" r:id="rId56"/>
    <p:sldId id="419" r:id="rId57"/>
    <p:sldId id="420" r:id="rId58"/>
    <p:sldId id="421" r:id="rId59"/>
    <p:sldId id="422" r:id="rId60"/>
    <p:sldId id="423" r:id="rId61"/>
    <p:sldId id="424" r:id="rId62"/>
    <p:sldId id="425" r:id="rId63"/>
    <p:sldId id="435" r:id="rId64"/>
    <p:sldId id="426" r:id="rId65"/>
    <p:sldId id="427" r:id="rId66"/>
    <p:sldId id="428" r:id="rId67"/>
    <p:sldId id="429" r:id="rId68"/>
    <p:sldId id="311" r:id="rId69"/>
    <p:sldId id="430" r:id="rId70"/>
    <p:sldId id="431" r:id="rId71"/>
    <p:sldId id="432" r:id="rId72"/>
    <p:sldId id="433" r:id="rId73"/>
    <p:sldId id="583" r:id="rId74"/>
    <p:sldId id="584" r:id="rId75"/>
    <p:sldId id="275" r:id="rId76"/>
    <p:sldId id="585" r:id="rId77"/>
    <p:sldId id="280" r:id="rId78"/>
    <p:sldId id="586" r:id="rId79"/>
    <p:sldId id="587" r:id="rId80"/>
    <p:sldId id="588" r:id="rId81"/>
    <p:sldId id="284" r:id="rId82"/>
    <p:sldId id="592" r:id="rId83"/>
    <p:sldId id="593" r:id="rId84"/>
    <p:sldId id="285" r:id="rId85"/>
    <p:sldId id="286" r:id="rId86"/>
    <p:sldId id="589" r:id="rId87"/>
    <p:sldId id="288" r:id="rId88"/>
    <p:sldId id="590" r:id="rId89"/>
    <p:sldId id="591" r:id="rId9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81"/>
    <p:restoredTop sz="88481" autoAdjust="0"/>
  </p:normalViewPr>
  <p:slideViewPr>
    <p:cSldViewPr snapToGrid="0" snapToObjects="1">
      <p:cViewPr varScale="1">
        <p:scale>
          <a:sx n="90" d="100"/>
          <a:sy n="90" d="100"/>
        </p:scale>
        <p:origin x="190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5" d="100"/>
        <a:sy n="9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tableStyles" Target="tableStyles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3C4F9-F37E-4225-8EDE-0041EBD1A368}" type="datetimeFigureOut">
              <a:rPr lang="en-US" smtClean="0"/>
              <a:pPr/>
              <a:t>2/19/25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CF8AD2-6882-4531-8560-2C8EEF2B5B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21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TODO: s/W/w/. and add one for linear regression</a:t>
            </a:r>
          </a:p>
          <a:p>
            <a:r>
              <a:rPr lang="en-US" dirty="0"/>
              <a:t>talk about optimizations – </a:t>
            </a:r>
            <a:r>
              <a:rPr lang="en-US" dirty="0" err="1"/>
              <a:t>softmax</a:t>
            </a:r>
            <a:r>
              <a:rPr lang="en-US" dirty="0"/>
              <a:t> numerical optimization, </a:t>
            </a:r>
            <a:r>
              <a:rPr lang="en-US" dirty="0" err="1"/>
              <a:t>crossent-softmax</a:t>
            </a:r>
            <a:r>
              <a:rPr lang="en-US" dirty="0"/>
              <a:t> optimization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210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D481E-F680-EC86-40BF-9F6C7BBA2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B8604C-27B1-62FC-960C-95756E5A53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525072-2583-E79D-482F-6A0110F87D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TODO: s/W/w/. and add one for linear regression</a:t>
            </a:r>
          </a:p>
          <a:p>
            <a:r>
              <a:rPr lang="en-US" dirty="0"/>
              <a:t>talk about optimizations – </a:t>
            </a:r>
            <a:r>
              <a:rPr lang="en-US" dirty="0" err="1"/>
              <a:t>softmax</a:t>
            </a:r>
            <a:r>
              <a:rPr lang="en-US" dirty="0"/>
              <a:t> numerical optimization, </a:t>
            </a:r>
            <a:r>
              <a:rPr lang="en-US" dirty="0" err="1"/>
              <a:t>crossent-softmax</a:t>
            </a:r>
            <a:r>
              <a:rPr lang="en-US" dirty="0"/>
              <a:t> optimization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2678C-94EC-F1A4-2674-B3C7FAA28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175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EAB70-E970-E0B1-A3CC-14E6E8C28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E71881-CE79-8A65-13D9-81C21FA35F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BDEBC8-2DBB-4A5C-90B6-AB4B5A6E0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loss bounces around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4DCD6-92EE-E594-60DB-8C8EB5ECAC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840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5099050"/>
          </a:xfrm>
        </p:spPr>
        <p:txBody>
          <a:bodyPr/>
          <a:lstStyle>
            <a:lvl1pPr>
              <a:defRPr sz="32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6445250"/>
            <a:ext cx="2133600" cy="365125"/>
          </a:xfrm>
        </p:spPr>
        <p:txBody>
          <a:bodyPr/>
          <a:lstStyle/>
          <a:p>
            <a:fld id="{4FC35801-B62B-1347-8D7D-E1D9FD950611}" type="datetimeFigureOut">
              <a:rPr lang="en-US" smtClean="0"/>
              <a:pPr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452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445250"/>
            <a:ext cx="2133600" cy="365125"/>
          </a:xfrm>
        </p:spPr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516187"/>
            <a:ext cx="7772400" cy="1362075"/>
          </a:xfrm>
        </p:spPr>
        <p:txBody>
          <a:bodyPr anchor="t">
            <a:normAutofit/>
          </a:bodyPr>
          <a:lstStyle>
            <a:lvl1pPr algn="ctr">
              <a:defRPr sz="3200" b="1" cap="all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0160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2177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33969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73731"/>
            <a:ext cx="4040188" cy="455122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033969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73730"/>
            <a:ext cx="4041775" cy="455122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06462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2/19/25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22236" y="440480"/>
            <a:ext cx="5983746" cy="4619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2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2870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65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2001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2236" y="440480"/>
            <a:ext cx="7361122" cy="461986"/>
          </a:xfrm>
        </p:spPr>
        <p:txBody>
          <a:bodyPr lIns="0" tIns="0" rIns="0" bIns="0"/>
          <a:lstStyle>
            <a:lvl1pPr>
              <a:defRPr sz="3002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3232" y="1596194"/>
            <a:ext cx="5292891" cy="287002"/>
          </a:xfrm>
        </p:spPr>
        <p:txBody>
          <a:bodyPr lIns="0" tIns="0" rIns="0" bIns="0"/>
          <a:lstStyle>
            <a:lvl1pPr>
              <a:defRPr sz="1865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81184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2236" y="440480"/>
            <a:ext cx="7361122" cy="461986"/>
          </a:xfrm>
        </p:spPr>
        <p:txBody>
          <a:bodyPr lIns="0" tIns="0" rIns="0" bIns="0"/>
          <a:lstStyle>
            <a:lvl1pPr>
              <a:defRPr sz="3002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509919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2236" y="440480"/>
            <a:ext cx="7361122" cy="461986"/>
          </a:xfrm>
        </p:spPr>
        <p:txBody>
          <a:bodyPr lIns="0" tIns="0" rIns="0" bIns="0"/>
          <a:lstStyle>
            <a:lvl1pPr>
              <a:defRPr sz="3002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33424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9505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35801-B62B-1347-8D7D-E1D9FD950611}" type="datetimeFigureOut">
              <a:rPr lang="en-US" smtClean="0"/>
              <a:pPr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b="1" kern="1200">
          <a:solidFill>
            <a:srgbClr val="0070C0"/>
          </a:solidFill>
          <a:latin typeface="Cambria Math"/>
          <a:ea typeface="+mj-ea"/>
          <a:cs typeface="Cambria Math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Cambria Math"/>
          <a:ea typeface="+mn-ea"/>
          <a:cs typeface="Cambria Math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Cambria Math"/>
          <a:ea typeface="+mn-ea"/>
          <a:cs typeface="Cambria Math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Cambria Math"/>
          <a:ea typeface="+mn-ea"/>
          <a:cs typeface="Cambria Math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Cambria Math"/>
          <a:ea typeface="+mn-ea"/>
          <a:cs typeface="Cambria Math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Cambria Math"/>
          <a:ea typeface="+mn-ea"/>
          <a:cs typeface="Cambria Math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2236" y="440480"/>
            <a:ext cx="7361122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3232" y="1596194"/>
            <a:ext cx="5292891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1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8918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207935">
        <a:defRPr>
          <a:latin typeface="+mn-lt"/>
          <a:ea typeface="+mn-ea"/>
          <a:cs typeface="+mn-cs"/>
        </a:defRPr>
      </a:lvl2pPr>
      <a:lvl3pPr marL="415869">
        <a:defRPr>
          <a:latin typeface="+mn-lt"/>
          <a:ea typeface="+mn-ea"/>
          <a:cs typeface="+mn-cs"/>
        </a:defRPr>
      </a:lvl3pPr>
      <a:lvl4pPr marL="623804">
        <a:defRPr>
          <a:latin typeface="+mn-lt"/>
          <a:ea typeface="+mn-ea"/>
          <a:cs typeface="+mn-cs"/>
        </a:defRPr>
      </a:lvl4pPr>
      <a:lvl5pPr marL="831738">
        <a:defRPr>
          <a:latin typeface="+mn-lt"/>
          <a:ea typeface="+mn-ea"/>
          <a:cs typeface="+mn-cs"/>
        </a:defRPr>
      </a:lvl5pPr>
      <a:lvl6pPr marL="1039673">
        <a:defRPr>
          <a:latin typeface="+mn-lt"/>
          <a:ea typeface="+mn-ea"/>
          <a:cs typeface="+mn-cs"/>
        </a:defRPr>
      </a:lvl6pPr>
      <a:lvl7pPr marL="1247607">
        <a:defRPr>
          <a:latin typeface="+mn-lt"/>
          <a:ea typeface="+mn-ea"/>
          <a:cs typeface="+mn-cs"/>
        </a:defRPr>
      </a:lvl7pPr>
      <a:lvl8pPr marL="1455542">
        <a:defRPr>
          <a:latin typeface="+mn-lt"/>
          <a:ea typeface="+mn-ea"/>
          <a:cs typeface="+mn-cs"/>
        </a:defRPr>
      </a:lvl8pPr>
      <a:lvl9pPr marL="1663476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07935">
        <a:defRPr>
          <a:latin typeface="+mn-lt"/>
          <a:ea typeface="+mn-ea"/>
          <a:cs typeface="+mn-cs"/>
        </a:defRPr>
      </a:lvl2pPr>
      <a:lvl3pPr marL="415869">
        <a:defRPr>
          <a:latin typeface="+mn-lt"/>
          <a:ea typeface="+mn-ea"/>
          <a:cs typeface="+mn-cs"/>
        </a:defRPr>
      </a:lvl3pPr>
      <a:lvl4pPr marL="623804">
        <a:defRPr>
          <a:latin typeface="+mn-lt"/>
          <a:ea typeface="+mn-ea"/>
          <a:cs typeface="+mn-cs"/>
        </a:defRPr>
      </a:lvl4pPr>
      <a:lvl5pPr marL="831738">
        <a:defRPr>
          <a:latin typeface="+mn-lt"/>
          <a:ea typeface="+mn-ea"/>
          <a:cs typeface="+mn-cs"/>
        </a:defRPr>
      </a:lvl5pPr>
      <a:lvl6pPr marL="1039673">
        <a:defRPr>
          <a:latin typeface="+mn-lt"/>
          <a:ea typeface="+mn-ea"/>
          <a:cs typeface="+mn-cs"/>
        </a:defRPr>
      </a:lvl6pPr>
      <a:lvl7pPr marL="1247607">
        <a:defRPr>
          <a:latin typeface="+mn-lt"/>
          <a:ea typeface="+mn-ea"/>
          <a:cs typeface="+mn-cs"/>
        </a:defRPr>
      </a:lvl7pPr>
      <a:lvl8pPr marL="1455542">
        <a:defRPr>
          <a:latin typeface="+mn-lt"/>
          <a:ea typeface="+mn-ea"/>
          <a:cs typeface="+mn-cs"/>
        </a:defRPr>
      </a:lvl8pPr>
      <a:lvl9pPr marL="1663476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towardsdatascience.com/visual-intuition-on-ring-allreduce-for-distributed-deep-learning-d1f34b4911da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eng.uber.com/horovod/" TargetMode="External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1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53.png"/><Relationship Id="rId7" Type="http://schemas.openxmlformats.org/officeDocument/2006/relationships/image" Target="../media/image49.pn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5.png"/><Relationship Id="rId5" Type="http://schemas.openxmlformats.org/officeDocument/2006/relationships/image" Target="../media/image50.png"/><Relationship Id="rId4" Type="http://schemas.openxmlformats.org/officeDocument/2006/relationships/image" Target="../media/image54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8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64.png"/><Relationship Id="rId4" Type="http://schemas.openxmlformats.org/officeDocument/2006/relationships/image" Target="../media/image69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ilydoseofds.com/implementing-lora-from-scratch-for-fine-tuning-llms/" TargetMode="External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ndrew.cmu.edu/course/11-667/lectures/W4L2_PETM.pptx.pdf" TargetMode="External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3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3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3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BAF07-0EE8-87BE-0557-A2CF8E2D82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10-605 / 10-405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1B411-7A6C-21B1-431C-1AE6C9C76C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Machine Learning from Large Datasets</a:t>
            </a:r>
          </a:p>
        </p:txBody>
      </p:sp>
    </p:spTree>
    <p:extLst>
      <p:ext uri="{BB962C8B-B14F-4D97-AF65-F5344CB8AC3E}">
        <p14:creationId xmlns:p14="http://schemas.microsoft.com/office/powerpoint/2010/main" val="68544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EF666-877F-625A-E424-566A235EC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174E152-F1ED-3E05-C0E3-9254D41AE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306" y="4782164"/>
            <a:ext cx="7772400" cy="1653176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E20B3A5-FBBB-3292-6CF8-B188475F8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7"/>
            <a:ext cx="8369964" cy="1152231"/>
          </a:xfrm>
        </p:spPr>
        <p:txBody>
          <a:bodyPr>
            <a:normAutofit fontScale="90000"/>
          </a:bodyPr>
          <a:lstStyle/>
          <a:p>
            <a:r>
              <a:rPr lang="en-US" dirty="0"/>
              <a:t>Recap: </a:t>
            </a:r>
            <a:r>
              <a:rPr lang="en-US" dirty="0" err="1"/>
              <a:t>Autodiff</a:t>
            </a:r>
            <a:r>
              <a:rPr lang="en-US" dirty="0"/>
              <a:t> for Logistic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44009-2710-5662-B2EC-03A83306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2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6" name="Oval Callout 5">
            <a:extLst>
              <a:ext uri="{FF2B5EF4-FFF2-40B4-BE49-F238E27FC236}">
                <a16:creationId xmlns:a16="http://schemas.microsoft.com/office/drawing/2014/main" id="{54286356-8254-95B1-B22E-50E9104A530D}"/>
              </a:ext>
            </a:extLst>
          </p:cNvPr>
          <p:cNvSpPr/>
          <p:nvPr/>
        </p:nvSpPr>
        <p:spPr>
          <a:xfrm>
            <a:off x="7433187" y="2479346"/>
            <a:ext cx="1393977" cy="1004572"/>
          </a:xfrm>
          <a:prstGeom prst="wedgeEllipseCallout">
            <a:avLst>
              <a:gd name="adj1" fmla="val -94632"/>
              <a:gd name="adj2" fmla="val 212923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Like logistic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5A07DC-4BAF-14F4-6D08-F46277659E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620" y="1083804"/>
            <a:ext cx="7419555" cy="12222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AB5FF7-82CE-FA75-B099-2C83221932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7490" y="2635456"/>
            <a:ext cx="3397010" cy="1916473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15" name="Down Arrow 14">
            <a:extLst>
              <a:ext uri="{FF2B5EF4-FFF2-40B4-BE49-F238E27FC236}">
                <a16:creationId xmlns:a16="http://schemas.microsoft.com/office/drawing/2014/main" id="{942BD8B8-0DC6-9ED8-72BF-AB1F109C4589}"/>
              </a:ext>
            </a:extLst>
          </p:cNvPr>
          <p:cNvSpPr/>
          <p:nvPr/>
        </p:nvSpPr>
        <p:spPr>
          <a:xfrm>
            <a:off x="4085861" y="2064554"/>
            <a:ext cx="520645" cy="483036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8C007E-A012-CF50-ED0E-92445FF2F2FD}"/>
              </a:ext>
            </a:extLst>
          </p:cNvPr>
          <p:cNvSpPr txBox="1"/>
          <p:nvPr/>
        </p:nvSpPr>
        <p:spPr>
          <a:xfrm>
            <a:off x="526212" y="485742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where:</a:t>
            </a:r>
          </a:p>
        </p:txBody>
      </p:sp>
    </p:spTree>
    <p:extLst>
      <p:ext uri="{BB962C8B-B14F-4D97-AF65-F5344CB8AC3E}">
        <p14:creationId xmlns:p14="http://schemas.microsoft.com/office/powerpoint/2010/main" val="1867375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B303F-FB50-FE57-E3C3-AE834DB05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F96A69-41CE-31C6-0E1B-5A6D431C7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7"/>
            <a:ext cx="8369964" cy="1152231"/>
          </a:xfrm>
        </p:spPr>
        <p:txBody>
          <a:bodyPr>
            <a:normAutofit fontScale="90000"/>
          </a:bodyPr>
          <a:lstStyle/>
          <a:p>
            <a:r>
              <a:rPr lang="en-US" dirty="0"/>
              <a:t>Extension: Deeper Logistic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980A5-0054-8F01-3711-A1F5051BC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3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335EFA-0CC7-3C41-3683-BB50FE660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620" y="1083804"/>
            <a:ext cx="7419555" cy="12222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AF561B-8D33-094D-6A12-90AE9A0895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770" y="2465397"/>
            <a:ext cx="2860555" cy="1613824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15" name="Down Arrow 14">
            <a:extLst>
              <a:ext uri="{FF2B5EF4-FFF2-40B4-BE49-F238E27FC236}">
                <a16:creationId xmlns:a16="http://schemas.microsoft.com/office/drawing/2014/main" id="{0E8F0DAE-E1D2-0768-80EC-ACEF24AF97AE}"/>
              </a:ext>
            </a:extLst>
          </p:cNvPr>
          <p:cNvSpPr/>
          <p:nvPr/>
        </p:nvSpPr>
        <p:spPr>
          <a:xfrm>
            <a:off x="2206652" y="1902699"/>
            <a:ext cx="520645" cy="483036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0368E1-BCEC-E3B5-2753-3C38D2E84688}"/>
              </a:ext>
            </a:extLst>
          </p:cNvPr>
          <p:cNvSpPr txBox="1"/>
          <p:nvPr/>
        </p:nvSpPr>
        <p:spPr>
          <a:xfrm>
            <a:off x="4572000" y="2324895"/>
            <a:ext cx="4275675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h1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softmax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(dot(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x, w1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))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h2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=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softmax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(dot(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h1, w1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))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h5 =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softmax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(dot(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h4, w5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))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 =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l2NormSq(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w1)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+ …. + l2NormSq(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w2)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loss =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crossEntropy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h5, y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+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λ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054AC5A5-F400-74D0-FA96-A76DCF6D908F}"/>
              </a:ext>
            </a:extLst>
          </p:cNvPr>
          <p:cNvSpPr/>
          <p:nvPr/>
        </p:nvSpPr>
        <p:spPr>
          <a:xfrm>
            <a:off x="4057650" y="2928938"/>
            <a:ext cx="362747" cy="50006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AE7D7A87-1C3B-956B-D200-BBB377F83396}"/>
              </a:ext>
            </a:extLst>
          </p:cNvPr>
          <p:cNvSpPr/>
          <p:nvPr/>
        </p:nvSpPr>
        <p:spPr>
          <a:xfrm rot="2011974">
            <a:off x="6315075" y="4257675"/>
            <a:ext cx="557213" cy="57150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7B14CB-2C10-0DB4-87A4-47253DF1F1E0}"/>
              </a:ext>
            </a:extLst>
          </p:cNvPr>
          <p:cNvSpPr txBox="1"/>
          <p:nvPr/>
        </p:nvSpPr>
        <p:spPr>
          <a:xfrm>
            <a:off x="3743325" y="4870311"/>
            <a:ext cx="4275675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h1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reLU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(dot(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x, w1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+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b1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h2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=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reLU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(dot(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h1, w1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+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b2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h5 =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reLU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(dot(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h4, w5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+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b3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 =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l2NormSq(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w1)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+ …. + l2NormSq(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w2)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loss =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crossEntropy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h5, y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+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λ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8" name="Picture 4" descr="W3_A1_Implementing ReLu in NN - Neural Networks and Deep Learning -  DeepLearning.AI">
            <a:extLst>
              <a:ext uri="{FF2B5EF4-FFF2-40B4-BE49-F238E27FC236}">
                <a16:creationId xmlns:a16="http://schemas.microsoft.com/office/drawing/2014/main" id="{DD9F6287-9442-881D-80F1-D4483483C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620" y="4578350"/>
            <a:ext cx="2083594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8962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9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 err="1"/>
              <a:t>Autodiff</a:t>
            </a:r>
            <a:r>
              <a:rPr lang="en-US" sz="2400" dirty="0"/>
              <a:t> for Multilayer Linear </a:t>
            </a:r>
            <a:r>
              <a:rPr lang="en-US" sz="2400" dirty="0" err="1"/>
              <a:t>Perceptrons</a:t>
            </a:r>
            <a:r>
              <a:rPr lang="en-US" sz="2400" dirty="0"/>
              <a:t> (MLPs)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060" y="3503428"/>
            <a:ext cx="4269304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Inputs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: X  Params: W1,B1,W2,B2</a:t>
            </a: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Z1a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mul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(X,W1)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matrix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mult</a:t>
            </a:r>
            <a:endParaRPr lang="en-US" dirty="0">
              <a:solidFill>
                <a:prstClr val="black"/>
              </a:solidFill>
              <a:latin typeface="Cambria Math"/>
              <a:cs typeface="Cambria Math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Z1b = add*(Z1a,B1)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add bias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A1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tanh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(Z1b)    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//element-wise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Z2a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mul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(A1,W2) </a:t>
            </a: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Z2b = add*(Z2a,B2) </a:t>
            </a: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A2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tanh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(Z2b)   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element-wise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P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softMax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(A2) 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 to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endParaRPr lang="en-US" dirty="0">
              <a:solidFill>
                <a:prstClr val="black"/>
              </a:solidFill>
              <a:latin typeface="Cambria Math"/>
              <a:cs typeface="Cambria Math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C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crossEnt</a:t>
            </a:r>
            <a:r>
              <a:rPr lang="en-US" baseline="-25000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Y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(P)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cost function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</p:txBody>
      </p:sp>
      <p:sp>
        <p:nvSpPr>
          <p:cNvPr id="5" name="Double Bracket 4"/>
          <p:cNvSpPr/>
          <p:nvPr/>
        </p:nvSpPr>
        <p:spPr>
          <a:xfrm>
            <a:off x="42084" y="1437699"/>
            <a:ext cx="559699" cy="633046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34" name="Double Bracket 33"/>
          <p:cNvSpPr/>
          <p:nvPr/>
        </p:nvSpPr>
        <p:spPr>
          <a:xfrm>
            <a:off x="682519" y="1433324"/>
            <a:ext cx="711200" cy="405680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W1</a:t>
            </a:r>
          </a:p>
        </p:txBody>
      </p:sp>
      <p:sp>
        <p:nvSpPr>
          <p:cNvPr id="35" name="Double Bracket 34"/>
          <p:cNvSpPr/>
          <p:nvPr/>
        </p:nvSpPr>
        <p:spPr>
          <a:xfrm>
            <a:off x="1624854" y="1433324"/>
            <a:ext cx="711200" cy="654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Z1A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1784" y="2276668"/>
            <a:ext cx="497604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mul</a:t>
            </a:r>
            <a:endParaRPr lang="en-US" sz="1200" dirty="0"/>
          </a:p>
        </p:txBody>
      </p:sp>
      <p:cxnSp>
        <p:nvCxnSpPr>
          <p:cNvPr id="26" name="Straight Arrow Connector 25"/>
          <p:cNvCxnSpPr>
            <a:endCxn id="22" idx="1"/>
          </p:cNvCxnSpPr>
          <p:nvPr/>
        </p:nvCxnSpPr>
        <p:spPr>
          <a:xfrm>
            <a:off x="300892" y="2112136"/>
            <a:ext cx="300892" cy="3176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endCxn id="22" idx="0"/>
          </p:cNvCxnSpPr>
          <p:nvPr/>
        </p:nvCxnSpPr>
        <p:spPr>
          <a:xfrm flipH="1">
            <a:off x="850586" y="1915388"/>
            <a:ext cx="187533" cy="3612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2" idx="3"/>
          </p:cNvCxnSpPr>
          <p:nvPr/>
        </p:nvCxnSpPr>
        <p:spPr>
          <a:xfrm flipV="1">
            <a:off x="1099388" y="2040563"/>
            <a:ext cx="525466" cy="389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Double Bracket 49"/>
          <p:cNvSpPr/>
          <p:nvPr/>
        </p:nvSpPr>
        <p:spPr>
          <a:xfrm>
            <a:off x="2429602" y="1433324"/>
            <a:ext cx="711200" cy="18280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/>
              <a:t>B1</a:t>
            </a:r>
            <a:endParaRPr lang="en-US" dirty="0"/>
          </a:p>
        </p:txBody>
      </p:sp>
      <p:sp>
        <p:nvSpPr>
          <p:cNvPr id="51" name="Rounded Rectangle 50"/>
          <p:cNvSpPr/>
          <p:nvPr/>
        </p:nvSpPr>
        <p:spPr>
          <a:xfrm>
            <a:off x="2337889" y="2317150"/>
            <a:ext cx="592880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add*</a:t>
            </a:r>
            <a:endParaRPr lang="en-US" sz="1400" dirty="0"/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1977292" y="2112136"/>
            <a:ext cx="358762" cy="224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51" idx="0"/>
          </p:cNvCxnSpPr>
          <p:nvPr/>
        </p:nvCxnSpPr>
        <p:spPr>
          <a:xfrm flipH="1">
            <a:off x="2634329" y="1695607"/>
            <a:ext cx="229026" cy="6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Double Bracket 51"/>
          <p:cNvSpPr/>
          <p:nvPr/>
        </p:nvSpPr>
        <p:spPr>
          <a:xfrm>
            <a:off x="3234350" y="1453684"/>
            <a:ext cx="711200" cy="654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/>
              <a:t>Z1B</a:t>
            </a:r>
            <a:endParaRPr lang="en-US" dirty="0"/>
          </a:p>
        </p:txBody>
      </p:sp>
      <p:cxnSp>
        <p:nvCxnSpPr>
          <p:cNvPr id="39" name="Straight Arrow Connector 38"/>
          <p:cNvCxnSpPr>
            <a:stCxn id="51" idx="3"/>
          </p:cNvCxnSpPr>
          <p:nvPr/>
        </p:nvCxnSpPr>
        <p:spPr>
          <a:xfrm flipV="1">
            <a:off x="2930769" y="2157979"/>
            <a:ext cx="414760" cy="3122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Double Bracket 52"/>
          <p:cNvSpPr/>
          <p:nvPr/>
        </p:nvSpPr>
        <p:spPr>
          <a:xfrm>
            <a:off x="4132646" y="1450953"/>
            <a:ext cx="711200" cy="654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A1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822041" y="2342527"/>
            <a:ext cx="592880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tanh</a:t>
            </a:r>
            <a:endParaRPr lang="en-US" sz="1400" dirty="0"/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3589950" y="2129889"/>
            <a:ext cx="255219" cy="1817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V="1">
            <a:off x="4236801" y="2040563"/>
            <a:ext cx="292269" cy="309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Double Bracket 73"/>
          <p:cNvSpPr/>
          <p:nvPr/>
        </p:nvSpPr>
        <p:spPr>
          <a:xfrm>
            <a:off x="5001437" y="1529260"/>
            <a:ext cx="711200" cy="405680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W2</a:t>
            </a:r>
          </a:p>
        </p:txBody>
      </p:sp>
      <p:sp>
        <p:nvSpPr>
          <p:cNvPr id="75" name="Double Bracket 74"/>
          <p:cNvSpPr/>
          <p:nvPr/>
        </p:nvSpPr>
        <p:spPr>
          <a:xfrm>
            <a:off x="5943772" y="1529260"/>
            <a:ext cx="711200" cy="654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Z2A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920702" y="2372604"/>
            <a:ext cx="497604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mul</a:t>
            </a:r>
            <a:endParaRPr lang="en-US" sz="1200" dirty="0"/>
          </a:p>
        </p:txBody>
      </p:sp>
      <p:cxnSp>
        <p:nvCxnSpPr>
          <p:cNvPr id="78" name="Straight Arrow Connector 77"/>
          <p:cNvCxnSpPr/>
          <p:nvPr/>
        </p:nvCxnSpPr>
        <p:spPr>
          <a:xfrm flipH="1">
            <a:off x="5169504" y="2011324"/>
            <a:ext cx="187533" cy="3612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flipV="1">
            <a:off x="5418306" y="2136499"/>
            <a:ext cx="525466" cy="389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Double Bracket 79"/>
          <p:cNvSpPr/>
          <p:nvPr/>
        </p:nvSpPr>
        <p:spPr>
          <a:xfrm>
            <a:off x="6748520" y="1529260"/>
            <a:ext cx="711200" cy="18280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B2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656807" y="2413086"/>
            <a:ext cx="592880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add*</a:t>
            </a:r>
            <a:endParaRPr lang="en-US" sz="1400" dirty="0"/>
          </a:p>
        </p:txBody>
      </p:sp>
      <p:cxnSp>
        <p:nvCxnSpPr>
          <p:cNvPr id="82" name="Straight Arrow Connector 81"/>
          <p:cNvCxnSpPr/>
          <p:nvPr/>
        </p:nvCxnSpPr>
        <p:spPr>
          <a:xfrm>
            <a:off x="6296210" y="2208072"/>
            <a:ext cx="358762" cy="224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 flipH="1">
            <a:off x="6953247" y="1791543"/>
            <a:ext cx="229026" cy="6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Double Bracket 83"/>
          <p:cNvSpPr/>
          <p:nvPr/>
        </p:nvSpPr>
        <p:spPr>
          <a:xfrm>
            <a:off x="7553268" y="1549620"/>
            <a:ext cx="711200" cy="654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Z2B</a:t>
            </a:r>
          </a:p>
        </p:txBody>
      </p:sp>
      <p:cxnSp>
        <p:nvCxnSpPr>
          <p:cNvPr id="85" name="Straight Arrow Connector 84"/>
          <p:cNvCxnSpPr/>
          <p:nvPr/>
        </p:nvCxnSpPr>
        <p:spPr>
          <a:xfrm flipV="1">
            <a:off x="7249687" y="2253915"/>
            <a:ext cx="414760" cy="3122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>
            <a:off x="7908868" y="2225825"/>
            <a:ext cx="255219" cy="1817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4715969" y="2136499"/>
            <a:ext cx="216823" cy="2710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8112068" y="2438237"/>
            <a:ext cx="592880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tanh</a:t>
            </a:r>
            <a:endParaRPr lang="en-US" sz="1400" dirty="0"/>
          </a:p>
        </p:txBody>
      </p:sp>
      <p:cxnSp>
        <p:nvCxnSpPr>
          <p:cNvPr id="90" name="Straight Arrow Connector 89"/>
          <p:cNvCxnSpPr/>
          <p:nvPr/>
        </p:nvCxnSpPr>
        <p:spPr>
          <a:xfrm flipV="1">
            <a:off x="8526828" y="2136273"/>
            <a:ext cx="292269" cy="309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Double Bracket 90"/>
          <p:cNvSpPr/>
          <p:nvPr/>
        </p:nvSpPr>
        <p:spPr>
          <a:xfrm>
            <a:off x="8451564" y="1549620"/>
            <a:ext cx="637728" cy="654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A2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51EA8A9-FBB9-652E-EEC1-C5134218418A}"/>
              </a:ext>
            </a:extLst>
          </p:cNvPr>
          <p:cNvCxnSpPr/>
          <p:nvPr/>
        </p:nvCxnSpPr>
        <p:spPr>
          <a:xfrm flipV="1">
            <a:off x="5620744" y="3892516"/>
            <a:ext cx="292269" cy="309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ouble Bracket 5">
            <a:extLst>
              <a:ext uri="{FF2B5EF4-FFF2-40B4-BE49-F238E27FC236}">
                <a16:creationId xmlns:a16="http://schemas.microsoft.com/office/drawing/2014/main" id="{423EEEB0-6477-73C5-EE37-77E42CADA350}"/>
              </a:ext>
            </a:extLst>
          </p:cNvPr>
          <p:cNvSpPr/>
          <p:nvPr/>
        </p:nvSpPr>
        <p:spPr>
          <a:xfrm>
            <a:off x="5545480" y="3305863"/>
            <a:ext cx="692436" cy="606216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A2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0F84783-D376-A028-047D-31F8339A0D2A}"/>
              </a:ext>
            </a:extLst>
          </p:cNvPr>
          <p:cNvCxnSpPr/>
          <p:nvPr/>
        </p:nvCxnSpPr>
        <p:spPr>
          <a:xfrm>
            <a:off x="5984598" y="3962505"/>
            <a:ext cx="255219" cy="1817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F57023C-830A-4808-9A42-6F4F1A453F79}"/>
              </a:ext>
            </a:extLst>
          </p:cNvPr>
          <p:cNvSpPr/>
          <p:nvPr/>
        </p:nvSpPr>
        <p:spPr>
          <a:xfrm>
            <a:off x="6140906" y="4182142"/>
            <a:ext cx="856350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softmax</a:t>
            </a:r>
            <a:endParaRPr lang="en-US" sz="14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8E1A9AF-E0A3-43CA-4334-66B0F53BB937}"/>
              </a:ext>
            </a:extLst>
          </p:cNvPr>
          <p:cNvCxnSpPr/>
          <p:nvPr/>
        </p:nvCxnSpPr>
        <p:spPr>
          <a:xfrm flipV="1">
            <a:off x="6453392" y="3864741"/>
            <a:ext cx="292269" cy="309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ouble Bracket 9">
            <a:extLst>
              <a:ext uri="{FF2B5EF4-FFF2-40B4-BE49-F238E27FC236}">
                <a16:creationId xmlns:a16="http://schemas.microsoft.com/office/drawing/2014/main" id="{6E1A3F0D-C628-F08A-1E66-714421E0EB23}"/>
              </a:ext>
            </a:extLst>
          </p:cNvPr>
          <p:cNvSpPr/>
          <p:nvPr/>
        </p:nvSpPr>
        <p:spPr>
          <a:xfrm>
            <a:off x="6402474" y="3278726"/>
            <a:ext cx="692436" cy="606216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3BBC683-36B2-E5B7-FE67-439088B56766}"/>
              </a:ext>
            </a:extLst>
          </p:cNvPr>
          <p:cNvSpPr/>
          <p:nvPr/>
        </p:nvSpPr>
        <p:spPr>
          <a:xfrm>
            <a:off x="7056047" y="3897469"/>
            <a:ext cx="856350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crossEnt</a:t>
            </a:r>
            <a:endParaRPr lang="en-US" sz="12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25AB012-5463-A317-2044-486C6B9765DE}"/>
              </a:ext>
            </a:extLst>
          </p:cNvPr>
          <p:cNvCxnSpPr>
            <a:endCxn id="11" idx="1"/>
          </p:cNvCxnSpPr>
          <p:nvPr/>
        </p:nvCxnSpPr>
        <p:spPr>
          <a:xfrm>
            <a:off x="6864394" y="3919059"/>
            <a:ext cx="191653" cy="1315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EE237CA-5750-034E-98F6-9A5D2D2EEEA3}"/>
              </a:ext>
            </a:extLst>
          </p:cNvPr>
          <p:cNvCxnSpPr>
            <a:stCxn id="11" idx="0"/>
          </p:cNvCxnSpPr>
          <p:nvPr/>
        </p:nvCxnSpPr>
        <p:spPr>
          <a:xfrm flipV="1">
            <a:off x="7484222" y="3575160"/>
            <a:ext cx="237633" cy="3223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69E7BC9-4062-05EC-B268-D396ED69E2CA}"/>
              </a:ext>
            </a:extLst>
          </p:cNvPr>
          <p:cNvSpPr txBox="1"/>
          <p:nvPr/>
        </p:nvSpPr>
        <p:spPr>
          <a:xfrm>
            <a:off x="7721855" y="3278726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01A2A0-0B37-85BD-1BDD-8CC46A5629CF}"/>
              </a:ext>
            </a:extLst>
          </p:cNvPr>
          <p:cNvSpPr txBox="1"/>
          <p:nvPr/>
        </p:nvSpPr>
        <p:spPr>
          <a:xfrm>
            <a:off x="4875544" y="346967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8" name="Double Bracket 17">
            <a:extLst>
              <a:ext uri="{FF2B5EF4-FFF2-40B4-BE49-F238E27FC236}">
                <a16:creationId xmlns:a16="http://schemas.microsoft.com/office/drawing/2014/main" id="{CD920BDA-BDB5-CEC8-9182-8E23ED76C341}"/>
              </a:ext>
            </a:extLst>
          </p:cNvPr>
          <p:cNvSpPr/>
          <p:nvPr/>
        </p:nvSpPr>
        <p:spPr>
          <a:xfrm>
            <a:off x="7840655" y="4234309"/>
            <a:ext cx="692436" cy="606216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55DC225-7771-5D5A-994C-B6D1EE8B54E5}"/>
              </a:ext>
            </a:extLst>
          </p:cNvPr>
          <p:cNvCxnSpPr>
            <a:stCxn id="18" idx="1"/>
          </p:cNvCxnSpPr>
          <p:nvPr/>
        </p:nvCxnSpPr>
        <p:spPr>
          <a:xfrm flipH="1" flipV="1">
            <a:off x="7518050" y="4252220"/>
            <a:ext cx="322605" cy="2851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5602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342060" y="3503428"/>
            <a:ext cx="4269304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Inputs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: X,W1,B1,W2,B2</a:t>
            </a: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Z1a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mul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(X,W1)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matrix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mult</a:t>
            </a:r>
            <a:endParaRPr lang="en-US" dirty="0">
              <a:solidFill>
                <a:prstClr val="black"/>
              </a:solidFill>
              <a:latin typeface="Cambria Math"/>
              <a:cs typeface="Cambria Math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Z1b = add*(Z1a,B1)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add bias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A1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tanh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(Z1b)    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//element-wise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Z2a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mul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(A1,W2) </a:t>
            </a: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Z2b = add*(Z2a,B2) </a:t>
            </a: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A2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tanh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(Z2b)   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element-wise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P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softMax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(A2) 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 to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endParaRPr lang="en-US" dirty="0">
              <a:solidFill>
                <a:prstClr val="black"/>
              </a:solidFill>
              <a:latin typeface="Cambria Math"/>
              <a:cs typeface="Cambria Math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C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crossEnt</a:t>
            </a:r>
            <a:r>
              <a:rPr lang="en-US" baseline="-25000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Y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(P)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cost function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346517" y="5792003"/>
            <a:ext cx="4244783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1125415" y="6088751"/>
            <a:ext cx="567871" cy="3536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58669" y="6362194"/>
            <a:ext cx="509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Book Antiqua"/>
              </a:rPr>
              <a:t>Target Y;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N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examples;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K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outs;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D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feats,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H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hidden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 </a:t>
            </a:r>
            <a:endParaRPr lang="en-US" dirty="0">
              <a:solidFill>
                <a:prstClr val="black"/>
              </a:solidFill>
              <a:latin typeface="Book Antiqu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645022" y="3143618"/>
            <a:ext cx="3699577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Book Antiqua"/>
              </a:rPr>
              <a:t>X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is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 N*D,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W1 is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D*H,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B1 is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1*H,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W2 is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H*K, 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43700" y="3814113"/>
            <a:ext cx="1337428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Book Antiqua"/>
              </a:rPr>
              <a:t>Z1a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is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N*H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12923" y="4151179"/>
            <a:ext cx="1337428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Book Antiqua"/>
              </a:rPr>
              <a:t>Z1b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is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N*H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57383" y="4488245"/>
            <a:ext cx="1245416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Book Antiqua"/>
              </a:rPr>
              <a:t>A1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is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N*H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43700" y="4836514"/>
            <a:ext cx="1337428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Book Antiqua"/>
              </a:rPr>
              <a:t>Z2a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is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N*K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96100" y="5173580"/>
            <a:ext cx="1337428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Book Antiqua"/>
              </a:rPr>
              <a:t>Z2b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is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N*K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48500" y="5449873"/>
            <a:ext cx="1219831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Book Antiqua"/>
              </a:rPr>
              <a:t>A2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is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N*K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00900" y="5786939"/>
            <a:ext cx="1076615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Book Antiqua"/>
              </a:rPr>
              <a:t>P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is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N*K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55901" y="6124005"/>
            <a:ext cx="1428837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Book Antiqua"/>
              </a:rPr>
              <a:t>C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is a scalar</a:t>
            </a:r>
            <a:endParaRPr lang="en-US" i="1" dirty="0">
              <a:solidFill>
                <a:prstClr val="black"/>
              </a:solidFill>
              <a:latin typeface="Book Antiqua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5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5" name="Double Bracket 4"/>
          <p:cNvSpPr/>
          <p:nvPr/>
        </p:nvSpPr>
        <p:spPr>
          <a:xfrm>
            <a:off x="-2241256" y="1489809"/>
            <a:ext cx="559699" cy="633046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34" name="Double Bracket 33"/>
          <p:cNvSpPr/>
          <p:nvPr/>
        </p:nvSpPr>
        <p:spPr>
          <a:xfrm>
            <a:off x="-1600821" y="1485434"/>
            <a:ext cx="711200" cy="405680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W1</a:t>
            </a:r>
          </a:p>
        </p:txBody>
      </p:sp>
      <p:sp>
        <p:nvSpPr>
          <p:cNvPr id="35" name="Double Bracket 34"/>
          <p:cNvSpPr/>
          <p:nvPr/>
        </p:nvSpPr>
        <p:spPr>
          <a:xfrm>
            <a:off x="-658486" y="1485434"/>
            <a:ext cx="711200" cy="654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Z1A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-1681556" y="2328778"/>
            <a:ext cx="497604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mul</a:t>
            </a:r>
            <a:endParaRPr lang="en-US" sz="1400" dirty="0"/>
          </a:p>
        </p:txBody>
      </p:sp>
      <p:cxnSp>
        <p:nvCxnSpPr>
          <p:cNvPr id="26" name="Straight Arrow Connector 25"/>
          <p:cNvCxnSpPr>
            <a:endCxn id="22" idx="1"/>
          </p:cNvCxnSpPr>
          <p:nvPr/>
        </p:nvCxnSpPr>
        <p:spPr>
          <a:xfrm>
            <a:off x="-1982448" y="2164246"/>
            <a:ext cx="300892" cy="3176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endCxn id="22" idx="0"/>
          </p:cNvCxnSpPr>
          <p:nvPr/>
        </p:nvCxnSpPr>
        <p:spPr>
          <a:xfrm flipH="1">
            <a:off x="-1432754" y="1967498"/>
            <a:ext cx="187533" cy="3612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2" idx="3"/>
          </p:cNvCxnSpPr>
          <p:nvPr/>
        </p:nvCxnSpPr>
        <p:spPr>
          <a:xfrm flipV="1">
            <a:off x="-1183952" y="2092673"/>
            <a:ext cx="525466" cy="389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Double Bracket 49"/>
          <p:cNvSpPr/>
          <p:nvPr/>
        </p:nvSpPr>
        <p:spPr>
          <a:xfrm>
            <a:off x="146262" y="1485434"/>
            <a:ext cx="711200" cy="18280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/>
              <a:t>B1</a:t>
            </a:r>
            <a:endParaRPr lang="en-US" dirty="0"/>
          </a:p>
        </p:txBody>
      </p:sp>
      <p:sp>
        <p:nvSpPr>
          <p:cNvPr id="51" name="Rounded Rectangle 50"/>
          <p:cNvSpPr/>
          <p:nvPr/>
        </p:nvSpPr>
        <p:spPr>
          <a:xfrm>
            <a:off x="54549" y="2369260"/>
            <a:ext cx="592880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add*</a:t>
            </a:r>
            <a:endParaRPr lang="en-US" sz="1400" dirty="0"/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-306048" y="2164246"/>
            <a:ext cx="358762" cy="224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51" idx="0"/>
          </p:cNvCxnSpPr>
          <p:nvPr/>
        </p:nvCxnSpPr>
        <p:spPr>
          <a:xfrm flipH="1">
            <a:off x="350989" y="1747717"/>
            <a:ext cx="229026" cy="6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Double Bracket 51"/>
          <p:cNvSpPr/>
          <p:nvPr/>
        </p:nvSpPr>
        <p:spPr>
          <a:xfrm>
            <a:off x="951010" y="1505794"/>
            <a:ext cx="711200" cy="654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/>
              <a:t>Z1B</a:t>
            </a:r>
            <a:endParaRPr lang="en-US" dirty="0"/>
          </a:p>
        </p:txBody>
      </p:sp>
      <p:cxnSp>
        <p:nvCxnSpPr>
          <p:cNvPr id="39" name="Straight Arrow Connector 38"/>
          <p:cNvCxnSpPr>
            <a:stCxn id="51" idx="3"/>
          </p:cNvCxnSpPr>
          <p:nvPr/>
        </p:nvCxnSpPr>
        <p:spPr>
          <a:xfrm flipV="1">
            <a:off x="647429" y="2210089"/>
            <a:ext cx="414760" cy="3122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Double Bracket 52"/>
          <p:cNvSpPr/>
          <p:nvPr/>
        </p:nvSpPr>
        <p:spPr>
          <a:xfrm>
            <a:off x="1849306" y="1503063"/>
            <a:ext cx="711200" cy="654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A1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538701" y="2394637"/>
            <a:ext cx="592880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tanh</a:t>
            </a:r>
            <a:endParaRPr lang="en-US" sz="1400" dirty="0"/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1306610" y="2181999"/>
            <a:ext cx="255219" cy="1817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V="1">
            <a:off x="1953461" y="2092673"/>
            <a:ext cx="292269" cy="309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Double Bracket 73"/>
          <p:cNvSpPr/>
          <p:nvPr/>
        </p:nvSpPr>
        <p:spPr>
          <a:xfrm>
            <a:off x="2718097" y="1581370"/>
            <a:ext cx="711200" cy="405680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W2</a:t>
            </a:r>
          </a:p>
        </p:txBody>
      </p:sp>
      <p:sp>
        <p:nvSpPr>
          <p:cNvPr id="75" name="Double Bracket 74"/>
          <p:cNvSpPr/>
          <p:nvPr/>
        </p:nvSpPr>
        <p:spPr>
          <a:xfrm>
            <a:off x="3660432" y="1581370"/>
            <a:ext cx="711200" cy="654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Z2A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637362" y="2424714"/>
            <a:ext cx="497604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mul</a:t>
            </a:r>
            <a:endParaRPr lang="en-US" sz="1400" dirty="0"/>
          </a:p>
        </p:txBody>
      </p:sp>
      <p:cxnSp>
        <p:nvCxnSpPr>
          <p:cNvPr id="78" name="Straight Arrow Connector 77"/>
          <p:cNvCxnSpPr/>
          <p:nvPr/>
        </p:nvCxnSpPr>
        <p:spPr>
          <a:xfrm flipH="1">
            <a:off x="2886164" y="2063434"/>
            <a:ext cx="187533" cy="3612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flipV="1">
            <a:off x="3134966" y="2188609"/>
            <a:ext cx="525466" cy="389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Double Bracket 79"/>
          <p:cNvSpPr/>
          <p:nvPr/>
        </p:nvSpPr>
        <p:spPr>
          <a:xfrm>
            <a:off x="4465180" y="1581370"/>
            <a:ext cx="711200" cy="18280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B2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373467" y="2465196"/>
            <a:ext cx="592880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add*</a:t>
            </a:r>
            <a:endParaRPr lang="en-US" sz="1400" dirty="0"/>
          </a:p>
        </p:txBody>
      </p:sp>
      <p:cxnSp>
        <p:nvCxnSpPr>
          <p:cNvPr id="82" name="Straight Arrow Connector 81"/>
          <p:cNvCxnSpPr/>
          <p:nvPr/>
        </p:nvCxnSpPr>
        <p:spPr>
          <a:xfrm>
            <a:off x="4012870" y="2260182"/>
            <a:ext cx="358762" cy="224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 flipH="1">
            <a:off x="4669907" y="1843653"/>
            <a:ext cx="229026" cy="6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Double Bracket 83"/>
          <p:cNvSpPr/>
          <p:nvPr/>
        </p:nvSpPr>
        <p:spPr>
          <a:xfrm>
            <a:off x="5269928" y="1601730"/>
            <a:ext cx="711200" cy="654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Z2B</a:t>
            </a:r>
          </a:p>
        </p:txBody>
      </p:sp>
      <p:cxnSp>
        <p:nvCxnSpPr>
          <p:cNvPr id="85" name="Straight Arrow Connector 84"/>
          <p:cNvCxnSpPr/>
          <p:nvPr/>
        </p:nvCxnSpPr>
        <p:spPr>
          <a:xfrm flipV="1">
            <a:off x="4966347" y="2306025"/>
            <a:ext cx="414760" cy="3122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>
            <a:off x="5625528" y="2277935"/>
            <a:ext cx="255219" cy="1817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2432629" y="2188609"/>
            <a:ext cx="216823" cy="2710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5828728" y="2490347"/>
            <a:ext cx="592880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tanh</a:t>
            </a:r>
            <a:endParaRPr lang="en-US" sz="1400" dirty="0"/>
          </a:p>
        </p:txBody>
      </p:sp>
      <p:cxnSp>
        <p:nvCxnSpPr>
          <p:cNvPr id="90" name="Straight Arrow Connector 89"/>
          <p:cNvCxnSpPr/>
          <p:nvPr/>
        </p:nvCxnSpPr>
        <p:spPr>
          <a:xfrm flipV="1">
            <a:off x="6243488" y="2188383"/>
            <a:ext cx="292269" cy="309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Double Bracket 90"/>
          <p:cNvSpPr/>
          <p:nvPr/>
        </p:nvSpPr>
        <p:spPr>
          <a:xfrm>
            <a:off x="6168224" y="1601730"/>
            <a:ext cx="692436" cy="606216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A2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6475591" y="4213051"/>
                <a:ext cx="2504325" cy="6226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latin typeface="Cambria Math" charset="0"/>
                            </a:rPr>
                            <m:t>𝐩</m:t>
                          </m:r>
                          <m:r>
                            <m:rPr>
                              <m:nor/>
                            </m:rPr>
                            <a:rPr lang="en-US" b="1" dirty="0"/>
                            <m:t> </m:t>
                          </m:r>
                        </m:e>
                        <m:sub>
                          <m:r>
                            <a:rPr lang="en-US" b="1" i="1" smtClean="0">
                              <a:latin typeface="Cambria Math" charset="0"/>
                            </a:rPr>
                            <m:t>𝒊</m:t>
                          </m:r>
                        </m:sub>
                      </m:sSub>
                      <m:r>
                        <a:rPr lang="en-US" b="1" i="0" smtClean="0">
                          <a:latin typeface="Cambria Math" charset="0"/>
                        </a:rPr>
                        <m:t>= </m:t>
                      </m:r>
                      <m:f>
                        <m:fPr>
                          <m:ctrlPr>
                            <a:rPr lang="mr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charset="0"/>
                            </a:rPr>
                            <m:t>exp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⁡</m:t>
                          </m:r>
                          <m:r>
                            <a:rPr lang="en-US" b="1" i="0" smtClean="0">
                              <a:latin typeface="Cambria Math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 smtClean="0">
                                  <a:latin typeface="Cambria Math" charset="0"/>
                                </a:rPr>
                                <m:t>𝐚</m:t>
                              </m:r>
                            </m:e>
                            <m:sub>
                              <m:r>
                                <a:rPr lang="en-US" b="1" i="0" smtClean="0">
                                  <a:latin typeface="Cambria Math" charset="0"/>
                                </a:rPr>
                                <m:t>𝐢</m:t>
                              </m:r>
                            </m:sub>
                          </m:sSub>
                          <m:r>
                            <a:rPr lang="en-US" b="1" i="0" smtClean="0">
                              <a:latin typeface="Cambria Math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mr-IN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b="0" i="1" smtClean="0">
                                  <a:latin typeface="Cambria Math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charset="0"/>
                                </a:rPr>
                                <m:t>exp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⁡</m:t>
                              </m:r>
                              <m:r>
                                <a:rPr lang="en-US" b="1">
                                  <a:latin typeface="Cambria Math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latin typeface="Cambria Math" charset="0"/>
                                    </a:rPr>
                                    <m:t>𝐚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charset="0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b="1">
                                  <a:latin typeface="Cambria Math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5591" y="4213051"/>
                <a:ext cx="2504325" cy="62260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/>
          <p:cNvCxnSpPr/>
          <p:nvPr/>
        </p:nvCxnSpPr>
        <p:spPr>
          <a:xfrm>
            <a:off x="6607342" y="2258372"/>
            <a:ext cx="255219" cy="1817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6763650" y="2478009"/>
            <a:ext cx="856350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softmax</a:t>
            </a:r>
            <a:endParaRPr lang="en-US" sz="1400" dirty="0"/>
          </a:p>
        </p:txBody>
      </p:sp>
      <p:cxnSp>
        <p:nvCxnSpPr>
          <p:cNvPr id="59" name="Straight Arrow Connector 58"/>
          <p:cNvCxnSpPr/>
          <p:nvPr/>
        </p:nvCxnSpPr>
        <p:spPr>
          <a:xfrm flipV="1">
            <a:off x="7076136" y="2160608"/>
            <a:ext cx="292269" cy="309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Double Bracket 59"/>
          <p:cNvSpPr/>
          <p:nvPr/>
        </p:nvSpPr>
        <p:spPr>
          <a:xfrm>
            <a:off x="7025218" y="1574593"/>
            <a:ext cx="692436" cy="606216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61" name="Double Bracket 60"/>
          <p:cNvSpPr/>
          <p:nvPr/>
        </p:nvSpPr>
        <p:spPr>
          <a:xfrm>
            <a:off x="8429571" y="2547730"/>
            <a:ext cx="692436" cy="606216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678791" y="2193336"/>
            <a:ext cx="856350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crossEnt</a:t>
            </a:r>
            <a:endParaRPr lang="en-US" sz="1200" dirty="0"/>
          </a:p>
        </p:txBody>
      </p:sp>
      <p:cxnSp>
        <p:nvCxnSpPr>
          <p:cNvPr id="6" name="Straight Arrow Connector 5"/>
          <p:cNvCxnSpPr>
            <a:endCxn id="62" idx="1"/>
          </p:cNvCxnSpPr>
          <p:nvPr/>
        </p:nvCxnSpPr>
        <p:spPr>
          <a:xfrm>
            <a:off x="7487138" y="2214926"/>
            <a:ext cx="191653" cy="1315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61" idx="1"/>
          </p:cNvCxnSpPr>
          <p:nvPr/>
        </p:nvCxnSpPr>
        <p:spPr>
          <a:xfrm flipH="1" flipV="1">
            <a:off x="8106966" y="2565641"/>
            <a:ext cx="322605" cy="2851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2" idx="0"/>
          </p:cNvCxnSpPr>
          <p:nvPr/>
        </p:nvCxnSpPr>
        <p:spPr>
          <a:xfrm flipV="1">
            <a:off x="8106966" y="1871027"/>
            <a:ext cx="237633" cy="3223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344599" y="1574593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6D3365B-E52B-7D45-95C3-BC1B7B0C6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Autofit/>
          </a:bodyPr>
          <a:lstStyle/>
          <a:p>
            <a:r>
              <a:rPr lang="en-US" sz="2400" dirty="0" err="1"/>
              <a:t>Autodiff</a:t>
            </a:r>
            <a:r>
              <a:rPr lang="en-US" sz="2400" dirty="0"/>
              <a:t> for Multilayer Linear </a:t>
            </a:r>
            <a:r>
              <a:rPr lang="en-US" sz="2400" dirty="0" err="1"/>
              <a:t>Perceptrons</a:t>
            </a:r>
            <a:r>
              <a:rPr lang="en-US" sz="2400" dirty="0"/>
              <a:t> (MLPs)</a:t>
            </a:r>
          </a:p>
        </p:txBody>
      </p:sp>
    </p:spTree>
    <p:extLst>
      <p:ext uri="{BB962C8B-B14F-4D97-AF65-F5344CB8AC3E}">
        <p14:creationId xmlns:p14="http://schemas.microsoft.com/office/powerpoint/2010/main" val="130754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0379" y="1349583"/>
            <a:ext cx="6535813" cy="621095"/>
          </a:xfrm>
          <a:prstGeom prst="rect">
            <a:avLst/>
          </a:prstGeom>
        </p:spPr>
        <p:txBody>
          <a:bodyPr vert="horz" wrap="square" lIns="0" tIns="5488" rIns="0" bIns="0" rtlCol="0" anchor="ctr">
            <a:spAutoFit/>
          </a:bodyPr>
          <a:lstStyle/>
          <a:p>
            <a:pPr marL="5776">
              <a:spcBef>
                <a:spcPts val="43"/>
              </a:spcBef>
            </a:pPr>
            <a:r>
              <a:rPr lang="en-US" spc="-225" dirty="0"/>
              <a:t>Not</a:t>
            </a:r>
            <a:r>
              <a:rPr lang="en-US" spc="-209" dirty="0"/>
              <a:t> </a:t>
            </a:r>
            <a:r>
              <a:rPr lang="en-US" spc="-155" dirty="0"/>
              <a:t>all</a:t>
            </a:r>
            <a:r>
              <a:rPr lang="en-US" spc="-207" dirty="0"/>
              <a:t> </a:t>
            </a:r>
            <a:r>
              <a:rPr lang="en-US" spc="-231" dirty="0"/>
              <a:t>data</a:t>
            </a:r>
            <a:r>
              <a:rPr lang="en-US" spc="-207" dirty="0"/>
              <a:t> </a:t>
            </a:r>
            <a:r>
              <a:rPr lang="en-US" spc="-48" dirty="0"/>
              <a:t>is</a:t>
            </a:r>
            <a:r>
              <a:rPr lang="en-US" spc="-207" dirty="0"/>
              <a:t> </a:t>
            </a:r>
            <a:r>
              <a:rPr lang="en-US" spc="-234" dirty="0"/>
              <a:t>linear</a:t>
            </a:r>
            <a:r>
              <a:rPr lang="en-US" spc="-207" dirty="0"/>
              <a:t> </a:t>
            </a:r>
            <a:r>
              <a:rPr lang="en-US" spc="-243" dirty="0"/>
              <a:t>…</a:t>
            </a:r>
            <a:endParaRPr spc="-243" dirty="0"/>
          </a:p>
        </p:txBody>
      </p:sp>
      <p:sp>
        <p:nvSpPr>
          <p:cNvPr id="3" name="object 3"/>
          <p:cNvSpPr txBox="1"/>
          <p:nvPr/>
        </p:nvSpPr>
        <p:spPr>
          <a:xfrm>
            <a:off x="722237" y="1035612"/>
            <a:ext cx="726379" cy="213238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76">
              <a:spcBef>
                <a:spcPts val="52"/>
              </a:spcBef>
            </a:pPr>
            <a:r>
              <a:rPr sz="1342" b="1" spc="68" dirty="0">
                <a:solidFill>
                  <a:srgbClr val="FF644E"/>
                </a:solidFill>
                <a:latin typeface="Trebuchet MS"/>
                <a:cs typeface="Trebuchet MS"/>
              </a:rPr>
              <a:t>REC</a:t>
            </a:r>
            <a:r>
              <a:rPr sz="1342" b="1" spc="-180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59" dirty="0">
                <a:solidFill>
                  <a:srgbClr val="FF644E"/>
                </a:solidFill>
                <a:latin typeface="Trebuchet MS"/>
                <a:cs typeface="Trebuchet MS"/>
              </a:rPr>
              <a:t>ALL </a:t>
            </a:r>
            <a:endParaRPr sz="1342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4448" y="2322028"/>
            <a:ext cx="4716608" cy="210054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20379" y="5226926"/>
            <a:ext cx="7800993" cy="299250"/>
          </a:xfrm>
          <a:prstGeom prst="rect">
            <a:avLst/>
          </a:prstGeom>
          <a:ln w="52354">
            <a:solidFill>
              <a:srgbClr val="000000"/>
            </a:solidFill>
          </a:ln>
        </p:spPr>
        <p:txBody>
          <a:bodyPr vert="horz" wrap="square" lIns="0" tIns="12130" rIns="0" bIns="0" rtlCol="0">
            <a:spAutoFit/>
          </a:bodyPr>
          <a:lstStyle/>
          <a:p>
            <a:pPr algn="ctr">
              <a:spcBef>
                <a:spcPts val="96"/>
              </a:spcBef>
            </a:pPr>
            <a:r>
              <a:rPr lang="en-US" sz="1865" spc="-102" dirty="0">
                <a:solidFill>
                  <a:srgbClr val="0070C0"/>
                </a:solidFill>
                <a:latin typeface="Trebuchet MS"/>
                <a:cs typeface="Trebuchet MS"/>
              </a:rPr>
              <a:t>Deeper models can learn non-linear hypotheses….</a:t>
            </a:r>
            <a:endParaRPr sz="1865" dirty="0">
              <a:solidFill>
                <a:srgbClr val="0070C0"/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0936" y="1248850"/>
            <a:ext cx="3392564" cy="621095"/>
          </a:xfrm>
          <a:prstGeom prst="rect">
            <a:avLst/>
          </a:prstGeom>
        </p:spPr>
        <p:txBody>
          <a:bodyPr vert="horz" wrap="square" lIns="0" tIns="5488" rIns="0" bIns="0" rtlCol="0" anchor="ctr">
            <a:spAutoFit/>
          </a:bodyPr>
          <a:lstStyle/>
          <a:p>
            <a:pPr marL="5776">
              <a:spcBef>
                <a:spcPts val="43"/>
              </a:spcBef>
            </a:pPr>
            <a:r>
              <a:rPr spc="-182" dirty="0"/>
              <a:t>Non-</a:t>
            </a:r>
            <a:r>
              <a:rPr spc="-257" dirty="0"/>
              <a:t>convexity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2237" y="1035612"/>
            <a:ext cx="1113685" cy="213238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76">
              <a:spcBef>
                <a:spcPts val="52"/>
              </a:spcBef>
            </a:pPr>
            <a:r>
              <a:rPr sz="1342" b="1" spc="43" dirty="0">
                <a:solidFill>
                  <a:srgbClr val="FF644E"/>
                </a:solidFill>
                <a:latin typeface="Trebuchet MS"/>
                <a:cs typeface="Trebuchet MS"/>
              </a:rPr>
              <a:t>CH</a:t>
            </a:r>
            <a:r>
              <a:rPr sz="1342" b="1" spc="-168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41" dirty="0">
                <a:solidFill>
                  <a:srgbClr val="FF644E"/>
                </a:solidFill>
                <a:latin typeface="Trebuchet MS"/>
                <a:cs typeface="Trebuchet MS"/>
              </a:rPr>
              <a:t>AL</a:t>
            </a:r>
            <a:r>
              <a:rPr sz="1342" b="1" spc="-177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-100" dirty="0">
                <a:solidFill>
                  <a:srgbClr val="FF644E"/>
                </a:solidFill>
                <a:latin typeface="Trebuchet MS"/>
                <a:cs typeface="Trebuchet MS"/>
              </a:rPr>
              <a:t>L</a:t>
            </a:r>
            <a:r>
              <a:rPr sz="1342" b="1" spc="-177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-109" dirty="0">
                <a:solidFill>
                  <a:srgbClr val="FF644E"/>
                </a:solidFill>
                <a:latin typeface="Trebuchet MS"/>
                <a:cs typeface="Trebuchet MS"/>
              </a:rPr>
              <a:t>E</a:t>
            </a:r>
            <a:r>
              <a:rPr sz="1342" b="1" spc="-180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43" dirty="0">
                <a:solidFill>
                  <a:srgbClr val="FF644E"/>
                </a:solidFill>
                <a:latin typeface="Trebuchet MS"/>
                <a:cs typeface="Trebuchet MS"/>
              </a:rPr>
              <a:t>NGE </a:t>
            </a:r>
            <a:endParaRPr sz="1342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2488" y="5000993"/>
            <a:ext cx="6956487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193495" indent="-187719">
              <a:spcBef>
                <a:spcPts val="55"/>
              </a:spcBef>
              <a:buChar char="•"/>
              <a:tabLst>
                <a:tab pos="193495" algn="l"/>
              </a:tabLst>
            </a:pPr>
            <a:r>
              <a:rPr sz="1865" spc="-89" dirty="0">
                <a:latin typeface="Trebuchet MS"/>
                <a:cs typeface="Trebuchet MS"/>
              </a:rPr>
              <a:t>Saddle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41" dirty="0">
                <a:latin typeface="Trebuchet MS"/>
                <a:cs typeface="Trebuchet MS"/>
              </a:rPr>
              <a:t>point: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91" dirty="0">
                <a:latin typeface="Trebuchet MS"/>
                <a:cs typeface="Trebuchet MS"/>
              </a:rPr>
              <a:t>a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07" dirty="0">
                <a:latin typeface="Trebuchet MS"/>
                <a:cs typeface="Trebuchet MS"/>
              </a:rPr>
              <a:t>stationary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21" dirty="0">
                <a:latin typeface="Trebuchet MS"/>
                <a:cs typeface="Trebuchet MS"/>
              </a:rPr>
              <a:t>point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48" dirty="0">
                <a:latin typeface="Trebuchet MS"/>
                <a:cs typeface="Trebuchet MS"/>
              </a:rPr>
              <a:t>that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9" dirty="0">
                <a:latin typeface="Trebuchet MS"/>
                <a:cs typeface="Trebuchet MS"/>
              </a:rPr>
              <a:t>is</a:t>
            </a:r>
            <a:r>
              <a:rPr sz="1865" spc="-125" dirty="0">
                <a:latin typeface="Trebuchet MS"/>
                <a:cs typeface="Trebuchet MS"/>
              </a:rPr>
              <a:t> not </a:t>
            </a:r>
            <a:r>
              <a:rPr sz="1865" spc="-91" dirty="0">
                <a:latin typeface="Trebuchet MS"/>
                <a:cs typeface="Trebuchet MS"/>
              </a:rPr>
              <a:t>a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96" dirty="0">
                <a:latin typeface="Trebuchet MS"/>
                <a:cs typeface="Trebuchet MS"/>
              </a:rPr>
              <a:t>local</a:t>
            </a:r>
            <a:r>
              <a:rPr sz="1865" spc="-125" dirty="0">
                <a:latin typeface="Trebuchet MS"/>
                <a:cs typeface="Trebuchet MS"/>
              </a:rPr>
              <a:t> minimum </a:t>
            </a:r>
            <a:r>
              <a:rPr sz="1865" spc="-114" dirty="0">
                <a:latin typeface="Trebuchet MS"/>
                <a:cs typeface="Trebuchet MS"/>
              </a:rPr>
              <a:t>or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25" dirty="0">
                <a:latin typeface="Trebuchet MS"/>
                <a:cs typeface="Trebuchet MS"/>
              </a:rPr>
              <a:t>maximum</a:t>
            </a:r>
            <a:endParaRPr sz="1865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3108" y="1041242"/>
            <a:ext cx="3577870" cy="281912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90936" y="3687975"/>
            <a:ext cx="6086276" cy="648935"/>
          </a:xfrm>
          <a:prstGeom prst="rect">
            <a:avLst/>
          </a:prstGeom>
        </p:spPr>
        <p:txBody>
          <a:bodyPr vert="horz" wrap="square" lIns="0" tIns="24550" rIns="0" bIns="0" rtlCol="0">
            <a:spAutoFit/>
          </a:bodyPr>
          <a:lstStyle/>
          <a:p>
            <a:pPr marL="17328">
              <a:spcBef>
                <a:spcPts val="193"/>
              </a:spcBef>
            </a:pPr>
            <a:r>
              <a:rPr sz="1865" spc="-102" dirty="0">
                <a:latin typeface="Trebuchet MS"/>
                <a:cs typeface="Trebuchet MS"/>
              </a:rPr>
              <a:t>Types</a:t>
            </a:r>
            <a:r>
              <a:rPr sz="1865" spc="-118" dirty="0">
                <a:latin typeface="Trebuchet MS"/>
                <a:cs typeface="Trebuchet MS"/>
              </a:rPr>
              <a:t> </a:t>
            </a:r>
            <a:r>
              <a:rPr sz="1865" spc="-86" dirty="0">
                <a:latin typeface="Trebuchet MS"/>
                <a:cs typeface="Trebuchet MS"/>
              </a:rPr>
              <a:t>of</a:t>
            </a:r>
            <a:r>
              <a:rPr sz="1865" spc="-116" dirty="0">
                <a:latin typeface="Trebuchet MS"/>
                <a:cs typeface="Trebuchet MS"/>
              </a:rPr>
              <a:t> </a:t>
            </a:r>
            <a:r>
              <a:rPr sz="1865" spc="-107" dirty="0">
                <a:latin typeface="Trebuchet MS"/>
                <a:cs typeface="Trebuchet MS"/>
              </a:rPr>
              <a:t>stationary</a:t>
            </a:r>
            <a:r>
              <a:rPr sz="1865" spc="-116" dirty="0">
                <a:latin typeface="Trebuchet MS"/>
                <a:cs typeface="Trebuchet MS"/>
              </a:rPr>
              <a:t> </a:t>
            </a:r>
            <a:r>
              <a:rPr sz="1865" spc="-32" dirty="0">
                <a:latin typeface="Trebuchet MS"/>
                <a:cs typeface="Trebuchet MS"/>
              </a:rPr>
              <a:t>points:</a:t>
            </a:r>
            <a:endParaRPr sz="1865">
              <a:latin typeface="Trebuchet MS"/>
              <a:cs typeface="Trebuchet MS"/>
            </a:endParaRPr>
          </a:p>
          <a:p>
            <a:pPr marL="205047" indent="-187719">
              <a:spcBef>
                <a:spcPts val="152"/>
              </a:spcBef>
              <a:buChar char="•"/>
              <a:tabLst>
                <a:tab pos="205047" algn="l"/>
                <a:tab pos="3937183" algn="l"/>
                <a:tab pos="4653113" algn="l"/>
                <a:tab pos="5160243" algn="l"/>
              </a:tabLst>
            </a:pPr>
            <a:r>
              <a:rPr sz="1865" spc="-118" dirty="0">
                <a:latin typeface="Trebuchet MS"/>
                <a:cs typeface="Trebuchet MS"/>
              </a:rPr>
              <a:t>Global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41" dirty="0">
                <a:latin typeface="Trebuchet MS"/>
                <a:cs typeface="Trebuchet MS"/>
              </a:rPr>
              <a:t>minimum:</a:t>
            </a:r>
            <a:r>
              <a:rPr sz="1865" spc="-121" dirty="0">
                <a:latin typeface="Trebuchet MS"/>
                <a:cs typeface="Trebuchet MS"/>
              </a:rPr>
              <a:t> </a:t>
            </a:r>
            <a:r>
              <a:rPr sz="1865" spc="-114" dirty="0">
                <a:latin typeface="Trebuchet MS"/>
                <a:cs typeface="Trebuchet MS"/>
              </a:rPr>
              <a:t>actual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55" dirty="0">
                <a:latin typeface="Trebuchet MS"/>
                <a:cs typeface="Trebuchet MS"/>
              </a:rPr>
              <a:t>minimizer,</a:t>
            </a:r>
            <a:r>
              <a:rPr sz="1865" spc="-121" dirty="0">
                <a:latin typeface="Trebuchet MS"/>
                <a:cs typeface="Trebuchet MS"/>
              </a:rPr>
              <a:t> </a:t>
            </a:r>
            <a:r>
              <a:rPr sz="1865" spc="-197" dirty="0">
                <a:latin typeface="Trebuchet MS"/>
                <a:cs typeface="Trebuchet MS"/>
              </a:rPr>
              <a:t>i.e.,</a:t>
            </a:r>
            <a:r>
              <a:rPr sz="1865" dirty="0">
                <a:latin typeface="Trebuchet MS"/>
                <a:cs typeface="Trebuchet MS"/>
              </a:rPr>
              <a:t>	</a:t>
            </a:r>
            <a:r>
              <a:rPr sz="3036" i="1" baseline="8739" dirty="0">
                <a:latin typeface="Times New Roman"/>
                <a:cs typeface="Times New Roman"/>
              </a:rPr>
              <a:t>f</a:t>
            </a:r>
            <a:r>
              <a:rPr sz="3036" baseline="8739" dirty="0">
                <a:latin typeface="Cambria"/>
                <a:cs typeface="Cambria"/>
              </a:rPr>
              <a:t>(</a:t>
            </a:r>
            <a:r>
              <a:rPr sz="3036" b="1" baseline="8739" dirty="0">
                <a:latin typeface="Times New Roman"/>
                <a:cs typeface="Times New Roman"/>
              </a:rPr>
              <a:t>x</a:t>
            </a:r>
            <a:r>
              <a:rPr sz="3036" baseline="10611" dirty="0">
                <a:latin typeface="Cambria"/>
                <a:cs typeface="Cambria"/>
              </a:rPr>
              <a:t>̂</a:t>
            </a:r>
            <a:r>
              <a:rPr sz="3036" baseline="8739" dirty="0">
                <a:latin typeface="Cambria"/>
                <a:cs typeface="Cambria"/>
              </a:rPr>
              <a:t>)</a:t>
            </a:r>
            <a:r>
              <a:rPr sz="3036" spc="-51" baseline="8739" dirty="0">
                <a:latin typeface="Cambria"/>
                <a:cs typeface="Cambria"/>
              </a:rPr>
              <a:t> </a:t>
            </a:r>
            <a:r>
              <a:rPr sz="3036" spc="351" baseline="8739" dirty="0">
                <a:latin typeface="Cambria"/>
                <a:cs typeface="Cambria"/>
              </a:rPr>
              <a:t>≤</a:t>
            </a:r>
            <a:r>
              <a:rPr sz="3036" baseline="8739" dirty="0">
                <a:latin typeface="Cambria"/>
                <a:cs typeface="Cambria"/>
              </a:rPr>
              <a:t>	</a:t>
            </a:r>
            <a:r>
              <a:rPr sz="3036" i="1" spc="-14" baseline="8739" dirty="0">
                <a:latin typeface="Times New Roman"/>
                <a:cs typeface="Times New Roman"/>
              </a:rPr>
              <a:t>f</a:t>
            </a:r>
            <a:r>
              <a:rPr sz="3036" spc="-14" baseline="8739" dirty="0">
                <a:latin typeface="Cambria"/>
                <a:cs typeface="Cambria"/>
              </a:rPr>
              <a:t>(</a:t>
            </a:r>
            <a:r>
              <a:rPr sz="3036" b="1" spc="-14" baseline="8739" dirty="0">
                <a:latin typeface="Times New Roman"/>
                <a:cs typeface="Times New Roman"/>
              </a:rPr>
              <a:t>x</a:t>
            </a:r>
            <a:r>
              <a:rPr sz="3036" spc="-14" baseline="8739" dirty="0">
                <a:latin typeface="Cambria"/>
                <a:cs typeface="Cambria"/>
              </a:rPr>
              <a:t>)</a:t>
            </a:r>
            <a:r>
              <a:rPr sz="3036" baseline="8739" dirty="0">
                <a:latin typeface="Cambria"/>
                <a:cs typeface="Cambria"/>
              </a:rPr>
              <a:t>	</a:t>
            </a:r>
            <a:r>
              <a:rPr sz="3036" spc="-211" baseline="8739" dirty="0">
                <a:latin typeface="Cambria"/>
                <a:cs typeface="Cambria"/>
              </a:rPr>
              <a:t>∀</a:t>
            </a:r>
            <a:r>
              <a:rPr sz="3036" spc="-163" baseline="8739" dirty="0">
                <a:latin typeface="Cambria"/>
                <a:cs typeface="Cambria"/>
              </a:rPr>
              <a:t> </a:t>
            </a:r>
            <a:r>
              <a:rPr sz="3036" b="1" baseline="8739" dirty="0">
                <a:latin typeface="Times New Roman"/>
                <a:cs typeface="Times New Roman"/>
              </a:rPr>
              <a:t>x</a:t>
            </a:r>
            <a:r>
              <a:rPr sz="3036" b="1" spc="81" baseline="8739" dirty="0">
                <a:latin typeface="Times New Roman"/>
                <a:cs typeface="Times New Roman"/>
              </a:rPr>
              <a:t> </a:t>
            </a:r>
            <a:r>
              <a:rPr sz="3036" spc="167" baseline="8739" dirty="0">
                <a:latin typeface="Cambria"/>
                <a:cs typeface="Cambria"/>
              </a:rPr>
              <a:t>∈</a:t>
            </a:r>
            <a:r>
              <a:rPr sz="3036" spc="177" baseline="8739" dirty="0">
                <a:latin typeface="Cambria"/>
                <a:cs typeface="Cambria"/>
              </a:rPr>
              <a:t> </a:t>
            </a:r>
            <a:r>
              <a:rPr sz="3036" spc="-17" baseline="8739" dirty="0">
                <a:latin typeface="Cambria"/>
                <a:cs typeface="Cambria"/>
              </a:rPr>
              <a:t>ℝ</a:t>
            </a:r>
            <a:r>
              <a:rPr sz="2149" i="1" spc="-17" baseline="41446" dirty="0">
                <a:latin typeface="Times New Roman"/>
                <a:cs typeface="Times New Roman"/>
              </a:rPr>
              <a:t>k</a:t>
            </a:r>
            <a:endParaRPr sz="2149" baseline="41446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0936" y="4317798"/>
            <a:ext cx="4109312" cy="659729"/>
          </a:xfrm>
          <a:prstGeom prst="rect">
            <a:avLst/>
          </a:prstGeom>
        </p:spPr>
        <p:txBody>
          <a:bodyPr vert="horz" wrap="square" lIns="0" tIns="23683" rIns="0" bIns="0" rtlCol="0">
            <a:spAutoFit/>
          </a:bodyPr>
          <a:lstStyle/>
          <a:p>
            <a:pPr marL="205047" indent="-187719">
              <a:spcBef>
                <a:spcPts val="186"/>
              </a:spcBef>
              <a:buChar char="•"/>
              <a:tabLst>
                <a:tab pos="205047" algn="l"/>
                <a:tab pos="1816828" algn="l"/>
                <a:tab pos="2533047" algn="l"/>
                <a:tab pos="3040177" algn="l"/>
                <a:tab pos="4019491" algn="l"/>
              </a:tabLst>
            </a:pPr>
            <a:r>
              <a:rPr sz="1865" spc="-80" dirty="0">
                <a:latin typeface="Trebuchet MS"/>
                <a:cs typeface="Trebuchet MS"/>
              </a:rPr>
              <a:t>Local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46" dirty="0">
                <a:latin typeface="Trebuchet MS"/>
                <a:cs typeface="Trebuchet MS"/>
              </a:rPr>
              <a:t>minimum:</a:t>
            </a:r>
            <a:r>
              <a:rPr sz="1865" dirty="0">
                <a:latin typeface="Trebuchet MS"/>
                <a:cs typeface="Trebuchet MS"/>
              </a:rPr>
              <a:t>	</a:t>
            </a:r>
            <a:r>
              <a:rPr sz="3036" i="1" baseline="-1872" dirty="0">
                <a:latin typeface="Times New Roman"/>
                <a:cs typeface="Times New Roman"/>
              </a:rPr>
              <a:t>f</a:t>
            </a:r>
            <a:r>
              <a:rPr sz="3036" baseline="-1872" dirty="0">
                <a:latin typeface="Cambria"/>
                <a:cs typeface="Cambria"/>
              </a:rPr>
              <a:t>(</a:t>
            </a:r>
            <a:r>
              <a:rPr sz="3036" b="1" baseline="-1872" dirty="0">
                <a:latin typeface="Times New Roman"/>
                <a:cs typeface="Times New Roman"/>
              </a:rPr>
              <a:t>x</a:t>
            </a:r>
            <a:r>
              <a:rPr sz="2024" dirty="0">
                <a:latin typeface="Cambria"/>
                <a:cs typeface="Cambria"/>
              </a:rPr>
              <a:t>̂</a:t>
            </a:r>
            <a:r>
              <a:rPr sz="3036" baseline="-1872" dirty="0">
                <a:latin typeface="Cambria"/>
                <a:cs typeface="Cambria"/>
              </a:rPr>
              <a:t>)</a:t>
            </a:r>
            <a:r>
              <a:rPr sz="3036" spc="-51" baseline="-1872" dirty="0">
                <a:latin typeface="Cambria"/>
                <a:cs typeface="Cambria"/>
              </a:rPr>
              <a:t> </a:t>
            </a:r>
            <a:r>
              <a:rPr sz="3036" spc="351" baseline="-1872" dirty="0">
                <a:latin typeface="Cambria"/>
                <a:cs typeface="Cambria"/>
              </a:rPr>
              <a:t>≤</a:t>
            </a:r>
            <a:r>
              <a:rPr sz="3036" baseline="-1872" dirty="0">
                <a:latin typeface="Cambria"/>
                <a:cs typeface="Cambria"/>
              </a:rPr>
              <a:t>	</a:t>
            </a:r>
            <a:r>
              <a:rPr sz="3036" i="1" spc="-14" baseline="-1872" dirty="0">
                <a:latin typeface="Times New Roman"/>
                <a:cs typeface="Times New Roman"/>
              </a:rPr>
              <a:t>f</a:t>
            </a:r>
            <a:r>
              <a:rPr sz="3036" spc="-14" baseline="-1872" dirty="0">
                <a:latin typeface="Cambria"/>
                <a:cs typeface="Cambria"/>
              </a:rPr>
              <a:t>(</a:t>
            </a:r>
            <a:r>
              <a:rPr sz="3036" b="1" spc="-14" baseline="-1872" dirty="0">
                <a:latin typeface="Times New Roman"/>
                <a:cs typeface="Times New Roman"/>
              </a:rPr>
              <a:t>x</a:t>
            </a:r>
            <a:r>
              <a:rPr sz="3036" spc="-14" baseline="-1872" dirty="0">
                <a:latin typeface="Cambria"/>
                <a:cs typeface="Cambria"/>
              </a:rPr>
              <a:t>)</a:t>
            </a:r>
            <a:r>
              <a:rPr sz="3036" baseline="-1872" dirty="0">
                <a:latin typeface="Cambria"/>
                <a:cs typeface="Cambria"/>
              </a:rPr>
              <a:t>	</a:t>
            </a:r>
            <a:r>
              <a:rPr sz="3036" spc="-211" baseline="-1872" dirty="0">
                <a:latin typeface="Cambria"/>
                <a:cs typeface="Cambria"/>
              </a:rPr>
              <a:t>∀</a:t>
            </a:r>
            <a:r>
              <a:rPr sz="3036" spc="-163" baseline="-1872" dirty="0">
                <a:latin typeface="Cambria"/>
                <a:cs typeface="Cambria"/>
              </a:rPr>
              <a:t> </a:t>
            </a:r>
            <a:r>
              <a:rPr sz="3036" b="1" baseline="-1872" dirty="0">
                <a:latin typeface="Times New Roman"/>
                <a:cs typeface="Times New Roman"/>
              </a:rPr>
              <a:t>x</a:t>
            </a:r>
            <a:r>
              <a:rPr sz="3036" b="1" spc="81" baseline="-1872" dirty="0">
                <a:latin typeface="Times New Roman"/>
                <a:cs typeface="Times New Roman"/>
              </a:rPr>
              <a:t> </a:t>
            </a:r>
            <a:r>
              <a:rPr sz="3036" spc="167" baseline="-1872" dirty="0">
                <a:latin typeface="Cambria"/>
                <a:cs typeface="Cambria"/>
              </a:rPr>
              <a:t>∈</a:t>
            </a:r>
            <a:r>
              <a:rPr sz="3036" spc="177" baseline="-1872" dirty="0">
                <a:latin typeface="Cambria"/>
                <a:cs typeface="Cambria"/>
              </a:rPr>
              <a:t> </a:t>
            </a:r>
            <a:r>
              <a:rPr sz="3036" spc="-17" baseline="-1872" dirty="0">
                <a:latin typeface="Cambria"/>
                <a:cs typeface="Cambria"/>
              </a:rPr>
              <a:t>ℝ</a:t>
            </a:r>
            <a:r>
              <a:rPr sz="2149" i="1" spc="-17" baseline="26455" dirty="0">
                <a:latin typeface="Times New Roman"/>
                <a:cs typeface="Times New Roman"/>
              </a:rPr>
              <a:t>k</a:t>
            </a:r>
            <a:r>
              <a:rPr sz="2149" i="1" baseline="26455" dirty="0">
                <a:latin typeface="Times New Roman"/>
                <a:cs typeface="Times New Roman"/>
              </a:rPr>
              <a:t>	</a:t>
            </a:r>
            <a:r>
              <a:rPr sz="3036" spc="3" baseline="-1872" dirty="0">
                <a:latin typeface="Cambria"/>
                <a:cs typeface="Cambria"/>
              </a:rPr>
              <a:t>:</a:t>
            </a:r>
            <a:endParaRPr sz="3036" baseline="-1872">
              <a:latin typeface="Cambria"/>
              <a:cs typeface="Cambria"/>
            </a:endParaRPr>
          </a:p>
          <a:p>
            <a:pPr marL="205047" indent="-187719">
              <a:spcBef>
                <a:spcPts val="143"/>
              </a:spcBef>
              <a:buChar char="•"/>
              <a:tabLst>
                <a:tab pos="205047" algn="l"/>
                <a:tab pos="3040754" algn="l"/>
                <a:tab pos="4020068" algn="l"/>
              </a:tabLst>
            </a:pPr>
            <a:r>
              <a:rPr sz="1865" spc="-80" dirty="0">
                <a:latin typeface="Trebuchet MS"/>
                <a:cs typeface="Trebuchet MS"/>
              </a:rPr>
              <a:t>Local</a:t>
            </a:r>
            <a:r>
              <a:rPr sz="1865" spc="-134" dirty="0">
                <a:latin typeface="Trebuchet MS"/>
                <a:cs typeface="Trebuchet MS"/>
              </a:rPr>
              <a:t> </a:t>
            </a:r>
            <a:r>
              <a:rPr sz="1865" spc="-136" dirty="0">
                <a:latin typeface="Trebuchet MS"/>
                <a:cs typeface="Trebuchet MS"/>
              </a:rPr>
              <a:t>maximum:</a:t>
            </a:r>
            <a:r>
              <a:rPr sz="1865" spc="32" dirty="0">
                <a:latin typeface="Trebuchet MS"/>
                <a:cs typeface="Trebuchet MS"/>
              </a:rPr>
              <a:t> </a:t>
            </a:r>
            <a:r>
              <a:rPr sz="3036" i="1" baseline="-1872" dirty="0">
                <a:latin typeface="Times New Roman"/>
                <a:cs typeface="Times New Roman"/>
              </a:rPr>
              <a:t>f</a:t>
            </a:r>
            <a:r>
              <a:rPr sz="3036" baseline="-1872" dirty="0">
                <a:latin typeface="Cambria"/>
                <a:cs typeface="Cambria"/>
              </a:rPr>
              <a:t>(</a:t>
            </a:r>
            <a:r>
              <a:rPr sz="3036" b="1" baseline="-1872" dirty="0">
                <a:latin typeface="Times New Roman"/>
                <a:cs typeface="Times New Roman"/>
              </a:rPr>
              <a:t>x</a:t>
            </a:r>
            <a:r>
              <a:rPr sz="2024" dirty="0">
                <a:latin typeface="Cambria"/>
                <a:cs typeface="Cambria"/>
              </a:rPr>
              <a:t>̂</a:t>
            </a:r>
            <a:r>
              <a:rPr sz="3036" baseline="-1872" dirty="0">
                <a:latin typeface="Cambria"/>
                <a:cs typeface="Cambria"/>
              </a:rPr>
              <a:t>)</a:t>
            </a:r>
            <a:r>
              <a:rPr sz="3036" spc="123" baseline="-1872" dirty="0">
                <a:latin typeface="Cambria"/>
                <a:cs typeface="Cambria"/>
              </a:rPr>
              <a:t> </a:t>
            </a:r>
            <a:r>
              <a:rPr sz="3036" spc="385" baseline="-1872" dirty="0">
                <a:latin typeface="Cambria"/>
                <a:cs typeface="Cambria"/>
              </a:rPr>
              <a:t>≥</a:t>
            </a:r>
            <a:r>
              <a:rPr sz="3036" spc="123" baseline="-1872" dirty="0">
                <a:latin typeface="Cambria"/>
                <a:cs typeface="Cambria"/>
              </a:rPr>
              <a:t> </a:t>
            </a:r>
            <a:r>
              <a:rPr sz="3036" i="1" spc="-14" baseline="-1872" dirty="0">
                <a:latin typeface="Times New Roman"/>
                <a:cs typeface="Times New Roman"/>
              </a:rPr>
              <a:t>f</a:t>
            </a:r>
            <a:r>
              <a:rPr sz="3036" spc="-14" baseline="-1872" dirty="0">
                <a:latin typeface="Cambria"/>
                <a:cs typeface="Cambria"/>
              </a:rPr>
              <a:t>(</a:t>
            </a:r>
            <a:r>
              <a:rPr sz="3036" b="1" spc="-14" baseline="-1872" dirty="0">
                <a:latin typeface="Times New Roman"/>
                <a:cs typeface="Times New Roman"/>
              </a:rPr>
              <a:t>x</a:t>
            </a:r>
            <a:r>
              <a:rPr sz="3036" spc="-14" baseline="-1872" dirty="0">
                <a:latin typeface="Cambria"/>
                <a:cs typeface="Cambria"/>
              </a:rPr>
              <a:t>)</a:t>
            </a:r>
            <a:r>
              <a:rPr sz="3036" baseline="-1872" dirty="0">
                <a:latin typeface="Cambria"/>
                <a:cs typeface="Cambria"/>
              </a:rPr>
              <a:t>	</a:t>
            </a:r>
            <a:r>
              <a:rPr sz="3036" spc="-211" baseline="-1872" dirty="0">
                <a:latin typeface="Cambria"/>
                <a:cs typeface="Cambria"/>
              </a:rPr>
              <a:t>∀</a:t>
            </a:r>
            <a:r>
              <a:rPr sz="3036" spc="-163" baseline="-1872" dirty="0">
                <a:latin typeface="Cambria"/>
                <a:cs typeface="Cambria"/>
              </a:rPr>
              <a:t> </a:t>
            </a:r>
            <a:r>
              <a:rPr sz="3036" b="1" baseline="-1872" dirty="0">
                <a:latin typeface="Times New Roman"/>
                <a:cs typeface="Times New Roman"/>
              </a:rPr>
              <a:t>x</a:t>
            </a:r>
            <a:r>
              <a:rPr sz="3036" b="1" spc="81" baseline="-1872" dirty="0">
                <a:latin typeface="Times New Roman"/>
                <a:cs typeface="Times New Roman"/>
              </a:rPr>
              <a:t> </a:t>
            </a:r>
            <a:r>
              <a:rPr sz="3036" spc="167" baseline="-1872" dirty="0">
                <a:latin typeface="Cambria"/>
                <a:cs typeface="Cambria"/>
              </a:rPr>
              <a:t>∈</a:t>
            </a:r>
            <a:r>
              <a:rPr sz="3036" spc="177" baseline="-1872" dirty="0">
                <a:latin typeface="Cambria"/>
                <a:cs typeface="Cambria"/>
              </a:rPr>
              <a:t> </a:t>
            </a:r>
            <a:r>
              <a:rPr sz="3036" spc="-17" baseline="-1872" dirty="0">
                <a:latin typeface="Cambria"/>
                <a:cs typeface="Cambria"/>
              </a:rPr>
              <a:t>ℝ</a:t>
            </a:r>
            <a:r>
              <a:rPr sz="2149" i="1" spc="-17" baseline="26455" dirty="0">
                <a:latin typeface="Times New Roman"/>
                <a:cs typeface="Times New Roman"/>
              </a:rPr>
              <a:t>k</a:t>
            </a:r>
            <a:r>
              <a:rPr sz="2149" i="1" baseline="26455" dirty="0">
                <a:latin typeface="Times New Roman"/>
                <a:cs typeface="Times New Roman"/>
              </a:rPr>
              <a:t>	</a:t>
            </a:r>
            <a:r>
              <a:rPr sz="3036" spc="3" baseline="-1872" dirty="0">
                <a:latin typeface="Cambria"/>
                <a:cs typeface="Cambria"/>
              </a:rPr>
              <a:t>:</a:t>
            </a:r>
            <a:endParaRPr sz="3036" baseline="-1872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33710" y="4326738"/>
            <a:ext cx="1262138" cy="659729"/>
          </a:xfrm>
          <a:prstGeom prst="rect">
            <a:avLst/>
          </a:prstGeom>
        </p:spPr>
        <p:txBody>
          <a:bodyPr vert="horz" wrap="square" lIns="0" tIns="23683" rIns="0" bIns="0" rtlCol="0">
            <a:spAutoFit/>
          </a:bodyPr>
          <a:lstStyle/>
          <a:p>
            <a:pPr marL="5776">
              <a:spcBef>
                <a:spcPts val="186"/>
              </a:spcBef>
            </a:pPr>
            <a:r>
              <a:rPr sz="2024" spc="55" dirty="0">
                <a:latin typeface="Cambria"/>
                <a:cs typeface="Cambria"/>
              </a:rPr>
              <a:t>∥</a:t>
            </a:r>
            <a:r>
              <a:rPr sz="2024" b="1" spc="55" dirty="0">
                <a:latin typeface="Times New Roman"/>
                <a:cs typeface="Times New Roman"/>
              </a:rPr>
              <a:t>x</a:t>
            </a:r>
            <a:r>
              <a:rPr sz="2024" b="1" spc="-57" dirty="0">
                <a:latin typeface="Times New Roman"/>
                <a:cs typeface="Times New Roman"/>
              </a:rPr>
              <a:t> </a:t>
            </a:r>
            <a:r>
              <a:rPr sz="2024" spc="257" dirty="0">
                <a:latin typeface="Cambria"/>
                <a:cs typeface="Cambria"/>
              </a:rPr>
              <a:t>−</a:t>
            </a:r>
            <a:r>
              <a:rPr sz="2024" spc="5" dirty="0">
                <a:latin typeface="Cambria"/>
                <a:cs typeface="Cambria"/>
              </a:rPr>
              <a:t> </a:t>
            </a:r>
            <a:r>
              <a:rPr sz="2024" b="1" spc="36" dirty="0">
                <a:latin typeface="Times New Roman"/>
                <a:cs typeface="Times New Roman"/>
              </a:rPr>
              <a:t>x</a:t>
            </a:r>
            <a:r>
              <a:rPr sz="3036" spc="55" baseline="1872" dirty="0">
                <a:latin typeface="Cambria"/>
                <a:cs typeface="Cambria"/>
              </a:rPr>
              <a:t>̂</a:t>
            </a:r>
            <a:r>
              <a:rPr sz="2024" spc="36" dirty="0">
                <a:latin typeface="Cambria"/>
                <a:cs typeface="Cambria"/>
              </a:rPr>
              <a:t>∥</a:t>
            </a:r>
            <a:r>
              <a:rPr sz="2024" spc="116" dirty="0">
                <a:latin typeface="Cambria"/>
                <a:cs typeface="Cambria"/>
              </a:rPr>
              <a:t> </a:t>
            </a:r>
            <a:r>
              <a:rPr sz="2024" spc="257" dirty="0">
                <a:latin typeface="Cambria"/>
                <a:cs typeface="Cambria"/>
              </a:rPr>
              <a:t>≤</a:t>
            </a:r>
            <a:r>
              <a:rPr sz="2024" spc="118" dirty="0">
                <a:latin typeface="Cambria"/>
                <a:cs typeface="Cambria"/>
              </a:rPr>
              <a:t> </a:t>
            </a:r>
            <a:r>
              <a:rPr sz="2024" i="1" spc="57" dirty="0">
                <a:latin typeface="Times New Roman"/>
                <a:cs typeface="Times New Roman"/>
              </a:rPr>
              <a:t>ϵ</a:t>
            </a:r>
            <a:endParaRPr sz="2024">
              <a:latin typeface="Times New Roman"/>
              <a:cs typeface="Times New Roman"/>
            </a:endParaRPr>
          </a:p>
          <a:p>
            <a:pPr marL="6065">
              <a:spcBef>
                <a:spcPts val="143"/>
              </a:spcBef>
            </a:pPr>
            <a:r>
              <a:rPr sz="2024" spc="55" dirty="0">
                <a:latin typeface="Cambria"/>
                <a:cs typeface="Cambria"/>
              </a:rPr>
              <a:t>∥</a:t>
            </a:r>
            <a:r>
              <a:rPr sz="2024" b="1" spc="55" dirty="0">
                <a:latin typeface="Times New Roman"/>
                <a:cs typeface="Times New Roman"/>
              </a:rPr>
              <a:t>x</a:t>
            </a:r>
            <a:r>
              <a:rPr sz="2024" b="1" spc="-57" dirty="0">
                <a:latin typeface="Times New Roman"/>
                <a:cs typeface="Times New Roman"/>
              </a:rPr>
              <a:t> </a:t>
            </a:r>
            <a:r>
              <a:rPr sz="2024" spc="257" dirty="0">
                <a:latin typeface="Cambria"/>
                <a:cs typeface="Cambria"/>
              </a:rPr>
              <a:t>−</a:t>
            </a:r>
            <a:r>
              <a:rPr sz="2024" spc="5" dirty="0">
                <a:latin typeface="Cambria"/>
                <a:cs typeface="Cambria"/>
              </a:rPr>
              <a:t> </a:t>
            </a:r>
            <a:r>
              <a:rPr sz="2024" b="1" spc="36" dirty="0">
                <a:latin typeface="Times New Roman"/>
                <a:cs typeface="Times New Roman"/>
              </a:rPr>
              <a:t>x</a:t>
            </a:r>
            <a:r>
              <a:rPr sz="3036" spc="55" baseline="1872" dirty="0">
                <a:latin typeface="Cambria"/>
                <a:cs typeface="Cambria"/>
              </a:rPr>
              <a:t>̂</a:t>
            </a:r>
            <a:r>
              <a:rPr sz="2024" spc="36" dirty="0">
                <a:latin typeface="Cambria"/>
                <a:cs typeface="Cambria"/>
              </a:rPr>
              <a:t>∥</a:t>
            </a:r>
            <a:r>
              <a:rPr sz="2024" spc="116" dirty="0">
                <a:latin typeface="Cambria"/>
                <a:cs typeface="Cambria"/>
              </a:rPr>
              <a:t> </a:t>
            </a:r>
            <a:r>
              <a:rPr sz="2024" spc="257" dirty="0">
                <a:latin typeface="Cambria"/>
                <a:cs typeface="Cambria"/>
              </a:rPr>
              <a:t>≤</a:t>
            </a:r>
            <a:r>
              <a:rPr sz="2024" spc="118" dirty="0">
                <a:latin typeface="Cambria"/>
                <a:cs typeface="Cambria"/>
              </a:rPr>
              <a:t> </a:t>
            </a:r>
            <a:r>
              <a:rPr sz="2024" i="1" spc="57" dirty="0">
                <a:latin typeface="Times New Roman"/>
                <a:cs typeface="Times New Roman"/>
              </a:rPr>
              <a:t>ϵ</a:t>
            </a:r>
            <a:endParaRPr sz="2024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02488" y="3667493"/>
            <a:ext cx="7615571" cy="1308919"/>
          </a:xfrm>
          <a:prstGeom prst="rect">
            <a:avLst/>
          </a:prstGeom>
        </p:spPr>
        <p:txBody>
          <a:bodyPr vert="horz" wrap="square" lIns="0" tIns="45056" rIns="0" bIns="0" rtlCol="0">
            <a:spAutoFit/>
          </a:bodyPr>
          <a:lstStyle/>
          <a:p>
            <a:pPr marL="5776">
              <a:spcBef>
                <a:spcPts val="355"/>
              </a:spcBef>
            </a:pPr>
            <a:r>
              <a:rPr sz="1865" spc="-102" dirty="0">
                <a:latin typeface="Trebuchet MS"/>
                <a:cs typeface="Trebuchet MS"/>
              </a:rPr>
              <a:t>Types</a:t>
            </a:r>
            <a:r>
              <a:rPr sz="1865" spc="-118" dirty="0">
                <a:latin typeface="Trebuchet MS"/>
                <a:cs typeface="Trebuchet MS"/>
              </a:rPr>
              <a:t> </a:t>
            </a:r>
            <a:r>
              <a:rPr sz="1865" spc="-86" dirty="0">
                <a:latin typeface="Trebuchet MS"/>
                <a:cs typeface="Trebuchet MS"/>
              </a:rPr>
              <a:t>of</a:t>
            </a:r>
            <a:r>
              <a:rPr sz="1865" spc="-116" dirty="0">
                <a:latin typeface="Trebuchet MS"/>
                <a:cs typeface="Trebuchet MS"/>
              </a:rPr>
              <a:t> </a:t>
            </a:r>
            <a:r>
              <a:rPr sz="1865" spc="-107" dirty="0">
                <a:latin typeface="Trebuchet MS"/>
                <a:cs typeface="Trebuchet MS"/>
              </a:rPr>
              <a:t>stationary</a:t>
            </a:r>
            <a:r>
              <a:rPr sz="1865" spc="-116" dirty="0">
                <a:latin typeface="Trebuchet MS"/>
                <a:cs typeface="Trebuchet MS"/>
              </a:rPr>
              <a:t> </a:t>
            </a:r>
            <a:r>
              <a:rPr sz="1865" spc="-32" dirty="0">
                <a:latin typeface="Trebuchet MS"/>
                <a:cs typeface="Trebuchet MS"/>
              </a:rPr>
              <a:t>points:</a:t>
            </a:r>
            <a:endParaRPr sz="1865">
              <a:latin typeface="Trebuchet MS"/>
              <a:cs typeface="Trebuchet MS"/>
            </a:endParaRPr>
          </a:p>
          <a:p>
            <a:pPr marL="193495" indent="-187719">
              <a:spcBef>
                <a:spcPts val="312"/>
              </a:spcBef>
              <a:buChar char="•"/>
              <a:tabLst>
                <a:tab pos="193495" algn="l"/>
              </a:tabLst>
            </a:pPr>
            <a:r>
              <a:rPr sz="1865" spc="-118" dirty="0">
                <a:latin typeface="Trebuchet MS"/>
                <a:cs typeface="Trebuchet MS"/>
              </a:rPr>
              <a:t>Global</a:t>
            </a:r>
            <a:r>
              <a:rPr sz="1865" spc="-132" dirty="0">
                <a:latin typeface="Trebuchet MS"/>
                <a:cs typeface="Trebuchet MS"/>
              </a:rPr>
              <a:t> </a:t>
            </a:r>
            <a:r>
              <a:rPr sz="1865" spc="-141" dirty="0">
                <a:latin typeface="Trebuchet MS"/>
                <a:cs typeface="Trebuchet MS"/>
              </a:rPr>
              <a:t>minimum: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98" dirty="0">
                <a:latin typeface="Trebuchet MS"/>
                <a:cs typeface="Trebuchet MS"/>
              </a:rPr>
              <a:t>finding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04" dirty="0">
                <a:latin typeface="Trebuchet MS"/>
                <a:cs typeface="Trebuchet MS"/>
              </a:rPr>
              <a:t>these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9" dirty="0">
                <a:latin typeface="Trebuchet MS"/>
                <a:cs typeface="Trebuchet MS"/>
              </a:rPr>
              <a:t>is</a:t>
            </a:r>
            <a:r>
              <a:rPr sz="1865" spc="-125" dirty="0">
                <a:latin typeface="Trebuchet MS"/>
                <a:cs typeface="Trebuchet MS"/>
              </a:rPr>
              <a:t> hard </a:t>
            </a:r>
            <a:r>
              <a:rPr sz="1865" spc="-123" dirty="0">
                <a:latin typeface="Trebuchet MS"/>
                <a:cs typeface="Trebuchet MS"/>
              </a:rPr>
              <a:t>(both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09" dirty="0">
                <a:latin typeface="Trebuchet MS"/>
                <a:cs typeface="Trebuchet MS"/>
              </a:rPr>
              <a:t>in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36" dirty="0">
                <a:latin typeface="Trebuchet MS"/>
                <a:cs typeface="Trebuchet MS"/>
              </a:rPr>
              <a:t>theory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04" dirty="0">
                <a:latin typeface="Trebuchet MS"/>
                <a:cs typeface="Trebuchet MS"/>
              </a:rPr>
              <a:t>[NP-</a:t>
            </a:r>
            <a:r>
              <a:rPr sz="1865" spc="-159" dirty="0">
                <a:latin typeface="Trebuchet MS"/>
                <a:cs typeface="Trebuchet MS"/>
              </a:rPr>
              <a:t>hard]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07" dirty="0">
                <a:latin typeface="Trebuchet MS"/>
                <a:cs typeface="Trebuchet MS"/>
              </a:rPr>
              <a:t>and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09" dirty="0">
                <a:latin typeface="Trebuchet MS"/>
                <a:cs typeface="Trebuchet MS"/>
              </a:rPr>
              <a:t>in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23" dirty="0">
                <a:latin typeface="Trebuchet MS"/>
                <a:cs typeface="Trebuchet MS"/>
              </a:rPr>
              <a:t>practice)</a:t>
            </a:r>
            <a:endParaRPr sz="1865">
              <a:latin typeface="Trebuchet MS"/>
              <a:cs typeface="Trebuchet MS"/>
            </a:endParaRPr>
          </a:p>
          <a:p>
            <a:pPr marL="193495" indent="-187719">
              <a:spcBef>
                <a:spcPts val="314"/>
              </a:spcBef>
              <a:buChar char="•"/>
              <a:tabLst>
                <a:tab pos="193495" algn="l"/>
              </a:tabLst>
            </a:pPr>
            <a:r>
              <a:rPr sz="1865" spc="-80" dirty="0">
                <a:latin typeface="Trebuchet MS"/>
                <a:cs typeface="Trebuchet MS"/>
              </a:rPr>
              <a:t>Local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41" dirty="0">
                <a:latin typeface="Trebuchet MS"/>
                <a:cs typeface="Trebuchet MS"/>
              </a:rPr>
              <a:t>minimum: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86" dirty="0">
                <a:latin typeface="Trebuchet MS"/>
                <a:cs typeface="Trebuchet MS"/>
              </a:rPr>
              <a:t>can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25" dirty="0">
                <a:latin typeface="Trebuchet MS"/>
                <a:cs typeface="Trebuchet MS"/>
              </a:rPr>
              <a:t>often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96" dirty="0">
                <a:latin typeface="Trebuchet MS"/>
                <a:cs typeface="Trebuchet MS"/>
              </a:rPr>
              <a:t>still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25" dirty="0">
                <a:latin typeface="Trebuchet MS"/>
                <a:cs typeface="Trebuchet MS"/>
              </a:rPr>
              <a:t>provide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98" dirty="0">
                <a:latin typeface="Trebuchet MS"/>
                <a:cs typeface="Trebuchet MS"/>
              </a:rPr>
              <a:t>reasonable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5" dirty="0">
                <a:latin typeface="Trebuchet MS"/>
                <a:cs typeface="Trebuchet MS"/>
              </a:rPr>
              <a:t>solutions</a:t>
            </a:r>
            <a:endParaRPr sz="1865">
              <a:latin typeface="Trebuchet MS"/>
              <a:cs typeface="Trebuchet MS"/>
            </a:endParaRPr>
          </a:p>
          <a:p>
            <a:pPr marL="193495" indent="-187719">
              <a:spcBef>
                <a:spcPts val="312"/>
              </a:spcBef>
              <a:buChar char="•"/>
              <a:tabLst>
                <a:tab pos="193495" algn="l"/>
              </a:tabLst>
            </a:pPr>
            <a:r>
              <a:rPr sz="1865" spc="-89" dirty="0">
                <a:latin typeface="Trebuchet MS"/>
                <a:cs typeface="Trebuchet MS"/>
              </a:rPr>
              <a:t>Saddle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141" dirty="0">
                <a:latin typeface="Trebuchet MS"/>
                <a:cs typeface="Trebuchet MS"/>
              </a:rPr>
              <a:t>point: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143" dirty="0">
                <a:latin typeface="Trebuchet MS"/>
                <a:cs typeface="Trebuchet MS"/>
              </a:rPr>
              <a:t>want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36" dirty="0">
                <a:latin typeface="Trebuchet MS"/>
                <a:cs typeface="Trebuchet MS"/>
              </a:rPr>
              <a:t>to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107" dirty="0">
                <a:latin typeface="Trebuchet MS"/>
                <a:cs typeface="Trebuchet MS"/>
              </a:rPr>
              <a:t>avoid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5" dirty="0">
                <a:latin typeface="Trebuchet MS"/>
                <a:cs typeface="Trebuchet MS"/>
              </a:rPr>
              <a:t>these</a:t>
            </a:r>
            <a:endParaRPr sz="1865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3108" y="1041242"/>
            <a:ext cx="3577870" cy="2819127"/>
          </a:xfrm>
          <a:prstGeom prst="rect">
            <a:avLst/>
          </a:prstGeom>
        </p:spPr>
      </p:pic>
      <p:sp>
        <p:nvSpPr>
          <p:cNvPr id="8" name="object 2">
            <a:extLst>
              <a:ext uri="{FF2B5EF4-FFF2-40B4-BE49-F238E27FC236}">
                <a16:creationId xmlns:a16="http://schemas.microsoft.com/office/drawing/2014/main" id="{29C22D16-5FA7-AA43-1DB0-7A445AFF6F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0936" y="1248850"/>
            <a:ext cx="3392564" cy="621095"/>
          </a:xfrm>
          <a:prstGeom prst="rect">
            <a:avLst/>
          </a:prstGeom>
        </p:spPr>
        <p:txBody>
          <a:bodyPr vert="horz" wrap="square" lIns="0" tIns="5488" rIns="0" bIns="0" rtlCol="0" anchor="ctr">
            <a:spAutoFit/>
          </a:bodyPr>
          <a:lstStyle/>
          <a:p>
            <a:pPr marL="5776">
              <a:spcBef>
                <a:spcPts val="43"/>
              </a:spcBef>
            </a:pPr>
            <a:r>
              <a:rPr spc="-182" dirty="0"/>
              <a:t>Non-</a:t>
            </a:r>
            <a:r>
              <a:rPr spc="-257" dirty="0"/>
              <a:t>convexity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FE773748-CC12-60D6-EEF3-746C65693921}"/>
              </a:ext>
            </a:extLst>
          </p:cNvPr>
          <p:cNvSpPr txBox="1"/>
          <p:nvPr/>
        </p:nvSpPr>
        <p:spPr>
          <a:xfrm>
            <a:off x="722237" y="1035612"/>
            <a:ext cx="1113685" cy="213238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76">
              <a:spcBef>
                <a:spcPts val="52"/>
              </a:spcBef>
            </a:pPr>
            <a:r>
              <a:rPr sz="1342" b="1" spc="43" dirty="0">
                <a:solidFill>
                  <a:srgbClr val="FF644E"/>
                </a:solidFill>
                <a:latin typeface="Trebuchet MS"/>
                <a:cs typeface="Trebuchet MS"/>
              </a:rPr>
              <a:t>CH</a:t>
            </a:r>
            <a:r>
              <a:rPr sz="1342" b="1" spc="-168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41" dirty="0">
                <a:solidFill>
                  <a:srgbClr val="FF644E"/>
                </a:solidFill>
                <a:latin typeface="Trebuchet MS"/>
                <a:cs typeface="Trebuchet MS"/>
              </a:rPr>
              <a:t>AL</a:t>
            </a:r>
            <a:r>
              <a:rPr sz="1342" b="1" spc="-177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-100" dirty="0">
                <a:solidFill>
                  <a:srgbClr val="FF644E"/>
                </a:solidFill>
                <a:latin typeface="Trebuchet MS"/>
                <a:cs typeface="Trebuchet MS"/>
              </a:rPr>
              <a:t>L</a:t>
            </a:r>
            <a:r>
              <a:rPr sz="1342" b="1" spc="-177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-109" dirty="0">
                <a:solidFill>
                  <a:srgbClr val="FF644E"/>
                </a:solidFill>
                <a:latin typeface="Trebuchet MS"/>
                <a:cs typeface="Trebuchet MS"/>
              </a:rPr>
              <a:t>E</a:t>
            </a:r>
            <a:r>
              <a:rPr sz="1342" b="1" spc="-180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43" dirty="0">
                <a:solidFill>
                  <a:srgbClr val="FF644E"/>
                </a:solidFill>
                <a:latin typeface="Trebuchet MS"/>
                <a:cs typeface="Trebuchet MS"/>
              </a:rPr>
              <a:t>NGE </a:t>
            </a:r>
            <a:endParaRPr sz="1342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3108" y="1041242"/>
            <a:ext cx="3577870" cy="281912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02488" y="2657843"/>
            <a:ext cx="3014978" cy="1889192"/>
          </a:xfrm>
          <a:prstGeom prst="rect">
            <a:avLst/>
          </a:prstGeom>
        </p:spPr>
        <p:txBody>
          <a:bodyPr vert="horz" wrap="square" lIns="0" tIns="22817" rIns="0" bIns="0" rtlCol="0">
            <a:spAutoFit/>
          </a:bodyPr>
          <a:lstStyle/>
          <a:p>
            <a:pPr marL="5776" marR="726905">
              <a:lnSpc>
                <a:spcPts val="2174"/>
              </a:lnSpc>
              <a:spcBef>
                <a:spcPts val="180"/>
              </a:spcBef>
            </a:pPr>
            <a:r>
              <a:rPr sz="1865" spc="-141" dirty="0">
                <a:latin typeface="Trebuchet MS"/>
                <a:cs typeface="Trebuchet MS"/>
              </a:rPr>
              <a:t>What</a:t>
            </a:r>
            <a:r>
              <a:rPr sz="1865" spc="-116" dirty="0">
                <a:latin typeface="Trebuchet MS"/>
                <a:cs typeface="Trebuchet MS"/>
              </a:rPr>
              <a:t> </a:t>
            </a:r>
            <a:r>
              <a:rPr sz="1865" spc="-84" dirty="0">
                <a:latin typeface="Trebuchet MS"/>
                <a:cs typeface="Trebuchet MS"/>
              </a:rPr>
              <a:t>makes</a:t>
            </a:r>
            <a:r>
              <a:rPr sz="1865" spc="-116" dirty="0">
                <a:latin typeface="Trebuchet MS"/>
                <a:cs typeface="Trebuchet MS"/>
              </a:rPr>
              <a:t> </a:t>
            </a:r>
            <a:r>
              <a:rPr sz="1865" spc="-107" dirty="0">
                <a:latin typeface="Trebuchet MS"/>
                <a:cs typeface="Trebuchet MS"/>
              </a:rPr>
              <a:t>non-</a:t>
            </a:r>
            <a:r>
              <a:rPr sz="1865" spc="-127" dirty="0">
                <a:latin typeface="Trebuchet MS"/>
                <a:cs typeface="Trebuchet MS"/>
              </a:rPr>
              <a:t>convex </a:t>
            </a:r>
            <a:r>
              <a:rPr sz="1865" spc="-116" dirty="0">
                <a:latin typeface="Trebuchet MS"/>
                <a:cs typeface="Trebuchet MS"/>
              </a:rPr>
              <a:t>optimization</a:t>
            </a:r>
            <a:r>
              <a:rPr sz="1865" spc="-102" dirty="0">
                <a:latin typeface="Trebuchet MS"/>
                <a:cs typeface="Trebuchet MS"/>
              </a:rPr>
              <a:t> </a:t>
            </a:r>
            <a:r>
              <a:rPr sz="1865" spc="-45" dirty="0">
                <a:latin typeface="Trebuchet MS"/>
                <a:cs typeface="Trebuchet MS"/>
              </a:rPr>
              <a:t>difficult?</a:t>
            </a:r>
            <a:endParaRPr sz="1865">
              <a:latin typeface="Trebuchet MS"/>
              <a:cs typeface="Trebuchet MS"/>
            </a:endParaRPr>
          </a:p>
          <a:p>
            <a:pPr marL="193495" indent="-187719">
              <a:spcBef>
                <a:spcPts val="252"/>
              </a:spcBef>
              <a:buChar char="•"/>
              <a:tabLst>
                <a:tab pos="193495" algn="l"/>
              </a:tabLst>
            </a:pPr>
            <a:r>
              <a:rPr sz="1865" spc="-123" dirty="0">
                <a:latin typeface="Trebuchet MS"/>
                <a:cs typeface="Trebuchet MS"/>
              </a:rPr>
              <a:t>Potentially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23" dirty="0">
                <a:latin typeface="Trebuchet MS"/>
                <a:cs typeface="Trebuchet MS"/>
              </a:rPr>
              <a:t>many </a:t>
            </a:r>
            <a:r>
              <a:rPr sz="1865" spc="-96" dirty="0">
                <a:latin typeface="Trebuchet MS"/>
                <a:cs typeface="Trebuchet MS"/>
              </a:rPr>
              <a:t>local</a:t>
            </a:r>
            <a:r>
              <a:rPr sz="1865" spc="-123" dirty="0">
                <a:latin typeface="Trebuchet MS"/>
                <a:cs typeface="Trebuchet MS"/>
              </a:rPr>
              <a:t> minima</a:t>
            </a:r>
            <a:endParaRPr sz="1865">
              <a:latin typeface="Trebuchet MS"/>
              <a:cs typeface="Trebuchet MS"/>
            </a:endParaRPr>
          </a:p>
          <a:p>
            <a:pPr marL="193495" indent="-187719">
              <a:spcBef>
                <a:spcPts val="312"/>
              </a:spcBef>
              <a:buChar char="•"/>
              <a:tabLst>
                <a:tab pos="193495" algn="l"/>
              </a:tabLst>
            </a:pPr>
            <a:r>
              <a:rPr sz="1865" spc="-89" dirty="0">
                <a:latin typeface="Trebuchet MS"/>
                <a:cs typeface="Trebuchet MS"/>
              </a:rPr>
              <a:t>Saddle</a:t>
            </a:r>
            <a:r>
              <a:rPr sz="1865" spc="-118" dirty="0">
                <a:latin typeface="Trebuchet MS"/>
                <a:cs typeface="Trebuchet MS"/>
              </a:rPr>
              <a:t> </a:t>
            </a:r>
            <a:r>
              <a:rPr sz="1865" spc="-5" dirty="0">
                <a:latin typeface="Trebuchet MS"/>
                <a:cs typeface="Trebuchet MS"/>
              </a:rPr>
              <a:t>points</a:t>
            </a:r>
            <a:endParaRPr sz="1865">
              <a:latin typeface="Trebuchet MS"/>
              <a:cs typeface="Trebuchet MS"/>
            </a:endParaRPr>
          </a:p>
          <a:p>
            <a:pPr marL="193495" indent="-187719">
              <a:spcBef>
                <a:spcPts val="312"/>
              </a:spcBef>
              <a:buChar char="•"/>
              <a:tabLst>
                <a:tab pos="193495" algn="l"/>
              </a:tabLst>
            </a:pPr>
            <a:r>
              <a:rPr sz="1865" spc="-134" dirty="0">
                <a:latin typeface="Trebuchet MS"/>
                <a:cs typeface="Trebuchet MS"/>
              </a:rPr>
              <a:t>Very</a:t>
            </a:r>
            <a:r>
              <a:rPr sz="1865" spc="-132" dirty="0">
                <a:latin typeface="Trebuchet MS"/>
                <a:cs typeface="Trebuchet MS"/>
              </a:rPr>
              <a:t> </a:t>
            </a:r>
            <a:r>
              <a:rPr sz="1865" spc="-127" dirty="0">
                <a:latin typeface="Trebuchet MS"/>
                <a:cs typeface="Trebuchet MS"/>
              </a:rPr>
              <a:t>flat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5" dirty="0">
                <a:latin typeface="Trebuchet MS"/>
                <a:cs typeface="Trebuchet MS"/>
              </a:rPr>
              <a:t>regions</a:t>
            </a:r>
            <a:endParaRPr sz="1865">
              <a:latin typeface="Trebuchet MS"/>
              <a:cs typeface="Trebuchet MS"/>
            </a:endParaRPr>
          </a:p>
          <a:p>
            <a:pPr marL="193495" indent="-187719">
              <a:spcBef>
                <a:spcPts val="314"/>
              </a:spcBef>
              <a:buChar char="•"/>
              <a:tabLst>
                <a:tab pos="193495" algn="l"/>
              </a:tabLst>
            </a:pPr>
            <a:r>
              <a:rPr sz="1865" spc="-132" dirty="0">
                <a:latin typeface="Trebuchet MS"/>
                <a:cs typeface="Trebuchet MS"/>
              </a:rPr>
              <a:t>Widely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09" dirty="0">
                <a:latin typeface="Trebuchet MS"/>
                <a:cs typeface="Trebuchet MS"/>
              </a:rPr>
              <a:t>varying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34" dirty="0">
                <a:latin typeface="Trebuchet MS"/>
                <a:cs typeface="Trebuchet MS"/>
              </a:rPr>
              <a:t>curvature</a:t>
            </a:r>
            <a:endParaRPr sz="1865">
              <a:latin typeface="Trebuchet MS"/>
              <a:cs typeface="Trebuchet MS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C23150D6-B5FF-0648-0047-B7C486BBCA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0936" y="1248850"/>
            <a:ext cx="3392564" cy="621095"/>
          </a:xfrm>
          <a:prstGeom prst="rect">
            <a:avLst/>
          </a:prstGeom>
        </p:spPr>
        <p:txBody>
          <a:bodyPr vert="horz" wrap="square" lIns="0" tIns="5488" rIns="0" bIns="0" rtlCol="0" anchor="ctr">
            <a:spAutoFit/>
          </a:bodyPr>
          <a:lstStyle/>
          <a:p>
            <a:pPr marL="5776">
              <a:spcBef>
                <a:spcPts val="43"/>
              </a:spcBef>
            </a:pPr>
            <a:r>
              <a:rPr spc="-182" dirty="0"/>
              <a:t>Non-</a:t>
            </a:r>
            <a:r>
              <a:rPr spc="-257" dirty="0"/>
              <a:t>convexity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09203B7C-1A09-0B29-F25B-C1225E1DA7CD}"/>
              </a:ext>
            </a:extLst>
          </p:cNvPr>
          <p:cNvSpPr txBox="1"/>
          <p:nvPr/>
        </p:nvSpPr>
        <p:spPr>
          <a:xfrm>
            <a:off x="722237" y="1035612"/>
            <a:ext cx="1113685" cy="213238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76">
              <a:spcBef>
                <a:spcPts val="52"/>
              </a:spcBef>
            </a:pPr>
            <a:r>
              <a:rPr sz="1342" b="1" spc="43" dirty="0">
                <a:solidFill>
                  <a:srgbClr val="FF644E"/>
                </a:solidFill>
                <a:latin typeface="Trebuchet MS"/>
                <a:cs typeface="Trebuchet MS"/>
              </a:rPr>
              <a:t>CH</a:t>
            </a:r>
            <a:r>
              <a:rPr sz="1342" b="1" spc="-168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41" dirty="0">
                <a:solidFill>
                  <a:srgbClr val="FF644E"/>
                </a:solidFill>
                <a:latin typeface="Trebuchet MS"/>
                <a:cs typeface="Trebuchet MS"/>
              </a:rPr>
              <a:t>AL</a:t>
            </a:r>
            <a:r>
              <a:rPr sz="1342" b="1" spc="-177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-100" dirty="0">
                <a:solidFill>
                  <a:srgbClr val="FF644E"/>
                </a:solidFill>
                <a:latin typeface="Trebuchet MS"/>
                <a:cs typeface="Trebuchet MS"/>
              </a:rPr>
              <a:t>L</a:t>
            </a:r>
            <a:r>
              <a:rPr sz="1342" b="1" spc="-177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-109" dirty="0">
                <a:solidFill>
                  <a:srgbClr val="FF644E"/>
                </a:solidFill>
                <a:latin typeface="Trebuchet MS"/>
                <a:cs typeface="Trebuchet MS"/>
              </a:rPr>
              <a:t>E</a:t>
            </a:r>
            <a:r>
              <a:rPr sz="1342" b="1" spc="-180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43" dirty="0">
                <a:solidFill>
                  <a:srgbClr val="FF644E"/>
                </a:solidFill>
                <a:latin typeface="Trebuchet MS"/>
                <a:cs typeface="Trebuchet MS"/>
              </a:rPr>
              <a:t>NGE </a:t>
            </a:r>
            <a:endParaRPr sz="1342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497" y="1057414"/>
            <a:ext cx="3348078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262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8674" y="2665279"/>
            <a:ext cx="7915275" cy="3124776"/>
          </a:xfrm>
          <a:prstGeom prst="rect">
            <a:avLst/>
          </a:prstGeom>
        </p:spPr>
        <p:txBody>
          <a:bodyPr vert="horz" wrap="square" lIns="0" tIns="135456" rIns="0" bIns="0" rtlCol="0">
            <a:spAutoFit/>
          </a:bodyPr>
          <a:lstStyle/>
          <a:p>
            <a:pPr marL="255875" indent="-250099" defTabSz="415869">
              <a:spcBef>
                <a:spcPts val="1067"/>
              </a:spcBef>
              <a:buFontTx/>
              <a:buAutoNum type="arabicPeriod"/>
              <a:tabLst>
                <a:tab pos="255875" algn="l"/>
              </a:tabLst>
            </a:pPr>
            <a:r>
              <a:rPr sz="3200" kern="0" spc="5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Scaling</a:t>
            </a:r>
            <a:r>
              <a:rPr sz="3200" kern="0" spc="-9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up</a:t>
            </a:r>
            <a:r>
              <a:rPr sz="3200" kern="0" spc="-8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3200" kern="0" spc="-2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Mb-</a:t>
            </a:r>
            <a:r>
              <a:rPr sz="3200" kern="0" spc="-15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SGD:</a:t>
            </a:r>
            <a:r>
              <a:rPr sz="3200" kern="0" spc="-9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3200" kern="0" spc="-3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Communication</a:t>
            </a:r>
            <a:r>
              <a:rPr sz="3200" kern="0" spc="-8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3200" kern="0" spc="2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schemes</a:t>
            </a:r>
            <a:endParaRPr lang="en-US" sz="3200" kern="0" spc="25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marL="255875" indent="-250099" defTabSz="415869">
              <a:spcBef>
                <a:spcPts val="1067"/>
              </a:spcBef>
              <a:buFontTx/>
              <a:buAutoNum type="arabicPeriod"/>
              <a:tabLst>
                <a:tab pos="255875" algn="l"/>
              </a:tabLst>
            </a:pPr>
            <a:r>
              <a:rPr lang="en-US" sz="3200" kern="0" spc="25" dirty="0" err="1">
                <a:solidFill>
                  <a:sysClr val="windowText" lastClr="000000"/>
                </a:solidFill>
                <a:latin typeface="Gill Sans MT"/>
                <a:cs typeface="Gill Sans MT"/>
              </a:rPr>
              <a:t>AllReduce</a:t>
            </a:r>
            <a:r>
              <a:rPr lang="en-US" sz="3200" kern="0" spc="2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for GPU clusters</a:t>
            </a:r>
            <a:endParaRPr sz="3200" kern="0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marL="255875" indent="-250099" defTabSz="415869">
              <a:spcBef>
                <a:spcPts val="1026"/>
              </a:spcBef>
              <a:buFontTx/>
              <a:buAutoNum type="arabicPeriod"/>
              <a:tabLst>
                <a:tab pos="255875" algn="l"/>
              </a:tabLst>
            </a:pPr>
            <a:r>
              <a:rPr sz="3200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Challenges</a:t>
            </a:r>
            <a:r>
              <a:rPr sz="3200" kern="0" spc="-5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3200" kern="0" spc="-5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with </a:t>
            </a:r>
            <a:r>
              <a:rPr sz="3200" kern="0" spc="-2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mini-</a:t>
            </a:r>
            <a:r>
              <a:rPr sz="3200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batch</a:t>
            </a:r>
            <a:r>
              <a:rPr lang="en-US" sz="3200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ed optimization</a:t>
            </a:r>
          </a:p>
          <a:p>
            <a:pPr marL="255875" indent="-250099" defTabSz="415869">
              <a:spcBef>
                <a:spcPts val="1026"/>
              </a:spcBef>
              <a:buFontTx/>
              <a:buAutoNum type="arabicPeriod"/>
              <a:tabLst>
                <a:tab pos="255875" algn="l"/>
              </a:tabLst>
            </a:pPr>
            <a:r>
              <a:rPr lang="en-US" sz="3200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Fine-tuning</a:t>
            </a:r>
          </a:p>
          <a:p>
            <a:pPr marL="255875" indent="-250099" defTabSz="415869">
              <a:spcBef>
                <a:spcPts val="1026"/>
              </a:spcBef>
              <a:buFontTx/>
              <a:buAutoNum type="arabicPeriod"/>
              <a:tabLst>
                <a:tab pos="255875" algn="l"/>
              </a:tabLst>
            </a:pPr>
            <a:r>
              <a:rPr lang="en-US" sz="3200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More on Modern optimizers  </a:t>
            </a:r>
            <a:endParaRPr sz="3200" kern="0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2237" y="1187452"/>
            <a:ext cx="5616368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184" dirty="0"/>
              <a:t>Methods</a:t>
            </a:r>
            <a:r>
              <a:rPr spc="-207" dirty="0"/>
              <a:t> </a:t>
            </a:r>
            <a:r>
              <a:rPr spc="-218" dirty="0"/>
              <a:t>for</a:t>
            </a:r>
            <a:r>
              <a:rPr spc="-207" dirty="0"/>
              <a:t> </a:t>
            </a:r>
            <a:r>
              <a:rPr spc="-227" dirty="0"/>
              <a:t>distributed</a:t>
            </a:r>
            <a:r>
              <a:rPr spc="-207" dirty="0"/>
              <a:t> </a:t>
            </a:r>
            <a:r>
              <a:rPr spc="-239" dirty="0"/>
              <a:t>optimization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2982" y="3035929"/>
            <a:ext cx="7938182" cy="530560"/>
            <a:chOff x="1325722" y="4790464"/>
            <a:chExt cx="17452975" cy="1166495"/>
          </a:xfrm>
        </p:grpSpPr>
        <p:sp>
          <p:nvSpPr>
            <p:cNvPr id="4" name="object 4"/>
            <p:cNvSpPr/>
            <p:nvPr/>
          </p:nvSpPr>
          <p:spPr>
            <a:xfrm>
              <a:off x="1967588" y="5274725"/>
              <a:ext cx="16169005" cy="0"/>
            </a:xfrm>
            <a:custGeom>
              <a:avLst/>
              <a:gdLst/>
              <a:ahLst/>
              <a:cxnLst/>
              <a:rect l="l" t="t" r="r" b="b"/>
              <a:pathLst>
                <a:path w="16169005">
                  <a:moveTo>
                    <a:pt x="0" y="0"/>
                  </a:moveTo>
                  <a:lnTo>
                    <a:pt x="989502" y="0"/>
                  </a:lnTo>
                </a:path>
                <a:path w="16169005">
                  <a:moveTo>
                    <a:pt x="1073269" y="0"/>
                  </a:moveTo>
                  <a:lnTo>
                    <a:pt x="5717417" y="0"/>
                  </a:lnTo>
                </a:path>
                <a:path w="16169005">
                  <a:moveTo>
                    <a:pt x="5801184" y="0"/>
                  </a:moveTo>
                  <a:lnTo>
                    <a:pt x="15110310" y="0"/>
                  </a:lnTo>
                </a:path>
                <a:path w="16169005">
                  <a:moveTo>
                    <a:pt x="15194077" y="0"/>
                  </a:moveTo>
                  <a:lnTo>
                    <a:pt x="16168921" y="0"/>
                  </a:lnTo>
                </a:path>
              </a:pathLst>
            </a:custGeom>
            <a:ln w="1989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869"/>
              <a:endParaRPr sz="81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325714" y="4904060"/>
              <a:ext cx="17452975" cy="741680"/>
            </a:xfrm>
            <a:custGeom>
              <a:avLst/>
              <a:gdLst/>
              <a:ahLst/>
              <a:cxnLst/>
              <a:rect l="l" t="t" r="r" b="b"/>
              <a:pathLst>
                <a:path w="17452975" h="741679">
                  <a:moveTo>
                    <a:pt x="741337" y="0"/>
                  </a:moveTo>
                  <a:lnTo>
                    <a:pt x="0" y="370674"/>
                  </a:lnTo>
                  <a:lnTo>
                    <a:pt x="741337" y="741337"/>
                  </a:lnTo>
                  <a:lnTo>
                    <a:pt x="741337" y="0"/>
                  </a:lnTo>
                  <a:close/>
                </a:path>
                <a:path w="17452975" h="741679">
                  <a:moveTo>
                    <a:pt x="17452658" y="370674"/>
                  </a:moveTo>
                  <a:lnTo>
                    <a:pt x="16711321" y="0"/>
                  </a:lnTo>
                  <a:lnTo>
                    <a:pt x="16711321" y="741337"/>
                  </a:lnTo>
                  <a:lnTo>
                    <a:pt x="17452658" y="3706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415869"/>
              <a:endParaRPr sz="81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2998974" y="4790464"/>
              <a:ext cx="0" cy="1166495"/>
            </a:xfrm>
            <a:custGeom>
              <a:avLst/>
              <a:gdLst/>
              <a:ahLst/>
              <a:cxnLst/>
              <a:rect l="l" t="t" r="r" b="b"/>
              <a:pathLst>
                <a:path h="1166495">
                  <a:moveTo>
                    <a:pt x="0" y="1166272"/>
                  </a:moveTo>
                  <a:lnTo>
                    <a:pt x="0" y="0"/>
                  </a:lnTo>
                </a:path>
              </a:pathLst>
            </a:custGeom>
            <a:ln w="83767">
              <a:solidFill>
                <a:srgbClr val="2489BF"/>
              </a:solidFill>
            </a:ln>
          </p:spPr>
          <p:txBody>
            <a:bodyPr wrap="square" lIns="0" tIns="0" rIns="0" bIns="0" rtlCol="0"/>
            <a:lstStyle/>
            <a:p>
              <a:pPr defTabSz="415869"/>
              <a:endParaRPr sz="81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7726889" y="4790464"/>
              <a:ext cx="0" cy="1166495"/>
            </a:xfrm>
            <a:custGeom>
              <a:avLst/>
              <a:gdLst/>
              <a:ahLst/>
              <a:cxnLst/>
              <a:rect l="l" t="t" r="r" b="b"/>
              <a:pathLst>
                <a:path h="1166495">
                  <a:moveTo>
                    <a:pt x="0" y="1166272"/>
                  </a:moveTo>
                  <a:lnTo>
                    <a:pt x="0" y="0"/>
                  </a:lnTo>
                </a:path>
              </a:pathLst>
            </a:custGeom>
            <a:ln w="83767">
              <a:solidFill>
                <a:srgbClr val="2489BF"/>
              </a:solidFill>
            </a:ln>
          </p:spPr>
          <p:txBody>
            <a:bodyPr wrap="square" lIns="0" tIns="0" rIns="0" bIns="0" rtlCol="0"/>
            <a:lstStyle/>
            <a:p>
              <a:pPr defTabSz="415869"/>
              <a:endParaRPr sz="81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7119782" y="4790464"/>
              <a:ext cx="0" cy="1166495"/>
            </a:xfrm>
            <a:custGeom>
              <a:avLst/>
              <a:gdLst/>
              <a:ahLst/>
              <a:cxnLst/>
              <a:rect l="l" t="t" r="r" b="b"/>
              <a:pathLst>
                <a:path h="1166495">
                  <a:moveTo>
                    <a:pt x="0" y="1166272"/>
                  </a:moveTo>
                  <a:lnTo>
                    <a:pt x="0" y="0"/>
                  </a:lnTo>
                </a:path>
              </a:pathLst>
            </a:custGeom>
            <a:ln w="83767">
              <a:solidFill>
                <a:srgbClr val="2489BF"/>
              </a:solidFill>
            </a:ln>
          </p:spPr>
          <p:txBody>
            <a:bodyPr wrap="square" lIns="0" tIns="0" rIns="0" bIns="0" rtlCol="0"/>
            <a:lstStyle/>
            <a:p>
              <a:pPr defTabSz="415869"/>
              <a:endParaRPr sz="819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55573" y="2271307"/>
            <a:ext cx="2188379" cy="585547"/>
          </a:xfrm>
          <a:prstGeom prst="rect">
            <a:avLst/>
          </a:prstGeom>
        </p:spPr>
        <p:txBody>
          <a:bodyPr vert="horz" wrap="square" lIns="0" tIns="21084" rIns="0" bIns="0" rtlCol="0">
            <a:spAutoFit/>
          </a:bodyPr>
          <a:lstStyle/>
          <a:p>
            <a:pPr marL="98191" marR="2310" indent="-92704" defTabSz="415869">
              <a:lnSpc>
                <a:spcPts val="2174"/>
              </a:lnSpc>
              <a:spcBef>
                <a:spcPts val="166"/>
              </a:spcBef>
            </a:pPr>
            <a:r>
              <a:rPr sz="1865" kern="0" spc="66" dirty="0">
                <a:solidFill>
                  <a:srgbClr val="FF644E"/>
                </a:solidFill>
                <a:latin typeface="Gill Sans MT"/>
                <a:cs typeface="Gill Sans MT"/>
              </a:rPr>
              <a:t>less</a:t>
            </a:r>
            <a:r>
              <a:rPr sz="1865" kern="0" spc="-39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rgbClr val="FF644E"/>
                </a:solidFill>
                <a:latin typeface="Gill Sans MT"/>
                <a:cs typeface="Gill Sans MT"/>
              </a:rPr>
              <a:t>local</a:t>
            </a:r>
            <a:r>
              <a:rPr sz="1865" kern="0" spc="-41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865" kern="0" spc="-25" dirty="0">
                <a:solidFill>
                  <a:srgbClr val="FF644E"/>
                </a:solidFill>
                <a:latin typeface="Gill Sans MT"/>
                <a:cs typeface="Gill Sans MT"/>
              </a:rPr>
              <a:t>computation, </a:t>
            </a:r>
            <a:r>
              <a:rPr sz="1865" kern="0" spc="-86" dirty="0">
                <a:solidFill>
                  <a:srgbClr val="FF644E"/>
                </a:solidFill>
                <a:latin typeface="Gill Sans MT"/>
                <a:cs typeface="Gill Sans MT"/>
              </a:rPr>
              <a:t>more</a:t>
            </a:r>
            <a:r>
              <a:rPr sz="1865" kern="0" spc="-80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rgbClr val="FF644E"/>
                </a:solidFill>
                <a:latin typeface="Gill Sans MT"/>
                <a:cs typeface="Gill Sans MT"/>
              </a:rPr>
              <a:t>communication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24089" y="2271307"/>
            <a:ext cx="2285711" cy="585547"/>
          </a:xfrm>
          <a:prstGeom prst="rect">
            <a:avLst/>
          </a:prstGeom>
        </p:spPr>
        <p:txBody>
          <a:bodyPr vert="horz" wrap="square" lIns="0" tIns="21084" rIns="0" bIns="0" rtlCol="0">
            <a:spAutoFit/>
          </a:bodyPr>
          <a:lstStyle/>
          <a:p>
            <a:pPr marL="195805" marR="2310" indent="-190318" defTabSz="415869">
              <a:lnSpc>
                <a:spcPts val="2174"/>
              </a:lnSpc>
              <a:spcBef>
                <a:spcPts val="166"/>
              </a:spcBef>
            </a:pPr>
            <a:r>
              <a:rPr sz="1865" kern="0" spc="-86" dirty="0">
                <a:solidFill>
                  <a:srgbClr val="FF644E"/>
                </a:solidFill>
                <a:latin typeface="Gill Sans MT"/>
                <a:cs typeface="Gill Sans MT"/>
              </a:rPr>
              <a:t>more</a:t>
            </a:r>
            <a:r>
              <a:rPr sz="1865" kern="0" spc="-36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rgbClr val="FF644E"/>
                </a:solidFill>
                <a:latin typeface="Gill Sans MT"/>
                <a:cs typeface="Gill Sans MT"/>
              </a:rPr>
              <a:t>local</a:t>
            </a:r>
            <a:r>
              <a:rPr sz="1865" kern="0" spc="-39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865" kern="0" spc="-25" dirty="0">
                <a:solidFill>
                  <a:srgbClr val="FF644E"/>
                </a:solidFill>
                <a:latin typeface="Gill Sans MT"/>
                <a:cs typeface="Gill Sans MT"/>
              </a:rPr>
              <a:t>computation, </a:t>
            </a:r>
            <a:r>
              <a:rPr sz="1865" kern="0" spc="66" dirty="0">
                <a:solidFill>
                  <a:srgbClr val="FF644E"/>
                </a:solidFill>
                <a:latin typeface="Gill Sans MT"/>
                <a:cs typeface="Gill Sans MT"/>
              </a:rPr>
              <a:t>less</a:t>
            </a:r>
            <a:r>
              <a:rPr sz="1865" kern="0" spc="-84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rgbClr val="FF644E"/>
                </a:solidFill>
                <a:latin typeface="Gill Sans MT"/>
                <a:cs typeface="Gill Sans MT"/>
              </a:rPr>
              <a:t>communication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9037" y="3703121"/>
            <a:ext cx="1813781" cy="585547"/>
          </a:xfrm>
          <a:prstGeom prst="rect">
            <a:avLst/>
          </a:prstGeom>
        </p:spPr>
        <p:txBody>
          <a:bodyPr vert="horz" wrap="square" lIns="0" tIns="21084" rIns="0" bIns="0" rtlCol="0">
            <a:spAutoFit/>
          </a:bodyPr>
          <a:lstStyle/>
          <a:p>
            <a:pPr marL="533988" marR="2310" indent="-528500" defTabSz="415869">
              <a:lnSpc>
                <a:spcPts val="2174"/>
              </a:lnSpc>
              <a:spcBef>
                <a:spcPts val="166"/>
              </a:spcBef>
            </a:pP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stochastic</a:t>
            </a:r>
            <a:r>
              <a:rPr sz="1865" kern="0" spc="8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gradient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descent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71975" y="3779321"/>
            <a:ext cx="1580416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 defTabSz="415869">
              <a:spcBef>
                <a:spcPts val="55"/>
              </a:spcBef>
            </a:pPr>
            <a:r>
              <a:rPr sz="1865" kern="0" spc="-1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gradient</a:t>
            </a:r>
            <a:r>
              <a:rPr sz="1865" kern="0" spc="-9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descent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15857" y="3703121"/>
            <a:ext cx="1941728" cy="585547"/>
          </a:xfrm>
          <a:prstGeom prst="rect">
            <a:avLst/>
          </a:prstGeom>
        </p:spPr>
        <p:txBody>
          <a:bodyPr vert="horz" wrap="square" lIns="0" tIns="21084" rIns="0" bIns="0" rtlCol="0">
            <a:spAutoFit/>
          </a:bodyPr>
          <a:lstStyle/>
          <a:p>
            <a:pPr marL="78842" marR="2310" indent="-73355" defTabSz="415869">
              <a:lnSpc>
                <a:spcPts val="2174"/>
              </a:lnSpc>
              <a:spcBef>
                <a:spcPts val="166"/>
              </a:spcBef>
            </a:pPr>
            <a:r>
              <a:rPr sz="1865" kern="0" spc="-1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divide-</a:t>
            </a:r>
            <a:r>
              <a:rPr sz="1865" kern="0" spc="-3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and-</a:t>
            </a:r>
            <a:r>
              <a:rPr sz="1865" kern="0" spc="-5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conquer</a:t>
            </a:r>
            <a:r>
              <a:rPr sz="1865" kern="0" spc="-3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14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/ </a:t>
            </a:r>
            <a:r>
              <a:rPr sz="1865" kern="0" spc="-3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one-</a:t>
            </a:r>
            <a:r>
              <a:rPr sz="1865" kern="0" spc="-5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shot</a:t>
            </a:r>
            <a:r>
              <a:rPr sz="1865" kern="0" spc="-6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averaging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20503" y="4502577"/>
            <a:ext cx="1455357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 defTabSz="415869">
              <a:spcBef>
                <a:spcPts val="55"/>
              </a:spcBef>
            </a:pPr>
            <a:r>
              <a:rPr sz="1865" kern="0" spc="-2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mini-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batch</a:t>
            </a:r>
            <a:r>
              <a:rPr sz="1865" kern="0" spc="-10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18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SGD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346696" y="4353647"/>
            <a:ext cx="253294" cy="354092"/>
            <a:chOff x="2960861" y="7687615"/>
            <a:chExt cx="556895" cy="778510"/>
          </a:xfrm>
        </p:grpSpPr>
        <p:sp>
          <p:nvSpPr>
            <p:cNvPr id="16" name="object 16"/>
            <p:cNvSpPr/>
            <p:nvPr/>
          </p:nvSpPr>
          <p:spPr>
            <a:xfrm>
              <a:off x="3002745" y="7687615"/>
              <a:ext cx="0" cy="775335"/>
            </a:xfrm>
            <a:custGeom>
              <a:avLst/>
              <a:gdLst/>
              <a:ahLst/>
              <a:cxnLst/>
              <a:rect l="l" t="t" r="r" b="b"/>
              <a:pathLst>
                <a:path h="775334">
                  <a:moveTo>
                    <a:pt x="0" y="774845"/>
                  </a:moveTo>
                  <a:lnTo>
                    <a:pt x="0" y="0"/>
                  </a:lnTo>
                </a:path>
              </a:pathLst>
            </a:custGeom>
            <a:ln w="83767">
              <a:solidFill>
                <a:srgbClr val="2489B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pPr defTabSz="415869"/>
              <a:endParaRPr sz="81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2974388" y="8424028"/>
              <a:ext cx="543560" cy="0"/>
            </a:xfrm>
            <a:custGeom>
              <a:avLst/>
              <a:gdLst/>
              <a:ahLst/>
              <a:cxnLst/>
              <a:rect l="l" t="t" r="r" b="b"/>
              <a:pathLst>
                <a:path w="543560">
                  <a:moveTo>
                    <a:pt x="0" y="0"/>
                  </a:moveTo>
                  <a:lnTo>
                    <a:pt x="543216" y="0"/>
                  </a:lnTo>
                </a:path>
              </a:pathLst>
            </a:custGeom>
            <a:ln w="83767">
              <a:solidFill>
                <a:srgbClr val="2489B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pPr defTabSz="415869"/>
              <a:endParaRPr sz="819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3275605" y="4353647"/>
            <a:ext cx="257915" cy="354092"/>
            <a:chOff x="7201780" y="7687615"/>
            <a:chExt cx="567055" cy="778510"/>
          </a:xfrm>
        </p:grpSpPr>
        <p:sp>
          <p:nvSpPr>
            <p:cNvPr id="19" name="object 19"/>
            <p:cNvSpPr/>
            <p:nvPr/>
          </p:nvSpPr>
          <p:spPr>
            <a:xfrm>
              <a:off x="7201780" y="8424028"/>
              <a:ext cx="543560" cy="0"/>
            </a:xfrm>
            <a:custGeom>
              <a:avLst/>
              <a:gdLst/>
              <a:ahLst/>
              <a:cxnLst/>
              <a:rect l="l" t="t" r="r" b="b"/>
              <a:pathLst>
                <a:path w="543559">
                  <a:moveTo>
                    <a:pt x="0" y="0"/>
                  </a:moveTo>
                  <a:lnTo>
                    <a:pt x="543216" y="0"/>
                  </a:lnTo>
                </a:path>
              </a:pathLst>
            </a:custGeom>
            <a:ln w="83767">
              <a:solidFill>
                <a:srgbClr val="2489B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pPr defTabSz="415869"/>
              <a:endParaRPr sz="81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7726889" y="7687615"/>
              <a:ext cx="0" cy="775335"/>
            </a:xfrm>
            <a:custGeom>
              <a:avLst/>
              <a:gdLst/>
              <a:ahLst/>
              <a:cxnLst/>
              <a:rect l="l" t="t" r="r" b="b"/>
              <a:pathLst>
                <a:path h="775334">
                  <a:moveTo>
                    <a:pt x="0" y="774845"/>
                  </a:moveTo>
                  <a:lnTo>
                    <a:pt x="0" y="0"/>
                  </a:lnTo>
                </a:path>
              </a:pathLst>
            </a:custGeom>
            <a:ln w="83767">
              <a:solidFill>
                <a:srgbClr val="2489B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pPr defTabSz="415869"/>
              <a:endParaRPr sz="819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460943" y="5221069"/>
            <a:ext cx="2221882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 defTabSz="415869">
              <a:spcBef>
                <a:spcPts val="55"/>
              </a:spcBef>
            </a:pPr>
            <a:r>
              <a:rPr sz="1865" kern="0" spc="-1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local-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updating</a:t>
            </a:r>
            <a:r>
              <a:rPr sz="1865" kern="0" spc="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methods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346696" y="4787128"/>
            <a:ext cx="2005846" cy="664572"/>
            <a:chOff x="2960861" y="8640670"/>
            <a:chExt cx="4410075" cy="1461135"/>
          </a:xfrm>
        </p:grpSpPr>
        <p:sp>
          <p:nvSpPr>
            <p:cNvPr id="23" name="object 23"/>
            <p:cNvSpPr/>
            <p:nvPr/>
          </p:nvSpPr>
          <p:spPr>
            <a:xfrm>
              <a:off x="3002745" y="8640670"/>
              <a:ext cx="0" cy="1340485"/>
            </a:xfrm>
            <a:custGeom>
              <a:avLst/>
              <a:gdLst/>
              <a:ahLst/>
              <a:cxnLst/>
              <a:rect l="l" t="t" r="r" b="b"/>
              <a:pathLst>
                <a:path h="1340484">
                  <a:moveTo>
                    <a:pt x="0" y="1340392"/>
                  </a:moveTo>
                  <a:lnTo>
                    <a:pt x="0" y="0"/>
                  </a:lnTo>
                </a:path>
              </a:pathLst>
            </a:custGeom>
            <a:ln w="83767">
              <a:solidFill>
                <a:srgbClr val="2489B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pPr defTabSz="415869"/>
              <a:endParaRPr sz="81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2974388" y="10059855"/>
              <a:ext cx="4396105" cy="0"/>
            </a:xfrm>
            <a:custGeom>
              <a:avLst/>
              <a:gdLst/>
              <a:ahLst/>
              <a:cxnLst/>
              <a:rect l="l" t="t" r="r" b="b"/>
              <a:pathLst>
                <a:path w="4396105">
                  <a:moveTo>
                    <a:pt x="0" y="0"/>
                  </a:moveTo>
                  <a:lnTo>
                    <a:pt x="4395980" y="0"/>
                  </a:lnTo>
                </a:path>
              </a:pathLst>
            </a:custGeom>
            <a:ln w="83767">
              <a:solidFill>
                <a:srgbClr val="2489B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pPr defTabSz="415869"/>
              <a:endParaRPr sz="819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5" name="object 25"/>
          <p:cNvSpPr/>
          <p:nvPr/>
        </p:nvSpPr>
        <p:spPr>
          <a:xfrm>
            <a:off x="5786042" y="5432619"/>
            <a:ext cx="1999492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5980" y="0"/>
                </a:lnTo>
              </a:path>
            </a:pathLst>
          </a:custGeom>
          <a:ln w="83767">
            <a:solidFill>
              <a:srgbClr val="2489BF"/>
            </a:solidFill>
            <a:prstDash val="sysDot"/>
          </a:ln>
        </p:spPr>
        <p:txBody>
          <a:bodyPr wrap="square" lIns="0" tIns="0" rIns="0" bIns="0" rtlCol="0"/>
          <a:lstStyle/>
          <a:p>
            <a:pPr defTabSz="415869"/>
            <a:endParaRPr sz="819" kern="0">
              <a:solidFill>
                <a:sysClr val="windowText" lastClr="000000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786635" y="4356912"/>
            <a:ext cx="0" cy="1033682"/>
          </a:xfrm>
          <a:custGeom>
            <a:avLst/>
            <a:gdLst/>
            <a:ahLst/>
            <a:cxnLst/>
            <a:rect l="l" t="t" r="r" b="b"/>
            <a:pathLst>
              <a:path h="2272665">
                <a:moveTo>
                  <a:pt x="0" y="2272301"/>
                </a:moveTo>
                <a:lnTo>
                  <a:pt x="0" y="0"/>
                </a:lnTo>
              </a:path>
            </a:pathLst>
          </a:custGeom>
          <a:ln w="83767">
            <a:solidFill>
              <a:srgbClr val="2489BF"/>
            </a:solidFill>
            <a:prstDash val="sysDot"/>
          </a:ln>
        </p:spPr>
        <p:txBody>
          <a:bodyPr wrap="square" lIns="0" tIns="0" rIns="0" bIns="0" rtlCol="0"/>
          <a:lstStyle/>
          <a:p>
            <a:pPr defTabSz="415869"/>
            <a:endParaRPr sz="819" kern="0">
              <a:solidFill>
                <a:sysClr val="windowText" lastClr="000000"/>
              </a:solidFill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22237" y="1035612"/>
            <a:ext cx="726379" cy="213238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76" defTabSz="415869">
              <a:spcBef>
                <a:spcPts val="52"/>
              </a:spcBef>
            </a:pPr>
            <a:r>
              <a:rPr sz="1342" b="1" kern="0" spc="68" dirty="0">
                <a:solidFill>
                  <a:srgbClr val="FF644E"/>
                </a:solidFill>
                <a:latin typeface="Trebuchet MS"/>
                <a:cs typeface="Trebuchet MS"/>
              </a:rPr>
              <a:t>REC</a:t>
            </a:r>
            <a:r>
              <a:rPr sz="1342" b="1" kern="0" spc="-180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kern="0" spc="59" dirty="0">
                <a:solidFill>
                  <a:srgbClr val="FF644E"/>
                </a:solidFill>
                <a:latin typeface="Trebuchet MS"/>
                <a:cs typeface="Trebuchet MS"/>
              </a:rPr>
              <a:t>ALL </a:t>
            </a:r>
            <a:endParaRPr sz="1342" kern="0">
              <a:solidFill>
                <a:sysClr val="windowText" lastClr="000000"/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2236" y="1187452"/>
            <a:ext cx="2397773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121" dirty="0"/>
              <a:t>Mini-</a:t>
            </a:r>
            <a:r>
              <a:rPr spc="-241" dirty="0"/>
              <a:t>batch</a:t>
            </a:r>
            <a:r>
              <a:rPr spc="-200" dirty="0"/>
              <a:t> </a:t>
            </a:r>
            <a:r>
              <a:rPr spc="-159" dirty="0"/>
              <a:t>SGD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2237" y="1035612"/>
            <a:ext cx="726379" cy="213238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76" defTabSz="415869">
              <a:spcBef>
                <a:spcPts val="52"/>
              </a:spcBef>
            </a:pPr>
            <a:r>
              <a:rPr sz="1342" b="1" kern="0" spc="68" dirty="0">
                <a:solidFill>
                  <a:srgbClr val="FF644E"/>
                </a:solidFill>
                <a:latin typeface="Trebuchet MS"/>
                <a:cs typeface="Trebuchet MS"/>
              </a:rPr>
              <a:t>REC</a:t>
            </a:r>
            <a:r>
              <a:rPr sz="1342" b="1" kern="0" spc="-180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kern="0" spc="59" dirty="0">
                <a:solidFill>
                  <a:srgbClr val="FF644E"/>
                </a:solidFill>
                <a:latin typeface="Trebuchet MS"/>
                <a:cs typeface="Trebuchet MS"/>
              </a:rPr>
              <a:t>ALL </a:t>
            </a:r>
            <a:endParaRPr sz="1342" kern="0">
              <a:solidFill>
                <a:sysClr val="windowText" lastClr="000000"/>
              </a:solidFill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1079" y="2955689"/>
            <a:ext cx="2396618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 defTabSz="415869">
              <a:spcBef>
                <a:spcPts val="55"/>
              </a:spcBef>
            </a:pPr>
            <a:r>
              <a:rPr sz="1865" kern="0" spc="-6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Gradient</a:t>
            </a:r>
            <a:r>
              <a:rPr sz="1865" kern="0" spc="-6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4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Descent</a:t>
            </a:r>
            <a:r>
              <a:rPr sz="1865" kern="0" spc="-6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2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Update: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03985" y="2904339"/>
            <a:ext cx="2882988" cy="409418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17328" defTabSz="415869">
              <a:spcBef>
                <a:spcPts val="55"/>
              </a:spcBef>
              <a:tabLst>
                <a:tab pos="696870" algn="l"/>
              </a:tabLst>
            </a:pPr>
            <a:r>
              <a:rPr sz="2615" b="1" kern="0" spc="2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w</a:t>
            </a:r>
            <a:r>
              <a:rPr sz="2797" i="1" kern="0" spc="34" baseline="-1964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</a:t>
            </a:r>
            <a:r>
              <a:rPr sz="2797" kern="0" spc="34" baseline="-19647" dirty="0">
                <a:solidFill>
                  <a:sysClr val="windowText" lastClr="000000"/>
                </a:solidFill>
                <a:latin typeface="Cambria"/>
                <a:cs typeface="Cambria"/>
              </a:rPr>
              <a:t>+1</a:t>
            </a:r>
            <a:r>
              <a:rPr sz="2797" kern="0" baseline="-19647" dirty="0">
                <a:solidFill>
                  <a:sysClr val="windowText" lastClr="000000"/>
                </a:solidFill>
                <a:latin typeface="Cambria"/>
                <a:cs typeface="Cambria"/>
              </a:rPr>
              <a:t>	</a:t>
            </a:r>
            <a:r>
              <a:rPr sz="2615" kern="0" spc="348" dirty="0">
                <a:solidFill>
                  <a:sysClr val="windowText" lastClr="000000"/>
                </a:solidFill>
                <a:latin typeface="Cambria"/>
                <a:cs typeface="Cambria"/>
              </a:rPr>
              <a:t>=</a:t>
            </a:r>
            <a:r>
              <a:rPr sz="2615" kern="0" spc="155" dirty="0">
                <a:solidFill>
                  <a:sysClr val="windowText" lastClr="000000"/>
                </a:solidFill>
                <a:latin typeface="Cambria"/>
                <a:cs typeface="Cambria"/>
              </a:rPr>
              <a:t> </a:t>
            </a:r>
            <a:r>
              <a:rPr sz="2615" b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w</a:t>
            </a:r>
            <a:r>
              <a:rPr sz="2797" i="1" kern="0" baseline="-1964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</a:t>
            </a:r>
            <a:r>
              <a:rPr sz="2797" i="1" kern="0" spc="174" baseline="-1964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5" kern="0" spc="348" dirty="0">
                <a:solidFill>
                  <a:sysClr val="windowText" lastClr="000000"/>
                </a:solidFill>
                <a:latin typeface="Cambria"/>
                <a:cs typeface="Cambria"/>
              </a:rPr>
              <a:t>−</a:t>
            </a:r>
            <a:r>
              <a:rPr sz="2615" kern="0" spc="9" dirty="0">
                <a:solidFill>
                  <a:sysClr val="windowText" lastClr="000000"/>
                </a:solidFill>
                <a:latin typeface="Cambria"/>
                <a:cs typeface="Cambria"/>
              </a:rPr>
              <a:t> </a:t>
            </a:r>
            <a:r>
              <a:rPr sz="2615" i="1" kern="0" spc="-16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α</a:t>
            </a:r>
            <a:r>
              <a:rPr sz="2797" i="1" kern="0" spc="-24" baseline="-1964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</a:t>
            </a:r>
            <a:r>
              <a:rPr sz="2797" i="1" kern="0" spc="-259" baseline="-1964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5" kern="0" spc="43" dirty="0">
                <a:solidFill>
                  <a:sysClr val="windowText" lastClr="000000"/>
                </a:solidFill>
                <a:latin typeface="Cambria"/>
                <a:cs typeface="Cambria"/>
              </a:rPr>
              <a:t>∇</a:t>
            </a:r>
            <a:r>
              <a:rPr sz="2615" i="1" kern="0" spc="4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f</a:t>
            </a:r>
            <a:r>
              <a:rPr sz="2615" kern="0" spc="43" dirty="0">
                <a:solidFill>
                  <a:sysClr val="windowText" lastClr="000000"/>
                </a:solidFill>
                <a:latin typeface="Cambria"/>
                <a:cs typeface="Cambria"/>
              </a:rPr>
              <a:t>(</a:t>
            </a:r>
            <a:r>
              <a:rPr sz="2615" b="1" kern="0" spc="4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w</a:t>
            </a:r>
            <a:r>
              <a:rPr sz="2797" i="1" kern="0" spc="65" baseline="-1964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</a:t>
            </a:r>
            <a:r>
              <a:rPr sz="2615" kern="0" spc="43" dirty="0">
                <a:solidFill>
                  <a:sysClr val="windowText" lastClr="000000"/>
                </a:solidFill>
                <a:latin typeface="Cambria"/>
                <a:cs typeface="Cambria"/>
              </a:rPr>
              <a:t>)</a:t>
            </a:r>
            <a:endParaRPr sz="2615" kern="0">
              <a:solidFill>
                <a:sysClr val="windowText" lastClr="000000"/>
              </a:solidFill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1079" y="2003188"/>
            <a:ext cx="2560089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 defTabSz="415869">
              <a:spcBef>
                <a:spcPts val="55"/>
              </a:spcBef>
            </a:pPr>
            <a:r>
              <a:rPr sz="1865" kern="0" spc="-5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Objective</a:t>
            </a:r>
            <a:r>
              <a:rPr sz="1865" kern="0" spc="-8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we</a:t>
            </a:r>
            <a:r>
              <a:rPr sz="1865" kern="0" spc="-7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3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want</a:t>
            </a:r>
            <a:r>
              <a:rPr sz="1865" kern="0" spc="-8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9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to</a:t>
            </a:r>
            <a:r>
              <a:rPr sz="1865" kern="0" spc="-7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solve: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23206" y="1966008"/>
            <a:ext cx="1035126" cy="582623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 defTabSz="415869">
              <a:lnSpc>
                <a:spcPts val="2658"/>
              </a:lnSpc>
              <a:spcBef>
                <a:spcPts val="43"/>
              </a:spcBef>
            </a:pPr>
            <a:r>
              <a:rPr sz="2365" kern="0" spc="-93" dirty="0">
                <a:solidFill>
                  <a:sysClr val="windowText" lastClr="000000"/>
                </a:solidFill>
                <a:latin typeface="Cambria"/>
                <a:cs typeface="Cambria"/>
              </a:rPr>
              <a:t>min</a:t>
            </a:r>
            <a:r>
              <a:rPr sz="2365" kern="0" spc="-125" dirty="0">
                <a:solidFill>
                  <a:sysClr val="windowText" lastClr="000000"/>
                </a:solidFill>
                <a:latin typeface="Cambria"/>
                <a:cs typeface="Cambria"/>
              </a:rPr>
              <a:t> </a:t>
            </a:r>
            <a:r>
              <a:rPr sz="2365" i="1" kern="0" spc="-4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f</a:t>
            </a:r>
            <a:r>
              <a:rPr sz="2365" kern="0" spc="-43" dirty="0">
                <a:solidFill>
                  <a:sysClr val="windowText" lastClr="000000"/>
                </a:solidFill>
                <a:latin typeface="Cambria"/>
                <a:cs typeface="Cambria"/>
              </a:rPr>
              <a:t>(</a:t>
            </a:r>
            <a:r>
              <a:rPr sz="2365" b="1" kern="0" spc="-4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w</a:t>
            </a:r>
            <a:r>
              <a:rPr sz="2365" kern="0" spc="-43" dirty="0">
                <a:solidFill>
                  <a:sysClr val="windowText" lastClr="000000"/>
                </a:solidFill>
                <a:latin typeface="Cambria"/>
                <a:cs typeface="Cambria"/>
              </a:rPr>
              <a:t>)</a:t>
            </a:r>
            <a:endParaRPr sz="2365" kern="0">
              <a:solidFill>
                <a:sysClr val="windowText" lastClr="000000"/>
              </a:solidFill>
              <a:latin typeface="Cambria"/>
              <a:cs typeface="Cambria"/>
            </a:endParaRPr>
          </a:p>
          <a:p>
            <a:pPr marL="162016" defTabSz="415869">
              <a:lnSpc>
                <a:spcPts val="1812"/>
              </a:lnSpc>
            </a:pPr>
            <a:r>
              <a:rPr sz="1660" b="1" kern="0" spc="-2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w</a:t>
            </a:r>
            <a:endParaRPr sz="166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35087" y="1711107"/>
            <a:ext cx="3042127" cy="623427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R="772535" algn="r" defTabSz="415869">
              <a:lnSpc>
                <a:spcPts val="1990"/>
              </a:lnSpc>
              <a:spcBef>
                <a:spcPts val="61"/>
              </a:spcBef>
            </a:pPr>
            <a:r>
              <a:rPr sz="1660" i="1" kern="0" spc="-2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n</a:t>
            </a:r>
            <a:endParaRPr sz="166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17328" defTabSz="415869">
              <a:lnSpc>
                <a:spcPts val="2836"/>
              </a:lnSpc>
              <a:tabLst>
                <a:tab pos="1056712" algn="l"/>
              </a:tabLst>
            </a:pPr>
            <a:r>
              <a:rPr sz="2365" kern="0" spc="27" dirty="0">
                <a:solidFill>
                  <a:sysClr val="windowText" lastClr="000000"/>
                </a:solidFill>
                <a:latin typeface="Arial"/>
                <a:cs typeface="Arial"/>
              </a:rPr>
              <a:t>where</a:t>
            </a:r>
            <a:r>
              <a:rPr sz="2365" kern="0" dirty="0">
                <a:solidFill>
                  <a:sysClr val="windowText" lastClr="000000"/>
                </a:solidFill>
                <a:latin typeface="Arial"/>
                <a:cs typeface="Arial"/>
              </a:rPr>
              <a:t>	</a:t>
            </a:r>
            <a:r>
              <a:rPr sz="2365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f</a:t>
            </a:r>
            <a:r>
              <a:rPr sz="2365" kern="0" dirty="0">
                <a:solidFill>
                  <a:sysClr val="windowText" lastClr="000000"/>
                </a:solidFill>
                <a:latin typeface="Cambria"/>
                <a:cs typeface="Cambria"/>
              </a:rPr>
              <a:t>(</a:t>
            </a:r>
            <a:r>
              <a:rPr sz="2365" b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w</a:t>
            </a:r>
            <a:r>
              <a:rPr sz="2365" kern="0" dirty="0">
                <a:solidFill>
                  <a:sysClr val="windowText" lastClr="000000"/>
                </a:solidFill>
                <a:latin typeface="Cambria"/>
                <a:cs typeface="Cambria"/>
              </a:rPr>
              <a:t>)</a:t>
            </a:r>
            <a:r>
              <a:rPr sz="2365" kern="0" spc="61" dirty="0">
                <a:solidFill>
                  <a:sysClr val="windowText" lastClr="000000"/>
                </a:solidFill>
                <a:latin typeface="Cambria"/>
                <a:cs typeface="Cambria"/>
              </a:rPr>
              <a:t> </a:t>
            </a:r>
            <a:r>
              <a:rPr sz="2365" kern="0" spc="166" dirty="0">
                <a:solidFill>
                  <a:sysClr val="windowText" lastClr="000000"/>
                </a:solidFill>
                <a:latin typeface="Cambria"/>
                <a:cs typeface="Cambria"/>
              </a:rPr>
              <a:t>:=</a:t>
            </a:r>
            <a:r>
              <a:rPr sz="2365" kern="0" spc="66" dirty="0">
                <a:solidFill>
                  <a:sysClr val="windowText" lastClr="000000"/>
                </a:solidFill>
                <a:latin typeface="Cambria"/>
                <a:cs typeface="Cambria"/>
              </a:rPr>
              <a:t> </a:t>
            </a:r>
            <a:r>
              <a:rPr sz="3547" kern="0" spc="2026" baseline="-28846" dirty="0">
                <a:solidFill>
                  <a:sysClr val="windowText" lastClr="000000"/>
                </a:solidFill>
                <a:latin typeface="Arial"/>
                <a:cs typeface="Arial"/>
              </a:rPr>
              <a:t>∑</a:t>
            </a:r>
            <a:r>
              <a:rPr sz="3547" kern="0" spc="-249" baseline="-28846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365" i="1" kern="0" spc="-36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f</a:t>
            </a:r>
            <a:r>
              <a:rPr sz="2490" i="1" kern="0" spc="-55" baseline="-19786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j</a:t>
            </a:r>
            <a:r>
              <a:rPr sz="2365" kern="0" spc="-36" dirty="0">
                <a:solidFill>
                  <a:sysClr val="windowText" lastClr="000000"/>
                </a:solidFill>
                <a:latin typeface="Cambria"/>
                <a:cs typeface="Cambria"/>
              </a:rPr>
              <a:t>(</a:t>
            </a:r>
            <a:r>
              <a:rPr sz="2365" b="1" kern="0" spc="-36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w</a:t>
            </a:r>
            <a:r>
              <a:rPr sz="2365" kern="0" spc="-36" dirty="0">
                <a:solidFill>
                  <a:sysClr val="windowText" lastClr="000000"/>
                </a:solidFill>
                <a:latin typeface="Cambria"/>
                <a:cs typeface="Cambria"/>
              </a:rPr>
              <a:t>)</a:t>
            </a:r>
            <a:endParaRPr sz="2365" kern="0">
              <a:solidFill>
                <a:sysClr val="windowText" lastClr="000000"/>
              </a:solidFill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86358" y="2419696"/>
            <a:ext cx="323477" cy="263329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76" defTabSz="415869">
              <a:spcBef>
                <a:spcPts val="61"/>
              </a:spcBef>
            </a:pPr>
            <a:r>
              <a:rPr sz="1660" i="1" kern="0" spc="34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j</a:t>
            </a:r>
            <a:r>
              <a:rPr sz="1660" kern="0" spc="34" dirty="0">
                <a:solidFill>
                  <a:sysClr val="windowText" lastClr="000000"/>
                </a:solidFill>
                <a:latin typeface="Cambria"/>
                <a:cs typeface="Cambria"/>
              </a:rPr>
              <a:t>=1</a:t>
            </a:r>
            <a:endParaRPr sz="1660" kern="0">
              <a:solidFill>
                <a:sysClr val="windowText" lastClr="000000"/>
              </a:solidFill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1080" y="3860564"/>
            <a:ext cx="2669551" cy="585547"/>
          </a:xfrm>
          <a:prstGeom prst="rect">
            <a:avLst/>
          </a:prstGeom>
        </p:spPr>
        <p:txBody>
          <a:bodyPr vert="horz" wrap="square" lIns="0" tIns="21084" rIns="0" bIns="0" rtlCol="0">
            <a:spAutoFit/>
          </a:bodyPr>
          <a:lstStyle/>
          <a:p>
            <a:pPr marL="5776" marR="2310" defTabSz="415869">
              <a:lnSpc>
                <a:spcPts val="2174"/>
              </a:lnSpc>
              <a:spcBef>
                <a:spcPts val="166"/>
              </a:spcBef>
            </a:pP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Stochastic </a:t>
            </a:r>
            <a:r>
              <a:rPr sz="1865" kern="0" spc="-6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Gradient</a:t>
            </a:r>
            <a:r>
              <a:rPr sz="1865" kern="0" spc="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3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Descent </a:t>
            </a:r>
            <a:r>
              <a:rPr sz="1865" kern="0" spc="-10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(SGD)</a:t>
            </a:r>
            <a:r>
              <a:rPr sz="1865" kern="0" spc="-7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Update: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10864" y="3786505"/>
            <a:ext cx="3097003" cy="432744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17328" defTabSz="415869">
              <a:spcBef>
                <a:spcPts val="45"/>
              </a:spcBef>
              <a:tabLst>
                <a:tab pos="735569" algn="l"/>
              </a:tabLst>
            </a:pPr>
            <a:r>
              <a:rPr sz="2774" b="1" kern="0" spc="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w</a:t>
            </a:r>
            <a:r>
              <a:rPr sz="2933" i="1" kern="0" spc="44" baseline="-200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</a:t>
            </a:r>
            <a:r>
              <a:rPr sz="2933" kern="0" spc="44" baseline="-20025" dirty="0">
                <a:solidFill>
                  <a:sysClr val="windowText" lastClr="000000"/>
                </a:solidFill>
                <a:latin typeface="Cambria"/>
                <a:cs typeface="Cambria"/>
              </a:rPr>
              <a:t>+1</a:t>
            </a:r>
            <a:r>
              <a:rPr sz="2933" kern="0" baseline="-20025" dirty="0">
                <a:solidFill>
                  <a:sysClr val="windowText" lastClr="000000"/>
                </a:solidFill>
                <a:latin typeface="Cambria"/>
                <a:cs typeface="Cambria"/>
              </a:rPr>
              <a:t>	</a:t>
            </a:r>
            <a:r>
              <a:rPr sz="2774" kern="0" spc="352" dirty="0">
                <a:solidFill>
                  <a:sysClr val="windowText" lastClr="000000"/>
                </a:solidFill>
                <a:latin typeface="Cambria"/>
                <a:cs typeface="Cambria"/>
              </a:rPr>
              <a:t>=</a:t>
            </a:r>
            <a:r>
              <a:rPr sz="2774" kern="0" spc="161" dirty="0">
                <a:solidFill>
                  <a:sysClr val="windowText" lastClr="000000"/>
                </a:solidFill>
                <a:latin typeface="Cambria"/>
                <a:cs typeface="Cambria"/>
              </a:rPr>
              <a:t> </a:t>
            </a:r>
            <a:r>
              <a:rPr sz="2774" b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w</a:t>
            </a:r>
            <a:r>
              <a:rPr sz="2933" i="1" kern="0" baseline="-200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</a:t>
            </a:r>
            <a:r>
              <a:rPr sz="2933" i="1" kern="0" spc="194" baseline="-200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774" kern="0" spc="352" dirty="0">
                <a:solidFill>
                  <a:sysClr val="windowText" lastClr="000000"/>
                </a:solidFill>
                <a:latin typeface="Cambria"/>
                <a:cs typeface="Cambria"/>
              </a:rPr>
              <a:t>−</a:t>
            </a:r>
            <a:r>
              <a:rPr sz="2774" kern="0" spc="7" dirty="0">
                <a:solidFill>
                  <a:sysClr val="windowText" lastClr="000000"/>
                </a:solidFill>
                <a:latin typeface="Cambria"/>
                <a:cs typeface="Cambria"/>
              </a:rPr>
              <a:t> </a:t>
            </a:r>
            <a:r>
              <a:rPr sz="2774" i="1" kern="0" spc="-16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α</a:t>
            </a:r>
            <a:r>
              <a:rPr sz="2933" i="1" kern="0" spc="-24" baseline="-200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</a:t>
            </a:r>
            <a:r>
              <a:rPr sz="2933" i="1" kern="0" spc="-273" baseline="-200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774" kern="0" spc="139" dirty="0">
                <a:solidFill>
                  <a:sysClr val="windowText" lastClr="000000"/>
                </a:solidFill>
                <a:latin typeface="Cambria"/>
                <a:cs typeface="Cambria"/>
              </a:rPr>
              <a:t>∇</a:t>
            </a:r>
            <a:r>
              <a:rPr sz="2774" i="1" kern="0" spc="-114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f</a:t>
            </a:r>
            <a:r>
              <a:rPr sz="2933" i="1" kern="0" spc="-20" baseline="-200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j</a:t>
            </a:r>
            <a:r>
              <a:rPr sz="2774" kern="0" spc="-14" dirty="0">
                <a:solidFill>
                  <a:sysClr val="windowText" lastClr="000000"/>
                </a:solidFill>
                <a:latin typeface="Cambria"/>
                <a:cs typeface="Cambria"/>
              </a:rPr>
              <a:t>(</a:t>
            </a:r>
            <a:r>
              <a:rPr sz="2774" b="1" kern="0" spc="-14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w</a:t>
            </a:r>
            <a:r>
              <a:rPr sz="2933" i="1" kern="0" spc="-20" baseline="-200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</a:t>
            </a:r>
            <a:r>
              <a:rPr sz="2774" kern="0" spc="-14" dirty="0">
                <a:solidFill>
                  <a:sysClr val="windowText" lastClr="000000"/>
                </a:solidFill>
                <a:latin typeface="Cambria"/>
                <a:cs typeface="Cambria"/>
              </a:rPr>
              <a:t>)</a:t>
            </a:r>
            <a:endParaRPr sz="2774" kern="0">
              <a:solidFill>
                <a:sysClr val="windowText" lastClr="000000"/>
              </a:solidFill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49996" y="4202194"/>
            <a:ext cx="2336254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 defTabSz="415869">
              <a:spcBef>
                <a:spcPts val="55"/>
              </a:spcBef>
            </a:pPr>
            <a:r>
              <a:rPr sz="1865" i="1" kern="0" spc="3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with</a:t>
            </a:r>
            <a:r>
              <a:rPr sz="1865" i="1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5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j</a:t>
            </a:r>
            <a:r>
              <a:rPr sz="1865" i="1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4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sampled</a:t>
            </a:r>
            <a:r>
              <a:rPr sz="1865" i="1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at</a:t>
            </a:r>
            <a:r>
              <a:rPr sz="1865" i="1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random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89840" y="4797112"/>
            <a:ext cx="7450656" cy="783853"/>
          </a:xfrm>
          <a:custGeom>
            <a:avLst/>
            <a:gdLst/>
            <a:ahLst/>
            <a:cxnLst/>
            <a:rect l="l" t="t" r="r" b="b"/>
            <a:pathLst>
              <a:path w="16381094" h="1723390">
                <a:moveTo>
                  <a:pt x="16035385" y="0"/>
                </a:moveTo>
                <a:lnTo>
                  <a:pt x="345173" y="0"/>
                </a:lnTo>
                <a:lnTo>
                  <a:pt x="276485" y="264"/>
                </a:lnTo>
                <a:lnTo>
                  <a:pt x="221092" y="2114"/>
                </a:lnTo>
                <a:lnTo>
                  <a:pt x="177094" y="7135"/>
                </a:lnTo>
                <a:lnTo>
                  <a:pt x="101303" y="37306"/>
                </a:lnTo>
                <a:lnTo>
                  <a:pt x="65822" y="65822"/>
                </a:lnTo>
                <a:lnTo>
                  <a:pt x="37307" y="101303"/>
                </a:lnTo>
                <a:lnTo>
                  <a:pt x="16915" y="142591"/>
                </a:lnTo>
                <a:lnTo>
                  <a:pt x="2114" y="221091"/>
                </a:lnTo>
                <a:lnTo>
                  <a:pt x="264" y="276485"/>
                </a:lnTo>
                <a:lnTo>
                  <a:pt x="0" y="345172"/>
                </a:lnTo>
                <a:lnTo>
                  <a:pt x="0" y="1377666"/>
                </a:lnTo>
                <a:lnTo>
                  <a:pt x="264" y="1446354"/>
                </a:lnTo>
                <a:lnTo>
                  <a:pt x="2114" y="1501747"/>
                </a:lnTo>
                <a:lnTo>
                  <a:pt x="7136" y="1545746"/>
                </a:lnTo>
                <a:lnTo>
                  <a:pt x="37307" y="1621536"/>
                </a:lnTo>
                <a:lnTo>
                  <a:pt x="65822" y="1657017"/>
                </a:lnTo>
                <a:lnTo>
                  <a:pt x="101303" y="1685533"/>
                </a:lnTo>
                <a:lnTo>
                  <a:pt x="142592" y="1705925"/>
                </a:lnTo>
                <a:lnTo>
                  <a:pt x="221092" y="1720725"/>
                </a:lnTo>
                <a:lnTo>
                  <a:pt x="276485" y="1722575"/>
                </a:lnTo>
                <a:lnTo>
                  <a:pt x="345173" y="1722840"/>
                </a:lnTo>
                <a:lnTo>
                  <a:pt x="16035385" y="1722840"/>
                </a:lnTo>
                <a:lnTo>
                  <a:pt x="16104069" y="1722575"/>
                </a:lnTo>
                <a:lnTo>
                  <a:pt x="16159461" y="1720725"/>
                </a:lnTo>
                <a:lnTo>
                  <a:pt x="16203459" y="1715704"/>
                </a:lnTo>
                <a:lnTo>
                  <a:pt x="16279252" y="1685533"/>
                </a:lnTo>
                <a:lnTo>
                  <a:pt x="16314732" y="1657017"/>
                </a:lnTo>
                <a:lnTo>
                  <a:pt x="16343246" y="1621536"/>
                </a:lnTo>
                <a:lnTo>
                  <a:pt x="16363636" y="1580248"/>
                </a:lnTo>
                <a:lnTo>
                  <a:pt x="16378442" y="1501747"/>
                </a:lnTo>
                <a:lnTo>
                  <a:pt x="16380293" y="1446354"/>
                </a:lnTo>
                <a:lnTo>
                  <a:pt x="16380557" y="1377666"/>
                </a:lnTo>
                <a:lnTo>
                  <a:pt x="16380557" y="345172"/>
                </a:lnTo>
                <a:lnTo>
                  <a:pt x="16380293" y="276485"/>
                </a:lnTo>
                <a:lnTo>
                  <a:pt x="16378442" y="221091"/>
                </a:lnTo>
                <a:lnTo>
                  <a:pt x="16373419" y="177093"/>
                </a:lnTo>
                <a:lnTo>
                  <a:pt x="16343246" y="101303"/>
                </a:lnTo>
                <a:lnTo>
                  <a:pt x="16314732" y="65822"/>
                </a:lnTo>
                <a:lnTo>
                  <a:pt x="16279252" y="37306"/>
                </a:lnTo>
                <a:lnTo>
                  <a:pt x="16237965" y="16914"/>
                </a:lnTo>
                <a:lnTo>
                  <a:pt x="16159461" y="2114"/>
                </a:lnTo>
                <a:lnTo>
                  <a:pt x="16104069" y="264"/>
                </a:lnTo>
                <a:lnTo>
                  <a:pt x="16035385" y="0"/>
                </a:lnTo>
                <a:close/>
              </a:path>
            </a:pathLst>
          </a:custGeom>
          <a:solidFill>
            <a:srgbClr val="FF644E">
              <a:alpha val="50608"/>
            </a:srgbClr>
          </a:solidFill>
        </p:spPr>
        <p:txBody>
          <a:bodyPr wrap="square" lIns="0" tIns="0" rIns="0" bIns="0" rtlCol="0"/>
          <a:lstStyle/>
          <a:p>
            <a:pPr defTabSz="415869"/>
            <a:endParaRPr sz="819" kern="0">
              <a:solidFill>
                <a:sysClr val="windowText" lastClr="000000"/>
              </a:solidFill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51080" y="4860689"/>
            <a:ext cx="2231413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 defTabSz="415869">
              <a:spcBef>
                <a:spcPts val="55"/>
              </a:spcBef>
            </a:pPr>
            <a:r>
              <a:rPr sz="1865" kern="0" spc="-3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Mini-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batch</a:t>
            </a:r>
            <a:r>
              <a:rPr sz="1865" kern="0" spc="-10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16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SGD</a:t>
            </a:r>
            <a:r>
              <a:rPr sz="1865" kern="0" spc="-9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2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Update: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93870" y="5104587"/>
            <a:ext cx="61230" cy="220747"/>
          </a:xfrm>
          <a:prstGeom prst="rect">
            <a:avLst/>
          </a:prstGeom>
        </p:spPr>
        <p:txBody>
          <a:bodyPr vert="horz" wrap="square" lIns="0" tIns="7220" rIns="0" bIns="0" rtlCol="0">
            <a:spAutoFit/>
          </a:bodyPr>
          <a:lstStyle/>
          <a:p>
            <a:pPr marL="5776" defTabSz="415869">
              <a:spcBef>
                <a:spcPts val="57"/>
              </a:spcBef>
            </a:pPr>
            <a:r>
              <a:rPr sz="1387" i="1" kern="0" spc="-2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</a:t>
            </a:r>
            <a:endParaRPr sz="1387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76895" y="4976961"/>
            <a:ext cx="2919379" cy="308562"/>
          </a:xfrm>
          <a:prstGeom prst="rect">
            <a:avLst/>
          </a:prstGeom>
        </p:spPr>
        <p:txBody>
          <a:bodyPr vert="horz" wrap="square" lIns="0" tIns="7509" rIns="0" bIns="0" rtlCol="0">
            <a:spAutoFit/>
          </a:bodyPr>
          <a:lstStyle/>
          <a:p>
            <a:pPr marL="5776" defTabSz="415869">
              <a:spcBef>
                <a:spcPts val="59"/>
              </a:spcBef>
              <a:tabLst>
                <a:tab pos="1063354" algn="l"/>
                <a:tab pos="1713150" algn="l"/>
                <a:tab pos="2184757" algn="l"/>
                <a:tab pos="2843505" algn="l"/>
              </a:tabLst>
            </a:pPr>
            <a:r>
              <a:rPr sz="1956" i="1" kern="0" spc="4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</a:t>
            </a:r>
            <a:r>
              <a:rPr sz="1956" kern="0" spc="41" dirty="0">
                <a:solidFill>
                  <a:sysClr val="windowText" lastClr="000000"/>
                </a:solidFill>
                <a:latin typeface="Cambria"/>
                <a:cs typeface="Cambria"/>
              </a:rPr>
              <a:t>+1</a:t>
            </a:r>
            <a:r>
              <a:rPr sz="1956" kern="0" dirty="0">
                <a:solidFill>
                  <a:sysClr val="windowText" lastClr="000000"/>
                </a:solidFill>
                <a:latin typeface="Cambria"/>
                <a:cs typeface="Cambria"/>
              </a:rPr>
              <a:t>	</a:t>
            </a:r>
            <a:r>
              <a:rPr sz="1956" i="1" kern="0" spc="-2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</a:t>
            </a:r>
            <a:r>
              <a:rPr sz="1956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1956" i="1" kern="0" spc="-2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</a:t>
            </a:r>
            <a:r>
              <a:rPr sz="1956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1956" kern="0" spc="518" dirty="0">
                <a:solidFill>
                  <a:sysClr val="windowText" lastClr="000000"/>
                </a:solidFill>
                <a:latin typeface="Cambria"/>
                <a:cs typeface="Cambria"/>
              </a:rPr>
              <a:t>ℬ</a:t>
            </a:r>
            <a:r>
              <a:rPr sz="1956" kern="0" dirty="0">
                <a:solidFill>
                  <a:sysClr val="windowText" lastClr="000000"/>
                </a:solidFill>
                <a:latin typeface="Cambria"/>
                <a:cs typeface="Cambria"/>
              </a:rPr>
              <a:t>	</a:t>
            </a:r>
            <a:r>
              <a:rPr sz="1956" i="1" kern="0" spc="-2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</a:t>
            </a:r>
            <a:endParaRPr sz="1956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22417" y="4786631"/>
            <a:ext cx="3291377" cy="432744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76" defTabSz="415869">
              <a:spcBef>
                <a:spcPts val="45"/>
              </a:spcBef>
              <a:tabLst>
                <a:tab pos="724017" algn="l"/>
                <a:tab pos="1465650" algn="l"/>
                <a:tab pos="2726253" algn="l"/>
              </a:tabLst>
            </a:pPr>
            <a:r>
              <a:rPr sz="2774" b="1" kern="0" spc="-2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w</a:t>
            </a:r>
            <a:r>
              <a:rPr sz="2774" b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774" kern="0" spc="352" dirty="0">
                <a:solidFill>
                  <a:sysClr val="windowText" lastClr="000000"/>
                </a:solidFill>
                <a:latin typeface="Cambria"/>
                <a:cs typeface="Cambria"/>
              </a:rPr>
              <a:t>=</a:t>
            </a:r>
            <a:r>
              <a:rPr sz="2774" kern="0" spc="159" dirty="0">
                <a:solidFill>
                  <a:sysClr val="windowText" lastClr="000000"/>
                </a:solidFill>
                <a:latin typeface="Cambria"/>
                <a:cs typeface="Cambria"/>
              </a:rPr>
              <a:t> </a:t>
            </a:r>
            <a:r>
              <a:rPr sz="2774" b="1" kern="0" spc="-2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w</a:t>
            </a:r>
            <a:r>
              <a:rPr sz="2774" b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774" kern="0" spc="352" dirty="0">
                <a:solidFill>
                  <a:sysClr val="windowText" lastClr="000000"/>
                </a:solidFill>
                <a:latin typeface="Cambria"/>
                <a:cs typeface="Cambria"/>
              </a:rPr>
              <a:t>−</a:t>
            </a:r>
            <a:r>
              <a:rPr sz="2774" kern="0" spc="5" dirty="0">
                <a:solidFill>
                  <a:sysClr val="windowText" lastClr="000000"/>
                </a:solidFill>
                <a:latin typeface="Cambria"/>
                <a:cs typeface="Cambria"/>
              </a:rPr>
              <a:t> </a:t>
            </a:r>
            <a:r>
              <a:rPr sz="2774" i="1" kern="0" spc="7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α</a:t>
            </a:r>
            <a:r>
              <a:rPr sz="2774" i="1" kern="0" spc="64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774" kern="0" spc="241" dirty="0">
                <a:solidFill>
                  <a:sysClr val="windowText" lastClr="000000"/>
                </a:solidFill>
                <a:latin typeface="Cambria"/>
                <a:cs typeface="Cambria"/>
              </a:rPr>
              <a:t>∇</a:t>
            </a:r>
            <a:r>
              <a:rPr sz="2774" i="1" kern="0" spc="24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f</a:t>
            </a:r>
            <a:r>
              <a:rPr sz="2774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774" kern="0" spc="-73" dirty="0">
                <a:solidFill>
                  <a:sysClr val="windowText" lastClr="000000"/>
                </a:solidFill>
                <a:latin typeface="Cambria"/>
                <a:cs typeface="Cambria"/>
              </a:rPr>
              <a:t>(</a:t>
            </a:r>
            <a:r>
              <a:rPr sz="2774" b="1" kern="0" spc="-7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w</a:t>
            </a:r>
            <a:r>
              <a:rPr sz="2774" b="1" kern="0" spc="-14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774" kern="0" spc="-161" dirty="0">
                <a:solidFill>
                  <a:sysClr val="windowText" lastClr="000000"/>
                </a:solidFill>
                <a:latin typeface="Cambria"/>
                <a:cs typeface="Cambria"/>
              </a:rPr>
              <a:t>)</a:t>
            </a:r>
            <a:endParaRPr sz="2774" kern="0">
              <a:solidFill>
                <a:sysClr val="windowText" lastClr="000000"/>
              </a:solidFill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38442" y="5207114"/>
            <a:ext cx="4427302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17328" defTabSz="415869">
              <a:spcBef>
                <a:spcPts val="55"/>
              </a:spcBef>
            </a:pPr>
            <a:r>
              <a:rPr sz="1865" i="1" kern="0" spc="3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with</a:t>
            </a:r>
            <a:r>
              <a:rPr sz="1865" i="1" kern="0" spc="-9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2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mini-</a:t>
            </a:r>
            <a:r>
              <a:rPr sz="1865" i="1" kern="0" spc="3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batch</a:t>
            </a:r>
            <a:r>
              <a:rPr sz="1865" i="1" kern="0" spc="-10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182" dirty="0">
                <a:solidFill>
                  <a:sysClr val="windowText" lastClr="000000"/>
                </a:solidFill>
                <a:latin typeface="Arial Black"/>
                <a:cs typeface="Arial Black"/>
              </a:rPr>
              <a:t>B</a:t>
            </a:r>
            <a:r>
              <a:rPr sz="1876" b="1" i="1" kern="0" spc="273" baseline="-707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i</a:t>
            </a:r>
            <a:r>
              <a:rPr sz="1876" b="1" i="1" kern="0" spc="119" baseline="-707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234" dirty="0">
                <a:solidFill>
                  <a:sysClr val="windowText" lastClr="000000"/>
                </a:solidFill>
                <a:latin typeface="Lucida Sans Unicode"/>
                <a:cs typeface="Lucida Sans Unicode"/>
              </a:rPr>
              <a:t>⊆</a:t>
            </a:r>
            <a:r>
              <a:rPr sz="1865" i="1" kern="0" spc="-23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{1,…</a:t>
            </a:r>
            <a:r>
              <a:rPr sz="1865" i="1" kern="0" spc="-9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-1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n}</a:t>
            </a:r>
            <a:r>
              <a:rPr sz="1865" i="1" kern="0" spc="-9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4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sampled</a:t>
            </a:r>
            <a:r>
              <a:rPr sz="1865" i="1" kern="0" spc="-9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at</a:t>
            </a:r>
            <a:r>
              <a:rPr sz="1865" i="1" kern="0" spc="-9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random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2237" y="1187452"/>
            <a:ext cx="5378093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307" dirty="0"/>
              <a:t>How</a:t>
            </a:r>
            <a:r>
              <a:rPr spc="-207" dirty="0"/>
              <a:t> </a:t>
            </a:r>
            <a:r>
              <a:rPr spc="-271" dirty="0"/>
              <a:t>to</a:t>
            </a:r>
            <a:r>
              <a:rPr spc="-207" dirty="0"/>
              <a:t> </a:t>
            </a:r>
            <a:r>
              <a:rPr spc="-218" dirty="0"/>
              <a:t>parallelize</a:t>
            </a:r>
            <a:r>
              <a:rPr spc="-205" dirty="0"/>
              <a:t> </a:t>
            </a:r>
            <a:r>
              <a:rPr spc="-197" dirty="0"/>
              <a:t>mini-</a:t>
            </a:r>
            <a:r>
              <a:rPr spc="-241" dirty="0"/>
              <a:t>batch</a:t>
            </a:r>
            <a:r>
              <a:rPr spc="-207" dirty="0"/>
              <a:t> </a:t>
            </a:r>
            <a:r>
              <a:rPr spc="-43" dirty="0"/>
              <a:t>SGD?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43232" y="2011358"/>
            <a:ext cx="8220166" cy="1417642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>
              <a:lnSpc>
                <a:spcPts val="2206"/>
              </a:lnSpc>
              <a:spcBef>
                <a:spcPts val="55"/>
              </a:spcBef>
            </a:pPr>
            <a:r>
              <a:rPr dirty="0"/>
              <a:t>Parallelization</a:t>
            </a:r>
            <a:r>
              <a:rPr spc="-55" dirty="0"/>
              <a:t> </a:t>
            </a:r>
            <a:r>
              <a:rPr dirty="0"/>
              <a:t>scheme</a:t>
            </a:r>
            <a:r>
              <a:rPr spc="-52" dirty="0"/>
              <a:t> </a:t>
            </a:r>
            <a:r>
              <a:rPr spc="34" dirty="0"/>
              <a:t>can</a:t>
            </a:r>
            <a:r>
              <a:rPr spc="-52" dirty="0"/>
              <a:t> </a:t>
            </a:r>
            <a:r>
              <a:rPr spc="-36" dirty="0"/>
              <a:t>vary</a:t>
            </a:r>
            <a:r>
              <a:rPr spc="-57" dirty="0"/>
              <a:t> </a:t>
            </a:r>
            <a:r>
              <a:rPr spc="34" dirty="0"/>
              <a:t>based</a:t>
            </a:r>
            <a:r>
              <a:rPr spc="-55" dirty="0"/>
              <a:t> </a:t>
            </a:r>
            <a:r>
              <a:rPr spc="-11" dirty="0"/>
              <a:t>on:</a:t>
            </a:r>
          </a:p>
          <a:p>
            <a:pPr marL="479405" indent="-188007">
              <a:lnSpc>
                <a:spcPts val="2174"/>
              </a:lnSpc>
              <a:buChar char="•"/>
              <a:tabLst>
                <a:tab pos="479405" algn="l"/>
              </a:tabLst>
            </a:pPr>
            <a:r>
              <a:rPr dirty="0"/>
              <a:t>parallelization</a:t>
            </a:r>
            <a:r>
              <a:rPr spc="-80" dirty="0"/>
              <a:t> </a:t>
            </a:r>
            <a:r>
              <a:rPr spc="-14" dirty="0"/>
              <a:t>technique</a:t>
            </a:r>
            <a:r>
              <a:rPr spc="-77" dirty="0"/>
              <a:t> </a:t>
            </a:r>
            <a:r>
              <a:rPr dirty="0"/>
              <a:t>(</a:t>
            </a:r>
            <a:r>
              <a:rPr i="1" dirty="0">
                <a:latin typeface="Gill Sans MT"/>
                <a:cs typeface="Gill Sans MT"/>
              </a:rPr>
              <a:t>what</a:t>
            </a:r>
            <a:r>
              <a:rPr i="1" spc="-84" dirty="0"/>
              <a:t> </a:t>
            </a:r>
            <a:r>
              <a:rPr i="1" spc="41" dirty="0"/>
              <a:t>to</a:t>
            </a:r>
            <a:r>
              <a:rPr i="1" spc="-82" dirty="0"/>
              <a:t> </a:t>
            </a:r>
            <a:r>
              <a:rPr i="1" spc="18" dirty="0"/>
              <a:t>parallelize?</a:t>
            </a:r>
            <a:r>
              <a:rPr spc="18" dirty="0"/>
              <a:t>)</a:t>
            </a:r>
          </a:p>
          <a:p>
            <a:pPr marL="479405" indent="-188007">
              <a:lnSpc>
                <a:spcPts val="2174"/>
              </a:lnSpc>
              <a:buChar char="•"/>
              <a:tabLst>
                <a:tab pos="479405" algn="l"/>
              </a:tabLst>
            </a:pPr>
            <a:r>
              <a:rPr spc="-18" dirty="0"/>
              <a:t>synchronization</a:t>
            </a:r>
            <a:r>
              <a:rPr spc="-73" dirty="0"/>
              <a:t> </a:t>
            </a:r>
            <a:r>
              <a:rPr spc="-32" dirty="0"/>
              <a:t>model</a:t>
            </a:r>
            <a:r>
              <a:rPr spc="-73" dirty="0"/>
              <a:t> </a:t>
            </a:r>
            <a:r>
              <a:rPr dirty="0"/>
              <a:t>(</a:t>
            </a:r>
            <a:r>
              <a:rPr i="1" dirty="0">
                <a:latin typeface="Gill Sans MT"/>
                <a:cs typeface="Gill Sans MT"/>
              </a:rPr>
              <a:t>when</a:t>
            </a:r>
            <a:r>
              <a:rPr i="1" spc="-75" dirty="0"/>
              <a:t> </a:t>
            </a:r>
            <a:r>
              <a:rPr i="1" spc="57" dirty="0"/>
              <a:t>do</a:t>
            </a:r>
            <a:r>
              <a:rPr i="1" spc="-75" dirty="0"/>
              <a:t> </a:t>
            </a:r>
            <a:r>
              <a:rPr i="1" spc="36" dirty="0"/>
              <a:t>we</a:t>
            </a:r>
            <a:r>
              <a:rPr i="1" spc="-77" dirty="0"/>
              <a:t> </a:t>
            </a:r>
            <a:r>
              <a:rPr i="1" spc="64" dirty="0"/>
              <a:t>send</a:t>
            </a:r>
            <a:r>
              <a:rPr i="1" spc="-75" dirty="0"/>
              <a:t> </a:t>
            </a:r>
            <a:r>
              <a:rPr i="1" spc="34" dirty="0"/>
              <a:t>updates?</a:t>
            </a:r>
            <a:r>
              <a:rPr spc="34" dirty="0"/>
              <a:t>)</a:t>
            </a:r>
          </a:p>
          <a:p>
            <a:pPr marL="479405" indent="-188007">
              <a:lnSpc>
                <a:spcPts val="2174"/>
              </a:lnSpc>
              <a:buChar char="•"/>
              <a:tabLst>
                <a:tab pos="479405" algn="l"/>
              </a:tabLst>
            </a:pPr>
            <a:r>
              <a:rPr spc="-14" dirty="0"/>
              <a:t>communication</a:t>
            </a:r>
            <a:r>
              <a:rPr spc="-82" dirty="0"/>
              <a:t> </a:t>
            </a:r>
            <a:r>
              <a:rPr spc="-5" dirty="0"/>
              <a:t>strategy</a:t>
            </a:r>
            <a:r>
              <a:rPr spc="-82" dirty="0"/>
              <a:t> </a:t>
            </a:r>
            <a:r>
              <a:rPr dirty="0"/>
              <a:t>(</a:t>
            </a:r>
            <a:r>
              <a:rPr i="1" dirty="0">
                <a:latin typeface="Gill Sans MT"/>
                <a:cs typeface="Gill Sans MT"/>
              </a:rPr>
              <a:t>where</a:t>
            </a:r>
            <a:r>
              <a:rPr i="1" spc="-84" dirty="0"/>
              <a:t> </a:t>
            </a:r>
            <a:r>
              <a:rPr i="1" spc="57" dirty="0"/>
              <a:t>do</a:t>
            </a:r>
            <a:r>
              <a:rPr i="1" spc="-84" dirty="0"/>
              <a:t> </a:t>
            </a:r>
            <a:r>
              <a:rPr i="1" spc="36" dirty="0"/>
              <a:t>we</a:t>
            </a:r>
            <a:r>
              <a:rPr i="1" spc="-86" dirty="0"/>
              <a:t> </a:t>
            </a:r>
            <a:r>
              <a:rPr i="1" spc="64" dirty="0"/>
              <a:t>send</a:t>
            </a:r>
            <a:r>
              <a:rPr i="1" spc="-84" dirty="0"/>
              <a:t> </a:t>
            </a:r>
            <a:r>
              <a:rPr i="1" spc="20" dirty="0"/>
              <a:t>them?</a:t>
            </a:r>
            <a:r>
              <a:rPr spc="20" dirty="0"/>
              <a:t>)</a:t>
            </a:r>
          </a:p>
          <a:p>
            <a:pPr marL="479405" indent="-188007">
              <a:lnSpc>
                <a:spcPts val="2206"/>
              </a:lnSpc>
              <a:buChar char="•"/>
              <a:tabLst>
                <a:tab pos="479405" algn="l"/>
              </a:tabLst>
            </a:pPr>
            <a:r>
              <a:rPr spc="-1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compression</a:t>
            </a:r>
            <a:r>
              <a:rPr spc="-8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/>
                <a:cs typeface="Gill Sans MT"/>
              </a:rPr>
              <a:t>what</a:t>
            </a:r>
            <a:r>
              <a:rPr i="1" spc="-84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i="1" spc="36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updates</a:t>
            </a:r>
            <a:r>
              <a:rPr i="1" spc="-84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i="1" spc="57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do</a:t>
            </a:r>
            <a:r>
              <a:rPr i="1" spc="-84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i="1" spc="36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we</a:t>
            </a:r>
            <a:r>
              <a:rPr i="1" spc="-84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i="1" spc="55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send?</a:t>
            </a:r>
            <a:r>
              <a:rPr spc="55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2237" y="1035612"/>
            <a:ext cx="965810" cy="213238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76" defTabSz="415869">
              <a:spcBef>
                <a:spcPts val="52"/>
              </a:spcBef>
            </a:pPr>
            <a:r>
              <a:rPr sz="1342" b="1" kern="0" spc="-32" dirty="0">
                <a:solidFill>
                  <a:srgbClr val="FF644E"/>
                </a:solidFill>
                <a:latin typeface="Trebuchet MS"/>
                <a:cs typeface="Trebuchet MS"/>
              </a:rPr>
              <a:t>QU</a:t>
            </a:r>
            <a:r>
              <a:rPr sz="1342" b="1" kern="0" spc="-177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kern="0" spc="75" dirty="0">
                <a:solidFill>
                  <a:srgbClr val="FF644E"/>
                </a:solidFill>
                <a:latin typeface="Trebuchet MS"/>
                <a:cs typeface="Trebuchet MS"/>
              </a:rPr>
              <a:t>ES</a:t>
            </a:r>
            <a:r>
              <a:rPr sz="1342" b="1" kern="0" spc="-175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kern="0" spc="82" dirty="0">
                <a:solidFill>
                  <a:srgbClr val="FF644E"/>
                </a:solidFill>
                <a:latin typeface="Trebuchet MS"/>
                <a:cs typeface="Trebuchet MS"/>
              </a:rPr>
              <a:t>TION </a:t>
            </a:r>
            <a:endParaRPr sz="1342" kern="0">
              <a:solidFill>
                <a:sysClr val="windowText" lastClr="000000"/>
              </a:solidFill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3232" y="4816326"/>
            <a:ext cx="8006921" cy="585547"/>
          </a:xfrm>
          <a:prstGeom prst="rect">
            <a:avLst/>
          </a:prstGeom>
        </p:spPr>
        <p:txBody>
          <a:bodyPr vert="horz" wrap="square" lIns="0" tIns="21084" rIns="0" bIns="0" rtlCol="0">
            <a:spAutoFit/>
          </a:bodyPr>
          <a:lstStyle/>
          <a:p>
            <a:pPr marL="5776" marR="2310" defTabSz="415869">
              <a:lnSpc>
                <a:spcPts val="2174"/>
              </a:lnSpc>
              <a:spcBef>
                <a:spcPts val="166"/>
              </a:spcBef>
            </a:pPr>
            <a:r>
              <a:rPr sz="1865" i="1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*Note:</a:t>
            </a:r>
            <a:r>
              <a:rPr sz="1865" i="1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-3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While</a:t>
            </a:r>
            <a:r>
              <a:rPr sz="1865" i="1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3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we</a:t>
            </a:r>
            <a:r>
              <a:rPr sz="1865" i="1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3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motivate</a:t>
            </a:r>
            <a:r>
              <a:rPr sz="1865" i="1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5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these</a:t>
            </a:r>
            <a:r>
              <a:rPr sz="1865" i="1" kern="0" spc="-8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3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approaches</a:t>
            </a:r>
            <a:r>
              <a:rPr sz="1865" i="1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3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with</a:t>
            </a:r>
            <a:r>
              <a:rPr sz="1865" i="1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2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mini-</a:t>
            </a:r>
            <a:r>
              <a:rPr sz="1865" i="1" kern="0" spc="3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batch</a:t>
            </a:r>
            <a:r>
              <a:rPr sz="1865" i="1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-6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SGD,</a:t>
            </a:r>
            <a:r>
              <a:rPr sz="1865" i="1" kern="0" spc="-8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2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they</a:t>
            </a:r>
            <a:r>
              <a:rPr sz="1865" i="1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are</a:t>
            </a:r>
            <a:r>
              <a:rPr sz="1865" i="1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3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applicable</a:t>
            </a:r>
            <a:r>
              <a:rPr sz="1865" i="1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3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to </a:t>
            </a:r>
            <a:r>
              <a:rPr sz="1865" i="1" kern="0" spc="2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the</a:t>
            </a:r>
            <a:r>
              <a:rPr sz="1865" i="1" kern="0" spc="-5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2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other</a:t>
            </a:r>
            <a:r>
              <a:rPr sz="1865" i="1" kern="0" spc="-5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5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first-</a:t>
            </a:r>
            <a:r>
              <a:rPr sz="1865" i="1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order</a:t>
            </a:r>
            <a:r>
              <a:rPr sz="1865" i="1" kern="0" spc="-5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lang="en-US" sz="1865" i="1" kern="0" spc="-5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optimization </a:t>
            </a:r>
            <a:r>
              <a:rPr sz="1865" i="1" kern="0" spc="4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methods</a:t>
            </a:r>
            <a:r>
              <a:rPr sz="1865" i="1" kern="0" spc="-5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(AdaGrad,</a:t>
            </a:r>
            <a:r>
              <a:rPr sz="1865" i="1" kern="0" spc="-5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RMSProp,</a:t>
            </a:r>
            <a:r>
              <a:rPr sz="1865" i="1" kern="0" spc="-5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Adam,</a:t>
            </a:r>
            <a:r>
              <a:rPr sz="1865" i="1" kern="0" spc="-5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6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etc.)</a:t>
            </a:r>
            <a:endParaRPr sz="1865" kern="0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5646" y="300176"/>
            <a:ext cx="7172441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230" dirty="0"/>
              <a:t>Data</a:t>
            </a:r>
            <a:r>
              <a:rPr spc="-209" dirty="0"/>
              <a:t> </a:t>
            </a:r>
            <a:r>
              <a:rPr spc="-214" dirty="0"/>
              <a:t>parallel</a:t>
            </a:r>
            <a:r>
              <a:rPr spc="-209" dirty="0"/>
              <a:t> </a:t>
            </a:r>
            <a:r>
              <a:rPr spc="-136" dirty="0"/>
              <a:t>vs.</a:t>
            </a:r>
            <a:r>
              <a:rPr spc="-209" dirty="0"/>
              <a:t> </a:t>
            </a:r>
            <a:r>
              <a:rPr spc="-255" dirty="0"/>
              <a:t>model</a:t>
            </a:r>
            <a:r>
              <a:rPr spc="-209" dirty="0"/>
              <a:t> </a:t>
            </a:r>
            <a:r>
              <a:rPr spc="-218" dirty="0"/>
              <a:t>parallel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1327" y="1276360"/>
            <a:ext cx="1447335" cy="175440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7950" y="3527826"/>
            <a:ext cx="2278836" cy="118745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264590" y="1350745"/>
            <a:ext cx="5399177" cy="1430466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 defTabSz="415869">
              <a:lnSpc>
                <a:spcPts val="2206"/>
              </a:lnSpc>
              <a:spcBef>
                <a:spcPts val="55"/>
              </a:spcBef>
            </a:pPr>
            <a:r>
              <a:rPr sz="1865" kern="0" spc="-57" dirty="0">
                <a:solidFill>
                  <a:srgbClr val="FF644E"/>
                </a:solidFill>
                <a:latin typeface="Gill Sans MT"/>
                <a:cs typeface="Gill Sans MT"/>
              </a:rPr>
              <a:t>Data</a:t>
            </a:r>
            <a:r>
              <a:rPr sz="1865" kern="0" spc="-80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rgbClr val="FF644E"/>
                </a:solidFill>
                <a:latin typeface="Gill Sans MT"/>
                <a:cs typeface="Gill Sans MT"/>
              </a:rPr>
              <a:t>parallel</a:t>
            </a:r>
            <a:endParaRPr sz="1865" kern="0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marL="193495" indent="-187719" defTabSz="415869">
              <a:lnSpc>
                <a:spcPts val="2174"/>
              </a:lnSpc>
              <a:buFontTx/>
              <a:buChar char="•"/>
              <a:tabLst>
                <a:tab pos="193495" algn="l"/>
              </a:tabLst>
            </a:pP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Replicate</a:t>
            </a:r>
            <a:r>
              <a:rPr sz="1865" kern="0" spc="-9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4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the</a:t>
            </a:r>
            <a:r>
              <a:rPr sz="1865" kern="0" spc="-8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3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model</a:t>
            </a:r>
            <a:r>
              <a:rPr sz="1865" kern="0" spc="-9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on</a:t>
            </a:r>
            <a:r>
              <a:rPr sz="1865" kern="0" spc="-8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2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each</a:t>
            </a:r>
            <a:r>
              <a:rPr sz="1865" kern="0" spc="-9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machine</a:t>
            </a:r>
            <a:endParaRPr sz="1865" kern="0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marL="193495" indent="-187719" defTabSz="415869">
              <a:lnSpc>
                <a:spcPts val="2174"/>
              </a:lnSpc>
              <a:buFontTx/>
              <a:buChar char="•"/>
              <a:tabLst>
                <a:tab pos="193495" algn="l"/>
              </a:tabLst>
            </a:pPr>
            <a:r>
              <a:rPr sz="1865" kern="0" spc="2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Each</a:t>
            </a:r>
            <a:r>
              <a:rPr sz="1865" kern="0" spc="-7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machine</a:t>
            </a:r>
            <a:r>
              <a:rPr sz="1865" kern="0" spc="-7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6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accesses</a:t>
            </a:r>
            <a:r>
              <a:rPr sz="1865" kern="0" spc="-7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9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</a:t>
            </a:r>
            <a:r>
              <a:rPr sz="1865" kern="0" spc="-7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portion</a:t>
            </a:r>
            <a:r>
              <a:rPr sz="1865" kern="0" spc="-7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of</a:t>
            </a:r>
            <a:r>
              <a:rPr sz="1865" kern="0" spc="-7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4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the</a:t>
            </a:r>
            <a:r>
              <a:rPr sz="1865" kern="0" spc="-7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dataset</a:t>
            </a:r>
            <a:endParaRPr sz="1865" kern="0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marL="193495" marR="2310" indent="-188007" defTabSz="415869">
              <a:lnSpc>
                <a:spcPts val="2174"/>
              </a:lnSpc>
              <a:spcBef>
                <a:spcPts val="82"/>
              </a:spcBef>
              <a:buFont typeface="Gill Sans MT"/>
              <a:buChar char="•"/>
              <a:tabLst>
                <a:tab pos="193495" algn="l"/>
              </a:tabLst>
            </a:pPr>
            <a:r>
              <a:rPr sz="1865" i="1" kern="0" spc="3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Most</a:t>
            </a:r>
            <a:r>
              <a:rPr sz="1865" i="1" kern="0" spc="-6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4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common</a:t>
            </a:r>
            <a:r>
              <a:rPr sz="1865" i="1" kern="0" spc="-6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approach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:</a:t>
            </a:r>
            <a:r>
              <a:rPr sz="1865" kern="0" spc="-6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typically</a:t>
            </a:r>
            <a:r>
              <a:rPr sz="1865" kern="0" spc="-6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2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preferable</a:t>
            </a:r>
            <a:r>
              <a:rPr sz="1865" kern="0" spc="-5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in</a:t>
            </a:r>
            <a:r>
              <a:rPr sz="1865" kern="0" spc="-6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3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terms</a:t>
            </a:r>
            <a:r>
              <a:rPr sz="1865" kern="0" spc="-6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1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of </a:t>
            </a:r>
            <a:r>
              <a:rPr sz="1865" kern="0" spc="-2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implementation,</a:t>
            </a:r>
            <a:r>
              <a:rPr sz="1865" kern="0" spc="-6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2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fault</a:t>
            </a:r>
            <a:r>
              <a:rPr sz="1865" kern="0" spc="-6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3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tolerance,</a:t>
            </a:r>
            <a:r>
              <a:rPr sz="1865" kern="0" spc="-6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and</a:t>
            </a:r>
            <a:r>
              <a:rPr sz="1865" kern="0" spc="-6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parallelizability</a:t>
            </a:r>
            <a:endParaRPr sz="1865" kern="0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64591" y="3491045"/>
            <a:ext cx="4584130" cy="2828285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 defTabSz="415869">
              <a:lnSpc>
                <a:spcPts val="2206"/>
              </a:lnSpc>
              <a:spcBef>
                <a:spcPts val="55"/>
              </a:spcBef>
            </a:pPr>
            <a:r>
              <a:rPr sz="1865" kern="0" spc="-34" dirty="0">
                <a:solidFill>
                  <a:srgbClr val="FF644E"/>
                </a:solidFill>
                <a:latin typeface="Gill Sans MT"/>
                <a:cs typeface="Gill Sans MT"/>
              </a:rPr>
              <a:t>Model</a:t>
            </a:r>
            <a:r>
              <a:rPr sz="1865" kern="0" spc="-89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rgbClr val="FF644E"/>
                </a:solidFill>
                <a:latin typeface="Gill Sans MT"/>
                <a:cs typeface="Gill Sans MT"/>
              </a:rPr>
              <a:t>parallel</a:t>
            </a:r>
            <a:endParaRPr sz="1865" kern="0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marL="193495" indent="-187719" defTabSz="415869">
              <a:lnSpc>
                <a:spcPts val="2174"/>
              </a:lnSpc>
              <a:buFontTx/>
              <a:buChar char="•"/>
              <a:tabLst>
                <a:tab pos="193495" algn="l"/>
              </a:tabLst>
            </a:pP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Replicate</a:t>
            </a:r>
            <a:r>
              <a:rPr sz="1865" kern="0" spc="-10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4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the</a:t>
            </a:r>
            <a:r>
              <a:rPr sz="1865" kern="0" spc="-8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2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data</a:t>
            </a:r>
            <a:r>
              <a:rPr sz="1865" kern="0" spc="-9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on</a:t>
            </a:r>
            <a:r>
              <a:rPr sz="1865" kern="0" spc="-8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2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each</a:t>
            </a:r>
            <a:r>
              <a:rPr sz="1865" kern="0" spc="-9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machine</a:t>
            </a:r>
            <a:endParaRPr sz="1865" kern="0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marL="193495" indent="-187719" defTabSz="415869">
              <a:lnSpc>
                <a:spcPts val="2174"/>
              </a:lnSpc>
              <a:buFontTx/>
              <a:buChar char="•"/>
              <a:tabLst>
                <a:tab pos="193495" algn="l"/>
              </a:tabLst>
            </a:pPr>
            <a:r>
              <a:rPr sz="1865" kern="0" spc="2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Each</a:t>
            </a:r>
            <a:r>
              <a:rPr sz="1865" kern="0" spc="-7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machine</a:t>
            </a:r>
            <a:r>
              <a:rPr sz="1865" kern="0" spc="-7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6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accesses</a:t>
            </a:r>
            <a:r>
              <a:rPr sz="1865" kern="0" spc="-7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9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</a:t>
            </a:r>
            <a:r>
              <a:rPr sz="1865" kern="0" spc="-7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portion</a:t>
            </a:r>
            <a:r>
              <a:rPr sz="1865" kern="0" spc="-7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of</a:t>
            </a:r>
            <a:r>
              <a:rPr sz="1865" kern="0" spc="-7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4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the</a:t>
            </a:r>
            <a:r>
              <a:rPr sz="1865" kern="0" spc="-7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model</a:t>
            </a:r>
            <a:endParaRPr sz="1865" kern="0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marL="193495" indent="-187719" defTabSz="415869">
              <a:lnSpc>
                <a:spcPts val="2206"/>
              </a:lnSpc>
              <a:buFontTx/>
              <a:buChar char="•"/>
              <a:tabLst>
                <a:tab pos="193495" algn="l"/>
              </a:tabLst>
            </a:pPr>
            <a:r>
              <a:rPr sz="1865" kern="0" spc="-10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An</a:t>
            </a:r>
            <a:r>
              <a:rPr sz="1865" kern="0" spc="-8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2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attractive</a:t>
            </a:r>
            <a:r>
              <a:rPr sz="1865" kern="0" spc="-8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1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approach</a:t>
            </a:r>
            <a:r>
              <a:rPr sz="1865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for</a:t>
            </a:r>
            <a:r>
              <a:rPr sz="1865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4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massive</a:t>
            </a:r>
            <a:r>
              <a:rPr sz="1865" kern="0" spc="-8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models</a:t>
            </a:r>
            <a:endParaRPr lang="en-US" sz="1865" kern="0" spc="-5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marL="193495" indent="-187719" defTabSz="415869">
              <a:lnSpc>
                <a:spcPts val="2206"/>
              </a:lnSpc>
              <a:buFontTx/>
              <a:buChar char="•"/>
              <a:tabLst>
                <a:tab pos="193495" algn="l"/>
              </a:tabLst>
            </a:pPr>
            <a:endParaRPr lang="en-US" sz="1865" kern="0" spc="-5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marL="193495" indent="-187719" defTabSz="415869">
              <a:lnSpc>
                <a:spcPts val="2206"/>
              </a:lnSpc>
              <a:buFontTx/>
              <a:buChar char="•"/>
              <a:tabLst>
                <a:tab pos="193495" algn="l"/>
              </a:tabLst>
            </a:pPr>
            <a:r>
              <a:rPr lang="en-US"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Subcategories:</a:t>
            </a:r>
          </a:p>
          <a:p>
            <a:pPr marL="650695" lvl="1" indent="-187719" defTabSz="415869">
              <a:lnSpc>
                <a:spcPts val="2206"/>
              </a:lnSpc>
              <a:buFontTx/>
              <a:buChar char="•"/>
              <a:tabLst>
                <a:tab pos="193495" algn="l"/>
              </a:tabLst>
            </a:pPr>
            <a:r>
              <a:rPr lang="en-US" sz="1865" b="1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Intra-layer</a:t>
            </a:r>
            <a:r>
              <a:rPr lang="en-US"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parallel</a:t>
            </a:r>
          </a:p>
          <a:p>
            <a:pPr marL="1107895" lvl="2" indent="-187719" defTabSz="415869">
              <a:lnSpc>
                <a:spcPts val="2206"/>
              </a:lnSpc>
              <a:buFontTx/>
              <a:buChar char="•"/>
              <a:tabLst>
                <a:tab pos="193495" algn="l"/>
              </a:tabLst>
            </a:pPr>
            <a:r>
              <a:rPr lang="en-US" sz="1865" b="1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Tensor</a:t>
            </a:r>
            <a:r>
              <a:rPr lang="en-US"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parallel</a:t>
            </a:r>
          </a:p>
          <a:p>
            <a:pPr marL="650695" lvl="1" indent="-187719" defTabSz="415869">
              <a:lnSpc>
                <a:spcPts val="2206"/>
              </a:lnSpc>
              <a:buFontTx/>
              <a:buChar char="•"/>
              <a:tabLst>
                <a:tab pos="193495" algn="l"/>
              </a:tabLst>
            </a:pPr>
            <a:r>
              <a:rPr lang="en-US" sz="1865" b="1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Inter-layer</a:t>
            </a:r>
            <a:r>
              <a:rPr lang="en-US"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parallel </a:t>
            </a:r>
          </a:p>
          <a:p>
            <a:pPr marL="1107895" lvl="2" indent="-187719" defTabSz="415869">
              <a:lnSpc>
                <a:spcPts val="2206"/>
              </a:lnSpc>
              <a:buFontTx/>
              <a:buChar char="•"/>
              <a:tabLst>
                <a:tab pos="193495" algn="l"/>
              </a:tabLst>
            </a:pPr>
            <a:r>
              <a:rPr lang="en-US" sz="1865" b="1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Pipeline</a:t>
            </a:r>
            <a:r>
              <a:rPr lang="en-US"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parallel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414B6A-1CC0-F122-A32D-3B159E292C03}"/>
              </a:ext>
            </a:extLst>
          </p:cNvPr>
          <p:cNvSpPr txBox="1"/>
          <p:nvPr/>
        </p:nvSpPr>
        <p:spPr>
          <a:xfrm>
            <a:off x="3264590" y="2951462"/>
            <a:ext cx="2007498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Hybrid schemes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496" y="1057414"/>
            <a:ext cx="7115291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230" dirty="0"/>
              <a:t>Data</a:t>
            </a:r>
            <a:r>
              <a:rPr spc="-209" dirty="0"/>
              <a:t> </a:t>
            </a:r>
            <a:r>
              <a:rPr spc="-214" dirty="0"/>
              <a:t>parallel</a:t>
            </a:r>
            <a:r>
              <a:rPr spc="-209" dirty="0"/>
              <a:t> </a:t>
            </a:r>
            <a:r>
              <a:rPr spc="-136" dirty="0"/>
              <a:t>vs.</a:t>
            </a:r>
            <a:r>
              <a:rPr spc="-209" dirty="0"/>
              <a:t> </a:t>
            </a:r>
            <a:r>
              <a:rPr spc="-255" dirty="0"/>
              <a:t>model</a:t>
            </a:r>
            <a:r>
              <a:rPr spc="-209" dirty="0"/>
              <a:t> </a:t>
            </a:r>
            <a:r>
              <a:rPr spc="-218" dirty="0"/>
              <a:t>parallel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8464" y="2062173"/>
            <a:ext cx="1447335" cy="175440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5087" y="4313639"/>
            <a:ext cx="2278836" cy="118745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221727" y="2136558"/>
            <a:ext cx="5399177" cy="1430466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 defTabSz="415869">
              <a:lnSpc>
                <a:spcPts val="2206"/>
              </a:lnSpc>
              <a:spcBef>
                <a:spcPts val="55"/>
              </a:spcBef>
            </a:pPr>
            <a:r>
              <a:rPr sz="1865" kern="0" spc="-57" dirty="0">
                <a:solidFill>
                  <a:srgbClr val="FF644E"/>
                </a:solidFill>
                <a:latin typeface="Gill Sans MT"/>
                <a:cs typeface="Gill Sans MT"/>
              </a:rPr>
              <a:t>Data</a:t>
            </a:r>
            <a:r>
              <a:rPr sz="1865" kern="0" spc="-80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rgbClr val="FF644E"/>
                </a:solidFill>
                <a:latin typeface="Gill Sans MT"/>
                <a:cs typeface="Gill Sans MT"/>
              </a:rPr>
              <a:t>parallel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marL="193495" indent="-187719" defTabSz="415869">
              <a:lnSpc>
                <a:spcPts val="2174"/>
              </a:lnSpc>
              <a:buFontTx/>
              <a:buChar char="•"/>
              <a:tabLst>
                <a:tab pos="193495" algn="l"/>
              </a:tabLst>
            </a:pP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Replicate</a:t>
            </a:r>
            <a:r>
              <a:rPr sz="1865" kern="0" spc="-9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4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the</a:t>
            </a:r>
            <a:r>
              <a:rPr sz="1865" kern="0" spc="-8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3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model</a:t>
            </a:r>
            <a:r>
              <a:rPr sz="1865" kern="0" spc="-9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on</a:t>
            </a:r>
            <a:r>
              <a:rPr sz="1865" kern="0" spc="-8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2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each</a:t>
            </a:r>
            <a:r>
              <a:rPr sz="1865" kern="0" spc="-9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machine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marL="193495" indent="-187719" defTabSz="415869">
              <a:lnSpc>
                <a:spcPts val="2174"/>
              </a:lnSpc>
              <a:buFontTx/>
              <a:buChar char="•"/>
              <a:tabLst>
                <a:tab pos="193495" algn="l"/>
              </a:tabLst>
            </a:pPr>
            <a:r>
              <a:rPr sz="1865" kern="0" spc="2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Each</a:t>
            </a:r>
            <a:r>
              <a:rPr sz="1865" kern="0" spc="-7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machine</a:t>
            </a:r>
            <a:r>
              <a:rPr sz="1865" kern="0" spc="-7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6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accesses</a:t>
            </a:r>
            <a:r>
              <a:rPr sz="1865" kern="0" spc="-7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9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</a:t>
            </a:r>
            <a:r>
              <a:rPr sz="1865" kern="0" spc="-7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portion</a:t>
            </a:r>
            <a:r>
              <a:rPr sz="1865" kern="0" spc="-7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of</a:t>
            </a:r>
            <a:r>
              <a:rPr sz="1865" kern="0" spc="-7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4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the</a:t>
            </a:r>
            <a:r>
              <a:rPr sz="1865" kern="0" spc="-7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dataset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marL="193495" marR="2310" indent="-188007" defTabSz="415869">
              <a:lnSpc>
                <a:spcPts val="2174"/>
              </a:lnSpc>
              <a:spcBef>
                <a:spcPts val="82"/>
              </a:spcBef>
              <a:buFont typeface="Gill Sans MT"/>
              <a:buChar char="•"/>
              <a:tabLst>
                <a:tab pos="193495" algn="l"/>
              </a:tabLst>
            </a:pPr>
            <a:r>
              <a:rPr sz="1865" i="1" kern="0" spc="3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Most</a:t>
            </a:r>
            <a:r>
              <a:rPr sz="1865" i="1" kern="0" spc="-6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4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common</a:t>
            </a:r>
            <a:r>
              <a:rPr sz="1865" i="1" kern="0" spc="-6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approach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:</a:t>
            </a:r>
            <a:r>
              <a:rPr sz="1865" kern="0" spc="-6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typically</a:t>
            </a:r>
            <a:r>
              <a:rPr sz="1865" kern="0" spc="-6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2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preferable</a:t>
            </a:r>
            <a:r>
              <a:rPr sz="1865" kern="0" spc="-5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in</a:t>
            </a:r>
            <a:r>
              <a:rPr sz="1865" kern="0" spc="-6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3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terms</a:t>
            </a:r>
            <a:r>
              <a:rPr sz="1865" kern="0" spc="-6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1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of </a:t>
            </a:r>
            <a:r>
              <a:rPr sz="1865" kern="0" spc="-2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implementation,</a:t>
            </a:r>
            <a:r>
              <a:rPr sz="1865" kern="0" spc="-6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2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fault</a:t>
            </a:r>
            <a:r>
              <a:rPr sz="1865" kern="0" spc="-6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3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tolerance,</a:t>
            </a:r>
            <a:r>
              <a:rPr sz="1865" kern="0" spc="-6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and</a:t>
            </a:r>
            <a:r>
              <a:rPr sz="1865" kern="0" spc="-6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parallelizability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21728" y="4276858"/>
            <a:ext cx="4584130" cy="1135514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 defTabSz="415869">
              <a:lnSpc>
                <a:spcPts val="2206"/>
              </a:lnSpc>
              <a:spcBef>
                <a:spcPts val="55"/>
              </a:spcBef>
            </a:pPr>
            <a:r>
              <a:rPr sz="1865" kern="0" spc="-34" dirty="0">
                <a:solidFill>
                  <a:srgbClr val="FF644E"/>
                </a:solidFill>
                <a:latin typeface="Gill Sans MT"/>
                <a:cs typeface="Gill Sans MT"/>
              </a:rPr>
              <a:t>Model</a:t>
            </a:r>
            <a:r>
              <a:rPr sz="1865" kern="0" spc="-89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rgbClr val="FF644E"/>
                </a:solidFill>
                <a:latin typeface="Gill Sans MT"/>
                <a:cs typeface="Gill Sans MT"/>
              </a:rPr>
              <a:t>parallel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marL="193495" indent="-187719" defTabSz="415869">
              <a:lnSpc>
                <a:spcPts val="2174"/>
              </a:lnSpc>
              <a:buFontTx/>
              <a:buChar char="•"/>
              <a:tabLst>
                <a:tab pos="193495" algn="l"/>
              </a:tabLst>
            </a:pP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Replicate</a:t>
            </a:r>
            <a:r>
              <a:rPr sz="1865" kern="0" spc="-10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4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the</a:t>
            </a:r>
            <a:r>
              <a:rPr sz="1865" kern="0" spc="-8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2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data</a:t>
            </a:r>
            <a:r>
              <a:rPr sz="1865" kern="0" spc="-9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on</a:t>
            </a:r>
            <a:r>
              <a:rPr sz="1865" kern="0" spc="-8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2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each</a:t>
            </a:r>
            <a:r>
              <a:rPr sz="1865" kern="0" spc="-9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machine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marL="193495" indent="-187719" defTabSz="415869">
              <a:lnSpc>
                <a:spcPts val="2174"/>
              </a:lnSpc>
              <a:buFontTx/>
              <a:buChar char="•"/>
              <a:tabLst>
                <a:tab pos="193495" algn="l"/>
              </a:tabLst>
            </a:pPr>
            <a:r>
              <a:rPr sz="1865" kern="0" spc="2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Each</a:t>
            </a:r>
            <a:r>
              <a:rPr sz="1865" kern="0" spc="-7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machine</a:t>
            </a:r>
            <a:r>
              <a:rPr sz="1865" kern="0" spc="-7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6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accesses</a:t>
            </a:r>
            <a:r>
              <a:rPr sz="1865" kern="0" spc="-7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9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</a:t>
            </a:r>
            <a:r>
              <a:rPr sz="1865" kern="0" spc="-7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portion</a:t>
            </a:r>
            <a:r>
              <a:rPr sz="1865" kern="0" spc="-7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of</a:t>
            </a:r>
            <a:r>
              <a:rPr sz="1865" kern="0" spc="-7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4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the</a:t>
            </a:r>
            <a:r>
              <a:rPr sz="1865" kern="0" spc="-7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model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marL="193495" indent="-187719" defTabSz="415869">
              <a:lnSpc>
                <a:spcPts val="2206"/>
              </a:lnSpc>
              <a:buFontTx/>
              <a:buChar char="•"/>
              <a:tabLst>
                <a:tab pos="193495" algn="l"/>
              </a:tabLst>
            </a:pPr>
            <a:r>
              <a:rPr sz="1865" kern="0" spc="-10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An</a:t>
            </a:r>
            <a:r>
              <a:rPr sz="1865" kern="0" spc="-8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2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attractive</a:t>
            </a:r>
            <a:r>
              <a:rPr sz="1865" kern="0" spc="-8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1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approach</a:t>
            </a:r>
            <a:r>
              <a:rPr sz="1865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for</a:t>
            </a:r>
            <a:r>
              <a:rPr sz="1865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4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massive</a:t>
            </a:r>
            <a:r>
              <a:rPr sz="1865" kern="0" spc="-8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models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30460" y="1830847"/>
            <a:ext cx="8136600" cy="2147656"/>
          </a:xfrm>
          <a:custGeom>
            <a:avLst/>
            <a:gdLst/>
            <a:ahLst/>
            <a:cxnLst/>
            <a:rect l="l" t="t" r="r" b="b"/>
            <a:pathLst>
              <a:path w="17889220" h="4721859">
                <a:moveTo>
                  <a:pt x="1132341" y="0"/>
                </a:moveTo>
                <a:lnTo>
                  <a:pt x="16756746" y="0"/>
                </a:lnTo>
                <a:lnTo>
                  <a:pt x="16831100" y="25"/>
                </a:lnTo>
                <a:lnTo>
                  <a:pt x="16900915" y="202"/>
                </a:lnTo>
                <a:lnTo>
                  <a:pt x="16966375" y="681"/>
                </a:lnTo>
                <a:lnTo>
                  <a:pt x="17027660" y="1616"/>
                </a:lnTo>
                <a:lnTo>
                  <a:pt x="17084952" y="3157"/>
                </a:lnTo>
                <a:lnTo>
                  <a:pt x="17138433" y="5455"/>
                </a:lnTo>
                <a:lnTo>
                  <a:pt x="17188283" y="8663"/>
                </a:lnTo>
                <a:lnTo>
                  <a:pt x="17234685" y="12931"/>
                </a:lnTo>
                <a:lnTo>
                  <a:pt x="17277820" y="18412"/>
                </a:lnTo>
                <a:lnTo>
                  <a:pt x="17317870" y="25257"/>
                </a:lnTo>
                <a:lnTo>
                  <a:pt x="17389439" y="43644"/>
                </a:lnTo>
                <a:lnTo>
                  <a:pt x="17468353" y="74592"/>
                </a:lnTo>
                <a:lnTo>
                  <a:pt x="17513549" y="96938"/>
                </a:lnTo>
                <a:lnTo>
                  <a:pt x="17556769" y="122385"/>
                </a:lnTo>
                <a:lnTo>
                  <a:pt x="17597872" y="150793"/>
                </a:lnTo>
                <a:lnTo>
                  <a:pt x="17636717" y="182022"/>
                </a:lnTo>
                <a:lnTo>
                  <a:pt x="17673164" y="215930"/>
                </a:lnTo>
                <a:lnTo>
                  <a:pt x="17707072" y="252377"/>
                </a:lnTo>
                <a:lnTo>
                  <a:pt x="17738301" y="291222"/>
                </a:lnTo>
                <a:lnTo>
                  <a:pt x="17766709" y="332325"/>
                </a:lnTo>
                <a:lnTo>
                  <a:pt x="17792156" y="375545"/>
                </a:lnTo>
                <a:lnTo>
                  <a:pt x="17814501" y="420740"/>
                </a:lnTo>
                <a:lnTo>
                  <a:pt x="17833603" y="467771"/>
                </a:lnTo>
                <a:lnTo>
                  <a:pt x="17855474" y="534077"/>
                </a:lnTo>
                <a:lnTo>
                  <a:pt x="17870677" y="611272"/>
                </a:lnTo>
                <a:lnTo>
                  <a:pt x="17876158" y="654407"/>
                </a:lnTo>
                <a:lnTo>
                  <a:pt x="17880426" y="700809"/>
                </a:lnTo>
                <a:lnTo>
                  <a:pt x="17883633" y="750660"/>
                </a:lnTo>
                <a:lnTo>
                  <a:pt x="17885931" y="804140"/>
                </a:lnTo>
                <a:lnTo>
                  <a:pt x="17887472" y="861431"/>
                </a:lnTo>
                <a:lnTo>
                  <a:pt x="17888406" y="922716"/>
                </a:lnTo>
                <a:lnTo>
                  <a:pt x="17888886" y="988174"/>
                </a:lnTo>
                <a:lnTo>
                  <a:pt x="17889063" y="1057989"/>
                </a:lnTo>
                <a:lnTo>
                  <a:pt x="17889088" y="1132341"/>
                </a:lnTo>
                <a:lnTo>
                  <a:pt x="17889088" y="3589502"/>
                </a:lnTo>
                <a:lnTo>
                  <a:pt x="17889063" y="3663854"/>
                </a:lnTo>
                <a:lnTo>
                  <a:pt x="17888886" y="3733668"/>
                </a:lnTo>
                <a:lnTo>
                  <a:pt x="17888406" y="3799127"/>
                </a:lnTo>
                <a:lnTo>
                  <a:pt x="17887472" y="3860411"/>
                </a:lnTo>
                <a:lnTo>
                  <a:pt x="17885931" y="3917702"/>
                </a:lnTo>
                <a:lnTo>
                  <a:pt x="17883633" y="3971183"/>
                </a:lnTo>
                <a:lnTo>
                  <a:pt x="17880426" y="4021033"/>
                </a:lnTo>
                <a:lnTo>
                  <a:pt x="17876158" y="4067435"/>
                </a:lnTo>
                <a:lnTo>
                  <a:pt x="17870677" y="4110570"/>
                </a:lnTo>
                <a:lnTo>
                  <a:pt x="17863833" y="4150619"/>
                </a:lnTo>
                <a:lnTo>
                  <a:pt x="17845448" y="4222189"/>
                </a:lnTo>
                <a:lnTo>
                  <a:pt x="17814501" y="4301102"/>
                </a:lnTo>
                <a:lnTo>
                  <a:pt x="17792156" y="4346298"/>
                </a:lnTo>
                <a:lnTo>
                  <a:pt x="17766709" y="4389517"/>
                </a:lnTo>
                <a:lnTo>
                  <a:pt x="17738301" y="4430620"/>
                </a:lnTo>
                <a:lnTo>
                  <a:pt x="17707072" y="4469465"/>
                </a:lnTo>
                <a:lnTo>
                  <a:pt x="17673164" y="4505912"/>
                </a:lnTo>
                <a:lnTo>
                  <a:pt x="17636717" y="4539820"/>
                </a:lnTo>
                <a:lnTo>
                  <a:pt x="17597872" y="4571049"/>
                </a:lnTo>
                <a:lnTo>
                  <a:pt x="17556769" y="4599457"/>
                </a:lnTo>
                <a:lnTo>
                  <a:pt x="17513549" y="4624904"/>
                </a:lnTo>
                <a:lnTo>
                  <a:pt x="17468353" y="4647250"/>
                </a:lnTo>
                <a:lnTo>
                  <a:pt x="17421322" y="4666353"/>
                </a:lnTo>
                <a:lnTo>
                  <a:pt x="17355016" y="4688225"/>
                </a:lnTo>
                <a:lnTo>
                  <a:pt x="17277820" y="4703430"/>
                </a:lnTo>
                <a:lnTo>
                  <a:pt x="17234685" y="4708911"/>
                </a:lnTo>
                <a:lnTo>
                  <a:pt x="17188283" y="4713179"/>
                </a:lnTo>
                <a:lnTo>
                  <a:pt x="17138433" y="4716387"/>
                </a:lnTo>
                <a:lnTo>
                  <a:pt x="17084952" y="4718685"/>
                </a:lnTo>
                <a:lnTo>
                  <a:pt x="17027660" y="4720226"/>
                </a:lnTo>
                <a:lnTo>
                  <a:pt x="16966375" y="4721160"/>
                </a:lnTo>
                <a:lnTo>
                  <a:pt x="16900915" y="4721640"/>
                </a:lnTo>
                <a:lnTo>
                  <a:pt x="16831100" y="4721817"/>
                </a:lnTo>
                <a:lnTo>
                  <a:pt x="16756746" y="4721842"/>
                </a:lnTo>
                <a:lnTo>
                  <a:pt x="1132341" y="4721842"/>
                </a:lnTo>
                <a:lnTo>
                  <a:pt x="1057989" y="4721817"/>
                </a:lnTo>
                <a:lnTo>
                  <a:pt x="988174" y="4721640"/>
                </a:lnTo>
                <a:lnTo>
                  <a:pt x="922716" y="4721160"/>
                </a:lnTo>
                <a:lnTo>
                  <a:pt x="861431" y="4720226"/>
                </a:lnTo>
                <a:lnTo>
                  <a:pt x="804140" y="4718685"/>
                </a:lnTo>
                <a:lnTo>
                  <a:pt x="750660" y="4716387"/>
                </a:lnTo>
                <a:lnTo>
                  <a:pt x="700809" y="4713179"/>
                </a:lnTo>
                <a:lnTo>
                  <a:pt x="654407" y="4708911"/>
                </a:lnTo>
                <a:lnTo>
                  <a:pt x="611272" y="4703430"/>
                </a:lnTo>
                <a:lnTo>
                  <a:pt x="571223" y="4696585"/>
                </a:lnTo>
                <a:lnTo>
                  <a:pt x="499654" y="4678198"/>
                </a:lnTo>
                <a:lnTo>
                  <a:pt x="420740" y="4647250"/>
                </a:lnTo>
                <a:lnTo>
                  <a:pt x="375545" y="4624904"/>
                </a:lnTo>
                <a:lnTo>
                  <a:pt x="332325" y="4599457"/>
                </a:lnTo>
                <a:lnTo>
                  <a:pt x="291222" y="4571049"/>
                </a:lnTo>
                <a:lnTo>
                  <a:pt x="252377" y="4539820"/>
                </a:lnTo>
                <a:lnTo>
                  <a:pt x="215930" y="4505912"/>
                </a:lnTo>
                <a:lnTo>
                  <a:pt x="182022" y="4469465"/>
                </a:lnTo>
                <a:lnTo>
                  <a:pt x="150793" y="4430620"/>
                </a:lnTo>
                <a:lnTo>
                  <a:pt x="122385" y="4389517"/>
                </a:lnTo>
                <a:lnTo>
                  <a:pt x="96938" y="4346298"/>
                </a:lnTo>
                <a:lnTo>
                  <a:pt x="74592" y="4301102"/>
                </a:lnTo>
                <a:lnTo>
                  <a:pt x="55489" y="4254071"/>
                </a:lnTo>
                <a:lnTo>
                  <a:pt x="33617" y="4187765"/>
                </a:lnTo>
                <a:lnTo>
                  <a:pt x="18412" y="4110570"/>
                </a:lnTo>
                <a:lnTo>
                  <a:pt x="12931" y="4067435"/>
                </a:lnTo>
                <a:lnTo>
                  <a:pt x="8663" y="4021033"/>
                </a:lnTo>
                <a:lnTo>
                  <a:pt x="5455" y="3971183"/>
                </a:lnTo>
                <a:lnTo>
                  <a:pt x="3157" y="3917702"/>
                </a:lnTo>
                <a:lnTo>
                  <a:pt x="1616" y="3860411"/>
                </a:lnTo>
                <a:lnTo>
                  <a:pt x="681" y="3799127"/>
                </a:lnTo>
                <a:lnTo>
                  <a:pt x="202" y="3733668"/>
                </a:lnTo>
                <a:lnTo>
                  <a:pt x="25" y="3663854"/>
                </a:lnTo>
                <a:lnTo>
                  <a:pt x="0" y="3589502"/>
                </a:lnTo>
                <a:lnTo>
                  <a:pt x="0" y="1132341"/>
                </a:lnTo>
                <a:lnTo>
                  <a:pt x="25" y="1057989"/>
                </a:lnTo>
                <a:lnTo>
                  <a:pt x="202" y="988174"/>
                </a:lnTo>
                <a:lnTo>
                  <a:pt x="681" y="922716"/>
                </a:lnTo>
                <a:lnTo>
                  <a:pt x="1616" y="861431"/>
                </a:lnTo>
                <a:lnTo>
                  <a:pt x="3157" y="804140"/>
                </a:lnTo>
                <a:lnTo>
                  <a:pt x="5455" y="750660"/>
                </a:lnTo>
                <a:lnTo>
                  <a:pt x="8663" y="700809"/>
                </a:lnTo>
                <a:lnTo>
                  <a:pt x="12931" y="654407"/>
                </a:lnTo>
                <a:lnTo>
                  <a:pt x="18412" y="611272"/>
                </a:lnTo>
                <a:lnTo>
                  <a:pt x="25257" y="571223"/>
                </a:lnTo>
                <a:lnTo>
                  <a:pt x="43644" y="499654"/>
                </a:lnTo>
                <a:lnTo>
                  <a:pt x="74592" y="420740"/>
                </a:lnTo>
                <a:lnTo>
                  <a:pt x="96938" y="375545"/>
                </a:lnTo>
                <a:lnTo>
                  <a:pt x="122385" y="332325"/>
                </a:lnTo>
                <a:lnTo>
                  <a:pt x="150793" y="291222"/>
                </a:lnTo>
                <a:lnTo>
                  <a:pt x="182022" y="252377"/>
                </a:lnTo>
                <a:lnTo>
                  <a:pt x="215930" y="215930"/>
                </a:lnTo>
                <a:lnTo>
                  <a:pt x="252377" y="182022"/>
                </a:lnTo>
                <a:lnTo>
                  <a:pt x="291222" y="150793"/>
                </a:lnTo>
                <a:lnTo>
                  <a:pt x="332325" y="122385"/>
                </a:lnTo>
                <a:lnTo>
                  <a:pt x="375545" y="96938"/>
                </a:lnTo>
                <a:lnTo>
                  <a:pt x="420740" y="74592"/>
                </a:lnTo>
                <a:lnTo>
                  <a:pt x="467771" y="55489"/>
                </a:lnTo>
                <a:lnTo>
                  <a:pt x="534077" y="33617"/>
                </a:lnTo>
                <a:lnTo>
                  <a:pt x="611272" y="18412"/>
                </a:lnTo>
                <a:lnTo>
                  <a:pt x="654407" y="12931"/>
                </a:lnTo>
                <a:lnTo>
                  <a:pt x="700809" y="8663"/>
                </a:lnTo>
                <a:lnTo>
                  <a:pt x="750660" y="5455"/>
                </a:lnTo>
                <a:lnTo>
                  <a:pt x="804140" y="3157"/>
                </a:lnTo>
                <a:lnTo>
                  <a:pt x="861431" y="1616"/>
                </a:lnTo>
                <a:lnTo>
                  <a:pt x="922716" y="681"/>
                </a:lnTo>
                <a:lnTo>
                  <a:pt x="988174" y="202"/>
                </a:lnTo>
                <a:lnTo>
                  <a:pt x="1057989" y="25"/>
                </a:lnTo>
                <a:lnTo>
                  <a:pt x="1132341" y="0"/>
                </a:lnTo>
                <a:close/>
              </a:path>
            </a:pathLst>
          </a:custGeom>
          <a:ln w="125650">
            <a:solidFill>
              <a:srgbClr val="01B6BA"/>
            </a:solidFill>
          </a:ln>
        </p:spPr>
        <p:txBody>
          <a:bodyPr wrap="square" lIns="0" tIns="0" rIns="0" bIns="0" rtlCol="0"/>
          <a:lstStyle/>
          <a:p>
            <a:pPr defTabSz="415869"/>
            <a:endParaRPr sz="819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3807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497" y="1057414"/>
            <a:ext cx="3348078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180" dirty="0"/>
              <a:t>Model</a:t>
            </a:r>
            <a:r>
              <a:rPr spc="-205" dirty="0"/>
              <a:t> </a:t>
            </a:r>
            <a:r>
              <a:rPr spc="-218" dirty="0"/>
              <a:t>parallel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3954" y="2782313"/>
            <a:ext cx="2758122" cy="388896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73953" y="1940437"/>
            <a:ext cx="3218884" cy="585547"/>
          </a:xfrm>
          <a:prstGeom prst="rect">
            <a:avLst/>
          </a:prstGeom>
        </p:spPr>
        <p:txBody>
          <a:bodyPr vert="horz" wrap="square" lIns="0" tIns="21084" rIns="0" bIns="0" rtlCol="0">
            <a:spAutoFit/>
          </a:bodyPr>
          <a:lstStyle/>
          <a:p>
            <a:pPr marL="470163" marR="2310" indent="-464676" defTabSz="415869">
              <a:lnSpc>
                <a:spcPts val="2174"/>
              </a:lnSpc>
              <a:spcBef>
                <a:spcPts val="166"/>
              </a:spcBef>
            </a:pPr>
            <a:r>
              <a:rPr sz="1865" kern="0" spc="-4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intra-</a:t>
            </a:r>
            <a:r>
              <a:rPr sz="1865" kern="0" spc="-4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layer</a:t>
            </a:r>
            <a:r>
              <a:rPr sz="1865" kern="0" spc="-1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parallelism:</a:t>
            </a:r>
            <a:r>
              <a:rPr sz="1865" kern="0" spc="-1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units</a:t>
            </a:r>
            <a:r>
              <a:rPr sz="1865" kern="0" spc="-1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2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within </a:t>
            </a:r>
            <a:r>
              <a:rPr sz="1865" kern="0" spc="-4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one</a:t>
            </a:r>
            <a:r>
              <a:rPr sz="1865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2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layer</a:t>
            </a:r>
            <a:r>
              <a:rPr sz="1865" kern="0" spc="-8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4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are</a:t>
            </a:r>
            <a:r>
              <a:rPr sz="1865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partitioned</a:t>
            </a:r>
            <a:endParaRPr sz="1865" kern="0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04677" y="2757353"/>
            <a:ext cx="2575711" cy="39427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308526" y="1911703"/>
            <a:ext cx="2671862" cy="585547"/>
          </a:xfrm>
          <a:prstGeom prst="rect">
            <a:avLst/>
          </a:prstGeom>
        </p:spPr>
        <p:txBody>
          <a:bodyPr vert="horz" wrap="square" lIns="0" tIns="21084" rIns="0" bIns="0" rtlCol="0">
            <a:spAutoFit/>
          </a:bodyPr>
          <a:lstStyle/>
          <a:p>
            <a:pPr marL="342803" marR="2310" indent="-337316" defTabSz="415869">
              <a:lnSpc>
                <a:spcPts val="2174"/>
              </a:lnSpc>
              <a:spcBef>
                <a:spcPts val="166"/>
              </a:spcBef>
            </a:pPr>
            <a:r>
              <a:rPr sz="1865" kern="0" spc="-5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inter-</a:t>
            </a:r>
            <a:r>
              <a:rPr sz="1865" kern="0" spc="-5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layer</a:t>
            </a:r>
            <a:r>
              <a:rPr sz="1865" kern="0" spc="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parallelism:</a:t>
            </a:r>
            <a:r>
              <a:rPr sz="1865" kern="0" spc="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4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entire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layers</a:t>
            </a:r>
            <a:r>
              <a:rPr sz="1865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4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are</a:t>
            </a:r>
            <a:r>
              <a:rPr sz="1865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partitioned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B0A40-576B-25A7-D5B9-F595A5B9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4A4E543-AE05-120F-B8EE-D6D01225D1E8}"/>
              </a:ext>
            </a:extLst>
          </p:cNvPr>
          <p:cNvSpPr txBox="1"/>
          <p:nvPr/>
        </p:nvSpPr>
        <p:spPr>
          <a:xfrm>
            <a:off x="328496" y="1871685"/>
            <a:ext cx="8486892" cy="585547"/>
          </a:xfrm>
          <a:prstGeom prst="rect">
            <a:avLst/>
          </a:prstGeom>
        </p:spPr>
        <p:txBody>
          <a:bodyPr vert="horz" wrap="square" lIns="0" tIns="21084" rIns="0" bIns="0" rtlCol="0">
            <a:spAutoFit/>
          </a:bodyPr>
          <a:lstStyle/>
          <a:p>
            <a:pPr marL="193495" marR="2310" indent="-188007" defTabSz="415869">
              <a:lnSpc>
                <a:spcPts val="2174"/>
              </a:lnSpc>
              <a:spcBef>
                <a:spcPts val="166"/>
              </a:spcBef>
              <a:buClr>
                <a:srgbClr val="000000"/>
              </a:buClr>
              <a:buFontTx/>
              <a:buChar char="•"/>
              <a:tabLst>
                <a:tab pos="193495" algn="l"/>
              </a:tabLst>
            </a:pPr>
            <a:r>
              <a:rPr sz="1865" kern="0" spc="-75" dirty="0">
                <a:solidFill>
                  <a:srgbClr val="FF644E"/>
                </a:solidFill>
                <a:latin typeface="Gill Sans MT"/>
                <a:cs typeface="Gill Sans MT"/>
              </a:rPr>
              <a:t>Tensor</a:t>
            </a:r>
            <a:r>
              <a:rPr sz="1865" kern="0" spc="-34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rgbClr val="FF644E"/>
                </a:solidFill>
                <a:latin typeface="Gill Sans MT"/>
                <a:cs typeface="Gill Sans MT"/>
              </a:rPr>
              <a:t>parallelism</a:t>
            </a:r>
            <a:r>
              <a:rPr sz="1865" kern="0" spc="-30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865" kern="0" spc="-3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(intra-</a:t>
            </a:r>
            <a:r>
              <a:rPr sz="1865" kern="0" spc="-4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layer</a:t>
            </a:r>
            <a:r>
              <a:rPr sz="1865" kern="0" spc="-3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model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parallelism):</a:t>
            </a:r>
            <a:r>
              <a:rPr sz="1865" kern="0" spc="-3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3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splits</a:t>
            </a:r>
            <a:r>
              <a:rPr sz="1865" kern="0" spc="-3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1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tensor </a:t>
            </a:r>
            <a:r>
              <a:rPr sz="1865" kern="0" spc="-2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operations</a:t>
            </a:r>
            <a:r>
              <a:rPr sz="1865" kern="0" spc="-3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lang="en-US" sz="1865" kern="0" spc="-3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(e.g., matrix </a:t>
            </a:r>
            <a:r>
              <a:rPr lang="en-US" sz="1865" kern="0" spc="-32" dirty="0" err="1">
                <a:solidFill>
                  <a:sysClr val="windowText" lastClr="000000"/>
                </a:solidFill>
                <a:latin typeface="Gill Sans MT"/>
                <a:cs typeface="Gill Sans MT"/>
              </a:rPr>
              <a:t>matmul</a:t>
            </a:r>
            <a:r>
              <a:rPr lang="en-US" sz="1865" kern="0" spc="-3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)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across</a:t>
            </a:r>
            <a:r>
              <a:rPr sz="1865" kern="0" spc="-3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nodes</a:t>
            </a:r>
            <a:endParaRPr sz="1865" kern="0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7DB4521-A3DA-698C-4876-02D12E3EB5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496" y="1057414"/>
            <a:ext cx="7513907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lang="en-US" spc="-302" dirty="0"/>
              <a:t>Tensor parallelism is a kind of intra-layer parallelism</a:t>
            </a:r>
            <a:endParaRPr spc="-23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9D3129-8D3D-5E23-2208-02828F9CD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73" y="2913079"/>
            <a:ext cx="8947537" cy="1031841"/>
          </a:xfrm>
          <a:prstGeom prst="rect">
            <a:avLst/>
          </a:prstGeom>
        </p:spPr>
      </p:pic>
      <p:pic>
        <p:nvPicPr>
          <p:cNvPr id="9" name="object 5">
            <a:extLst>
              <a:ext uri="{FF2B5EF4-FFF2-40B4-BE49-F238E27FC236}">
                <a16:creationId xmlns:a16="http://schemas.microsoft.com/office/drawing/2014/main" id="{EFC876F6-7A75-44FF-2CFE-8303C105B69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63503" y="4400767"/>
            <a:ext cx="4465859" cy="213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636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4EA1B-C5AA-5F34-613D-DA3B7EFF3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081FD7D-26FA-F69A-8810-4D1EE49852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497" y="1057414"/>
            <a:ext cx="3348078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180" dirty="0"/>
              <a:t>Model</a:t>
            </a:r>
            <a:r>
              <a:rPr spc="-205" dirty="0"/>
              <a:t> </a:t>
            </a:r>
            <a:r>
              <a:rPr spc="-218" dirty="0"/>
              <a:t>parallel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C8B7ECF7-408D-6868-426F-09A86F5C3AF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3954" y="2782313"/>
            <a:ext cx="2758122" cy="3888968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AC7CE1CF-2FE9-2F45-35D3-5FE513BEF47D}"/>
              </a:ext>
            </a:extLst>
          </p:cNvPr>
          <p:cNvSpPr txBox="1"/>
          <p:nvPr/>
        </p:nvSpPr>
        <p:spPr>
          <a:xfrm>
            <a:off x="1073953" y="1940437"/>
            <a:ext cx="3218884" cy="585547"/>
          </a:xfrm>
          <a:prstGeom prst="rect">
            <a:avLst/>
          </a:prstGeom>
        </p:spPr>
        <p:txBody>
          <a:bodyPr vert="horz" wrap="square" lIns="0" tIns="21084" rIns="0" bIns="0" rtlCol="0">
            <a:spAutoFit/>
          </a:bodyPr>
          <a:lstStyle/>
          <a:p>
            <a:pPr marL="470163" marR="2310" indent="-464676" defTabSz="415869">
              <a:lnSpc>
                <a:spcPts val="2174"/>
              </a:lnSpc>
              <a:spcBef>
                <a:spcPts val="166"/>
              </a:spcBef>
            </a:pPr>
            <a:r>
              <a:rPr sz="1865" kern="0" spc="-4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intra-</a:t>
            </a:r>
            <a:r>
              <a:rPr sz="1865" kern="0" spc="-4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layer</a:t>
            </a:r>
            <a:r>
              <a:rPr sz="1865" kern="0" spc="-1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parallelism:</a:t>
            </a:r>
            <a:r>
              <a:rPr sz="1865" kern="0" spc="-1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units</a:t>
            </a:r>
            <a:r>
              <a:rPr sz="1865" kern="0" spc="-1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2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within </a:t>
            </a:r>
            <a:r>
              <a:rPr sz="1865" kern="0" spc="-4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one</a:t>
            </a:r>
            <a:r>
              <a:rPr sz="1865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2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layer</a:t>
            </a:r>
            <a:r>
              <a:rPr sz="1865" kern="0" spc="-8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4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are</a:t>
            </a:r>
            <a:r>
              <a:rPr sz="1865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partitioned</a:t>
            </a:r>
            <a:endParaRPr sz="1865" kern="0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56E99CE1-0F31-A395-BD5D-6B983B528B9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04677" y="2757353"/>
            <a:ext cx="2575711" cy="3942749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69577DC4-E592-9C58-7966-39CECF23C53F}"/>
              </a:ext>
            </a:extLst>
          </p:cNvPr>
          <p:cNvSpPr txBox="1"/>
          <p:nvPr/>
        </p:nvSpPr>
        <p:spPr>
          <a:xfrm>
            <a:off x="5308526" y="1911703"/>
            <a:ext cx="2671862" cy="585547"/>
          </a:xfrm>
          <a:prstGeom prst="rect">
            <a:avLst/>
          </a:prstGeom>
        </p:spPr>
        <p:txBody>
          <a:bodyPr vert="horz" wrap="square" lIns="0" tIns="21084" rIns="0" bIns="0" rtlCol="0">
            <a:spAutoFit/>
          </a:bodyPr>
          <a:lstStyle/>
          <a:p>
            <a:pPr marL="342803" marR="2310" indent="-337316" defTabSz="415869">
              <a:lnSpc>
                <a:spcPts val="2174"/>
              </a:lnSpc>
              <a:spcBef>
                <a:spcPts val="166"/>
              </a:spcBef>
            </a:pPr>
            <a:r>
              <a:rPr sz="1865" kern="0" spc="-5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inter-</a:t>
            </a:r>
            <a:r>
              <a:rPr sz="1865" kern="0" spc="-5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layer</a:t>
            </a:r>
            <a:r>
              <a:rPr sz="1865" kern="0" spc="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parallelism:</a:t>
            </a:r>
            <a:r>
              <a:rPr sz="1865" kern="0" spc="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4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entire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layers</a:t>
            </a:r>
            <a:r>
              <a:rPr sz="1865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4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are</a:t>
            </a:r>
            <a:r>
              <a:rPr sz="1865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partitioned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D4E5705-1087-87F5-9CA1-D56840F04A92}"/>
              </a:ext>
            </a:extLst>
          </p:cNvPr>
          <p:cNvSpPr/>
          <p:nvPr/>
        </p:nvSpPr>
        <p:spPr>
          <a:xfrm>
            <a:off x="4572000" y="942975"/>
            <a:ext cx="4572000" cy="59150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934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1351" y="1594063"/>
            <a:ext cx="4258054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193495" indent="-187719" defTabSz="415869">
              <a:spcBef>
                <a:spcPts val="55"/>
              </a:spcBef>
              <a:buFontTx/>
              <a:buChar char="•"/>
              <a:tabLst>
                <a:tab pos="193495" algn="l"/>
              </a:tabLst>
            </a:pP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Pipeline</a:t>
            </a:r>
            <a:r>
              <a:rPr sz="1865" kern="0" spc="-1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parallelism</a:t>
            </a:r>
            <a:r>
              <a:rPr sz="1865" kern="0" spc="-2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4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(inter-</a:t>
            </a:r>
            <a:r>
              <a:rPr sz="1865" kern="0" spc="-5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layer</a:t>
            </a:r>
            <a:r>
              <a:rPr sz="1865" kern="0" spc="-1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parallelism)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4209" y="603579"/>
            <a:ext cx="7686791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lang="en-US" spc="-302" dirty="0"/>
              <a:t>Pipeline parallelism schedules inter-layer parallelism</a:t>
            </a:r>
            <a:endParaRPr spc="-223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9182" y="2411020"/>
            <a:ext cx="6237395" cy="186682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110709" y="4933971"/>
            <a:ext cx="2645868" cy="870008"/>
          </a:xfrm>
          <a:prstGeom prst="rect">
            <a:avLst/>
          </a:prstGeom>
          <a:ln w="31412">
            <a:solidFill>
              <a:srgbClr val="FF644E"/>
            </a:solidFill>
          </a:ln>
        </p:spPr>
        <p:txBody>
          <a:bodyPr vert="horz" wrap="square" lIns="0" tIns="23394" rIns="0" bIns="0" rtlCol="0">
            <a:spAutoFit/>
          </a:bodyPr>
          <a:lstStyle/>
          <a:p>
            <a:pPr marL="196094" marR="192917" algn="ctr" defTabSz="415869">
              <a:lnSpc>
                <a:spcPts val="2174"/>
              </a:lnSpc>
              <a:spcBef>
                <a:spcPts val="184"/>
              </a:spcBef>
            </a:pPr>
            <a:r>
              <a:rPr sz="1865" kern="0" spc="-2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interleave</a:t>
            </a:r>
            <a:r>
              <a:rPr sz="1865" kern="0" spc="-8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pipeline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parallel</a:t>
            </a:r>
            <a:r>
              <a:rPr sz="1865" kern="0" spc="-8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training</a:t>
            </a:r>
            <a:r>
              <a:rPr sz="1865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9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to</a:t>
            </a:r>
            <a:r>
              <a:rPr sz="1865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avoid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idle</a:t>
            </a:r>
            <a:r>
              <a:rPr sz="1865" kern="0" spc="-9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3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states</a:t>
            </a:r>
            <a:endParaRPr sz="1865" kern="0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529388" y="4111617"/>
            <a:ext cx="254217" cy="822353"/>
            <a:chOff x="13778041" y="7453097"/>
            <a:chExt cx="351155" cy="913765"/>
          </a:xfrm>
        </p:grpSpPr>
        <p:sp>
          <p:nvSpPr>
            <p:cNvPr id="7" name="object 7"/>
            <p:cNvSpPr/>
            <p:nvPr/>
          </p:nvSpPr>
          <p:spPr>
            <a:xfrm>
              <a:off x="13798982" y="7599847"/>
              <a:ext cx="253365" cy="746125"/>
            </a:xfrm>
            <a:custGeom>
              <a:avLst/>
              <a:gdLst/>
              <a:ahLst/>
              <a:cxnLst/>
              <a:rect l="l" t="t" r="r" b="b"/>
              <a:pathLst>
                <a:path w="253365" h="746125">
                  <a:moveTo>
                    <a:pt x="0" y="746063"/>
                  </a:moveTo>
                  <a:lnTo>
                    <a:pt x="246435" y="19831"/>
                  </a:lnTo>
                  <a:lnTo>
                    <a:pt x="253165" y="0"/>
                  </a:lnTo>
                </a:path>
              </a:pathLst>
            </a:custGeom>
            <a:ln w="41883">
              <a:solidFill>
                <a:srgbClr val="FF644E"/>
              </a:solidFill>
            </a:ln>
          </p:spPr>
          <p:txBody>
            <a:bodyPr wrap="square" lIns="0" tIns="0" rIns="0" bIns="0" rtlCol="0"/>
            <a:lstStyle/>
            <a:p>
              <a:pPr defTabSz="415869"/>
              <a:endParaRPr sz="81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3962129" y="7453097"/>
              <a:ext cx="167005" cy="194945"/>
            </a:xfrm>
            <a:custGeom>
              <a:avLst/>
              <a:gdLst/>
              <a:ahLst/>
              <a:cxnLst/>
              <a:rect l="l" t="t" r="r" b="b"/>
              <a:pathLst>
                <a:path w="167005" h="194945">
                  <a:moveTo>
                    <a:pt x="139817" y="0"/>
                  </a:moveTo>
                  <a:lnTo>
                    <a:pt x="0" y="138318"/>
                  </a:lnTo>
                  <a:lnTo>
                    <a:pt x="166581" y="194845"/>
                  </a:lnTo>
                  <a:lnTo>
                    <a:pt x="139817" y="0"/>
                  </a:lnTo>
                  <a:close/>
                </a:path>
              </a:pathLst>
            </a:custGeom>
            <a:solidFill>
              <a:srgbClr val="FF644E"/>
            </a:solidFill>
          </p:spPr>
          <p:txBody>
            <a:bodyPr wrap="square" lIns="0" tIns="0" rIns="0" bIns="0" rtlCol="0"/>
            <a:lstStyle/>
            <a:p>
              <a:pPr defTabSz="415869"/>
              <a:endParaRPr sz="819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519182" y="6053358"/>
            <a:ext cx="7513907" cy="236502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 defTabSz="415869">
              <a:spcBef>
                <a:spcPts val="43"/>
              </a:spcBef>
            </a:pPr>
            <a:r>
              <a:rPr sz="1501" kern="0" dirty="0">
                <a:solidFill>
                  <a:srgbClr val="A7A7A7"/>
                </a:solidFill>
                <a:latin typeface="Gill Sans MT"/>
                <a:cs typeface="Gill Sans MT"/>
              </a:rPr>
              <a:t>https://docs.nvidia.com/nemo-</a:t>
            </a:r>
            <a:r>
              <a:rPr sz="1501" kern="0" spc="-39" dirty="0">
                <a:solidFill>
                  <a:srgbClr val="A7A7A7"/>
                </a:solidFill>
                <a:latin typeface="Gill Sans MT"/>
                <a:cs typeface="Gill Sans MT"/>
              </a:rPr>
              <a:t>framework/user-</a:t>
            </a:r>
            <a:r>
              <a:rPr sz="1501" kern="0" spc="-5" dirty="0">
                <a:solidFill>
                  <a:srgbClr val="A7A7A7"/>
                </a:solidFill>
                <a:latin typeface="Gill Sans MT"/>
                <a:cs typeface="Gill Sans MT"/>
              </a:rPr>
              <a:t>guide/latest/nemotoolkit/features/parallelisms.html</a:t>
            </a:r>
            <a:endParaRPr sz="1501" kern="0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638" y="2014560"/>
            <a:ext cx="7973418" cy="585547"/>
          </a:xfrm>
          <a:prstGeom prst="rect">
            <a:avLst/>
          </a:prstGeom>
        </p:spPr>
        <p:txBody>
          <a:bodyPr vert="horz" wrap="square" lIns="0" tIns="21084" rIns="0" bIns="0" rtlCol="0">
            <a:spAutoFit/>
          </a:bodyPr>
          <a:lstStyle/>
          <a:p>
            <a:pPr marL="193495" marR="2310" indent="-188007" defTabSz="415869">
              <a:lnSpc>
                <a:spcPts val="2174"/>
              </a:lnSpc>
              <a:spcBef>
                <a:spcPts val="166"/>
              </a:spcBef>
              <a:buClr>
                <a:srgbClr val="000000"/>
              </a:buClr>
              <a:buFontTx/>
              <a:buChar char="•"/>
              <a:tabLst>
                <a:tab pos="193495" algn="l"/>
              </a:tabLst>
            </a:pPr>
            <a:r>
              <a:rPr sz="1865" kern="0" dirty="0">
                <a:solidFill>
                  <a:srgbClr val="FF644E"/>
                </a:solidFill>
                <a:latin typeface="Gill Sans MT"/>
                <a:cs typeface="Gill Sans MT"/>
              </a:rPr>
              <a:t>Fully</a:t>
            </a:r>
            <a:r>
              <a:rPr sz="1865" kern="0" spc="-77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rgbClr val="FF644E"/>
                </a:solidFill>
                <a:latin typeface="Gill Sans MT"/>
                <a:cs typeface="Gill Sans MT"/>
              </a:rPr>
              <a:t>sharded</a:t>
            </a:r>
            <a:r>
              <a:rPr sz="1865" kern="0" spc="-77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865" kern="0" spc="23" dirty="0">
                <a:solidFill>
                  <a:srgbClr val="FF644E"/>
                </a:solidFill>
                <a:latin typeface="Gill Sans MT"/>
                <a:cs typeface="Gill Sans MT"/>
              </a:rPr>
              <a:t>data</a:t>
            </a:r>
            <a:r>
              <a:rPr sz="1865" kern="0" spc="-75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rgbClr val="FF644E"/>
                </a:solidFill>
                <a:latin typeface="Gill Sans MT"/>
                <a:cs typeface="Gill Sans MT"/>
              </a:rPr>
              <a:t>parallelism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:</a:t>
            </a:r>
            <a:r>
              <a:rPr sz="1865" kern="0" spc="-7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2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data</a:t>
            </a:r>
            <a:r>
              <a:rPr sz="1865" kern="0" spc="-7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parallelism,</a:t>
            </a:r>
            <a:r>
              <a:rPr sz="1865" kern="0" spc="-7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3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but</a:t>
            </a:r>
            <a:r>
              <a:rPr sz="1865" kern="0" spc="-7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lang="en-US" sz="1865" kern="0" spc="-8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also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shard</a:t>
            </a:r>
            <a:r>
              <a:rPr sz="1865" kern="0" spc="-7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1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the </a:t>
            </a:r>
            <a:r>
              <a:rPr sz="1865" kern="0" spc="-3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model</a:t>
            </a:r>
            <a:r>
              <a:rPr sz="1865" kern="0" spc="-8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2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parameters</a:t>
            </a:r>
            <a:r>
              <a:rPr sz="1865" kern="0" spc="-8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16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/</a:t>
            </a:r>
            <a:r>
              <a:rPr sz="1865" kern="0" spc="-8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lang="en-US" sz="1865" kern="0" spc="-3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optimization states </a:t>
            </a:r>
            <a:r>
              <a:rPr sz="1865" kern="0" spc="16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/</a:t>
            </a:r>
            <a:r>
              <a:rPr sz="1865" kern="0" spc="-8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gradients</a:t>
            </a:r>
            <a:r>
              <a:rPr sz="1865" kern="0" spc="-8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9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to</a:t>
            </a:r>
            <a:r>
              <a:rPr sz="1865" kern="0" spc="-8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handle</a:t>
            </a:r>
            <a:r>
              <a:rPr sz="1865" kern="0" spc="-8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6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memory</a:t>
            </a:r>
            <a:r>
              <a:rPr sz="1865" kern="0" spc="-8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5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issues</a:t>
            </a:r>
            <a:endParaRPr sz="1865" kern="0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8496" y="1057414"/>
            <a:ext cx="7172441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lang="en-US" spc="-302" dirty="0"/>
              <a:t>Example of combined/hybrid parallelism: FSDP</a:t>
            </a:r>
            <a:endParaRPr spc="-223" dirty="0"/>
          </a:p>
        </p:txBody>
      </p:sp>
      <p:grpSp>
        <p:nvGrpSpPr>
          <p:cNvPr id="4" name="object 4"/>
          <p:cNvGrpSpPr/>
          <p:nvPr/>
        </p:nvGrpSpPr>
        <p:grpSpPr>
          <a:xfrm>
            <a:off x="0" y="2977339"/>
            <a:ext cx="9144000" cy="3237724"/>
            <a:chOff x="784289" y="4661648"/>
            <a:chExt cx="18101945" cy="47967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4289" y="4956793"/>
              <a:ext cx="9509572" cy="450154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95785" y="4661648"/>
              <a:ext cx="9590362" cy="45503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496" y="1057414"/>
            <a:ext cx="6529503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280" dirty="0"/>
              <a:t>Which</a:t>
            </a:r>
            <a:r>
              <a:rPr spc="-209" dirty="0"/>
              <a:t> </a:t>
            </a:r>
            <a:r>
              <a:rPr spc="-200" dirty="0"/>
              <a:t>strategy</a:t>
            </a:r>
            <a:r>
              <a:rPr spc="-207" dirty="0"/>
              <a:t> </a:t>
            </a:r>
            <a:r>
              <a:rPr spc="-271" dirty="0"/>
              <a:t>to</a:t>
            </a:r>
            <a:r>
              <a:rPr spc="-207" dirty="0"/>
              <a:t> </a:t>
            </a:r>
            <a:r>
              <a:rPr spc="-136" dirty="0"/>
              <a:t>use?</a:t>
            </a:r>
            <a:r>
              <a:rPr lang="en-US" spc="-136" dirty="0"/>
              <a:t> (In </a:t>
            </a:r>
            <a:r>
              <a:rPr lang="en-US" spc="-136" dirty="0" err="1"/>
              <a:t>Pytorch</a:t>
            </a:r>
            <a:r>
              <a:rPr lang="en-US" spc="-136" dirty="0"/>
              <a:t>)</a:t>
            </a:r>
            <a:endParaRPr spc="-136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496" y="1828800"/>
            <a:ext cx="8815504" cy="35575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738335" y="5646443"/>
            <a:ext cx="4295601" cy="236502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 defTabSz="415869">
              <a:spcBef>
                <a:spcPts val="43"/>
              </a:spcBef>
            </a:pPr>
            <a:r>
              <a:rPr sz="1501" kern="0" spc="-18" dirty="0">
                <a:solidFill>
                  <a:srgbClr val="A7A7A7"/>
                </a:solidFill>
                <a:latin typeface="Gill Sans MT"/>
                <a:cs typeface="Gill Sans MT"/>
              </a:rPr>
              <a:t>https://pytorch.org/tutorials/beginner/dist_overview.html</a:t>
            </a:r>
            <a:endParaRPr sz="1501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FDD99-6AFB-E3D3-B9BF-E925E5E2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0668BFF-6A0B-5749-B4EA-A2EB16F8F0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237" y="1187452"/>
            <a:ext cx="5378093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307" dirty="0"/>
              <a:t>How</a:t>
            </a:r>
            <a:r>
              <a:rPr spc="-207" dirty="0"/>
              <a:t> </a:t>
            </a:r>
            <a:r>
              <a:rPr spc="-271" dirty="0"/>
              <a:t>to</a:t>
            </a:r>
            <a:r>
              <a:rPr spc="-207" dirty="0"/>
              <a:t> </a:t>
            </a:r>
            <a:r>
              <a:rPr spc="-218" dirty="0"/>
              <a:t>parallelize</a:t>
            </a:r>
            <a:r>
              <a:rPr spc="-205" dirty="0"/>
              <a:t> </a:t>
            </a:r>
            <a:r>
              <a:rPr spc="-197" dirty="0"/>
              <a:t>mini-</a:t>
            </a:r>
            <a:r>
              <a:rPr spc="-241" dirty="0"/>
              <a:t>batch</a:t>
            </a:r>
            <a:r>
              <a:rPr spc="-207" dirty="0"/>
              <a:t> </a:t>
            </a:r>
            <a:r>
              <a:rPr spc="-43" dirty="0"/>
              <a:t>SGD?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D49C21C-4839-4583-C1A7-DCC5C3C71D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43232" y="2011358"/>
            <a:ext cx="8220166" cy="1417642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>
              <a:lnSpc>
                <a:spcPts val="2206"/>
              </a:lnSpc>
              <a:spcBef>
                <a:spcPts val="55"/>
              </a:spcBef>
            </a:pPr>
            <a:r>
              <a:rPr dirty="0"/>
              <a:t>Parallelization</a:t>
            </a:r>
            <a:r>
              <a:rPr spc="-55" dirty="0"/>
              <a:t> </a:t>
            </a:r>
            <a:r>
              <a:rPr dirty="0"/>
              <a:t>scheme</a:t>
            </a:r>
            <a:r>
              <a:rPr spc="-52" dirty="0"/>
              <a:t> </a:t>
            </a:r>
            <a:r>
              <a:rPr spc="34" dirty="0"/>
              <a:t>can</a:t>
            </a:r>
            <a:r>
              <a:rPr spc="-52" dirty="0"/>
              <a:t> </a:t>
            </a:r>
            <a:r>
              <a:rPr spc="-36" dirty="0"/>
              <a:t>vary</a:t>
            </a:r>
            <a:r>
              <a:rPr spc="-57" dirty="0"/>
              <a:t> </a:t>
            </a:r>
            <a:r>
              <a:rPr spc="34" dirty="0"/>
              <a:t>based</a:t>
            </a:r>
            <a:r>
              <a:rPr spc="-55" dirty="0"/>
              <a:t> </a:t>
            </a:r>
            <a:r>
              <a:rPr spc="-11" dirty="0"/>
              <a:t>on:</a:t>
            </a:r>
          </a:p>
          <a:p>
            <a:pPr marL="479405" indent="-188007">
              <a:lnSpc>
                <a:spcPts val="2174"/>
              </a:lnSpc>
              <a:buChar char="•"/>
              <a:tabLst>
                <a:tab pos="479405" algn="l"/>
              </a:tabLst>
            </a:pPr>
            <a:r>
              <a:rPr dirty="0"/>
              <a:t>parallelization</a:t>
            </a:r>
            <a:r>
              <a:rPr spc="-80" dirty="0"/>
              <a:t> </a:t>
            </a:r>
            <a:r>
              <a:rPr spc="-14" dirty="0"/>
              <a:t>technique</a:t>
            </a:r>
            <a:r>
              <a:rPr spc="-77" dirty="0"/>
              <a:t> </a:t>
            </a:r>
            <a:r>
              <a:rPr dirty="0"/>
              <a:t>(</a:t>
            </a:r>
            <a:r>
              <a:rPr i="1" dirty="0">
                <a:latin typeface="Gill Sans MT"/>
                <a:cs typeface="Gill Sans MT"/>
              </a:rPr>
              <a:t>what</a:t>
            </a:r>
            <a:r>
              <a:rPr i="1" spc="-84" dirty="0"/>
              <a:t> </a:t>
            </a:r>
            <a:r>
              <a:rPr i="1" spc="41" dirty="0"/>
              <a:t>to</a:t>
            </a:r>
            <a:r>
              <a:rPr i="1" spc="-82" dirty="0"/>
              <a:t> </a:t>
            </a:r>
            <a:r>
              <a:rPr i="1" spc="18" dirty="0"/>
              <a:t>parallelize?</a:t>
            </a:r>
            <a:r>
              <a:rPr spc="18" dirty="0"/>
              <a:t>)</a:t>
            </a:r>
          </a:p>
          <a:p>
            <a:pPr marL="479405" indent="-188007">
              <a:lnSpc>
                <a:spcPts val="2174"/>
              </a:lnSpc>
              <a:buChar char="•"/>
              <a:tabLst>
                <a:tab pos="479405" algn="l"/>
              </a:tabLst>
            </a:pPr>
            <a:r>
              <a:rPr spc="-18" dirty="0">
                <a:solidFill>
                  <a:srgbClr val="FF0000"/>
                </a:solidFill>
              </a:rPr>
              <a:t>synchronization</a:t>
            </a:r>
            <a:r>
              <a:rPr spc="-73" dirty="0">
                <a:solidFill>
                  <a:srgbClr val="FF0000"/>
                </a:solidFill>
              </a:rPr>
              <a:t> </a:t>
            </a:r>
            <a:r>
              <a:rPr spc="-32" dirty="0">
                <a:solidFill>
                  <a:srgbClr val="FF0000"/>
                </a:solidFill>
              </a:rPr>
              <a:t>model</a:t>
            </a:r>
            <a:r>
              <a:rPr spc="-73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(</a:t>
            </a:r>
            <a:r>
              <a:rPr i="1" dirty="0">
                <a:solidFill>
                  <a:srgbClr val="FF0000"/>
                </a:solidFill>
                <a:latin typeface="Gill Sans MT"/>
                <a:cs typeface="Gill Sans MT"/>
              </a:rPr>
              <a:t>when</a:t>
            </a:r>
            <a:r>
              <a:rPr i="1" spc="-75" dirty="0">
                <a:solidFill>
                  <a:srgbClr val="FF0000"/>
                </a:solidFill>
              </a:rPr>
              <a:t> </a:t>
            </a:r>
            <a:r>
              <a:rPr i="1" spc="57" dirty="0">
                <a:solidFill>
                  <a:srgbClr val="FF0000"/>
                </a:solidFill>
              </a:rPr>
              <a:t>do</a:t>
            </a:r>
            <a:r>
              <a:rPr i="1" spc="-75" dirty="0">
                <a:solidFill>
                  <a:srgbClr val="FF0000"/>
                </a:solidFill>
              </a:rPr>
              <a:t> </a:t>
            </a:r>
            <a:r>
              <a:rPr i="1" spc="36" dirty="0">
                <a:solidFill>
                  <a:srgbClr val="FF0000"/>
                </a:solidFill>
              </a:rPr>
              <a:t>we</a:t>
            </a:r>
            <a:r>
              <a:rPr i="1" spc="-77" dirty="0">
                <a:solidFill>
                  <a:srgbClr val="FF0000"/>
                </a:solidFill>
              </a:rPr>
              <a:t> </a:t>
            </a:r>
            <a:r>
              <a:rPr i="1" spc="64" dirty="0">
                <a:solidFill>
                  <a:srgbClr val="FF0000"/>
                </a:solidFill>
              </a:rPr>
              <a:t>send</a:t>
            </a:r>
            <a:r>
              <a:rPr i="1" spc="-75" dirty="0">
                <a:solidFill>
                  <a:srgbClr val="FF0000"/>
                </a:solidFill>
              </a:rPr>
              <a:t> </a:t>
            </a:r>
            <a:r>
              <a:rPr i="1" spc="34" dirty="0">
                <a:solidFill>
                  <a:srgbClr val="FF0000"/>
                </a:solidFill>
              </a:rPr>
              <a:t>updates?</a:t>
            </a:r>
            <a:r>
              <a:rPr spc="34" dirty="0">
                <a:solidFill>
                  <a:srgbClr val="FF0000"/>
                </a:solidFill>
              </a:rPr>
              <a:t>)</a:t>
            </a:r>
          </a:p>
          <a:p>
            <a:pPr marL="479405" indent="-188007">
              <a:lnSpc>
                <a:spcPts val="2174"/>
              </a:lnSpc>
              <a:buChar char="•"/>
              <a:tabLst>
                <a:tab pos="479405" algn="l"/>
              </a:tabLst>
            </a:pPr>
            <a:r>
              <a:rPr spc="-14" dirty="0">
                <a:solidFill>
                  <a:srgbClr val="FF0000"/>
                </a:solidFill>
              </a:rPr>
              <a:t>communication</a:t>
            </a:r>
            <a:r>
              <a:rPr spc="-82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strategy</a:t>
            </a:r>
            <a:r>
              <a:rPr spc="-82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(</a:t>
            </a:r>
            <a:r>
              <a:rPr i="1" dirty="0">
                <a:solidFill>
                  <a:srgbClr val="FF0000"/>
                </a:solidFill>
                <a:latin typeface="Gill Sans MT"/>
                <a:cs typeface="Gill Sans MT"/>
              </a:rPr>
              <a:t>where</a:t>
            </a:r>
            <a:r>
              <a:rPr i="1" spc="-84" dirty="0">
                <a:solidFill>
                  <a:srgbClr val="FF0000"/>
                </a:solidFill>
              </a:rPr>
              <a:t> </a:t>
            </a:r>
            <a:r>
              <a:rPr i="1" spc="57" dirty="0">
                <a:solidFill>
                  <a:srgbClr val="FF0000"/>
                </a:solidFill>
              </a:rPr>
              <a:t>do</a:t>
            </a:r>
            <a:r>
              <a:rPr i="1" spc="-84" dirty="0">
                <a:solidFill>
                  <a:srgbClr val="FF0000"/>
                </a:solidFill>
              </a:rPr>
              <a:t> </a:t>
            </a:r>
            <a:r>
              <a:rPr i="1" spc="36" dirty="0">
                <a:solidFill>
                  <a:srgbClr val="FF0000"/>
                </a:solidFill>
              </a:rPr>
              <a:t>we</a:t>
            </a:r>
            <a:r>
              <a:rPr i="1" spc="-86" dirty="0">
                <a:solidFill>
                  <a:srgbClr val="FF0000"/>
                </a:solidFill>
              </a:rPr>
              <a:t> </a:t>
            </a:r>
            <a:r>
              <a:rPr i="1" spc="64" dirty="0">
                <a:solidFill>
                  <a:srgbClr val="FF0000"/>
                </a:solidFill>
              </a:rPr>
              <a:t>send</a:t>
            </a:r>
            <a:r>
              <a:rPr i="1" spc="-84" dirty="0">
                <a:solidFill>
                  <a:srgbClr val="FF0000"/>
                </a:solidFill>
              </a:rPr>
              <a:t> </a:t>
            </a:r>
            <a:r>
              <a:rPr i="1" spc="20" dirty="0">
                <a:solidFill>
                  <a:srgbClr val="FF0000"/>
                </a:solidFill>
              </a:rPr>
              <a:t>them?</a:t>
            </a:r>
            <a:r>
              <a:rPr spc="20" dirty="0">
                <a:solidFill>
                  <a:srgbClr val="FF0000"/>
                </a:solidFill>
              </a:rPr>
              <a:t>)</a:t>
            </a:r>
          </a:p>
          <a:p>
            <a:pPr marL="479405" indent="-188007">
              <a:lnSpc>
                <a:spcPts val="2206"/>
              </a:lnSpc>
              <a:buChar char="•"/>
              <a:tabLst>
                <a:tab pos="479405" algn="l"/>
              </a:tabLst>
            </a:pPr>
            <a:r>
              <a:rPr spc="-1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compression</a:t>
            </a:r>
            <a:r>
              <a:rPr spc="-8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/>
                <a:cs typeface="Gill Sans MT"/>
              </a:rPr>
              <a:t>what</a:t>
            </a:r>
            <a:r>
              <a:rPr i="1" spc="-84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i="1" spc="36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updates</a:t>
            </a:r>
            <a:r>
              <a:rPr i="1" spc="-84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i="1" spc="57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do</a:t>
            </a:r>
            <a:r>
              <a:rPr i="1" spc="-84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i="1" spc="36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we</a:t>
            </a:r>
            <a:r>
              <a:rPr i="1" spc="-84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i="1" spc="55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send?</a:t>
            </a:r>
            <a:r>
              <a:rPr spc="55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8D1924E-A941-09F5-2C2F-B5711A38E619}"/>
              </a:ext>
            </a:extLst>
          </p:cNvPr>
          <p:cNvSpPr txBox="1"/>
          <p:nvPr/>
        </p:nvSpPr>
        <p:spPr>
          <a:xfrm>
            <a:off x="722237" y="1035612"/>
            <a:ext cx="965810" cy="213238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76" defTabSz="415869">
              <a:spcBef>
                <a:spcPts val="52"/>
              </a:spcBef>
            </a:pPr>
            <a:r>
              <a:rPr sz="1342" b="1" kern="0" spc="-32" dirty="0">
                <a:solidFill>
                  <a:srgbClr val="FF644E"/>
                </a:solidFill>
                <a:latin typeface="Trebuchet MS"/>
                <a:cs typeface="Trebuchet MS"/>
              </a:rPr>
              <a:t>QU</a:t>
            </a:r>
            <a:r>
              <a:rPr sz="1342" b="1" kern="0" spc="-177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kern="0" spc="75" dirty="0">
                <a:solidFill>
                  <a:srgbClr val="FF644E"/>
                </a:solidFill>
                <a:latin typeface="Trebuchet MS"/>
                <a:cs typeface="Trebuchet MS"/>
              </a:rPr>
              <a:t>ES</a:t>
            </a:r>
            <a:r>
              <a:rPr sz="1342" b="1" kern="0" spc="-175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kern="0" spc="82" dirty="0">
                <a:solidFill>
                  <a:srgbClr val="FF644E"/>
                </a:solidFill>
                <a:latin typeface="Trebuchet MS"/>
                <a:cs typeface="Trebuchet MS"/>
              </a:rPr>
              <a:t>TION </a:t>
            </a:r>
            <a:endParaRPr sz="1342" kern="0">
              <a:solidFill>
                <a:sysClr val="windowText" lastClr="000000"/>
              </a:solidFill>
              <a:latin typeface="Trebuchet MS"/>
              <a:cs typeface="Trebuchet MS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C6AC080-EEC8-CE0D-B6BB-929B337D5705}"/>
              </a:ext>
            </a:extLst>
          </p:cNvPr>
          <p:cNvSpPr txBox="1"/>
          <p:nvPr/>
        </p:nvSpPr>
        <p:spPr>
          <a:xfrm>
            <a:off x="743232" y="4816326"/>
            <a:ext cx="8006921" cy="585547"/>
          </a:xfrm>
          <a:prstGeom prst="rect">
            <a:avLst/>
          </a:prstGeom>
        </p:spPr>
        <p:txBody>
          <a:bodyPr vert="horz" wrap="square" lIns="0" tIns="21084" rIns="0" bIns="0" rtlCol="0">
            <a:spAutoFit/>
          </a:bodyPr>
          <a:lstStyle/>
          <a:p>
            <a:pPr marL="5776" marR="2310" defTabSz="415869">
              <a:lnSpc>
                <a:spcPts val="2174"/>
              </a:lnSpc>
              <a:spcBef>
                <a:spcPts val="166"/>
              </a:spcBef>
            </a:pPr>
            <a:r>
              <a:rPr sz="1865" i="1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*Note:</a:t>
            </a:r>
            <a:r>
              <a:rPr sz="1865" i="1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-3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While</a:t>
            </a:r>
            <a:r>
              <a:rPr sz="1865" i="1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3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we</a:t>
            </a:r>
            <a:r>
              <a:rPr sz="1865" i="1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3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motivate</a:t>
            </a:r>
            <a:r>
              <a:rPr sz="1865" i="1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5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these</a:t>
            </a:r>
            <a:r>
              <a:rPr sz="1865" i="1" kern="0" spc="-8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3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approaches</a:t>
            </a:r>
            <a:r>
              <a:rPr sz="1865" i="1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3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with</a:t>
            </a:r>
            <a:r>
              <a:rPr sz="1865" i="1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2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mini-</a:t>
            </a:r>
            <a:r>
              <a:rPr sz="1865" i="1" kern="0" spc="3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batch</a:t>
            </a:r>
            <a:r>
              <a:rPr sz="1865" i="1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-6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SGD,</a:t>
            </a:r>
            <a:r>
              <a:rPr sz="1865" i="1" kern="0" spc="-8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2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they</a:t>
            </a:r>
            <a:r>
              <a:rPr sz="1865" i="1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are</a:t>
            </a:r>
            <a:r>
              <a:rPr sz="1865" i="1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3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applicable</a:t>
            </a:r>
            <a:r>
              <a:rPr sz="1865" i="1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3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to </a:t>
            </a:r>
            <a:r>
              <a:rPr sz="1865" i="1" kern="0" spc="2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the</a:t>
            </a:r>
            <a:r>
              <a:rPr sz="1865" i="1" kern="0" spc="-5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2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other</a:t>
            </a:r>
            <a:r>
              <a:rPr sz="1865" i="1" kern="0" spc="-5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5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first-</a:t>
            </a:r>
            <a:r>
              <a:rPr sz="1865" i="1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order</a:t>
            </a:r>
            <a:r>
              <a:rPr sz="1865" i="1" kern="0" spc="-5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lang="en-US" sz="1865" i="1" kern="0" spc="-5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optimization </a:t>
            </a:r>
            <a:r>
              <a:rPr sz="1865" i="1" kern="0" spc="4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methods</a:t>
            </a:r>
            <a:r>
              <a:rPr sz="1865" i="1" kern="0" spc="-5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(AdaGrad,</a:t>
            </a:r>
            <a:r>
              <a:rPr sz="1865" i="1" kern="0" spc="-5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RMSProp,</a:t>
            </a:r>
            <a:r>
              <a:rPr sz="1865" i="1" kern="0" spc="-5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Adam,</a:t>
            </a:r>
            <a:r>
              <a:rPr sz="1865" i="1" kern="0" spc="-5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6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etc.)</a:t>
            </a:r>
            <a:endParaRPr sz="1865" kern="0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11101258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497" y="1057414"/>
            <a:ext cx="3348078" cy="929512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209" dirty="0"/>
              <a:t>Synchronous</a:t>
            </a:r>
            <a:r>
              <a:rPr spc="-207" dirty="0"/>
              <a:t> </a:t>
            </a:r>
            <a:r>
              <a:rPr spc="-136" dirty="0"/>
              <a:t>vs.</a:t>
            </a:r>
            <a:r>
              <a:rPr spc="-207" dirty="0"/>
              <a:t> </a:t>
            </a:r>
            <a:r>
              <a:rPr spc="-214" dirty="0"/>
              <a:t>asynchronous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834" y="2043085"/>
            <a:ext cx="5112360" cy="193201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443367" y="4347229"/>
            <a:ext cx="2590126" cy="1563708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 defTabSz="415869">
              <a:lnSpc>
                <a:spcPts val="2206"/>
              </a:lnSpc>
              <a:spcBef>
                <a:spcPts val="55"/>
              </a:spcBef>
            </a:pP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asynchronous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marL="193495" indent="-187719" defTabSz="415869">
              <a:lnSpc>
                <a:spcPts val="2174"/>
              </a:lnSpc>
              <a:buFontTx/>
              <a:buChar char="•"/>
              <a:tabLst>
                <a:tab pos="193495" algn="l"/>
              </a:tabLst>
            </a:pPr>
            <a:r>
              <a:rPr sz="1865" kern="0" spc="-6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fast—</a:t>
            </a:r>
            <a:r>
              <a:rPr sz="1865" kern="0" spc="-6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no</a:t>
            </a:r>
            <a:r>
              <a:rPr sz="1865" kern="0" spc="-6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waiting!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marL="193495" indent="-187719" defTabSz="415869">
              <a:lnSpc>
                <a:spcPts val="2206"/>
              </a:lnSpc>
              <a:buFontTx/>
              <a:buChar char="•"/>
              <a:tabLst>
                <a:tab pos="193495" algn="l"/>
              </a:tabLst>
            </a:pPr>
            <a:r>
              <a:rPr sz="1865" kern="0" spc="-1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but:</a:t>
            </a:r>
            <a:r>
              <a:rPr sz="1865" kern="0" spc="-9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6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there</a:t>
            </a:r>
            <a:r>
              <a:rPr sz="1865" kern="0" spc="-8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may</a:t>
            </a:r>
            <a:r>
              <a:rPr sz="1865" kern="0" spc="-9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be</a:t>
            </a:r>
            <a:r>
              <a:rPr sz="1865" kern="0" spc="-8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errors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defTabSz="415869">
              <a:spcBef>
                <a:spcPts val="1469"/>
              </a:spcBef>
            </a:pP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marL="287932" defTabSz="415869"/>
            <a:r>
              <a:rPr sz="1501" kern="0" dirty="0">
                <a:solidFill>
                  <a:srgbClr val="A7A7A7"/>
                </a:solidFill>
                <a:latin typeface="Gill Sans MT"/>
                <a:cs typeface="Gill Sans MT"/>
              </a:rPr>
              <a:t>Image:</a:t>
            </a:r>
            <a:r>
              <a:rPr sz="1501" kern="0" spc="-2" dirty="0">
                <a:solidFill>
                  <a:srgbClr val="A7A7A7"/>
                </a:solidFill>
                <a:latin typeface="Gill Sans MT"/>
                <a:cs typeface="Gill Sans MT"/>
              </a:rPr>
              <a:t> </a:t>
            </a:r>
            <a:r>
              <a:rPr sz="1501" kern="0" spc="-52" dirty="0">
                <a:solidFill>
                  <a:srgbClr val="A7A7A7"/>
                </a:solidFill>
                <a:latin typeface="Gill Sans MT"/>
                <a:cs typeface="Gill Sans MT"/>
              </a:rPr>
              <a:t>Dimitris</a:t>
            </a:r>
            <a:r>
              <a:rPr sz="1501" kern="0" dirty="0">
                <a:solidFill>
                  <a:srgbClr val="A7A7A7"/>
                </a:solidFill>
                <a:latin typeface="Gill Sans MT"/>
                <a:cs typeface="Gill Sans MT"/>
              </a:rPr>
              <a:t> </a:t>
            </a:r>
            <a:r>
              <a:rPr sz="1501" kern="0" spc="-5" dirty="0">
                <a:solidFill>
                  <a:srgbClr val="A7A7A7"/>
                </a:solidFill>
                <a:latin typeface="Gill Sans MT"/>
                <a:cs typeface="Gill Sans MT"/>
              </a:rPr>
              <a:t>Papailiopoulos</a:t>
            </a:r>
            <a:endParaRPr sz="1501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0615" y="4417709"/>
            <a:ext cx="5069519" cy="7834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361229" y="2168826"/>
            <a:ext cx="2368602" cy="1430466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 defTabSz="415869">
              <a:lnSpc>
                <a:spcPts val="2206"/>
              </a:lnSpc>
              <a:spcBef>
                <a:spcPts val="55"/>
              </a:spcBef>
            </a:pP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synchronous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marL="193495" marR="590592" indent="-188007" defTabSz="415869">
              <a:lnSpc>
                <a:spcPts val="2174"/>
              </a:lnSpc>
              <a:spcBef>
                <a:spcPts val="95"/>
              </a:spcBef>
              <a:buFontTx/>
              <a:buChar char="•"/>
              <a:tabLst>
                <a:tab pos="193495" algn="l"/>
              </a:tabLst>
            </a:pPr>
            <a:r>
              <a:rPr sz="1865" kern="0" spc="-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guaranteed</a:t>
            </a:r>
            <a:r>
              <a:rPr sz="1865" kern="0" spc="-8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9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to</a:t>
            </a:r>
            <a:r>
              <a:rPr sz="1865" kern="0" spc="-8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1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be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correct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marL="193495" marR="2310" indent="-188007" defTabSz="415869">
              <a:lnSpc>
                <a:spcPts val="2174"/>
              </a:lnSpc>
              <a:buFontTx/>
              <a:buChar char="•"/>
              <a:tabLst>
                <a:tab pos="193495" algn="l"/>
              </a:tabLst>
            </a:pPr>
            <a:r>
              <a:rPr sz="1865" kern="0" spc="-1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but:</a:t>
            </a:r>
            <a:r>
              <a:rPr sz="1865" kern="0" spc="-10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3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can</a:t>
            </a:r>
            <a:r>
              <a:rPr sz="1865" kern="0" spc="-10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be</a:t>
            </a:r>
            <a:r>
              <a:rPr sz="1865" kern="0" spc="-10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slow</a:t>
            </a:r>
            <a:r>
              <a:rPr sz="1865" kern="0" spc="-10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1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due</a:t>
            </a:r>
            <a:r>
              <a:rPr sz="1865" kern="0" spc="-10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6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to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stragglers,</a:t>
            </a:r>
            <a:r>
              <a:rPr sz="1865" kern="0" spc="3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overhead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2237" y="1187452"/>
            <a:ext cx="2738290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202" dirty="0"/>
              <a:t>Asynchronous</a:t>
            </a:r>
            <a:r>
              <a:rPr spc="-207" dirty="0"/>
              <a:t> </a:t>
            </a:r>
            <a:r>
              <a:rPr spc="-41" dirty="0"/>
              <a:t>ML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25750" y="5646443"/>
            <a:ext cx="2307661" cy="236502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 defTabSz="415869">
              <a:spcBef>
                <a:spcPts val="43"/>
              </a:spcBef>
            </a:pPr>
            <a:r>
              <a:rPr sz="1501" kern="0" dirty="0">
                <a:solidFill>
                  <a:srgbClr val="A7A7A7"/>
                </a:solidFill>
                <a:latin typeface="Gill Sans MT"/>
                <a:cs typeface="Gill Sans MT"/>
              </a:rPr>
              <a:t>Image:</a:t>
            </a:r>
            <a:r>
              <a:rPr sz="1501" kern="0" spc="-2" dirty="0">
                <a:solidFill>
                  <a:srgbClr val="A7A7A7"/>
                </a:solidFill>
                <a:latin typeface="Gill Sans MT"/>
                <a:cs typeface="Gill Sans MT"/>
              </a:rPr>
              <a:t> </a:t>
            </a:r>
            <a:r>
              <a:rPr sz="1501" kern="0" spc="-52" dirty="0">
                <a:solidFill>
                  <a:srgbClr val="A7A7A7"/>
                </a:solidFill>
                <a:latin typeface="Gill Sans MT"/>
                <a:cs typeface="Gill Sans MT"/>
              </a:rPr>
              <a:t>Dimitris</a:t>
            </a:r>
            <a:r>
              <a:rPr sz="1501" kern="0" dirty="0">
                <a:solidFill>
                  <a:srgbClr val="A7A7A7"/>
                </a:solidFill>
                <a:latin typeface="Gill Sans MT"/>
                <a:cs typeface="Gill Sans MT"/>
              </a:rPr>
              <a:t> </a:t>
            </a:r>
            <a:r>
              <a:rPr sz="1501" kern="0" spc="-5" dirty="0">
                <a:solidFill>
                  <a:srgbClr val="A7A7A7"/>
                </a:solidFill>
                <a:latin typeface="Gill Sans MT"/>
                <a:cs typeface="Gill Sans MT"/>
              </a:rPr>
              <a:t>Papailiopoulos</a:t>
            </a:r>
            <a:endParaRPr sz="1501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5967" y="2125887"/>
            <a:ext cx="4679646" cy="310866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870872" y="3100942"/>
            <a:ext cx="2735980" cy="1484978"/>
          </a:xfrm>
          <a:prstGeom prst="rect">
            <a:avLst/>
          </a:prstGeom>
        </p:spPr>
        <p:txBody>
          <a:bodyPr vert="horz" wrap="square" lIns="0" tIns="22817" rIns="0" bIns="0" rtlCol="0">
            <a:spAutoFit/>
          </a:bodyPr>
          <a:lstStyle/>
          <a:p>
            <a:pPr marL="5776" marR="2310" defTabSz="415869">
              <a:lnSpc>
                <a:spcPts val="2174"/>
              </a:lnSpc>
              <a:spcBef>
                <a:spcPts val="180"/>
              </a:spcBef>
            </a:pPr>
            <a:r>
              <a:rPr sz="1865" kern="0" spc="6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if</a:t>
            </a:r>
            <a:r>
              <a:rPr sz="1865" kern="0" spc="-8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6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no</a:t>
            </a:r>
            <a:r>
              <a:rPr sz="1865" kern="0" spc="-8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2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conflicts</a:t>
            </a:r>
            <a:r>
              <a:rPr sz="1865" kern="0" spc="-8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3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(e.g.,</a:t>
            </a:r>
            <a:r>
              <a:rPr sz="1865" kern="0" spc="-8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when</a:t>
            </a:r>
            <a:r>
              <a:rPr sz="1865" kern="0" spc="-8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1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the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shared</a:t>
            </a:r>
            <a:r>
              <a:rPr sz="1865" kern="0" spc="-12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parameter,</a:t>
            </a:r>
            <a:r>
              <a:rPr sz="1865" kern="0" spc="-8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x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,</a:t>
            </a:r>
            <a:r>
              <a:rPr sz="1865" kern="0" spc="-10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7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is</a:t>
            </a:r>
            <a:r>
              <a:rPr sz="1865" kern="0" spc="-10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very </a:t>
            </a:r>
            <a:r>
              <a:rPr sz="1865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Gill Sans MT"/>
                <a:cs typeface="Gill Sans MT"/>
              </a:rPr>
              <a:t>sparse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),</a:t>
            </a:r>
            <a:r>
              <a:rPr sz="1865" kern="0" spc="-5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1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asynchrony</a:t>
            </a:r>
            <a:r>
              <a:rPr sz="1865" kern="0" spc="-5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7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is</a:t>
            </a:r>
            <a:r>
              <a:rPr sz="1865" kern="0" spc="-4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great</a:t>
            </a:r>
            <a:r>
              <a:rPr lang="en-US"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!</a:t>
            </a:r>
          </a:p>
          <a:p>
            <a:pPr marL="5776" marR="2310" defTabSz="415869">
              <a:lnSpc>
                <a:spcPts val="2174"/>
              </a:lnSpc>
              <a:spcBef>
                <a:spcPts val="180"/>
              </a:spcBef>
            </a:pPr>
            <a:endParaRPr lang="en-US" sz="1865" kern="0" spc="-5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marL="5776" marR="2310" defTabSz="415869">
              <a:lnSpc>
                <a:spcPts val="2174"/>
              </a:lnSpc>
              <a:spcBef>
                <a:spcPts val="180"/>
              </a:spcBef>
            </a:pPr>
            <a:r>
              <a:rPr lang="en-US"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recall: </a:t>
            </a:r>
            <a:r>
              <a:rPr lang="en-US" sz="1865" kern="0" spc="-5" dirty="0" err="1">
                <a:solidFill>
                  <a:sysClr val="windowText" lastClr="000000"/>
                </a:solidFill>
                <a:latin typeface="Gill Sans MT"/>
                <a:cs typeface="Gill Sans MT"/>
              </a:rPr>
              <a:t>HogWild</a:t>
            </a:r>
            <a:r>
              <a:rPr lang="en-US"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!</a:t>
            </a:r>
            <a:endParaRPr sz="1865" kern="0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5622BE-8661-D6B1-5E84-C562B693C914}"/>
              </a:ext>
            </a:extLst>
          </p:cNvPr>
          <p:cNvSpPr txBox="1"/>
          <p:nvPr/>
        </p:nvSpPr>
        <p:spPr>
          <a:xfrm>
            <a:off x="5300664" y="234797"/>
            <a:ext cx="3620514" cy="175432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Recommended when: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sparse updates that don’t overlap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workers have low-bandwidth connections between them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usually case with high-end GPU clusters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497" y="1057414"/>
            <a:ext cx="3348078" cy="929512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239" dirty="0"/>
              <a:t>Communication</a:t>
            </a:r>
            <a:r>
              <a:rPr spc="-214" dirty="0"/>
              <a:t> </a:t>
            </a:r>
            <a:r>
              <a:rPr spc="-175" dirty="0"/>
              <a:t>strategies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5423" y="2865598"/>
            <a:ext cx="3237340" cy="228185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63171" y="2124118"/>
            <a:ext cx="2743778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 defTabSz="415869">
              <a:spcBef>
                <a:spcPts val="55"/>
              </a:spcBef>
            </a:pPr>
            <a:r>
              <a:rPr sz="1865" kern="0" spc="-1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centralized:</a:t>
            </a:r>
            <a:r>
              <a:rPr sz="1865" kern="0" spc="-7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4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parameter</a:t>
            </a:r>
            <a:r>
              <a:rPr sz="1865" kern="0" spc="-7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2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server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09019" y="2908079"/>
            <a:ext cx="3401965" cy="209002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544289" y="2124118"/>
            <a:ext cx="2714318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 defTabSz="415869">
              <a:spcBef>
                <a:spcPts val="55"/>
              </a:spcBef>
            </a:pPr>
            <a:r>
              <a:rPr sz="1865" kern="0" spc="-1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decentralized:</a:t>
            </a:r>
            <a:r>
              <a:rPr sz="1865" kern="0" spc="-8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ring</a:t>
            </a:r>
            <a:r>
              <a:rPr sz="1865" kern="0" spc="-8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3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all-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reduce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E2F3F3-B4CA-0A26-ED61-F033804E58FD}"/>
              </a:ext>
            </a:extLst>
          </p:cNvPr>
          <p:cNvSpPr/>
          <p:nvPr/>
        </p:nvSpPr>
        <p:spPr>
          <a:xfrm>
            <a:off x="5314950" y="1685925"/>
            <a:ext cx="3414713" cy="98583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&quot;No&quot; Symbol 8">
            <a:extLst>
              <a:ext uri="{FF2B5EF4-FFF2-40B4-BE49-F238E27FC236}">
                <a16:creationId xmlns:a16="http://schemas.microsoft.com/office/drawing/2014/main" id="{E87EE162-2954-9A7E-B3AF-7BCB5534760E}"/>
              </a:ext>
            </a:extLst>
          </p:cNvPr>
          <p:cNvSpPr/>
          <p:nvPr/>
        </p:nvSpPr>
        <p:spPr>
          <a:xfrm>
            <a:off x="1143000" y="2865598"/>
            <a:ext cx="3028950" cy="2877977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3-04-02 at 1.13.4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9642" y="263823"/>
            <a:ext cx="4552122" cy="26273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Screen Shot 2013-04-02 at 1.13.47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8158" y="3871460"/>
            <a:ext cx="5092450" cy="286450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ight Arrow 5"/>
          <p:cNvSpPr/>
          <p:nvPr/>
        </p:nvSpPr>
        <p:spPr>
          <a:xfrm rot="5400000">
            <a:off x="5636595" y="3060869"/>
            <a:ext cx="905568" cy="715614"/>
          </a:xfrm>
          <a:prstGeom prst="rightArrow">
            <a:avLst>
              <a:gd name="adj1" fmla="val 33303"/>
              <a:gd name="adj2" fmla="val 46296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A86B41-BBB4-3A51-EC9E-5D29F9C1E469}"/>
              </a:ext>
            </a:extLst>
          </p:cNvPr>
          <p:cNvSpPr txBox="1">
            <a:spLocks/>
          </p:cNvSpPr>
          <p:nvPr/>
        </p:nvSpPr>
        <p:spPr>
          <a:xfrm>
            <a:off x="722236" y="440480"/>
            <a:ext cx="2206702" cy="310282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defTabSz="914400"/>
            <a:r>
              <a:rPr lang="en-US" sz="3200" b="1" kern="0" dirty="0">
                <a:solidFill>
                  <a:sysClr val="windowText" lastClr="000000"/>
                </a:solidFill>
              </a:rPr>
              <a:t>Recap</a:t>
            </a:r>
            <a:r>
              <a:rPr lang="en-US" sz="3200" kern="0" dirty="0">
                <a:solidFill>
                  <a:sysClr val="windowText" lastClr="000000"/>
                </a:solidFill>
              </a:rPr>
              <a:t>: </a:t>
            </a:r>
            <a:r>
              <a:rPr lang="en-US" sz="3200" b="1" kern="0" dirty="0">
                <a:solidFill>
                  <a:sysClr val="windowText" lastClr="000000"/>
                </a:solidFill>
              </a:rPr>
              <a:t>Tree</a:t>
            </a:r>
            <a:r>
              <a:rPr lang="en-US" sz="3200" kern="0" dirty="0">
                <a:solidFill>
                  <a:sysClr val="windowText" lastClr="000000"/>
                </a:solidFill>
              </a:rPr>
              <a:t> </a:t>
            </a:r>
            <a:r>
              <a:rPr lang="en-US" sz="3200" kern="0" dirty="0" err="1">
                <a:solidFill>
                  <a:sysClr val="windowText" lastClr="000000"/>
                </a:solidFill>
              </a:rPr>
              <a:t>AllReduce</a:t>
            </a:r>
            <a:endParaRPr lang="en-US" sz="3200" kern="0" dirty="0">
              <a:solidFill>
                <a:sysClr val="windowText" lastClr="000000"/>
              </a:solidFill>
            </a:endParaRP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A3082E3A-8660-D2F3-A3BD-F4B2A8DAE728}"/>
              </a:ext>
            </a:extLst>
          </p:cNvPr>
          <p:cNvSpPr txBox="1">
            <a:spLocks/>
          </p:cNvSpPr>
          <p:nvPr/>
        </p:nvSpPr>
        <p:spPr>
          <a:xfrm>
            <a:off x="490895" y="1991890"/>
            <a:ext cx="2835244" cy="2349024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207935">
              <a:defRPr>
                <a:latin typeface="+mn-lt"/>
                <a:ea typeface="+mn-ea"/>
                <a:cs typeface="+mn-cs"/>
              </a:defRPr>
            </a:lvl2pPr>
            <a:lvl3pPr marL="415869">
              <a:defRPr>
                <a:latin typeface="+mn-lt"/>
                <a:ea typeface="+mn-ea"/>
                <a:cs typeface="+mn-cs"/>
              </a:defRPr>
            </a:lvl3pPr>
            <a:lvl4pPr marL="623804">
              <a:defRPr>
                <a:latin typeface="+mn-lt"/>
                <a:ea typeface="+mn-ea"/>
                <a:cs typeface="+mn-cs"/>
              </a:defRPr>
            </a:lvl4pPr>
            <a:lvl5pPr marL="831738">
              <a:defRPr>
                <a:latin typeface="+mn-lt"/>
                <a:ea typeface="+mn-ea"/>
                <a:cs typeface="+mn-cs"/>
              </a:defRPr>
            </a:lvl5pPr>
            <a:lvl6pPr marL="1039673">
              <a:defRPr>
                <a:latin typeface="+mn-lt"/>
                <a:ea typeface="+mn-ea"/>
                <a:cs typeface="+mn-cs"/>
              </a:defRPr>
            </a:lvl6pPr>
            <a:lvl7pPr marL="1247607">
              <a:defRPr>
                <a:latin typeface="+mn-lt"/>
                <a:ea typeface="+mn-ea"/>
                <a:cs typeface="+mn-cs"/>
              </a:defRPr>
            </a:lvl7pPr>
            <a:lvl8pPr marL="1455542">
              <a:defRPr>
                <a:latin typeface="+mn-lt"/>
                <a:ea typeface="+mn-ea"/>
                <a:cs typeface="+mn-cs"/>
              </a:defRPr>
            </a:lvl8pPr>
            <a:lvl9pPr marL="1663476">
              <a:defRPr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US" kern="0" dirty="0">
                <a:solidFill>
                  <a:sysClr val="windowText" lastClr="000000"/>
                </a:solidFill>
              </a:rPr>
              <a:t>Common pattern in ML:</a:t>
            </a:r>
          </a:p>
          <a:p>
            <a:pPr marL="550835" lvl="1" indent="-342900" defTabSz="914400">
              <a:buFont typeface="+mj-lt"/>
              <a:buAutoNum type="arabicPeriod"/>
            </a:pPr>
            <a:r>
              <a:rPr lang="en-US" b="1" kern="0" dirty="0">
                <a:solidFill>
                  <a:sysClr val="windowText" lastClr="000000"/>
                </a:solidFill>
              </a:rPr>
              <a:t>Reduce</a:t>
            </a:r>
            <a:r>
              <a:rPr lang="en-US" kern="0" dirty="0">
                <a:solidFill>
                  <a:sysClr val="windowText" lastClr="000000"/>
                </a:solidFill>
              </a:rPr>
              <a:t> (e.g., aggregate gradients) information from many workers</a:t>
            </a:r>
          </a:p>
          <a:p>
            <a:pPr marL="550835" lvl="1" indent="-342900" defTabSz="914400">
              <a:buFont typeface="+mj-lt"/>
              <a:buAutoNum type="arabicPeriod"/>
            </a:pPr>
            <a:r>
              <a:rPr lang="en-US" b="1" kern="0" dirty="0">
                <a:solidFill>
                  <a:sysClr val="windowText" lastClr="000000"/>
                </a:solidFill>
              </a:rPr>
              <a:t>Distribute</a:t>
            </a:r>
            <a:r>
              <a:rPr lang="en-US" kern="0" dirty="0">
                <a:solidFill>
                  <a:sysClr val="windowText" lastClr="000000"/>
                </a:solidFill>
              </a:rPr>
              <a:t> aggregation to </a:t>
            </a:r>
            <a:r>
              <a:rPr lang="en-US" b="1" kern="0" dirty="0">
                <a:solidFill>
                  <a:sysClr val="windowText" lastClr="000000"/>
                </a:solidFill>
              </a:rPr>
              <a:t>all workers</a:t>
            </a:r>
            <a:endParaRPr lang="en-US" kern="0" dirty="0">
              <a:solidFill>
                <a:sysClr val="windowText" lastClr="000000"/>
              </a:solidFill>
            </a:endParaRPr>
          </a:p>
          <a:p>
            <a:pPr lvl="1" defTabSz="914400"/>
            <a:endParaRPr lang="en-US" kern="0" dirty="0">
              <a:solidFill>
                <a:sysClr val="windowText" lastClr="000000"/>
              </a:solidFill>
            </a:endParaRPr>
          </a:p>
          <a:p>
            <a:pPr lvl="1" defTabSz="914400"/>
            <a:endParaRPr lang="en-US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427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F7772-AC96-EB4E-DC7C-E239AA895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BFDE3-1858-FA70-7699-8CCDAA62206D}"/>
              </a:ext>
            </a:extLst>
          </p:cNvPr>
          <p:cNvSpPr txBox="1">
            <a:spLocks/>
          </p:cNvSpPr>
          <p:nvPr/>
        </p:nvSpPr>
        <p:spPr>
          <a:xfrm>
            <a:off x="722236" y="440480"/>
            <a:ext cx="2206702" cy="310282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defTabSz="914400"/>
            <a:r>
              <a:rPr lang="en-US" sz="3200" b="1" kern="0" dirty="0">
                <a:solidFill>
                  <a:sysClr val="windowText" lastClr="000000"/>
                </a:solidFill>
              </a:rPr>
              <a:t>Tree </a:t>
            </a:r>
            <a:r>
              <a:rPr lang="en-US" sz="3200" kern="0" dirty="0">
                <a:solidFill>
                  <a:sysClr val="windowText" lastClr="000000"/>
                </a:solidFill>
              </a:rPr>
              <a:t>vs </a:t>
            </a:r>
            <a:r>
              <a:rPr lang="en-US" sz="3200" b="1" kern="0" dirty="0">
                <a:solidFill>
                  <a:sysClr val="windowText" lastClr="000000"/>
                </a:solidFill>
              </a:rPr>
              <a:t>Ring</a:t>
            </a:r>
            <a:r>
              <a:rPr lang="en-US" sz="3200" kern="0" dirty="0">
                <a:solidFill>
                  <a:sysClr val="windowText" lastClr="000000"/>
                </a:solidFill>
              </a:rPr>
              <a:t> </a:t>
            </a:r>
            <a:r>
              <a:rPr lang="en-US" sz="3200" kern="0" dirty="0" err="1">
                <a:solidFill>
                  <a:sysClr val="windowText" lastClr="000000"/>
                </a:solidFill>
              </a:rPr>
              <a:t>AllReduce</a:t>
            </a:r>
            <a:endParaRPr lang="en-US" sz="3200" kern="0" dirty="0">
              <a:solidFill>
                <a:sysClr val="windowText" lastClr="000000"/>
              </a:solidFill>
            </a:endParaRP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4387AC28-E7B9-F00F-4D45-F24ABF7770ED}"/>
              </a:ext>
            </a:extLst>
          </p:cNvPr>
          <p:cNvSpPr txBox="1">
            <a:spLocks/>
          </p:cNvSpPr>
          <p:nvPr/>
        </p:nvSpPr>
        <p:spPr>
          <a:xfrm>
            <a:off x="490895" y="1581733"/>
            <a:ext cx="2835244" cy="2349024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207935">
              <a:defRPr>
                <a:latin typeface="+mn-lt"/>
                <a:ea typeface="+mn-ea"/>
                <a:cs typeface="+mn-cs"/>
              </a:defRPr>
            </a:lvl2pPr>
            <a:lvl3pPr marL="415869">
              <a:defRPr>
                <a:latin typeface="+mn-lt"/>
                <a:ea typeface="+mn-ea"/>
                <a:cs typeface="+mn-cs"/>
              </a:defRPr>
            </a:lvl3pPr>
            <a:lvl4pPr marL="623804">
              <a:defRPr>
                <a:latin typeface="+mn-lt"/>
                <a:ea typeface="+mn-ea"/>
                <a:cs typeface="+mn-cs"/>
              </a:defRPr>
            </a:lvl4pPr>
            <a:lvl5pPr marL="831738">
              <a:defRPr>
                <a:latin typeface="+mn-lt"/>
                <a:ea typeface="+mn-ea"/>
                <a:cs typeface="+mn-cs"/>
              </a:defRPr>
            </a:lvl5pPr>
            <a:lvl6pPr marL="1039673">
              <a:defRPr>
                <a:latin typeface="+mn-lt"/>
                <a:ea typeface="+mn-ea"/>
                <a:cs typeface="+mn-cs"/>
              </a:defRPr>
            </a:lvl6pPr>
            <a:lvl7pPr marL="1247607">
              <a:defRPr>
                <a:latin typeface="+mn-lt"/>
                <a:ea typeface="+mn-ea"/>
                <a:cs typeface="+mn-cs"/>
              </a:defRPr>
            </a:lvl7pPr>
            <a:lvl8pPr marL="1455542">
              <a:defRPr>
                <a:latin typeface="+mn-lt"/>
                <a:ea typeface="+mn-ea"/>
                <a:cs typeface="+mn-cs"/>
              </a:defRPr>
            </a:lvl8pPr>
            <a:lvl9pPr marL="1663476">
              <a:defRPr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US" kern="0" dirty="0">
                <a:solidFill>
                  <a:sysClr val="windowText" lastClr="000000"/>
                </a:solidFill>
              </a:rPr>
              <a:t>Common pattern in ML:</a:t>
            </a:r>
          </a:p>
          <a:p>
            <a:pPr marL="550835" lvl="1" indent="-342900" defTabSz="914400">
              <a:buFont typeface="+mj-lt"/>
              <a:buAutoNum type="arabicPeriod"/>
            </a:pPr>
            <a:r>
              <a:rPr lang="en-US" b="1" kern="0" dirty="0">
                <a:solidFill>
                  <a:sysClr val="windowText" lastClr="000000"/>
                </a:solidFill>
              </a:rPr>
              <a:t>Reduce</a:t>
            </a:r>
            <a:r>
              <a:rPr lang="en-US" kern="0" dirty="0">
                <a:solidFill>
                  <a:sysClr val="windowText" lastClr="000000"/>
                </a:solidFill>
              </a:rPr>
              <a:t> (e.g., aggregate gradients) information from many workers</a:t>
            </a:r>
          </a:p>
          <a:p>
            <a:pPr marL="550835" lvl="1" indent="-342900" defTabSz="914400">
              <a:buFont typeface="+mj-lt"/>
              <a:buAutoNum type="arabicPeriod"/>
            </a:pPr>
            <a:r>
              <a:rPr lang="en-US" b="1" kern="0" dirty="0">
                <a:solidFill>
                  <a:sysClr val="windowText" lastClr="000000"/>
                </a:solidFill>
              </a:rPr>
              <a:t>Distribute</a:t>
            </a:r>
            <a:r>
              <a:rPr lang="en-US" kern="0" dirty="0">
                <a:solidFill>
                  <a:sysClr val="windowText" lastClr="000000"/>
                </a:solidFill>
              </a:rPr>
              <a:t> aggregation to </a:t>
            </a:r>
            <a:r>
              <a:rPr lang="en-US" b="1" kern="0" dirty="0">
                <a:solidFill>
                  <a:sysClr val="windowText" lastClr="000000"/>
                </a:solidFill>
              </a:rPr>
              <a:t>all workers</a:t>
            </a:r>
            <a:endParaRPr lang="en-US" kern="0" dirty="0">
              <a:solidFill>
                <a:sysClr val="windowText" lastClr="000000"/>
              </a:solidFill>
            </a:endParaRPr>
          </a:p>
          <a:p>
            <a:pPr lvl="1" defTabSz="914400"/>
            <a:endParaRPr lang="en-US" kern="0" dirty="0">
              <a:solidFill>
                <a:sysClr val="windowText" lastClr="000000"/>
              </a:solidFill>
            </a:endParaRPr>
          </a:p>
          <a:p>
            <a:pPr lvl="1" defTabSz="914400"/>
            <a:endParaRPr lang="en-US" kern="0" dirty="0">
              <a:solidFill>
                <a:sysClr val="windowText" lastClr="00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3623DD-FBD2-5A35-4BB2-85A7B2A46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839" y="3695224"/>
            <a:ext cx="5105400" cy="2565400"/>
          </a:xfrm>
          <a:prstGeom prst="rect">
            <a:avLst/>
          </a:prstGeom>
        </p:spPr>
      </p:pic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54411E27-0FFE-1AF2-88AB-53AE5E30CFB9}"/>
              </a:ext>
            </a:extLst>
          </p:cNvPr>
          <p:cNvSpPr txBox="1">
            <a:spLocks/>
          </p:cNvSpPr>
          <p:nvPr/>
        </p:nvSpPr>
        <p:spPr>
          <a:xfrm>
            <a:off x="3843695" y="813752"/>
            <a:ext cx="4809410" cy="25654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207935">
              <a:defRPr>
                <a:latin typeface="+mn-lt"/>
                <a:ea typeface="+mn-ea"/>
                <a:cs typeface="+mn-cs"/>
              </a:defRPr>
            </a:lvl2pPr>
            <a:lvl3pPr marL="415869">
              <a:defRPr>
                <a:latin typeface="+mn-lt"/>
                <a:ea typeface="+mn-ea"/>
                <a:cs typeface="+mn-cs"/>
              </a:defRPr>
            </a:lvl3pPr>
            <a:lvl4pPr marL="623804">
              <a:defRPr>
                <a:latin typeface="+mn-lt"/>
                <a:ea typeface="+mn-ea"/>
                <a:cs typeface="+mn-cs"/>
              </a:defRPr>
            </a:lvl4pPr>
            <a:lvl5pPr marL="831738">
              <a:defRPr>
                <a:latin typeface="+mn-lt"/>
                <a:ea typeface="+mn-ea"/>
                <a:cs typeface="+mn-cs"/>
              </a:defRPr>
            </a:lvl5pPr>
            <a:lvl6pPr marL="1039673">
              <a:defRPr>
                <a:latin typeface="+mn-lt"/>
                <a:ea typeface="+mn-ea"/>
                <a:cs typeface="+mn-cs"/>
              </a:defRPr>
            </a:lvl6pPr>
            <a:lvl7pPr marL="1247607">
              <a:defRPr>
                <a:latin typeface="+mn-lt"/>
                <a:ea typeface="+mn-ea"/>
                <a:cs typeface="+mn-cs"/>
              </a:defRPr>
            </a:lvl7pPr>
            <a:lvl8pPr marL="1455542">
              <a:defRPr>
                <a:latin typeface="+mn-lt"/>
                <a:ea typeface="+mn-ea"/>
                <a:cs typeface="+mn-cs"/>
              </a:defRPr>
            </a:lvl8pPr>
            <a:lvl9pPr marL="1663476">
              <a:defRPr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US" sz="2400" kern="0" dirty="0">
                <a:solidFill>
                  <a:sysClr val="windowText" lastClr="000000"/>
                </a:solidFill>
              </a:rPr>
              <a:t>High-even clusters (e.g. TPU Pods) have high-bandwidth connections between some (not all pairs) of accelerators</a:t>
            </a:r>
          </a:p>
          <a:p>
            <a:pPr defTabSz="914400"/>
            <a:endParaRPr lang="en-US" sz="2400" kern="0" dirty="0">
              <a:solidFill>
                <a:sysClr val="windowText" lastClr="000000"/>
              </a:solidFill>
            </a:endParaRPr>
          </a:p>
          <a:p>
            <a:pPr defTabSz="914400"/>
            <a:r>
              <a:rPr lang="en-US" sz="2400" kern="0" dirty="0">
                <a:solidFill>
                  <a:sysClr val="windowText" lastClr="000000"/>
                </a:solidFill>
              </a:rPr>
              <a:t>Common topology: a ring / mesh / torus in 2D or 3D.</a:t>
            </a:r>
          </a:p>
          <a:p>
            <a:pPr lvl="1" defTabSz="914400"/>
            <a:endParaRPr lang="en-US" kern="0" dirty="0">
              <a:solidFill>
                <a:sysClr val="windowText" lastClr="000000"/>
              </a:solidFill>
            </a:endParaRPr>
          </a:p>
        </p:txBody>
      </p:sp>
      <p:pic>
        <p:nvPicPr>
          <p:cNvPr id="13" name="Picture 12" descr="A close-up of a computer&#10;&#10;AI-generated content may be incorrect.">
            <a:extLst>
              <a:ext uri="{FF2B5EF4-FFF2-40B4-BE49-F238E27FC236}">
                <a16:creationId xmlns:a16="http://schemas.microsoft.com/office/drawing/2014/main" id="{CBB2C908-14EE-BBEF-4DD4-63ADD6106E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417" t="16919" r="5290" b="16561"/>
          <a:stretch/>
        </p:blipFill>
        <p:spPr>
          <a:xfrm>
            <a:off x="202199" y="3988281"/>
            <a:ext cx="3494163" cy="272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3908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497" y="1057414"/>
            <a:ext cx="7243878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161" dirty="0"/>
              <a:t>Ring</a:t>
            </a:r>
            <a:r>
              <a:rPr spc="-205" dirty="0"/>
              <a:t> </a:t>
            </a:r>
            <a:r>
              <a:rPr spc="-123" dirty="0"/>
              <a:t>all-</a:t>
            </a:r>
            <a:r>
              <a:rPr spc="-280" dirty="0"/>
              <a:t>reduce</a:t>
            </a:r>
            <a:r>
              <a:rPr lang="en-US" spc="-280" dirty="0"/>
              <a:t> is used like tree all-reducer</a:t>
            </a:r>
            <a:endParaRPr spc="-280" dirty="0"/>
          </a:p>
        </p:txBody>
      </p:sp>
      <p:grpSp>
        <p:nvGrpSpPr>
          <p:cNvPr id="3" name="object 3"/>
          <p:cNvGrpSpPr/>
          <p:nvPr/>
        </p:nvGrpSpPr>
        <p:grpSpPr>
          <a:xfrm>
            <a:off x="877062" y="1730105"/>
            <a:ext cx="7222489" cy="3947574"/>
            <a:chOff x="1928318" y="1919466"/>
            <a:chExt cx="15879444" cy="86791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08607" y="1919466"/>
              <a:ext cx="6798764" cy="417687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28318" y="5912866"/>
              <a:ext cx="10918274" cy="4685637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6911878" y="5646443"/>
            <a:ext cx="2121662" cy="236502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 defTabSz="415869">
              <a:spcBef>
                <a:spcPts val="43"/>
              </a:spcBef>
            </a:pPr>
            <a:r>
              <a:rPr sz="1501" kern="0" spc="-9" dirty="0">
                <a:solidFill>
                  <a:srgbClr val="A7A7A7"/>
                </a:solidFill>
                <a:latin typeface="Gill Sans MT"/>
                <a:cs typeface="Gill Sans MT"/>
              </a:rPr>
              <a:t>Baidu,</a:t>
            </a:r>
            <a:r>
              <a:rPr sz="1501" kern="0" spc="-66" dirty="0">
                <a:solidFill>
                  <a:srgbClr val="A7A7A7"/>
                </a:solidFill>
                <a:latin typeface="Gill Sans MT"/>
                <a:cs typeface="Gill Sans MT"/>
              </a:rPr>
              <a:t> </a:t>
            </a:r>
            <a:r>
              <a:rPr sz="1501" kern="0" spc="-93" dirty="0">
                <a:solidFill>
                  <a:srgbClr val="A7A7A7"/>
                </a:solidFill>
                <a:latin typeface="Gill Sans MT"/>
                <a:cs typeface="Gill Sans MT"/>
              </a:rPr>
              <a:t>Horovod</a:t>
            </a:r>
            <a:r>
              <a:rPr sz="1501" kern="0" spc="-66" dirty="0">
                <a:solidFill>
                  <a:srgbClr val="A7A7A7"/>
                </a:solidFill>
                <a:latin typeface="Gill Sans MT"/>
                <a:cs typeface="Gill Sans MT"/>
              </a:rPr>
              <a:t> </a:t>
            </a:r>
            <a:r>
              <a:rPr sz="1501" kern="0" spc="-70" dirty="0">
                <a:solidFill>
                  <a:srgbClr val="A7A7A7"/>
                </a:solidFill>
                <a:latin typeface="Gill Sans MT"/>
                <a:cs typeface="Gill Sans MT"/>
              </a:rPr>
              <a:t>(Uber),</a:t>
            </a:r>
            <a:r>
              <a:rPr sz="1501" kern="0" spc="-66" dirty="0">
                <a:solidFill>
                  <a:srgbClr val="A7A7A7"/>
                </a:solidFill>
                <a:latin typeface="Gill Sans MT"/>
                <a:cs typeface="Gill Sans MT"/>
              </a:rPr>
              <a:t> </a:t>
            </a:r>
            <a:r>
              <a:rPr sz="1501" kern="0" spc="-9" dirty="0">
                <a:solidFill>
                  <a:srgbClr val="A7A7A7"/>
                </a:solidFill>
                <a:latin typeface="Gill Sans MT"/>
                <a:cs typeface="Gill Sans MT"/>
              </a:rPr>
              <a:t>2017</a:t>
            </a:r>
            <a:endParaRPr sz="1501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3850" y="2189839"/>
            <a:ext cx="3946708" cy="1150096"/>
          </a:xfrm>
          <a:prstGeom prst="rect">
            <a:avLst/>
          </a:prstGeom>
        </p:spPr>
        <p:txBody>
          <a:bodyPr vert="horz" wrap="square" lIns="0" tIns="21373" rIns="0" bIns="0" rtlCol="0">
            <a:spAutoFit/>
          </a:bodyPr>
          <a:lstStyle/>
          <a:p>
            <a:pPr marL="205047" marR="13862" indent="-188007" defTabSz="415869">
              <a:lnSpc>
                <a:spcPts val="2174"/>
              </a:lnSpc>
              <a:spcBef>
                <a:spcPts val="168"/>
              </a:spcBef>
              <a:buClr>
                <a:srgbClr val="000000"/>
              </a:buClr>
              <a:buFontTx/>
              <a:buChar char="•"/>
              <a:tabLst>
                <a:tab pos="205047" algn="l"/>
              </a:tabLst>
            </a:pPr>
            <a:r>
              <a:rPr sz="1865" kern="0" spc="-96" dirty="0">
                <a:solidFill>
                  <a:srgbClr val="FF644E"/>
                </a:solidFill>
                <a:latin typeface="Gill Sans MT"/>
                <a:cs typeface="Gill Sans MT"/>
              </a:rPr>
              <a:t>All-</a:t>
            </a:r>
            <a:r>
              <a:rPr sz="1865" kern="0" spc="-18" dirty="0">
                <a:solidFill>
                  <a:srgbClr val="FF644E"/>
                </a:solidFill>
                <a:latin typeface="Gill Sans MT"/>
                <a:cs typeface="Gill Sans MT"/>
              </a:rPr>
              <a:t>reduce</a:t>
            </a:r>
            <a:r>
              <a:rPr sz="1865" kern="0" spc="-1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:</a:t>
            </a:r>
            <a:r>
              <a:rPr sz="1865" kern="0" spc="-9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3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compute</a:t>
            </a:r>
            <a:r>
              <a:rPr sz="1865" kern="0" spc="-8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some</a:t>
            </a:r>
            <a:r>
              <a:rPr sz="1865" kern="0" spc="-8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reduction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(usually</a:t>
            </a:r>
            <a:r>
              <a:rPr sz="1865" kern="0" spc="-5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9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</a:t>
            </a:r>
            <a:r>
              <a:rPr sz="1865" kern="0" spc="-4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sum)</a:t>
            </a:r>
            <a:r>
              <a:rPr sz="1865" kern="0" spc="-4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of</a:t>
            </a:r>
            <a:r>
              <a:rPr sz="1865" kern="0" spc="-4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2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data</a:t>
            </a:r>
            <a:r>
              <a:rPr sz="1865" kern="0" spc="-4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on</a:t>
            </a:r>
            <a:r>
              <a:rPr sz="1865" kern="0" spc="-4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multiple </a:t>
            </a:r>
            <a:r>
              <a:rPr sz="1865" kern="0" spc="2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machines</a:t>
            </a:r>
            <a:r>
              <a:rPr sz="1865" kern="0" spc="-9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-1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p</a:t>
            </a:r>
            <a:r>
              <a:rPr sz="1876" i="1" kern="0" spc="-27" baseline="-707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1</a:t>
            </a:r>
            <a:r>
              <a:rPr sz="1865" i="1" kern="0" spc="-1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,</a:t>
            </a:r>
            <a:r>
              <a:rPr sz="1865" i="1" kern="0" spc="-9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-1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p</a:t>
            </a:r>
            <a:r>
              <a:rPr sz="1876" i="1" kern="0" spc="-27" baseline="-707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2</a:t>
            </a:r>
            <a:r>
              <a:rPr sz="1865" i="1" kern="0" spc="-1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,</a:t>
            </a:r>
            <a:r>
              <a:rPr sz="1865" i="1" kern="0" spc="-9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11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.</a:t>
            </a:r>
            <a:r>
              <a:rPr sz="1865" i="1" kern="0" spc="-9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11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.</a:t>
            </a:r>
            <a:r>
              <a:rPr sz="1865" i="1" kern="0" spc="-9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spc="11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.</a:t>
            </a:r>
            <a:r>
              <a:rPr sz="1865" i="1" kern="0" spc="-9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,</a:t>
            </a:r>
            <a:r>
              <a:rPr sz="1865" i="1" kern="0" spc="-9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i="1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p</a:t>
            </a:r>
            <a:r>
              <a:rPr sz="1876" i="1" kern="0" baseline="-707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</a:t>
            </a:r>
            <a:r>
              <a:rPr sz="1876" i="1" kern="0" spc="123" baseline="-707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and</a:t>
            </a:r>
            <a:r>
              <a:rPr sz="1865" kern="0" spc="-9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materialize </a:t>
            </a:r>
            <a:r>
              <a:rPr sz="1865" kern="0" spc="-4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the</a:t>
            </a:r>
            <a:r>
              <a:rPr sz="1865" kern="0" spc="-8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2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result</a:t>
            </a:r>
            <a:r>
              <a:rPr sz="1865" kern="0" spc="-10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on</a:t>
            </a:r>
            <a:r>
              <a:rPr sz="1865" kern="0" spc="-8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4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all</a:t>
            </a:r>
            <a:r>
              <a:rPr sz="1865" kern="0" spc="-9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1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those</a:t>
            </a:r>
            <a:r>
              <a:rPr sz="1865" kern="0" spc="-9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1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machines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9387931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B942C-889E-61CC-4CB8-D7A25D6BE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Many </a:t>
            </a:r>
            <a:r>
              <a:rPr lang="en-US" dirty="0" err="1"/>
              <a:t>Possisble</a:t>
            </a:r>
            <a:r>
              <a:rPr lang="en-US" dirty="0"/>
              <a:t> </a:t>
            </a:r>
            <a:r>
              <a:rPr lang="en-US" dirty="0" err="1"/>
              <a:t>AllReduce</a:t>
            </a:r>
            <a:r>
              <a:rPr lang="en-US" dirty="0"/>
              <a:t> Communication Patterns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E3B2D289-3DBF-C899-7CDF-C514759B8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" y="1727200"/>
            <a:ext cx="8953500" cy="340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99842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CD053-C22B-18FC-08C8-582C63366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E087383-C771-6C47-3963-4E211CF122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497" y="1057414"/>
            <a:ext cx="7243878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161" dirty="0"/>
              <a:t>Ring</a:t>
            </a:r>
            <a:r>
              <a:rPr spc="-205" dirty="0"/>
              <a:t> </a:t>
            </a:r>
            <a:r>
              <a:rPr spc="-123" dirty="0"/>
              <a:t>all-</a:t>
            </a:r>
            <a:r>
              <a:rPr spc="-280" dirty="0"/>
              <a:t>reduce</a:t>
            </a:r>
            <a:r>
              <a:rPr lang="en-US" spc="-280" dirty="0"/>
              <a:t> has different goals</a:t>
            </a:r>
            <a:endParaRPr spc="-28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971FF610-E37A-BD1F-2B5D-88F4F49D75E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7074" y="1730105"/>
            <a:ext cx="3092300" cy="1899780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408FABE6-873C-784A-68C9-0BC7A94A5DED}"/>
              </a:ext>
            </a:extLst>
          </p:cNvPr>
          <p:cNvSpPr txBox="1"/>
          <p:nvPr/>
        </p:nvSpPr>
        <p:spPr>
          <a:xfrm>
            <a:off x="6911878" y="5646443"/>
            <a:ext cx="2121662" cy="236502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 defTabSz="415869">
              <a:spcBef>
                <a:spcPts val="43"/>
              </a:spcBef>
            </a:pPr>
            <a:r>
              <a:rPr sz="1501" kern="0" spc="-9" dirty="0">
                <a:solidFill>
                  <a:srgbClr val="A7A7A7"/>
                </a:solidFill>
                <a:latin typeface="Gill Sans MT"/>
                <a:cs typeface="Gill Sans MT"/>
              </a:rPr>
              <a:t>Baidu,</a:t>
            </a:r>
            <a:r>
              <a:rPr sz="1501" kern="0" spc="-66" dirty="0">
                <a:solidFill>
                  <a:srgbClr val="A7A7A7"/>
                </a:solidFill>
                <a:latin typeface="Gill Sans MT"/>
                <a:cs typeface="Gill Sans MT"/>
              </a:rPr>
              <a:t> </a:t>
            </a:r>
            <a:r>
              <a:rPr sz="1501" kern="0" spc="-93" dirty="0">
                <a:solidFill>
                  <a:srgbClr val="A7A7A7"/>
                </a:solidFill>
                <a:latin typeface="Gill Sans MT"/>
                <a:cs typeface="Gill Sans MT"/>
              </a:rPr>
              <a:t>Horovod</a:t>
            </a:r>
            <a:r>
              <a:rPr sz="1501" kern="0" spc="-66" dirty="0">
                <a:solidFill>
                  <a:srgbClr val="A7A7A7"/>
                </a:solidFill>
                <a:latin typeface="Gill Sans MT"/>
                <a:cs typeface="Gill Sans MT"/>
              </a:rPr>
              <a:t> </a:t>
            </a:r>
            <a:r>
              <a:rPr sz="1501" kern="0" spc="-70" dirty="0">
                <a:solidFill>
                  <a:srgbClr val="A7A7A7"/>
                </a:solidFill>
                <a:latin typeface="Gill Sans MT"/>
                <a:cs typeface="Gill Sans MT"/>
              </a:rPr>
              <a:t>(Uber),</a:t>
            </a:r>
            <a:r>
              <a:rPr sz="1501" kern="0" spc="-66" dirty="0">
                <a:solidFill>
                  <a:srgbClr val="A7A7A7"/>
                </a:solidFill>
                <a:latin typeface="Gill Sans MT"/>
                <a:cs typeface="Gill Sans MT"/>
              </a:rPr>
              <a:t> </a:t>
            </a:r>
            <a:r>
              <a:rPr sz="1501" kern="0" spc="-9" dirty="0">
                <a:solidFill>
                  <a:srgbClr val="A7A7A7"/>
                </a:solidFill>
                <a:latin typeface="Gill Sans MT"/>
                <a:cs typeface="Gill Sans MT"/>
              </a:rPr>
              <a:t>2017</a:t>
            </a:r>
            <a:endParaRPr sz="1501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9EFBAC8-1334-4DE0-CFF6-2844894173E7}"/>
              </a:ext>
            </a:extLst>
          </p:cNvPr>
          <p:cNvSpPr txBox="1"/>
          <p:nvPr/>
        </p:nvSpPr>
        <p:spPr>
          <a:xfrm>
            <a:off x="703850" y="2189839"/>
            <a:ext cx="3946708" cy="2666216"/>
          </a:xfrm>
          <a:prstGeom prst="rect">
            <a:avLst/>
          </a:prstGeom>
        </p:spPr>
        <p:txBody>
          <a:bodyPr vert="horz" wrap="square" lIns="0" tIns="21373" rIns="0" bIns="0" rtlCol="0">
            <a:spAutoFit/>
          </a:bodyPr>
          <a:lstStyle/>
          <a:p>
            <a:pPr marL="205047" marR="13862" indent="-188007" defTabSz="415869">
              <a:lnSpc>
                <a:spcPts val="2174"/>
              </a:lnSpc>
              <a:spcBef>
                <a:spcPts val="168"/>
              </a:spcBef>
              <a:buClr>
                <a:srgbClr val="000000"/>
              </a:buClr>
              <a:buFontTx/>
              <a:buChar char="•"/>
              <a:tabLst>
                <a:tab pos="205047" algn="l"/>
              </a:tabLst>
            </a:pPr>
            <a:r>
              <a:rPr lang="en-US" sz="2400" kern="0" spc="-96" dirty="0">
                <a:solidFill>
                  <a:srgbClr val="0070C0"/>
                </a:solidFill>
                <a:latin typeface="Gill Sans MT"/>
                <a:cs typeface="Gill Sans MT"/>
              </a:rPr>
              <a:t>Use </a:t>
            </a:r>
            <a:r>
              <a:rPr lang="en-US" sz="2400" kern="0" spc="-96" dirty="0">
                <a:latin typeface="Gill Sans MT"/>
                <a:cs typeface="Gill Sans MT"/>
              </a:rPr>
              <a:t>the bandwidth as effectively as possible:</a:t>
            </a:r>
          </a:p>
          <a:p>
            <a:pPr marL="662247" marR="13862" lvl="1" indent="-188007" defTabSz="415869">
              <a:lnSpc>
                <a:spcPts val="2174"/>
              </a:lnSpc>
              <a:spcBef>
                <a:spcPts val="168"/>
              </a:spcBef>
              <a:buClr>
                <a:srgbClr val="000000"/>
              </a:buClr>
              <a:buFontTx/>
              <a:buChar char="•"/>
              <a:tabLst>
                <a:tab pos="205047" algn="l"/>
              </a:tabLst>
            </a:pPr>
            <a:r>
              <a:rPr lang="en-US" sz="2400" kern="0" spc="-96" dirty="0">
                <a:solidFill>
                  <a:srgbClr val="0070C0"/>
                </a:solidFill>
                <a:latin typeface="Gill Sans MT"/>
                <a:cs typeface="Gill Sans MT"/>
              </a:rPr>
              <a:t>Don’t</a:t>
            </a:r>
            <a:r>
              <a:rPr lang="en-US" sz="2400" kern="0" spc="-9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minimize number of messages</a:t>
            </a:r>
          </a:p>
          <a:p>
            <a:pPr marL="662247" marR="13862" lvl="1" indent="-188007" defTabSz="415869">
              <a:lnSpc>
                <a:spcPts val="2174"/>
              </a:lnSpc>
              <a:spcBef>
                <a:spcPts val="168"/>
              </a:spcBef>
              <a:buClr>
                <a:srgbClr val="000000"/>
              </a:buClr>
              <a:buFontTx/>
              <a:buChar char="•"/>
              <a:tabLst>
                <a:tab pos="205047" algn="l"/>
              </a:tabLst>
            </a:pPr>
            <a:r>
              <a:rPr lang="en-US" sz="2400" kern="0" spc="-96" dirty="0">
                <a:solidFill>
                  <a:srgbClr val="0070C0"/>
                </a:solidFill>
                <a:latin typeface="Gill Sans MT"/>
                <a:cs typeface="Gill Sans MT"/>
              </a:rPr>
              <a:t>Send</a:t>
            </a:r>
            <a:r>
              <a:rPr lang="en-US" sz="2400" kern="0" spc="-96" dirty="0">
                <a:solidFill>
                  <a:srgbClr val="FF644E"/>
                </a:solidFill>
                <a:latin typeface="Gill Sans MT"/>
                <a:cs typeface="Gill Sans MT"/>
              </a:rPr>
              <a:t> smaller </a:t>
            </a:r>
            <a:r>
              <a:rPr lang="en-US" sz="2400" kern="0" spc="-96" dirty="0">
                <a:latin typeface="Gill Sans MT"/>
                <a:cs typeface="Gill Sans MT"/>
              </a:rPr>
              <a:t>messages in </a:t>
            </a:r>
            <a:r>
              <a:rPr lang="en-US" sz="2400" kern="0" spc="-96" dirty="0">
                <a:solidFill>
                  <a:srgbClr val="0070C0"/>
                </a:solidFill>
                <a:latin typeface="Gill Sans MT"/>
                <a:cs typeface="Gill Sans MT"/>
              </a:rPr>
              <a:t>parallel</a:t>
            </a:r>
          </a:p>
          <a:p>
            <a:pPr marL="662247" marR="13862" lvl="1" indent="-188007" defTabSz="415869">
              <a:lnSpc>
                <a:spcPts val="2174"/>
              </a:lnSpc>
              <a:spcBef>
                <a:spcPts val="168"/>
              </a:spcBef>
              <a:buClr>
                <a:srgbClr val="000000"/>
              </a:buClr>
              <a:buFontTx/>
              <a:buChar char="•"/>
              <a:tabLst>
                <a:tab pos="205047" algn="l"/>
              </a:tabLst>
            </a:pPr>
            <a:r>
              <a:rPr lang="en-US" sz="2400" kern="0" spc="-96" dirty="0">
                <a:solidFill>
                  <a:srgbClr val="0070C0"/>
                </a:solidFill>
                <a:latin typeface="Gill Sans MT"/>
                <a:cs typeface="Gill Sans MT"/>
              </a:rPr>
              <a:t>Use </a:t>
            </a:r>
            <a:r>
              <a:rPr lang="en-US" sz="2400" kern="0" spc="-96" dirty="0">
                <a:latin typeface="Gill Sans MT"/>
                <a:cs typeface="Gill Sans MT"/>
              </a:rPr>
              <a:t>the high-bandwidth connections</a:t>
            </a:r>
          </a:p>
          <a:p>
            <a:pPr marL="205047" marR="13862" indent="-188007" defTabSz="415869">
              <a:lnSpc>
                <a:spcPts val="2174"/>
              </a:lnSpc>
              <a:spcBef>
                <a:spcPts val="168"/>
              </a:spcBef>
              <a:buClr>
                <a:srgbClr val="000000"/>
              </a:buClr>
              <a:buFontTx/>
              <a:buChar char="•"/>
              <a:tabLst>
                <a:tab pos="205047" algn="l"/>
              </a:tabLst>
            </a:pPr>
            <a:endParaRPr sz="2400" kern="0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29678796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25C2F-D069-B942-4158-16E10B12F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Ring </a:t>
            </a:r>
            <a:r>
              <a:rPr lang="en-US" dirty="0" err="1"/>
              <a:t>AllReduce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8D48980-106C-8500-9B2E-5638D1B088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49" b="10543"/>
          <a:stretch/>
        </p:blipFill>
        <p:spPr bwMode="auto">
          <a:xfrm>
            <a:off x="99652" y="1268730"/>
            <a:ext cx="4266608" cy="2640330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37A2E0B-6238-DE7A-35D5-D2A655340F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6" t="5992"/>
          <a:stretch/>
        </p:blipFill>
        <p:spPr bwMode="auto">
          <a:xfrm>
            <a:off x="4469130" y="4099242"/>
            <a:ext cx="4343234" cy="2758758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DB590B25-6532-4EDA-9C1D-7F7CA1563676}"/>
              </a:ext>
            </a:extLst>
          </p:cNvPr>
          <p:cNvSpPr/>
          <p:nvPr/>
        </p:nvSpPr>
        <p:spPr>
          <a:xfrm rot="1225957">
            <a:off x="2354264" y="4144144"/>
            <a:ext cx="1432609" cy="47622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DF8297-9778-41DD-6FB8-5AAFF01FBCC3}"/>
              </a:ext>
            </a:extLst>
          </p:cNvPr>
          <p:cNvSpPr txBox="1"/>
          <p:nvPr/>
        </p:nvSpPr>
        <p:spPr>
          <a:xfrm>
            <a:off x="5326380" y="1405890"/>
            <a:ext cx="31432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https://towardsdatascience.com/visual-intuition-on-ring-allreduce-for-distributed-deep-learning-d1f34b4911da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734987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3E4D6-35F0-906A-0A0E-6F0090E53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159C-A5A7-B0BA-97F7-69A6DB201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Ring </a:t>
            </a:r>
            <a:r>
              <a:rPr lang="en-US" dirty="0" err="1"/>
              <a:t>AllReduce</a:t>
            </a: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AB737A1-7986-99BD-7014-14F377AC1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546" y="1497330"/>
            <a:ext cx="7800795" cy="4920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52745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DFD8B-2600-7C81-2DC1-8AA72AD0C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5B252-E3A4-68EC-1238-C57A1FA03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Ring </a:t>
            </a:r>
            <a:r>
              <a:rPr lang="en-US" dirty="0" err="1"/>
              <a:t>AllReduce</a:t>
            </a: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E36751B-4B9A-0198-D715-87C68B2A3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755" y="2284669"/>
            <a:ext cx="6439405" cy="4061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64802768-EF7C-5EA9-4883-417F76EB0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10" y="1473980"/>
            <a:ext cx="7760970" cy="4895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0C04AD-087D-EBBE-F512-7D9DBE47026F}"/>
              </a:ext>
            </a:extLst>
          </p:cNvPr>
          <p:cNvSpPr txBox="1"/>
          <p:nvPr/>
        </p:nvSpPr>
        <p:spPr>
          <a:xfrm>
            <a:off x="5243513" y="440480"/>
            <a:ext cx="3168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Everyone sends </a:t>
            </a:r>
            <a:r>
              <a:rPr lang="en-US" b="1" dirty="0"/>
              <a:t>small</a:t>
            </a:r>
            <a:r>
              <a:rPr lang="en-US" dirty="0"/>
              <a:t> messages to the </a:t>
            </a:r>
            <a:r>
              <a:rPr lang="en-US" b="1" dirty="0"/>
              <a:t>next</a:t>
            </a:r>
            <a:r>
              <a:rPr lang="en-US" dirty="0"/>
              <a:t> worker in the 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9C4BD2-180F-E02F-C025-1FE576F4540D}"/>
              </a:ext>
            </a:extLst>
          </p:cNvPr>
          <p:cNvSpPr txBox="1"/>
          <p:nvPr/>
        </p:nvSpPr>
        <p:spPr>
          <a:xfrm>
            <a:off x="5695950" y="1011994"/>
            <a:ext cx="3448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Everyone picks a </a:t>
            </a:r>
            <a:r>
              <a:rPr lang="en-US" b="1" dirty="0"/>
              <a:t>different</a:t>
            </a:r>
            <a:r>
              <a:rPr lang="en-US" dirty="0"/>
              <a:t> subset of the parameters to send</a:t>
            </a:r>
          </a:p>
        </p:txBody>
      </p:sp>
    </p:spTree>
    <p:extLst>
      <p:ext uri="{BB962C8B-B14F-4D97-AF65-F5344CB8AC3E}">
        <p14:creationId xmlns:p14="http://schemas.microsoft.com/office/powerpoint/2010/main" val="26096492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B4178-E72A-C163-A43E-6903516D4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D7266-9293-E35E-4F3A-3CA5EFDE1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Ring </a:t>
            </a:r>
            <a:r>
              <a:rPr lang="en-US" dirty="0" err="1"/>
              <a:t>AllReduce</a:t>
            </a: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F3FE741-43D8-ED24-CBD9-90C562EAF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755" y="2284669"/>
            <a:ext cx="6439405" cy="4061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A5B98D88-7574-F589-D4E0-C58A77FF5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10" y="1473980"/>
            <a:ext cx="7760970" cy="4895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D0E935-3334-766B-A73F-E82EBB0DCDA3}"/>
              </a:ext>
            </a:extLst>
          </p:cNvPr>
          <p:cNvSpPr txBox="1"/>
          <p:nvPr/>
        </p:nvSpPr>
        <p:spPr>
          <a:xfrm>
            <a:off x="5243513" y="440480"/>
            <a:ext cx="31689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Workers </a:t>
            </a:r>
            <a:r>
              <a:rPr lang="en-US" b="1" dirty="0"/>
              <a:t>reduce</a:t>
            </a:r>
            <a:r>
              <a:rPr lang="en-US" dirty="0"/>
              <a:t> their local content with the incoming messages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6CED97-EA46-3D58-6861-014582C9A629}"/>
              </a:ext>
            </a:extLst>
          </p:cNvPr>
          <p:cNvSpPr txBox="1"/>
          <p:nvPr/>
        </p:nvSpPr>
        <p:spPr>
          <a:xfrm>
            <a:off x="5757863" y="3921514"/>
            <a:ext cx="842963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0</a:t>
            </a:r>
            <a:r>
              <a:rPr lang="en-US" i="1" dirty="0"/>
              <a:t> + b</a:t>
            </a:r>
            <a:r>
              <a:rPr lang="en-US" i="1" baseline="-25000" dirty="0"/>
              <a:t>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448EE8-0C0C-6EB6-6B70-99D342EA9CE1}"/>
              </a:ext>
            </a:extLst>
          </p:cNvPr>
          <p:cNvSpPr txBox="1"/>
          <p:nvPr/>
        </p:nvSpPr>
        <p:spPr>
          <a:xfrm>
            <a:off x="3845494" y="5803622"/>
            <a:ext cx="842963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/>
              <a:t>c</a:t>
            </a:r>
            <a:r>
              <a:rPr lang="en-US" i="1" baseline="-25000" dirty="0"/>
              <a:t>1</a:t>
            </a:r>
            <a:r>
              <a:rPr lang="en-US" i="1" dirty="0"/>
              <a:t> + b</a:t>
            </a:r>
            <a:r>
              <a:rPr lang="en-US" i="1" baseline="-25000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FFF370-E307-C306-345E-A7A7618EF625}"/>
              </a:ext>
            </a:extLst>
          </p:cNvPr>
          <p:cNvSpPr txBox="1"/>
          <p:nvPr/>
        </p:nvSpPr>
        <p:spPr>
          <a:xfrm>
            <a:off x="1983357" y="3736848"/>
            <a:ext cx="842963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/>
              <a:t>c</a:t>
            </a:r>
            <a:r>
              <a:rPr lang="en-US" i="1" baseline="-25000" dirty="0"/>
              <a:t>2</a:t>
            </a:r>
            <a:r>
              <a:rPr lang="en-US" i="1" dirty="0"/>
              <a:t> + d</a:t>
            </a:r>
            <a:r>
              <a:rPr lang="en-US" i="1" baseline="-25000" dirty="0"/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7F76C5-BC2A-9764-79B3-7AB7EA8BF6F5}"/>
              </a:ext>
            </a:extLst>
          </p:cNvPr>
          <p:cNvSpPr txBox="1"/>
          <p:nvPr/>
        </p:nvSpPr>
        <p:spPr>
          <a:xfrm>
            <a:off x="4940870" y="2100003"/>
            <a:ext cx="842963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3</a:t>
            </a:r>
            <a:r>
              <a:rPr lang="en-US" i="1" dirty="0"/>
              <a:t> + d</a:t>
            </a:r>
            <a:r>
              <a:rPr lang="en-US" i="1" baseline="-25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02343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F2D8B-5FE5-9801-508B-D34728C15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48BF4-9B0C-BCAE-D776-E88900D1F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Ring </a:t>
            </a:r>
            <a:r>
              <a:rPr lang="en-US" dirty="0" err="1"/>
              <a:t>AllReduce</a:t>
            </a:r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8F97ED5-8928-384E-BA43-9EAEAC6B3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0" y="1452830"/>
            <a:ext cx="7649528" cy="4824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E59510-7D84-E696-AB69-BB1C56EF04FA}"/>
              </a:ext>
            </a:extLst>
          </p:cNvPr>
          <p:cNvSpPr txBox="1"/>
          <p:nvPr/>
        </p:nvSpPr>
        <p:spPr>
          <a:xfrm>
            <a:off x="5486401" y="265076"/>
            <a:ext cx="3168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Everyone sends another </a:t>
            </a:r>
            <a:r>
              <a:rPr lang="en-US" b="1" dirty="0"/>
              <a:t>slice </a:t>
            </a:r>
            <a:r>
              <a:rPr lang="en-US" dirty="0"/>
              <a:t>to the </a:t>
            </a:r>
            <a:r>
              <a:rPr lang="en-US" b="1" dirty="0"/>
              <a:t>next</a:t>
            </a:r>
            <a:r>
              <a:rPr lang="en-US" dirty="0"/>
              <a:t> worker in the 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A6670B-0B66-5EDF-F0D8-53B6BC352FBE}"/>
              </a:ext>
            </a:extLst>
          </p:cNvPr>
          <p:cNvSpPr txBox="1"/>
          <p:nvPr/>
        </p:nvSpPr>
        <p:spPr>
          <a:xfrm>
            <a:off x="5757863" y="3921514"/>
            <a:ext cx="842963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0</a:t>
            </a:r>
            <a:r>
              <a:rPr lang="en-US" i="1" dirty="0"/>
              <a:t> + b</a:t>
            </a:r>
            <a:r>
              <a:rPr lang="en-US" i="1" baseline="-25000" dirty="0"/>
              <a:t>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E4C21A-93E7-4A32-23C6-24377E27345F}"/>
              </a:ext>
            </a:extLst>
          </p:cNvPr>
          <p:cNvSpPr txBox="1"/>
          <p:nvPr/>
        </p:nvSpPr>
        <p:spPr>
          <a:xfrm>
            <a:off x="3845494" y="5803622"/>
            <a:ext cx="842963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/>
              <a:t>c</a:t>
            </a:r>
            <a:r>
              <a:rPr lang="en-US" i="1" baseline="-25000" dirty="0"/>
              <a:t>1</a:t>
            </a:r>
            <a:r>
              <a:rPr lang="en-US" i="1" dirty="0"/>
              <a:t> + b</a:t>
            </a:r>
            <a:r>
              <a:rPr lang="en-US" i="1" baseline="-25000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14A614-F7F3-27D6-7CC6-ADE1591AE07D}"/>
              </a:ext>
            </a:extLst>
          </p:cNvPr>
          <p:cNvSpPr txBox="1"/>
          <p:nvPr/>
        </p:nvSpPr>
        <p:spPr>
          <a:xfrm>
            <a:off x="1983357" y="3736848"/>
            <a:ext cx="842963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/>
              <a:t>c</a:t>
            </a:r>
            <a:r>
              <a:rPr lang="en-US" i="1" baseline="-25000" dirty="0"/>
              <a:t>2</a:t>
            </a:r>
            <a:r>
              <a:rPr lang="en-US" i="1" dirty="0"/>
              <a:t> + d</a:t>
            </a:r>
            <a:r>
              <a:rPr lang="en-US" i="1" baseline="-25000" dirty="0"/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E61298-15C1-40EB-DF10-3E4F23FE0E90}"/>
              </a:ext>
            </a:extLst>
          </p:cNvPr>
          <p:cNvSpPr txBox="1"/>
          <p:nvPr/>
        </p:nvSpPr>
        <p:spPr>
          <a:xfrm>
            <a:off x="4940870" y="2100003"/>
            <a:ext cx="842963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3</a:t>
            </a:r>
            <a:r>
              <a:rPr lang="en-US" i="1" dirty="0"/>
              <a:t> + d</a:t>
            </a:r>
            <a:r>
              <a:rPr lang="en-US" i="1" baseline="-250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A91735-BD95-AFF9-EAC0-E808F6FDE1D5}"/>
              </a:ext>
            </a:extLst>
          </p:cNvPr>
          <p:cNvSpPr txBox="1"/>
          <p:nvPr/>
        </p:nvSpPr>
        <p:spPr>
          <a:xfrm>
            <a:off x="6179344" y="1138605"/>
            <a:ext cx="2587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…sending </a:t>
            </a:r>
            <a:r>
              <a:rPr lang="en-US" b="1" dirty="0"/>
              <a:t>the most reduced</a:t>
            </a:r>
            <a:r>
              <a:rPr lang="en-US" dirty="0"/>
              <a:t> slice they can</a:t>
            </a:r>
          </a:p>
        </p:txBody>
      </p:sp>
    </p:spTree>
    <p:extLst>
      <p:ext uri="{BB962C8B-B14F-4D97-AF65-F5344CB8AC3E}">
        <p14:creationId xmlns:p14="http://schemas.microsoft.com/office/powerpoint/2010/main" val="23493486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0864D-ADB9-9265-FD96-97737F079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F0034-15CE-06DF-ABEF-912B47D45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Ring </a:t>
            </a:r>
            <a:r>
              <a:rPr lang="en-US" dirty="0" err="1"/>
              <a:t>AllReduce</a:t>
            </a:r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DC25106-B85B-2811-DF03-FCA56CAE8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0" y="1452830"/>
            <a:ext cx="7649528" cy="4824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661E14-3828-BFA5-A2D6-977C72F0C9AA}"/>
              </a:ext>
            </a:extLst>
          </p:cNvPr>
          <p:cNvSpPr txBox="1"/>
          <p:nvPr/>
        </p:nvSpPr>
        <p:spPr>
          <a:xfrm>
            <a:off x="5486401" y="265076"/>
            <a:ext cx="3168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Everyone sends another </a:t>
            </a:r>
            <a:r>
              <a:rPr lang="en-US" b="1" dirty="0"/>
              <a:t>slice </a:t>
            </a:r>
            <a:r>
              <a:rPr lang="en-US" dirty="0"/>
              <a:t>to the </a:t>
            </a:r>
            <a:r>
              <a:rPr lang="en-US" b="1" dirty="0"/>
              <a:t>next</a:t>
            </a:r>
            <a:r>
              <a:rPr lang="en-US" dirty="0"/>
              <a:t> worker in the 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A616F-35C8-3364-3212-7C760678592B}"/>
              </a:ext>
            </a:extLst>
          </p:cNvPr>
          <p:cNvSpPr txBox="1"/>
          <p:nvPr/>
        </p:nvSpPr>
        <p:spPr>
          <a:xfrm>
            <a:off x="3086101" y="5807464"/>
            <a:ext cx="842963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0</a:t>
            </a:r>
            <a:r>
              <a:rPr lang="en-US" i="1" dirty="0"/>
              <a:t> + b</a:t>
            </a:r>
            <a:r>
              <a:rPr lang="en-US" i="1" baseline="-25000" dirty="0"/>
              <a:t>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9B674E-D41A-16D9-6A9E-866FB8283472}"/>
              </a:ext>
            </a:extLst>
          </p:cNvPr>
          <p:cNvSpPr txBox="1"/>
          <p:nvPr/>
        </p:nvSpPr>
        <p:spPr>
          <a:xfrm>
            <a:off x="1459482" y="4235739"/>
            <a:ext cx="842963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/>
              <a:t>c</a:t>
            </a:r>
            <a:r>
              <a:rPr lang="en-US" i="1" baseline="-25000" dirty="0"/>
              <a:t>1</a:t>
            </a:r>
            <a:r>
              <a:rPr lang="en-US" i="1" dirty="0"/>
              <a:t> + b</a:t>
            </a:r>
            <a:r>
              <a:rPr lang="en-US" i="1" baseline="-25000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B40B33-C282-AAA4-81E8-6727A883DDE6}"/>
              </a:ext>
            </a:extLst>
          </p:cNvPr>
          <p:cNvSpPr txBox="1"/>
          <p:nvPr/>
        </p:nvSpPr>
        <p:spPr>
          <a:xfrm>
            <a:off x="4572000" y="2058247"/>
            <a:ext cx="108360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/>
              <a:t>c</a:t>
            </a:r>
            <a:r>
              <a:rPr lang="en-US" i="1" baseline="-25000" dirty="0"/>
              <a:t>2</a:t>
            </a:r>
            <a:r>
              <a:rPr lang="en-US" i="1" dirty="0"/>
              <a:t> + d</a:t>
            </a:r>
            <a:r>
              <a:rPr lang="en-US" i="1" baseline="-25000" dirty="0"/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887D26-71CB-EC24-8DE4-4A2733A2BADF}"/>
              </a:ext>
            </a:extLst>
          </p:cNvPr>
          <p:cNvSpPr txBox="1"/>
          <p:nvPr/>
        </p:nvSpPr>
        <p:spPr>
          <a:xfrm>
            <a:off x="7661876" y="4146640"/>
            <a:ext cx="842963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3</a:t>
            </a:r>
            <a:r>
              <a:rPr lang="en-US" i="1" dirty="0"/>
              <a:t> + d</a:t>
            </a:r>
            <a:r>
              <a:rPr lang="en-US" i="1" baseline="-250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97FE09-1CAD-19EF-8E32-AC31A06E3E95}"/>
              </a:ext>
            </a:extLst>
          </p:cNvPr>
          <p:cNvSpPr txBox="1"/>
          <p:nvPr/>
        </p:nvSpPr>
        <p:spPr>
          <a:xfrm>
            <a:off x="6179344" y="1138605"/>
            <a:ext cx="2587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…sending </a:t>
            </a:r>
            <a:r>
              <a:rPr lang="en-US" b="1" dirty="0"/>
              <a:t>the most reduced</a:t>
            </a:r>
            <a:r>
              <a:rPr lang="en-US" dirty="0"/>
              <a:t> slice they can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B9E712-490C-1C68-4615-BA9BE4B8CFC0}"/>
              </a:ext>
            </a:extLst>
          </p:cNvPr>
          <p:cNvSpPr txBox="1"/>
          <p:nvPr/>
        </p:nvSpPr>
        <p:spPr>
          <a:xfrm>
            <a:off x="1171575" y="6297565"/>
            <a:ext cx="7758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Iterate until all slices are full reduced (all data has gone the way around the ring)</a:t>
            </a:r>
          </a:p>
        </p:txBody>
      </p:sp>
    </p:spTree>
    <p:extLst>
      <p:ext uri="{BB962C8B-B14F-4D97-AF65-F5344CB8AC3E}">
        <p14:creationId xmlns:p14="http://schemas.microsoft.com/office/powerpoint/2010/main" val="12528537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AA56F-7826-66E2-CD25-F3E0B512C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312BC-3CB7-49E0-F8CB-ED8B954D6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Ring </a:t>
            </a:r>
            <a:r>
              <a:rPr lang="en-US" dirty="0" err="1"/>
              <a:t>AllReduce</a:t>
            </a:r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05A63EA-55D3-AAA4-D82F-A7388A4FE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1641419"/>
            <a:ext cx="7349490" cy="4639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6AACB6-7607-3C44-580D-BBDEAEEA304D}"/>
              </a:ext>
            </a:extLst>
          </p:cNvPr>
          <p:cNvSpPr txBox="1"/>
          <p:nvPr/>
        </p:nvSpPr>
        <p:spPr>
          <a:xfrm>
            <a:off x="4100512" y="254049"/>
            <a:ext cx="45114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Then continue passing the fully-reduced data until everybody has seen it</a:t>
            </a:r>
          </a:p>
        </p:txBody>
      </p:sp>
    </p:spTree>
    <p:extLst>
      <p:ext uri="{BB962C8B-B14F-4D97-AF65-F5344CB8AC3E}">
        <p14:creationId xmlns:p14="http://schemas.microsoft.com/office/powerpoint/2010/main" val="17429844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DB594-1BE4-66C0-8A0B-AA3BBAF9C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0D820-25E3-906B-9BBB-7A0F0AA76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Ring </a:t>
            </a:r>
            <a:r>
              <a:rPr lang="en-US" dirty="0" err="1"/>
              <a:t>AllReduce</a:t>
            </a:r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3E35957D-F11E-5879-43F7-F2CE489B1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570" y="1687793"/>
            <a:ext cx="7349490" cy="4635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bject 8">
            <a:extLst>
              <a:ext uri="{FF2B5EF4-FFF2-40B4-BE49-F238E27FC236}">
                <a16:creationId xmlns:a16="http://schemas.microsoft.com/office/drawing/2014/main" id="{F8FD8AEC-5763-E5AC-10FB-94BC08C1E17D}"/>
              </a:ext>
            </a:extLst>
          </p:cNvPr>
          <p:cNvSpPr txBox="1"/>
          <p:nvPr/>
        </p:nvSpPr>
        <p:spPr>
          <a:xfrm>
            <a:off x="2901022" y="1009501"/>
            <a:ext cx="4913673" cy="5712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defTabSz="415869">
              <a:lnSpc>
                <a:spcPts val="2206"/>
              </a:lnSpc>
              <a:spcBef>
                <a:spcPts val="55"/>
              </a:spcBef>
            </a:pPr>
            <a:r>
              <a:rPr sz="1865" b="1" kern="0" spc="-91" dirty="0">
                <a:solidFill>
                  <a:sysClr val="windowText" lastClr="000000"/>
                </a:solidFill>
                <a:latin typeface="Trebuchet MS"/>
                <a:cs typeface="Trebuchet MS"/>
              </a:rPr>
              <a:t>Q</a:t>
            </a:r>
            <a:r>
              <a:rPr sz="1865" kern="0" spc="-9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:</a:t>
            </a:r>
            <a:r>
              <a:rPr sz="1865" kern="0" spc="-8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8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how</a:t>
            </a:r>
            <a:r>
              <a:rPr sz="1865" kern="0" spc="-8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many</a:t>
            </a:r>
            <a:r>
              <a:rPr sz="1865" kern="0" spc="-8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4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rounds</a:t>
            </a:r>
            <a:r>
              <a:rPr sz="1865" kern="0" spc="-7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of</a:t>
            </a:r>
            <a:r>
              <a:rPr sz="1865" kern="0" spc="-8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communication?</a:t>
            </a:r>
            <a:endParaRPr sz="1865" kern="0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defTabSz="415869">
              <a:lnSpc>
                <a:spcPts val="2206"/>
              </a:lnSpc>
            </a:pPr>
            <a:r>
              <a:rPr sz="1865" b="1" kern="0" spc="-91" dirty="0">
                <a:solidFill>
                  <a:sysClr val="windowText" lastClr="000000"/>
                </a:solidFill>
                <a:latin typeface="Trebuchet MS"/>
                <a:cs typeface="Trebuchet MS"/>
              </a:rPr>
              <a:t>Q</a:t>
            </a:r>
            <a:r>
              <a:rPr sz="1865" kern="0" spc="-9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:</a:t>
            </a:r>
            <a:r>
              <a:rPr sz="1865" kern="0" spc="-8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8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how</a:t>
            </a:r>
            <a:r>
              <a:rPr sz="1865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much</a:t>
            </a:r>
            <a:r>
              <a:rPr sz="1865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7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is</a:t>
            </a:r>
            <a:r>
              <a:rPr sz="1865" kern="0" spc="-8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1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communicated</a:t>
            </a:r>
            <a:r>
              <a:rPr lang="en-US" sz="1865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per round per node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?</a:t>
            </a:r>
            <a:endParaRPr sz="1865" kern="0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sp>
        <p:nvSpPr>
          <p:cNvPr id="4" name="object 9">
            <a:extLst>
              <a:ext uri="{FF2B5EF4-FFF2-40B4-BE49-F238E27FC236}">
                <a16:creationId xmlns:a16="http://schemas.microsoft.com/office/drawing/2014/main" id="{9494936C-C280-70E7-C6A7-73F56464E8CF}"/>
              </a:ext>
            </a:extLst>
          </p:cNvPr>
          <p:cNvSpPr txBox="1"/>
          <p:nvPr/>
        </p:nvSpPr>
        <p:spPr>
          <a:xfrm>
            <a:off x="7972954" y="1009501"/>
            <a:ext cx="720314" cy="5712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algn="ctr" defTabSz="415869">
              <a:lnSpc>
                <a:spcPts val="2206"/>
              </a:lnSpc>
              <a:spcBef>
                <a:spcPts val="55"/>
              </a:spcBef>
            </a:pPr>
            <a:r>
              <a:rPr sz="1865" b="1" kern="0" spc="-155" dirty="0">
                <a:solidFill>
                  <a:srgbClr val="FF644E"/>
                </a:solidFill>
                <a:latin typeface="Trebuchet MS"/>
                <a:cs typeface="Trebuchet MS"/>
              </a:rPr>
              <a:t>2</a:t>
            </a:r>
            <a:r>
              <a:rPr sz="1865" b="1" kern="0" spc="-118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865" b="1" kern="0" spc="-114" dirty="0">
                <a:solidFill>
                  <a:srgbClr val="FF644E"/>
                </a:solidFill>
                <a:latin typeface="Trebuchet MS"/>
                <a:cs typeface="Trebuchet MS"/>
              </a:rPr>
              <a:t>(</a:t>
            </a:r>
            <a:r>
              <a:rPr sz="1865" b="1" i="1" kern="0" spc="-114" dirty="0">
                <a:solidFill>
                  <a:srgbClr val="FF644E"/>
                </a:solidFill>
                <a:latin typeface="Gill Sans MT"/>
                <a:cs typeface="Gill Sans MT"/>
              </a:rPr>
              <a:t>m</a:t>
            </a:r>
            <a:r>
              <a:rPr sz="1865" b="1" kern="0" spc="-114" dirty="0">
                <a:solidFill>
                  <a:srgbClr val="FF644E"/>
                </a:solidFill>
                <a:latin typeface="Trebuchet MS"/>
                <a:cs typeface="Trebuchet MS"/>
              </a:rPr>
              <a:t>-</a:t>
            </a:r>
            <a:r>
              <a:rPr sz="1865" b="1" kern="0" spc="-36" dirty="0">
                <a:solidFill>
                  <a:srgbClr val="FF644E"/>
                </a:solidFill>
                <a:latin typeface="Trebuchet MS"/>
                <a:cs typeface="Trebuchet MS"/>
              </a:rPr>
              <a:t>1)</a:t>
            </a:r>
            <a:endParaRPr sz="1865" kern="0">
              <a:solidFill>
                <a:sysClr val="windowText" lastClr="000000"/>
              </a:solidFill>
              <a:latin typeface="Trebuchet MS"/>
              <a:cs typeface="Trebuchet MS"/>
            </a:endParaRPr>
          </a:p>
          <a:p>
            <a:pPr algn="ctr" defTabSz="415869">
              <a:lnSpc>
                <a:spcPts val="2206"/>
              </a:lnSpc>
            </a:pPr>
            <a:r>
              <a:rPr sz="1865" b="1" i="1" kern="0" spc="-80" dirty="0">
                <a:solidFill>
                  <a:srgbClr val="FF644E"/>
                </a:solidFill>
                <a:latin typeface="Gill Sans MT"/>
                <a:cs typeface="Gill Sans MT"/>
              </a:rPr>
              <a:t>k</a:t>
            </a:r>
            <a:r>
              <a:rPr sz="1865" b="1" i="1" kern="0" spc="-86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865" b="1" kern="0" spc="-109" dirty="0">
                <a:solidFill>
                  <a:srgbClr val="FF644E"/>
                </a:solidFill>
                <a:latin typeface="Trebuchet MS"/>
                <a:cs typeface="Trebuchet MS"/>
              </a:rPr>
              <a:t>/</a:t>
            </a:r>
            <a:r>
              <a:rPr sz="1865" b="1" kern="0" spc="-127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865" b="1" kern="0" spc="-252" dirty="0">
                <a:solidFill>
                  <a:srgbClr val="FF644E"/>
                </a:solidFill>
                <a:latin typeface="Trebuchet MS"/>
                <a:cs typeface="Trebuchet MS"/>
              </a:rPr>
              <a:t>m</a:t>
            </a:r>
            <a:endParaRPr sz="1865" kern="0">
              <a:solidFill>
                <a:sysClr val="windowText" lastClr="000000"/>
              </a:solidFill>
              <a:latin typeface="Trebuchet MS"/>
              <a:cs typeface="Trebuchet MS"/>
            </a:endParaRP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D07B85FB-EF03-E14F-8F1B-3A80A377F8B2}"/>
              </a:ext>
            </a:extLst>
          </p:cNvPr>
          <p:cNvSpPr txBox="1"/>
          <p:nvPr/>
        </p:nvSpPr>
        <p:spPr>
          <a:xfrm>
            <a:off x="6024223" y="6037701"/>
            <a:ext cx="2834027" cy="58408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defTabSz="415869">
              <a:lnSpc>
                <a:spcPts val="2206"/>
              </a:lnSpc>
              <a:spcBef>
                <a:spcPts val="55"/>
              </a:spcBef>
            </a:pPr>
            <a:r>
              <a:rPr lang="en-US" sz="1865" b="1" kern="0" spc="-91" dirty="0">
                <a:solidFill>
                  <a:sysClr val="windowText" lastClr="000000"/>
                </a:solidFill>
                <a:latin typeface="Trebuchet MS"/>
                <a:cs typeface="Trebuchet MS"/>
              </a:rPr>
              <a:t>m = </a:t>
            </a:r>
            <a:r>
              <a:rPr lang="en-US" sz="1865" b="1" kern="0" spc="-5" dirty="0">
                <a:solidFill>
                  <a:sysClr val="windowText" lastClr="000000"/>
                </a:solidFill>
                <a:latin typeface="Gill Sans MT"/>
                <a:cs typeface="Trebuchet MS"/>
              </a:rPr>
              <a:t>ring cycle</a:t>
            </a:r>
          </a:p>
          <a:p>
            <a:pPr defTabSz="415869">
              <a:lnSpc>
                <a:spcPts val="2206"/>
              </a:lnSpc>
              <a:spcBef>
                <a:spcPts val="55"/>
              </a:spcBef>
            </a:pPr>
            <a:r>
              <a:rPr lang="en-US" sz="1865" b="1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k = size of param vector </a:t>
            </a:r>
            <a:endParaRPr sz="1865" kern="0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13312743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2237" y="1187452"/>
            <a:ext cx="4020067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239" dirty="0"/>
              <a:t>Communication</a:t>
            </a:r>
            <a:r>
              <a:rPr spc="-214" dirty="0"/>
              <a:t> </a:t>
            </a:r>
            <a:r>
              <a:rPr spc="-175" dirty="0"/>
              <a:t>strategies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5423" y="2865598"/>
            <a:ext cx="3237340" cy="228185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63171" y="2124118"/>
            <a:ext cx="2743778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 defTabSz="415869">
              <a:spcBef>
                <a:spcPts val="55"/>
              </a:spcBef>
            </a:pPr>
            <a:r>
              <a:rPr sz="1865" kern="0" spc="-1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centralized:</a:t>
            </a:r>
            <a:r>
              <a:rPr sz="1865" kern="0" spc="-7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4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parameter</a:t>
            </a:r>
            <a:r>
              <a:rPr sz="1865" kern="0" spc="-7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2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server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09019" y="2908079"/>
            <a:ext cx="3401965" cy="209002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544289" y="2124118"/>
            <a:ext cx="2714318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 defTabSz="415869">
              <a:spcBef>
                <a:spcPts val="55"/>
              </a:spcBef>
            </a:pPr>
            <a:r>
              <a:rPr sz="1865" kern="0" spc="-1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decentralized:</a:t>
            </a:r>
            <a:r>
              <a:rPr sz="1865" kern="0" spc="-8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ring</a:t>
            </a:r>
            <a:r>
              <a:rPr sz="1865" kern="0" spc="-8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3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all-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reduce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2237" y="1035612"/>
            <a:ext cx="1859414" cy="213238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76" defTabSz="415869">
              <a:spcBef>
                <a:spcPts val="52"/>
              </a:spcBef>
              <a:tabLst>
                <a:tab pos="560846" algn="l"/>
                <a:tab pos="1569906" algn="l"/>
              </a:tabLst>
            </a:pPr>
            <a:r>
              <a:rPr sz="1342" b="1" kern="0" spc="-107" dirty="0">
                <a:solidFill>
                  <a:srgbClr val="FF644E"/>
                </a:solidFill>
                <a:latin typeface="Trebuchet MS"/>
                <a:cs typeface="Trebuchet MS"/>
              </a:rPr>
              <a:t>D</a:t>
            </a:r>
            <a:r>
              <a:rPr sz="1342" b="1" kern="0" spc="-191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kern="0" spc="27" dirty="0">
                <a:solidFill>
                  <a:srgbClr val="FF644E"/>
                </a:solidFill>
                <a:latin typeface="Trebuchet MS"/>
                <a:cs typeface="Trebuchet MS"/>
              </a:rPr>
              <a:t>ATA</a:t>
            </a:r>
            <a:r>
              <a:rPr sz="1342" b="1" kern="0" dirty="0">
                <a:solidFill>
                  <a:srgbClr val="FF644E"/>
                </a:solidFill>
                <a:latin typeface="Trebuchet MS"/>
                <a:cs typeface="Trebuchet MS"/>
              </a:rPr>
              <a:t>	PA</a:t>
            </a:r>
            <a:r>
              <a:rPr sz="1342" b="1" kern="0" spc="-173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kern="0" spc="-77" dirty="0">
                <a:solidFill>
                  <a:srgbClr val="FF644E"/>
                </a:solidFill>
                <a:latin typeface="Trebuchet MS"/>
                <a:cs typeface="Trebuchet MS"/>
              </a:rPr>
              <a:t>R</a:t>
            </a:r>
            <a:r>
              <a:rPr sz="1342" b="1" kern="0" spc="-171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kern="0" spc="-45" dirty="0">
                <a:solidFill>
                  <a:srgbClr val="FF644E"/>
                </a:solidFill>
                <a:latin typeface="Trebuchet MS"/>
                <a:cs typeface="Trebuchet MS"/>
              </a:rPr>
              <a:t>A</a:t>
            </a:r>
            <a:r>
              <a:rPr sz="1342" b="1" kern="0" spc="-173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kern="0" spc="-100" dirty="0">
                <a:solidFill>
                  <a:srgbClr val="FF644E"/>
                </a:solidFill>
                <a:latin typeface="Trebuchet MS"/>
                <a:cs typeface="Trebuchet MS"/>
              </a:rPr>
              <a:t>L</a:t>
            </a:r>
            <a:r>
              <a:rPr sz="1342" b="1" kern="0" spc="-171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kern="0" spc="-100" dirty="0">
                <a:solidFill>
                  <a:srgbClr val="FF644E"/>
                </a:solidFill>
                <a:latin typeface="Trebuchet MS"/>
                <a:cs typeface="Trebuchet MS"/>
              </a:rPr>
              <a:t>L</a:t>
            </a:r>
            <a:r>
              <a:rPr sz="1342" b="1" kern="0" spc="-168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kern="0" spc="-109" dirty="0">
                <a:solidFill>
                  <a:srgbClr val="FF644E"/>
                </a:solidFill>
                <a:latin typeface="Trebuchet MS"/>
                <a:cs typeface="Trebuchet MS"/>
              </a:rPr>
              <a:t>E</a:t>
            </a:r>
            <a:r>
              <a:rPr sz="1342" b="1" kern="0" spc="-171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kern="0" spc="-23" dirty="0">
                <a:solidFill>
                  <a:srgbClr val="FF644E"/>
                </a:solidFill>
                <a:latin typeface="Trebuchet MS"/>
                <a:cs typeface="Trebuchet MS"/>
              </a:rPr>
              <a:t>L</a:t>
            </a:r>
            <a:r>
              <a:rPr sz="1342" b="1" kern="0" dirty="0">
                <a:solidFill>
                  <a:srgbClr val="FF644E"/>
                </a:solidFill>
                <a:latin typeface="Trebuchet MS"/>
                <a:cs typeface="Trebuchet MS"/>
              </a:rPr>
              <a:t>	</a:t>
            </a:r>
            <a:r>
              <a:rPr sz="1342" b="1" kern="0" spc="-107" dirty="0">
                <a:solidFill>
                  <a:srgbClr val="FF644E"/>
                </a:solidFill>
                <a:latin typeface="Trebuchet MS"/>
                <a:cs typeface="Trebuchet MS"/>
              </a:rPr>
              <a:t>D</a:t>
            </a:r>
            <a:r>
              <a:rPr sz="1342" b="1" kern="0" spc="-177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kern="0" spc="-100" dirty="0">
                <a:solidFill>
                  <a:srgbClr val="FF644E"/>
                </a:solidFill>
                <a:latin typeface="Trebuchet MS"/>
                <a:cs typeface="Trebuchet MS"/>
              </a:rPr>
              <a:t>L</a:t>
            </a:r>
            <a:r>
              <a:rPr sz="1342" b="1" kern="0" spc="-175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kern="0" spc="-152" dirty="0">
                <a:solidFill>
                  <a:srgbClr val="FF644E"/>
                </a:solidFill>
                <a:latin typeface="Trebuchet MS"/>
                <a:cs typeface="Trebuchet MS"/>
              </a:rPr>
              <a:t>:</a:t>
            </a:r>
            <a:endParaRPr sz="1342" kern="0">
              <a:solidFill>
                <a:sysClr val="windowText" lastClr="000000"/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328496" y="1057414"/>
            <a:ext cx="6679708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lang="en-US" spc="-230" dirty="0"/>
              <a:t>Ring all-reduce vs parameter server!</a:t>
            </a:r>
            <a:endParaRPr spc="-17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2915" y="2629632"/>
            <a:ext cx="6679708" cy="274580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698214" y="5646443"/>
            <a:ext cx="2335099" cy="236502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 defTabSz="415869">
              <a:spcBef>
                <a:spcPts val="43"/>
              </a:spcBef>
            </a:pPr>
            <a:r>
              <a:rPr sz="1501" u="heavy" kern="0" spc="-14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Gill Sans MT"/>
                <a:cs typeface="Gill Sans MT"/>
                <a:hlinkClick r:id="rId3"/>
              </a:rPr>
              <a:t>https://eng.uber.com/horovod/</a:t>
            </a:r>
            <a:endParaRPr sz="1501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6562" y="1972343"/>
            <a:ext cx="7270433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 defTabSz="415869">
              <a:spcBef>
                <a:spcPts val="55"/>
              </a:spcBef>
            </a:pPr>
            <a:r>
              <a:rPr sz="1865" kern="0" spc="-2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distributed</a:t>
            </a:r>
            <a:r>
              <a:rPr sz="1865" kern="0" spc="-7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3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tensorflow</a:t>
            </a:r>
            <a:r>
              <a:rPr sz="1865" kern="0" spc="-7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default</a:t>
            </a:r>
            <a:r>
              <a:rPr sz="1865" kern="0" spc="-7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3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(parameter</a:t>
            </a:r>
            <a:r>
              <a:rPr sz="1865" kern="0" spc="-7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4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server)</a:t>
            </a:r>
            <a:r>
              <a:rPr sz="1865" kern="0" spc="-7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6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vs.</a:t>
            </a:r>
            <a:r>
              <a:rPr sz="1865" kern="0" spc="-7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horovod</a:t>
            </a:r>
            <a:r>
              <a:rPr sz="1865" kern="0" spc="-7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1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(ring</a:t>
            </a:r>
            <a:r>
              <a:rPr sz="1865" kern="0" spc="-7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3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all-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reduce)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25C86-E2B1-EDC5-5B75-11BC40E6B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13FC5E0-C443-6527-3740-B13B9363A0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497" y="1057414"/>
            <a:ext cx="3348078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262" dirty="0"/>
              <a:t>Outline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0C693A4-4CC6-6135-2220-AF35FD39D611}"/>
              </a:ext>
            </a:extLst>
          </p:cNvPr>
          <p:cNvSpPr txBox="1"/>
          <p:nvPr/>
        </p:nvSpPr>
        <p:spPr>
          <a:xfrm>
            <a:off x="828674" y="2665279"/>
            <a:ext cx="7915275" cy="3124776"/>
          </a:xfrm>
          <a:prstGeom prst="rect">
            <a:avLst/>
          </a:prstGeom>
        </p:spPr>
        <p:txBody>
          <a:bodyPr vert="horz" wrap="square" lIns="0" tIns="135456" rIns="0" bIns="0" rtlCol="0">
            <a:spAutoFit/>
          </a:bodyPr>
          <a:lstStyle/>
          <a:p>
            <a:pPr marL="255875" indent="-250099" defTabSz="415869">
              <a:spcBef>
                <a:spcPts val="1067"/>
              </a:spcBef>
              <a:buFontTx/>
              <a:buAutoNum type="arabicPeriod"/>
              <a:tabLst>
                <a:tab pos="255875" algn="l"/>
              </a:tabLst>
            </a:pPr>
            <a:r>
              <a:rPr sz="3200" kern="0" spc="5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Scaling</a:t>
            </a:r>
            <a:r>
              <a:rPr sz="3200" kern="0" spc="-9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up</a:t>
            </a:r>
            <a:r>
              <a:rPr sz="3200" kern="0" spc="-8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3200" kern="0" spc="-2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Mb-</a:t>
            </a:r>
            <a:r>
              <a:rPr sz="3200" kern="0" spc="-15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SGD:</a:t>
            </a:r>
            <a:r>
              <a:rPr sz="3200" kern="0" spc="-9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3200" kern="0" spc="-3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Communication</a:t>
            </a:r>
            <a:r>
              <a:rPr sz="3200" kern="0" spc="-8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3200" kern="0" spc="2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schemes</a:t>
            </a:r>
            <a:endParaRPr lang="en-US" sz="3200" kern="0" spc="25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marL="255875" indent="-250099" defTabSz="415869">
              <a:spcBef>
                <a:spcPts val="1067"/>
              </a:spcBef>
              <a:buFontTx/>
              <a:buAutoNum type="arabicPeriod"/>
              <a:tabLst>
                <a:tab pos="255875" algn="l"/>
              </a:tabLst>
            </a:pPr>
            <a:r>
              <a:rPr lang="en-US" sz="3200" kern="0" spc="25" dirty="0" err="1">
                <a:solidFill>
                  <a:sysClr val="windowText" lastClr="000000"/>
                </a:solidFill>
                <a:latin typeface="Gill Sans MT"/>
                <a:cs typeface="Gill Sans MT"/>
              </a:rPr>
              <a:t>AllReduce</a:t>
            </a:r>
            <a:r>
              <a:rPr lang="en-US" sz="3200" kern="0" spc="2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for GPU clusters</a:t>
            </a:r>
            <a:endParaRPr sz="3200" kern="0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marL="255875" indent="-250099" defTabSz="415869">
              <a:spcBef>
                <a:spcPts val="1026"/>
              </a:spcBef>
              <a:buFontTx/>
              <a:buAutoNum type="arabicPeriod"/>
              <a:tabLst>
                <a:tab pos="255875" algn="l"/>
              </a:tabLst>
            </a:pPr>
            <a:r>
              <a:rPr sz="3200" kern="0" dirty="0">
                <a:solidFill>
                  <a:schemeClr val="tx2"/>
                </a:solidFill>
                <a:latin typeface="Gill Sans MT"/>
                <a:cs typeface="Gill Sans MT"/>
              </a:rPr>
              <a:t>Challenges</a:t>
            </a:r>
            <a:r>
              <a:rPr sz="3200" kern="0" spc="-52" dirty="0">
                <a:solidFill>
                  <a:schemeClr val="tx2"/>
                </a:solidFill>
                <a:latin typeface="Gill Sans MT"/>
                <a:cs typeface="Gill Sans MT"/>
              </a:rPr>
              <a:t> </a:t>
            </a:r>
            <a:r>
              <a:rPr sz="3200" kern="0" spc="-57" dirty="0">
                <a:solidFill>
                  <a:schemeClr val="tx2"/>
                </a:solidFill>
                <a:latin typeface="Gill Sans MT"/>
                <a:cs typeface="Gill Sans MT"/>
              </a:rPr>
              <a:t>with </a:t>
            </a:r>
            <a:r>
              <a:rPr sz="3200" kern="0" spc="-27" dirty="0">
                <a:solidFill>
                  <a:schemeClr val="tx2"/>
                </a:solidFill>
                <a:latin typeface="Gill Sans MT"/>
                <a:cs typeface="Gill Sans MT"/>
              </a:rPr>
              <a:t>mini-</a:t>
            </a:r>
            <a:r>
              <a:rPr sz="3200" kern="0" spc="-5" dirty="0">
                <a:solidFill>
                  <a:schemeClr val="tx2"/>
                </a:solidFill>
                <a:latin typeface="Gill Sans MT"/>
                <a:cs typeface="Gill Sans MT"/>
              </a:rPr>
              <a:t>batch</a:t>
            </a:r>
            <a:r>
              <a:rPr lang="en-US" sz="3200" kern="0" spc="-5" dirty="0">
                <a:solidFill>
                  <a:schemeClr val="tx2"/>
                </a:solidFill>
                <a:latin typeface="Gill Sans MT"/>
                <a:cs typeface="Gill Sans MT"/>
              </a:rPr>
              <a:t>ed optimization</a:t>
            </a:r>
          </a:p>
          <a:p>
            <a:pPr marL="255875" indent="-250099" defTabSz="415869">
              <a:spcBef>
                <a:spcPts val="1026"/>
              </a:spcBef>
              <a:buFontTx/>
              <a:buAutoNum type="arabicPeriod"/>
              <a:tabLst>
                <a:tab pos="255875" algn="l"/>
              </a:tabLst>
            </a:pPr>
            <a:r>
              <a:rPr lang="en-US" sz="3200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Fine-tuning</a:t>
            </a:r>
          </a:p>
          <a:p>
            <a:pPr marL="255875" indent="-250099" defTabSz="415869">
              <a:spcBef>
                <a:spcPts val="1026"/>
              </a:spcBef>
              <a:buFontTx/>
              <a:buAutoNum type="arabicPeriod"/>
              <a:tabLst>
                <a:tab pos="255875" algn="l"/>
              </a:tabLst>
            </a:pPr>
            <a:r>
              <a:rPr lang="en-US" sz="3200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More on Modern optimizers  </a:t>
            </a:r>
            <a:endParaRPr sz="3200" kern="0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13096015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497" y="1057414"/>
            <a:ext cx="8229716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305" dirty="0"/>
              <a:t>One</a:t>
            </a:r>
            <a:r>
              <a:rPr spc="-207" dirty="0"/>
              <a:t> </a:t>
            </a:r>
            <a:r>
              <a:rPr spc="-291" dirty="0"/>
              <a:t>major</a:t>
            </a:r>
            <a:r>
              <a:rPr spc="-207" dirty="0"/>
              <a:t> </a:t>
            </a:r>
            <a:r>
              <a:rPr spc="-125" dirty="0"/>
              <a:t>issue</a:t>
            </a:r>
            <a:r>
              <a:rPr spc="-205" dirty="0"/>
              <a:t> </a:t>
            </a:r>
            <a:r>
              <a:rPr spc="-305" dirty="0"/>
              <a:t>with</a:t>
            </a:r>
            <a:r>
              <a:rPr spc="-207" dirty="0"/>
              <a:t> </a:t>
            </a:r>
            <a:r>
              <a:rPr spc="-197" dirty="0"/>
              <a:t>mini-</a:t>
            </a:r>
            <a:r>
              <a:rPr spc="-241" dirty="0"/>
              <a:t>batch</a:t>
            </a:r>
            <a:r>
              <a:rPr spc="-207" dirty="0"/>
              <a:t> </a:t>
            </a:r>
            <a:r>
              <a:rPr spc="-159" dirty="0"/>
              <a:t>SGD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65590" y="5646443"/>
            <a:ext cx="1267914" cy="236502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 defTabSz="415869">
              <a:spcBef>
                <a:spcPts val="43"/>
              </a:spcBef>
            </a:pPr>
            <a:r>
              <a:rPr sz="1501" kern="0" spc="-64" dirty="0">
                <a:solidFill>
                  <a:srgbClr val="A7A7A7"/>
                </a:solidFill>
                <a:latin typeface="Gill Sans MT"/>
                <a:cs typeface="Gill Sans MT"/>
              </a:rPr>
              <a:t>Dean</a:t>
            </a:r>
            <a:r>
              <a:rPr sz="1501" kern="0" spc="-70" dirty="0">
                <a:solidFill>
                  <a:srgbClr val="A7A7A7"/>
                </a:solidFill>
                <a:latin typeface="Gill Sans MT"/>
                <a:cs typeface="Gill Sans MT"/>
              </a:rPr>
              <a:t> </a:t>
            </a:r>
            <a:r>
              <a:rPr sz="1501" kern="0" spc="-39" dirty="0">
                <a:solidFill>
                  <a:srgbClr val="A7A7A7"/>
                </a:solidFill>
                <a:latin typeface="Gill Sans MT"/>
                <a:cs typeface="Gill Sans MT"/>
              </a:rPr>
              <a:t>et</a:t>
            </a:r>
            <a:r>
              <a:rPr sz="1501" kern="0" spc="-68" dirty="0">
                <a:solidFill>
                  <a:srgbClr val="A7A7A7"/>
                </a:solidFill>
                <a:latin typeface="Gill Sans MT"/>
                <a:cs typeface="Gill Sans MT"/>
              </a:rPr>
              <a:t> </a:t>
            </a:r>
            <a:r>
              <a:rPr sz="1501" kern="0" spc="25" dirty="0">
                <a:solidFill>
                  <a:srgbClr val="A7A7A7"/>
                </a:solidFill>
                <a:latin typeface="Gill Sans MT"/>
                <a:cs typeface="Gill Sans MT"/>
              </a:rPr>
              <a:t>al.,</a:t>
            </a:r>
            <a:r>
              <a:rPr sz="1501" kern="0" spc="-70" dirty="0">
                <a:solidFill>
                  <a:srgbClr val="A7A7A7"/>
                </a:solidFill>
                <a:latin typeface="Gill Sans MT"/>
                <a:cs typeface="Gill Sans MT"/>
              </a:rPr>
              <a:t> </a:t>
            </a:r>
            <a:r>
              <a:rPr sz="1501" kern="0" spc="-9" dirty="0">
                <a:solidFill>
                  <a:srgbClr val="A7A7A7"/>
                </a:solidFill>
                <a:latin typeface="Gill Sans MT"/>
                <a:cs typeface="Gill Sans MT"/>
              </a:rPr>
              <a:t>2012</a:t>
            </a:r>
            <a:endParaRPr sz="1501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20804" y="1818224"/>
            <a:ext cx="4166210" cy="3506259"/>
            <a:chOff x="2024489" y="2113205"/>
            <a:chExt cx="9159875" cy="77089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24489" y="2692969"/>
              <a:ext cx="9159377" cy="712897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088079" y="2427196"/>
              <a:ext cx="941069" cy="6493510"/>
            </a:xfrm>
            <a:custGeom>
              <a:avLst/>
              <a:gdLst/>
              <a:ahLst/>
              <a:cxnLst/>
              <a:rect l="l" t="t" r="r" b="b"/>
              <a:pathLst>
                <a:path w="941070" h="6493509">
                  <a:moveTo>
                    <a:pt x="0" y="6493439"/>
                  </a:moveTo>
                  <a:lnTo>
                    <a:pt x="933793" y="46632"/>
                  </a:lnTo>
                  <a:lnTo>
                    <a:pt x="940547" y="0"/>
                  </a:lnTo>
                </a:path>
              </a:pathLst>
            </a:custGeom>
            <a:ln w="94237">
              <a:solidFill>
                <a:srgbClr val="FF644E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pPr defTabSz="415869"/>
              <a:endParaRPr sz="81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3841560" y="2113205"/>
              <a:ext cx="360680" cy="387350"/>
            </a:xfrm>
            <a:custGeom>
              <a:avLst/>
              <a:gdLst/>
              <a:ahLst/>
              <a:cxnLst/>
              <a:rect l="l" t="t" r="r" b="b"/>
              <a:pathLst>
                <a:path w="360679" h="387350">
                  <a:moveTo>
                    <a:pt x="232546" y="0"/>
                  </a:moveTo>
                  <a:lnTo>
                    <a:pt x="0" y="334506"/>
                  </a:lnTo>
                  <a:lnTo>
                    <a:pt x="360623" y="386740"/>
                  </a:lnTo>
                  <a:lnTo>
                    <a:pt x="232546" y="0"/>
                  </a:lnTo>
                  <a:close/>
                </a:path>
              </a:pathLst>
            </a:custGeom>
            <a:solidFill>
              <a:srgbClr val="FF644E"/>
            </a:solidFill>
          </p:spPr>
          <p:txBody>
            <a:bodyPr wrap="square" lIns="0" tIns="0" rIns="0" bIns="0" rtlCol="0"/>
            <a:lstStyle/>
            <a:p>
              <a:pPr defTabSz="415869"/>
              <a:endParaRPr sz="819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582760" y="2258854"/>
            <a:ext cx="3246611" cy="2844325"/>
          </a:xfrm>
          <a:prstGeom prst="rect">
            <a:avLst/>
          </a:prstGeom>
        </p:spPr>
        <p:txBody>
          <a:bodyPr vert="horz" wrap="square" lIns="0" tIns="22817" rIns="0" bIns="0" rtlCol="0">
            <a:spAutoFit/>
          </a:bodyPr>
          <a:lstStyle/>
          <a:p>
            <a:pPr marL="5776" marR="71622" defTabSz="415869">
              <a:lnSpc>
                <a:spcPts val="2174"/>
              </a:lnSpc>
              <a:spcBef>
                <a:spcPts val="180"/>
              </a:spcBef>
            </a:pPr>
            <a:r>
              <a:rPr sz="1865" kern="0" spc="-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ideally,</a:t>
            </a:r>
            <a:r>
              <a:rPr sz="1865" kern="0" spc="-4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speedups</a:t>
            </a:r>
            <a:r>
              <a:rPr sz="1865" kern="0" spc="-4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should</a:t>
            </a:r>
            <a:r>
              <a:rPr sz="1865" kern="0" spc="-4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4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scale </a:t>
            </a:r>
            <a:r>
              <a:rPr sz="1865" kern="0" spc="-1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linearly</a:t>
            </a:r>
            <a:r>
              <a:rPr sz="1865" kern="0" spc="-7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(i.e.,</a:t>
            </a:r>
            <a:r>
              <a:rPr sz="1865" kern="0" spc="-6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6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you</a:t>
            </a:r>
            <a:r>
              <a:rPr sz="1865" kern="0" spc="-6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increase</a:t>
            </a:r>
            <a:r>
              <a:rPr sz="1865" kern="0" spc="-6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4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the</a:t>
            </a:r>
            <a:r>
              <a:rPr sz="1865" kern="0" spc="-6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6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#</a:t>
            </a:r>
            <a:r>
              <a:rPr sz="1865" kern="0" spc="-6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1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of </a:t>
            </a:r>
            <a:r>
              <a:rPr sz="1865" kern="0" spc="2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machines</a:t>
            </a:r>
            <a:r>
              <a:rPr sz="1865" kern="0" spc="-8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2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by</a:t>
            </a:r>
            <a:r>
              <a:rPr sz="1865" kern="0" spc="-8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16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X,</a:t>
            </a:r>
            <a:r>
              <a:rPr sz="1865" kern="0" spc="-8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and</a:t>
            </a:r>
            <a:r>
              <a:rPr sz="1865" kern="0" spc="-8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6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you</a:t>
            </a:r>
            <a:r>
              <a:rPr sz="1865" kern="0" spc="-8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2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can </a:t>
            </a:r>
            <a:r>
              <a:rPr sz="1865" kern="0" spc="-2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converge</a:t>
            </a:r>
            <a:r>
              <a:rPr sz="1865" kern="0" spc="-8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29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X</a:t>
            </a:r>
            <a:r>
              <a:rPr sz="1865" kern="0" spc="-8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times</a:t>
            </a:r>
            <a:r>
              <a:rPr sz="1865" kern="0" spc="-8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faster)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marL="5776" defTabSz="415869">
              <a:lnSpc>
                <a:spcPts val="2206"/>
              </a:lnSpc>
              <a:spcBef>
                <a:spcPts val="2053"/>
              </a:spcBef>
            </a:pP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some</a:t>
            </a:r>
            <a:r>
              <a:rPr sz="1865" kern="0" spc="-8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6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issues</a:t>
            </a:r>
            <a:r>
              <a:rPr sz="1865" kern="0" spc="-8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3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preventing</a:t>
            </a:r>
            <a:r>
              <a:rPr sz="1865" kern="0" spc="-8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1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speedups: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marL="193495" marR="745965" indent="-188007" defTabSz="415869">
              <a:lnSpc>
                <a:spcPts val="2174"/>
              </a:lnSpc>
              <a:spcBef>
                <a:spcPts val="95"/>
              </a:spcBef>
              <a:buFontTx/>
              <a:buChar char="•"/>
              <a:tabLst>
                <a:tab pos="193495" algn="l"/>
              </a:tabLst>
            </a:pPr>
            <a:r>
              <a:rPr sz="1865" kern="0" spc="-1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communication</a:t>
            </a:r>
            <a:r>
              <a:rPr sz="1865" kern="0" spc="-9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3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between </a:t>
            </a:r>
            <a:r>
              <a:rPr sz="1865" kern="0" spc="1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machines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marL="193495" marR="200715" indent="-188007" defTabSz="415869">
              <a:lnSpc>
                <a:spcPts val="2174"/>
              </a:lnSpc>
              <a:buFontTx/>
              <a:buChar char="•"/>
              <a:tabLst>
                <a:tab pos="193495" algn="l"/>
              </a:tabLst>
            </a:pP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diminishing</a:t>
            </a:r>
            <a:r>
              <a:rPr sz="1865" kern="0" spc="-2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returns</a:t>
            </a:r>
            <a:r>
              <a:rPr sz="1865" kern="0" spc="-1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with</a:t>
            </a:r>
            <a:r>
              <a:rPr sz="1865" kern="0" spc="-2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1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larger </a:t>
            </a:r>
            <a:r>
              <a:rPr sz="1865" kern="0" spc="1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batches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496" y="1057414"/>
            <a:ext cx="7458191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305" dirty="0"/>
              <a:t>One</a:t>
            </a:r>
            <a:r>
              <a:rPr spc="-207" dirty="0"/>
              <a:t> </a:t>
            </a:r>
            <a:r>
              <a:rPr spc="-291" dirty="0"/>
              <a:t>major</a:t>
            </a:r>
            <a:r>
              <a:rPr spc="-207" dirty="0"/>
              <a:t> </a:t>
            </a:r>
            <a:r>
              <a:rPr spc="-125" dirty="0"/>
              <a:t>issue</a:t>
            </a:r>
            <a:r>
              <a:rPr spc="-205" dirty="0"/>
              <a:t> </a:t>
            </a:r>
            <a:r>
              <a:rPr spc="-305" dirty="0"/>
              <a:t>with</a:t>
            </a:r>
            <a:r>
              <a:rPr spc="-207" dirty="0"/>
              <a:t> </a:t>
            </a:r>
            <a:r>
              <a:rPr spc="-197" dirty="0"/>
              <a:t>mini-</a:t>
            </a:r>
            <a:r>
              <a:rPr spc="-241" dirty="0"/>
              <a:t>batch</a:t>
            </a:r>
            <a:r>
              <a:rPr spc="-207" dirty="0"/>
              <a:t> </a:t>
            </a:r>
            <a:r>
              <a:rPr spc="-159" dirty="0"/>
              <a:t>SGD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4142" y="2223293"/>
            <a:ext cx="7712326" cy="2533332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 defTabSz="415869">
              <a:lnSpc>
                <a:spcPts val="2206"/>
              </a:lnSpc>
              <a:spcBef>
                <a:spcPts val="55"/>
              </a:spcBef>
            </a:pPr>
            <a:r>
              <a:rPr sz="1865" kern="0" spc="32" dirty="0">
                <a:solidFill>
                  <a:srgbClr val="FF644E"/>
                </a:solidFill>
                <a:latin typeface="Gill Sans MT"/>
                <a:cs typeface="Gill Sans MT"/>
              </a:rPr>
              <a:t>Systems</a:t>
            </a:r>
            <a:r>
              <a:rPr sz="1865" kern="0" spc="-80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865" kern="0" spc="-11" dirty="0">
                <a:solidFill>
                  <a:srgbClr val="FF644E"/>
                </a:solidFill>
                <a:latin typeface="Gill Sans MT"/>
                <a:cs typeface="Gill Sans MT"/>
              </a:rPr>
              <a:t>perspective</a:t>
            </a:r>
            <a:r>
              <a:rPr sz="1865" kern="0" spc="-1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:</a:t>
            </a:r>
            <a:r>
              <a:rPr sz="1865" kern="0" spc="-8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large</a:t>
            </a:r>
            <a:r>
              <a:rPr sz="1865" kern="0" spc="-7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2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batches</a:t>
            </a:r>
            <a:r>
              <a:rPr sz="1865" kern="0" spc="-8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4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are</a:t>
            </a:r>
            <a:r>
              <a:rPr sz="1865" kern="0" spc="-7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good</a:t>
            </a:r>
            <a:endParaRPr sz="1865" kern="0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marL="5776" marR="3484348" indent="330674" defTabSz="415869">
              <a:lnSpc>
                <a:spcPts val="2174"/>
              </a:lnSpc>
              <a:spcBef>
                <a:spcPts val="95"/>
              </a:spcBef>
              <a:buFontTx/>
              <a:buChar char="•"/>
              <a:tabLst>
                <a:tab pos="336450" algn="l"/>
              </a:tabLst>
            </a:pPr>
            <a:r>
              <a:rPr sz="1865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more </a:t>
            </a:r>
            <a:r>
              <a:rPr sz="1865" kern="0" spc="-2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computation,</a:t>
            </a:r>
            <a:r>
              <a:rPr sz="1865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6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less</a:t>
            </a:r>
            <a:r>
              <a:rPr sz="1865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communication </a:t>
            </a:r>
            <a:r>
              <a:rPr sz="1865" kern="0" spc="30" dirty="0">
                <a:solidFill>
                  <a:srgbClr val="FF644E"/>
                </a:solidFill>
                <a:latin typeface="Gill Sans MT"/>
                <a:cs typeface="Gill Sans MT"/>
              </a:rPr>
              <a:t>Statistical</a:t>
            </a:r>
            <a:r>
              <a:rPr sz="1865" kern="0" spc="-80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865" kern="0" spc="-11" dirty="0">
                <a:solidFill>
                  <a:srgbClr val="FF644E"/>
                </a:solidFill>
                <a:latin typeface="Gill Sans MT"/>
                <a:cs typeface="Gill Sans MT"/>
              </a:rPr>
              <a:t>perspective</a:t>
            </a:r>
            <a:r>
              <a:rPr sz="1865" kern="0" spc="-1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:</a:t>
            </a:r>
            <a:r>
              <a:rPr sz="1865" kern="0" spc="-8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large</a:t>
            </a:r>
            <a:r>
              <a:rPr sz="1865" kern="0" spc="-7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2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batches</a:t>
            </a:r>
            <a:r>
              <a:rPr sz="1865" kern="0" spc="-7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4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are</a:t>
            </a:r>
            <a:r>
              <a:rPr sz="1865" kern="0" spc="-7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1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bad</a:t>
            </a:r>
            <a:endParaRPr sz="1865" kern="0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marL="336450" indent="-188007" defTabSz="415869">
              <a:lnSpc>
                <a:spcPts val="2115"/>
              </a:lnSpc>
              <a:buFontTx/>
              <a:buChar char="•"/>
              <a:tabLst>
                <a:tab pos="336450" algn="l"/>
              </a:tabLst>
            </a:pPr>
            <a:r>
              <a:rPr sz="1865" kern="0" spc="2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why??</a:t>
            </a:r>
            <a:endParaRPr sz="1865" kern="0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marL="5776" defTabSz="415869">
              <a:lnSpc>
                <a:spcPts val="2206"/>
              </a:lnSpc>
              <a:spcBef>
                <a:spcPts val="2110"/>
              </a:spcBef>
            </a:pPr>
            <a:r>
              <a:rPr sz="1865" kern="0" spc="-15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Two</a:t>
            </a:r>
            <a:r>
              <a:rPr sz="1865" kern="0" spc="-8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2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problems</a:t>
            </a:r>
            <a:r>
              <a:rPr sz="1865" kern="0" spc="-8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with</a:t>
            </a:r>
            <a:r>
              <a:rPr sz="1865" kern="0" spc="-8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large</a:t>
            </a:r>
            <a:r>
              <a:rPr sz="1865" kern="0" spc="-8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1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batches:</a:t>
            </a:r>
            <a:endParaRPr sz="1865" kern="0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marL="336450" indent="-188007" defTabSz="415869">
              <a:lnSpc>
                <a:spcPts val="2174"/>
              </a:lnSpc>
              <a:buFontTx/>
              <a:buChar char="•"/>
              <a:tabLst>
                <a:tab pos="336450" algn="l"/>
              </a:tabLst>
            </a:pP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diminishing</a:t>
            </a:r>
            <a:r>
              <a:rPr sz="1865" kern="0" spc="-7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returns</a:t>
            </a:r>
            <a:r>
              <a:rPr sz="1865" kern="0" spc="-7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(after</a:t>
            </a:r>
            <a:r>
              <a:rPr sz="1865" kern="0" spc="-7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9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</a:t>
            </a:r>
            <a:r>
              <a:rPr sz="1865" kern="0" spc="-7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certain</a:t>
            </a:r>
            <a:r>
              <a:rPr sz="1865" kern="0" spc="-7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3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point,</a:t>
            </a:r>
            <a:r>
              <a:rPr sz="1865" kern="0" spc="-7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additional</a:t>
            </a:r>
            <a:r>
              <a:rPr sz="1865" kern="0" spc="-7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lang="en-US"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data on computing a single gradient</a:t>
            </a:r>
            <a:r>
              <a:rPr sz="1865" kern="0" spc="-7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7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do</a:t>
            </a:r>
            <a:r>
              <a:rPr lang="en-US" sz="1865" kern="0" spc="-7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esn’t</a:t>
            </a:r>
            <a:r>
              <a:rPr sz="1865" kern="0" spc="-7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help</a:t>
            </a:r>
            <a:r>
              <a:rPr sz="1865" kern="0" spc="-7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much)</a:t>
            </a:r>
            <a:endParaRPr sz="1865" kern="0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marL="336450" indent="-188007" defTabSz="415869">
              <a:lnSpc>
                <a:spcPts val="2206"/>
              </a:lnSpc>
              <a:buFontTx/>
              <a:buChar char="•"/>
              <a:tabLst>
                <a:tab pos="336450" algn="l"/>
              </a:tabLst>
            </a:pPr>
            <a:r>
              <a:rPr sz="1865" kern="0" spc="-9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poor</a:t>
            </a:r>
            <a:r>
              <a:rPr sz="1865" kern="0" spc="-8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generalization</a:t>
            </a:r>
            <a:r>
              <a:rPr sz="1865" kern="0" spc="-7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4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(for</a:t>
            </a:r>
            <a:r>
              <a:rPr sz="1865" kern="0" spc="-7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non-</a:t>
            </a:r>
            <a:r>
              <a:rPr sz="1865" kern="0" spc="-6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convex</a:t>
            </a:r>
            <a:r>
              <a:rPr sz="1865" kern="0" spc="-7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optimization)</a:t>
            </a:r>
            <a:endParaRPr sz="1865" kern="0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C83C3-A4AB-847C-B213-22F5306F6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D040F-D4E3-D1E3-14B1-12A14ACCD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Recap: Stochastic 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CE0F2-21F7-7A10-BE90-7E2846C58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89441"/>
            <a:ext cx="5588000" cy="1529959"/>
          </a:xfrm>
        </p:spPr>
        <p:txBody>
          <a:bodyPr>
            <a:normAutofit/>
          </a:bodyPr>
          <a:lstStyle/>
          <a:p>
            <a:r>
              <a:rPr lang="en-US" sz="1600" dirty="0"/>
              <a:t>sample a “minibatch” of examples B&lt;&lt;N</a:t>
            </a:r>
          </a:p>
          <a:p>
            <a:r>
              <a:rPr lang="en-US" sz="1600" b="1" dirty="0"/>
              <a:t>approximate </a:t>
            </a:r>
            <a:r>
              <a:rPr lang="en-US" sz="1600" dirty="0"/>
              <a:t>the gradient using them</a:t>
            </a:r>
          </a:p>
          <a:p>
            <a:pPr lvl="1"/>
            <a:r>
              <a:rPr lang="en-US" sz="1800" dirty="0"/>
              <a:t>“on average” this is the right direction</a:t>
            </a:r>
          </a:p>
          <a:p>
            <a:r>
              <a:rPr lang="en-US" sz="1600" dirty="0"/>
              <a:t>take a step in that direction</a:t>
            </a:r>
          </a:p>
          <a:p>
            <a:r>
              <a:rPr lang="en-US" sz="1600" dirty="0"/>
              <a:t>repeat….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EA72EB-D5BA-E69A-9C2B-71383B0AF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4452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5BFDCA1-C2F8-BA4E-82CE-5B3B1AA6CE7D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65A6FE-C033-8A4A-D759-DF79025526E3}"/>
              </a:ext>
            </a:extLst>
          </p:cNvPr>
          <p:cNvSpPr txBox="1"/>
          <p:nvPr/>
        </p:nvSpPr>
        <p:spPr>
          <a:xfrm>
            <a:off x="4857750" y="1096962"/>
            <a:ext cx="4057650" cy="39703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For non-convex problems SGD/GD find a </a:t>
            </a:r>
            <a:r>
              <a:rPr lang="en-US" sz="2800" b="1" dirty="0"/>
              <a:t>local</a:t>
            </a:r>
            <a:r>
              <a:rPr lang="en-US" sz="2800" dirty="0"/>
              <a:t> minimum.  SGD tends to find “flat”, not “sharp” local minima.</a:t>
            </a:r>
          </a:p>
          <a:p>
            <a:endParaRPr lang="en-US" sz="2800" dirty="0"/>
          </a:p>
          <a:p>
            <a:r>
              <a:rPr lang="en-US" sz="2800" dirty="0"/>
              <a:t>Variants of SGD are almost </a:t>
            </a:r>
            <a:r>
              <a:rPr lang="en-US" sz="2800" b="1" dirty="0"/>
              <a:t>always</a:t>
            </a:r>
            <a:r>
              <a:rPr lang="en-US" sz="2800" dirty="0"/>
              <a:t> used in </a:t>
            </a:r>
            <a:r>
              <a:rPr lang="en-US" sz="2800" b="1" dirty="0"/>
              <a:t>deep learning</a:t>
            </a:r>
            <a:r>
              <a:rPr lang="en-US" sz="2800" dirty="0"/>
              <a:t>.</a:t>
            </a:r>
          </a:p>
        </p:txBody>
      </p:sp>
      <p:pic>
        <p:nvPicPr>
          <p:cNvPr id="7" name="Picture 6" descr="A graph on a paper&#10;&#10;AI-generated content may be incorrect.">
            <a:extLst>
              <a:ext uri="{FF2B5EF4-FFF2-40B4-BE49-F238E27FC236}">
                <a16:creationId xmlns:a16="http://schemas.microsoft.com/office/drawing/2014/main" id="{F966FFD5-B6AE-7691-BC95-A6122A1CD8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11" t="939" b="16094"/>
          <a:stretch/>
        </p:blipFill>
        <p:spPr>
          <a:xfrm>
            <a:off x="0" y="3238500"/>
            <a:ext cx="4807451" cy="3366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4845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2236" y="1035611"/>
            <a:ext cx="5667201" cy="622260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76">
              <a:lnSpc>
                <a:spcPts val="1399"/>
              </a:lnSpc>
              <a:spcBef>
                <a:spcPts val="52"/>
              </a:spcBef>
              <a:tabLst>
                <a:tab pos="545251" algn="l"/>
                <a:tab pos="855420" algn="l"/>
                <a:tab pos="2025629" algn="l"/>
                <a:tab pos="2629506" algn="l"/>
                <a:tab pos="2900976" algn="l"/>
                <a:tab pos="3420812" algn="l"/>
                <a:tab pos="3987145" algn="l"/>
              </a:tabLst>
            </a:pPr>
            <a:r>
              <a:rPr sz="1342" spc="-30" dirty="0">
                <a:solidFill>
                  <a:srgbClr val="FF644E"/>
                </a:solidFill>
              </a:rPr>
              <a:t>LO</a:t>
            </a:r>
            <a:r>
              <a:rPr sz="1342" spc="-234" dirty="0">
                <a:solidFill>
                  <a:srgbClr val="FF644E"/>
                </a:solidFill>
              </a:rPr>
              <a:t> </a:t>
            </a:r>
            <a:r>
              <a:rPr sz="1342" spc="-93" dirty="0">
                <a:solidFill>
                  <a:srgbClr val="FF644E"/>
                </a:solidFill>
              </a:rPr>
              <a:t>T</a:t>
            </a:r>
            <a:r>
              <a:rPr sz="1342" spc="-186" dirty="0">
                <a:solidFill>
                  <a:srgbClr val="FF644E"/>
                </a:solidFill>
              </a:rPr>
              <a:t> </a:t>
            </a:r>
            <a:r>
              <a:rPr sz="1342" spc="11" dirty="0">
                <a:solidFill>
                  <a:srgbClr val="FF644E"/>
                </a:solidFill>
              </a:rPr>
              <a:t>S</a:t>
            </a:r>
            <a:r>
              <a:rPr sz="1342" dirty="0">
                <a:solidFill>
                  <a:srgbClr val="FF644E"/>
                </a:solidFill>
              </a:rPr>
              <a:t>	</a:t>
            </a:r>
            <a:r>
              <a:rPr sz="1342" spc="-134" dirty="0">
                <a:solidFill>
                  <a:srgbClr val="FF644E"/>
                </a:solidFill>
              </a:rPr>
              <a:t>O</a:t>
            </a:r>
            <a:r>
              <a:rPr sz="1342" spc="-180" dirty="0">
                <a:solidFill>
                  <a:srgbClr val="FF644E"/>
                </a:solidFill>
              </a:rPr>
              <a:t> </a:t>
            </a:r>
            <a:r>
              <a:rPr sz="1342" spc="-173" dirty="0">
                <a:solidFill>
                  <a:srgbClr val="FF644E"/>
                </a:solidFill>
              </a:rPr>
              <a:t>F</a:t>
            </a:r>
            <a:r>
              <a:rPr sz="1342" dirty="0">
                <a:solidFill>
                  <a:srgbClr val="FF644E"/>
                </a:solidFill>
              </a:rPr>
              <a:t>	</a:t>
            </a:r>
            <a:r>
              <a:rPr sz="1342" spc="-191" dirty="0">
                <a:solidFill>
                  <a:srgbClr val="FF644E"/>
                </a:solidFill>
              </a:rPr>
              <a:t>[</a:t>
            </a:r>
            <a:r>
              <a:rPr sz="1342" spc="-180" dirty="0">
                <a:solidFill>
                  <a:srgbClr val="FF644E"/>
                </a:solidFill>
              </a:rPr>
              <a:t> </a:t>
            </a:r>
            <a:r>
              <a:rPr sz="1342" spc="-134" dirty="0">
                <a:solidFill>
                  <a:srgbClr val="FF644E"/>
                </a:solidFill>
              </a:rPr>
              <a:t>O</a:t>
            </a:r>
            <a:r>
              <a:rPr sz="1342" spc="-177" dirty="0">
                <a:solidFill>
                  <a:srgbClr val="FF644E"/>
                </a:solidFill>
              </a:rPr>
              <a:t> </a:t>
            </a:r>
            <a:r>
              <a:rPr sz="1342" spc="-75" dirty="0">
                <a:solidFill>
                  <a:srgbClr val="FF644E"/>
                </a:solidFill>
              </a:rPr>
              <a:t>N</a:t>
            </a:r>
            <a:r>
              <a:rPr sz="1342" spc="-177" dirty="0">
                <a:solidFill>
                  <a:srgbClr val="FF644E"/>
                </a:solidFill>
              </a:rPr>
              <a:t> </a:t>
            </a:r>
            <a:r>
              <a:rPr sz="1342" spc="-9" dirty="0">
                <a:solidFill>
                  <a:srgbClr val="FF644E"/>
                </a:solidFill>
              </a:rPr>
              <a:t>-</a:t>
            </a:r>
            <a:r>
              <a:rPr sz="1342" spc="-177" dirty="0">
                <a:solidFill>
                  <a:srgbClr val="FF644E"/>
                </a:solidFill>
              </a:rPr>
              <a:t> </a:t>
            </a:r>
            <a:r>
              <a:rPr sz="1342" spc="-118" dirty="0">
                <a:solidFill>
                  <a:srgbClr val="FF644E"/>
                </a:solidFill>
              </a:rPr>
              <a:t>G</a:t>
            </a:r>
            <a:r>
              <a:rPr sz="1342" spc="-177" dirty="0">
                <a:solidFill>
                  <a:srgbClr val="FF644E"/>
                </a:solidFill>
              </a:rPr>
              <a:t> </a:t>
            </a:r>
            <a:r>
              <a:rPr sz="1342" spc="-134" dirty="0">
                <a:solidFill>
                  <a:srgbClr val="FF644E"/>
                </a:solidFill>
              </a:rPr>
              <a:t>O</a:t>
            </a:r>
            <a:r>
              <a:rPr sz="1342" spc="-177" dirty="0">
                <a:solidFill>
                  <a:srgbClr val="FF644E"/>
                </a:solidFill>
              </a:rPr>
              <a:t> </a:t>
            </a:r>
            <a:r>
              <a:rPr sz="1342" spc="-14" dirty="0">
                <a:solidFill>
                  <a:srgbClr val="FF644E"/>
                </a:solidFill>
              </a:rPr>
              <a:t>I</a:t>
            </a:r>
            <a:r>
              <a:rPr sz="1342" spc="-177" dirty="0">
                <a:solidFill>
                  <a:srgbClr val="FF644E"/>
                </a:solidFill>
              </a:rPr>
              <a:t> </a:t>
            </a:r>
            <a:r>
              <a:rPr sz="1342" spc="-75" dirty="0">
                <a:solidFill>
                  <a:srgbClr val="FF644E"/>
                </a:solidFill>
              </a:rPr>
              <a:t>N</a:t>
            </a:r>
            <a:r>
              <a:rPr sz="1342" spc="-177" dirty="0">
                <a:solidFill>
                  <a:srgbClr val="FF644E"/>
                </a:solidFill>
              </a:rPr>
              <a:t> </a:t>
            </a:r>
            <a:r>
              <a:rPr sz="1342" spc="-118" dirty="0">
                <a:solidFill>
                  <a:srgbClr val="FF644E"/>
                </a:solidFill>
              </a:rPr>
              <a:t>G</a:t>
            </a:r>
            <a:r>
              <a:rPr sz="1342" spc="-177" dirty="0">
                <a:solidFill>
                  <a:srgbClr val="FF644E"/>
                </a:solidFill>
              </a:rPr>
              <a:t> </a:t>
            </a:r>
            <a:r>
              <a:rPr sz="1342" spc="-214" dirty="0">
                <a:solidFill>
                  <a:srgbClr val="FF644E"/>
                </a:solidFill>
              </a:rPr>
              <a:t>]</a:t>
            </a:r>
            <a:r>
              <a:rPr sz="1342" dirty="0">
                <a:solidFill>
                  <a:srgbClr val="FF644E"/>
                </a:solidFill>
              </a:rPr>
              <a:t>	</a:t>
            </a:r>
            <a:r>
              <a:rPr sz="1342" spc="-180" dirty="0">
                <a:solidFill>
                  <a:srgbClr val="FF644E"/>
                </a:solidFill>
              </a:rPr>
              <a:t>W</a:t>
            </a:r>
            <a:r>
              <a:rPr sz="1342" spc="-177" dirty="0">
                <a:solidFill>
                  <a:srgbClr val="FF644E"/>
                </a:solidFill>
              </a:rPr>
              <a:t> </a:t>
            </a:r>
            <a:r>
              <a:rPr sz="1342" spc="-134" dirty="0">
                <a:solidFill>
                  <a:srgbClr val="FF644E"/>
                </a:solidFill>
              </a:rPr>
              <a:t>O</a:t>
            </a:r>
            <a:r>
              <a:rPr sz="1342" spc="-177" dirty="0">
                <a:solidFill>
                  <a:srgbClr val="FF644E"/>
                </a:solidFill>
              </a:rPr>
              <a:t> </a:t>
            </a:r>
            <a:r>
              <a:rPr sz="1342" spc="-77" dirty="0">
                <a:solidFill>
                  <a:srgbClr val="FF644E"/>
                </a:solidFill>
              </a:rPr>
              <a:t>R</a:t>
            </a:r>
            <a:r>
              <a:rPr sz="1342" spc="-177" dirty="0">
                <a:solidFill>
                  <a:srgbClr val="FF644E"/>
                </a:solidFill>
              </a:rPr>
              <a:t> </a:t>
            </a:r>
            <a:r>
              <a:rPr sz="1342" spc="-23" dirty="0">
                <a:solidFill>
                  <a:srgbClr val="FF644E"/>
                </a:solidFill>
              </a:rPr>
              <a:t>K</a:t>
            </a:r>
            <a:r>
              <a:rPr sz="1342" dirty="0">
                <a:solidFill>
                  <a:srgbClr val="FF644E"/>
                </a:solidFill>
              </a:rPr>
              <a:t>	</a:t>
            </a:r>
            <a:r>
              <a:rPr sz="1342" spc="-14" dirty="0">
                <a:solidFill>
                  <a:srgbClr val="FF644E"/>
                </a:solidFill>
              </a:rPr>
              <a:t>I</a:t>
            </a:r>
            <a:r>
              <a:rPr sz="1342" spc="-177" dirty="0">
                <a:solidFill>
                  <a:srgbClr val="FF644E"/>
                </a:solidFill>
              </a:rPr>
              <a:t> </a:t>
            </a:r>
            <a:r>
              <a:rPr sz="1342" spc="-23" dirty="0">
                <a:solidFill>
                  <a:srgbClr val="FF644E"/>
                </a:solidFill>
              </a:rPr>
              <a:t>N</a:t>
            </a:r>
            <a:r>
              <a:rPr sz="1342" dirty="0">
                <a:solidFill>
                  <a:srgbClr val="FF644E"/>
                </a:solidFill>
              </a:rPr>
              <a:t>	</a:t>
            </a:r>
            <a:r>
              <a:rPr sz="1342" spc="-93" dirty="0">
                <a:solidFill>
                  <a:srgbClr val="FF644E"/>
                </a:solidFill>
              </a:rPr>
              <a:t>T</a:t>
            </a:r>
            <a:r>
              <a:rPr sz="1342" spc="-177" dirty="0">
                <a:solidFill>
                  <a:srgbClr val="FF644E"/>
                </a:solidFill>
              </a:rPr>
              <a:t> </a:t>
            </a:r>
            <a:r>
              <a:rPr sz="1342" spc="-96" dirty="0">
                <a:solidFill>
                  <a:srgbClr val="FF644E"/>
                </a:solidFill>
              </a:rPr>
              <a:t>H</a:t>
            </a:r>
            <a:r>
              <a:rPr sz="1342" spc="-177" dirty="0">
                <a:solidFill>
                  <a:srgbClr val="FF644E"/>
                </a:solidFill>
              </a:rPr>
              <a:t> </a:t>
            </a:r>
            <a:r>
              <a:rPr sz="1342" spc="-14" dirty="0">
                <a:solidFill>
                  <a:srgbClr val="FF644E"/>
                </a:solidFill>
              </a:rPr>
              <a:t>I</a:t>
            </a:r>
            <a:r>
              <a:rPr sz="1342" spc="-175" dirty="0">
                <a:solidFill>
                  <a:srgbClr val="FF644E"/>
                </a:solidFill>
              </a:rPr>
              <a:t> </a:t>
            </a:r>
            <a:r>
              <a:rPr sz="1342" spc="11" dirty="0">
                <a:solidFill>
                  <a:srgbClr val="FF644E"/>
                </a:solidFill>
              </a:rPr>
              <a:t>S</a:t>
            </a:r>
            <a:r>
              <a:rPr sz="1342" dirty="0">
                <a:solidFill>
                  <a:srgbClr val="FF644E"/>
                </a:solidFill>
              </a:rPr>
              <a:t>	</a:t>
            </a:r>
            <a:r>
              <a:rPr sz="1342" spc="-45" dirty="0">
                <a:solidFill>
                  <a:srgbClr val="FF644E"/>
                </a:solidFill>
              </a:rPr>
              <a:t>A</a:t>
            </a:r>
            <a:r>
              <a:rPr sz="1342" spc="-177" dirty="0">
                <a:solidFill>
                  <a:srgbClr val="FF644E"/>
                </a:solidFill>
              </a:rPr>
              <a:t> </a:t>
            </a:r>
            <a:r>
              <a:rPr sz="1342" spc="-77" dirty="0">
                <a:solidFill>
                  <a:srgbClr val="FF644E"/>
                </a:solidFill>
              </a:rPr>
              <a:t>R</a:t>
            </a:r>
            <a:r>
              <a:rPr sz="1342" spc="-177" dirty="0">
                <a:solidFill>
                  <a:srgbClr val="FF644E"/>
                </a:solidFill>
              </a:rPr>
              <a:t> </a:t>
            </a:r>
            <a:r>
              <a:rPr sz="1342" spc="-109" dirty="0">
                <a:solidFill>
                  <a:srgbClr val="FF644E"/>
                </a:solidFill>
              </a:rPr>
              <a:t>E</a:t>
            </a:r>
            <a:r>
              <a:rPr sz="1342" spc="-175" dirty="0">
                <a:solidFill>
                  <a:srgbClr val="FF644E"/>
                </a:solidFill>
              </a:rPr>
              <a:t> </a:t>
            </a:r>
            <a:r>
              <a:rPr sz="1342" spc="-23" dirty="0">
                <a:solidFill>
                  <a:srgbClr val="FF644E"/>
                </a:solidFill>
              </a:rPr>
              <a:t>A</a:t>
            </a:r>
            <a:r>
              <a:rPr sz="1342" dirty="0">
                <a:solidFill>
                  <a:srgbClr val="FF644E"/>
                </a:solidFill>
              </a:rPr>
              <a:t>	</a:t>
            </a:r>
            <a:r>
              <a:rPr sz="1342" spc="-23" dirty="0">
                <a:solidFill>
                  <a:srgbClr val="FF644E"/>
                </a:solidFill>
              </a:rPr>
              <a:t>…</a:t>
            </a:r>
            <a:endParaRPr sz="1342"/>
          </a:p>
          <a:p>
            <a:pPr marL="5776">
              <a:lnSpc>
                <a:spcPts val="3391"/>
              </a:lnSpc>
            </a:pPr>
            <a:r>
              <a:rPr spc="-305" dirty="0"/>
              <a:t>One</a:t>
            </a:r>
            <a:r>
              <a:rPr spc="-207" dirty="0"/>
              <a:t> </a:t>
            </a:r>
            <a:r>
              <a:rPr spc="-291" dirty="0"/>
              <a:t>major</a:t>
            </a:r>
            <a:r>
              <a:rPr spc="-207" dirty="0"/>
              <a:t> </a:t>
            </a:r>
            <a:r>
              <a:rPr spc="-125" dirty="0"/>
              <a:t>issue</a:t>
            </a:r>
            <a:r>
              <a:rPr spc="-205" dirty="0"/>
              <a:t> </a:t>
            </a:r>
            <a:r>
              <a:rPr spc="-305" dirty="0"/>
              <a:t>with</a:t>
            </a:r>
            <a:r>
              <a:rPr spc="-207" dirty="0"/>
              <a:t> </a:t>
            </a:r>
            <a:r>
              <a:rPr spc="-197" dirty="0"/>
              <a:t>mini-</a:t>
            </a:r>
            <a:r>
              <a:rPr spc="-241" dirty="0"/>
              <a:t>batch</a:t>
            </a:r>
            <a:r>
              <a:rPr spc="-207" dirty="0"/>
              <a:t> </a:t>
            </a:r>
            <a:r>
              <a:rPr spc="-159" dirty="0"/>
              <a:t>SGD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05425" y="3015195"/>
            <a:ext cx="3591172" cy="1005667"/>
            <a:chOff x="1550956" y="4744878"/>
            <a:chExt cx="7895590" cy="22110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44141" y="5026539"/>
              <a:ext cx="7266794" cy="168917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82369" y="4776291"/>
              <a:ext cx="7832725" cy="2148205"/>
            </a:xfrm>
            <a:custGeom>
              <a:avLst/>
              <a:gdLst/>
              <a:ahLst/>
              <a:cxnLst/>
              <a:rect l="l" t="t" r="r" b="b"/>
              <a:pathLst>
                <a:path w="7832725" h="2148204">
                  <a:moveTo>
                    <a:pt x="0" y="0"/>
                  </a:moveTo>
                  <a:lnTo>
                    <a:pt x="7832222" y="0"/>
                  </a:lnTo>
                  <a:lnTo>
                    <a:pt x="7832222" y="2147967"/>
                  </a:lnTo>
                  <a:lnTo>
                    <a:pt x="0" y="2147967"/>
                  </a:lnTo>
                  <a:lnTo>
                    <a:pt x="0" y="0"/>
                  </a:lnTo>
                  <a:close/>
                </a:path>
              </a:pathLst>
            </a:custGeom>
            <a:ln w="628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869"/>
              <a:endParaRPr sz="819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06096" y="1845247"/>
            <a:ext cx="3589728" cy="1031949"/>
            <a:chOff x="1552430" y="2172617"/>
            <a:chExt cx="7892415" cy="226885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67578" y="2350368"/>
              <a:ext cx="7567591" cy="188149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583842" y="2204030"/>
              <a:ext cx="7829550" cy="2205990"/>
            </a:xfrm>
            <a:custGeom>
              <a:avLst/>
              <a:gdLst/>
              <a:ahLst/>
              <a:cxnLst/>
              <a:rect l="l" t="t" r="r" b="b"/>
              <a:pathLst>
                <a:path w="7829550" h="2205990">
                  <a:moveTo>
                    <a:pt x="0" y="0"/>
                  </a:moveTo>
                  <a:lnTo>
                    <a:pt x="0" y="2205430"/>
                  </a:lnTo>
                  <a:lnTo>
                    <a:pt x="7829277" y="2205430"/>
                  </a:lnTo>
                  <a:lnTo>
                    <a:pt x="7829277" y="0"/>
                  </a:lnTo>
                  <a:lnTo>
                    <a:pt x="0" y="0"/>
                  </a:lnTo>
                  <a:close/>
                </a:path>
              </a:pathLst>
            </a:custGeom>
            <a:ln w="628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869"/>
              <a:endParaRPr sz="819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985618" y="3049673"/>
            <a:ext cx="3591172" cy="1246542"/>
            <a:chOff x="10961435" y="4820682"/>
            <a:chExt cx="7895590" cy="274066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66144" y="5008966"/>
              <a:ext cx="7622804" cy="239491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992848" y="4852095"/>
              <a:ext cx="7832725" cy="2677795"/>
            </a:xfrm>
            <a:custGeom>
              <a:avLst/>
              <a:gdLst/>
              <a:ahLst/>
              <a:cxnLst/>
              <a:rect l="l" t="t" r="r" b="b"/>
              <a:pathLst>
                <a:path w="7832725" h="2677795">
                  <a:moveTo>
                    <a:pt x="0" y="0"/>
                  </a:moveTo>
                  <a:lnTo>
                    <a:pt x="7832222" y="0"/>
                  </a:lnTo>
                  <a:lnTo>
                    <a:pt x="7832222" y="2677281"/>
                  </a:lnTo>
                  <a:lnTo>
                    <a:pt x="0" y="2677281"/>
                  </a:lnTo>
                  <a:lnTo>
                    <a:pt x="0" y="0"/>
                  </a:lnTo>
                  <a:close/>
                </a:path>
              </a:pathLst>
            </a:custGeom>
            <a:ln w="628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869"/>
              <a:endParaRPr sz="819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985618" y="4512356"/>
            <a:ext cx="3591172" cy="1260116"/>
            <a:chOff x="10961435" y="8036554"/>
            <a:chExt cx="7895590" cy="2770505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076615" y="8214305"/>
              <a:ext cx="7612333" cy="228914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0992848" y="8067967"/>
              <a:ext cx="7832725" cy="2707640"/>
            </a:xfrm>
            <a:custGeom>
              <a:avLst/>
              <a:gdLst/>
              <a:ahLst/>
              <a:cxnLst/>
              <a:rect l="l" t="t" r="r" b="b"/>
              <a:pathLst>
                <a:path w="7832725" h="2707640">
                  <a:moveTo>
                    <a:pt x="0" y="0"/>
                  </a:moveTo>
                  <a:lnTo>
                    <a:pt x="7832222" y="0"/>
                  </a:lnTo>
                  <a:lnTo>
                    <a:pt x="7832222" y="2707255"/>
                  </a:lnTo>
                  <a:lnTo>
                    <a:pt x="0" y="2707255"/>
                  </a:lnTo>
                  <a:lnTo>
                    <a:pt x="0" y="0"/>
                  </a:lnTo>
                  <a:close/>
                </a:path>
              </a:pathLst>
            </a:custGeom>
            <a:ln w="628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869"/>
              <a:endParaRPr sz="819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705422" y="4159006"/>
            <a:ext cx="3591172" cy="1613341"/>
            <a:chOff x="1550950" y="7259675"/>
            <a:chExt cx="7895590" cy="3547110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39426" y="7542196"/>
              <a:ext cx="7476212" cy="283543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582363" y="7291088"/>
              <a:ext cx="7832725" cy="3484245"/>
            </a:xfrm>
            <a:custGeom>
              <a:avLst/>
              <a:gdLst/>
              <a:ahLst/>
              <a:cxnLst/>
              <a:rect l="l" t="t" r="r" b="b"/>
              <a:pathLst>
                <a:path w="7832725" h="3484245">
                  <a:moveTo>
                    <a:pt x="0" y="0"/>
                  </a:moveTo>
                  <a:lnTo>
                    <a:pt x="7832222" y="0"/>
                  </a:lnTo>
                  <a:lnTo>
                    <a:pt x="7832222" y="3484135"/>
                  </a:lnTo>
                  <a:lnTo>
                    <a:pt x="0" y="3484135"/>
                  </a:lnTo>
                  <a:lnTo>
                    <a:pt x="0" y="0"/>
                  </a:lnTo>
                  <a:close/>
                </a:path>
              </a:pathLst>
            </a:custGeom>
            <a:ln w="628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869"/>
              <a:endParaRPr sz="819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4985618" y="1842907"/>
            <a:ext cx="3591172" cy="990648"/>
            <a:chOff x="10961435" y="2167473"/>
            <a:chExt cx="7895590" cy="2178050"/>
          </a:xfrm>
        </p:grpSpPr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223207" y="2387317"/>
              <a:ext cx="7361032" cy="180056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0992848" y="2198885"/>
              <a:ext cx="7832725" cy="2115185"/>
            </a:xfrm>
            <a:custGeom>
              <a:avLst/>
              <a:gdLst/>
              <a:ahLst/>
              <a:cxnLst/>
              <a:rect l="l" t="t" r="r" b="b"/>
              <a:pathLst>
                <a:path w="7832725" h="2115185">
                  <a:moveTo>
                    <a:pt x="0" y="0"/>
                  </a:moveTo>
                  <a:lnTo>
                    <a:pt x="7832222" y="0"/>
                  </a:lnTo>
                  <a:lnTo>
                    <a:pt x="7832222" y="2114618"/>
                  </a:lnTo>
                  <a:lnTo>
                    <a:pt x="0" y="2114618"/>
                  </a:lnTo>
                  <a:lnTo>
                    <a:pt x="0" y="0"/>
                  </a:lnTo>
                  <a:close/>
                </a:path>
              </a:pathLst>
            </a:custGeom>
            <a:ln w="628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415869"/>
              <a:endParaRPr sz="819" kern="0">
                <a:solidFill>
                  <a:sysClr val="windowText" lastClr="000000"/>
                </a:solidFill>
              </a:endParaRP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497" y="1057414"/>
            <a:ext cx="3348078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191" dirty="0"/>
              <a:t>Diminishing</a:t>
            </a:r>
            <a:r>
              <a:rPr spc="-211" dirty="0"/>
              <a:t> </a:t>
            </a:r>
            <a:r>
              <a:rPr spc="-252" dirty="0"/>
              <a:t>returns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4764" y="2018328"/>
            <a:ext cx="4744886" cy="324079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225628" y="5646443"/>
            <a:ext cx="1808005" cy="236502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 defTabSz="415869">
              <a:spcBef>
                <a:spcPts val="43"/>
              </a:spcBef>
            </a:pPr>
            <a:r>
              <a:rPr sz="1501" kern="0" spc="-50" dirty="0">
                <a:solidFill>
                  <a:srgbClr val="A7A7A7"/>
                </a:solidFill>
                <a:latin typeface="Gill Sans MT"/>
                <a:cs typeface="Gill Sans MT"/>
              </a:rPr>
              <a:t>Yin</a:t>
            </a:r>
            <a:r>
              <a:rPr sz="1501" kern="0" spc="-66" dirty="0">
                <a:solidFill>
                  <a:srgbClr val="A7A7A7"/>
                </a:solidFill>
                <a:latin typeface="Gill Sans MT"/>
                <a:cs typeface="Gill Sans MT"/>
              </a:rPr>
              <a:t> </a:t>
            </a:r>
            <a:r>
              <a:rPr sz="1501" kern="0" spc="-39" dirty="0">
                <a:solidFill>
                  <a:srgbClr val="A7A7A7"/>
                </a:solidFill>
                <a:latin typeface="Gill Sans MT"/>
                <a:cs typeface="Gill Sans MT"/>
              </a:rPr>
              <a:t>et</a:t>
            </a:r>
            <a:r>
              <a:rPr sz="1501" kern="0" spc="-66" dirty="0">
                <a:solidFill>
                  <a:srgbClr val="A7A7A7"/>
                </a:solidFill>
                <a:latin typeface="Gill Sans MT"/>
                <a:cs typeface="Gill Sans MT"/>
              </a:rPr>
              <a:t> </a:t>
            </a:r>
            <a:r>
              <a:rPr sz="1501" kern="0" spc="25" dirty="0">
                <a:solidFill>
                  <a:srgbClr val="A7A7A7"/>
                </a:solidFill>
                <a:latin typeface="Gill Sans MT"/>
                <a:cs typeface="Gill Sans MT"/>
              </a:rPr>
              <a:t>al.,</a:t>
            </a:r>
            <a:r>
              <a:rPr sz="1501" kern="0" spc="-66" dirty="0">
                <a:solidFill>
                  <a:srgbClr val="A7A7A7"/>
                </a:solidFill>
                <a:latin typeface="Gill Sans MT"/>
                <a:cs typeface="Gill Sans MT"/>
              </a:rPr>
              <a:t> </a:t>
            </a:r>
            <a:r>
              <a:rPr sz="1501" kern="0" spc="-80" dirty="0">
                <a:solidFill>
                  <a:srgbClr val="A7A7A7"/>
                </a:solidFill>
                <a:latin typeface="Gill Sans MT"/>
                <a:cs typeface="Gill Sans MT"/>
              </a:rPr>
              <a:t>AISTATS</a:t>
            </a:r>
            <a:r>
              <a:rPr sz="1501" kern="0" spc="-66" dirty="0">
                <a:solidFill>
                  <a:srgbClr val="A7A7A7"/>
                </a:solidFill>
                <a:latin typeface="Gill Sans MT"/>
                <a:cs typeface="Gill Sans MT"/>
              </a:rPr>
              <a:t> </a:t>
            </a:r>
            <a:r>
              <a:rPr sz="1501" kern="0" spc="-9" dirty="0">
                <a:solidFill>
                  <a:srgbClr val="A7A7A7"/>
                </a:solidFill>
                <a:latin typeface="Gill Sans MT"/>
                <a:cs typeface="Gill Sans MT"/>
              </a:rPr>
              <a:t>2018</a:t>
            </a:r>
            <a:endParaRPr sz="1501" kern="0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9600" y="2427600"/>
            <a:ext cx="1769015" cy="585547"/>
          </a:xfrm>
          <a:prstGeom prst="rect">
            <a:avLst/>
          </a:prstGeom>
        </p:spPr>
        <p:txBody>
          <a:bodyPr vert="horz" wrap="square" lIns="0" tIns="21084" rIns="0" bIns="0" rtlCol="0">
            <a:spAutoFit/>
          </a:bodyPr>
          <a:lstStyle/>
          <a:p>
            <a:pPr marL="5776" marR="2310" defTabSz="415869">
              <a:lnSpc>
                <a:spcPts val="2174"/>
              </a:lnSpc>
              <a:spcBef>
                <a:spcPts val="166"/>
              </a:spcBef>
            </a:pPr>
            <a:r>
              <a:rPr sz="1865" kern="0" spc="-2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larger</a:t>
            </a:r>
            <a:r>
              <a:rPr sz="1865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2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batches</a:t>
            </a:r>
            <a:r>
              <a:rPr sz="1865" kern="0" spc="-8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22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= </a:t>
            </a:r>
            <a:r>
              <a:rPr sz="1865" kern="0" spc="-6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better</a:t>
            </a:r>
            <a:r>
              <a:rPr sz="1865" kern="0" spc="-8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1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potential</a:t>
            </a:r>
            <a:r>
              <a:rPr sz="1865" kern="0" spc="-8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3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for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9601" y="2980050"/>
            <a:ext cx="685944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 defTabSz="415869">
              <a:spcBef>
                <a:spcPts val="55"/>
              </a:spcBef>
            </a:pPr>
            <a:r>
              <a:rPr sz="1865" kern="0" spc="5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scaling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32746" y="3142592"/>
            <a:ext cx="932884" cy="114372"/>
            <a:chOff x="2490467" y="5024975"/>
            <a:chExt cx="2051050" cy="251460"/>
          </a:xfrm>
        </p:grpSpPr>
        <p:sp>
          <p:nvSpPr>
            <p:cNvPr id="8" name="object 8"/>
            <p:cNvSpPr/>
            <p:nvPr/>
          </p:nvSpPr>
          <p:spPr>
            <a:xfrm>
              <a:off x="2490467" y="5150626"/>
              <a:ext cx="1831339" cy="0"/>
            </a:xfrm>
            <a:custGeom>
              <a:avLst/>
              <a:gdLst/>
              <a:ahLst/>
              <a:cxnLst/>
              <a:rect l="l" t="t" r="r" b="b"/>
              <a:pathLst>
                <a:path w="1831339">
                  <a:moveTo>
                    <a:pt x="0" y="0"/>
                  </a:moveTo>
                  <a:lnTo>
                    <a:pt x="1799436" y="0"/>
                  </a:lnTo>
                  <a:lnTo>
                    <a:pt x="1830848" y="0"/>
                  </a:lnTo>
                </a:path>
              </a:pathLst>
            </a:custGeom>
            <a:ln w="62825">
              <a:solidFill>
                <a:srgbClr val="FF644E"/>
              </a:solidFill>
            </a:ln>
          </p:spPr>
          <p:txBody>
            <a:bodyPr wrap="square" lIns="0" tIns="0" rIns="0" bIns="0" rtlCol="0"/>
            <a:lstStyle/>
            <a:p>
              <a:pPr defTabSz="415869"/>
              <a:endParaRPr sz="81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4289903" y="5024975"/>
              <a:ext cx="251460" cy="251460"/>
            </a:xfrm>
            <a:custGeom>
              <a:avLst/>
              <a:gdLst/>
              <a:ahLst/>
              <a:cxnLst/>
              <a:rect l="l" t="t" r="r" b="b"/>
              <a:pathLst>
                <a:path w="251460" h="251460">
                  <a:moveTo>
                    <a:pt x="0" y="0"/>
                  </a:moveTo>
                  <a:lnTo>
                    <a:pt x="0" y="251301"/>
                  </a:lnTo>
                  <a:lnTo>
                    <a:pt x="251301" y="1256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44E"/>
            </a:solidFill>
          </p:spPr>
          <p:txBody>
            <a:bodyPr wrap="square" lIns="0" tIns="0" rIns="0" bIns="0" rtlCol="0"/>
            <a:lstStyle/>
            <a:p>
              <a:pPr defTabSz="415869"/>
              <a:endParaRPr sz="819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105503" y="2313300"/>
            <a:ext cx="1849017" cy="867967"/>
          </a:xfrm>
          <a:prstGeom prst="rect">
            <a:avLst/>
          </a:prstGeom>
        </p:spPr>
        <p:txBody>
          <a:bodyPr vert="horz" wrap="square" lIns="0" tIns="21373" rIns="0" bIns="0" rtlCol="0">
            <a:spAutoFit/>
          </a:bodyPr>
          <a:lstStyle/>
          <a:p>
            <a:pPr marL="5776" marR="2310" indent="65268" algn="r" defTabSz="415869">
              <a:lnSpc>
                <a:spcPts val="2174"/>
              </a:lnSpc>
              <a:spcBef>
                <a:spcPts val="168"/>
              </a:spcBef>
            </a:pPr>
            <a:r>
              <a:rPr sz="1865" kern="0" spc="-15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BUT</a:t>
            </a:r>
            <a:r>
              <a:rPr sz="1865" kern="0" spc="-12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when</a:t>
            </a:r>
            <a:r>
              <a:rPr sz="1865" kern="0" spc="-8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6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you</a:t>
            </a:r>
            <a:r>
              <a:rPr sz="1865" kern="0" spc="-8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3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also </a:t>
            </a:r>
            <a:r>
              <a:rPr sz="1865" kern="0" spc="-1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consider</a:t>
            </a:r>
            <a:r>
              <a:rPr sz="1865" kern="0" spc="-9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training </a:t>
            </a:r>
            <a:r>
              <a:rPr sz="1865" kern="0" spc="-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accuracy,</a:t>
            </a:r>
            <a:r>
              <a:rPr sz="1865" kern="0" spc="-10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speedups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25699" y="3141975"/>
            <a:ext cx="1228346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 defTabSz="415869">
              <a:spcBef>
                <a:spcPts val="55"/>
              </a:spcBef>
            </a:pP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may</a:t>
            </a:r>
            <a:r>
              <a:rPr sz="1865" kern="0" spc="-8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saturate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983263" y="3324044"/>
            <a:ext cx="647243" cy="114372"/>
            <a:chOff x="15353479" y="5423918"/>
            <a:chExt cx="1423035" cy="251460"/>
          </a:xfrm>
        </p:grpSpPr>
        <p:sp>
          <p:nvSpPr>
            <p:cNvPr id="13" name="object 13"/>
            <p:cNvSpPr/>
            <p:nvPr/>
          </p:nvSpPr>
          <p:spPr>
            <a:xfrm>
              <a:off x="15573368" y="5549569"/>
              <a:ext cx="1202690" cy="0"/>
            </a:xfrm>
            <a:custGeom>
              <a:avLst/>
              <a:gdLst/>
              <a:ahLst/>
              <a:cxnLst/>
              <a:rect l="l" t="t" r="r" b="b"/>
              <a:pathLst>
                <a:path w="1202690">
                  <a:moveTo>
                    <a:pt x="0" y="0"/>
                  </a:moveTo>
                  <a:lnTo>
                    <a:pt x="31412" y="0"/>
                  </a:lnTo>
                  <a:lnTo>
                    <a:pt x="1202598" y="0"/>
                  </a:lnTo>
                </a:path>
              </a:pathLst>
            </a:custGeom>
            <a:ln w="62825">
              <a:solidFill>
                <a:srgbClr val="FF644E"/>
              </a:solidFill>
            </a:ln>
          </p:spPr>
          <p:txBody>
            <a:bodyPr wrap="square" lIns="0" tIns="0" rIns="0" bIns="0" rtlCol="0"/>
            <a:lstStyle/>
            <a:p>
              <a:pPr defTabSz="415869"/>
              <a:endParaRPr sz="81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15353479" y="5423918"/>
              <a:ext cx="251460" cy="251460"/>
            </a:xfrm>
            <a:custGeom>
              <a:avLst/>
              <a:gdLst/>
              <a:ahLst/>
              <a:cxnLst/>
              <a:rect l="l" t="t" r="r" b="b"/>
              <a:pathLst>
                <a:path w="251459" h="251460">
                  <a:moveTo>
                    <a:pt x="251301" y="0"/>
                  </a:moveTo>
                  <a:lnTo>
                    <a:pt x="0" y="125650"/>
                  </a:lnTo>
                  <a:lnTo>
                    <a:pt x="251301" y="251301"/>
                  </a:lnTo>
                  <a:lnTo>
                    <a:pt x="251301" y="0"/>
                  </a:lnTo>
                  <a:close/>
                </a:path>
              </a:pathLst>
            </a:custGeom>
            <a:solidFill>
              <a:srgbClr val="FF644E"/>
            </a:solidFill>
          </p:spPr>
          <p:txBody>
            <a:bodyPr wrap="square" lIns="0" tIns="0" rIns="0" bIns="0" rtlCol="0"/>
            <a:lstStyle/>
            <a:p>
              <a:pPr defTabSz="415869"/>
              <a:endParaRPr sz="819" kern="0">
                <a:solidFill>
                  <a:sysClr val="windowText" lastClr="000000"/>
                </a:solidFill>
              </a:endParaRP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497" y="1057414"/>
            <a:ext cx="3348078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191" dirty="0"/>
              <a:t>Diminishing</a:t>
            </a:r>
            <a:r>
              <a:rPr spc="-211" dirty="0"/>
              <a:t> </a:t>
            </a:r>
            <a:r>
              <a:rPr spc="-252" dirty="0"/>
              <a:t>returns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22578" y="4981174"/>
            <a:ext cx="7111005" cy="920850"/>
          </a:xfrm>
          <a:prstGeom prst="rect">
            <a:avLst/>
          </a:prstGeom>
        </p:spPr>
        <p:txBody>
          <a:bodyPr vert="horz" wrap="square" lIns="0" tIns="22817" rIns="0" bIns="0" rtlCol="0">
            <a:spAutoFit/>
          </a:bodyPr>
          <a:lstStyle/>
          <a:p>
            <a:pPr marL="759539" marR="1632864" indent="-754052" defTabSz="415869">
              <a:lnSpc>
                <a:spcPts val="2174"/>
              </a:lnSpc>
              <a:spcBef>
                <a:spcPts val="180"/>
              </a:spcBef>
            </a:pP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large</a:t>
            </a:r>
            <a:r>
              <a:rPr sz="1865" kern="0" spc="-7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2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batches</a:t>
            </a:r>
            <a:r>
              <a:rPr sz="1865" kern="0" spc="-7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perform</a:t>
            </a:r>
            <a:r>
              <a:rPr sz="1865" kern="0" spc="-7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worse</a:t>
            </a:r>
            <a:r>
              <a:rPr sz="1865" kern="0" spc="-7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when</a:t>
            </a:r>
            <a:r>
              <a:rPr sz="1865" kern="0" spc="-7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4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they</a:t>
            </a:r>
            <a:r>
              <a:rPr sz="1865" kern="0" spc="-7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2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lack</a:t>
            </a:r>
            <a:r>
              <a:rPr sz="1865" kern="0" spc="-7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3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diversity,</a:t>
            </a:r>
            <a:r>
              <a:rPr sz="1865" kern="0" spc="-7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4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e.g., </a:t>
            </a:r>
            <a:r>
              <a:rPr sz="1865" kern="0" spc="-5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when</a:t>
            </a:r>
            <a:r>
              <a:rPr sz="1865" kern="0" spc="-8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2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data</a:t>
            </a:r>
            <a:r>
              <a:rPr sz="1865" kern="0" spc="-9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7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is</a:t>
            </a:r>
            <a:r>
              <a:rPr sz="1865" kern="0" spc="-9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1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replicated</a:t>
            </a:r>
            <a:r>
              <a:rPr sz="1865" kern="0" spc="-9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2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by</a:t>
            </a:r>
            <a:r>
              <a:rPr sz="1865" kern="0" spc="-9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some</a:t>
            </a:r>
            <a:r>
              <a:rPr sz="1865" kern="0" spc="-9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1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factor</a:t>
            </a:r>
            <a:r>
              <a:rPr sz="1865" kern="0" spc="-9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1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(R)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marR="2310" algn="r" defTabSz="415869">
              <a:spcBef>
                <a:spcPts val="755"/>
              </a:spcBef>
            </a:pPr>
            <a:r>
              <a:rPr sz="1501" kern="0" spc="-50" dirty="0">
                <a:solidFill>
                  <a:srgbClr val="A7A7A7"/>
                </a:solidFill>
                <a:latin typeface="Gill Sans MT"/>
                <a:cs typeface="Gill Sans MT"/>
              </a:rPr>
              <a:t>Yin</a:t>
            </a:r>
            <a:r>
              <a:rPr sz="1501" kern="0" spc="-66" dirty="0">
                <a:solidFill>
                  <a:srgbClr val="A7A7A7"/>
                </a:solidFill>
                <a:latin typeface="Gill Sans MT"/>
                <a:cs typeface="Gill Sans MT"/>
              </a:rPr>
              <a:t> </a:t>
            </a:r>
            <a:r>
              <a:rPr sz="1501" kern="0" spc="-39" dirty="0">
                <a:solidFill>
                  <a:srgbClr val="A7A7A7"/>
                </a:solidFill>
                <a:latin typeface="Gill Sans MT"/>
                <a:cs typeface="Gill Sans MT"/>
              </a:rPr>
              <a:t>et</a:t>
            </a:r>
            <a:r>
              <a:rPr sz="1501" kern="0" spc="-66" dirty="0">
                <a:solidFill>
                  <a:srgbClr val="A7A7A7"/>
                </a:solidFill>
                <a:latin typeface="Gill Sans MT"/>
                <a:cs typeface="Gill Sans MT"/>
              </a:rPr>
              <a:t> </a:t>
            </a:r>
            <a:r>
              <a:rPr sz="1501" kern="0" spc="25" dirty="0">
                <a:solidFill>
                  <a:srgbClr val="A7A7A7"/>
                </a:solidFill>
                <a:latin typeface="Gill Sans MT"/>
                <a:cs typeface="Gill Sans MT"/>
              </a:rPr>
              <a:t>al.,</a:t>
            </a:r>
            <a:r>
              <a:rPr sz="1501" kern="0" spc="-66" dirty="0">
                <a:solidFill>
                  <a:srgbClr val="A7A7A7"/>
                </a:solidFill>
                <a:latin typeface="Gill Sans MT"/>
                <a:cs typeface="Gill Sans MT"/>
              </a:rPr>
              <a:t> </a:t>
            </a:r>
            <a:r>
              <a:rPr sz="1501" kern="0" spc="-80" dirty="0">
                <a:solidFill>
                  <a:srgbClr val="A7A7A7"/>
                </a:solidFill>
                <a:latin typeface="Gill Sans MT"/>
                <a:cs typeface="Gill Sans MT"/>
              </a:rPr>
              <a:t>AISTATS</a:t>
            </a:r>
            <a:r>
              <a:rPr sz="1501" kern="0" spc="-66" dirty="0">
                <a:solidFill>
                  <a:srgbClr val="A7A7A7"/>
                </a:solidFill>
                <a:latin typeface="Gill Sans MT"/>
                <a:cs typeface="Gill Sans MT"/>
              </a:rPr>
              <a:t> </a:t>
            </a:r>
            <a:r>
              <a:rPr sz="1501" kern="0" spc="-9" dirty="0">
                <a:solidFill>
                  <a:srgbClr val="A7A7A7"/>
                </a:solidFill>
                <a:latin typeface="Gill Sans MT"/>
                <a:cs typeface="Gill Sans MT"/>
              </a:rPr>
              <a:t>2018</a:t>
            </a:r>
            <a:endParaRPr sz="1501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90471" y="2704519"/>
            <a:ext cx="2932415" cy="220078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9792" y="3197566"/>
            <a:ext cx="4012483" cy="114377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156633" y="1958826"/>
            <a:ext cx="5011871" cy="5712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algn="ctr" defTabSz="415869">
              <a:lnSpc>
                <a:spcPts val="2206"/>
              </a:lnSpc>
              <a:spcBef>
                <a:spcPts val="55"/>
              </a:spcBef>
            </a:pPr>
            <a:r>
              <a:rPr sz="1865" kern="0" spc="9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</a:t>
            </a:r>
            <a:r>
              <a:rPr sz="1865" kern="0" spc="-8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1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potential</a:t>
            </a:r>
            <a:r>
              <a:rPr sz="1865" kern="0" spc="-8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explanation:</a:t>
            </a:r>
            <a:r>
              <a:rPr sz="1865" kern="0" spc="-8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14" dirty="0">
                <a:solidFill>
                  <a:srgbClr val="FF644E"/>
                </a:solidFill>
                <a:latin typeface="Gill Sans MT"/>
                <a:cs typeface="Gill Sans MT"/>
              </a:rPr>
              <a:t>gradient</a:t>
            </a:r>
            <a:r>
              <a:rPr sz="1865" kern="0" spc="-84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865" kern="0" spc="-36" dirty="0">
                <a:solidFill>
                  <a:srgbClr val="FF644E"/>
                </a:solidFill>
                <a:latin typeface="Gill Sans MT"/>
                <a:cs typeface="Gill Sans MT"/>
              </a:rPr>
              <a:t>diversity</a:t>
            </a:r>
            <a:r>
              <a:rPr sz="1865" kern="0" spc="-36" dirty="0">
                <a:solidFill>
                  <a:sysClr val="windowText" lastClr="000000"/>
                </a:solidFill>
                <a:latin typeface="Gill Sans MT"/>
                <a:cs typeface="Gill Sans MT"/>
              </a:rPr>
              <a:t>,</a:t>
            </a:r>
            <a:r>
              <a:rPr sz="1865" kern="0" spc="-8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18" dirty="0">
                <a:solidFill>
                  <a:sysClr val="windowText" lastClr="000000"/>
                </a:solidFill>
                <a:latin typeface="Gill Sans MT"/>
                <a:cs typeface="Gill Sans MT"/>
              </a:rPr>
              <a:t>i.e.,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algn="ctr" defTabSz="415869">
              <a:lnSpc>
                <a:spcPts val="2206"/>
              </a:lnSpc>
            </a:pPr>
            <a:r>
              <a:rPr sz="1865" kern="0" spc="-4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the</a:t>
            </a:r>
            <a:r>
              <a:rPr sz="1865" kern="0" spc="-8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2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degree</a:t>
            </a:r>
            <a:r>
              <a:rPr sz="1865" kern="0" spc="-8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9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to</a:t>
            </a:r>
            <a:r>
              <a:rPr sz="1865" kern="0" spc="-8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27" dirty="0">
                <a:solidFill>
                  <a:sysClr val="windowText" lastClr="000000"/>
                </a:solidFill>
                <a:latin typeface="Gill Sans MT"/>
                <a:cs typeface="Gill Sans MT"/>
              </a:rPr>
              <a:t>which</a:t>
            </a:r>
            <a:r>
              <a:rPr sz="1865" kern="0" spc="-8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gradients</a:t>
            </a:r>
            <a:r>
              <a:rPr sz="1865" kern="0" spc="-8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differ</a:t>
            </a:r>
            <a:r>
              <a:rPr sz="1865" kern="0" spc="-8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5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from</a:t>
            </a:r>
            <a:r>
              <a:rPr sz="1865" kern="0" spc="-8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4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one</a:t>
            </a:r>
            <a:r>
              <a:rPr sz="1865" kern="0" spc="-8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1865" kern="0" spc="-14" dirty="0">
                <a:solidFill>
                  <a:sysClr val="windowText" lastClr="000000"/>
                </a:solidFill>
                <a:latin typeface="Gill Sans MT"/>
                <a:cs typeface="Gill Sans MT"/>
              </a:rPr>
              <a:t>another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2237" y="1187452"/>
            <a:ext cx="2997360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209" dirty="0"/>
              <a:t>Poor</a:t>
            </a:r>
            <a:r>
              <a:rPr spc="-207" dirty="0"/>
              <a:t> </a:t>
            </a:r>
            <a:r>
              <a:rPr spc="-225" dirty="0"/>
              <a:t>generalization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2237" y="1035612"/>
            <a:ext cx="1212750" cy="213238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76" defTabSz="415869">
              <a:spcBef>
                <a:spcPts val="52"/>
              </a:spcBef>
              <a:tabLst>
                <a:tab pos="560268" algn="l"/>
              </a:tabLst>
            </a:pPr>
            <a:r>
              <a:rPr sz="1342" b="1" kern="0" spc="75" dirty="0">
                <a:solidFill>
                  <a:srgbClr val="FF644E"/>
                </a:solidFill>
                <a:latin typeface="Trebuchet MS"/>
                <a:cs typeface="Trebuchet MS"/>
              </a:rPr>
              <a:t>EVEN</a:t>
            </a:r>
            <a:r>
              <a:rPr sz="1342" b="1" kern="0" dirty="0">
                <a:solidFill>
                  <a:srgbClr val="FF644E"/>
                </a:solidFill>
                <a:latin typeface="Trebuchet MS"/>
                <a:cs typeface="Trebuchet MS"/>
              </a:rPr>
              <a:t>	</a:t>
            </a:r>
            <a:r>
              <a:rPr sz="1342" b="1" kern="0" spc="80" dirty="0">
                <a:solidFill>
                  <a:srgbClr val="FF644E"/>
                </a:solidFill>
                <a:latin typeface="Trebuchet MS"/>
                <a:cs typeface="Trebuchet MS"/>
              </a:rPr>
              <a:t>WORSE </a:t>
            </a:r>
            <a:endParaRPr sz="1342" kern="0">
              <a:solidFill>
                <a:sysClr val="windowText" lastClr="000000"/>
              </a:solidFill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6264" y="2223574"/>
            <a:ext cx="6778772" cy="275785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30264" y="5183375"/>
            <a:ext cx="7803304" cy="704498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 defTabSz="415869">
              <a:spcBef>
                <a:spcPts val="55"/>
              </a:spcBef>
            </a:pPr>
            <a:r>
              <a:rPr sz="1865" i="1" kern="0" spc="27" dirty="0">
                <a:solidFill>
                  <a:srgbClr val="FF644E"/>
                </a:solidFill>
                <a:latin typeface="Gill Sans MT"/>
                <a:cs typeface="Gill Sans MT"/>
              </a:rPr>
              <a:t>generalization</a:t>
            </a:r>
            <a:r>
              <a:rPr sz="1865" i="1" kern="0" spc="-89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865" i="1" kern="0" spc="39" dirty="0">
                <a:solidFill>
                  <a:srgbClr val="FF644E"/>
                </a:solidFill>
                <a:latin typeface="Gill Sans MT"/>
                <a:cs typeface="Gill Sans MT"/>
              </a:rPr>
              <a:t>gap:</a:t>
            </a:r>
            <a:r>
              <a:rPr sz="1865" i="1" kern="0" spc="-86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865" i="1" kern="0" spc="32" dirty="0">
                <a:solidFill>
                  <a:srgbClr val="FF644E"/>
                </a:solidFill>
                <a:latin typeface="Gill Sans MT"/>
                <a:cs typeface="Gill Sans MT"/>
              </a:rPr>
              <a:t>large</a:t>
            </a:r>
            <a:r>
              <a:rPr sz="1865" i="1" kern="0" spc="-86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865" i="1" kern="0" spc="34" dirty="0">
                <a:solidFill>
                  <a:srgbClr val="FF644E"/>
                </a:solidFill>
                <a:latin typeface="Gill Sans MT"/>
                <a:cs typeface="Gill Sans MT"/>
              </a:rPr>
              <a:t>batch</a:t>
            </a:r>
            <a:r>
              <a:rPr sz="1865" i="1" kern="0" spc="-86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865" i="1" kern="0" spc="48" dirty="0">
                <a:solidFill>
                  <a:srgbClr val="FF644E"/>
                </a:solidFill>
                <a:latin typeface="Gill Sans MT"/>
                <a:cs typeface="Gill Sans MT"/>
              </a:rPr>
              <a:t>methods</a:t>
            </a:r>
            <a:r>
              <a:rPr sz="1865" i="1" kern="0" spc="-86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865" i="1" kern="0" spc="52" dirty="0">
                <a:solidFill>
                  <a:srgbClr val="FF644E"/>
                </a:solidFill>
                <a:latin typeface="Gill Sans MT"/>
                <a:cs typeface="Gill Sans MT"/>
              </a:rPr>
              <a:t>converge</a:t>
            </a:r>
            <a:r>
              <a:rPr sz="1865" i="1" kern="0" spc="-89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865" i="1" kern="0" spc="41" dirty="0">
                <a:solidFill>
                  <a:srgbClr val="FF644E"/>
                </a:solidFill>
                <a:latin typeface="Gill Sans MT"/>
                <a:cs typeface="Gill Sans MT"/>
              </a:rPr>
              <a:t>to</a:t>
            </a:r>
            <a:r>
              <a:rPr sz="1865" i="1" kern="0" spc="-86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865" i="1" kern="0" spc="39" dirty="0">
                <a:solidFill>
                  <a:srgbClr val="FF644E"/>
                </a:solidFill>
                <a:latin typeface="Gill Sans MT"/>
                <a:cs typeface="Gill Sans MT"/>
              </a:rPr>
              <a:t>lower</a:t>
            </a:r>
            <a:r>
              <a:rPr sz="1865" i="1" kern="0" spc="-86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865" i="1" kern="0" spc="61" dirty="0">
                <a:solidFill>
                  <a:srgbClr val="FF644E"/>
                </a:solidFill>
                <a:latin typeface="Gill Sans MT"/>
                <a:cs typeface="Gill Sans MT"/>
              </a:rPr>
              <a:t>test</a:t>
            </a:r>
            <a:r>
              <a:rPr sz="1865" i="1" kern="0" spc="-86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865" i="1" kern="0" spc="41" dirty="0">
                <a:solidFill>
                  <a:srgbClr val="FF644E"/>
                </a:solidFill>
                <a:latin typeface="Gill Sans MT"/>
                <a:cs typeface="Gill Sans MT"/>
              </a:rPr>
              <a:t>accuracy</a:t>
            </a:r>
            <a:endParaRPr sz="1865" kern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marR="2310" algn="r" defTabSz="415869">
              <a:spcBef>
                <a:spcPts val="1399"/>
              </a:spcBef>
            </a:pPr>
            <a:r>
              <a:rPr sz="1501" kern="0" spc="-50" dirty="0">
                <a:solidFill>
                  <a:srgbClr val="A6AAA9"/>
                </a:solidFill>
                <a:latin typeface="Gill Sans MT"/>
                <a:cs typeface="Gill Sans MT"/>
              </a:rPr>
              <a:t>Keskar,</a:t>
            </a:r>
            <a:r>
              <a:rPr sz="1501" kern="0" spc="-59" dirty="0">
                <a:solidFill>
                  <a:srgbClr val="A6AAA9"/>
                </a:solidFill>
                <a:latin typeface="Gill Sans MT"/>
                <a:cs typeface="Gill Sans MT"/>
              </a:rPr>
              <a:t> </a:t>
            </a:r>
            <a:r>
              <a:rPr sz="1501" kern="0" spc="-39" dirty="0">
                <a:solidFill>
                  <a:srgbClr val="A6AAA9"/>
                </a:solidFill>
                <a:latin typeface="Gill Sans MT"/>
                <a:cs typeface="Gill Sans MT"/>
              </a:rPr>
              <a:t>et</a:t>
            </a:r>
            <a:r>
              <a:rPr sz="1501" kern="0" spc="-57" dirty="0">
                <a:solidFill>
                  <a:srgbClr val="A6AAA9"/>
                </a:solidFill>
                <a:latin typeface="Gill Sans MT"/>
                <a:cs typeface="Gill Sans MT"/>
              </a:rPr>
              <a:t> </a:t>
            </a:r>
            <a:r>
              <a:rPr sz="1501" kern="0" dirty="0">
                <a:solidFill>
                  <a:srgbClr val="A6AAA9"/>
                </a:solidFill>
                <a:latin typeface="Gill Sans MT"/>
                <a:cs typeface="Gill Sans MT"/>
              </a:rPr>
              <a:t>al,</a:t>
            </a:r>
            <a:r>
              <a:rPr sz="1501" kern="0" spc="-57" dirty="0">
                <a:solidFill>
                  <a:srgbClr val="A6AAA9"/>
                </a:solidFill>
                <a:latin typeface="Gill Sans MT"/>
                <a:cs typeface="Gill Sans MT"/>
              </a:rPr>
              <a:t> </a:t>
            </a:r>
            <a:r>
              <a:rPr sz="1501" kern="0" spc="-91" dirty="0">
                <a:solidFill>
                  <a:srgbClr val="A6AAA9"/>
                </a:solidFill>
                <a:latin typeface="Gill Sans MT"/>
                <a:cs typeface="Gill Sans MT"/>
              </a:rPr>
              <a:t>ICLR</a:t>
            </a:r>
            <a:r>
              <a:rPr sz="1501" kern="0" spc="-59" dirty="0">
                <a:solidFill>
                  <a:srgbClr val="A6AAA9"/>
                </a:solidFill>
                <a:latin typeface="Gill Sans MT"/>
                <a:cs typeface="Gill Sans MT"/>
              </a:rPr>
              <a:t> </a:t>
            </a:r>
            <a:r>
              <a:rPr sz="1501" kern="0" spc="-9" dirty="0">
                <a:solidFill>
                  <a:srgbClr val="A6AAA9"/>
                </a:solidFill>
                <a:latin typeface="Gill Sans MT"/>
                <a:cs typeface="Gill Sans MT"/>
              </a:rPr>
              <a:t>2017</a:t>
            </a:r>
            <a:endParaRPr sz="1501" kern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853649" y="2729932"/>
            <a:ext cx="3799410" cy="2476332"/>
            <a:chOff x="8472675" y="4117696"/>
            <a:chExt cx="8353425" cy="5444490"/>
          </a:xfrm>
        </p:grpSpPr>
        <p:sp>
          <p:nvSpPr>
            <p:cNvPr id="7" name="object 7"/>
            <p:cNvSpPr/>
            <p:nvPr/>
          </p:nvSpPr>
          <p:spPr>
            <a:xfrm>
              <a:off x="12234235" y="4285386"/>
              <a:ext cx="4449445" cy="5245735"/>
            </a:xfrm>
            <a:custGeom>
              <a:avLst/>
              <a:gdLst/>
              <a:ahLst/>
              <a:cxnLst/>
              <a:rect l="l" t="t" r="r" b="b"/>
              <a:pathLst>
                <a:path w="4449444" h="5245734">
                  <a:moveTo>
                    <a:pt x="0" y="5245358"/>
                  </a:moveTo>
                  <a:lnTo>
                    <a:pt x="4428792" y="23955"/>
                  </a:lnTo>
                  <a:lnTo>
                    <a:pt x="4449112" y="0"/>
                  </a:lnTo>
                </a:path>
              </a:pathLst>
            </a:custGeom>
            <a:ln w="62825">
              <a:solidFill>
                <a:srgbClr val="FF644E"/>
              </a:solidFill>
            </a:ln>
          </p:spPr>
          <p:txBody>
            <a:bodyPr wrap="square" lIns="0" tIns="0" rIns="0" bIns="0" rtlCol="0"/>
            <a:lstStyle/>
            <a:p>
              <a:pPr defTabSz="415869"/>
              <a:endParaRPr sz="81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6567202" y="4117696"/>
              <a:ext cx="258445" cy="273050"/>
            </a:xfrm>
            <a:custGeom>
              <a:avLst/>
              <a:gdLst/>
              <a:ahLst/>
              <a:cxnLst/>
              <a:rect l="l" t="t" r="r" b="b"/>
              <a:pathLst>
                <a:path w="258444" h="273050">
                  <a:moveTo>
                    <a:pt x="258379" y="0"/>
                  </a:moveTo>
                  <a:lnTo>
                    <a:pt x="0" y="110368"/>
                  </a:lnTo>
                  <a:lnTo>
                    <a:pt x="191648" y="272923"/>
                  </a:lnTo>
                  <a:lnTo>
                    <a:pt x="258379" y="0"/>
                  </a:lnTo>
                  <a:close/>
                </a:path>
              </a:pathLst>
            </a:custGeom>
            <a:solidFill>
              <a:srgbClr val="FF644E"/>
            </a:solidFill>
          </p:spPr>
          <p:txBody>
            <a:bodyPr wrap="square" lIns="0" tIns="0" rIns="0" bIns="0" rtlCol="0"/>
            <a:lstStyle/>
            <a:p>
              <a:pPr defTabSz="415869"/>
              <a:endParaRPr sz="81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8595114" y="5039795"/>
              <a:ext cx="385445" cy="4408805"/>
            </a:xfrm>
            <a:custGeom>
              <a:avLst/>
              <a:gdLst/>
              <a:ahLst/>
              <a:cxnLst/>
              <a:rect l="l" t="t" r="r" b="b"/>
              <a:pathLst>
                <a:path w="385445" h="4408805">
                  <a:moveTo>
                    <a:pt x="385334" y="4408756"/>
                  </a:moveTo>
                  <a:lnTo>
                    <a:pt x="2735" y="31293"/>
                  </a:lnTo>
                  <a:lnTo>
                    <a:pt x="0" y="0"/>
                  </a:lnTo>
                </a:path>
              </a:pathLst>
            </a:custGeom>
            <a:ln w="62825">
              <a:solidFill>
                <a:srgbClr val="FF644E"/>
              </a:solidFill>
            </a:ln>
          </p:spPr>
          <p:txBody>
            <a:bodyPr wrap="square" lIns="0" tIns="0" rIns="0" bIns="0" rtlCol="0"/>
            <a:lstStyle/>
            <a:p>
              <a:pPr defTabSz="415869"/>
              <a:endParaRPr sz="819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8472675" y="4820742"/>
              <a:ext cx="250825" cy="261620"/>
            </a:xfrm>
            <a:custGeom>
              <a:avLst/>
              <a:gdLst/>
              <a:ahLst/>
              <a:cxnLst/>
              <a:rect l="l" t="t" r="r" b="b"/>
              <a:pathLst>
                <a:path w="250825" h="261620">
                  <a:moveTo>
                    <a:pt x="103293" y="0"/>
                  </a:moveTo>
                  <a:lnTo>
                    <a:pt x="0" y="261287"/>
                  </a:lnTo>
                  <a:lnTo>
                    <a:pt x="250347" y="239407"/>
                  </a:lnTo>
                  <a:lnTo>
                    <a:pt x="103293" y="0"/>
                  </a:lnTo>
                  <a:close/>
                </a:path>
              </a:pathLst>
            </a:custGeom>
            <a:solidFill>
              <a:srgbClr val="FF644E"/>
            </a:solidFill>
          </p:spPr>
          <p:txBody>
            <a:bodyPr wrap="square" lIns="0" tIns="0" rIns="0" bIns="0" rtlCol="0"/>
            <a:lstStyle/>
            <a:p>
              <a:pPr defTabSz="415869"/>
              <a:endParaRPr sz="819" kern="0">
                <a:solidFill>
                  <a:sysClr val="windowText" lastClr="000000"/>
                </a:solidFill>
              </a:endParaRP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C08A6-AED8-6FEF-0200-D6EADDC2D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C6E28F3-CE7F-8715-404F-0EE50B9534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497" y="1057414"/>
            <a:ext cx="3348078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262" dirty="0"/>
              <a:t>Outline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23C3712-FC5B-ADA1-5B5F-BBBD5BCC2CFD}"/>
              </a:ext>
            </a:extLst>
          </p:cNvPr>
          <p:cNvSpPr txBox="1"/>
          <p:nvPr/>
        </p:nvSpPr>
        <p:spPr>
          <a:xfrm>
            <a:off x="828674" y="2665279"/>
            <a:ext cx="7915275" cy="3124776"/>
          </a:xfrm>
          <a:prstGeom prst="rect">
            <a:avLst/>
          </a:prstGeom>
        </p:spPr>
        <p:txBody>
          <a:bodyPr vert="horz" wrap="square" lIns="0" tIns="135456" rIns="0" bIns="0" rtlCol="0">
            <a:spAutoFit/>
          </a:bodyPr>
          <a:lstStyle/>
          <a:p>
            <a:pPr marL="255875" indent="-250099" defTabSz="415869">
              <a:spcBef>
                <a:spcPts val="1067"/>
              </a:spcBef>
              <a:buFontTx/>
              <a:buAutoNum type="arabicPeriod"/>
              <a:tabLst>
                <a:tab pos="255875" algn="l"/>
              </a:tabLst>
            </a:pPr>
            <a:r>
              <a:rPr sz="3200" kern="0" spc="5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Scaling</a:t>
            </a:r>
            <a:r>
              <a:rPr sz="3200" kern="0" spc="-9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up</a:t>
            </a:r>
            <a:r>
              <a:rPr sz="3200" kern="0" spc="-8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3200" kern="0" spc="-2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Mb-</a:t>
            </a:r>
            <a:r>
              <a:rPr sz="3200" kern="0" spc="-15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SGD:</a:t>
            </a:r>
            <a:r>
              <a:rPr sz="3200" kern="0" spc="-9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3200" kern="0" spc="-3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Communication</a:t>
            </a:r>
            <a:r>
              <a:rPr sz="3200" kern="0" spc="-8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3200" kern="0" spc="2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schemes</a:t>
            </a:r>
            <a:endParaRPr lang="en-US" sz="3200" kern="0" spc="25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marL="255875" indent="-250099" defTabSz="415869">
              <a:spcBef>
                <a:spcPts val="1067"/>
              </a:spcBef>
              <a:buFontTx/>
              <a:buAutoNum type="arabicPeriod"/>
              <a:tabLst>
                <a:tab pos="255875" algn="l"/>
              </a:tabLst>
            </a:pPr>
            <a:r>
              <a:rPr lang="en-US" sz="3200" kern="0" spc="25" dirty="0" err="1">
                <a:solidFill>
                  <a:sysClr val="windowText" lastClr="000000"/>
                </a:solidFill>
                <a:latin typeface="Gill Sans MT"/>
                <a:cs typeface="Gill Sans MT"/>
              </a:rPr>
              <a:t>AllReduce</a:t>
            </a:r>
            <a:r>
              <a:rPr lang="en-US" sz="3200" kern="0" spc="2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for GPU clusters</a:t>
            </a:r>
            <a:endParaRPr sz="3200" kern="0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marL="255875" indent="-250099" defTabSz="415869">
              <a:spcBef>
                <a:spcPts val="1026"/>
              </a:spcBef>
              <a:buFontTx/>
              <a:buAutoNum type="arabicPeriod"/>
              <a:tabLst>
                <a:tab pos="255875" algn="l"/>
              </a:tabLst>
            </a:pPr>
            <a:r>
              <a:rPr sz="3200" kern="0" dirty="0">
                <a:latin typeface="Gill Sans MT"/>
                <a:cs typeface="Gill Sans MT"/>
              </a:rPr>
              <a:t>Challenges</a:t>
            </a:r>
            <a:r>
              <a:rPr sz="3200" kern="0" spc="-52" dirty="0">
                <a:latin typeface="Gill Sans MT"/>
                <a:cs typeface="Gill Sans MT"/>
              </a:rPr>
              <a:t> </a:t>
            </a:r>
            <a:r>
              <a:rPr sz="3200" kern="0" spc="-57" dirty="0">
                <a:latin typeface="Gill Sans MT"/>
                <a:cs typeface="Gill Sans MT"/>
              </a:rPr>
              <a:t>with </a:t>
            </a:r>
            <a:r>
              <a:rPr sz="3200" kern="0" spc="-27" dirty="0">
                <a:latin typeface="Gill Sans MT"/>
                <a:cs typeface="Gill Sans MT"/>
              </a:rPr>
              <a:t>mini-</a:t>
            </a:r>
            <a:r>
              <a:rPr sz="3200" kern="0" spc="-5" dirty="0">
                <a:latin typeface="Gill Sans MT"/>
                <a:cs typeface="Gill Sans MT"/>
              </a:rPr>
              <a:t>batch</a:t>
            </a:r>
            <a:r>
              <a:rPr lang="en-US" sz="3200" kern="0" spc="-5" dirty="0">
                <a:latin typeface="Gill Sans MT"/>
                <a:cs typeface="Gill Sans MT"/>
              </a:rPr>
              <a:t>ed optimization</a:t>
            </a:r>
          </a:p>
          <a:p>
            <a:pPr marL="255875" indent="-250099" defTabSz="415869">
              <a:spcBef>
                <a:spcPts val="1026"/>
              </a:spcBef>
              <a:buFontTx/>
              <a:buAutoNum type="arabicPeriod"/>
              <a:tabLst>
                <a:tab pos="255875" algn="l"/>
              </a:tabLst>
            </a:pPr>
            <a:r>
              <a:rPr lang="en-US" sz="3200" kern="0" spc="-5" dirty="0">
                <a:solidFill>
                  <a:srgbClr val="0070C0"/>
                </a:solidFill>
                <a:latin typeface="Gill Sans MT"/>
                <a:cs typeface="Gill Sans MT"/>
              </a:rPr>
              <a:t> Fine-tuning</a:t>
            </a:r>
          </a:p>
          <a:p>
            <a:pPr marL="255875" indent="-250099" defTabSz="415869">
              <a:spcBef>
                <a:spcPts val="1026"/>
              </a:spcBef>
              <a:buFontTx/>
              <a:buAutoNum type="arabicPeriod"/>
              <a:tabLst>
                <a:tab pos="255875" algn="l"/>
              </a:tabLst>
            </a:pPr>
            <a:r>
              <a:rPr lang="en-US" sz="3200" kern="0" spc="-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More on Modern optimizers  </a:t>
            </a:r>
            <a:endParaRPr sz="3200" kern="0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17313947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92EAF-7925-D912-42FA-91B992EC7D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8657" y="2651616"/>
            <a:ext cx="5796880" cy="923913"/>
          </a:xfrm>
        </p:spPr>
        <p:txBody>
          <a:bodyPr/>
          <a:lstStyle/>
          <a:p>
            <a:pPr algn="ctr"/>
            <a:r>
              <a:rPr lang="en-US" dirty="0"/>
              <a:t>Training in the Foundation Model Era: Fine-Tuning</a:t>
            </a:r>
          </a:p>
        </p:txBody>
      </p:sp>
    </p:spTree>
    <p:extLst>
      <p:ext uri="{BB962C8B-B14F-4D97-AF65-F5344CB8AC3E}">
        <p14:creationId xmlns:p14="http://schemas.microsoft.com/office/powerpoint/2010/main" val="36196547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496" y="1057414"/>
            <a:ext cx="8372591" cy="434786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5776">
              <a:spcBef>
                <a:spcPts val="61"/>
              </a:spcBef>
            </a:pPr>
            <a:r>
              <a:rPr sz="2774" spc="-428" dirty="0"/>
              <a:t>How</a:t>
            </a:r>
            <a:r>
              <a:rPr sz="2774" spc="-123" dirty="0"/>
              <a:t> </a:t>
            </a:r>
            <a:r>
              <a:rPr sz="2774" spc="-239" dirty="0"/>
              <a:t>are</a:t>
            </a:r>
            <a:r>
              <a:rPr sz="2774" spc="-123" dirty="0"/>
              <a:t> </a:t>
            </a:r>
            <a:r>
              <a:rPr sz="2774" spc="-197" dirty="0"/>
              <a:t>foundation</a:t>
            </a:r>
            <a:r>
              <a:rPr sz="2774" spc="-123" dirty="0"/>
              <a:t> </a:t>
            </a:r>
            <a:r>
              <a:rPr sz="2774" spc="-218" dirty="0"/>
              <a:t>models</a:t>
            </a:r>
            <a:r>
              <a:rPr sz="2774" spc="-123" dirty="0"/>
              <a:t> </a:t>
            </a:r>
            <a:r>
              <a:rPr sz="2774" spc="-164" dirty="0"/>
              <a:t>changing</a:t>
            </a:r>
            <a:r>
              <a:rPr sz="2774" spc="-123" dirty="0"/>
              <a:t> </a:t>
            </a:r>
            <a:r>
              <a:rPr sz="2774" spc="-223" dirty="0"/>
              <a:t>deep</a:t>
            </a:r>
            <a:r>
              <a:rPr sz="2774" spc="-121" dirty="0"/>
              <a:t> </a:t>
            </a:r>
            <a:r>
              <a:rPr sz="2774" spc="-141" dirty="0"/>
              <a:t>learning?</a:t>
            </a:r>
            <a:endParaRPr sz="2774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264" y="1993860"/>
            <a:ext cx="7768178" cy="303896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823222" y="5735946"/>
            <a:ext cx="4259498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>
              <a:spcBef>
                <a:spcPts val="55"/>
              </a:spcBef>
            </a:pPr>
            <a:r>
              <a:rPr sz="1114" dirty="0">
                <a:solidFill>
                  <a:srgbClr val="535353"/>
                </a:solidFill>
                <a:latin typeface="Gill Sans MT"/>
                <a:cs typeface="Gill Sans MT"/>
              </a:rPr>
              <a:t>https://dataforest.ai/blog/ai-</a:t>
            </a:r>
            <a:r>
              <a:rPr sz="1114" spc="-18" dirty="0">
                <a:solidFill>
                  <a:srgbClr val="535353"/>
                </a:solidFill>
                <a:latin typeface="Gill Sans MT"/>
                <a:cs typeface="Gill Sans MT"/>
              </a:rPr>
              <a:t>foundation-</a:t>
            </a:r>
            <a:r>
              <a:rPr sz="1114" spc="-14" dirty="0">
                <a:solidFill>
                  <a:srgbClr val="535353"/>
                </a:solidFill>
                <a:latin typeface="Gill Sans MT"/>
                <a:cs typeface="Gill Sans MT"/>
              </a:rPr>
              <a:t>models-</a:t>
            </a:r>
            <a:r>
              <a:rPr sz="1114" spc="-52" dirty="0">
                <a:solidFill>
                  <a:srgbClr val="535353"/>
                </a:solidFill>
                <a:latin typeface="Gill Sans MT"/>
                <a:cs typeface="Gill Sans MT"/>
              </a:rPr>
              <a:t>for-</a:t>
            </a:r>
            <a:r>
              <a:rPr sz="1114" dirty="0">
                <a:solidFill>
                  <a:srgbClr val="535353"/>
                </a:solidFill>
                <a:latin typeface="Gill Sans MT"/>
                <a:cs typeface="Gill Sans MT"/>
              </a:rPr>
              <a:t>big-business-</a:t>
            </a:r>
            <a:r>
              <a:rPr sz="1114" spc="-5" dirty="0">
                <a:solidFill>
                  <a:srgbClr val="535353"/>
                </a:solidFill>
                <a:latin typeface="Gill Sans MT"/>
                <a:cs typeface="Gill Sans MT"/>
              </a:rPr>
              <a:t>innovation</a:t>
            </a:r>
            <a:endParaRPr sz="1114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497" y="1057414"/>
            <a:ext cx="3348078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132" dirty="0"/>
              <a:t>Classical</a:t>
            </a:r>
            <a:r>
              <a:rPr spc="-127" dirty="0"/>
              <a:t> </a:t>
            </a:r>
            <a:r>
              <a:rPr spc="-423" dirty="0"/>
              <a:t>ML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751352" y="2819860"/>
            <a:ext cx="1341852" cy="1237010"/>
            <a:chOff x="10446375" y="4315412"/>
            <a:chExt cx="2950210" cy="27197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46375" y="4315412"/>
              <a:ext cx="2950152" cy="271961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477870" y="4325968"/>
              <a:ext cx="2887345" cy="2656840"/>
            </a:xfrm>
            <a:custGeom>
              <a:avLst/>
              <a:gdLst/>
              <a:ahLst/>
              <a:cxnLst/>
              <a:rect l="l" t="t" r="r" b="b"/>
              <a:pathLst>
                <a:path w="2887344" h="2656840">
                  <a:moveTo>
                    <a:pt x="2367917" y="0"/>
                  </a:moveTo>
                  <a:lnTo>
                    <a:pt x="519246" y="0"/>
                  </a:lnTo>
                  <a:lnTo>
                    <a:pt x="457131" y="589"/>
                  </a:lnTo>
                  <a:lnTo>
                    <a:pt x="402276" y="2189"/>
                  </a:lnTo>
                  <a:lnTo>
                    <a:pt x="354078" y="5304"/>
                  </a:lnTo>
                  <a:lnTo>
                    <a:pt x="311929" y="10440"/>
                  </a:lnTo>
                  <a:lnTo>
                    <a:pt x="243363" y="28794"/>
                  </a:lnTo>
                  <a:lnTo>
                    <a:pt x="195363" y="50365"/>
                  </a:lnTo>
                  <a:lnTo>
                    <a:pt x="151477" y="78393"/>
                  </a:lnTo>
                  <a:lnTo>
                    <a:pt x="112291" y="112292"/>
                  </a:lnTo>
                  <a:lnTo>
                    <a:pt x="78392" y="151476"/>
                  </a:lnTo>
                  <a:lnTo>
                    <a:pt x="50364" y="195360"/>
                  </a:lnTo>
                  <a:lnTo>
                    <a:pt x="28794" y="243358"/>
                  </a:lnTo>
                  <a:lnTo>
                    <a:pt x="10440" y="311926"/>
                  </a:lnTo>
                  <a:lnTo>
                    <a:pt x="5304" y="354075"/>
                  </a:lnTo>
                  <a:lnTo>
                    <a:pt x="2189" y="402274"/>
                  </a:lnTo>
                  <a:lnTo>
                    <a:pt x="589" y="457128"/>
                  </a:lnTo>
                  <a:lnTo>
                    <a:pt x="0" y="519243"/>
                  </a:lnTo>
                  <a:lnTo>
                    <a:pt x="0" y="2137376"/>
                  </a:lnTo>
                  <a:lnTo>
                    <a:pt x="589" y="2199491"/>
                  </a:lnTo>
                  <a:lnTo>
                    <a:pt x="2189" y="2254345"/>
                  </a:lnTo>
                  <a:lnTo>
                    <a:pt x="5304" y="2302544"/>
                  </a:lnTo>
                  <a:lnTo>
                    <a:pt x="10440" y="2344693"/>
                  </a:lnTo>
                  <a:lnTo>
                    <a:pt x="28794" y="2413261"/>
                  </a:lnTo>
                  <a:lnTo>
                    <a:pt x="50364" y="2461258"/>
                  </a:lnTo>
                  <a:lnTo>
                    <a:pt x="78392" y="2505142"/>
                  </a:lnTo>
                  <a:lnTo>
                    <a:pt x="112291" y="2544326"/>
                  </a:lnTo>
                  <a:lnTo>
                    <a:pt x="151477" y="2578226"/>
                  </a:lnTo>
                  <a:lnTo>
                    <a:pt x="195363" y="2606254"/>
                  </a:lnTo>
                  <a:lnTo>
                    <a:pt x="243363" y="2627825"/>
                  </a:lnTo>
                  <a:lnTo>
                    <a:pt x="311929" y="2646179"/>
                  </a:lnTo>
                  <a:lnTo>
                    <a:pt x="354078" y="2651315"/>
                  </a:lnTo>
                  <a:lnTo>
                    <a:pt x="402276" y="2654430"/>
                  </a:lnTo>
                  <a:lnTo>
                    <a:pt x="457131" y="2656030"/>
                  </a:lnTo>
                  <a:lnTo>
                    <a:pt x="519246" y="2656619"/>
                  </a:lnTo>
                  <a:lnTo>
                    <a:pt x="2367917" y="2656619"/>
                  </a:lnTo>
                  <a:lnTo>
                    <a:pt x="2430031" y="2656030"/>
                  </a:lnTo>
                  <a:lnTo>
                    <a:pt x="2484886" y="2654430"/>
                  </a:lnTo>
                  <a:lnTo>
                    <a:pt x="2533086" y="2651315"/>
                  </a:lnTo>
                  <a:lnTo>
                    <a:pt x="2575236" y="2646179"/>
                  </a:lnTo>
                  <a:lnTo>
                    <a:pt x="2643803" y="2627825"/>
                  </a:lnTo>
                  <a:lnTo>
                    <a:pt x="2691799" y="2606254"/>
                  </a:lnTo>
                  <a:lnTo>
                    <a:pt x="2735682" y="2578226"/>
                  </a:lnTo>
                  <a:lnTo>
                    <a:pt x="2774866" y="2544326"/>
                  </a:lnTo>
                  <a:lnTo>
                    <a:pt x="2808765" y="2505142"/>
                  </a:lnTo>
                  <a:lnTo>
                    <a:pt x="2836792" y="2461258"/>
                  </a:lnTo>
                  <a:lnTo>
                    <a:pt x="2858362" y="2413261"/>
                  </a:lnTo>
                  <a:lnTo>
                    <a:pt x="2876717" y="2344693"/>
                  </a:lnTo>
                  <a:lnTo>
                    <a:pt x="2881853" y="2302544"/>
                  </a:lnTo>
                  <a:lnTo>
                    <a:pt x="2884968" y="2254345"/>
                  </a:lnTo>
                  <a:lnTo>
                    <a:pt x="2886567" y="2199491"/>
                  </a:lnTo>
                  <a:lnTo>
                    <a:pt x="2887157" y="2137376"/>
                  </a:lnTo>
                  <a:lnTo>
                    <a:pt x="2887157" y="519243"/>
                  </a:lnTo>
                  <a:lnTo>
                    <a:pt x="2886567" y="457128"/>
                  </a:lnTo>
                  <a:lnTo>
                    <a:pt x="2884968" y="402274"/>
                  </a:lnTo>
                  <a:lnTo>
                    <a:pt x="2881853" y="354075"/>
                  </a:lnTo>
                  <a:lnTo>
                    <a:pt x="2876717" y="311926"/>
                  </a:lnTo>
                  <a:lnTo>
                    <a:pt x="2858362" y="243358"/>
                  </a:lnTo>
                  <a:lnTo>
                    <a:pt x="2836792" y="195360"/>
                  </a:lnTo>
                  <a:lnTo>
                    <a:pt x="2808765" y="151476"/>
                  </a:lnTo>
                  <a:lnTo>
                    <a:pt x="2774866" y="112292"/>
                  </a:lnTo>
                  <a:lnTo>
                    <a:pt x="2735682" y="78393"/>
                  </a:lnTo>
                  <a:lnTo>
                    <a:pt x="2691799" y="50365"/>
                  </a:lnTo>
                  <a:lnTo>
                    <a:pt x="2643803" y="28794"/>
                  </a:lnTo>
                  <a:lnTo>
                    <a:pt x="2575236" y="10440"/>
                  </a:lnTo>
                  <a:lnTo>
                    <a:pt x="2533086" y="5304"/>
                  </a:lnTo>
                  <a:lnTo>
                    <a:pt x="2484886" y="2189"/>
                  </a:lnTo>
                  <a:lnTo>
                    <a:pt x="2430031" y="589"/>
                  </a:lnTo>
                  <a:lnTo>
                    <a:pt x="2367917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>
              <a:endParaRPr sz="819"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15151" y="4424702"/>
              <a:ext cx="1938254" cy="193825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200826" y="3739582"/>
            <a:ext cx="443048" cy="219289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76">
              <a:spcBef>
                <a:spcPts val="45"/>
              </a:spcBef>
            </a:pPr>
            <a:r>
              <a:rPr sz="1387" spc="-20" dirty="0">
                <a:solidFill>
                  <a:srgbClr val="FFFFFF"/>
                </a:solidFill>
                <a:latin typeface="Gill Sans MT"/>
                <a:cs typeface="Gill Sans MT"/>
              </a:rPr>
              <a:t>model</a:t>
            </a:r>
            <a:endParaRPr sz="1387">
              <a:latin typeface="Gill Sans MT"/>
              <a:cs typeface="Gill Sans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17104" y="3150405"/>
            <a:ext cx="556829" cy="55682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135599" y="3708582"/>
            <a:ext cx="320011" cy="219289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76">
              <a:spcBef>
                <a:spcPts val="45"/>
              </a:spcBef>
            </a:pPr>
            <a:r>
              <a:rPr sz="1387" spc="-9" dirty="0">
                <a:latin typeface="Gill Sans MT"/>
                <a:cs typeface="Gill Sans MT"/>
              </a:rPr>
              <a:t>data</a:t>
            </a:r>
            <a:endParaRPr sz="1387">
              <a:latin typeface="Gill Sans MT"/>
              <a:cs typeface="Gill Sans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14497" y="3125966"/>
            <a:ext cx="625292" cy="259219"/>
          </a:xfrm>
          <a:prstGeom prst="rect">
            <a:avLst/>
          </a:prstGeom>
        </p:spPr>
        <p:txBody>
          <a:bodyPr vert="horz" wrap="square" lIns="0" tIns="7220" rIns="0" bIns="0" rtlCol="0">
            <a:spAutoFit/>
          </a:bodyPr>
          <a:lstStyle/>
          <a:p>
            <a:pPr marL="5776">
              <a:spcBef>
                <a:spcPts val="57"/>
              </a:spcBef>
            </a:pPr>
            <a:r>
              <a:rPr sz="1637" i="1" spc="20" dirty="0">
                <a:latin typeface="Gill Sans MT"/>
                <a:cs typeface="Gill Sans MT"/>
              </a:rPr>
              <a:t>training</a:t>
            </a:r>
            <a:endParaRPr sz="1637">
              <a:latin typeface="Gill Sans MT"/>
              <a:cs typeface="Gill Sans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549710" y="3398184"/>
            <a:ext cx="1240187" cy="114372"/>
            <a:chOff x="7804431" y="5586922"/>
            <a:chExt cx="2726690" cy="251460"/>
          </a:xfrm>
        </p:grpSpPr>
        <p:sp>
          <p:nvSpPr>
            <p:cNvPr id="12" name="object 12"/>
            <p:cNvSpPr/>
            <p:nvPr/>
          </p:nvSpPr>
          <p:spPr>
            <a:xfrm>
              <a:off x="7804431" y="5712572"/>
              <a:ext cx="2506980" cy="0"/>
            </a:xfrm>
            <a:custGeom>
              <a:avLst/>
              <a:gdLst/>
              <a:ahLst/>
              <a:cxnLst/>
              <a:rect l="l" t="t" r="r" b="b"/>
              <a:pathLst>
                <a:path w="2506979">
                  <a:moveTo>
                    <a:pt x="0" y="0"/>
                  </a:moveTo>
                  <a:lnTo>
                    <a:pt x="2475311" y="0"/>
                  </a:lnTo>
                  <a:lnTo>
                    <a:pt x="2506723" y="0"/>
                  </a:lnTo>
                </a:path>
              </a:pathLst>
            </a:custGeom>
            <a:ln w="628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79743" y="5586922"/>
              <a:ext cx="251460" cy="251460"/>
            </a:xfrm>
            <a:custGeom>
              <a:avLst/>
              <a:gdLst/>
              <a:ahLst/>
              <a:cxnLst/>
              <a:rect l="l" t="t" r="r" b="b"/>
              <a:pathLst>
                <a:path w="251459" h="251460">
                  <a:moveTo>
                    <a:pt x="0" y="0"/>
                  </a:moveTo>
                  <a:lnTo>
                    <a:pt x="0" y="251301"/>
                  </a:lnTo>
                  <a:lnTo>
                    <a:pt x="251297" y="1256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819"/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496" y="1057414"/>
            <a:ext cx="8141995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412" dirty="0"/>
              <a:t>ML</a:t>
            </a:r>
            <a:r>
              <a:rPr spc="-141" dirty="0"/>
              <a:t> </a:t>
            </a:r>
            <a:r>
              <a:rPr spc="-168" dirty="0"/>
              <a:t>in</a:t>
            </a:r>
            <a:r>
              <a:rPr spc="-141" dirty="0"/>
              <a:t> </a:t>
            </a:r>
            <a:r>
              <a:rPr spc="-273" dirty="0"/>
              <a:t>the</a:t>
            </a:r>
            <a:r>
              <a:rPr spc="-139" dirty="0"/>
              <a:t> </a:t>
            </a:r>
            <a:r>
              <a:rPr spc="-223" dirty="0"/>
              <a:t>foundation</a:t>
            </a:r>
            <a:r>
              <a:rPr spc="-141" dirty="0"/>
              <a:t> </a:t>
            </a:r>
            <a:r>
              <a:rPr spc="-309" dirty="0"/>
              <a:t>model</a:t>
            </a:r>
            <a:r>
              <a:rPr spc="-139" dirty="0"/>
              <a:t> </a:t>
            </a:r>
            <a:r>
              <a:rPr spc="-291" dirty="0"/>
              <a:t>era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2923440"/>
            <a:ext cx="3763308" cy="1976964"/>
            <a:chOff x="0" y="4543144"/>
            <a:chExt cx="8274050" cy="43465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543144"/>
              <a:ext cx="5359737" cy="434638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23701" y="4580854"/>
              <a:ext cx="2950152" cy="271961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55198" y="4591409"/>
              <a:ext cx="2887158" cy="265661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355198" y="4591409"/>
              <a:ext cx="2887345" cy="2656840"/>
            </a:xfrm>
            <a:custGeom>
              <a:avLst/>
              <a:gdLst/>
              <a:ahLst/>
              <a:cxnLst/>
              <a:rect l="l" t="t" r="r" b="b"/>
              <a:pathLst>
                <a:path w="2887345" h="2656840">
                  <a:moveTo>
                    <a:pt x="2367914" y="0"/>
                  </a:moveTo>
                  <a:lnTo>
                    <a:pt x="519243" y="0"/>
                  </a:lnTo>
                  <a:lnTo>
                    <a:pt x="457128" y="589"/>
                  </a:lnTo>
                  <a:lnTo>
                    <a:pt x="402274" y="2189"/>
                  </a:lnTo>
                  <a:lnTo>
                    <a:pt x="354075" y="5304"/>
                  </a:lnTo>
                  <a:lnTo>
                    <a:pt x="311926" y="10440"/>
                  </a:lnTo>
                  <a:lnTo>
                    <a:pt x="243358" y="28794"/>
                  </a:lnTo>
                  <a:lnTo>
                    <a:pt x="195360" y="50365"/>
                  </a:lnTo>
                  <a:lnTo>
                    <a:pt x="151476" y="78393"/>
                  </a:lnTo>
                  <a:lnTo>
                    <a:pt x="112292" y="112292"/>
                  </a:lnTo>
                  <a:lnTo>
                    <a:pt x="78393" y="151476"/>
                  </a:lnTo>
                  <a:lnTo>
                    <a:pt x="50365" y="195360"/>
                  </a:lnTo>
                  <a:lnTo>
                    <a:pt x="28794" y="243358"/>
                  </a:lnTo>
                  <a:lnTo>
                    <a:pt x="10440" y="311926"/>
                  </a:lnTo>
                  <a:lnTo>
                    <a:pt x="5304" y="354075"/>
                  </a:lnTo>
                  <a:lnTo>
                    <a:pt x="2189" y="402274"/>
                  </a:lnTo>
                  <a:lnTo>
                    <a:pt x="589" y="457128"/>
                  </a:lnTo>
                  <a:lnTo>
                    <a:pt x="0" y="519243"/>
                  </a:lnTo>
                  <a:lnTo>
                    <a:pt x="0" y="2137376"/>
                  </a:lnTo>
                  <a:lnTo>
                    <a:pt x="589" y="2199491"/>
                  </a:lnTo>
                  <a:lnTo>
                    <a:pt x="2189" y="2254345"/>
                  </a:lnTo>
                  <a:lnTo>
                    <a:pt x="5304" y="2302544"/>
                  </a:lnTo>
                  <a:lnTo>
                    <a:pt x="10440" y="2344693"/>
                  </a:lnTo>
                  <a:lnTo>
                    <a:pt x="28794" y="2413261"/>
                  </a:lnTo>
                  <a:lnTo>
                    <a:pt x="50365" y="2461258"/>
                  </a:lnTo>
                  <a:lnTo>
                    <a:pt x="78393" y="2505142"/>
                  </a:lnTo>
                  <a:lnTo>
                    <a:pt x="112292" y="2544326"/>
                  </a:lnTo>
                  <a:lnTo>
                    <a:pt x="151476" y="2578226"/>
                  </a:lnTo>
                  <a:lnTo>
                    <a:pt x="195360" y="2606254"/>
                  </a:lnTo>
                  <a:lnTo>
                    <a:pt x="243358" y="2627825"/>
                  </a:lnTo>
                  <a:lnTo>
                    <a:pt x="311926" y="2646179"/>
                  </a:lnTo>
                  <a:lnTo>
                    <a:pt x="354075" y="2651315"/>
                  </a:lnTo>
                  <a:lnTo>
                    <a:pt x="402274" y="2654430"/>
                  </a:lnTo>
                  <a:lnTo>
                    <a:pt x="457128" y="2656030"/>
                  </a:lnTo>
                  <a:lnTo>
                    <a:pt x="519243" y="2656619"/>
                  </a:lnTo>
                  <a:lnTo>
                    <a:pt x="2367914" y="2656619"/>
                  </a:lnTo>
                  <a:lnTo>
                    <a:pt x="2430028" y="2656030"/>
                  </a:lnTo>
                  <a:lnTo>
                    <a:pt x="2484882" y="2654430"/>
                  </a:lnTo>
                  <a:lnTo>
                    <a:pt x="2533081" y="2651315"/>
                  </a:lnTo>
                  <a:lnTo>
                    <a:pt x="2575230" y="2646179"/>
                  </a:lnTo>
                  <a:lnTo>
                    <a:pt x="2643798" y="2627825"/>
                  </a:lnTo>
                  <a:lnTo>
                    <a:pt x="2691796" y="2606254"/>
                  </a:lnTo>
                  <a:lnTo>
                    <a:pt x="2735680" y="2578226"/>
                  </a:lnTo>
                  <a:lnTo>
                    <a:pt x="2774864" y="2544326"/>
                  </a:lnTo>
                  <a:lnTo>
                    <a:pt x="2808764" y="2505142"/>
                  </a:lnTo>
                  <a:lnTo>
                    <a:pt x="2836792" y="2461258"/>
                  </a:lnTo>
                  <a:lnTo>
                    <a:pt x="2858363" y="2413261"/>
                  </a:lnTo>
                  <a:lnTo>
                    <a:pt x="2876718" y="2344693"/>
                  </a:lnTo>
                  <a:lnTo>
                    <a:pt x="2881854" y="2302544"/>
                  </a:lnTo>
                  <a:lnTo>
                    <a:pt x="2884969" y="2254345"/>
                  </a:lnTo>
                  <a:lnTo>
                    <a:pt x="2886568" y="2199491"/>
                  </a:lnTo>
                  <a:lnTo>
                    <a:pt x="2887158" y="2137376"/>
                  </a:lnTo>
                  <a:lnTo>
                    <a:pt x="2887158" y="519243"/>
                  </a:lnTo>
                  <a:lnTo>
                    <a:pt x="2886568" y="457128"/>
                  </a:lnTo>
                  <a:lnTo>
                    <a:pt x="2884969" y="402274"/>
                  </a:lnTo>
                  <a:lnTo>
                    <a:pt x="2881854" y="354075"/>
                  </a:lnTo>
                  <a:lnTo>
                    <a:pt x="2876718" y="311926"/>
                  </a:lnTo>
                  <a:lnTo>
                    <a:pt x="2858363" y="243358"/>
                  </a:lnTo>
                  <a:lnTo>
                    <a:pt x="2836792" y="195360"/>
                  </a:lnTo>
                  <a:lnTo>
                    <a:pt x="2808764" y="151476"/>
                  </a:lnTo>
                  <a:lnTo>
                    <a:pt x="2774864" y="112292"/>
                  </a:lnTo>
                  <a:lnTo>
                    <a:pt x="2735680" y="78393"/>
                  </a:lnTo>
                  <a:lnTo>
                    <a:pt x="2691796" y="50365"/>
                  </a:lnTo>
                  <a:lnTo>
                    <a:pt x="2643798" y="28794"/>
                  </a:lnTo>
                  <a:lnTo>
                    <a:pt x="2575230" y="10440"/>
                  </a:lnTo>
                  <a:lnTo>
                    <a:pt x="2533081" y="5304"/>
                  </a:lnTo>
                  <a:lnTo>
                    <a:pt x="2484882" y="2189"/>
                  </a:lnTo>
                  <a:lnTo>
                    <a:pt x="2430028" y="589"/>
                  </a:lnTo>
                  <a:lnTo>
                    <a:pt x="2367914" y="0"/>
                  </a:lnTo>
                  <a:close/>
                </a:path>
              </a:pathLst>
            </a:custGeom>
            <a:solidFill>
              <a:srgbClr val="009CFD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 sz="819"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92475" y="4690144"/>
              <a:ext cx="1938254" cy="193825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734749" y="3843491"/>
            <a:ext cx="715404" cy="219289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76">
              <a:spcBef>
                <a:spcPts val="45"/>
              </a:spcBef>
            </a:pPr>
            <a:r>
              <a:rPr sz="1387" spc="-34" dirty="0">
                <a:solidFill>
                  <a:srgbClr val="FFFFFF"/>
                </a:solidFill>
                <a:latin typeface="Gill Sans MT"/>
                <a:cs typeface="Gill Sans MT"/>
              </a:rPr>
              <a:t>pretrained</a:t>
            </a:r>
            <a:endParaRPr sz="1387">
              <a:latin typeface="Gill Sans MT"/>
              <a:cs typeface="Gill Sans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901" y="2447934"/>
            <a:ext cx="457200" cy="387762"/>
          </a:xfrm>
          <a:prstGeom prst="rect">
            <a:avLst/>
          </a:prstGeom>
        </p:spPr>
        <p:txBody>
          <a:bodyPr vert="horz" wrap="square" lIns="0" tIns="53431" rIns="0" bIns="0" rtlCol="0">
            <a:spAutoFit/>
          </a:bodyPr>
          <a:lstStyle/>
          <a:p>
            <a:pPr marL="52561" marR="2310" indent="-47074">
              <a:lnSpc>
                <a:spcPct val="77500"/>
              </a:lnSpc>
              <a:spcBef>
                <a:spcPts val="421"/>
              </a:spcBef>
            </a:pPr>
            <a:r>
              <a:rPr sz="1387" dirty="0">
                <a:latin typeface="Gill Sans MT"/>
                <a:cs typeface="Gill Sans MT"/>
              </a:rPr>
              <a:t>lots</a:t>
            </a:r>
            <a:r>
              <a:rPr sz="1387" spc="-84" dirty="0">
                <a:latin typeface="Gill Sans MT"/>
                <a:cs typeface="Gill Sans MT"/>
              </a:rPr>
              <a:t> </a:t>
            </a:r>
            <a:r>
              <a:rPr sz="1387" spc="-11" dirty="0">
                <a:latin typeface="Gill Sans MT"/>
                <a:cs typeface="Gill Sans MT"/>
              </a:rPr>
              <a:t>of </a:t>
            </a:r>
            <a:r>
              <a:rPr sz="1387" spc="-5" dirty="0">
                <a:latin typeface="Gill Sans MT"/>
                <a:cs typeface="Gill Sans MT"/>
              </a:rPr>
              <a:t>data!</a:t>
            </a:r>
            <a:endParaRPr sz="1387">
              <a:latin typeface="Gill Sans MT"/>
              <a:cs typeface="Gill Sans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33232" y="3102875"/>
            <a:ext cx="883496" cy="259219"/>
          </a:xfrm>
          <a:prstGeom prst="rect">
            <a:avLst/>
          </a:prstGeom>
        </p:spPr>
        <p:txBody>
          <a:bodyPr vert="horz" wrap="square" lIns="0" tIns="7220" rIns="0" bIns="0" rtlCol="0">
            <a:spAutoFit/>
          </a:bodyPr>
          <a:lstStyle/>
          <a:p>
            <a:pPr marL="5776">
              <a:spcBef>
                <a:spcPts val="57"/>
              </a:spcBef>
            </a:pPr>
            <a:r>
              <a:rPr sz="1637" i="1" spc="-5" dirty="0">
                <a:latin typeface="Gill Sans MT"/>
                <a:cs typeface="Gill Sans MT"/>
              </a:rPr>
              <a:t>pretraining</a:t>
            </a:r>
            <a:endParaRPr sz="1637">
              <a:latin typeface="Gill Sans MT"/>
              <a:cs typeface="Gill Sans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183328" y="2940592"/>
            <a:ext cx="4940821" cy="1237010"/>
            <a:chOff x="2601677" y="4580854"/>
            <a:chExt cx="10862945" cy="2719705"/>
          </a:xfrm>
        </p:grpSpPr>
        <p:sp>
          <p:nvSpPr>
            <p:cNvPr id="13" name="object 13"/>
            <p:cNvSpPr/>
            <p:nvPr/>
          </p:nvSpPr>
          <p:spPr>
            <a:xfrm>
              <a:off x="2633110" y="5661804"/>
              <a:ext cx="2506980" cy="0"/>
            </a:xfrm>
            <a:custGeom>
              <a:avLst/>
              <a:gdLst/>
              <a:ahLst/>
              <a:cxnLst/>
              <a:rect l="l" t="t" r="r" b="b"/>
              <a:pathLst>
                <a:path w="2506979">
                  <a:moveTo>
                    <a:pt x="0" y="0"/>
                  </a:moveTo>
                  <a:lnTo>
                    <a:pt x="2475311" y="0"/>
                  </a:lnTo>
                  <a:lnTo>
                    <a:pt x="2506723" y="0"/>
                  </a:lnTo>
                </a:path>
              </a:pathLst>
            </a:custGeom>
            <a:ln w="628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sp>
          <p:nvSpPr>
            <p:cNvPr id="14" name="object 14"/>
            <p:cNvSpPr/>
            <p:nvPr/>
          </p:nvSpPr>
          <p:spPr>
            <a:xfrm>
              <a:off x="5108421" y="5536153"/>
              <a:ext cx="251460" cy="251460"/>
            </a:xfrm>
            <a:custGeom>
              <a:avLst/>
              <a:gdLst/>
              <a:ahLst/>
              <a:cxnLst/>
              <a:rect l="l" t="t" r="r" b="b"/>
              <a:pathLst>
                <a:path w="251460" h="251460">
                  <a:moveTo>
                    <a:pt x="0" y="0"/>
                  </a:moveTo>
                  <a:lnTo>
                    <a:pt x="0" y="251301"/>
                  </a:lnTo>
                  <a:lnTo>
                    <a:pt x="251301" y="1256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819"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14087" y="4580854"/>
              <a:ext cx="2950152" cy="271961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45585" y="4591409"/>
              <a:ext cx="2887157" cy="265661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0545585" y="4591409"/>
              <a:ext cx="2887345" cy="2656840"/>
            </a:xfrm>
            <a:custGeom>
              <a:avLst/>
              <a:gdLst/>
              <a:ahLst/>
              <a:cxnLst/>
              <a:rect l="l" t="t" r="r" b="b"/>
              <a:pathLst>
                <a:path w="2887344" h="2656840">
                  <a:moveTo>
                    <a:pt x="2367917" y="0"/>
                  </a:moveTo>
                  <a:lnTo>
                    <a:pt x="519239" y="0"/>
                  </a:lnTo>
                  <a:lnTo>
                    <a:pt x="457127" y="589"/>
                  </a:lnTo>
                  <a:lnTo>
                    <a:pt x="402274" y="2189"/>
                  </a:lnTo>
                  <a:lnTo>
                    <a:pt x="354075" y="5304"/>
                  </a:lnTo>
                  <a:lnTo>
                    <a:pt x="311925" y="10440"/>
                  </a:lnTo>
                  <a:lnTo>
                    <a:pt x="243353" y="28794"/>
                  </a:lnTo>
                  <a:lnTo>
                    <a:pt x="195357" y="50365"/>
                  </a:lnTo>
                  <a:lnTo>
                    <a:pt x="151474" y="78393"/>
                  </a:lnTo>
                  <a:lnTo>
                    <a:pt x="112290" y="112292"/>
                  </a:lnTo>
                  <a:lnTo>
                    <a:pt x="78391" y="151476"/>
                  </a:lnTo>
                  <a:lnTo>
                    <a:pt x="50364" y="195360"/>
                  </a:lnTo>
                  <a:lnTo>
                    <a:pt x="28794" y="243358"/>
                  </a:lnTo>
                  <a:lnTo>
                    <a:pt x="10440" y="311926"/>
                  </a:lnTo>
                  <a:lnTo>
                    <a:pt x="5304" y="354075"/>
                  </a:lnTo>
                  <a:lnTo>
                    <a:pt x="2189" y="402274"/>
                  </a:lnTo>
                  <a:lnTo>
                    <a:pt x="589" y="457128"/>
                  </a:lnTo>
                  <a:lnTo>
                    <a:pt x="0" y="519243"/>
                  </a:lnTo>
                  <a:lnTo>
                    <a:pt x="0" y="2137376"/>
                  </a:lnTo>
                  <a:lnTo>
                    <a:pt x="589" y="2199491"/>
                  </a:lnTo>
                  <a:lnTo>
                    <a:pt x="2189" y="2254345"/>
                  </a:lnTo>
                  <a:lnTo>
                    <a:pt x="5304" y="2302544"/>
                  </a:lnTo>
                  <a:lnTo>
                    <a:pt x="10440" y="2344693"/>
                  </a:lnTo>
                  <a:lnTo>
                    <a:pt x="28794" y="2413261"/>
                  </a:lnTo>
                  <a:lnTo>
                    <a:pt x="50364" y="2461258"/>
                  </a:lnTo>
                  <a:lnTo>
                    <a:pt x="78391" y="2505142"/>
                  </a:lnTo>
                  <a:lnTo>
                    <a:pt x="112290" y="2544326"/>
                  </a:lnTo>
                  <a:lnTo>
                    <a:pt x="151474" y="2578226"/>
                  </a:lnTo>
                  <a:lnTo>
                    <a:pt x="195357" y="2606254"/>
                  </a:lnTo>
                  <a:lnTo>
                    <a:pt x="243353" y="2627825"/>
                  </a:lnTo>
                  <a:lnTo>
                    <a:pt x="311925" y="2646179"/>
                  </a:lnTo>
                  <a:lnTo>
                    <a:pt x="354075" y="2651315"/>
                  </a:lnTo>
                  <a:lnTo>
                    <a:pt x="402274" y="2654430"/>
                  </a:lnTo>
                  <a:lnTo>
                    <a:pt x="457127" y="2656030"/>
                  </a:lnTo>
                  <a:lnTo>
                    <a:pt x="519239" y="2656619"/>
                  </a:lnTo>
                  <a:lnTo>
                    <a:pt x="2367917" y="2656619"/>
                  </a:lnTo>
                  <a:lnTo>
                    <a:pt x="2430029" y="2656030"/>
                  </a:lnTo>
                  <a:lnTo>
                    <a:pt x="2484882" y="2654430"/>
                  </a:lnTo>
                  <a:lnTo>
                    <a:pt x="2533080" y="2651315"/>
                  </a:lnTo>
                  <a:lnTo>
                    <a:pt x="2575227" y="2646179"/>
                  </a:lnTo>
                  <a:lnTo>
                    <a:pt x="2643793" y="2627825"/>
                  </a:lnTo>
                  <a:lnTo>
                    <a:pt x="2691793" y="2606254"/>
                  </a:lnTo>
                  <a:lnTo>
                    <a:pt x="2735679" y="2578226"/>
                  </a:lnTo>
                  <a:lnTo>
                    <a:pt x="2774865" y="2544326"/>
                  </a:lnTo>
                  <a:lnTo>
                    <a:pt x="2808764" y="2505142"/>
                  </a:lnTo>
                  <a:lnTo>
                    <a:pt x="2836792" y="2461258"/>
                  </a:lnTo>
                  <a:lnTo>
                    <a:pt x="2858362" y="2413261"/>
                  </a:lnTo>
                  <a:lnTo>
                    <a:pt x="2876717" y="2344693"/>
                  </a:lnTo>
                  <a:lnTo>
                    <a:pt x="2881853" y="2302544"/>
                  </a:lnTo>
                  <a:lnTo>
                    <a:pt x="2884968" y="2254345"/>
                  </a:lnTo>
                  <a:lnTo>
                    <a:pt x="2886567" y="2199491"/>
                  </a:lnTo>
                  <a:lnTo>
                    <a:pt x="2887157" y="2137376"/>
                  </a:lnTo>
                  <a:lnTo>
                    <a:pt x="2887157" y="519243"/>
                  </a:lnTo>
                  <a:lnTo>
                    <a:pt x="2886567" y="457128"/>
                  </a:lnTo>
                  <a:lnTo>
                    <a:pt x="2884968" y="402274"/>
                  </a:lnTo>
                  <a:lnTo>
                    <a:pt x="2881853" y="354075"/>
                  </a:lnTo>
                  <a:lnTo>
                    <a:pt x="2876717" y="311926"/>
                  </a:lnTo>
                  <a:lnTo>
                    <a:pt x="2858362" y="243358"/>
                  </a:lnTo>
                  <a:lnTo>
                    <a:pt x="2836792" y="195360"/>
                  </a:lnTo>
                  <a:lnTo>
                    <a:pt x="2808764" y="151476"/>
                  </a:lnTo>
                  <a:lnTo>
                    <a:pt x="2774865" y="112292"/>
                  </a:lnTo>
                  <a:lnTo>
                    <a:pt x="2735679" y="78393"/>
                  </a:lnTo>
                  <a:lnTo>
                    <a:pt x="2691793" y="50365"/>
                  </a:lnTo>
                  <a:lnTo>
                    <a:pt x="2643793" y="28794"/>
                  </a:lnTo>
                  <a:lnTo>
                    <a:pt x="2575227" y="10440"/>
                  </a:lnTo>
                  <a:lnTo>
                    <a:pt x="2533080" y="5304"/>
                  </a:lnTo>
                  <a:lnTo>
                    <a:pt x="2484882" y="2189"/>
                  </a:lnTo>
                  <a:lnTo>
                    <a:pt x="2430029" y="589"/>
                  </a:lnTo>
                  <a:lnTo>
                    <a:pt x="2367917" y="0"/>
                  </a:lnTo>
                  <a:close/>
                </a:path>
              </a:pathLst>
            </a:custGeom>
            <a:solidFill>
              <a:srgbClr val="8336BC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 sz="819"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082856" y="4690143"/>
              <a:ext cx="1938254" cy="193825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193721" y="3843491"/>
            <a:ext cx="519007" cy="219289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76">
              <a:spcBef>
                <a:spcPts val="45"/>
              </a:spcBef>
            </a:pPr>
            <a:r>
              <a:rPr sz="1387" spc="-5" dirty="0">
                <a:solidFill>
                  <a:srgbClr val="FFFFFF"/>
                </a:solidFill>
                <a:latin typeface="Gill Sans MT"/>
                <a:cs typeface="Gill Sans MT"/>
              </a:rPr>
              <a:t>aligned</a:t>
            </a:r>
            <a:endParaRPr sz="1387">
              <a:latin typeface="Gill Sans MT"/>
              <a:cs typeface="Gill Sans MT"/>
            </a:endParaRPr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09109" y="3519835"/>
            <a:ext cx="441375" cy="44137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3821674" y="3102875"/>
            <a:ext cx="816490" cy="259219"/>
          </a:xfrm>
          <a:prstGeom prst="rect">
            <a:avLst/>
          </a:prstGeom>
        </p:spPr>
        <p:txBody>
          <a:bodyPr vert="horz" wrap="square" lIns="0" tIns="7220" rIns="0" bIns="0" rtlCol="0">
            <a:spAutoFit/>
          </a:bodyPr>
          <a:lstStyle/>
          <a:p>
            <a:pPr marL="5776">
              <a:spcBef>
                <a:spcPts val="57"/>
              </a:spcBef>
            </a:pPr>
            <a:r>
              <a:rPr sz="1637" i="1" spc="27" dirty="0">
                <a:latin typeface="Gill Sans MT"/>
                <a:cs typeface="Gill Sans MT"/>
              </a:rPr>
              <a:t>alignment</a:t>
            </a:r>
            <a:endParaRPr sz="1637">
              <a:latin typeface="Gill Sans MT"/>
              <a:cs typeface="Gill Sans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719274" y="2940592"/>
            <a:ext cx="4765509" cy="1237010"/>
            <a:chOff x="8177237" y="4580854"/>
            <a:chExt cx="10477500" cy="2719705"/>
          </a:xfrm>
        </p:grpSpPr>
        <p:sp>
          <p:nvSpPr>
            <p:cNvPr id="23" name="object 23"/>
            <p:cNvSpPr/>
            <p:nvPr/>
          </p:nvSpPr>
          <p:spPr>
            <a:xfrm>
              <a:off x="8208669" y="5654277"/>
              <a:ext cx="2129790" cy="0"/>
            </a:xfrm>
            <a:custGeom>
              <a:avLst/>
              <a:gdLst/>
              <a:ahLst/>
              <a:cxnLst/>
              <a:rect l="l" t="t" r="r" b="b"/>
              <a:pathLst>
                <a:path w="2129790">
                  <a:moveTo>
                    <a:pt x="0" y="0"/>
                  </a:moveTo>
                  <a:lnTo>
                    <a:pt x="2098359" y="0"/>
                  </a:lnTo>
                  <a:lnTo>
                    <a:pt x="2129771" y="0"/>
                  </a:lnTo>
                </a:path>
              </a:pathLst>
            </a:custGeom>
            <a:ln w="628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sp>
          <p:nvSpPr>
            <p:cNvPr id="24" name="object 24"/>
            <p:cNvSpPr/>
            <p:nvPr/>
          </p:nvSpPr>
          <p:spPr>
            <a:xfrm>
              <a:off x="10307028" y="5528627"/>
              <a:ext cx="251460" cy="251460"/>
            </a:xfrm>
            <a:custGeom>
              <a:avLst/>
              <a:gdLst/>
              <a:ahLst/>
              <a:cxnLst/>
              <a:rect l="l" t="t" r="r" b="b"/>
              <a:pathLst>
                <a:path w="251459" h="251460">
                  <a:moveTo>
                    <a:pt x="0" y="0"/>
                  </a:moveTo>
                  <a:lnTo>
                    <a:pt x="0" y="251301"/>
                  </a:lnTo>
                  <a:lnTo>
                    <a:pt x="251299" y="1256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819"/>
            </a:p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704474" y="4580854"/>
              <a:ext cx="2950152" cy="2719613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5735972" y="4591409"/>
              <a:ext cx="2887345" cy="2656840"/>
            </a:xfrm>
            <a:custGeom>
              <a:avLst/>
              <a:gdLst/>
              <a:ahLst/>
              <a:cxnLst/>
              <a:rect l="l" t="t" r="r" b="b"/>
              <a:pathLst>
                <a:path w="2887344" h="2656840">
                  <a:moveTo>
                    <a:pt x="2367910" y="0"/>
                  </a:moveTo>
                  <a:lnTo>
                    <a:pt x="519239" y="0"/>
                  </a:lnTo>
                  <a:lnTo>
                    <a:pt x="457127" y="589"/>
                  </a:lnTo>
                  <a:lnTo>
                    <a:pt x="402274" y="2189"/>
                  </a:lnTo>
                  <a:lnTo>
                    <a:pt x="354075" y="5304"/>
                  </a:lnTo>
                  <a:lnTo>
                    <a:pt x="311925" y="10440"/>
                  </a:lnTo>
                  <a:lnTo>
                    <a:pt x="243353" y="28794"/>
                  </a:lnTo>
                  <a:lnTo>
                    <a:pt x="195357" y="50365"/>
                  </a:lnTo>
                  <a:lnTo>
                    <a:pt x="151474" y="78393"/>
                  </a:lnTo>
                  <a:lnTo>
                    <a:pt x="112290" y="112292"/>
                  </a:lnTo>
                  <a:lnTo>
                    <a:pt x="78391" y="151476"/>
                  </a:lnTo>
                  <a:lnTo>
                    <a:pt x="50364" y="195360"/>
                  </a:lnTo>
                  <a:lnTo>
                    <a:pt x="28794" y="243358"/>
                  </a:lnTo>
                  <a:lnTo>
                    <a:pt x="10440" y="311926"/>
                  </a:lnTo>
                  <a:lnTo>
                    <a:pt x="5304" y="354075"/>
                  </a:lnTo>
                  <a:lnTo>
                    <a:pt x="2189" y="402274"/>
                  </a:lnTo>
                  <a:lnTo>
                    <a:pt x="589" y="457128"/>
                  </a:lnTo>
                  <a:lnTo>
                    <a:pt x="0" y="519243"/>
                  </a:lnTo>
                  <a:lnTo>
                    <a:pt x="0" y="2137376"/>
                  </a:lnTo>
                  <a:lnTo>
                    <a:pt x="589" y="2199491"/>
                  </a:lnTo>
                  <a:lnTo>
                    <a:pt x="2189" y="2254345"/>
                  </a:lnTo>
                  <a:lnTo>
                    <a:pt x="5304" y="2302544"/>
                  </a:lnTo>
                  <a:lnTo>
                    <a:pt x="10440" y="2344693"/>
                  </a:lnTo>
                  <a:lnTo>
                    <a:pt x="28794" y="2413261"/>
                  </a:lnTo>
                  <a:lnTo>
                    <a:pt x="50364" y="2461258"/>
                  </a:lnTo>
                  <a:lnTo>
                    <a:pt x="78391" y="2505142"/>
                  </a:lnTo>
                  <a:lnTo>
                    <a:pt x="112290" y="2544326"/>
                  </a:lnTo>
                  <a:lnTo>
                    <a:pt x="151474" y="2578226"/>
                  </a:lnTo>
                  <a:lnTo>
                    <a:pt x="195357" y="2606254"/>
                  </a:lnTo>
                  <a:lnTo>
                    <a:pt x="243353" y="2627825"/>
                  </a:lnTo>
                  <a:lnTo>
                    <a:pt x="311925" y="2646179"/>
                  </a:lnTo>
                  <a:lnTo>
                    <a:pt x="354075" y="2651315"/>
                  </a:lnTo>
                  <a:lnTo>
                    <a:pt x="402274" y="2654430"/>
                  </a:lnTo>
                  <a:lnTo>
                    <a:pt x="457127" y="2656030"/>
                  </a:lnTo>
                  <a:lnTo>
                    <a:pt x="519239" y="2656619"/>
                  </a:lnTo>
                  <a:lnTo>
                    <a:pt x="2367910" y="2656619"/>
                  </a:lnTo>
                  <a:lnTo>
                    <a:pt x="2430026" y="2656030"/>
                  </a:lnTo>
                  <a:lnTo>
                    <a:pt x="2484880" y="2654430"/>
                  </a:lnTo>
                  <a:lnTo>
                    <a:pt x="2533079" y="2651315"/>
                  </a:lnTo>
                  <a:lnTo>
                    <a:pt x="2575227" y="2646179"/>
                  </a:lnTo>
                  <a:lnTo>
                    <a:pt x="2643793" y="2627825"/>
                  </a:lnTo>
                  <a:lnTo>
                    <a:pt x="2691793" y="2606254"/>
                  </a:lnTo>
                  <a:lnTo>
                    <a:pt x="2735679" y="2578226"/>
                  </a:lnTo>
                  <a:lnTo>
                    <a:pt x="2774865" y="2544326"/>
                  </a:lnTo>
                  <a:lnTo>
                    <a:pt x="2808764" y="2505142"/>
                  </a:lnTo>
                  <a:lnTo>
                    <a:pt x="2836792" y="2461258"/>
                  </a:lnTo>
                  <a:lnTo>
                    <a:pt x="2858362" y="2413261"/>
                  </a:lnTo>
                  <a:lnTo>
                    <a:pt x="2876717" y="2344693"/>
                  </a:lnTo>
                  <a:lnTo>
                    <a:pt x="2881853" y="2302544"/>
                  </a:lnTo>
                  <a:lnTo>
                    <a:pt x="2884968" y="2254345"/>
                  </a:lnTo>
                  <a:lnTo>
                    <a:pt x="2886567" y="2199491"/>
                  </a:lnTo>
                  <a:lnTo>
                    <a:pt x="2887157" y="2137376"/>
                  </a:lnTo>
                  <a:lnTo>
                    <a:pt x="2887157" y="519243"/>
                  </a:lnTo>
                  <a:lnTo>
                    <a:pt x="2886567" y="457128"/>
                  </a:lnTo>
                  <a:lnTo>
                    <a:pt x="2884968" y="402274"/>
                  </a:lnTo>
                  <a:lnTo>
                    <a:pt x="2881853" y="354075"/>
                  </a:lnTo>
                  <a:lnTo>
                    <a:pt x="2876717" y="311926"/>
                  </a:lnTo>
                  <a:lnTo>
                    <a:pt x="2858362" y="243358"/>
                  </a:lnTo>
                  <a:lnTo>
                    <a:pt x="2836792" y="195360"/>
                  </a:lnTo>
                  <a:lnTo>
                    <a:pt x="2808764" y="151476"/>
                  </a:lnTo>
                  <a:lnTo>
                    <a:pt x="2774865" y="112292"/>
                  </a:lnTo>
                  <a:lnTo>
                    <a:pt x="2735679" y="78393"/>
                  </a:lnTo>
                  <a:lnTo>
                    <a:pt x="2691793" y="50365"/>
                  </a:lnTo>
                  <a:lnTo>
                    <a:pt x="2643793" y="28794"/>
                  </a:lnTo>
                  <a:lnTo>
                    <a:pt x="2575227" y="10440"/>
                  </a:lnTo>
                  <a:lnTo>
                    <a:pt x="2533079" y="5304"/>
                  </a:lnTo>
                  <a:lnTo>
                    <a:pt x="2484880" y="2189"/>
                  </a:lnTo>
                  <a:lnTo>
                    <a:pt x="2430026" y="589"/>
                  </a:lnTo>
                  <a:lnTo>
                    <a:pt x="2367910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>
              <a:endParaRPr sz="819"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273243" y="4690143"/>
              <a:ext cx="1938254" cy="1938254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7484784" y="3843491"/>
            <a:ext cx="658218" cy="219289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76">
              <a:spcBef>
                <a:spcPts val="45"/>
              </a:spcBef>
            </a:pPr>
            <a:r>
              <a:rPr sz="1387" spc="-16" dirty="0">
                <a:solidFill>
                  <a:srgbClr val="FFFFFF"/>
                </a:solidFill>
                <a:latin typeface="Gill Sans MT"/>
                <a:cs typeface="Gill Sans MT"/>
              </a:rPr>
              <a:t>finetuned</a:t>
            </a:r>
            <a:endParaRPr sz="1387">
              <a:latin typeface="Gill Sans MT"/>
              <a:cs typeface="Gill Sans MT"/>
            </a:endParaRPr>
          </a:p>
        </p:txBody>
      </p:sp>
      <p:pic>
        <p:nvPicPr>
          <p:cNvPr id="29" name="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412730" y="3519835"/>
            <a:ext cx="441424" cy="441424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6225702" y="3102875"/>
            <a:ext cx="815624" cy="259219"/>
          </a:xfrm>
          <a:prstGeom prst="rect">
            <a:avLst/>
          </a:prstGeom>
        </p:spPr>
        <p:txBody>
          <a:bodyPr vert="horz" wrap="square" lIns="0" tIns="7220" rIns="0" bIns="0" rtlCol="0">
            <a:spAutoFit/>
          </a:bodyPr>
          <a:lstStyle/>
          <a:p>
            <a:pPr marL="5776">
              <a:spcBef>
                <a:spcPts val="57"/>
              </a:spcBef>
            </a:pPr>
            <a:r>
              <a:rPr sz="1637" i="1" spc="23" dirty="0">
                <a:latin typeface="Gill Sans MT"/>
                <a:cs typeface="Gill Sans MT"/>
              </a:rPr>
              <a:t>flnetuning</a:t>
            </a:r>
            <a:endParaRPr sz="1637">
              <a:latin typeface="Gill Sans MT"/>
              <a:cs typeface="Gill Sans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099091" y="3371669"/>
            <a:ext cx="1068918" cy="114372"/>
            <a:chOff x="13409528" y="5528627"/>
            <a:chExt cx="2350135" cy="251460"/>
          </a:xfrm>
        </p:grpSpPr>
        <p:sp>
          <p:nvSpPr>
            <p:cNvPr id="32" name="object 32"/>
            <p:cNvSpPr/>
            <p:nvPr/>
          </p:nvSpPr>
          <p:spPr>
            <a:xfrm>
              <a:off x="13409528" y="5654278"/>
              <a:ext cx="2129790" cy="0"/>
            </a:xfrm>
            <a:custGeom>
              <a:avLst/>
              <a:gdLst/>
              <a:ahLst/>
              <a:cxnLst/>
              <a:rect l="l" t="t" r="r" b="b"/>
              <a:pathLst>
                <a:path w="2129790">
                  <a:moveTo>
                    <a:pt x="0" y="0"/>
                  </a:moveTo>
                  <a:lnTo>
                    <a:pt x="2098359" y="0"/>
                  </a:lnTo>
                  <a:lnTo>
                    <a:pt x="2129771" y="0"/>
                  </a:lnTo>
                </a:path>
              </a:pathLst>
            </a:custGeom>
            <a:ln w="628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sp>
          <p:nvSpPr>
            <p:cNvPr id="33" name="object 33"/>
            <p:cNvSpPr/>
            <p:nvPr/>
          </p:nvSpPr>
          <p:spPr>
            <a:xfrm>
              <a:off x="15507883" y="5528627"/>
              <a:ext cx="251460" cy="251460"/>
            </a:xfrm>
            <a:custGeom>
              <a:avLst/>
              <a:gdLst/>
              <a:ahLst/>
              <a:cxnLst/>
              <a:rect l="l" t="t" r="r" b="b"/>
              <a:pathLst>
                <a:path w="251459" h="251460">
                  <a:moveTo>
                    <a:pt x="0" y="0"/>
                  </a:moveTo>
                  <a:lnTo>
                    <a:pt x="0" y="251301"/>
                  </a:lnTo>
                  <a:lnTo>
                    <a:pt x="251301" y="1256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819"/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497" y="1057414"/>
            <a:ext cx="7986828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475" dirty="0"/>
              <a:t>How</a:t>
            </a:r>
            <a:r>
              <a:rPr spc="-139" dirty="0"/>
              <a:t> </a:t>
            </a:r>
            <a:r>
              <a:rPr spc="-293" dirty="0"/>
              <a:t>do</a:t>
            </a:r>
            <a:r>
              <a:rPr spc="-136" dirty="0"/>
              <a:t> </a:t>
            </a:r>
            <a:r>
              <a:rPr spc="-341" dirty="0"/>
              <a:t>we</a:t>
            </a:r>
            <a:r>
              <a:rPr spc="-139" dirty="0"/>
              <a:t> </a:t>
            </a:r>
            <a:r>
              <a:rPr spc="-197" dirty="0"/>
              <a:t>‘finetune’</a:t>
            </a:r>
            <a:r>
              <a:rPr spc="-136" dirty="0"/>
              <a:t> </a:t>
            </a:r>
            <a:r>
              <a:rPr spc="-184" dirty="0"/>
              <a:t>models?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1247" y="1931041"/>
            <a:ext cx="8126492" cy="872817"/>
          </a:xfrm>
          <a:prstGeom prst="rect">
            <a:avLst/>
          </a:prstGeom>
        </p:spPr>
        <p:txBody>
          <a:bodyPr vert="horz" wrap="square" lIns="0" tIns="49099" rIns="0" bIns="0" rtlCol="0">
            <a:spAutoFit/>
          </a:bodyPr>
          <a:lstStyle/>
          <a:p>
            <a:pPr marL="5776">
              <a:spcBef>
                <a:spcPts val="387"/>
              </a:spcBef>
            </a:pPr>
            <a:r>
              <a:rPr sz="1683" spc="-9" dirty="0">
                <a:latin typeface="Gill Sans MT"/>
                <a:cs typeface="Gill Sans MT"/>
              </a:rPr>
              <a:t>Start</a:t>
            </a:r>
            <a:r>
              <a:rPr sz="1683" spc="-75" dirty="0">
                <a:latin typeface="Gill Sans MT"/>
                <a:cs typeface="Gill Sans MT"/>
              </a:rPr>
              <a:t> </a:t>
            </a:r>
            <a:r>
              <a:rPr sz="1683" spc="-57" dirty="0">
                <a:latin typeface="Gill Sans MT"/>
                <a:cs typeface="Gill Sans MT"/>
              </a:rPr>
              <a:t>with</a:t>
            </a:r>
            <a:r>
              <a:rPr sz="1683" spc="-73" dirty="0">
                <a:latin typeface="Gill Sans MT"/>
                <a:cs typeface="Gill Sans MT"/>
              </a:rPr>
              <a:t> </a:t>
            </a:r>
            <a:r>
              <a:rPr sz="1683" spc="84" dirty="0">
                <a:latin typeface="Gill Sans MT"/>
                <a:cs typeface="Gill Sans MT"/>
              </a:rPr>
              <a:t>a</a:t>
            </a:r>
            <a:r>
              <a:rPr sz="1683" spc="-73" dirty="0">
                <a:latin typeface="Gill Sans MT"/>
                <a:cs typeface="Gill Sans MT"/>
              </a:rPr>
              <a:t> </a:t>
            </a:r>
            <a:r>
              <a:rPr sz="1683" spc="-34" dirty="0">
                <a:latin typeface="Gill Sans MT"/>
                <a:cs typeface="Gill Sans MT"/>
              </a:rPr>
              <a:t>model</a:t>
            </a:r>
            <a:r>
              <a:rPr sz="1683" spc="-73" dirty="0">
                <a:latin typeface="Gill Sans MT"/>
                <a:cs typeface="Gill Sans MT"/>
              </a:rPr>
              <a:t> </a:t>
            </a:r>
            <a:r>
              <a:rPr sz="1683" spc="-36" dirty="0">
                <a:latin typeface="Gill Sans MT"/>
                <a:cs typeface="Gill Sans MT"/>
              </a:rPr>
              <a:t>trained</a:t>
            </a:r>
            <a:r>
              <a:rPr sz="1683" spc="-75" dirty="0">
                <a:latin typeface="Gill Sans MT"/>
                <a:cs typeface="Gill Sans MT"/>
              </a:rPr>
              <a:t> </a:t>
            </a:r>
            <a:r>
              <a:rPr sz="1683" spc="-57" dirty="0">
                <a:latin typeface="Gill Sans MT"/>
                <a:cs typeface="Gill Sans MT"/>
              </a:rPr>
              <a:t>on</a:t>
            </a:r>
            <a:r>
              <a:rPr sz="1683" spc="-73" dirty="0">
                <a:latin typeface="Gill Sans MT"/>
                <a:cs typeface="Gill Sans MT"/>
              </a:rPr>
              <a:t> </a:t>
            </a:r>
            <a:r>
              <a:rPr sz="1683" spc="84" dirty="0">
                <a:latin typeface="Gill Sans MT"/>
                <a:cs typeface="Gill Sans MT"/>
              </a:rPr>
              <a:t>a</a:t>
            </a:r>
            <a:r>
              <a:rPr sz="1683" spc="-73" dirty="0">
                <a:latin typeface="Gill Sans MT"/>
                <a:cs typeface="Gill Sans MT"/>
              </a:rPr>
              <a:t> </a:t>
            </a:r>
            <a:r>
              <a:rPr sz="1683" spc="-48" dirty="0">
                <a:latin typeface="Gill Sans MT"/>
                <a:cs typeface="Gill Sans MT"/>
              </a:rPr>
              <a:t>lot</a:t>
            </a:r>
            <a:r>
              <a:rPr sz="1683" spc="-73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of</a:t>
            </a:r>
            <a:r>
              <a:rPr sz="1683" spc="-75" dirty="0">
                <a:latin typeface="Gill Sans MT"/>
                <a:cs typeface="Gill Sans MT"/>
              </a:rPr>
              <a:t> </a:t>
            </a:r>
            <a:r>
              <a:rPr sz="1683" spc="-9" dirty="0">
                <a:latin typeface="Gill Sans MT"/>
                <a:cs typeface="Gill Sans MT"/>
              </a:rPr>
              <a:t>data</a:t>
            </a:r>
            <a:endParaRPr sz="1683">
              <a:latin typeface="Gill Sans MT"/>
              <a:cs typeface="Gill Sans MT"/>
            </a:endParaRPr>
          </a:p>
          <a:p>
            <a:pPr marL="5776" marR="2310">
              <a:lnSpc>
                <a:spcPts val="1987"/>
              </a:lnSpc>
              <a:spcBef>
                <a:spcPts val="421"/>
              </a:spcBef>
            </a:pPr>
            <a:r>
              <a:rPr sz="1683" dirty="0">
                <a:latin typeface="Gill Sans MT"/>
                <a:cs typeface="Gill Sans MT"/>
              </a:rPr>
              <a:t>Using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-43" dirty="0">
                <a:latin typeface="Gill Sans MT"/>
                <a:cs typeface="Gill Sans MT"/>
              </a:rPr>
              <a:t>the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-48" dirty="0">
                <a:latin typeface="Gill Sans MT"/>
                <a:cs typeface="Gill Sans MT"/>
              </a:rPr>
              <a:t>pretrained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-34" dirty="0">
                <a:latin typeface="Gill Sans MT"/>
                <a:cs typeface="Gill Sans MT"/>
              </a:rPr>
              <a:t>model</a:t>
            </a:r>
            <a:r>
              <a:rPr sz="1683" spc="-73" dirty="0">
                <a:latin typeface="Gill Sans MT"/>
                <a:cs typeface="Gill Sans MT"/>
              </a:rPr>
              <a:t> </a:t>
            </a:r>
            <a:r>
              <a:rPr sz="1683" spc="102" dirty="0">
                <a:latin typeface="Gill Sans MT"/>
                <a:cs typeface="Gill Sans MT"/>
              </a:rPr>
              <a:t>as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84" dirty="0">
                <a:latin typeface="Gill Sans MT"/>
                <a:cs typeface="Gill Sans MT"/>
              </a:rPr>
              <a:t>a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starting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-41" dirty="0">
                <a:latin typeface="Gill Sans MT"/>
                <a:cs typeface="Gill Sans MT"/>
              </a:rPr>
              <a:t>point,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-11" dirty="0">
                <a:latin typeface="Gill Sans MT"/>
                <a:cs typeface="Gill Sans MT"/>
              </a:rPr>
              <a:t>update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-43" dirty="0">
                <a:latin typeface="Gill Sans MT"/>
                <a:cs typeface="Gill Sans MT"/>
              </a:rPr>
              <a:t>the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weights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-30" dirty="0">
                <a:latin typeface="Gill Sans MT"/>
                <a:cs typeface="Gill Sans MT"/>
              </a:rPr>
              <a:t>by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fitting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-43" dirty="0">
                <a:latin typeface="Gill Sans MT"/>
                <a:cs typeface="Gill Sans MT"/>
              </a:rPr>
              <a:t>the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-34" dirty="0">
                <a:latin typeface="Gill Sans MT"/>
                <a:cs typeface="Gill Sans MT"/>
              </a:rPr>
              <a:t>model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-89" dirty="0">
                <a:latin typeface="Gill Sans MT"/>
                <a:cs typeface="Gill Sans MT"/>
              </a:rPr>
              <a:t>to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84" dirty="0">
                <a:latin typeface="Gill Sans MT"/>
                <a:cs typeface="Gill Sans MT"/>
              </a:rPr>
              <a:t>a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32" dirty="0">
                <a:latin typeface="Gill Sans MT"/>
                <a:cs typeface="Gill Sans MT"/>
              </a:rPr>
              <a:t>small </a:t>
            </a:r>
            <a:r>
              <a:rPr sz="1683" spc="-23" dirty="0">
                <a:latin typeface="Gill Sans MT"/>
                <a:cs typeface="Gill Sans MT"/>
              </a:rPr>
              <a:t>amount</a:t>
            </a:r>
            <a:r>
              <a:rPr sz="1683" spc="-66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of</a:t>
            </a:r>
            <a:r>
              <a:rPr sz="1683" spc="-64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finetuning</a:t>
            </a:r>
            <a:r>
              <a:rPr sz="1683" spc="-66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data</a:t>
            </a:r>
            <a:r>
              <a:rPr sz="1683" spc="-64" dirty="0">
                <a:latin typeface="Gill Sans MT"/>
                <a:cs typeface="Gill Sans MT"/>
              </a:rPr>
              <a:t> </a:t>
            </a:r>
            <a:r>
              <a:rPr sz="1683" spc="30" dirty="0">
                <a:latin typeface="Gill Sans MT"/>
                <a:cs typeface="Gill Sans MT"/>
              </a:rPr>
              <a:t>(e.g.,</a:t>
            </a:r>
            <a:r>
              <a:rPr sz="1683" spc="-64" dirty="0">
                <a:latin typeface="Gill Sans MT"/>
                <a:cs typeface="Gill Sans MT"/>
              </a:rPr>
              <a:t> </a:t>
            </a:r>
            <a:r>
              <a:rPr sz="1683" spc="-18" dirty="0">
                <a:latin typeface="Gill Sans MT"/>
                <a:cs typeface="Gill Sans MT"/>
              </a:rPr>
              <a:t>running</a:t>
            </a:r>
            <a:r>
              <a:rPr sz="1683" spc="-66" dirty="0">
                <a:latin typeface="Gill Sans MT"/>
                <a:cs typeface="Gill Sans MT"/>
              </a:rPr>
              <a:t> </a:t>
            </a:r>
            <a:r>
              <a:rPr sz="1683" spc="84" dirty="0">
                <a:latin typeface="Gill Sans MT"/>
                <a:cs typeface="Gill Sans MT"/>
              </a:rPr>
              <a:t>a</a:t>
            </a:r>
            <a:r>
              <a:rPr sz="1683" spc="-64" dirty="0">
                <a:latin typeface="Gill Sans MT"/>
                <a:cs typeface="Gill Sans MT"/>
              </a:rPr>
              <a:t> </a:t>
            </a:r>
            <a:r>
              <a:rPr sz="1683" spc="36" dirty="0">
                <a:latin typeface="Gill Sans MT"/>
                <a:cs typeface="Gill Sans MT"/>
              </a:rPr>
              <a:t>small</a:t>
            </a:r>
            <a:r>
              <a:rPr sz="1683" spc="-66" dirty="0">
                <a:latin typeface="Gill Sans MT"/>
                <a:cs typeface="Gill Sans MT"/>
              </a:rPr>
              <a:t> </a:t>
            </a:r>
            <a:r>
              <a:rPr sz="1683" spc="-52" dirty="0">
                <a:latin typeface="Gill Sans MT"/>
                <a:cs typeface="Gill Sans MT"/>
              </a:rPr>
              <a:t>number</a:t>
            </a:r>
            <a:r>
              <a:rPr sz="1683" spc="-64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of</a:t>
            </a:r>
            <a:r>
              <a:rPr sz="1683" spc="-64" dirty="0">
                <a:latin typeface="Gill Sans MT"/>
                <a:cs typeface="Gill Sans MT"/>
              </a:rPr>
              <a:t> </a:t>
            </a:r>
            <a:r>
              <a:rPr sz="1683" spc="23" dirty="0">
                <a:latin typeface="Gill Sans MT"/>
                <a:cs typeface="Gill Sans MT"/>
              </a:rPr>
              <a:t>steps</a:t>
            </a:r>
            <a:r>
              <a:rPr sz="1683" spc="-66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of</a:t>
            </a:r>
            <a:r>
              <a:rPr sz="1683" spc="-64" dirty="0">
                <a:latin typeface="Gill Sans MT"/>
                <a:cs typeface="Gill Sans MT"/>
              </a:rPr>
              <a:t> </a:t>
            </a:r>
            <a:r>
              <a:rPr sz="1683" spc="-14" dirty="0">
                <a:latin typeface="Gill Sans MT"/>
                <a:cs typeface="Gill Sans MT"/>
              </a:rPr>
              <a:t>gradient</a:t>
            </a:r>
            <a:r>
              <a:rPr sz="1683" spc="-64" dirty="0">
                <a:latin typeface="Gill Sans MT"/>
                <a:cs typeface="Gill Sans MT"/>
              </a:rPr>
              <a:t> </a:t>
            </a:r>
            <a:r>
              <a:rPr sz="1683" spc="-5" dirty="0">
                <a:latin typeface="Gill Sans MT"/>
                <a:cs typeface="Gill Sans MT"/>
              </a:rPr>
              <a:t>descent)</a:t>
            </a:r>
            <a:endParaRPr sz="1683">
              <a:latin typeface="Gill Sans MT"/>
              <a:cs typeface="Gill Sans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1740" y="3126307"/>
            <a:ext cx="5828840" cy="243924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805067" y="5742514"/>
            <a:ext cx="1269069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>
              <a:spcBef>
                <a:spcPts val="55"/>
              </a:spcBef>
            </a:pPr>
            <a:r>
              <a:rPr sz="1114" dirty="0">
                <a:solidFill>
                  <a:srgbClr val="535353"/>
                </a:solidFill>
                <a:latin typeface="Arial"/>
                <a:cs typeface="Arial"/>
              </a:rPr>
              <a:t>Credit:</a:t>
            </a:r>
            <a:r>
              <a:rPr sz="1114" spc="152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114" spc="18" dirty="0">
                <a:solidFill>
                  <a:srgbClr val="535353"/>
                </a:solidFill>
                <a:latin typeface="Arial"/>
                <a:cs typeface="Arial"/>
              </a:rPr>
              <a:t>AssemblyAI</a:t>
            </a:r>
            <a:endParaRPr sz="1114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497" y="1057414"/>
            <a:ext cx="6672378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475" dirty="0"/>
              <a:t>How</a:t>
            </a:r>
            <a:r>
              <a:rPr spc="-139" dirty="0"/>
              <a:t> </a:t>
            </a:r>
            <a:r>
              <a:rPr spc="-293" dirty="0"/>
              <a:t>do</a:t>
            </a:r>
            <a:r>
              <a:rPr spc="-136" dirty="0"/>
              <a:t> </a:t>
            </a:r>
            <a:r>
              <a:rPr spc="-341" dirty="0"/>
              <a:t>we</a:t>
            </a:r>
            <a:r>
              <a:rPr spc="-139" dirty="0"/>
              <a:t> </a:t>
            </a:r>
            <a:r>
              <a:rPr spc="-197" dirty="0"/>
              <a:t>‘finetune’</a:t>
            </a:r>
            <a:r>
              <a:rPr spc="-136" dirty="0"/>
              <a:t> </a:t>
            </a:r>
            <a:r>
              <a:rPr spc="-184" dirty="0"/>
              <a:t>models?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8643" y="3109265"/>
            <a:ext cx="5540889" cy="25193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11247" y="1931041"/>
            <a:ext cx="8126492" cy="872817"/>
          </a:xfrm>
          <a:prstGeom prst="rect">
            <a:avLst/>
          </a:prstGeom>
        </p:spPr>
        <p:txBody>
          <a:bodyPr vert="horz" wrap="square" lIns="0" tIns="49099" rIns="0" bIns="0" rtlCol="0">
            <a:spAutoFit/>
          </a:bodyPr>
          <a:lstStyle/>
          <a:p>
            <a:pPr marL="5776">
              <a:spcBef>
                <a:spcPts val="387"/>
              </a:spcBef>
            </a:pPr>
            <a:r>
              <a:rPr sz="1683" spc="-9" dirty="0">
                <a:latin typeface="Gill Sans MT"/>
                <a:cs typeface="Gill Sans MT"/>
              </a:rPr>
              <a:t>Start</a:t>
            </a:r>
            <a:r>
              <a:rPr sz="1683" spc="-75" dirty="0">
                <a:latin typeface="Gill Sans MT"/>
                <a:cs typeface="Gill Sans MT"/>
              </a:rPr>
              <a:t> </a:t>
            </a:r>
            <a:r>
              <a:rPr sz="1683" spc="-57" dirty="0">
                <a:latin typeface="Gill Sans MT"/>
                <a:cs typeface="Gill Sans MT"/>
              </a:rPr>
              <a:t>with</a:t>
            </a:r>
            <a:r>
              <a:rPr sz="1683" spc="-73" dirty="0">
                <a:latin typeface="Gill Sans MT"/>
                <a:cs typeface="Gill Sans MT"/>
              </a:rPr>
              <a:t> </a:t>
            </a:r>
            <a:r>
              <a:rPr sz="1683" spc="84" dirty="0">
                <a:latin typeface="Gill Sans MT"/>
                <a:cs typeface="Gill Sans MT"/>
              </a:rPr>
              <a:t>a</a:t>
            </a:r>
            <a:r>
              <a:rPr sz="1683" spc="-73" dirty="0">
                <a:latin typeface="Gill Sans MT"/>
                <a:cs typeface="Gill Sans MT"/>
              </a:rPr>
              <a:t> </a:t>
            </a:r>
            <a:r>
              <a:rPr sz="1683" spc="-34" dirty="0">
                <a:latin typeface="Gill Sans MT"/>
                <a:cs typeface="Gill Sans MT"/>
              </a:rPr>
              <a:t>model</a:t>
            </a:r>
            <a:r>
              <a:rPr sz="1683" spc="-73" dirty="0">
                <a:latin typeface="Gill Sans MT"/>
                <a:cs typeface="Gill Sans MT"/>
              </a:rPr>
              <a:t> </a:t>
            </a:r>
            <a:r>
              <a:rPr sz="1683" spc="-36" dirty="0">
                <a:latin typeface="Gill Sans MT"/>
                <a:cs typeface="Gill Sans MT"/>
              </a:rPr>
              <a:t>trained</a:t>
            </a:r>
            <a:r>
              <a:rPr sz="1683" spc="-75" dirty="0">
                <a:latin typeface="Gill Sans MT"/>
                <a:cs typeface="Gill Sans MT"/>
              </a:rPr>
              <a:t> </a:t>
            </a:r>
            <a:r>
              <a:rPr sz="1683" spc="-57" dirty="0">
                <a:latin typeface="Gill Sans MT"/>
                <a:cs typeface="Gill Sans MT"/>
              </a:rPr>
              <a:t>on</a:t>
            </a:r>
            <a:r>
              <a:rPr sz="1683" spc="-73" dirty="0">
                <a:latin typeface="Gill Sans MT"/>
                <a:cs typeface="Gill Sans MT"/>
              </a:rPr>
              <a:t> </a:t>
            </a:r>
            <a:r>
              <a:rPr sz="1683" spc="84" dirty="0">
                <a:latin typeface="Gill Sans MT"/>
                <a:cs typeface="Gill Sans MT"/>
              </a:rPr>
              <a:t>a</a:t>
            </a:r>
            <a:r>
              <a:rPr sz="1683" spc="-73" dirty="0">
                <a:latin typeface="Gill Sans MT"/>
                <a:cs typeface="Gill Sans MT"/>
              </a:rPr>
              <a:t> </a:t>
            </a:r>
            <a:r>
              <a:rPr sz="1683" spc="-48" dirty="0">
                <a:latin typeface="Gill Sans MT"/>
                <a:cs typeface="Gill Sans MT"/>
              </a:rPr>
              <a:t>lot</a:t>
            </a:r>
            <a:r>
              <a:rPr sz="1683" spc="-73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of</a:t>
            </a:r>
            <a:r>
              <a:rPr sz="1683" spc="-75" dirty="0">
                <a:latin typeface="Gill Sans MT"/>
                <a:cs typeface="Gill Sans MT"/>
              </a:rPr>
              <a:t> </a:t>
            </a:r>
            <a:r>
              <a:rPr sz="1683" spc="-9" dirty="0">
                <a:latin typeface="Gill Sans MT"/>
                <a:cs typeface="Gill Sans MT"/>
              </a:rPr>
              <a:t>data</a:t>
            </a:r>
            <a:endParaRPr sz="1683">
              <a:latin typeface="Gill Sans MT"/>
              <a:cs typeface="Gill Sans MT"/>
            </a:endParaRPr>
          </a:p>
          <a:p>
            <a:pPr marL="5776" marR="2310">
              <a:lnSpc>
                <a:spcPts val="1987"/>
              </a:lnSpc>
              <a:spcBef>
                <a:spcPts val="421"/>
              </a:spcBef>
            </a:pPr>
            <a:r>
              <a:rPr sz="1683" dirty="0">
                <a:latin typeface="Gill Sans MT"/>
                <a:cs typeface="Gill Sans MT"/>
              </a:rPr>
              <a:t>Using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-43" dirty="0">
                <a:latin typeface="Gill Sans MT"/>
                <a:cs typeface="Gill Sans MT"/>
              </a:rPr>
              <a:t>the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-48" dirty="0">
                <a:latin typeface="Gill Sans MT"/>
                <a:cs typeface="Gill Sans MT"/>
              </a:rPr>
              <a:t>pretrained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-34" dirty="0">
                <a:latin typeface="Gill Sans MT"/>
                <a:cs typeface="Gill Sans MT"/>
              </a:rPr>
              <a:t>model</a:t>
            </a:r>
            <a:r>
              <a:rPr sz="1683" spc="-73" dirty="0">
                <a:latin typeface="Gill Sans MT"/>
                <a:cs typeface="Gill Sans MT"/>
              </a:rPr>
              <a:t> </a:t>
            </a:r>
            <a:r>
              <a:rPr sz="1683" spc="102" dirty="0">
                <a:latin typeface="Gill Sans MT"/>
                <a:cs typeface="Gill Sans MT"/>
              </a:rPr>
              <a:t>as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84" dirty="0">
                <a:latin typeface="Gill Sans MT"/>
                <a:cs typeface="Gill Sans MT"/>
              </a:rPr>
              <a:t>a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starting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-41" dirty="0">
                <a:latin typeface="Gill Sans MT"/>
                <a:cs typeface="Gill Sans MT"/>
              </a:rPr>
              <a:t>point,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-11" dirty="0">
                <a:latin typeface="Gill Sans MT"/>
                <a:cs typeface="Gill Sans MT"/>
              </a:rPr>
              <a:t>update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-43" dirty="0">
                <a:latin typeface="Gill Sans MT"/>
                <a:cs typeface="Gill Sans MT"/>
              </a:rPr>
              <a:t>the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weights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-30" dirty="0">
                <a:latin typeface="Gill Sans MT"/>
                <a:cs typeface="Gill Sans MT"/>
              </a:rPr>
              <a:t>by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fitting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-43" dirty="0">
                <a:latin typeface="Gill Sans MT"/>
                <a:cs typeface="Gill Sans MT"/>
              </a:rPr>
              <a:t>the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-34" dirty="0">
                <a:latin typeface="Gill Sans MT"/>
                <a:cs typeface="Gill Sans MT"/>
              </a:rPr>
              <a:t>model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-89" dirty="0">
                <a:latin typeface="Gill Sans MT"/>
                <a:cs typeface="Gill Sans MT"/>
              </a:rPr>
              <a:t>to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84" dirty="0">
                <a:latin typeface="Gill Sans MT"/>
                <a:cs typeface="Gill Sans MT"/>
              </a:rPr>
              <a:t>a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32" dirty="0">
                <a:latin typeface="Gill Sans MT"/>
                <a:cs typeface="Gill Sans MT"/>
              </a:rPr>
              <a:t>small </a:t>
            </a:r>
            <a:r>
              <a:rPr sz="1683" spc="-23" dirty="0">
                <a:latin typeface="Gill Sans MT"/>
                <a:cs typeface="Gill Sans MT"/>
              </a:rPr>
              <a:t>amount</a:t>
            </a:r>
            <a:r>
              <a:rPr sz="1683" spc="-66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of</a:t>
            </a:r>
            <a:r>
              <a:rPr sz="1683" spc="-64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finetuning</a:t>
            </a:r>
            <a:r>
              <a:rPr sz="1683" spc="-66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data</a:t>
            </a:r>
            <a:r>
              <a:rPr sz="1683" spc="-64" dirty="0">
                <a:latin typeface="Gill Sans MT"/>
                <a:cs typeface="Gill Sans MT"/>
              </a:rPr>
              <a:t> </a:t>
            </a:r>
            <a:r>
              <a:rPr sz="1683" spc="30" dirty="0">
                <a:latin typeface="Gill Sans MT"/>
                <a:cs typeface="Gill Sans MT"/>
              </a:rPr>
              <a:t>(e.g.,</a:t>
            </a:r>
            <a:r>
              <a:rPr sz="1683" spc="-64" dirty="0">
                <a:latin typeface="Gill Sans MT"/>
                <a:cs typeface="Gill Sans MT"/>
              </a:rPr>
              <a:t> </a:t>
            </a:r>
            <a:r>
              <a:rPr sz="1683" spc="-18" dirty="0">
                <a:latin typeface="Gill Sans MT"/>
                <a:cs typeface="Gill Sans MT"/>
              </a:rPr>
              <a:t>running</a:t>
            </a:r>
            <a:r>
              <a:rPr sz="1683" spc="-66" dirty="0">
                <a:latin typeface="Gill Sans MT"/>
                <a:cs typeface="Gill Sans MT"/>
              </a:rPr>
              <a:t> </a:t>
            </a:r>
            <a:r>
              <a:rPr sz="1683" spc="84" dirty="0">
                <a:latin typeface="Gill Sans MT"/>
                <a:cs typeface="Gill Sans MT"/>
              </a:rPr>
              <a:t>a</a:t>
            </a:r>
            <a:r>
              <a:rPr sz="1683" spc="-64" dirty="0">
                <a:latin typeface="Gill Sans MT"/>
                <a:cs typeface="Gill Sans MT"/>
              </a:rPr>
              <a:t> </a:t>
            </a:r>
            <a:r>
              <a:rPr sz="1683" spc="36" dirty="0">
                <a:latin typeface="Gill Sans MT"/>
                <a:cs typeface="Gill Sans MT"/>
              </a:rPr>
              <a:t>small</a:t>
            </a:r>
            <a:r>
              <a:rPr sz="1683" spc="-66" dirty="0">
                <a:latin typeface="Gill Sans MT"/>
                <a:cs typeface="Gill Sans MT"/>
              </a:rPr>
              <a:t> </a:t>
            </a:r>
            <a:r>
              <a:rPr sz="1683" spc="-52" dirty="0">
                <a:latin typeface="Gill Sans MT"/>
                <a:cs typeface="Gill Sans MT"/>
              </a:rPr>
              <a:t>number</a:t>
            </a:r>
            <a:r>
              <a:rPr sz="1683" spc="-64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of</a:t>
            </a:r>
            <a:r>
              <a:rPr sz="1683" spc="-64" dirty="0">
                <a:latin typeface="Gill Sans MT"/>
                <a:cs typeface="Gill Sans MT"/>
              </a:rPr>
              <a:t> </a:t>
            </a:r>
            <a:r>
              <a:rPr sz="1683" spc="23" dirty="0">
                <a:latin typeface="Gill Sans MT"/>
                <a:cs typeface="Gill Sans MT"/>
              </a:rPr>
              <a:t>steps</a:t>
            </a:r>
            <a:r>
              <a:rPr sz="1683" spc="-66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of</a:t>
            </a:r>
            <a:r>
              <a:rPr sz="1683" spc="-64" dirty="0">
                <a:latin typeface="Gill Sans MT"/>
                <a:cs typeface="Gill Sans MT"/>
              </a:rPr>
              <a:t> </a:t>
            </a:r>
            <a:r>
              <a:rPr sz="1683" spc="-14" dirty="0">
                <a:latin typeface="Gill Sans MT"/>
                <a:cs typeface="Gill Sans MT"/>
              </a:rPr>
              <a:t>gradient</a:t>
            </a:r>
            <a:r>
              <a:rPr sz="1683" spc="-64" dirty="0">
                <a:latin typeface="Gill Sans MT"/>
                <a:cs typeface="Gill Sans MT"/>
              </a:rPr>
              <a:t> </a:t>
            </a:r>
            <a:r>
              <a:rPr sz="1683" spc="-5" dirty="0">
                <a:latin typeface="Gill Sans MT"/>
                <a:cs typeface="Gill Sans MT"/>
              </a:rPr>
              <a:t>descent)</a:t>
            </a:r>
            <a:endParaRPr sz="1683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70724" y="5755670"/>
            <a:ext cx="1811471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>
              <a:spcBef>
                <a:spcPts val="55"/>
              </a:spcBef>
            </a:pPr>
            <a:r>
              <a:rPr sz="1114" dirty="0">
                <a:solidFill>
                  <a:srgbClr val="535353"/>
                </a:solidFill>
                <a:latin typeface="Arial"/>
                <a:cs typeface="Arial"/>
              </a:rPr>
              <a:t>Credit:</a:t>
            </a:r>
            <a:r>
              <a:rPr sz="1114" spc="125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114" dirty="0">
                <a:solidFill>
                  <a:srgbClr val="535353"/>
                </a:solidFill>
                <a:latin typeface="Arial"/>
                <a:cs typeface="Arial"/>
              </a:rPr>
              <a:t>Prasad</a:t>
            </a:r>
            <a:r>
              <a:rPr sz="1114" spc="132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1114" spc="18" dirty="0">
                <a:solidFill>
                  <a:srgbClr val="535353"/>
                </a:solidFill>
                <a:latin typeface="Arial"/>
                <a:cs typeface="Arial"/>
              </a:rPr>
              <a:t>Mahamulkar</a:t>
            </a:r>
            <a:endParaRPr sz="1114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4106" y="2483911"/>
            <a:ext cx="3434632" cy="1981899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17328">
              <a:lnSpc>
                <a:spcPts val="2206"/>
              </a:lnSpc>
              <a:spcBef>
                <a:spcPts val="55"/>
              </a:spcBef>
            </a:pPr>
            <a:r>
              <a:rPr sz="1865" spc="-9" dirty="0">
                <a:latin typeface="Gill Sans MT"/>
                <a:cs typeface="Gill Sans MT"/>
              </a:rPr>
              <a:t>Start</a:t>
            </a:r>
            <a:r>
              <a:rPr sz="1865" spc="-86" dirty="0">
                <a:latin typeface="Gill Sans MT"/>
                <a:cs typeface="Gill Sans MT"/>
              </a:rPr>
              <a:t> </a:t>
            </a:r>
            <a:r>
              <a:rPr sz="1865" dirty="0">
                <a:latin typeface="Gill Sans MT"/>
                <a:cs typeface="Gill Sans MT"/>
              </a:rPr>
              <a:t>at</a:t>
            </a:r>
            <a:r>
              <a:rPr sz="1865" spc="-84" dirty="0">
                <a:latin typeface="Gill Sans MT"/>
                <a:cs typeface="Gill Sans MT"/>
              </a:rPr>
              <a:t> </a:t>
            </a:r>
            <a:r>
              <a:rPr sz="1865" spc="96" dirty="0">
                <a:latin typeface="Gill Sans MT"/>
                <a:cs typeface="Gill Sans MT"/>
              </a:rPr>
              <a:t>a</a:t>
            </a:r>
            <a:r>
              <a:rPr sz="1865" spc="-84" dirty="0">
                <a:latin typeface="Gill Sans MT"/>
                <a:cs typeface="Gill Sans MT"/>
              </a:rPr>
              <a:t> </a:t>
            </a:r>
            <a:r>
              <a:rPr sz="1865" spc="-52" dirty="0">
                <a:latin typeface="Gill Sans MT"/>
                <a:cs typeface="Gill Sans MT"/>
              </a:rPr>
              <a:t>random</a:t>
            </a:r>
            <a:r>
              <a:rPr sz="1865" spc="-84" dirty="0">
                <a:latin typeface="Gill Sans MT"/>
                <a:cs typeface="Gill Sans MT"/>
              </a:rPr>
              <a:t> </a:t>
            </a:r>
            <a:r>
              <a:rPr sz="1865" spc="-36" dirty="0">
                <a:latin typeface="Gill Sans MT"/>
                <a:cs typeface="Gill Sans MT"/>
              </a:rPr>
              <a:t>point,</a:t>
            </a:r>
            <a:r>
              <a:rPr sz="1865" spc="-82" dirty="0">
                <a:latin typeface="Gill Sans MT"/>
                <a:cs typeface="Gill Sans MT"/>
              </a:rPr>
              <a:t> </a:t>
            </a:r>
            <a:r>
              <a:rPr sz="1865" spc="-11" dirty="0">
                <a:latin typeface="Gill Sans MT"/>
                <a:cs typeface="Gill Sans MT"/>
              </a:rPr>
              <a:t>w</a:t>
            </a:r>
            <a:r>
              <a:rPr sz="1876" spc="-17" baseline="-7070" dirty="0">
                <a:latin typeface="Gill Sans MT"/>
                <a:cs typeface="Gill Sans MT"/>
              </a:rPr>
              <a:t>0</a:t>
            </a:r>
            <a:endParaRPr sz="1876" baseline="-7070">
              <a:latin typeface="Gill Sans MT"/>
              <a:cs typeface="Gill Sans MT"/>
            </a:endParaRPr>
          </a:p>
          <a:p>
            <a:pPr marL="17328">
              <a:lnSpc>
                <a:spcPts val="2174"/>
              </a:lnSpc>
            </a:pPr>
            <a:r>
              <a:rPr sz="1865" b="1" spc="-173" dirty="0">
                <a:latin typeface="Gill Sans MT"/>
                <a:cs typeface="Gill Sans MT"/>
              </a:rPr>
              <a:t>Repeat</a:t>
            </a:r>
            <a:endParaRPr sz="1865">
              <a:latin typeface="Gill Sans MT"/>
              <a:cs typeface="Gill Sans MT"/>
            </a:endParaRPr>
          </a:p>
          <a:p>
            <a:pPr marL="493267" marR="128226">
              <a:lnSpc>
                <a:spcPts val="2174"/>
              </a:lnSpc>
              <a:spcBef>
                <a:spcPts val="95"/>
              </a:spcBef>
            </a:pPr>
            <a:r>
              <a:rPr sz="1865" spc="-77" dirty="0">
                <a:latin typeface="Gill Sans MT"/>
                <a:cs typeface="Gill Sans MT"/>
              </a:rPr>
              <a:t>Determine </a:t>
            </a:r>
            <a:r>
              <a:rPr sz="1865" spc="96" dirty="0">
                <a:latin typeface="Gill Sans MT"/>
                <a:cs typeface="Gill Sans MT"/>
              </a:rPr>
              <a:t>a</a:t>
            </a:r>
            <a:r>
              <a:rPr sz="1865" spc="-77" dirty="0">
                <a:latin typeface="Gill Sans MT"/>
                <a:cs typeface="Gill Sans MT"/>
              </a:rPr>
              <a:t> </a:t>
            </a:r>
            <a:r>
              <a:rPr sz="1865" dirty="0">
                <a:latin typeface="Gill Sans MT"/>
                <a:cs typeface="Gill Sans MT"/>
              </a:rPr>
              <a:t>descent</a:t>
            </a:r>
            <a:r>
              <a:rPr sz="1865" spc="-80" dirty="0">
                <a:latin typeface="Gill Sans MT"/>
                <a:cs typeface="Gill Sans MT"/>
              </a:rPr>
              <a:t> </a:t>
            </a:r>
            <a:r>
              <a:rPr sz="1865" spc="-32" dirty="0">
                <a:latin typeface="Gill Sans MT"/>
                <a:cs typeface="Gill Sans MT"/>
              </a:rPr>
              <a:t>direction </a:t>
            </a:r>
            <a:r>
              <a:rPr sz="1865" spc="-64" dirty="0">
                <a:latin typeface="Gill Sans MT"/>
                <a:cs typeface="Gill Sans MT"/>
              </a:rPr>
              <a:t>Choose</a:t>
            </a:r>
            <a:r>
              <a:rPr sz="1865" spc="-70" dirty="0">
                <a:latin typeface="Gill Sans MT"/>
                <a:cs typeface="Gill Sans MT"/>
              </a:rPr>
              <a:t> </a:t>
            </a:r>
            <a:r>
              <a:rPr sz="1865" spc="96" dirty="0">
                <a:latin typeface="Gill Sans MT"/>
                <a:cs typeface="Gill Sans MT"/>
              </a:rPr>
              <a:t>a</a:t>
            </a:r>
            <a:r>
              <a:rPr sz="1865" spc="-73" dirty="0">
                <a:latin typeface="Gill Sans MT"/>
                <a:cs typeface="Gill Sans MT"/>
              </a:rPr>
              <a:t> </a:t>
            </a:r>
            <a:r>
              <a:rPr sz="1865" dirty="0">
                <a:latin typeface="Gill Sans MT"/>
                <a:cs typeface="Gill Sans MT"/>
              </a:rPr>
              <a:t>step</a:t>
            </a:r>
            <a:r>
              <a:rPr sz="1865" spc="-68" dirty="0">
                <a:latin typeface="Gill Sans MT"/>
                <a:cs typeface="Gill Sans MT"/>
              </a:rPr>
              <a:t> </a:t>
            </a:r>
            <a:r>
              <a:rPr sz="1865" spc="30" dirty="0">
                <a:latin typeface="Gill Sans MT"/>
                <a:cs typeface="Gill Sans MT"/>
              </a:rPr>
              <a:t>size</a:t>
            </a:r>
            <a:endParaRPr sz="1865">
              <a:latin typeface="Gill Sans MT"/>
              <a:cs typeface="Gill Sans MT"/>
            </a:endParaRPr>
          </a:p>
          <a:p>
            <a:pPr marL="711598" marR="13862" indent="-218331">
              <a:lnSpc>
                <a:spcPts val="2174"/>
              </a:lnSpc>
            </a:pPr>
            <a:r>
              <a:rPr sz="1865" spc="-55" dirty="0">
                <a:latin typeface="Gill Sans MT"/>
                <a:cs typeface="Gill Sans MT"/>
              </a:rPr>
              <a:t>Update</a:t>
            </a:r>
            <a:r>
              <a:rPr sz="1865" spc="-80" dirty="0">
                <a:latin typeface="Gill Sans MT"/>
                <a:cs typeface="Gill Sans MT"/>
              </a:rPr>
              <a:t> </a:t>
            </a:r>
            <a:r>
              <a:rPr sz="1865" spc="-32" dirty="0">
                <a:latin typeface="Gill Sans MT"/>
                <a:cs typeface="Gill Sans MT"/>
              </a:rPr>
              <a:t>model</a:t>
            </a:r>
            <a:r>
              <a:rPr sz="1865" spc="-82" dirty="0">
                <a:latin typeface="Gill Sans MT"/>
                <a:cs typeface="Gill Sans MT"/>
              </a:rPr>
              <a:t> </a:t>
            </a:r>
            <a:r>
              <a:rPr sz="1865" spc="43" dirty="0">
                <a:latin typeface="Gill Sans MT"/>
                <a:cs typeface="Gill Sans MT"/>
              </a:rPr>
              <a:t>using</a:t>
            </a:r>
            <a:r>
              <a:rPr sz="1865" spc="-77" dirty="0">
                <a:latin typeface="Gill Sans MT"/>
                <a:cs typeface="Gill Sans MT"/>
              </a:rPr>
              <a:t> </a:t>
            </a:r>
            <a:r>
              <a:rPr sz="1865" spc="-5" dirty="0">
                <a:latin typeface="Gill Sans MT"/>
                <a:cs typeface="Gill Sans MT"/>
              </a:rPr>
              <a:t>gradient </a:t>
            </a:r>
            <a:r>
              <a:rPr sz="1865" dirty="0">
                <a:latin typeface="Gill Sans MT"/>
                <a:cs typeface="Gill Sans MT"/>
              </a:rPr>
              <a:t>calculated</a:t>
            </a:r>
            <a:r>
              <a:rPr sz="1865" spc="-32" dirty="0">
                <a:latin typeface="Gill Sans MT"/>
                <a:cs typeface="Gill Sans MT"/>
              </a:rPr>
              <a:t> </a:t>
            </a:r>
            <a:r>
              <a:rPr sz="1865" spc="-50" dirty="0">
                <a:latin typeface="Gill Sans MT"/>
                <a:cs typeface="Gill Sans MT"/>
              </a:rPr>
              <a:t>from</a:t>
            </a:r>
            <a:r>
              <a:rPr sz="1865" spc="-32" dirty="0">
                <a:latin typeface="Gill Sans MT"/>
                <a:cs typeface="Gill Sans MT"/>
              </a:rPr>
              <a:t> </a:t>
            </a:r>
            <a:r>
              <a:rPr sz="1865" spc="-9" dirty="0">
                <a:latin typeface="Gill Sans MT"/>
                <a:cs typeface="Gill Sans MT"/>
              </a:rPr>
              <a:t>training</a:t>
            </a:r>
            <a:r>
              <a:rPr sz="1865" spc="-30" dirty="0">
                <a:latin typeface="Gill Sans MT"/>
                <a:cs typeface="Gill Sans MT"/>
              </a:rPr>
              <a:t> </a:t>
            </a:r>
            <a:r>
              <a:rPr sz="1865" spc="14" dirty="0">
                <a:latin typeface="Gill Sans MT"/>
                <a:cs typeface="Gill Sans MT"/>
              </a:rPr>
              <a:t>data</a:t>
            </a:r>
            <a:endParaRPr sz="1865">
              <a:latin typeface="Gill Sans MT"/>
              <a:cs typeface="Gill Sans MT"/>
            </a:endParaRPr>
          </a:p>
          <a:p>
            <a:pPr marL="17328">
              <a:lnSpc>
                <a:spcPts val="2115"/>
              </a:lnSpc>
            </a:pPr>
            <a:r>
              <a:rPr sz="1865" b="1" spc="-182" dirty="0">
                <a:latin typeface="Gill Sans MT"/>
                <a:cs typeface="Gill Sans MT"/>
              </a:rPr>
              <a:t>Until</a:t>
            </a:r>
            <a:r>
              <a:rPr sz="1865" b="1" spc="-70" dirty="0">
                <a:latin typeface="Gill Sans MT"/>
                <a:cs typeface="Gill Sans MT"/>
              </a:rPr>
              <a:t> </a:t>
            </a:r>
            <a:r>
              <a:rPr sz="1865" dirty="0">
                <a:latin typeface="Gill Sans MT"/>
                <a:cs typeface="Gill Sans MT"/>
              </a:rPr>
              <a:t>stopping</a:t>
            </a:r>
            <a:r>
              <a:rPr sz="1865" spc="-68" dirty="0">
                <a:latin typeface="Gill Sans MT"/>
                <a:cs typeface="Gill Sans MT"/>
              </a:rPr>
              <a:t> </a:t>
            </a:r>
            <a:r>
              <a:rPr sz="1865" spc="-55" dirty="0">
                <a:latin typeface="Gill Sans MT"/>
                <a:cs typeface="Gill Sans MT"/>
              </a:rPr>
              <a:t>criterion</a:t>
            </a:r>
            <a:r>
              <a:rPr sz="1865" spc="-68" dirty="0">
                <a:latin typeface="Gill Sans MT"/>
                <a:cs typeface="Gill Sans MT"/>
              </a:rPr>
              <a:t> </a:t>
            </a:r>
            <a:r>
              <a:rPr sz="1865" spc="77" dirty="0">
                <a:latin typeface="Gill Sans MT"/>
                <a:cs typeface="Gill Sans MT"/>
              </a:rPr>
              <a:t>is</a:t>
            </a:r>
            <a:r>
              <a:rPr sz="1865" spc="-68" dirty="0">
                <a:latin typeface="Gill Sans MT"/>
                <a:cs typeface="Gill Sans MT"/>
              </a:rPr>
              <a:t> </a:t>
            </a:r>
            <a:r>
              <a:rPr sz="1865" spc="30" dirty="0">
                <a:latin typeface="Gill Sans MT"/>
                <a:cs typeface="Gill Sans MT"/>
              </a:rPr>
              <a:t>satisfied</a:t>
            </a:r>
            <a:endParaRPr sz="1865">
              <a:latin typeface="Gill Sans MT"/>
              <a:cs typeface="Gill Sans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22236" y="1187452"/>
            <a:ext cx="5419972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309" dirty="0"/>
              <a:t>Gradient</a:t>
            </a:r>
            <a:r>
              <a:rPr spc="-136" dirty="0"/>
              <a:t> </a:t>
            </a:r>
            <a:r>
              <a:rPr spc="-197" dirty="0"/>
              <a:t>descent</a:t>
            </a:r>
            <a:r>
              <a:rPr spc="-134" dirty="0"/>
              <a:t> </a:t>
            </a:r>
            <a:r>
              <a:rPr spc="-200" dirty="0"/>
              <a:t>for</a:t>
            </a:r>
            <a:r>
              <a:rPr spc="-134" dirty="0"/>
              <a:t> </a:t>
            </a:r>
            <a:r>
              <a:rPr spc="-309" dirty="0"/>
              <a:t>model</a:t>
            </a:r>
            <a:r>
              <a:rPr spc="-136" dirty="0"/>
              <a:t> </a:t>
            </a:r>
            <a:r>
              <a:rPr spc="-218" dirty="0"/>
              <a:t>training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86072" y="4677512"/>
            <a:ext cx="4109601" cy="793962"/>
            <a:chOff x="1508404" y="8399667"/>
            <a:chExt cx="9035415" cy="174561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08404" y="8399667"/>
              <a:ext cx="9035336" cy="174502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550287" y="8420608"/>
              <a:ext cx="8951595" cy="1661795"/>
            </a:xfrm>
            <a:custGeom>
              <a:avLst/>
              <a:gdLst/>
              <a:ahLst/>
              <a:cxnLst/>
              <a:rect l="l" t="t" r="r" b="b"/>
              <a:pathLst>
                <a:path w="8951595" h="1661795">
                  <a:moveTo>
                    <a:pt x="8856535" y="0"/>
                  </a:moveTo>
                  <a:lnTo>
                    <a:pt x="95033" y="0"/>
                  </a:lnTo>
                  <a:lnTo>
                    <a:pt x="58042" y="7468"/>
                  </a:lnTo>
                  <a:lnTo>
                    <a:pt x="27834" y="27834"/>
                  </a:lnTo>
                  <a:lnTo>
                    <a:pt x="7468" y="58042"/>
                  </a:lnTo>
                  <a:lnTo>
                    <a:pt x="0" y="95033"/>
                  </a:lnTo>
                  <a:lnTo>
                    <a:pt x="0" y="1566226"/>
                  </a:lnTo>
                  <a:lnTo>
                    <a:pt x="7468" y="1603217"/>
                  </a:lnTo>
                  <a:lnTo>
                    <a:pt x="27834" y="1633425"/>
                  </a:lnTo>
                  <a:lnTo>
                    <a:pt x="58042" y="1653791"/>
                  </a:lnTo>
                  <a:lnTo>
                    <a:pt x="95033" y="1661259"/>
                  </a:lnTo>
                  <a:lnTo>
                    <a:pt x="8856535" y="1661259"/>
                  </a:lnTo>
                  <a:lnTo>
                    <a:pt x="8893527" y="1653791"/>
                  </a:lnTo>
                  <a:lnTo>
                    <a:pt x="8923735" y="1633425"/>
                  </a:lnTo>
                  <a:lnTo>
                    <a:pt x="8944102" y="1603217"/>
                  </a:lnTo>
                  <a:lnTo>
                    <a:pt x="8951570" y="1566226"/>
                  </a:lnTo>
                  <a:lnTo>
                    <a:pt x="8951570" y="95033"/>
                  </a:lnTo>
                  <a:lnTo>
                    <a:pt x="8944102" y="58042"/>
                  </a:lnTo>
                  <a:lnTo>
                    <a:pt x="8923735" y="27834"/>
                  </a:lnTo>
                  <a:lnTo>
                    <a:pt x="8893527" y="7468"/>
                  </a:lnTo>
                  <a:lnTo>
                    <a:pt x="8856535" y="0"/>
                  </a:lnTo>
                  <a:close/>
                </a:path>
              </a:pathLst>
            </a:custGeom>
            <a:solidFill>
              <a:srgbClr val="A8D6FF"/>
            </a:solidFill>
          </p:spPr>
          <p:txBody>
            <a:bodyPr wrap="square" lIns="0" tIns="0" rIns="0" bIns="0" rtlCol="0"/>
            <a:lstStyle/>
            <a:p>
              <a:endParaRPr sz="819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25130" y="4939853"/>
            <a:ext cx="1226035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>
              <a:spcBef>
                <a:spcPts val="55"/>
              </a:spcBef>
            </a:pPr>
            <a:r>
              <a:rPr sz="1865" b="1" spc="-207" dirty="0">
                <a:latin typeface="Gill Sans MT"/>
                <a:cs typeface="Gill Sans MT"/>
              </a:rPr>
              <a:t>Update</a:t>
            </a:r>
            <a:r>
              <a:rPr sz="1865" b="1" spc="-75" dirty="0">
                <a:latin typeface="Gill Sans MT"/>
                <a:cs typeface="Gill Sans MT"/>
              </a:rPr>
              <a:t> </a:t>
            </a:r>
            <a:r>
              <a:rPr sz="1865" b="1" spc="-100" dirty="0">
                <a:latin typeface="Gill Sans MT"/>
                <a:cs typeface="Gill Sans MT"/>
              </a:rPr>
              <a:t>Rule:</a:t>
            </a:r>
            <a:endParaRPr sz="1865">
              <a:latin typeface="Gill Sans MT"/>
              <a:cs typeface="Gill Sans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96173" y="4905219"/>
            <a:ext cx="2560089" cy="32778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17328">
              <a:spcBef>
                <a:spcPts val="45"/>
              </a:spcBef>
              <a:tabLst>
                <a:tab pos="632756" algn="l"/>
                <a:tab pos="1257715" algn="l"/>
              </a:tabLst>
            </a:pPr>
            <a:r>
              <a:rPr sz="2092" b="1" spc="-9" dirty="0">
                <a:latin typeface="Book Antiqua"/>
                <a:cs typeface="Book Antiqua"/>
              </a:rPr>
              <a:t>w</a:t>
            </a:r>
            <a:r>
              <a:rPr sz="2183" i="1" spc="-14" baseline="-12152" dirty="0">
                <a:latin typeface="Times New Roman"/>
                <a:cs typeface="Times New Roman"/>
              </a:rPr>
              <a:t>i</a:t>
            </a:r>
            <a:r>
              <a:rPr sz="2183" spc="-14" baseline="-12152" dirty="0">
                <a:latin typeface="Verdana"/>
                <a:cs typeface="Verdana"/>
              </a:rPr>
              <a:t>+</a:t>
            </a:r>
            <a:r>
              <a:rPr sz="2183" spc="-14" baseline="-12152" dirty="0">
                <a:latin typeface="Times New Roman"/>
                <a:cs typeface="Times New Roman"/>
              </a:rPr>
              <a:t>1</a:t>
            </a:r>
            <a:r>
              <a:rPr sz="2183" baseline="-12152" dirty="0">
                <a:latin typeface="Times New Roman"/>
                <a:cs typeface="Times New Roman"/>
              </a:rPr>
              <a:t>	</a:t>
            </a:r>
            <a:r>
              <a:rPr sz="2092" spc="91" dirty="0">
                <a:latin typeface="Tahoma"/>
                <a:cs typeface="Tahoma"/>
              </a:rPr>
              <a:t>=</a:t>
            </a:r>
            <a:r>
              <a:rPr sz="2092" spc="-73" dirty="0">
                <a:latin typeface="Tahoma"/>
                <a:cs typeface="Tahoma"/>
              </a:rPr>
              <a:t> </a:t>
            </a:r>
            <a:r>
              <a:rPr sz="2092" b="1" spc="-11" dirty="0">
                <a:latin typeface="Book Antiqua"/>
                <a:cs typeface="Book Antiqua"/>
              </a:rPr>
              <a:t>w</a:t>
            </a:r>
            <a:r>
              <a:rPr sz="2183" i="1" spc="-17" baseline="-12152" dirty="0">
                <a:latin typeface="Times New Roman"/>
                <a:cs typeface="Times New Roman"/>
              </a:rPr>
              <a:t>i</a:t>
            </a:r>
            <a:r>
              <a:rPr sz="2183" i="1" baseline="-12152" dirty="0">
                <a:latin typeface="Times New Roman"/>
                <a:cs typeface="Times New Roman"/>
              </a:rPr>
              <a:t>	</a:t>
            </a:r>
            <a:r>
              <a:rPr sz="2092" spc="-482" dirty="0">
                <a:latin typeface="Lucida Sans Unicode"/>
                <a:cs typeface="Lucida Sans Unicode"/>
              </a:rPr>
              <a:t>—</a:t>
            </a:r>
            <a:r>
              <a:rPr sz="2092" spc="-182" dirty="0">
                <a:latin typeface="Lucida Sans Unicode"/>
                <a:cs typeface="Lucida Sans Unicode"/>
              </a:rPr>
              <a:t> </a:t>
            </a:r>
            <a:r>
              <a:rPr sz="2069" i="1" spc="36" dirty="0">
                <a:latin typeface="Times New Roman"/>
                <a:cs typeface="Times New Roman"/>
              </a:rPr>
              <a:t>a</a:t>
            </a:r>
            <a:r>
              <a:rPr sz="2183" i="1" spc="55" baseline="-12152" dirty="0">
                <a:latin typeface="Times New Roman"/>
                <a:cs typeface="Times New Roman"/>
              </a:rPr>
              <a:t>i</a:t>
            </a:r>
            <a:r>
              <a:rPr sz="2092" spc="36" dirty="0">
                <a:latin typeface="Lucida Sans Unicode"/>
                <a:cs typeface="Lucida Sans Unicode"/>
              </a:rPr>
              <a:t>∇</a:t>
            </a:r>
            <a:r>
              <a:rPr sz="2069" i="1" spc="36" dirty="0">
                <a:latin typeface="Times New Roman"/>
                <a:cs typeface="Times New Roman"/>
              </a:rPr>
              <a:t>f</a:t>
            </a:r>
            <a:r>
              <a:rPr sz="2092" spc="36" dirty="0">
                <a:latin typeface="Tahoma"/>
                <a:cs typeface="Tahoma"/>
              </a:rPr>
              <a:t>(</a:t>
            </a:r>
            <a:r>
              <a:rPr sz="2092" b="1" spc="36" dirty="0">
                <a:latin typeface="Book Antiqua"/>
                <a:cs typeface="Book Antiqua"/>
              </a:rPr>
              <a:t>w</a:t>
            </a:r>
            <a:r>
              <a:rPr sz="2183" i="1" spc="55" baseline="-12152" dirty="0">
                <a:latin typeface="Times New Roman"/>
                <a:cs typeface="Times New Roman"/>
              </a:rPr>
              <a:t>i</a:t>
            </a:r>
            <a:r>
              <a:rPr sz="2092" spc="36" dirty="0">
                <a:latin typeface="Tahoma"/>
                <a:cs typeface="Tahoma"/>
              </a:rPr>
              <a:t>)</a:t>
            </a:r>
            <a:endParaRPr sz="2092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2237" y="1035612"/>
            <a:ext cx="726379" cy="213238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76">
              <a:spcBef>
                <a:spcPts val="52"/>
              </a:spcBef>
            </a:pPr>
            <a:r>
              <a:rPr sz="1342" b="1" spc="-68" dirty="0">
                <a:solidFill>
                  <a:srgbClr val="FF644E"/>
                </a:solidFill>
                <a:latin typeface="Gill Sans MT"/>
                <a:cs typeface="Gill Sans MT"/>
              </a:rPr>
              <a:t>REC</a:t>
            </a:r>
            <a:r>
              <a:rPr sz="1342" b="1" spc="-141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342" b="1" spc="-11" dirty="0">
                <a:solidFill>
                  <a:srgbClr val="FF644E"/>
                </a:solidFill>
                <a:latin typeface="Gill Sans MT"/>
                <a:cs typeface="Gill Sans MT"/>
              </a:rPr>
              <a:t>ALL </a:t>
            </a:r>
            <a:endParaRPr sz="1342">
              <a:latin typeface="Gill Sans MT"/>
              <a:cs typeface="Gill Sans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496141" y="2491254"/>
            <a:ext cx="3432610" cy="2180581"/>
            <a:chOff x="12083875" y="3592936"/>
            <a:chExt cx="7546975" cy="4794250"/>
          </a:xfrm>
        </p:grpSpPr>
        <p:sp>
          <p:nvSpPr>
            <p:cNvPr id="11" name="object 11"/>
            <p:cNvSpPr/>
            <p:nvPr/>
          </p:nvSpPr>
          <p:spPr>
            <a:xfrm>
              <a:off x="12110228" y="3619288"/>
              <a:ext cx="0" cy="4699000"/>
            </a:xfrm>
            <a:custGeom>
              <a:avLst/>
              <a:gdLst/>
              <a:ahLst/>
              <a:cxnLst/>
              <a:rect l="l" t="t" r="r" b="b"/>
              <a:pathLst>
                <a:path h="4699000">
                  <a:moveTo>
                    <a:pt x="0" y="4698520"/>
                  </a:moveTo>
                  <a:lnTo>
                    <a:pt x="0" y="0"/>
                  </a:lnTo>
                </a:path>
              </a:pathLst>
            </a:custGeom>
            <a:ln w="523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sp>
          <p:nvSpPr>
            <p:cNvPr id="12" name="object 12"/>
            <p:cNvSpPr/>
            <p:nvPr/>
          </p:nvSpPr>
          <p:spPr>
            <a:xfrm>
              <a:off x="12127389" y="8309774"/>
              <a:ext cx="7477125" cy="0"/>
            </a:xfrm>
            <a:custGeom>
              <a:avLst/>
              <a:gdLst/>
              <a:ahLst/>
              <a:cxnLst/>
              <a:rect l="l" t="t" r="r" b="b"/>
              <a:pathLst>
                <a:path w="7477125">
                  <a:moveTo>
                    <a:pt x="0" y="0"/>
                  </a:moveTo>
                  <a:lnTo>
                    <a:pt x="7476682" y="0"/>
                  </a:lnTo>
                </a:path>
              </a:pathLst>
            </a:custGeom>
            <a:ln w="523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sp>
          <p:nvSpPr>
            <p:cNvPr id="13" name="object 13"/>
            <p:cNvSpPr/>
            <p:nvPr/>
          </p:nvSpPr>
          <p:spPr>
            <a:xfrm>
              <a:off x="13266789" y="3613393"/>
              <a:ext cx="4987925" cy="4001770"/>
            </a:xfrm>
            <a:custGeom>
              <a:avLst/>
              <a:gdLst/>
              <a:ahLst/>
              <a:cxnLst/>
              <a:rect l="l" t="t" r="r" b="b"/>
              <a:pathLst>
                <a:path w="4987925" h="4001770">
                  <a:moveTo>
                    <a:pt x="4987906" y="0"/>
                  </a:moveTo>
                  <a:lnTo>
                    <a:pt x="4965034" y="79167"/>
                  </a:lnTo>
                  <a:lnTo>
                    <a:pt x="4942142" y="157543"/>
                  </a:lnTo>
                  <a:lnTo>
                    <a:pt x="4919229" y="235128"/>
                  </a:lnTo>
                  <a:lnTo>
                    <a:pt x="4896295" y="311923"/>
                  </a:lnTo>
                  <a:lnTo>
                    <a:pt x="4873340" y="387926"/>
                  </a:lnTo>
                  <a:lnTo>
                    <a:pt x="4850364" y="463139"/>
                  </a:lnTo>
                  <a:lnTo>
                    <a:pt x="4827367" y="537560"/>
                  </a:lnTo>
                  <a:lnTo>
                    <a:pt x="4804350" y="611191"/>
                  </a:lnTo>
                  <a:lnTo>
                    <a:pt x="4781312" y="684031"/>
                  </a:lnTo>
                  <a:lnTo>
                    <a:pt x="4758253" y="756080"/>
                  </a:lnTo>
                  <a:lnTo>
                    <a:pt x="4735174" y="827338"/>
                  </a:lnTo>
                  <a:lnTo>
                    <a:pt x="4712073" y="897805"/>
                  </a:lnTo>
                  <a:lnTo>
                    <a:pt x="4688952" y="967481"/>
                  </a:lnTo>
                  <a:lnTo>
                    <a:pt x="4665810" y="1036367"/>
                  </a:lnTo>
                  <a:lnTo>
                    <a:pt x="4642648" y="1104461"/>
                  </a:lnTo>
                  <a:lnTo>
                    <a:pt x="4619464" y="1171764"/>
                  </a:lnTo>
                  <a:lnTo>
                    <a:pt x="4596260" y="1238277"/>
                  </a:lnTo>
                  <a:lnTo>
                    <a:pt x="4573035" y="1303998"/>
                  </a:lnTo>
                  <a:lnTo>
                    <a:pt x="4549789" y="1368929"/>
                  </a:lnTo>
                  <a:lnTo>
                    <a:pt x="4526522" y="1433069"/>
                  </a:lnTo>
                  <a:lnTo>
                    <a:pt x="4503235" y="1496418"/>
                  </a:lnTo>
                  <a:lnTo>
                    <a:pt x="4479927" y="1558976"/>
                  </a:lnTo>
                  <a:lnTo>
                    <a:pt x="4456598" y="1620743"/>
                  </a:lnTo>
                  <a:lnTo>
                    <a:pt x="4433248" y="1681719"/>
                  </a:lnTo>
                  <a:lnTo>
                    <a:pt x="4409878" y="1741904"/>
                  </a:lnTo>
                  <a:lnTo>
                    <a:pt x="4386486" y="1801298"/>
                  </a:lnTo>
                  <a:lnTo>
                    <a:pt x="4363074" y="1859902"/>
                  </a:lnTo>
                  <a:lnTo>
                    <a:pt x="4339641" y="1917714"/>
                  </a:lnTo>
                  <a:lnTo>
                    <a:pt x="4316188" y="1974736"/>
                  </a:lnTo>
                  <a:lnTo>
                    <a:pt x="4292713" y="2030966"/>
                  </a:lnTo>
                  <a:lnTo>
                    <a:pt x="4269218" y="2086406"/>
                  </a:lnTo>
                  <a:lnTo>
                    <a:pt x="4245702" y="2141055"/>
                  </a:lnTo>
                  <a:lnTo>
                    <a:pt x="4222165" y="2194912"/>
                  </a:lnTo>
                  <a:lnTo>
                    <a:pt x="4198608" y="2247979"/>
                  </a:lnTo>
                  <a:lnTo>
                    <a:pt x="4175029" y="2300255"/>
                  </a:lnTo>
                  <a:lnTo>
                    <a:pt x="4151430" y="2351740"/>
                  </a:lnTo>
                  <a:lnTo>
                    <a:pt x="4127810" y="2402435"/>
                  </a:lnTo>
                  <a:lnTo>
                    <a:pt x="4104170" y="2452338"/>
                  </a:lnTo>
                  <a:lnTo>
                    <a:pt x="4080508" y="2501450"/>
                  </a:lnTo>
                  <a:lnTo>
                    <a:pt x="4056826" y="2549772"/>
                  </a:lnTo>
                  <a:lnTo>
                    <a:pt x="4033123" y="2597302"/>
                  </a:lnTo>
                  <a:lnTo>
                    <a:pt x="4009399" y="2644042"/>
                  </a:lnTo>
                  <a:lnTo>
                    <a:pt x="3985655" y="2689990"/>
                  </a:lnTo>
                  <a:lnTo>
                    <a:pt x="3961889" y="2735148"/>
                  </a:lnTo>
                  <a:lnTo>
                    <a:pt x="3938103" y="2779515"/>
                  </a:lnTo>
                  <a:lnTo>
                    <a:pt x="3914296" y="2823091"/>
                  </a:lnTo>
                  <a:lnTo>
                    <a:pt x="3890468" y="2865876"/>
                  </a:lnTo>
                  <a:lnTo>
                    <a:pt x="3866620" y="2907870"/>
                  </a:lnTo>
                  <a:lnTo>
                    <a:pt x="3842751" y="2949073"/>
                  </a:lnTo>
                  <a:lnTo>
                    <a:pt x="3818860" y="2989486"/>
                  </a:lnTo>
                  <a:lnTo>
                    <a:pt x="3794950" y="3029107"/>
                  </a:lnTo>
                  <a:lnTo>
                    <a:pt x="3771018" y="3067937"/>
                  </a:lnTo>
                  <a:lnTo>
                    <a:pt x="3747066" y="3105977"/>
                  </a:lnTo>
                  <a:lnTo>
                    <a:pt x="3723092" y="3143226"/>
                  </a:lnTo>
                  <a:lnTo>
                    <a:pt x="3699098" y="3179683"/>
                  </a:lnTo>
                  <a:lnTo>
                    <a:pt x="3675084" y="3215350"/>
                  </a:lnTo>
                  <a:lnTo>
                    <a:pt x="3651048" y="3250226"/>
                  </a:lnTo>
                  <a:lnTo>
                    <a:pt x="3626992" y="3284311"/>
                  </a:lnTo>
                  <a:lnTo>
                    <a:pt x="3602915" y="3317605"/>
                  </a:lnTo>
                  <a:lnTo>
                    <a:pt x="3578817" y="3350108"/>
                  </a:lnTo>
                  <a:lnTo>
                    <a:pt x="3554698" y="3381820"/>
                  </a:lnTo>
                  <a:lnTo>
                    <a:pt x="3530559" y="3412741"/>
                  </a:lnTo>
                  <a:lnTo>
                    <a:pt x="3506399" y="3442872"/>
                  </a:lnTo>
                  <a:lnTo>
                    <a:pt x="3458016" y="3500760"/>
                  </a:lnTo>
                  <a:lnTo>
                    <a:pt x="3409550" y="3555484"/>
                  </a:lnTo>
                  <a:lnTo>
                    <a:pt x="3361001" y="3607045"/>
                  </a:lnTo>
                  <a:lnTo>
                    <a:pt x="3312369" y="3655442"/>
                  </a:lnTo>
                  <a:lnTo>
                    <a:pt x="3263653" y="3700675"/>
                  </a:lnTo>
                  <a:lnTo>
                    <a:pt x="3214855" y="3742744"/>
                  </a:lnTo>
                  <a:lnTo>
                    <a:pt x="3165973" y="3781650"/>
                  </a:lnTo>
                  <a:lnTo>
                    <a:pt x="3117009" y="3817393"/>
                  </a:lnTo>
                  <a:lnTo>
                    <a:pt x="3067961" y="3849971"/>
                  </a:lnTo>
                  <a:lnTo>
                    <a:pt x="3018830" y="3879386"/>
                  </a:lnTo>
                  <a:lnTo>
                    <a:pt x="2969616" y="3905638"/>
                  </a:lnTo>
                  <a:lnTo>
                    <a:pt x="2920319" y="3928725"/>
                  </a:lnTo>
                  <a:lnTo>
                    <a:pt x="2870938" y="3948649"/>
                  </a:lnTo>
                  <a:lnTo>
                    <a:pt x="2821475" y="3965409"/>
                  </a:lnTo>
                  <a:lnTo>
                    <a:pt x="2771928" y="3979006"/>
                  </a:lnTo>
                  <a:lnTo>
                    <a:pt x="2722299" y="3989439"/>
                  </a:lnTo>
                  <a:lnTo>
                    <a:pt x="2672586" y="3996708"/>
                  </a:lnTo>
                  <a:lnTo>
                    <a:pt x="2622790" y="4000814"/>
                  </a:lnTo>
                  <a:lnTo>
                    <a:pt x="2572911" y="4001756"/>
                  </a:lnTo>
                  <a:lnTo>
                    <a:pt x="2547940" y="4001041"/>
                  </a:lnTo>
                  <a:lnTo>
                    <a:pt x="2497936" y="3997237"/>
                  </a:lnTo>
                  <a:lnTo>
                    <a:pt x="2447850" y="3990270"/>
                  </a:lnTo>
                  <a:lnTo>
                    <a:pt x="2397680" y="3980139"/>
                  </a:lnTo>
                  <a:lnTo>
                    <a:pt x="2347426" y="3966844"/>
                  </a:lnTo>
                  <a:lnTo>
                    <a:pt x="2297090" y="3950386"/>
                  </a:lnTo>
                  <a:lnTo>
                    <a:pt x="2246671" y="3930764"/>
                  </a:lnTo>
                  <a:lnTo>
                    <a:pt x="2196168" y="3907979"/>
                  </a:lnTo>
                  <a:lnTo>
                    <a:pt x="2145583" y="3882030"/>
                  </a:lnTo>
                  <a:lnTo>
                    <a:pt x="2094914" y="3852917"/>
                  </a:lnTo>
                  <a:lnTo>
                    <a:pt x="2044162" y="3820640"/>
                  </a:lnTo>
                  <a:lnTo>
                    <a:pt x="1993327" y="3785200"/>
                  </a:lnTo>
                  <a:lnTo>
                    <a:pt x="1942409" y="3746596"/>
                  </a:lnTo>
                  <a:lnTo>
                    <a:pt x="1891408" y="3704829"/>
                  </a:lnTo>
                  <a:lnTo>
                    <a:pt x="1840323" y="3659897"/>
                  </a:lnTo>
                  <a:lnTo>
                    <a:pt x="1789156" y="3611803"/>
                  </a:lnTo>
                  <a:lnTo>
                    <a:pt x="1737905" y="3560544"/>
                  </a:lnTo>
                  <a:lnTo>
                    <a:pt x="1686571" y="3506122"/>
                  </a:lnTo>
                  <a:lnTo>
                    <a:pt x="1660873" y="3477724"/>
                  </a:lnTo>
                  <a:lnTo>
                    <a:pt x="1635154" y="3448536"/>
                  </a:lnTo>
                  <a:lnTo>
                    <a:pt x="1609415" y="3418557"/>
                  </a:lnTo>
                  <a:lnTo>
                    <a:pt x="1583654" y="3387786"/>
                  </a:lnTo>
                  <a:lnTo>
                    <a:pt x="1557873" y="3356225"/>
                  </a:lnTo>
                  <a:lnTo>
                    <a:pt x="1532071" y="3323873"/>
                  </a:lnTo>
                  <a:lnTo>
                    <a:pt x="1506248" y="3290730"/>
                  </a:lnTo>
                  <a:lnTo>
                    <a:pt x="1480405" y="3256796"/>
                  </a:lnTo>
                  <a:lnTo>
                    <a:pt x="1454541" y="3222072"/>
                  </a:lnTo>
                  <a:lnTo>
                    <a:pt x="1428655" y="3186556"/>
                  </a:lnTo>
                  <a:lnTo>
                    <a:pt x="1402750" y="3150249"/>
                  </a:lnTo>
                  <a:lnTo>
                    <a:pt x="1376823" y="3113152"/>
                  </a:lnTo>
                  <a:lnTo>
                    <a:pt x="1350875" y="3075263"/>
                  </a:lnTo>
                  <a:lnTo>
                    <a:pt x="1324907" y="3036584"/>
                  </a:lnTo>
                  <a:lnTo>
                    <a:pt x="1298918" y="2997113"/>
                  </a:lnTo>
                  <a:lnTo>
                    <a:pt x="1272908" y="2956852"/>
                  </a:lnTo>
                  <a:lnTo>
                    <a:pt x="1246878" y="2915800"/>
                  </a:lnTo>
                  <a:lnTo>
                    <a:pt x="1220827" y="2873957"/>
                  </a:lnTo>
                  <a:lnTo>
                    <a:pt x="1194754" y="2831323"/>
                  </a:lnTo>
                  <a:lnTo>
                    <a:pt x="1168661" y="2787898"/>
                  </a:lnTo>
                  <a:lnTo>
                    <a:pt x="1142548" y="2743682"/>
                  </a:lnTo>
                  <a:lnTo>
                    <a:pt x="1116413" y="2698676"/>
                  </a:lnTo>
                  <a:lnTo>
                    <a:pt x="1090258" y="2652878"/>
                  </a:lnTo>
                  <a:lnTo>
                    <a:pt x="1064082" y="2606289"/>
                  </a:lnTo>
                  <a:lnTo>
                    <a:pt x="1037885" y="2558910"/>
                  </a:lnTo>
                  <a:lnTo>
                    <a:pt x="1011668" y="2510740"/>
                  </a:lnTo>
                  <a:lnTo>
                    <a:pt x="985429" y="2461778"/>
                  </a:lnTo>
                  <a:lnTo>
                    <a:pt x="959170" y="2412026"/>
                  </a:lnTo>
                  <a:lnTo>
                    <a:pt x="932890" y="2361483"/>
                  </a:lnTo>
                  <a:lnTo>
                    <a:pt x="906589" y="2310149"/>
                  </a:lnTo>
                  <a:lnTo>
                    <a:pt x="880268" y="2258024"/>
                  </a:lnTo>
                  <a:lnTo>
                    <a:pt x="853926" y="2205108"/>
                  </a:lnTo>
                  <a:lnTo>
                    <a:pt x="827562" y="2151401"/>
                  </a:lnTo>
                  <a:lnTo>
                    <a:pt x="801179" y="2096903"/>
                  </a:lnTo>
                  <a:lnTo>
                    <a:pt x="774774" y="2041615"/>
                  </a:lnTo>
                  <a:lnTo>
                    <a:pt x="748349" y="1985535"/>
                  </a:lnTo>
                  <a:lnTo>
                    <a:pt x="721902" y="1928665"/>
                  </a:lnTo>
                  <a:lnTo>
                    <a:pt x="695435" y="1871003"/>
                  </a:lnTo>
                  <a:lnTo>
                    <a:pt x="668948" y="1812551"/>
                  </a:lnTo>
                  <a:lnTo>
                    <a:pt x="642439" y="1753308"/>
                  </a:lnTo>
                  <a:lnTo>
                    <a:pt x="615910" y="1693274"/>
                  </a:lnTo>
                  <a:lnTo>
                    <a:pt x="589360" y="1632449"/>
                  </a:lnTo>
                  <a:lnTo>
                    <a:pt x="562789" y="1570833"/>
                  </a:lnTo>
                  <a:lnTo>
                    <a:pt x="536197" y="1508426"/>
                  </a:lnTo>
                  <a:lnTo>
                    <a:pt x="509585" y="1445228"/>
                  </a:lnTo>
                  <a:lnTo>
                    <a:pt x="482951" y="1381239"/>
                  </a:lnTo>
                  <a:lnTo>
                    <a:pt x="456297" y="1316460"/>
                  </a:lnTo>
                  <a:lnTo>
                    <a:pt x="429623" y="1250889"/>
                  </a:lnTo>
                  <a:lnTo>
                    <a:pt x="402927" y="1184528"/>
                  </a:lnTo>
                  <a:lnTo>
                    <a:pt x="376211" y="1117375"/>
                  </a:lnTo>
                  <a:lnTo>
                    <a:pt x="349473" y="1049432"/>
                  </a:lnTo>
                  <a:lnTo>
                    <a:pt x="322716" y="980698"/>
                  </a:lnTo>
                  <a:lnTo>
                    <a:pt x="295937" y="911173"/>
                  </a:lnTo>
                  <a:lnTo>
                    <a:pt x="269137" y="840857"/>
                  </a:lnTo>
                  <a:lnTo>
                    <a:pt x="242317" y="769750"/>
                  </a:lnTo>
                  <a:lnTo>
                    <a:pt x="215476" y="697852"/>
                  </a:lnTo>
                  <a:lnTo>
                    <a:pt x="188614" y="625163"/>
                  </a:lnTo>
                  <a:lnTo>
                    <a:pt x="161732" y="551683"/>
                  </a:lnTo>
                  <a:lnTo>
                    <a:pt x="134828" y="477412"/>
                  </a:lnTo>
                  <a:lnTo>
                    <a:pt x="107904" y="402351"/>
                  </a:lnTo>
                  <a:lnTo>
                    <a:pt x="80959" y="326498"/>
                  </a:lnTo>
                  <a:lnTo>
                    <a:pt x="53993" y="249855"/>
                  </a:lnTo>
                  <a:lnTo>
                    <a:pt x="27007" y="172421"/>
                  </a:lnTo>
                  <a:lnTo>
                    <a:pt x="0" y="94196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sp>
          <p:nvSpPr>
            <p:cNvPr id="14" name="object 14"/>
            <p:cNvSpPr/>
            <p:nvPr/>
          </p:nvSpPr>
          <p:spPr>
            <a:xfrm>
              <a:off x="16911003" y="6869643"/>
              <a:ext cx="0" cy="1475105"/>
            </a:xfrm>
            <a:custGeom>
              <a:avLst/>
              <a:gdLst/>
              <a:ahLst/>
              <a:cxnLst/>
              <a:rect l="l" t="t" r="r" b="b"/>
              <a:pathLst>
                <a:path h="1475104">
                  <a:moveTo>
                    <a:pt x="0" y="1474818"/>
                  </a:moveTo>
                  <a:lnTo>
                    <a:pt x="0" y="0"/>
                  </a:lnTo>
                </a:path>
              </a:pathLst>
            </a:custGeom>
            <a:ln w="41883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791287" y="6752701"/>
              <a:ext cx="220867" cy="22087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7455489" y="5868372"/>
              <a:ext cx="0" cy="2498090"/>
            </a:xfrm>
            <a:custGeom>
              <a:avLst/>
              <a:gdLst/>
              <a:ahLst/>
              <a:cxnLst/>
              <a:rect l="l" t="t" r="r" b="b"/>
              <a:pathLst>
                <a:path h="2498090">
                  <a:moveTo>
                    <a:pt x="0" y="2497790"/>
                  </a:moveTo>
                  <a:lnTo>
                    <a:pt x="0" y="0"/>
                  </a:lnTo>
                </a:path>
              </a:pathLst>
            </a:custGeom>
            <a:ln w="41883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335773" y="5737025"/>
              <a:ext cx="220867" cy="22087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7947621" y="4653332"/>
              <a:ext cx="0" cy="3702685"/>
            </a:xfrm>
            <a:custGeom>
              <a:avLst/>
              <a:gdLst/>
              <a:ahLst/>
              <a:cxnLst/>
              <a:rect l="l" t="t" r="r" b="b"/>
              <a:pathLst>
                <a:path h="3702684">
                  <a:moveTo>
                    <a:pt x="0" y="3702418"/>
                  </a:moveTo>
                  <a:lnTo>
                    <a:pt x="0" y="0"/>
                  </a:lnTo>
                </a:path>
              </a:pathLst>
            </a:custGeom>
            <a:ln w="41883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923011" y="2424704"/>
            <a:ext cx="441315" cy="32865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76">
              <a:spcBef>
                <a:spcPts val="52"/>
              </a:spcBef>
            </a:pPr>
            <a:r>
              <a:rPr sz="2092" i="1" spc="-9" dirty="0">
                <a:latin typeface="Times New Roman"/>
                <a:cs typeface="Times New Roman"/>
              </a:rPr>
              <a:t>f(w)</a:t>
            </a:r>
            <a:endParaRPr sz="2092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44935" y="4631081"/>
            <a:ext cx="460666" cy="207288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23104">
              <a:spcBef>
                <a:spcPts val="61"/>
              </a:spcBef>
              <a:tabLst>
                <a:tab pos="270315" algn="l"/>
              </a:tabLst>
            </a:pPr>
            <a:r>
              <a:rPr sz="1296" i="1" spc="-11" dirty="0">
                <a:latin typeface="Times New Roman"/>
                <a:cs typeface="Times New Roman"/>
              </a:rPr>
              <a:t>w</a:t>
            </a:r>
            <a:r>
              <a:rPr sz="1296" i="1" spc="-17" baseline="-7309" dirty="0">
                <a:latin typeface="Times New Roman"/>
                <a:cs typeface="Times New Roman"/>
              </a:rPr>
              <a:t>1</a:t>
            </a:r>
            <a:r>
              <a:rPr sz="1296" i="1" baseline="-7309" dirty="0">
                <a:latin typeface="Times New Roman"/>
                <a:cs typeface="Times New Roman"/>
              </a:rPr>
              <a:t>	</a:t>
            </a:r>
            <a:r>
              <a:rPr sz="1296" i="1" spc="-11" dirty="0">
                <a:latin typeface="Times New Roman"/>
                <a:cs typeface="Times New Roman"/>
              </a:rPr>
              <a:t>w</a:t>
            </a:r>
            <a:r>
              <a:rPr sz="1296" spc="-17" baseline="-7309" dirty="0">
                <a:latin typeface="Times New Roman"/>
                <a:cs typeface="Times New Roman"/>
              </a:rPr>
              <a:t>0</a:t>
            </a:r>
            <a:endParaRPr sz="1296" baseline="-7309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166280" y="2922804"/>
            <a:ext cx="1044946" cy="1746198"/>
            <a:chOff x="15755863" y="4541746"/>
            <a:chExt cx="2297430" cy="3839210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832040" y="4541746"/>
              <a:ext cx="220870" cy="22087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5863914" y="7714552"/>
              <a:ext cx="0" cy="645160"/>
            </a:xfrm>
            <a:custGeom>
              <a:avLst/>
              <a:gdLst/>
              <a:ahLst/>
              <a:cxnLst/>
              <a:rect l="l" t="t" r="r" b="b"/>
              <a:pathLst>
                <a:path h="645159">
                  <a:moveTo>
                    <a:pt x="0" y="644934"/>
                  </a:moveTo>
                  <a:lnTo>
                    <a:pt x="0" y="0"/>
                  </a:lnTo>
                </a:path>
              </a:pathLst>
            </a:custGeom>
            <a:ln w="41883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55863" y="7516132"/>
              <a:ext cx="220867" cy="22087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7129831" y="4556506"/>
            <a:ext cx="684211" cy="271156"/>
          </a:xfrm>
          <a:prstGeom prst="rect">
            <a:avLst/>
          </a:prstGeom>
        </p:spPr>
        <p:txBody>
          <a:bodyPr vert="horz" wrap="square" lIns="0" tIns="5199" rIns="0" bIns="0" rtlCol="0">
            <a:spAutoFit/>
          </a:bodyPr>
          <a:lstStyle/>
          <a:p>
            <a:pPr marL="17328">
              <a:spcBef>
                <a:spcPts val="41"/>
              </a:spcBef>
              <a:tabLst>
                <a:tab pos="295152" algn="l"/>
              </a:tabLst>
            </a:pPr>
            <a:r>
              <a:rPr sz="2592" i="1" spc="-17" baseline="-11695" dirty="0">
                <a:latin typeface="Times New Roman"/>
                <a:cs typeface="Times New Roman"/>
              </a:rPr>
              <a:t>w</a:t>
            </a:r>
            <a:r>
              <a:rPr sz="1137" i="1" spc="-11" dirty="0">
                <a:latin typeface="Times New Roman"/>
                <a:cs typeface="Times New Roman"/>
              </a:rPr>
              <a:t>*</a:t>
            </a:r>
            <a:r>
              <a:rPr sz="1137" i="1" dirty="0">
                <a:latin typeface="Times New Roman"/>
                <a:cs typeface="Times New Roman"/>
              </a:rPr>
              <a:t>	</a:t>
            </a:r>
            <a:r>
              <a:rPr sz="1296" i="1" dirty="0">
                <a:latin typeface="Times New Roman"/>
                <a:cs typeface="Times New Roman"/>
              </a:rPr>
              <a:t>…</a:t>
            </a:r>
            <a:r>
              <a:rPr sz="1296" i="1" spc="132" dirty="0">
                <a:latin typeface="Times New Roman"/>
                <a:cs typeface="Times New Roman"/>
              </a:rPr>
              <a:t> </a:t>
            </a:r>
            <a:r>
              <a:rPr sz="1944" i="1" spc="-17" baseline="-7797" dirty="0">
                <a:latin typeface="Times New Roman"/>
                <a:cs typeface="Times New Roman"/>
              </a:rPr>
              <a:t>w</a:t>
            </a:r>
            <a:r>
              <a:rPr sz="1296" i="1" spc="-17" baseline="-17543" dirty="0">
                <a:latin typeface="Times New Roman"/>
                <a:cs typeface="Times New Roman"/>
              </a:rPr>
              <a:t>2</a:t>
            </a:r>
            <a:endParaRPr sz="1296" baseline="-17543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375287" y="4109393"/>
            <a:ext cx="219791" cy="545290"/>
            <a:chOff x="16215388" y="7150595"/>
            <a:chExt cx="483234" cy="1198880"/>
          </a:xfrm>
        </p:grpSpPr>
        <p:sp>
          <p:nvSpPr>
            <p:cNvPr id="27" name="object 27"/>
            <p:cNvSpPr/>
            <p:nvPr/>
          </p:nvSpPr>
          <p:spPr>
            <a:xfrm>
              <a:off x="16596876" y="7271038"/>
              <a:ext cx="0" cy="1067435"/>
            </a:xfrm>
            <a:custGeom>
              <a:avLst/>
              <a:gdLst/>
              <a:ahLst/>
              <a:cxnLst/>
              <a:rect l="l" t="t" r="r" b="b"/>
              <a:pathLst>
                <a:path h="1067434">
                  <a:moveTo>
                    <a:pt x="0" y="1067124"/>
                  </a:moveTo>
                  <a:lnTo>
                    <a:pt x="0" y="0"/>
                  </a:lnTo>
                </a:path>
              </a:pathLst>
            </a:custGeom>
            <a:ln w="41883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477160" y="7150595"/>
              <a:ext cx="220867" cy="22087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6335104" y="7564223"/>
              <a:ext cx="0" cy="784860"/>
            </a:xfrm>
            <a:custGeom>
              <a:avLst/>
              <a:gdLst/>
              <a:ahLst/>
              <a:cxnLst/>
              <a:rect l="l" t="t" r="r" b="b"/>
              <a:pathLst>
                <a:path h="784859">
                  <a:moveTo>
                    <a:pt x="0" y="784779"/>
                  </a:moveTo>
                  <a:lnTo>
                    <a:pt x="0" y="0"/>
                  </a:lnTo>
                </a:path>
              </a:pathLst>
            </a:custGeom>
            <a:ln w="41883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215388" y="7349542"/>
              <a:ext cx="220867" cy="22087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4106" y="2298173"/>
            <a:ext cx="3320259" cy="1430466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31388">
              <a:lnSpc>
                <a:spcPts val="2206"/>
              </a:lnSpc>
              <a:spcBef>
                <a:spcPts val="55"/>
              </a:spcBef>
            </a:pPr>
            <a:r>
              <a:rPr sz="1865" b="1" spc="-168" dirty="0">
                <a:solidFill>
                  <a:srgbClr val="FF644E"/>
                </a:solidFill>
                <a:latin typeface="Gill Sans MT"/>
                <a:cs typeface="Gill Sans MT"/>
              </a:rPr>
              <a:t>with</a:t>
            </a:r>
            <a:r>
              <a:rPr sz="1865" b="1" spc="-84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865" b="1" spc="-111" dirty="0">
                <a:solidFill>
                  <a:srgbClr val="FF644E"/>
                </a:solidFill>
                <a:latin typeface="Gill Sans MT"/>
                <a:cs typeface="Gill Sans MT"/>
              </a:rPr>
              <a:t>a</a:t>
            </a:r>
            <a:r>
              <a:rPr sz="1865" b="1" spc="-84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865" b="1" spc="-159" dirty="0">
                <a:solidFill>
                  <a:srgbClr val="FF644E"/>
                </a:solidFill>
                <a:latin typeface="Gill Sans MT"/>
                <a:cs typeface="Gill Sans MT"/>
              </a:rPr>
              <a:t>pretrained</a:t>
            </a:r>
            <a:r>
              <a:rPr sz="1865" b="1" spc="-82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865" b="1" spc="-161" dirty="0">
                <a:solidFill>
                  <a:srgbClr val="FF644E"/>
                </a:solidFill>
                <a:latin typeface="Gill Sans MT"/>
                <a:cs typeface="Gill Sans MT"/>
              </a:rPr>
              <a:t>model,</a:t>
            </a:r>
            <a:r>
              <a:rPr sz="1865" b="1" spc="-84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865" b="1" spc="-173" dirty="0">
                <a:solidFill>
                  <a:srgbClr val="FF644E"/>
                </a:solidFill>
                <a:latin typeface="Gill Sans MT"/>
                <a:cs typeface="Gill Sans MT"/>
              </a:rPr>
              <a:t>w</a:t>
            </a:r>
            <a:r>
              <a:rPr sz="1876" b="1" spc="-259" baseline="-7070" dirty="0">
                <a:solidFill>
                  <a:srgbClr val="FF644E"/>
                </a:solidFill>
                <a:latin typeface="Gill Sans MT"/>
                <a:cs typeface="Gill Sans MT"/>
              </a:rPr>
              <a:t>pre</a:t>
            </a:r>
            <a:endParaRPr sz="1876" baseline="-7070">
              <a:latin typeface="Gill Sans MT"/>
              <a:cs typeface="Gill Sans MT"/>
            </a:endParaRPr>
          </a:p>
          <a:p>
            <a:pPr marL="17328">
              <a:lnSpc>
                <a:spcPts val="2174"/>
              </a:lnSpc>
            </a:pPr>
            <a:r>
              <a:rPr sz="1865" spc="-9" dirty="0">
                <a:latin typeface="Gill Sans MT"/>
                <a:cs typeface="Gill Sans MT"/>
              </a:rPr>
              <a:t>Start</a:t>
            </a:r>
            <a:r>
              <a:rPr sz="1865" spc="-82" dirty="0">
                <a:latin typeface="Gill Sans MT"/>
                <a:cs typeface="Gill Sans MT"/>
              </a:rPr>
              <a:t> </a:t>
            </a:r>
            <a:r>
              <a:rPr sz="1865" strike="sngStrike" dirty="0">
                <a:latin typeface="Gill Sans MT"/>
                <a:cs typeface="Gill Sans MT"/>
              </a:rPr>
              <a:t>at</a:t>
            </a:r>
            <a:r>
              <a:rPr sz="1865" strike="sngStrike" spc="-84" dirty="0">
                <a:latin typeface="Gill Sans MT"/>
                <a:cs typeface="Gill Sans MT"/>
              </a:rPr>
              <a:t> </a:t>
            </a:r>
            <a:r>
              <a:rPr sz="1865" strike="sngStrike" spc="96" dirty="0">
                <a:latin typeface="Gill Sans MT"/>
                <a:cs typeface="Gill Sans MT"/>
              </a:rPr>
              <a:t>a</a:t>
            </a:r>
            <a:r>
              <a:rPr sz="1865" strike="sngStrike" spc="-84" dirty="0">
                <a:latin typeface="Gill Sans MT"/>
                <a:cs typeface="Gill Sans MT"/>
              </a:rPr>
              <a:t> </a:t>
            </a:r>
            <a:r>
              <a:rPr sz="1865" strike="sngStrike" spc="-52" dirty="0">
                <a:latin typeface="Gill Sans MT"/>
                <a:cs typeface="Gill Sans MT"/>
              </a:rPr>
              <a:t>random</a:t>
            </a:r>
            <a:r>
              <a:rPr sz="1865" strike="sngStrike" spc="-84" dirty="0">
                <a:latin typeface="Gill Sans MT"/>
                <a:cs typeface="Gill Sans MT"/>
              </a:rPr>
              <a:t> </a:t>
            </a:r>
            <a:r>
              <a:rPr sz="1865" strike="sngStrike" spc="-36" dirty="0">
                <a:latin typeface="Gill Sans MT"/>
                <a:cs typeface="Gill Sans MT"/>
              </a:rPr>
              <a:t>point,</a:t>
            </a:r>
            <a:r>
              <a:rPr sz="1865" strike="sngStrike" spc="-82" dirty="0">
                <a:latin typeface="Gill Sans MT"/>
                <a:cs typeface="Gill Sans MT"/>
              </a:rPr>
              <a:t> </a:t>
            </a:r>
            <a:r>
              <a:rPr sz="1865" strike="sngStrike" spc="-11" dirty="0">
                <a:latin typeface="Gill Sans MT"/>
                <a:cs typeface="Gill Sans MT"/>
              </a:rPr>
              <a:t>w</a:t>
            </a:r>
            <a:r>
              <a:rPr sz="1876" strike="sngStrike" spc="-17" baseline="-7070" dirty="0">
                <a:latin typeface="Gill Sans MT"/>
                <a:cs typeface="Gill Sans MT"/>
              </a:rPr>
              <a:t>0</a:t>
            </a:r>
            <a:endParaRPr sz="1876" baseline="-7070">
              <a:latin typeface="Gill Sans MT"/>
              <a:cs typeface="Gill Sans MT"/>
            </a:endParaRPr>
          </a:p>
          <a:p>
            <a:pPr marL="17328">
              <a:lnSpc>
                <a:spcPts val="2174"/>
              </a:lnSpc>
            </a:pPr>
            <a:r>
              <a:rPr sz="1865" b="1" spc="-173" dirty="0">
                <a:latin typeface="Gill Sans MT"/>
                <a:cs typeface="Gill Sans MT"/>
              </a:rPr>
              <a:t>Repeat</a:t>
            </a:r>
            <a:endParaRPr sz="1865">
              <a:latin typeface="Gill Sans MT"/>
              <a:cs typeface="Gill Sans MT"/>
            </a:endParaRPr>
          </a:p>
          <a:p>
            <a:pPr marL="493267" marR="13862">
              <a:lnSpc>
                <a:spcPts val="2174"/>
              </a:lnSpc>
              <a:spcBef>
                <a:spcPts val="82"/>
              </a:spcBef>
            </a:pPr>
            <a:r>
              <a:rPr sz="1865" spc="-77" dirty="0">
                <a:latin typeface="Gill Sans MT"/>
                <a:cs typeface="Gill Sans MT"/>
              </a:rPr>
              <a:t>Determine </a:t>
            </a:r>
            <a:r>
              <a:rPr sz="1865" spc="96" dirty="0">
                <a:latin typeface="Gill Sans MT"/>
                <a:cs typeface="Gill Sans MT"/>
              </a:rPr>
              <a:t>a</a:t>
            </a:r>
            <a:r>
              <a:rPr sz="1865" spc="-77" dirty="0">
                <a:latin typeface="Gill Sans MT"/>
                <a:cs typeface="Gill Sans MT"/>
              </a:rPr>
              <a:t> </a:t>
            </a:r>
            <a:r>
              <a:rPr sz="1865" dirty="0">
                <a:latin typeface="Gill Sans MT"/>
                <a:cs typeface="Gill Sans MT"/>
              </a:rPr>
              <a:t>descent</a:t>
            </a:r>
            <a:r>
              <a:rPr sz="1865" spc="-80" dirty="0">
                <a:latin typeface="Gill Sans MT"/>
                <a:cs typeface="Gill Sans MT"/>
              </a:rPr>
              <a:t> </a:t>
            </a:r>
            <a:r>
              <a:rPr sz="1865" spc="-32" dirty="0">
                <a:latin typeface="Gill Sans MT"/>
                <a:cs typeface="Gill Sans MT"/>
              </a:rPr>
              <a:t>direction </a:t>
            </a:r>
            <a:r>
              <a:rPr sz="1865" spc="-64" dirty="0">
                <a:latin typeface="Gill Sans MT"/>
                <a:cs typeface="Gill Sans MT"/>
              </a:rPr>
              <a:t>Choose</a:t>
            </a:r>
            <a:r>
              <a:rPr sz="1865" spc="-70" dirty="0">
                <a:latin typeface="Gill Sans MT"/>
                <a:cs typeface="Gill Sans MT"/>
              </a:rPr>
              <a:t> </a:t>
            </a:r>
            <a:r>
              <a:rPr sz="1865" spc="96" dirty="0">
                <a:latin typeface="Gill Sans MT"/>
                <a:cs typeface="Gill Sans MT"/>
              </a:rPr>
              <a:t>a</a:t>
            </a:r>
            <a:r>
              <a:rPr sz="1865" spc="-73" dirty="0">
                <a:latin typeface="Gill Sans MT"/>
                <a:cs typeface="Gill Sans MT"/>
              </a:rPr>
              <a:t> </a:t>
            </a:r>
            <a:r>
              <a:rPr sz="1865" dirty="0">
                <a:latin typeface="Gill Sans MT"/>
                <a:cs typeface="Gill Sans MT"/>
              </a:rPr>
              <a:t>step</a:t>
            </a:r>
            <a:r>
              <a:rPr sz="1865" spc="-68" dirty="0">
                <a:latin typeface="Gill Sans MT"/>
                <a:cs typeface="Gill Sans MT"/>
              </a:rPr>
              <a:t> </a:t>
            </a:r>
            <a:r>
              <a:rPr sz="1865" spc="30" dirty="0">
                <a:latin typeface="Gill Sans MT"/>
                <a:cs typeface="Gill Sans MT"/>
              </a:rPr>
              <a:t>size</a:t>
            </a:r>
            <a:endParaRPr sz="1865">
              <a:latin typeface="Gill Sans MT"/>
              <a:cs typeface="Gill Sans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5659" y="3679297"/>
            <a:ext cx="4430768" cy="866209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481715">
              <a:lnSpc>
                <a:spcPts val="2206"/>
              </a:lnSpc>
              <a:spcBef>
                <a:spcPts val="55"/>
              </a:spcBef>
            </a:pPr>
            <a:r>
              <a:rPr sz="1865" spc="-55" dirty="0">
                <a:latin typeface="Gill Sans MT"/>
                <a:cs typeface="Gill Sans MT"/>
              </a:rPr>
              <a:t>Update</a:t>
            </a:r>
            <a:r>
              <a:rPr sz="1865" spc="-80" dirty="0">
                <a:latin typeface="Gill Sans MT"/>
                <a:cs typeface="Gill Sans MT"/>
              </a:rPr>
              <a:t> </a:t>
            </a:r>
            <a:r>
              <a:rPr sz="1865" spc="-32" dirty="0">
                <a:latin typeface="Gill Sans MT"/>
                <a:cs typeface="Gill Sans MT"/>
              </a:rPr>
              <a:t>model</a:t>
            </a:r>
            <a:r>
              <a:rPr sz="1865" spc="-82" dirty="0">
                <a:latin typeface="Gill Sans MT"/>
                <a:cs typeface="Gill Sans MT"/>
              </a:rPr>
              <a:t> </a:t>
            </a:r>
            <a:r>
              <a:rPr sz="1865" spc="43" dirty="0">
                <a:latin typeface="Gill Sans MT"/>
                <a:cs typeface="Gill Sans MT"/>
              </a:rPr>
              <a:t>using</a:t>
            </a:r>
            <a:r>
              <a:rPr sz="1865" spc="-77" dirty="0">
                <a:latin typeface="Gill Sans MT"/>
                <a:cs typeface="Gill Sans MT"/>
              </a:rPr>
              <a:t> </a:t>
            </a:r>
            <a:r>
              <a:rPr sz="1865" spc="-5" dirty="0">
                <a:latin typeface="Gill Sans MT"/>
                <a:cs typeface="Gill Sans MT"/>
              </a:rPr>
              <a:t>gradient</a:t>
            </a:r>
            <a:endParaRPr sz="1865">
              <a:latin typeface="Gill Sans MT"/>
              <a:cs typeface="Gill Sans MT"/>
            </a:endParaRPr>
          </a:p>
          <a:p>
            <a:pPr marL="5776" marR="2310" indent="694270">
              <a:lnSpc>
                <a:spcPts val="2174"/>
              </a:lnSpc>
              <a:spcBef>
                <a:spcPts val="82"/>
              </a:spcBef>
            </a:pPr>
            <a:r>
              <a:rPr sz="1865" dirty="0">
                <a:latin typeface="Gill Sans MT"/>
                <a:cs typeface="Gill Sans MT"/>
              </a:rPr>
              <a:t>calculated</a:t>
            </a:r>
            <a:r>
              <a:rPr sz="1865" spc="-45" dirty="0">
                <a:latin typeface="Gill Sans MT"/>
                <a:cs typeface="Gill Sans MT"/>
              </a:rPr>
              <a:t> </a:t>
            </a:r>
            <a:r>
              <a:rPr sz="1865" spc="-50" dirty="0">
                <a:latin typeface="Gill Sans MT"/>
                <a:cs typeface="Gill Sans MT"/>
              </a:rPr>
              <a:t>from</a:t>
            </a:r>
            <a:r>
              <a:rPr sz="1865" spc="-41" dirty="0">
                <a:latin typeface="Gill Sans MT"/>
                <a:cs typeface="Gill Sans MT"/>
              </a:rPr>
              <a:t> </a:t>
            </a:r>
            <a:r>
              <a:rPr sz="1865" strike="sngStrike" spc="-9" dirty="0">
                <a:latin typeface="Gill Sans MT"/>
                <a:cs typeface="Gill Sans MT"/>
              </a:rPr>
              <a:t>training</a:t>
            </a:r>
            <a:r>
              <a:rPr sz="1865" spc="-45" dirty="0">
                <a:latin typeface="Gill Sans MT"/>
                <a:cs typeface="Gill Sans MT"/>
              </a:rPr>
              <a:t> </a:t>
            </a:r>
            <a:r>
              <a:rPr sz="1865" b="1" spc="-118" dirty="0">
                <a:solidFill>
                  <a:srgbClr val="FF644E"/>
                </a:solidFill>
                <a:latin typeface="Gill Sans MT"/>
                <a:cs typeface="Gill Sans MT"/>
              </a:rPr>
              <a:t>finetuning</a:t>
            </a:r>
            <a:r>
              <a:rPr sz="1865" b="1" spc="-39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865" b="1" spc="-152" dirty="0">
                <a:solidFill>
                  <a:srgbClr val="FF644E"/>
                </a:solidFill>
                <a:latin typeface="Gill Sans MT"/>
                <a:cs typeface="Gill Sans MT"/>
              </a:rPr>
              <a:t>data </a:t>
            </a:r>
            <a:r>
              <a:rPr sz="1865" b="1" spc="-182" dirty="0">
                <a:latin typeface="Gill Sans MT"/>
                <a:cs typeface="Gill Sans MT"/>
              </a:rPr>
              <a:t>Until</a:t>
            </a:r>
            <a:r>
              <a:rPr sz="1865" b="1" spc="-70" dirty="0">
                <a:latin typeface="Gill Sans MT"/>
                <a:cs typeface="Gill Sans MT"/>
              </a:rPr>
              <a:t> </a:t>
            </a:r>
            <a:r>
              <a:rPr sz="1865" dirty="0">
                <a:latin typeface="Gill Sans MT"/>
                <a:cs typeface="Gill Sans MT"/>
              </a:rPr>
              <a:t>stopping</a:t>
            </a:r>
            <a:r>
              <a:rPr sz="1865" spc="-68" dirty="0">
                <a:latin typeface="Gill Sans MT"/>
                <a:cs typeface="Gill Sans MT"/>
              </a:rPr>
              <a:t> </a:t>
            </a:r>
            <a:r>
              <a:rPr sz="1865" spc="-55" dirty="0">
                <a:latin typeface="Gill Sans MT"/>
                <a:cs typeface="Gill Sans MT"/>
              </a:rPr>
              <a:t>criterion</a:t>
            </a:r>
            <a:r>
              <a:rPr sz="1865" spc="-68" dirty="0">
                <a:latin typeface="Gill Sans MT"/>
                <a:cs typeface="Gill Sans MT"/>
              </a:rPr>
              <a:t> </a:t>
            </a:r>
            <a:r>
              <a:rPr sz="1865" spc="77" dirty="0">
                <a:latin typeface="Gill Sans MT"/>
                <a:cs typeface="Gill Sans MT"/>
              </a:rPr>
              <a:t>is</a:t>
            </a:r>
            <a:r>
              <a:rPr sz="1865" spc="-68" dirty="0">
                <a:latin typeface="Gill Sans MT"/>
                <a:cs typeface="Gill Sans MT"/>
              </a:rPr>
              <a:t> </a:t>
            </a:r>
            <a:r>
              <a:rPr sz="1865" spc="30" dirty="0">
                <a:latin typeface="Gill Sans MT"/>
                <a:cs typeface="Gill Sans MT"/>
              </a:rPr>
              <a:t>satisfied</a:t>
            </a:r>
            <a:endParaRPr sz="1865">
              <a:latin typeface="Gill Sans MT"/>
              <a:cs typeface="Gill Sans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96141" y="2491254"/>
            <a:ext cx="3432610" cy="2161230"/>
            <a:chOff x="12083875" y="3592936"/>
            <a:chExt cx="7546975" cy="4751705"/>
          </a:xfrm>
        </p:grpSpPr>
        <p:sp>
          <p:nvSpPr>
            <p:cNvPr id="5" name="object 5"/>
            <p:cNvSpPr/>
            <p:nvPr/>
          </p:nvSpPr>
          <p:spPr>
            <a:xfrm>
              <a:off x="12110228" y="3619288"/>
              <a:ext cx="0" cy="4699000"/>
            </a:xfrm>
            <a:custGeom>
              <a:avLst/>
              <a:gdLst/>
              <a:ahLst/>
              <a:cxnLst/>
              <a:rect l="l" t="t" r="r" b="b"/>
              <a:pathLst>
                <a:path h="4699000">
                  <a:moveTo>
                    <a:pt x="0" y="4698520"/>
                  </a:moveTo>
                  <a:lnTo>
                    <a:pt x="0" y="0"/>
                  </a:lnTo>
                </a:path>
              </a:pathLst>
            </a:custGeom>
            <a:ln w="523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sp>
          <p:nvSpPr>
            <p:cNvPr id="6" name="object 6"/>
            <p:cNvSpPr/>
            <p:nvPr/>
          </p:nvSpPr>
          <p:spPr>
            <a:xfrm>
              <a:off x="12127389" y="8309774"/>
              <a:ext cx="7477125" cy="0"/>
            </a:xfrm>
            <a:custGeom>
              <a:avLst/>
              <a:gdLst/>
              <a:ahLst/>
              <a:cxnLst/>
              <a:rect l="l" t="t" r="r" b="b"/>
              <a:pathLst>
                <a:path w="7477125">
                  <a:moveTo>
                    <a:pt x="0" y="0"/>
                  </a:moveTo>
                  <a:lnTo>
                    <a:pt x="7476682" y="0"/>
                  </a:lnTo>
                </a:path>
              </a:pathLst>
            </a:custGeom>
            <a:ln w="523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705032" y="4570805"/>
            <a:ext cx="214881" cy="374763"/>
          </a:xfrm>
          <a:prstGeom prst="rect">
            <a:avLst/>
          </a:prstGeom>
        </p:spPr>
        <p:txBody>
          <a:bodyPr vert="horz" wrap="square" lIns="0" tIns="7220" rIns="0" bIns="0" rtlCol="0">
            <a:spAutoFit/>
          </a:bodyPr>
          <a:lstStyle/>
          <a:p>
            <a:pPr marL="5776">
              <a:spcBef>
                <a:spcPts val="57"/>
              </a:spcBef>
            </a:pPr>
            <a:r>
              <a:rPr sz="2388" i="1" spc="-23" dirty="0">
                <a:latin typeface="Times New Roman"/>
                <a:cs typeface="Times New Roman"/>
              </a:rPr>
              <a:t>w</a:t>
            </a:r>
            <a:endParaRPr sz="2388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23011" y="2424704"/>
            <a:ext cx="441315" cy="328654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76">
              <a:spcBef>
                <a:spcPts val="52"/>
              </a:spcBef>
            </a:pPr>
            <a:r>
              <a:rPr sz="2092" i="1" spc="-9" dirty="0">
                <a:latin typeface="Times New Roman"/>
                <a:cs typeface="Times New Roman"/>
              </a:rPr>
              <a:t>f(w)</a:t>
            </a:r>
            <a:endParaRPr sz="2092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029402" y="2495793"/>
            <a:ext cx="2278202" cy="2176249"/>
            <a:chOff x="13256311" y="3602916"/>
            <a:chExt cx="5008880" cy="4784725"/>
          </a:xfrm>
        </p:grpSpPr>
        <p:sp>
          <p:nvSpPr>
            <p:cNvPr id="10" name="object 10"/>
            <p:cNvSpPr/>
            <p:nvPr/>
          </p:nvSpPr>
          <p:spPr>
            <a:xfrm>
              <a:off x="13266789" y="3613393"/>
              <a:ext cx="4987925" cy="4001770"/>
            </a:xfrm>
            <a:custGeom>
              <a:avLst/>
              <a:gdLst/>
              <a:ahLst/>
              <a:cxnLst/>
              <a:rect l="l" t="t" r="r" b="b"/>
              <a:pathLst>
                <a:path w="4987925" h="4001770">
                  <a:moveTo>
                    <a:pt x="4987906" y="0"/>
                  </a:moveTo>
                  <a:lnTo>
                    <a:pt x="4965034" y="79167"/>
                  </a:lnTo>
                  <a:lnTo>
                    <a:pt x="4942142" y="157543"/>
                  </a:lnTo>
                  <a:lnTo>
                    <a:pt x="4919229" y="235128"/>
                  </a:lnTo>
                  <a:lnTo>
                    <a:pt x="4896295" y="311923"/>
                  </a:lnTo>
                  <a:lnTo>
                    <a:pt x="4873340" y="387926"/>
                  </a:lnTo>
                  <a:lnTo>
                    <a:pt x="4850364" y="463139"/>
                  </a:lnTo>
                  <a:lnTo>
                    <a:pt x="4827367" y="537560"/>
                  </a:lnTo>
                  <a:lnTo>
                    <a:pt x="4804350" y="611191"/>
                  </a:lnTo>
                  <a:lnTo>
                    <a:pt x="4781312" y="684031"/>
                  </a:lnTo>
                  <a:lnTo>
                    <a:pt x="4758253" y="756080"/>
                  </a:lnTo>
                  <a:lnTo>
                    <a:pt x="4735174" y="827338"/>
                  </a:lnTo>
                  <a:lnTo>
                    <a:pt x="4712073" y="897805"/>
                  </a:lnTo>
                  <a:lnTo>
                    <a:pt x="4688952" y="967481"/>
                  </a:lnTo>
                  <a:lnTo>
                    <a:pt x="4665810" y="1036367"/>
                  </a:lnTo>
                  <a:lnTo>
                    <a:pt x="4642648" y="1104461"/>
                  </a:lnTo>
                  <a:lnTo>
                    <a:pt x="4619464" y="1171764"/>
                  </a:lnTo>
                  <a:lnTo>
                    <a:pt x="4596260" y="1238277"/>
                  </a:lnTo>
                  <a:lnTo>
                    <a:pt x="4573035" y="1303998"/>
                  </a:lnTo>
                  <a:lnTo>
                    <a:pt x="4549789" y="1368929"/>
                  </a:lnTo>
                  <a:lnTo>
                    <a:pt x="4526522" y="1433069"/>
                  </a:lnTo>
                  <a:lnTo>
                    <a:pt x="4503235" y="1496418"/>
                  </a:lnTo>
                  <a:lnTo>
                    <a:pt x="4479927" y="1558976"/>
                  </a:lnTo>
                  <a:lnTo>
                    <a:pt x="4456598" y="1620743"/>
                  </a:lnTo>
                  <a:lnTo>
                    <a:pt x="4433248" y="1681719"/>
                  </a:lnTo>
                  <a:lnTo>
                    <a:pt x="4409878" y="1741904"/>
                  </a:lnTo>
                  <a:lnTo>
                    <a:pt x="4386486" y="1801298"/>
                  </a:lnTo>
                  <a:lnTo>
                    <a:pt x="4363074" y="1859902"/>
                  </a:lnTo>
                  <a:lnTo>
                    <a:pt x="4339641" y="1917714"/>
                  </a:lnTo>
                  <a:lnTo>
                    <a:pt x="4316188" y="1974736"/>
                  </a:lnTo>
                  <a:lnTo>
                    <a:pt x="4292713" y="2030966"/>
                  </a:lnTo>
                  <a:lnTo>
                    <a:pt x="4269218" y="2086406"/>
                  </a:lnTo>
                  <a:lnTo>
                    <a:pt x="4245702" y="2141055"/>
                  </a:lnTo>
                  <a:lnTo>
                    <a:pt x="4222165" y="2194912"/>
                  </a:lnTo>
                  <a:lnTo>
                    <a:pt x="4198608" y="2247979"/>
                  </a:lnTo>
                  <a:lnTo>
                    <a:pt x="4175029" y="2300255"/>
                  </a:lnTo>
                  <a:lnTo>
                    <a:pt x="4151430" y="2351740"/>
                  </a:lnTo>
                  <a:lnTo>
                    <a:pt x="4127810" y="2402435"/>
                  </a:lnTo>
                  <a:lnTo>
                    <a:pt x="4104170" y="2452338"/>
                  </a:lnTo>
                  <a:lnTo>
                    <a:pt x="4080508" y="2501450"/>
                  </a:lnTo>
                  <a:lnTo>
                    <a:pt x="4056826" y="2549772"/>
                  </a:lnTo>
                  <a:lnTo>
                    <a:pt x="4033123" y="2597302"/>
                  </a:lnTo>
                  <a:lnTo>
                    <a:pt x="4009399" y="2644042"/>
                  </a:lnTo>
                  <a:lnTo>
                    <a:pt x="3985655" y="2689990"/>
                  </a:lnTo>
                  <a:lnTo>
                    <a:pt x="3961889" y="2735148"/>
                  </a:lnTo>
                  <a:lnTo>
                    <a:pt x="3938103" y="2779515"/>
                  </a:lnTo>
                  <a:lnTo>
                    <a:pt x="3914296" y="2823091"/>
                  </a:lnTo>
                  <a:lnTo>
                    <a:pt x="3890468" y="2865876"/>
                  </a:lnTo>
                  <a:lnTo>
                    <a:pt x="3866620" y="2907870"/>
                  </a:lnTo>
                  <a:lnTo>
                    <a:pt x="3842751" y="2949073"/>
                  </a:lnTo>
                  <a:lnTo>
                    <a:pt x="3818860" y="2989486"/>
                  </a:lnTo>
                  <a:lnTo>
                    <a:pt x="3794950" y="3029107"/>
                  </a:lnTo>
                  <a:lnTo>
                    <a:pt x="3771018" y="3067937"/>
                  </a:lnTo>
                  <a:lnTo>
                    <a:pt x="3747066" y="3105977"/>
                  </a:lnTo>
                  <a:lnTo>
                    <a:pt x="3723092" y="3143226"/>
                  </a:lnTo>
                  <a:lnTo>
                    <a:pt x="3699098" y="3179683"/>
                  </a:lnTo>
                  <a:lnTo>
                    <a:pt x="3675084" y="3215350"/>
                  </a:lnTo>
                  <a:lnTo>
                    <a:pt x="3651048" y="3250226"/>
                  </a:lnTo>
                  <a:lnTo>
                    <a:pt x="3626992" y="3284311"/>
                  </a:lnTo>
                  <a:lnTo>
                    <a:pt x="3602915" y="3317605"/>
                  </a:lnTo>
                  <a:lnTo>
                    <a:pt x="3578817" y="3350108"/>
                  </a:lnTo>
                  <a:lnTo>
                    <a:pt x="3554698" y="3381820"/>
                  </a:lnTo>
                  <a:lnTo>
                    <a:pt x="3530559" y="3412741"/>
                  </a:lnTo>
                  <a:lnTo>
                    <a:pt x="3506399" y="3442872"/>
                  </a:lnTo>
                  <a:lnTo>
                    <a:pt x="3458016" y="3500760"/>
                  </a:lnTo>
                  <a:lnTo>
                    <a:pt x="3409550" y="3555484"/>
                  </a:lnTo>
                  <a:lnTo>
                    <a:pt x="3361001" y="3607045"/>
                  </a:lnTo>
                  <a:lnTo>
                    <a:pt x="3312369" y="3655442"/>
                  </a:lnTo>
                  <a:lnTo>
                    <a:pt x="3263653" y="3700675"/>
                  </a:lnTo>
                  <a:lnTo>
                    <a:pt x="3214855" y="3742744"/>
                  </a:lnTo>
                  <a:lnTo>
                    <a:pt x="3165973" y="3781650"/>
                  </a:lnTo>
                  <a:lnTo>
                    <a:pt x="3117009" y="3817393"/>
                  </a:lnTo>
                  <a:lnTo>
                    <a:pt x="3067961" y="3849971"/>
                  </a:lnTo>
                  <a:lnTo>
                    <a:pt x="3018830" y="3879386"/>
                  </a:lnTo>
                  <a:lnTo>
                    <a:pt x="2969616" y="3905638"/>
                  </a:lnTo>
                  <a:lnTo>
                    <a:pt x="2920319" y="3928725"/>
                  </a:lnTo>
                  <a:lnTo>
                    <a:pt x="2870938" y="3948649"/>
                  </a:lnTo>
                  <a:lnTo>
                    <a:pt x="2821475" y="3965409"/>
                  </a:lnTo>
                  <a:lnTo>
                    <a:pt x="2771928" y="3979006"/>
                  </a:lnTo>
                  <a:lnTo>
                    <a:pt x="2722299" y="3989439"/>
                  </a:lnTo>
                  <a:lnTo>
                    <a:pt x="2672586" y="3996708"/>
                  </a:lnTo>
                  <a:lnTo>
                    <a:pt x="2622790" y="4000814"/>
                  </a:lnTo>
                  <a:lnTo>
                    <a:pt x="2572911" y="4001756"/>
                  </a:lnTo>
                  <a:lnTo>
                    <a:pt x="2547940" y="4001041"/>
                  </a:lnTo>
                  <a:lnTo>
                    <a:pt x="2497936" y="3997237"/>
                  </a:lnTo>
                  <a:lnTo>
                    <a:pt x="2447850" y="3990270"/>
                  </a:lnTo>
                  <a:lnTo>
                    <a:pt x="2397680" y="3980139"/>
                  </a:lnTo>
                  <a:lnTo>
                    <a:pt x="2347426" y="3966844"/>
                  </a:lnTo>
                  <a:lnTo>
                    <a:pt x="2297090" y="3950386"/>
                  </a:lnTo>
                  <a:lnTo>
                    <a:pt x="2246671" y="3930764"/>
                  </a:lnTo>
                  <a:lnTo>
                    <a:pt x="2196168" y="3907979"/>
                  </a:lnTo>
                  <a:lnTo>
                    <a:pt x="2145583" y="3882030"/>
                  </a:lnTo>
                  <a:lnTo>
                    <a:pt x="2094914" y="3852917"/>
                  </a:lnTo>
                  <a:lnTo>
                    <a:pt x="2044162" y="3820640"/>
                  </a:lnTo>
                  <a:lnTo>
                    <a:pt x="1993327" y="3785200"/>
                  </a:lnTo>
                  <a:lnTo>
                    <a:pt x="1942409" y="3746596"/>
                  </a:lnTo>
                  <a:lnTo>
                    <a:pt x="1891408" y="3704829"/>
                  </a:lnTo>
                  <a:lnTo>
                    <a:pt x="1840323" y="3659897"/>
                  </a:lnTo>
                  <a:lnTo>
                    <a:pt x="1789156" y="3611803"/>
                  </a:lnTo>
                  <a:lnTo>
                    <a:pt x="1737905" y="3560544"/>
                  </a:lnTo>
                  <a:lnTo>
                    <a:pt x="1686571" y="3506122"/>
                  </a:lnTo>
                  <a:lnTo>
                    <a:pt x="1660873" y="3477724"/>
                  </a:lnTo>
                  <a:lnTo>
                    <a:pt x="1635154" y="3448536"/>
                  </a:lnTo>
                  <a:lnTo>
                    <a:pt x="1609415" y="3418557"/>
                  </a:lnTo>
                  <a:lnTo>
                    <a:pt x="1583654" y="3387786"/>
                  </a:lnTo>
                  <a:lnTo>
                    <a:pt x="1557873" y="3356225"/>
                  </a:lnTo>
                  <a:lnTo>
                    <a:pt x="1532071" y="3323873"/>
                  </a:lnTo>
                  <a:lnTo>
                    <a:pt x="1506248" y="3290730"/>
                  </a:lnTo>
                  <a:lnTo>
                    <a:pt x="1480405" y="3256796"/>
                  </a:lnTo>
                  <a:lnTo>
                    <a:pt x="1454541" y="3222072"/>
                  </a:lnTo>
                  <a:lnTo>
                    <a:pt x="1428655" y="3186556"/>
                  </a:lnTo>
                  <a:lnTo>
                    <a:pt x="1402750" y="3150249"/>
                  </a:lnTo>
                  <a:lnTo>
                    <a:pt x="1376823" y="3113152"/>
                  </a:lnTo>
                  <a:lnTo>
                    <a:pt x="1350875" y="3075263"/>
                  </a:lnTo>
                  <a:lnTo>
                    <a:pt x="1324907" y="3036584"/>
                  </a:lnTo>
                  <a:lnTo>
                    <a:pt x="1298918" y="2997113"/>
                  </a:lnTo>
                  <a:lnTo>
                    <a:pt x="1272908" y="2956852"/>
                  </a:lnTo>
                  <a:lnTo>
                    <a:pt x="1246878" y="2915800"/>
                  </a:lnTo>
                  <a:lnTo>
                    <a:pt x="1220827" y="2873957"/>
                  </a:lnTo>
                  <a:lnTo>
                    <a:pt x="1194754" y="2831323"/>
                  </a:lnTo>
                  <a:lnTo>
                    <a:pt x="1168661" y="2787898"/>
                  </a:lnTo>
                  <a:lnTo>
                    <a:pt x="1142548" y="2743682"/>
                  </a:lnTo>
                  <a:lnTo>
                    <a:pt x="1116413" y="2698676"/>
                  </a:lnTo>
                  <a:lnTo>
                    <a:pt x="1090258" y="2652878"/>
                  </a:lnTo>
                  <a:lnTo>
                    <a:pt x="1064082" y="2606289"/>
                  </a:lnTo>
                  <a:lnTo>
                    <a:pt x="1037885" y="2558910"/>
                  </a:lnTo>
                  <a:lnTo>
                    <a:pt x="1011668" y="2510740"/>
                  </a:lnTo>
                  <a:lnTo>
                    <a:pt x="985429" y="2461778"/>
                  </a:lnTo>
                  <a:lnTo>
                    <a:pt x="959170" y="2412026"/>
                  </a:lnTo>
                  <a:lnTo>
                    <a:pt x="932890" y="2361483"/>
                  </a:lnTo>
                  <a:lnTo>
                    <a:pt x="906589" y="2310149"/>
                  </a:lnTo>
                  <a:lnTo>
                    <a:pt x="880268" y="2258024"/>
                  </a:lnTo>
                  <a:lnTo>
                    <a:pt x="853926" y="2205108"/>
                  </a:lnTo>
                  <a:lnTo>
                    <a:pt x="827562" y="2151401"/>
                  </a:lnTo>
                  <a:lnTo>
                    <a:pt x="801179" y="2096903"/>
                  </a:lnTo>
                  <a:lnTo>
                    <a:pt x="774774" y="2041615"/>
                  </a:lnTo>
                  <a:lnTo>
                    <a:pt x="748349" y="1985535"/>
                  </a:lnTo>
                  <a:lnTo>
                    <a:pt x="721902" y="1928665"/>
                  </a:lnTo>
                  <a:lnTo>
                    <a:pt x="695435" y="1871003"/>
                  </a:lnTo>
                  <a:lnTo>
                    <a:pt x="668948" y="1812551"/>
                  </a:lnTo>
                  <a:lnTo>
                    <a:pt x="642439" y="1753308"/>
                  </a:lnTo>
                  <a:lnTo>
                    <a:pt x="615910" y="1693274"/>
                  </a:lnTo>
                  <a:lnTo>
                    <a:pt x="589360" y="1632449"/>
                  </a:lnTo>
                  <a:lnTo>
                    <a:pt x="562789" y="1570833"/>
                  </a:lnTo>
                  <a:lnTo>
                    <a:pt x="536197" y="1508426"/>
                  </a:lnTo>
                  <a:lnTo>
                    <a:pt x="509585" y="1445228"/>
                  </a:lnTo>
                  <a:lnTo>
                    <a:pt x="482951" y="1381239"/>
                  </a:lnTo>
                  <a:lnTo>
                    <a:pt x="456297" y="1316460"/>
                  </a:lnTo>
                  <a:lnTo>
                    <a:pt x="429623" y="1250889"/>
                  </a:lnTo>
                  <a:lnTo>
                    <a:pt x="402927" y="1184528"/>
                  </a:lnTo>
                  <a:lnTo>
                    <a:pt x="376211" y="1117375"/>
                  </a:lnTo>
                  <a:lnTo>
                    <a:pt x="349473" y="1049432"/>
                  </a:lnTo>
                  <a:lnTo>
                    <a:pt x="322716" y="980698"/>
                  </a:lnTo>
                  <a:lnTo>
                    <a:pt x="295937" y="911173"/>
                  </a:lnTo>
                  <a:lnTo>
                    <a:pt x="269137" y="840857"/>
                  </a:lnTo>
                  <a:lnTo>
                    <a:pt x="242317" y="769750"/>
                  </a:lnTo>
                  <a:lnTo>
                    <a:pt x="215476" y="697852"/>
                  </a:lnTo>
                  <a:lnTo>
                    <a:pt x="188614" y="625163"/>
                  </a:lnTo>
                  <a:lnTo>
                    <a:pt x="161732" y="551683"/>
                  </a:lnTo>
                  <a:lnTo>
                    <a:pt x="134828" y="477412"/>
                  </a:lnTo>
                  <a:lnTo>
                    <a:pt x="107904" y="402351"/>
                  </a:lnTo>
                  <a:lnTo>
                    <a:pt x="80959" y="326498"/>
                  </a:lnTo>
                  <a:lnTo>
                    <a:pt x="53993" y="249855"/>
                  </a:lnTo>
                  <a:lnTo>
                    <a:pt x="27007" y="172421"/>
                  </a:lnTo>
                  <a:lnTo>
                    <a:pt x="0" y="94196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sp>
          <p:nvSpPr>
            <p:cNvPr id="11" name="object 11"/>
            <p:cNvSpPr/>
            <p:nvPr/>
          </p:nvSpPr>
          <p:spPr>
            <a:xfrm>
              <a:off x="16911003" y="6869643"/>
              <a:ext cx="0" cy="1475105"/>
            </a:xfrm>
            <a:custGeom>
              <a:avLst/>
              <a:gdLst/>
              <a:ahLst/>
              <a:cxnLst/>
              <a:rect l="l" t="t" r="r" b="b"/>
              <a:pathLst>
                <a:path h="1475104">
                  <a:moveTo>
                    <a:pt x="0" y="1474818"/>
                  </a:moveTo>
                  <a:lnTo>
                    <a:pt x="0" y="0"/>
                  </a:lnTo>
                </a:path>
              </a:pathLst>
            </a:custGeom>
            <a:ln w="41883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91286" y="6752701"/>
              <a:ext cx="220867" cy="22087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7455488" y="5868372"/>
              <a:ext cx="0" cy="2498090"/>
            </a:xfrm>
            <a:custGeom>
              <a:avLst/>
              <a:gdLst/>
              <a:ahLst/>
              <a:cxnLst/>
              <a:rect l="l" t="t" r="r" b="b"/>
              <a:pathLst>
                <a:path h="2498090">
                  <a:moveTo>
                    <a:pt x="0" y="2497790"/>
                  </a:moveTo>
                  <a:lnTo>
                    <a:pt x="0" y="0"/>
                  </a:lnTo>
                </a:path>
              </a:pathLst>
            </a:custGeom>
            <a:ln w="41883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335772" y="5737025"/>
              <a:ext cx="220867" cy="22087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7947620" y="4653332"/>
              <a:ext cx="0" cy="3702685"/>
            </a:xfrm>
            <a:custGeom>
              <a:avLst/>
              <a:gdLst/>
              <a:ahLst/>
              <a:cxnLst/>
              <a:rect l="l" t="t" r="r" b="b"/>
              <a:pathLst>
                <a:path h="3702684">
                  <a:moveTo>
                    <a:pt x="0" y="3702418"/>
                  </a:moveTo>
                  <a:lnTo>
                    <a:pt x="0" y="0"/>
                  </a:lnTo>
                </a:path>
              </a:pathLst>
            </a:custGeom>
            <a:ln w="41883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844935" y="4631081"/>
            <a:ext cx="460666" cy="207288"/>
          </a:xfrm>
          <a:prstGeom prst="rect">
            <a:avLst/>
          </a:prstGeom>
        </p:spPr>
        <p:txBody>
          <a:bodyPr vert="horz" wrap="square" lIns="0" tIns="7798" rIns="0" bIns="0" rtlCol="0">
            <a:spAutoFit/>
          </a:bodyPr>
          <a:lstStyle/>
          <a:p>
            <a:pPr marL="23104">
              <a:spcBef>
                <a:spcPts val="61"/>
              </a:spcBef>
              <a:tabLst>
                <a:tab pos="270315" algn="l"/>
              </a:tabLst>
            </a:pPr>
            <a:r>
              <a:rPr sz="1296" i="1" spc="-11" dirty="0">
                <a:latin typeface="Times New Roman"/>
                <a:cs typeface="Times New Roman"/>
              </a:rPr>
              <a:t>w</a:t>
            </a:r>
            <a:r>
              <a:rPr sz="1296" i="1" spc="-17" baseline="-7309" dirty="0">
                <a:latin typeface="Times New Roman"/>
                <a:cs typeface="Times New Roman"/>
              </a:rPr>
              <a:t>1</a:t>
            </a:r>
            <a:r>
              <a:rPr sz="1296" i="1" baseline="-7309" dirty="0">
                <a:latin typeface="Times New Roman"/>
                <a:cs typeface="Times New Roman"/>
              </a:rPr>
              <a:t>	</a:t>
            </a:r>
            <a:r>
              <a:rPr sz="1296" i="1" spc="-11" dirty="0">
                <a:latin typeface="Times New Roman"/>
                <a:cs typeface="Times New Roman"/>
              </a:rPr>
              <a:t>w</a:t>
            </a:r>
            <a:r>
              <a:rPr sz="1296" spc="-17" baseline="-7309" dirty="0">
                <a:latin typeface="Times New Roman"/>
                <a:cs typeface="Times New Roman"/>
              </a:rPr>
              <a:t>0</a:t>
            </a:r>
            <a:endParaRPr sz="1296" baseline="-7309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166280" y="2922804"/>
            <a:ext cx="1044946" cy="1746198"/>
            <a:chOff x="15755863" y="4541746"/>
            <a:chExt cx="2297430" cy="3839210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32040" y="4541746"/>
              <a:ext cx="220870" cy="22087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5863914" y="7714552"/>
              <a:ext cx="0" cy="645160"/>
            </a:xfrm>
            <a:custGeom>
              <a:avLst/>
              <a:gdLst/>
              <a:ahLst/>
              <a:cxnLst/>
              <a:rect l="l" t="t" r="r" b="b"/>
              <a:pathLst>
                <a:path h="645159">
                  <a:moveTo>
                    <a:pt x="0" y="644934"/>
                  </a:moveTo>
                  <a:lnTo>
                    <a:pt x="0" y="0"/>
                  </a:lnTo>
                </a:path>
              </a:pathLst>
            </a:custGeom>
            <a:ln w="41883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55863" y="7516132"/>
              <a:ext cx="220867" cy="22087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7129831" y="4556506"/>
            <a:ext cx="684211" cy="271156"/>
          </a:xfrm>
          <a:prstGeom prst="rect">
            <a:avLst/>
          </a:prstGeom>
        </p:spPr>
        <p:txBody>
          <a:bodyPr vert="horz" wrap="square" lIns="0" tIns="5199" rIns="0" bIns="0" rtlCol="0">
            <a:spAutoFit/>
          </a:bodyPr>
          <a:lstStyle/>
          <a:p>
            <a:pPr marL="17328">
              <a:spcBef>
                <a:spcPts val="41"/>
              </a:spcBef>
              <a:tabLst>
                <a:tab pos="295152" algn="l"/>
              </a:tabLst>
            </a:pPr>
            <a:r>
              <a:rPr sz="2592" i="1" spc="-17" baseline="-11695" dirty="0">
                <a:latin typeface="Times New Roman"/>
                <a:cs typeface="Times New Roman"/>
              </a:rPr>
              <a:t>w</a:t>
            </a:r>
            <a:r>
              <a:rPr sz="1137" i="1" spc="-11" dirty="0">
                <a:latin typeface="Times New Roman"/>
                <a:cs typeface="Times New Roman"/>
              </a:rPr>
              <a:t>*</a:t>
            </a:r>
            <a:r>
              <a:rPr sz="1137" i="1" dirty="0">
                <a:latin typeface="Times New Roman"/>
                <a:cs typeface="Times New Roman"/>
              </a:rPr>
              <a:t>	</a:t>
            </a:r>
            <a:r>
              <a:rPr sz="1296" i="1" dirty="0">
                <a:latin typeface="Times New Roman"/>
                <a:cs typeface="Times New Roman"/>
              </a:rPr>
              <a:t>…</a:t>
            </a:r>
            <a:r>
              <a:rPr sz="1296" i="1" spc="132" dirty="0">
                <a:latin typeface="Times New Roman"/>
                <a:cs typeface="Times New Roman"/>
              </a:rPr>
              <a:t> </a:t>
            </a:r>
            <a:r>
              <a:rPr sz="1944" i="1" spc="-17" baseline="-7797" dirty="0">
                <a:latin typeface="Times New Roman"/>
                <a:cs typeface="Times New Roman"/>
              </a:rPr>
              <a:t>w</a:t>
            </a:r>
            <a:r>
              <a:rPr sz="1296" i="1" spc="-17" baseline="-17543" dirty="0">
                <a:latin typeface="Times New Roman"/>
                <a:cs typeface="Times New Roman"/>
              </a:rPr>
              <a:t>2</a:t>
            </a:r>
            <a:endParaRPr sz="1296" baseline="-17543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375287" y="4109393"/>
            <a:ext cx="219791" cy="545290"/>
            <a:chOff x="16215388" y="7150595"/>
            <a:chExt cx="483234" cy="1198880"/>
          </a:xfrm>
        </p:grpSpPr>
        <p:sp>
          <p:nvSpPr>
            <p:cNvPr id="23" name="object 23"/>
            <p:cNvSpPr/>
            <p:nvPr/>
          </p:nvSpPr>
          <p:spPr>
            <a:xfrm>
              <a:off x="16596876" y="7271038"/>
              <a:ext cx="0" cy="1067435"/>
            </a:xfrm>
            <a:custGeom>
              <a:avLst/>
              <a:gdLst/>
              <a:ahLst/>
              <a:cxnLst/>
              <a:rect l="l" t="t" r="r" b="b"/>
              <a:pathLst>
                <a:path h="1067434">
                  <a:moveTo>
                    <a:pt x="0" y="1067124"/>
                  </a:moveTo>
                  <a:lnTo>
                    <a:pt x="0" y="0"/>
                  </a:lnTo>
                </a:path>
              </a:pathLst>
            </a:custGeom>
            <a:ln w="41883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477160" y="7150595"/>
              <a:ext cx="220867" cy="22087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6335104" y="7564223"/>
              <a:ext cx="0" cy="784860"/>
            </a:xfrm>
            <a:custGeom>
              <a:avLst/>
              <a:gdLst/>
              <a:ahLst/>
              <a:cxnLst/>
              <a:rect l="l" t="t" r="r" b="b"/>
              <a:pathLst>
                <a:path h="784859">
                  <a:moveTo>
                    <a:pt x="0" y="784779"/>
                  </a:moveTo>
                  <a:lnTo>
                    <a:pt x="0" y="0"/>
                  </a:lnTo>
                </a:path>
              </a:pathLst>
            </a:custGeom>
            <a:ln w="41883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215388" y="7349542"/>
              <a:ext cx="220867" cy="220870"/>
            </a:xfrm>
            <a:prstGeom prst="rect">
              <a:avLst/>
            </a:prstGeom>
          </p:spPr>
        </p:pic>
      </p:grp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328496" y="1057414"/>
            <a:ext cx="7409185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309" dirty="0"/>
              <a:t>Gradient</a:t>
            </a:r>
            <a:r>
              <a:rPr spc="-136" dirty="0"/>
              <a:t> </a:t>
            </a:r>
            <a:r>
              <a:rPr spc="-197" dirty="0"/>
              <a:t>descent</a:t>
            </a:r>
            <a:r>
              <a:rPr spc="-134" dirty="0"/>
              <a:t> </a:t>
            </a:r>
            <a:r>
              <a:rPr spc="-200" dirty="0"/>
              <a:t>for</a:t>
            </a:r>
            <a:r>
              <a:rPr spc="-139" dirty="0"/>
              <a:t> </a:t>
            </a:r>
            <a:r>
              <a:rPr spc="-309" dirty="0">
                <a:solidFill>
                  <a:srgbClr val="FF644E"/>
                </a:solidFill>
              </a:rPr>
              <a:t>model</a:t>
            </a:r>
            <a:r>
              <a:rPr spc="-136" dirty="0">
                <a:solidFill>
                  <a:srgbClr val="FF644E"/>
                </a:solidFill>
              </a:rPr>
              <a:t> </a:t>
            </a:r>
            <a:r>
              <a:rPr spc="-189" dirty="0">
                <a:solidFill>
                  <a:srgbClr val="FF644E"/>
                </a:solidFill>
              </a:rPr>
              <a:t>finetuning</a:t>
            </a:r>
          </a:p>
        </p:txBody>
      </p:sp>
      <p:grpSp>
        <p:nvGrpSpPr>
          <p:cNvPr id="28" name="object 28"/>
          <p:cNvGrpSpPr/>
          <p:nvPr/>
        </p:nvGrpSpPr>
        <p:grpSpPr>
          <a:xfrm>
            <a:off x="686072" y="4629887"/>
            <a:ext cx="4109601" cy="793962"/>
            <a:chOff x="1508404" y="8294958"/>
            <a:chExt cx="9035415" cy="1745614"/>
          </a:xfrm>
        </p:grpSpPr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08404" y="8294958"/>
              <a:ext cx="9035336" cy="174502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550287" y="8315899"/>
              <a:ext cx="8951595" cy="1661795"/>
            </a:xfrm>
            <a:custGeom>
              <a:avLst/>
              <a:gdLst/>
              <a:ahLst/>
              <a:cxnLst/>
              <a:rect l="l" t="t" r="r" b="b"/>
              <a:pathLst>
                <a:path w="8951595" h="1661795">
                  <a:moveTo>
                    <a:pt x="8856535" y="0"/>
                  </a:moveTo>
                  <a:lnTo>
                    <a:pt x="95033" y="0"/>
                  </a:lnTo>
                  <a:lnTo>
                    <a:pt x="58042" y="7468"/>
                  </a:lnTo>
                  <a:lnTo>
                    <a:pt x="27834" y="27834"/>
                  </a:lnTo>
                  <a:lnTo>
                    <a:pt x="7468" y="58042"/>
                  </a:lnTo>
                  <a:lnTo>
                    <a:pt x="0" y="95033"/>
                  </a:lnTo>
                  <a:lnTo>
                    <a:pt x="0" y="1566226"/>
                  </a:lnTo>
                  <a:lnTo>
                    <a:pt x="7468" y="1603217"/>
                  </a:lnTo>
                  <a:lnTo>
                    <a:pt x="27834" y="1633425"/>
                  </a:lnTo>
                  <a:lnTo>
                    <a:pt x="58042" y="1653791"/>
                  </a:lnTo>
                  <a:lnTo>
                    <a:pt x="95033" y="1661259"/>
                  </a:lnTo>
                  <a:lnTo>
                    <a:pt x="8856535" y="1661259"/>
                  </a:lnTo>
                  <a:lnTo>
                    <a:pt x="8893527" y="1653791"/>
                  </a:lnTo>
                  <a:lnTo>
                    <a:pt x="8923735" y="1633425"/>
                  </a:lnTo>
                  <a:lnTo>
                    <a:pt x="8944102" y="1603217"/>
                  </a:lnTo>
                  <a:lnTo>
                    <a:pt x="8951570" y="1566226"/>
                  </a:lnTo>
                  <a:lnTo>
                    <a:pt x="8951570" y="95033"/>
                  </a:lnTo>
                  <a:lnTo>
                    <a:pt x="8944102" y="58042"/>
                  </a:lnTo>
                  <a:lnTo>
                    <a:pt x="8923735" y="27834"/>
                  </a:lnTo>
                  <a:lnTo>
                    <a:pt x="8893527" y="7468"/>
                  </a:lnTo>
                  <a:lnTo>
                    <a:pt x="8856535" y="0"/>
                  </a:lnTo>
                  <a:close/>
                </a:path>
              </a:pathLst>
            </a:custGeom>
            <a:solidFill>
              <a:srgbClr val="A8D6FF"/>
            </a:solidFill>
          </p:spPr>
          <p:txBody>
            <a:bodyPr wrap="square" lIns="0" tIns="0" rIns="0" bIns="0" rtlCol="0"/>
            <a:lstStyle/>
            <a:p>
              <a:endParaRPr sz="819"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25130" y="4892228"/>
            <a:ext cx="1226035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>
              <a:spcBef>
                <a:spcPts val="55"/>
              </a:spcBef>
            </a:pPr>
            <a:r>
              <a:rPr sz="1865" b="1" spc="-207" dirty="0">
                <a:latin typeface="Gill Sans MT"/>
                <a:cs typeface="Gill Sans MT"/>
              </a:rPr>
              <a:t>Update</a:t>
            </a:r>
            <a:r>
              <a:rPr sz="1865" b="1" spc="-75" dirty="0">
                <a:latin typeface="Gill Sans MT"/>
                <a:cs typeface="Gill Sans MT"/>
              </a:rPr>
              <a:t> </a:t>
            </a:r>
            <a:r>
              <a:rPr sz="1865" b="1" spc="-100" dirty="0">
                <a:latin typeface="Gill Sans MT"/>
                <a:cs typeface="Gill Sans MT"/>
              </a:rPr>
              <a:t>Rule:</a:t>
            </a:r>
            <a:endParaRPr sz="1865">
              <a:latin typeface="Gill Sans MT"/>
              <a:cs typeface="Gill Sans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196173" y="4857594"/>
            <a:ext cx="2560089" cy="327780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17328">
              <a:spcBef>
                <a:spcPts val="45"/>
              </a:spcBef>
              <a:tabLst>
                <a:tab pos="632756" algn="l"/>
                <a:tab pos="1257715" algn="l"/>
              </a:tabLst>
            </a:pPr>
            <a:r>
              <a:rPr sz="2092" b="1" spc="-9" dirty="0">
                <a:latin typeface="Book Antiqua"/>
                <a:cs typeface="Book Antiqua"/>
              </a:rPr>
              <a:t>w</a:t>
            </a:r>
            <a:r>
              <a:rPr sz="2183" i="1" spc="-14" baseline="-12152" dirty="0">
                <a:latin typeface="Times New Roman"/>
                <a:cs typeface="Times New Roman"/>
              </a:rPr>
              <a:t>i</a:t>
            </a:r>
            <a:r>
              <a:rPr sz="2183" spc="-14" baseline="-12152" dirty="0">
                <a:latin typeface="Verdana"/>
                <a:cs typeface="Verdana"/>
              </a:rPr>
              <a:t>+</a:t>
            </a:r>
            <a:r>
              <a:rPr sz="2183" spc="-14" baseline="-12152" dirty="0">
                <a:latin typeface="Times New Roman"/>
                <a:cs typeface="Times New Roman"/>
              </a:rPr>
              <a:t>1</a:t>
            </a:r>
            <a:r>
              <a:rPr sz="2183" baseline="-12152" dirty="0">
                <a:latin typeface="Times New Roman"/>
                <a:cs typeface="Times New Roman"/>
              </a:rPr>
              <a:t>	</a:t>
            </a:r>
            <a:r>
              <a:rPr sz="2092" spc="91" dirty="0">
                <a:latin typeface="Tahoma"/>
                <a:cs typeface="Tahoma"/>
              </a:rPr>
              <a:t>=</a:t>
            </a:r>
            <a:r>
              <a:rPr sz="2092" spc="-73" dirty="0">
                <a:latin typeface="Tahoma"/>
                <a:cs typeface="Tahoma"/>
              </a:rPr>
              <a:t> </a:t>
            </a:r>
            <a:r>
              <a:rPr sz="2092" b="1" spc="-11" dirty="0">
                <a:latin typeface="Book Antiqua"/>
                <a:cs typeface="Book Antiqua"/>
              </a:rPr>
              <a:t>w</a:t>
            </a:r>
            <a:r>
              <a:rPr sz="2183" i="1" spc="-17" baseline="-12152" dirty="0">
                <a:latin typeface="Times New Roman"/>
                <a:cs typeface="Times New Roman"/>
              </a:rPr>
              <a:t>i</a:t>
            </a:r>
            <a:r>
              <a:rPr sz="2183" i="1" baseline="-12152" dirty="0">
                <a:latin typeface="Times New Roman"/>
                <a:cs typeface="Times New Roman"/>
              </a:rPr>
              <a:t>	</a:t>
            </a:r>
            <a:r>
              <a:rPr sz="2092" spc="-482" dirty="0">
                <a:latin typeface="Lucida Sans Unicode"/>
                <a:cs typeface="Lucida Sans Unicode"/>
              </a:rPr>
              <a:t>—</a:t>
            </a:r>
            <a:r>
              <a:rPr sz="2092" spc="-182" dirty="0">
                <a:latin typeface="Lucida Sans Unicode"/>
                <a:cs typeface="Lucida Sans Unicode"/>
              </a:rPr>
              <a:t> </a:t>
            </a:r>
            <a:r>
              <a:rPr sz="2069" i="1" spc="36" dirty="0">
                <a:latin typeface="Times New Roman"/>
                <a:cs typeface="Times New Roman"/>
              </a:rPr>
              <a:t>a</a:t>
            </a:r>
            <a:r>
              <a:rPr sz="2183" i="1" spc="55" baseline="-12152" dirty="0">
                <a:latin typeface="Times New Roman"/>
                <a:cs typeface="Times New Roman"/>
              </a:rPr>
              <a:t>i</a:t>
            </a:r>
            <a:r>
              <a:rPr sz="2092" spc="36" dirty="0">
                <a:latin typeface="Lucida Sans Unicode"/>
                <a:cs typeface="Lucida Sans Unicode"/>
              </a:rPr>
              <a:t>∇</a:t>
            </a:r>
            <a:r>
              <a:rPr sz="2069" i="1" spc="36" dirty="0">
                <a:latin typeface="Times New Roman"/>
                <a:cs typeface="Times New Roman"/>
              </a:rPr>
              <a:t>f</a:t>
            </a:r>
            <a:r>
              <a:rPr sz="2092" spc="36" dirty="0">
                <a:latin typeface="Tahoma"/>
                <a:cs typeface="Tahoma"/>
              </a:rPr>
              <a:t>(</a:t>
            </a:r>
            <a:r>
              <a:rPr sz="2092" b="1" spc="36" dirty="0">
                <a:latin typeface="Book Antiqua"/>
                <a:cs typeface="Book Antiqua"/>
              </a:rPr>
              <a:t>w</a:t>
            </a:r>
            <a:r>
              <a:rPr sz="2183" i="1" spc="55" baseline="-12152" dirty="0">
                <a:latin typeface="Times New Roman"/>
                <a:cs typeface="Times New Roman"/>
              </a:rPr>
              <a:t>i</a:t>
            </a:r>
            <a:r>
              <a:rPr sz="2092" spc="36" dirty="0">
                <a:latin typeface="Tahoma"/>
                <a:cs typeface="Tahoma"/>
              </a:rPr>
              <a:t>)</a:t>
            </a:r>
            <a:endParaRPr sz="2092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80ED8-6379-3DD9-5F0F-FDF3057B5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Fine-tuning example: BERT (2019)</a:t>
            </a:r>
          </a:p>
        </p:txBody>
      </p:sp>
      <p:pic>
        <p:nvPicPr>
          <p:cNvPr id="4" name="Picture 3" descr="A close-up of a book&#10;&#10;AI-generated content may be incorrect.">
            <a:extLst>
              <a:ext uri="{FF2B5EF4-FFF2-40B4-BE49-F238E27FC236}">
                <a16:creationId xmlns:a16="http://schemas.microsoft.com/office/drawing/2014/main" id="{94E91074-9291-8EE9-C3DA-1B654B9455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236" y="1800063"/>
            <a:ext cx="7197515" cy="232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2489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F63A3-81D5-570B-6D15-02BB82E6B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training program&#10;&#10;AI-generated content may be incorrect.">
            <a:extLst>
              <a:ext uri="{FF2B5EF4-FFF2-40B4-BE49-F238E27FC236}">
                <a16:creationId xmlns:a16="http://schemas.microsoft.com/office/drawing/2014/main" id="{ACC91744-AE3C-5BB0-DF25-581C4FE2C8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733" y="857070"/>
            <a:ext cx="5476003" cy="312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8272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6EB88-24B6-8EC0-B0DB-CA3E047C1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training program&#10;&#10;AI-generated content may be incorrect.">
            <a:extLst>
              <a:ext uri="{FF2B5EF4-FFF2-40B4-BE49-F238E27FC236}">
                <a16:creationId xmlns:a16="http://schemas.microsoft.com/office/drawing/2014/main" id="{2418AA3F-7751-0563-5D2F-D5A9935AD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360" y="955680"/>
            <a:ext cx="3431166" cy="1955166"/>
          </a:xfrm>
          <a:prstGeom prst="rect">
            <a:avLst/>
          </a:prstGeom>
        </p:spPr>
      </p:pic>
      <p:pic>
        <p:nvPicPr>
          <p:cNvPr id="6" name="Picture 5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E95647C1-7514-8AB4-DA65-C03B0AE6E6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910" y="3036448"/>
            <a:ext cx="7736814" cy="2964483"/>
          </a:xfrm>
          <a:prstGeom prst="rect">
            <a:avLst/>
          </a:prstGeom>
        </p:spPr>
      </p:pic>
      <p:pic>
        <p:nvPicPr>
          <p:cNvPr id="3" name="Picture 2" descr="A text on a page&#10;&#10;AI-generated content may be incorrect.">
            <a:extLst>
              <a:ext uri="{FF2B5EF4-FFF2-40B4-BE49-F238E27FC236}">
                <a16:creationId xmlns:a16="http://schemas.microsoft.com/office/drawing/2014/main" id="{EA427E85-CAB2-C7C1-CA78-7CF2206FC8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5165" y="978328"/>
            <a:ext cx="2988088" cy="1934787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6493301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AD183-2B45-A982-EEA5-22EC630F7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645E0E18-4279-B16E-05FF-A5D48E680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7" y="857070"/>
            <a:ext cx="3186919" cy="3126462"/>
          </a:xfrm>
          <a:prstGeom prst="rect">
            <a:avLst/>
          </a:prstGeom>
        </p:spPr>
      </p:pic>
      <p:pic>
        <p:nvPicPr>
          <p:cNvPr id="8" name="Picture 7" descr="A screenshot of a test&#10;&#10;AI-generated content may be incorrect.">
            <a:extLst>
              <a:ext uri="{FF2B5EF4-FFF2-40B4-BE49-F238E27FC236}">
                <a16:creationId xmlns:a16="http://schemas.microsoft.com/office/drawing/2014/main" id="{0A15DD9D-2E3E-A2E1-3FA4-F8D11016BD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4802" y="1319079"/>
            <a:ext cx="3124164" cy="2109921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2B91E6-9B79-2367-5AB1-D446BED911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470" y="1002923"/>
            <a:ext cx="3137496" cy="3208983"/>
          </a:xfrm>
          <a:prstGeom prst="rect">
            <a:avLst/>
          </a:prstGeom>
        </p:spPr>
      </p:pic>
      <p:pic>
        <p:nvPicPr>
          <p:cNvPr id="11" name="Picture 10" descr="A diagram of a training program&#10;&#10;AI-generated content may be incorrect.">
            <a:extLst>
              <a:ext uri="{FF2B5EF4-FFF2-40B4-BE49-F238E27FC236}">
                <a16:creationId xmlns:a16="http://schemas.microsoft.com/office/drawing/2014/main" id="{4AA45ABC-0022-1D76-3C46-B5DE72C5BA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257"/>
          <a:stretch/>
        </p:blipFill>
        <p:spPr>
          <a:xfrm>
            <a:off x="1833999" y="4126399"/>
            <a:ext cx="4627209" cy="189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53196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98476-7EA6-2935-C3D5-697D94D8CB2D}"/>
              </a:ext>
            </a:extLst>
          </p:cNvPr>
          <p:cNvSpPr txBox="1">
            <a:spLocks/>
          </p:cNvSpPr>
          <p:nvPr/>
        </p:nvSpPr>
        <p:spPr>
          <a:xfrm>
            <a:off x="1868657" y="2651616"/>
            <a:ext cx="5796880" cy="923913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ambria Math"/>
                <a:ea typeface="+mj-ea"/>
                <a:cs typeface="Cambria Math"/>
              </a:defRPr>
            </a:lvl1pPr>
          </a:lstStyle>
          <a:p>
            <a:r>
              <a:rPr lang="en-US" dirty="0"/>
              <a:t>Training in the Foundation Model Era: </a:t>
            </a:r>
            <a:r>
              <a:rPr lang="en-US" b="0" dirty="0"/>
              <a:t>Efficient</a:t>
            </a:r>
            <a:r>
              <a:rPr lang="en-US" dirty="0"/>
              <a:t> Fine-Tuning</a:t>
            </a:r>
          </a:p>
        </p:txBody>
      </p:sp>
    </p:spTree>
    <p:extLst>
      <p:ext uri="{BB962C8B-B14F-4D97-AF65-F5344CB8AC3E}">
        <p14:creationId xmlns:p14="http://schemas.microsoft.com/office/powerpoint/2010/main" val="38101792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496" y="1057414"/>
            <a:ext cx="8957025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227" dirty="0"/>
              <a:t>Potential</a:t>
            </a:r>
            <a:r>
              <a:rPr spc="-134" dirty="0"/>
              <a:t> </a:t>
            </a:r>
            <a:r>
              <a:rPr spc="-70" dirty="0"/>
              <a:t>issue:</a:t>
            </a:r>
            <a:r>
              <a:rPr spc="-134" dirty="0"/>
              <a:t> </a:t>
            </a:r>
            <a:r>
              <a:rPr lang="en-US" spc="-134" dirty="0"/>
              <a:t>pre-trained </a:t>
            </a:r>
            <a:r>
              <a:rPr spc="-246" dirty="0"/>
              <a:t>models</a:t>
            </a:r>
            <a:r>
              <a:rPr spc="-134" dirty="0"/>
              <a:t> </a:t>
            </a:r>
            <a:r>
              <a:rPr spc="-273" dirty="0"/>
              <a:t>are</a:t>
            </a:r>
            <a:r>
              <a:rPr spc="-134" dirty="0"/>
              <a:t> </a:t>
            </a:r>
            <a:r>
              <a:rPr spc="-207" dirty="0"/>
              <a:t>getting</a:t>
            </a:r>
            <a:r>
              <a:rPr spc="-134" dirty="0"/>
              <a:t> </a:t>
            </a:r>
            <a:r>
              <a:rPr spc="-177" dirty="0"/>
              <a:t>large!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9636" y="1943845"/>
            <a:ext cx="7505700" cy="343376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07100" y="5477972"/>
            <a:ext cx="1168272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>
              <a:spcBef>
                <a:spcPts val="55"/>
              </a:spcBef>
            </a:pPr>
            <a:r>
              <a:rPr sz="1114" dirty="0">
                <a:latin typeface="Arial"/>
                <a:cs typeface="Arial"/>
              </a:rPr>
              <a:t>340M</a:t>
            </a:r>
            <a:r>
              <a:rPr sz="1114" spc="82" dirty="0">
                <a:latin typeface="Arial"/>
                <a:cs typeface="Arial"/>
              </a:rPr>
              <a:t> </a:t>
            </a:r>
            <a:r>
              <a:rPr sz="1114" spc="23" dirty="0">
                <a:latin typeface="Arial"/>
                <a:cs typeface="Arial"/>
              </a:rPr>
              <a:t>parameters</a:t>
            </a:r>
            <a:endParaRPr sz="1114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72818" y="5477972"/>
            <a:ext cx="1141989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>
              <a:spcBef>
                <a:spcPts val="55"/>
              </a:spcBef>
            </a:pPr>
            <a:r>
              <a:rPr sz="1114" dirty="0">
                <a:latin typeface="Arial"/>
                <a:cs typeface="Arial"/>
              </a:rPr>
              <a:t>175B</a:t>
            </a:r>
            <a:r>
              <a:rPr sz="1114" spc="50" dirty="0">
                <a:latin typeface="Arial"/>
                <a:cs typeface="Arial"/>
              </a:rPr>
              <a:t> </a:t>
            </a:r>
            <a:r>
              <a:rPr sz="1114" spc="23" dirty="0">
                <a:latin typeface="Arial"/>
                <a:cs typeface="Arial"/>
              </a:rPr>
              <a:t>parameters</a:t>
            </a:r>
            <a:endParaRPr sz="1114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08604" y="5477973"/>
            <a:ext cx="4876917" cy="462958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824229">
              <a:spcBef>
                <a:spcPts val="55"/>
              </a:spcBef>
            </a:pPr>
            <a:r>
              <a:rPr lang="en-US" sz="1114" dirty="0">
                <a:latin typeface="Arial"/>
                <a:cs typeface="Arial"/>
              </a:rPr>
              <a:t>				???</a:t>
            </a:r>
            <a:endParaRPr sz="1114" dirty="0">
              <a:latin typeface="Arial"/>
              <a:cs typeface="Arial"/>
            </a:endParaRPr>
          </a:p>
          <a:p>
            <a:pPr marL="5776">
              <a:spcBef>
                <a:spcPts val="1114"/>
              </a:spcBef>
            </a:pPr>
            <a:r>
              <a:rPr sz="932" spc="32" dirty="0">
                <a:solidFill>
                  <a:srgbClr val="A7A7A7"/>
                </a:solidFill>
                <a:latin typeface="Arial"/>
                <a:cs typeface="Arial"/>
                <a:hlinkClick r:id="rId3"/>
              </a:rPr>
              <a:t>https://www.dailydoseofds.com/implementing-</a:t>
            </a:r>
            <a:r>
              <a:rPr sz="932" spc="25" dirty="0">
                <a:solidFill>
                  <a:srgbClr val="A7A7A7"/>
                </a:solidFill>
                <a:latin typeface="Arial"/>
                <a:cs typeface="Arial"/>
                <a:hlinkClick r:id="rId3"/>
              </a:rPr>
              <a:t>lora-</a:t>
            </a:r>
            <a:r>
              <a:rPr sz="932" spc="30" dirty="0">
                <a:solidFill>
                  <a:srgbClr val="A7A7A7"/>
                </a:solidFill>
                <a:latin typeface="Arial"/>
                <a:cs typeface="Arial"/>
                <a:hlinkClick r:id="rId3"/>
              </a:rPr>
              <a:t>from-</a:t>
            </a:r>
            <a:r>
              <a:rPr sz="932" spc="32" dirty="0">
                <a:solidFill>
                  <a:srgbClr val="A7A7A7"/>
                </a:solidFill>
                <a:latin typeface="Arial"/>
                <a:cs typeface="Arial"/>
                <a:hlinkClick r:id="rId3"/>
              </a:rPr>
              <a:t>scratch-</a:t>
            </a:r>
            <a:r>
              <a:rPr sz="932" dirty="0">
                <a:solidFill>
                  <a:srgbClr val="A7A7A7"/>
                </a:solidFill>
                <a:latin typeface="Arial"/>
                <a:cs typeface="Arial"/>
                <a:hlinkClick r:id="rId3"/>
              </a:rPr>
              <a:t>for-</a:t>
            </a:r>
            <a:r>
              <a:rPr sz="932" spc="25" dirty="0">
                <a:solidFill>
                  <a:srgbClr val="A7A7A7"/>
                </a:solidFill>
                <a:latin typeface="Arial"/>
                <a:cs typeface="Arial"/>
                <a:hlinkClick r:id="rId3"/>
              </a:rPr>
              <a:t>fine-</a:t>
            </a:r>
            <a:r>
              <a:rPr sz="932" spc="27" dirty="0">
                <a:solidFill>
                  <a:srgbClr val="A7A7A7"/>
                </a:solidFill>
                <a:latin typeface="Arial"/>
                <a:cs typeface="Arial"/>
                <a:hlinkClick r:id="rId3"/>
              </a:rPr>
              <a:t>tuning-</a:t>
            </a:r>
            <a:r>
              <a:rPr sz="932" spc="20" dirty="0">
                <a:solidFill>
                  <a:srgbClr val="A7A7A7"/>
                </a:solidFill>
                <a:latin typeface="Arial"/>
                <a:cs typeface="Arial"/>
                <a:hlinkClick r:id="rId3"/>
              </a:rPr>
              <a:t>llms/</a:t>
            </a:r>
            <a:endParaRPr sz="932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497" y="1057414"/>
            <a:ext cx="6972416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475" dirty="0"/>
              <a:t>How</a:t>
            </a:r>
            <a:r>
              <a:rPr spc="-139" dirty="0"/>
              <a:t> </a:t>
            </a:r>
            <a:r>
              <a:rPr spc="-293" dirty="0"/>
              <a:t>do</a:t>
            </a:r>
            <a:r>
              <a:rPr spc="-136" dirty="0"/>
              <a:t> </a:t>
            </a:r>
            <a:r>
              <a:rPr spc="-341" dirty="0"/>
              <a:t>we</a:t>
            </a:r>
            <a:r>
              <a:rPr spc="-139" dirty="0"/>
              <a:t> </a:t>
            </a:r>
            <a:r>
              <a:rPr spc="-197" dirty="0"/>
              <a:t>‘finetune’</a:t>
            </a:r>
            <a:r>
              <a:rPr spc="-136" dirty="0"/>
              <a:t> </a:t>
            </a:r>
            <a:r>
              <a:rPr lang="en-US" spc="-136" dirty="0"/>
              <a:t>large </a:t>
            </a:r>
            <a:r>
              <a:rPr spc="-184" dirty="0"/>
              <a:t>models?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6666" y="1879206"/>
            <a:ext cx="4034543" cy="352446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63866" y="2264126"/>
            <a:ext cx="3506259" cy="3262723"/>
          </a:xfrm>
          <a:prstGeom prst="rect">
            <a:avLst/>
          </a:prstGeom>
        </p:spPr>
        <p:txBody>
          <a:bodyPr vert="horz" wrap="square" lIns="0" tIns="18196" rIns="0" bIns="0" rtlCol="0">
            <a:spAutoFit/>
          </a:bodyPr>
          <a:lstStyle/>
          <a:p>
            <a:pPr marL="5776" marR="2310">
              <a:lnSpc>
                <a:spcPts val="1987"/>
              </a:lnSpc>
              <a:spcBef>
                <a:spcPts val="143"/>
              </a:spcBef>
            </a:pPr>
            <a:r>
              <a:rPr sz="1683" spc="-141" dirty="0">
                <a:latin typeface="Gill Sans MT"/>
                <a:cs typeface="Gill Sans MT"/>
              </a:rPr>
              <a:t>When</a:t>
            </a:r>
            <a:r>
              <a:rPr sz="1683" spc="-75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finetuning,</a:t>
            </a:r>
            <a:r>
              <a:rPr sz="1683" spc="-75" dirty="0">
                <a:latin typeface="Gill Sans MT"/>
                <a:cs typeface="Gill Sans MT"/>
              </a:rPr>
              <a:t> we </a:t>
            </a:r>
            <a:r>
              <a:rPr sz="1683" spc="-36" dirty="0">
                <a:latin typeface="Gill Sans MT"/>
                <a:cs typeface="Gill Sans MT"/>
              </a:rPr>
              <a:t>expect</a:t>
            </a:r>
            <a:r>
              <a:rPr sz="1683" spc="-75" dirty="0">
                <a:latin typeface="Gill Sans MT"/>
                <a:cs typeface="Gill Sans MT"/>
              </a:rPr>
              <a:t> </a:t>
            </a:r>
            <a:r>
              <a:rPr sz="1683" spc="-43" dirty="0">
                <a:latin typeface="Gill Sans MT"/>
                <a:cs typeface="Gill Sans MT"/>
              </a:rPr>
              <a:t>the</a:t>
            </a:r>
            <a:r>
              <a:rPr sz="1683" spc="-73" dirty="0">
                <a:latin typeface="Gill Sans MT"/>
                <a:cs typeface="Gill Sans MT"/>
              </a:rPr>
              <a:t> </a:t>
            </a:r>
            <a:r>
              <a:rPr sz="1683" spc="25" dirty="0">
                <a:latin typeface="Gill Sans MT"/>
                <a:cs typeface="Gill Sans MT"/>
              </a:rPr>
              <a:t>change</a:t>
            </a:r>
            <a:r>
              <a:rPr sz="1683" spc="-75" dirty="0">
                <a:latin typeface="Gill Sans MT"/>
                <a:cs typeface="Gill Sans MT"/>
              </a:rPr>
              <a:t> </a:t>
            </a:r>
            <a:r>
              <a:rPr sz="1683" spc="-11" dirty="0">
                <a:latin typeface="Gill Sans MT"/>
                <a:cs typeface="Gill Sans MT"/>
              </a:rPr>
              <a:t>in </a:t>
            </a:r>
            <a:r>
              <a:rPr sz="1683" dirty="0">
                <a:latin typeface="Gill Sans MT"/>
                <a:cs typeface="Gill Sans MT"/>
              </a:rPr>
              <a:t>weights</a:t>
            </a:r>
            <a:r>
              <a:rPr sz="1683" spc="-93" dirty="0">
                <a:latin typeface="Gill Sans MT"/>
                <a:cs typeface="Gill Sans MT"/>
              </a:rPr>
              <a:t> </a:t>
            </a:r>
            <a:r>
              <a:rPr sz="1683" spc="-18" dirty="0">
                <a:latin typeface="Gill Sans MT"/>
                <a:cs typeface="Gill Sans MT"/>
              </a:rPr>
              <a:t>(orange)</a:t>
            </a:r>
            <a:r>
              <a:rPr sz="1683" spc="-89" dirty="0">
                <a:latin typeface="Gill Sans MT"/>
                <a:cs typeface="Gill Sans MT"/>
              </a:rPr>
              <a:t> to</a:t>
            </a:r>
            <a:r>
              <a:rPr sz="1683" spc="-82" dirty="0">
                <a:latin typeface="Gill Sans MT"/>
                <a:cs typeface="Gill Sans MT"/>
              </a:rPr>
              <a:t> </a:t>
            </a:r>
            <a:r>
              <a:rPr sz="1683" spc="-9" dirty="0">
                <a:latin typeface="Gill Sans MT"/>
                <a:cs typeface="Gill Sans MT"/>
              </a:rPr>
              <a:t>be</a:t>
            </a:r>
            <a:r>
              <a:rPr sz="1683" spc="-86" dirty="0">
                <a:latin typeface="Gill Sans MT"/>
                <a:cs typeface="Gill Sans MT"/>
              </a:rPr>
              <a:t> </a:t>
            </a:r>
            <a:r>
              <a:rPr sz="1683" spc="32" dirty="0">
                <a:latin typeface="Gill Sans MT"/>
                <a:cs typeface="Gill Sans MT"/>
              </a:rPr>
              <a:t>small</a:t>
            </a:r>
            <a:endParaRPr sz="1683" dirty="0">
              <a:latin typeface="Gill Sans MT"/>
              <a:cs typeface="Gill Sans MT"/>
            </a:endParaRPr>
          </a:p>
          <a:p>
            <a:pPr>
              <a:spcBef>
                <a:spcPts val="785"/>
              </a:spcBef>
            </a:pPr>
            <a:endParaRPr sz="1683" dirty="0">
              <a:latin typeface="Gill Sans MT"/>
              <a:cs typeface="Gill Sans MT"/>
            </a:endParaRPr>
          </a:p>
          <a:p>
            <a:pPr marL="5776" marR="247500">
              <a:lnSpc>
                <a:spcPts val="1987"/>
              </a:lnSpc>
            </a:pPr>
            <a:r>
              <a:rPr sz="1683" spc="-102" dirty="0">
                <a:latin typeface="Gill Sans MT"/>
                <a:cs typeface="Gill Sans MT"/>
              </a:rPr>
              <a:t>However,</a:t>
            </a:r>
            <a:r>
              <a:rPr sz="1683" spc="-68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updating</a:t>
            </a:r>
            <a:r>
              <a:rPr sz="1683" spc="-68" dirty="0">
                <a:latin typeface="Gill Sans MT"/>
                <a:cs typeface="Gill Sans MT"/>
              </a:rPr>
              <a:t> </a:t>
            </a:r>
            <a:r>
              <a:rPr sz="1683" spc="39" dirty="0">
                <a:latin typeface="Gill Sans MT"/>
                <a:cs typeface="Gill Sans MT"/>
              </a:rPr>
              <a:t>all</a:t>
            </a:r>
            <a:r>
              <a:rPr sz="1683" spc="-68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of</a:t>
            </a:r>
            <a:r>
              <a:rPr sz="1683" spc="-68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these</a:t>
            </a:r>
            <a:r>
              <a:rPr sz="1683" spc="-66" dirty="0">
                <a:latin typeface="Gill Sans MT"/>
                <a:cs typeface="Gill Sans MT"/>
              </a:rPr>
              <a:t> </a:t>
            </a:r>
            <a:r>
              <a:rPr sz="1683" spc="-5" dirty="0">
                <a:latin typeface="Gill Sans MT"/>
                <a:cs typeface="Gill Sans MT"/>
              </a:rPr>
              <a:t>weights </a:t>
            </a:r>
            <a:r>
              <a:rPr sz="1683" spc="32" dirty="0">
                <a:latin typeface="Gill Sans MT"/>
                <a:cs typeface="Gill Sans MT"/>
              </a:rPr>
              <a:t>can</a:t>
            </a:r>
            <a:r>
              <a:rPr sz="1683" spc="-93" dirty="0">
                <a:latin typeface="Gill Sans MT"/>
                <a:cs typeface="Gill Sans MT"/>
              </a:rPr>
              <a:t> </a:t>
            </a:r>
            <a:r>
              <a:rPr sz="1683" spc="-9" dirty="0">
                <a:latin typeface="Gill Sans MT"/>
                <a:cs typeface="Gill Sans MT"/>
              </a:rPr>
              <a:t>be</a:t>
            </a:r>
            <a:r>
              <a:rPr sz="1683" spc="-93" dirty="0">
                <a:latin typeface="Gill Sans MT"/>
                <a:cs typeface="Gill Sans MT"/>
              </a:rPr>
              <a:t> </a:t>
            </a:r>
            <a:r>
              <a:rPr sz="1683" spc="-5" dirty="0">
                <a:latin typeface="Gill Sans MT"/>
                <a:cs typeface="Gill Sans MT"/>
              </a:rPr>
              <a:t>expensive!</a:t>
            </a:r>
            <a:endParaRPr sz="1683" dirty="0">
              <a:latin typeface="Gill Sans MT"/>
              <a:cs typeface="Gill Sans MT"/>
            </a:endParaRPr>
          </a:p>
          <a:p>
            <a:pPr>
              <a:spcBef>
                <a:spcPts val="785"/>
              </a:spcBef>
            </a:pPr>
            <a:endParaRPr sz="1683" dirty="0">
              <a:latin typeface="Gill Sans MT"/>
              <a:cs typeface="Gill Sans MT"/>
            </a:endParaRPr>
          </a:p>
          <a:p>
            <a:pPr marL="5776" marR="622360">
              <a:lnSpc>
                <a:spcPts val="1987"/>
              </a:lnSpc>
            </a:pPr>
            <a:r>
              <a:rPr sz="1683" spc="-134" dirty="0">
                <a:solidFill>
                  <a:srgbClr val="FF644E"/>
                </a:solidFill>
                <a:latin typeface="Gill Sans MT"/>
                <a:cs typeface="Gill Sans MT"/>
              </a:rPr>
              <a:t>How</a:t>
            </a:r>
            <a:r>
              <a:rPr sz="1683" spc="-75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683" spc="32" dirty="0">
                <a:solidFill>
                  <a:srgbClr val="FF644E"/>
                </a:solidFill>
                <a:latin typeface="Gill Sans MT"/>
                <a:cs typeface="Gill Sans MT"/>
              </a:rPr>
              <a:t>can</a:t>
            </a:r>
            <a:r>
              <a:rPr sz="1683" spc="-73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683" spc="-75" dirty="0">
                <a:solidFill>
                  <a:srgbClr val="FF644E"/>
                </a:solidFill>
                <a:latin typeface="Gill Sans MT"/>
                <a:cs typeface="Gill Sans MT"/>
              </a:rPr>
              <a:t>we </a:t>
            </a:r>
            <a:r>
              <a:rPr sz="1683" spc="-43" dirty="0">
                <a:solidFill>
                  <a:srgbClr val="FF644E"/>
                </a:solidFill>
                <a:latin typeface="Gill Sans MT"/>
                <a:cs typeface="Gill Sans MT"/>
              </a:rPr>
              <a:t>reduce</a:t>
            </a:r>
            <a:r>
              <a:rPr sz="1683" spc="-73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683" spc="-43" dirty="0">
                <a:solidFill>
                  <a:srgbClr val="FF644E"/>
                </a:solidFill>
                <a:latin typeface="Gill Sans MT"/>
                <a:cs typeface="Gill Sans MT"/>
              </a:rPr>
              <a:t>the</a:t>
            </a:r>
            <a:r>
              <a:rPr sz="1683" spc="-73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683" spc="-52" dirty="0">
                <a:solidFill>
                  <a:srgbClr val="FF644E"/>
                </a:solidFill>
                <a:latin typeface="Gill Sans MT"/>
                <a:cs typeface="Gill Sans MT"/>
              </a:rPr>
              <a:t>number</a:t>
            </a:r>
            <a:r>
              <a:rPr sz="1683" spc="-75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683" spc="-11" dirty="0">
                <a:solidFill>
                  <a:srgbClr val="FF644E"/>
                </a:solidFill>
                <a:latin typeface="Gill Sans MT"/>
                <a:cs typeface="Gill Sans MT"/>
              </a:rPr>
              <a:t>of </a:t>
            </a:r>
            <a:r>
              <a:rPr sz="1683" dirty="0">
                <a:solidFill>
                  <a:srgbClr val="FF644E"/>
                </a:solidFill>
                <a:latin typeface="Gill Sans MT"/>
                <a:cs typeface="Gill Sans MT"/>
              </a:rPr>
              <a:t>weights</a:t>
            </a:r>
            <a:r>
              <a:rPr sz="1683" spc="-80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683" spc="-75" dirty="0">
                <a:solidFill>
                  <a:srgbClr val="FF644E"/>
                </a:solidFill>
                <a:latin typeface="Gill Sans MT"/>
                <a:cs typeface="Gill Sans MT"/>
              </a:rPr>
              <a:t>we</a:t>
            </a:r>
            <a:r>
              <a:rPr sz="1683" spc="-77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683" spc="-25" dirty="0">
                <a:solidFill>
                  <a:srgbClr val="FF644E"/>
                </a:solidFill>
                <a:latin typeface="Gill Sans MT"/>
                <a:cs typeface="Gill Sans MT"/>
              </a:rPr>
              <a:t>need</a:t>
            </a:r>
            <a:r>
              <a:rPr sz="1683" spc="-80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683" spc="-89" dirty="0">
                <a:solidFill>
                  <a:srgbClr val="FF644E"/>
                </a:solidFill>
                <a:latin typeface="Gill Sans MT"/>
                <a:cs typeface="Gill Sans MT"/>
              </a:rPr>
              <a:t>to</a:t>
            </a:r>
            <a:r>
              <a:rPr sz="1683" spc="-77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683" spc="-5" dirty="0">
                <a:solidFill>
                  <a:srgbClr val="FF644E"/>
                </a:solidFill>
                <a:latin typeface="Gill Sans MT"/>
                <a:cs typeface="Gill Sans MT"/>
              </a:rPr>
              <a:t>update?</a:t>
            </a:r>
            <a:endParaRPr sz="1683" dirty="0">
              <a:latin typeface="Gill Sans MT"/>
              <a:cs typeface="Gill Sans MT"/>
            </a:endParaRPr>
          </a:p>
          <a:p>
            <a:pPr marL="5776">
              <a:spcBef>
                <a:spcPts val="1897"/>
              </a:spcBef>
            </a:pPr>
            <a:r>
              <a:rPr sz="2400" i="1" spc="-725" dirty="0">
                <a:solidFill>
                  <a:srgbClr val="FF0000"/>
                </a:solidFill>
                <a:latin typeface="Gill Sans MT"/>
                <a:cs typeface="Gill Sans MT"/>
              </a:rPr>
              <a:t>…</a:t>
            </a:r>
            <a:r>
              <a:rPr sz="2400" i="1" spc="-55" dirty="0">
                <a:solidFill>
                  <a:srgbClr val="FF0000"/>
                </a:solidFill>
                <a:latin typeface="Gill Sans MT"/>
                <a:cs typeface="Gill Sans MT"/>
              </a:rPr>
              <a:t> </a:t>
            </a:r>
            <a:r>
              <a:rPr sz="2400" i="1" dirty="0">
                <a:solidFill>
                  <a:srgbClr val="FF0000"/>
                </a:solidFill>
                <a:latin typeface="Gill Sans MT"/>
                <a:cs typeface="Gill Sans MT"/>
              </a:rPr>
              <a:t>enter</a:t>
            </a:r>
            <a:r>
              <a:rPr sz="2400" i="1" spc="-52" dirty="0">
                <a:solidFill>
                  <a:srgbClr val="FF0000"/>
                </a:solidFill>
                <a:latin typeface="Gill Sans MT"/>
                <a:cs typeface="Gill Sans MT"/>
              </a:rPr>
              <a:t> </a:t>
            </a:r>
            <a:r>
              <a:rPr sz="2400" i="1" spc="-9" dirty="0">
                <a:solidFill>
                  <a:srgbClr val="FF0000"/>
                </a:solidFill>
                <a:latin typeface="Gill Sans MT"/>
                <a:cs typeface="Gill Sans MT"/>
              </a:rPr>
              <a:t>parameter-</a:t>
            </a:r>
            <a:r>
              <a:rPr sz="2400" i="1" spc="48" dirty="0">
                <a:solidFill>
                  <a:srgbClr val="FF0000"/>
                </a:solidFill>
                <a:latin typeface="Gill Sans MT"/>
                <a:cs typeface="Gill Sans MT"/>
              </a:rPr>
              <a:t>efficient</a:t>
            </a:r>
            <a:r>
              <a:rPr sz="2400" i="1" spc="-55" dirty="0">
                <a:solidFill>
                  <a:srgbClr val="FF0000"/>
                </a:solidFill>
                <a:latin typeface="Gill Sans MT"/>
                <a:cs typeface="Gill Sans MT"/>
              </a:rPr>
              <a:t> </a:t>
            </a:r>
            <a:r>
              <a:rPr sz="2400" i="1" spc="30" dirty="0">
                <a:solidFill>
                  <a:srgbClr val="FF0000"/>
                </a:solidFill>
                <a:latin typeface="Gill Sans MT"/>
                <a:cs typeface="Gill Sans MT"/>
              </a:rPr>
              <a:t>finetuning</a:t>
            </a:r>
            <a:endParaRPr sz="2400" dirty="0">
              <a:solidFill>
                <a:srgbClr val="FF0000"/>
              </a:solidFill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497" y="1057414"/>
            <a:ext cx="5586528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262" dirty="0"/>
              <a:t>Types</a:t>
            </a:r>
            <a:r>
              <a:rPr spc="-139" dirty="0"/>
              <a:t> </a:t>
            </a:r>
            <a:r>
              <a:rPr spc="-116" dirty="0"/>
              <a:t>of</a:t>
            </a:r>
            <a:r>
              <a:rPr spc="-136" dirty="0"/>
              <a:t> </a:t>
            </a:r>
            <a:r>
              <a:rPr spc="-407" dirty="0"/>
              <a:t>PEFT</a:t>
            </a:r>
            <a:r>
              <a:rPr spc="-227" dirty="0"/>
              <a:t> </a:t>
            </a:r>
            <a:r>
              <a:rPr spc="-289" dirty="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3866" y="2023777"/>
            <a:ext cx="7949157" cy="982994"/>
          </a:xfrm>
          <a:prstGeom prst="rect">
            <a:avLst/>
          </a:prstGeom>
        </p:spPr>
        <p:txBody>
          <a:bodyPr vert="horz" wrap="square" lIns="0" tIns="50832" rIns="0" bIns="0" rtlCol="0">
            <a:spAutoFit/>
          </a:bodyPr>
          <a:lstStyle/>
          <a:p>
            <a:pPr marL="174723" indent="-168947">
              <a:spcBef>
                <a:spcPts val="400"/>
              </a:spcBef>
              <a:buFont typeface="Gill Sans MT"/>
              <a:buChar char="•"/>
              <a:tabLst>
                <a:tab pos="174723" algn="l"/>
              </a:tabLst>
            </a:pPr>
            <a:r>
              <a:rPr sz="1796" b="1" spc="-82" dirty="0">
                <a:latin typeface="Gill Sans MT"/>
                <a:cs typeface="Gill Sans MT"/>
              </a:rPr>
              <a:t>specification</a:t>
            </a:r>
            <a:r>
              <a:rPr sz="1796" spc="-82" dirty="0">
                <a:latin typeface="Gill Sans MT"/>
                <a:cs typeface="Gill Sans MT"/>
              </a:rPr>
              <a:t>:</a:t>
            </a:r>
            <a:r>
              <a:rPr sz="1796" spc="-66" dirty="0">
                <a:latin typeface="Gill Sans MT"/>
                <a:cs typeface="Gill Sans MT"/>
              </a:rPr>
              <a:t> </a:t>
            </a:r>
            <a:r>
              <a:rPr sz="1796" dirty="0">
                <a:latin typeface="Gill Sans MT"/>
                <a:cs typeface="Gill Sans MT"/>
              </a:rPr>
              <a:t>pick</a:t>
            </a:r>
            <a:r>
              <a:rPr sz="1796" spc="-66" dirty="0">
                <a:latin typeface="Gill Sans MT"/>
                <a:cs typeface="Gill Sans MT"/>
              </a:rPr>
              <a:t> </a:t>
            </a:r>
            <a:r>
              <a:rPr sz="1796" spc="91" dirty="0">
                <a:latin typeface="Gill Sans MT"/>
                <a:cs typeface="Gill Sans MT"/>
              </a:rPr>
              <a:t>a</a:t>
            </a:r>
            <a:r>
              <a:rPr sz="1796" spc="-64" dirty="0">
                <a:latin typeface="Gill Sans MT"/>
                <a:cs typeface="Gill Sans MT"/>
              </a:rPr>
              <a:t> </a:t>
            </a:r>
            <a:r>
              <a:rPr sz="1796" spc="41" dirty="0">
                <a:latin typeface="Gill Sans MT"/>
                <a:cs typeface="Gill Sans MT"/>
              </a:rPr>
              <a:t>small</a:t>
            </a:r>
            <a:r>
              <a:rPr sz="1796" spc="-66" dirty="0">
                <a:latin typeface="Gill Sans MT"/>
                <a:cs typeface="Gill Sans MT"/>
              </a:rPr>
              <a:t> </a:t>
            </a:r>
            <a:r>
              <a:rPr sz="1796" dirty="0">
                <a:latin typeface="Gill Sans MT"/>
                <a:cs typeface="Gill Sans MT"/>
              </a:rPr>
              <a:t>subset</a:t>
            </a:r>
            <a:r>
              <a:rPr sz="1796" spc="-64" dirty="0">
                <a:latin typeface="Gill Sans MT"/>
                <a:cs typeface="Gill Sans MT"/>
              </a:rPr>
              <a:t> </a:t>
            </a:r>
            <a:r>
              <a:rPr sz="1796" dirty="0">
                <a:latin typeface="Gill Sans MT"/>
                <a:cs typeface="Gill Sans MT"/>
              </a:rPr>
              <a:t>of</a:t>
            </a:r>
            <a:r>
              <a:rPr sz="1796" spc="-66" dirty="0">
                <a:latin typeface="Gill Sans MT"/>
                <a:cs typeface="Gill Sans MT"/>
              </a:rPr>
              <a:t> </a:t>
            </a:r>
            <a:r>
              <a:rPr sz="1796" spc="-41" dirty="0">
                <a:latin typeface="Gill Sans MT"/>
                <a:cs typeface="Gill Sans MT"/>
              </a:rPr>
              <a:t>the</a:t>
            </a:r>
            <a:r>
              <a:rPr sz="1796" spc="-64" dirty="0">
                <a:latin typeface="Gill Sans MT"/>
                <a:cs typeface="Gill Sans MT"/>
              </a:rPr>
              <a:t> </a:t>
            </a:r>
            <a:r>
              <a:rPr sz="1796" spc="-23" dirty="0">
                <a:latin typeface="Gill Sans MT"/>
                <a:cs typeface="Gill Sans MT"/>
              </a:rPr>
              <a:t>parameters</a:t>
            </a:r>
            <a:r>
              <a:rPr sz="1796" spc="-66" dirty="0">
                <a:latin typeface="Gill Sans MT"/>
                <a:cs typeface="Gill Sans MT"/>
              </a:rPr>
              <a:t> </a:t>
            </a:r>
            <a:r>
              <a:rPr sz="1796" dirty="0">
                <a:latin typeface="Gill Sans MT"/>
                <a:cs typeface="Gill Sans MT"/>
              </a:rPr>
              <a:t>and</a:t>
            </a:r>
            <a:r>
              <a:rPr sz="1796" spc="-64" dirty="0">
                <a:latin typeface="Gill Sans MT"/>
                <a:cs typeface="Gill Sans MT"/>
              </a:rPr>
              <a:t> </a:t>
            </a:r>
            <a:r>
              <a:rPr sz="1796" spc="-41" dirty="0">
                <a:latin typeface="Gill Sans MT"/>
                <a:cs typeface="Gill Sans MT"/>
              </a:rPr>
              <a:t>tune</a:t>
            </a:r>
            <a:r>
              <a:rPr sz="1796" spc="-66" dirty="0">
                <a:latin typeface="Gill Sans MT"/>
                <a:cs typeface="Gill Sans MT"/>
              </a:rPr>
              <a:t> </a:t>
            </a:r>
            <a:r>
              <a:rPr sz="1796" spc="-9" dirty="0">
                <a:latin typeface="Gill Sans MT"/>
                <a:cs typeface="Gill Sans MT"/>
              </a:rPr>
              <a:t>those</a:t>
            </a:r>
            <a:endParaRPr sz="1796">
              <a:latin typeface="Gill Sans MT"/>
              <a:cs typeface="Gill Sans MT"/>
            </a:endParaRPr>
          </a:p>
          <a:p>
            <a:pPr marL="174723" indent="-168947">
              <a:spcBef>
                <a:spcPts val="357"/>
              </a:spcBef>
              <a:buFont typeface="Gill Sans MT"/>
              <a:buChar char="•"/>
              <a:tabLst>
                <a:tab pos="174723" algn="l"/>
              </a:tabLst>
            </a:pPr>
            <a:r>
              <a:rPr sz="1796" b="1" spc="-116" dirty="0">
                <a:latin typeface="Gill Sans MT"/>
                <a:cs typeface="Gill Sans MT"/>
              </a:rPr>
              <a:t>addition</a:t>
            </a:r>
            <a:r>
              <a:rPr sz="1796" spc="-116" dirty="0">
                <a:latin typeface="Gill Sans MT"/>
                <a:cs typeface="Gill Sans MT"/>
              </a:rPr>
              <a:t>:</a:t>
            </a:r>
            <a:r>
              <a:rPr sz="1796" spc="-75" dirty="0">
                <a:latin typeface="Gill Sans MT"/>
                <a:cs typeface="Gill Sans MT"/>
              </a:rPr>
              <a:t> </a:t>
            </a:r>
            <a:r>
              <a:rPr sz="1796" spc="-48" dirty="0">
                <a:latin typeface="Gill Sans MT"/>
                <a:cs typeface="Gill Sans MT"/>
              </a:rPr>
              <a:t>introduce</a:t>
            </a:r>
            <a:r>
              <a:rPr sz="1796" spc="-73" dirty="0">
                <a:latin typeface="Gill Sans MT"/>
                <a:cs typeface="Gill Sans MT"/>
              </a:rPr>
              <a:t> </a:t>
            </a:r>
            <a:r>
              <a:rPr sz="1796" dirty="0">
                <a:latin typeface="Gill Sans MT"/>
                <a:cs typeface="Gill Sans MT"/>
              </a:rPr>
              <a:t>additional</a:t>
            </a:r>
            <a:r>
              <a:rPr sz="1796" spc="-73" dirty="0">
                <a:latin typeface="Gill Sans MT"/>
                <a:cs typeface="Gill Sans MT"/>
              </a:rPr>
              <a:t> </a:t>
            </a:r>
            <a:r>
              <a:rPr sz="1796" spc="-11" dirty="0">
                <a:latin typeface="Gill Sans MT"/>
                <a:cs typeface="Gill Sans MT"/>
              </a:rPr>
              <a:t>trainable</a:t>
            </a:r>
            <a:r>
              <a:rPr sz="1796" spc="-73" dirty="0">
                <a:latin typeface="Gill Sans MT"/>
                <a:cs typeface="Gill Sans MT"/>
              </a:rPr>
              <a:t> </a:t>
            </a:r>
            <a:r>
              <a:rPr sz="1796" spc="-25" dirty="0">
                <a:latin typeface="Gill Sans MT"/>
                <a:cs typeface="Gill Sans MT"/>
              </a:rPr>
              <a:t>parameters,</a:t>
            </a:r>
            <a:r>
              <a:rPr sz="1796" spc="-73" dirty="0">
                <a:latin typeface="Gill Sans MT"/>
                <a:cs typeface="Gill Sans MT"/>
              </a:rPr>
              <a:t> </a:t>
            </a:r>
            <a:r>
              <a:rPr sz="1796" dirty="0">
                <a:latin typeface="Gill Sans MT"/>
                <a:cs typeface="Gill Sans MT"/>
              </a:rPr>
              <a:t>and</a:t>
            </a:r>
            <a:r>
              <a:rPr sz="1796" spc="-73" dirty="0">
                <a:latin typeface="Gill Sans MT"/>
                <a:cs typeface="Gill Sans MT"/>
              </a:rPr>
              <a:t> </a:t>
            </a:r>
            <a:r>
              <a:rPr sz="1796" dirty="0">
                <a:latin typeface="Gill Sans MT"/>
                <a:cs typeface="Gill Sans MT"/>
              </a:rPr>
              <a:t>just</a:t>
            </a:r>
            <a:r>
              <a:rPr sz="1796" spc="-73" dirty="0">
                <a:latin typeface="Gill Sans MT"/>
                <a:cs typeface="Gill Sans MT"/>
              </a:rPr>
              <a:t> </a:t>
            </a:r>
            <a:r>
              <a:rPr sz="1796" spc="-39" dirty="0">
                <a:latin typeface="Gill Sans MT"/>
                <a:cs typeface="Gill Sans MT"/>
              </a:rPr>
              <a:t>train</a:t>
            </a:r>
            <a:r>
              <a:rPr sz="1796" spc="-73" dirty="0">
                <a:latin typeface="Gill Sans MT"/>
                <a:cs typeface="Gill Sans MT"/>
              </a:rPr>
              <a:t> </a:t>
            </a:r>
            <a:r>
              <a:rPr sz="1796" spc="-9" dirty="0">
                <a:latin typeface="Gill Sans MT"/>
                <a:cs typeface="Gill Sans MT"/>
              </a:rPr>
              <a:t>those</a:t>
            </a:r>
            <a:endParaRPr sz="1796">
              <a:latin typeface="Gill Sans MT"/>
              <a:cs typeface="Gill Sans MT"/>
            </a:endParaRPr>
          </a:p>
          <a:p>
            <a:pPr marL="174723" indent="-168947">
              <a:spcBef>
                <a:spcPts val="357"/>
              </a:spcBef>
              <a:buFont typeface="Gill Sans MT"/>
              <a:buChar char="•"/>
              <a:tabLst>
                <a:tab pos="174723" algn="l"/>
              </a:tabLst>
            </a:pPr>
            <a:r>
              <a:rPr sz="1796" b="1" spc="-155" dirty="0">
                <a:latin typeface="Gill Sans MT"/>
                <a:cs typeface="Gill Sans MT"/>
              </a:rPr>
              <a:t>reparameterization</a:t>
            </a:r>
            <a:r>
              <a:rPr sz="1796" spc="-155" dirty="0">
                <a:latin typeface="Gill Sans MT"/>
                <a:cs typeface="Gill Sans MT"/>
              </a:rPr>
              <a:t>:</a:t>
            </a:r>
            <a:r>
              <a:rPr sz="1796" spc="-61" dirty="0">
                <a:latin typeface="Gill Sans MT"/>
                <a:cs typeface="Gill Sans MT"/>
              </a:rPr>
              <a:t> </a:t>
            </a:r>
            <a:r>
              <a:rPr sz="1796" spc="-89" dirty="0">
                <a:latin typeface="Gill Sans MT"/>
                <a:cs typeface="Gill Sans MT"/>
              </a:rPr>
              <a:t>re-</a:t>
            </a:r>
            <a:r>
              <a:rPr sz="1796" spc="-34" dirty="0">
                <a:latin typeface="Gill Sans MT"/>
                <a:cs typeface="Gill Sans MT"/>
              </a:rPr>
              <a:t>parameterize</a:t>
            </a:r>
            <a:r>
              <a:rPr sz="1796" spc="-61" dirty="0">
                <a:latin typeface="Gill Sans MT"/>
                <a:cs typeface="Gill Sans MT"/>
              </a:rPr>
              <a:t> </a:t>
            </a:r>
            <a:r>
              <a:rPr sz="1796" spc="-41" dirty="0">
                <a:latin typeface="Gill Sans MT"/>
                <a:cs typeface="Gill Sans MT"/>
              </a:rPr>
              <a:t>the</a:t>
            </a:r>
            <a:r>
              <a:rPr sz="1796" spc="-59" dirty="0">
                <a:latin typeface="Gill Sans MT"/>
                <a:cs typeface="Gill Sans MT"/>
              </a:rPr>
              <a:t> </a:t>
            </a:r>
            <a:r>
              <a:rPr sz="1796" spc="-82" dirty="0">
                <a:latin typeface="Gill Sans MT"/>
                <a:cs typeface="Gill Sans MT"/>
              </a:rPr>
              <a:t>network</a:t>
            </a:r>
            <a:r>
              <a:rPr sz="1796" spc="-61" dirty="0">
                <a:latin typeface="Gill Sans MT"/>
                <a:cs typeface="Gill Sans MT"/>
              </a:rPr>
              <a:t> </a:t>
            </a:r>
            <a:r>
              <a:rPr sz="1796" spc="-50" dirty="0">
                <a:latin typeface="Gill Sans MT"/>
                <a:cs typeface="Gill Sans MT"/>
              </a:rPr>
              <a:t>into</a:t>
            </a:r>
            <a:r>
              <a:rPr sz="1796" spc="-61" dirty="0">
                <a:latin typeface="Gill Sans MT"/>
                <a:cs typeface="Gill Sans MT"/>
              </a:rPr>
              <a:t> </a:t>
            </a:r>
            <a:r>
              <a:rPr sz="1796" dirty="0">
                <a:latin typeface="Gill Sans MT"/>
                <a:cs typeface="Gill Sans MT"/>
              </a:rPr>
              <a:t>something</a:t>
            </a:r>
            <a:r>
              <a:rPr sz="1796" spc="-59" dirty="0">
                <a:latin typeface="Gill Sans MT"/>
                <a:cs typeface="Gill Sans MT"/>
              </a:rPr>
              <a:t> </a:t>
            </a:r>
            <a:r>
              <a:rPr sz="1796" spc="-84" dirty="0">
                <a:latin typeface="Gill Sans MT"/>
                <a:cs typeface="Gill Sans MT"/>
              </a:rPr>
              <a:t>more</a:t>
            </a:r>
            <a:r>
              <a:rPr sz="1796" spc="-61" dirty="0">
                <a:latin typeface="Gill Sans MT"/>
                <a:cs typeface="Gill Sans MT"/>
              </a:rPr>
              <a:t> </a:t>
            </a:r>
            <a:r>
              <a:rPr sz="1796" dirty="0">
                <a:latin typeface="Gill Sans MT"/>
                <a:cs typeface="Gill Sans MT"/>
              </a:rPr>
              <a:t>efficient</a:t>
            </a:r>
            <a:r>
              <a:rPr sz="1796" spc="-59" dirty="0">
                <a:latin typeface="Gill Sans MT"/>
                <a:cs typeface="Gill Sans MT"/>
              </a:rPr>
              <a:t> </a:t>
            </a:r>
            <a:r>
              <a:rPr sz="1796" spc="-91" dirty="0">
                <a:latin typeface="Gill Sans MT"/>
                <a:cs typeface="Gill Sans MT"/>
              </a:rPr>
              <a:t>to</a:t>
            </a:r>
            <a:r>
              <a:rPr sz="1796" spc="-61" dirty="0">
                <a:latin typeface="Gill Sans MT"/>
                <a:cs typeface="Gill Sans MT"/>
              </a:rPr>
              <a:t> </a:t>
            </a:r>
            <a:r>
              <a:rPr sz="1796" spc="-9" dirty="0">
                <a:latin typeface="Gill Sans MT"/>
                <a:cs typeface="Gill Sans MT"/>
              </a:rPr>
              <a:t>train</a:t>
            </a:r>
            <a:endParaRPr sz="1796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57150" y="5718261"/>
            <a:ext cx="5019380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>
              <a:spcBef>
                <a:spcPts val="55"/>
              </a:spcBef>
            </a:pPr>
            <a:r>
              <a:rPr sz="1114" spc="34" dirty="0">
                <a:solidFill>
                  <a:srgbClr val="A7A7A7"/>
                </a:solidFill>
                <a:latin typeface="Arial"/>
                <a:cs typeface="Arial"/>
                <a:hlinkClick r:id="rId2"/>
              </a:rPr>
              <a:t>https://www.andrew.cmu.edu/course/11-</a:t>
            </a:r>
            <a:r>
              <a:rPr sz="1114" spc="20" dirty="0">
                <a:solidFill>
                  <a:srgbClr val="A7A7A7"/>
                </a:solidFill>
                <a:latin typeface="Arial"/>
                <a:cs typeface="Arial"/>
                <a:hlinkClick r:id="rId2"/>
              </a:rPr>
              <a:t>667/lectures/W4L2_PETM.pptx.pdf</a:t>
            </a:r>
            <a:endParaRPr sz="1114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497" y="1057414"/>
            <a:ext cx="3348078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259" dirty="0"/>
              <a:t>Linear</a:t>
            </a:r>
            <a:r>
              <a:rPr spc="-141" dirty="0"/>
              <a:t> </a:t>
            </a:r>
            <a:r>
              <a:rPr spc="-257" dirty="0"/>
              <a:t>probing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0142" y="2401778"/>
            <a:ext cx="5555161" cy="31953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43025" y="5755670"/>
            <a:ext cx="3736158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>
              <a:spcBef>
                <a:spcPts val="55"/>
              </a:spcBef>
            </a:pPr>
            <a:r>
              <a:rPr sz="1114" dirty="0">
                <a:solidFill>
                  <a:srgbClr val="A7A7A7"/>
                </a:solidFill>
                <a:latin typeface="Arial"/>
                <a:cs typeface="Arial"/>
              </a:rPr>
              <a:t>Credit:</a:t>
            </a:r>
            <a:r>
              <a:rPr sz="1114" spc="48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1114" dirty="0">
                <a:solidFill>
                  <a:srgbClr val="A7A7A7"/>
                </a:solidFill>
                <a:latin typeface="Arial"/>
                <a:cs typeface="Arial"/>
              </a:rPr>
              <a:t>Ke</a:t>
            </a:r>
            <a:r>
              <a:rPr sz="1114" spc="48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1114" spc="32" dirty="0">
                <a:solidFill>
                  <a:srgbClr val="A7A7A7"/>
                </a:solidFill>
                <a:latin typeface="Arial"/>
                <a:cs typeface="Arial"/>
              </a:rPr>
              <a:t>et</a:t>
            </a:r>
            <a:r>
              <a:rPr sz="1114" spc="50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1114" dirty="0">
                <a:solidFill>
                  <a:srgbClr val="A7A7A7"/>
                </a:solidFill>
                <a:latin typeface="Arial"/>
                <a:cs typeface="Arial"/>
              </a:rPr>
              <a:t>al,</a:t>
            </a:r>
            <a:r>
              <a:rPr sz="1114" spc="48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1114" dirty="0">
                <a:solidFill>
                  <a:srgbClr val="A7A7A7"/>
                </a:solidFill>
                <a:latin typeface="Arial"/>
                <a:cs typeface="Arial"/>
              </a:rPr>
              <a:t>2024,</a:t>
            </a:r>
            <a:r>
              <a:rPr sz="1114" spc="48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1114" spc="23" dirty="0">
                <a:solidFill>
                  <a:srgbClr val="A7A7A7"/>
                </a:solidFill>
                <a:latin typeface="Arial"/>
                <a:cs typeface="Arial"/>
              </a:rPr>
              <a:t>https://arxiv.org/pdf/2402.18905v1</a:t>
            </a:r>
            <a:endParaRPr sz="1114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7556" y="1960725"/>
            <a:ext cx="6356033" cy="265398"/>
          </a:xfrm>
          <a:prstGeom prst="rect">
            <a:avLst/>
          </a:prstGeom>
        </p:spPr>
        <p:txBody>
          <a:bodyPr vert="horz" wrap="square" lIns="0" tIns="6354" rIns="0" bIns="0" rtlCol="0">
            <a:spAutoFit/>
          </a:bodyPr>
          <a:lstStyle/>
          <a:p>
            <a:pPr marL="5776">
              <a:spcBef>
                <a:spcPts val="50"/>
              </a:spcBef>
            </a:pPr>
            <a:r>
              <a:rPr sz="1683" spc="100" dirty="0">
                <a:latin typeface="Gill Sans MT"/>
                <a:cs typeface="Gill Sans MT"/>
              </a:rPr>
              <a:t>Just</a:t>
            </a:r>
            <a:r>
              <a:rPr sz="1683" spc="-77" dirty="0">
                <a:latin typeface="Gill Sans MT"/>
                <a:cs typeface="Gill Sans MT"/>
              </a:rPr>
              <a:t> </a:t>
            </a:r>
            <a:r>
              <a:rPr sz="1683" spc="-11" dirty="0">
                <a:latin typeface="Gill Sans MT"/>
                <a:cs typeface="Gill Sans MT"/>
              </a:rPr>
              <a:t>update</a:t>
            </a:r>
            <a:r>
              <a:rPr sz="1683" spc="-75" dirty="0">
                <a:latin typeface="Gill Sans MT"/>
                <a:cs typeface="Gill Sans MT"/>
              </a:rPr>
              <a:t> </a:t>
            </a:r>
            <a:r>
              <a:rPr sz="1683" spc="84" dirty="0">
                <a:latin typeface="Gill Sans MT"/>
                <a:cs typeface="Gill Sans MT"/>
              </a:rPr>
              <a:t>a</a:t>
            </a:r>
            <a:r>
              <a:rPr sz="1683" spc="-75" dirty="0">
                <a:latin typeface="Gill Sans MT"/>
                <a:cs typeface="Gill Sans MT"/>
              </a:rPr>
              <a:t> </a:t>
            </a:r>
            <a:r>
              <a:rPr sz="1683" spc="-59" dirty="0">
                <a:latin typeface="Gill Sans MT"/>
                <a:cs typeface="Gill Sans MT"/>
              </a:rPr>
              <a:t>portion</a:t>
            </a:r>
            <a:r>
              <a:rPr sz="1683" spc="-77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of</a:t>
            </a:r>
            <a:r>
              <a:rPr sz="1683" spc="-75" dirty="0">
                <a:latin typeface="Gill Sans MT"/>
                <a:cs typeface="Gill Sans MT"/>
              </a:rPr>
              <a:t> </a:t>
            </a:r>
            <a:r>
              <a:rPr sz="1683" spc="-43" dirty="0">
                <a:latin typeface="Gill Sans MT"/>
                <a:cs typeface="Gill Sans MT"/>
              </a:rPr>
              <a:t>the</a:t>
            </a:r>
            <a:r>
              <a:rPr sz="1683" spc="-75" dirty="0">
                <a:latin typeface="Gill Sans MT"/>
                <a:cs typeface="Gill Sans MT"/>
              </a:rPr>
              <a:t> </a:t>
            </a:r>
            <a:r>
              <a:rPr sz="1683" spc="-5" dirty="0">
                <a:latin typeface="Gill Sans MT"/>
                <a:cs typeface="Gill Sans MT"/>
              </a:rPr>
              <a:t>weights,</a:t>
            </a:r>
            <a:r>
              <a:rPr sz="1683" spc="-77" dirty="0">
                <a:latin typeface="Gill Sans MT"/>
                <a:cs typeface="Gill Sans MT"/>
              </a:rPr>
              <a:t> </a:t>
            </a:r>
            <a:r>
              <a:rPr sz="1683" spc="39" dirty="0">
                <a:latin typeface="Gill Sans MT"/>
                <a:cs typeface="Gill Sans MT"/>
              </a:rPr>
              <a:t>e.g.,</a:t>
            </a:r>
            <a:r>
              <a:rPr sz="1683" spc="-75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just</a:t>
            </a:r>
            <a:r>
              <a:rPr sz="1683" spc="-75" dirty="0">
                <a:latin typeface="Gill Sans MT"/>
                <a:cs typeface="Gill Sans MT"/>
              </a:rPr>
              <a:t> </a:t>
            </a:r>
            <a:r>
              <a:rPr sz="1683" spc="-43" dirty="0">
                <a:latin typeface="Gill Sans MT"/>
                <a:cs typeface="Gill Sans MT"/>
              </a:rPr>
              <a:t>the</a:t>
            </a:r>
            <a:r>
              <a:rPr sz="1683" spc="-77" dirty="0">
                <a:latin typeface="Gill Sans MT"/>
                <a:cs typeface="Gill Sans MT"/>
              </a:rPr>
              <a:t> </a:t>
            </a:r>
            <a:r>
              <a:rPr sz="1683" spc="39" dirty="0">
                <a:latin typeface="Gill Sans MT"/>
                <a:cs typeface="Gill Sans MT"/>
              </a:rPr>
              <a:t>last</a:t>
            </a:r>
            <a:r>
              <a:rPr sz="1683" spc="-75" dirty="0">
                <a:latin typeface="Gill Sans MT"/>
                <a:cs typeface="Gill Sans MT"/>
              </a:rPr>
              <a:t> </a:t>
            </a:r>
            <a:r>
              <a:rPr sz="1683" spc="-27" dirty="0">
                <a:latin typeface="Gill Sans MT"/>
                <a:cs typeface="Gill Sans MT"/>
              </a:rPr>
              <a:t>layer</a:t>
            </a:r>
            <a:r>
              <a:rPr sz="1683" spc="-75" dirty="0">
                <a:latin typeface="Gill Sans MT"/>
                <a:cs typeface="Gill Sans MT"/>
              </a:rPr>
              <a:t> </a:t>
            </a:r>
            <a:r>
              <a:rPr sz="1683" spc="-16" dirty="0">
                <a:latin typeface="Gill Sans MT"/>
                <a:cs typeface="Gill Sans MT"/>
              </a:rPr>
              <a:t>(linear</a:t>
            </a:r>
            <a:r>
              <a:rPr sz="1683" spc="-75" dirty="0">
                <a:latin typeface="Gill Sans MT"/>
                <a:cs typeface="Gill Sans MT"/>
              </a:rPr>
              <a:t> </a:t>
            </a:r>
            <a:r>
              <a:rPr sz="1683" spc="-5" dirty="0">
                <a:latin typeface="Gill Sans MT"/>
                <a:cs typeface="Gill Sans MT"/>
              </a:rPr>
              <a:t>probing)</a:t>
            </a:r>
            <a:endParaRPr sz="1683">
              <a:latin typeface="Gill Sans MT"/>
              <a:cs typeface="Gill Sans M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102D96-BB06-8701-6E5E-81C38187523B}"/>
              </a:ext>
            </a:extLst>
          </p:cNvPr>
          <p:cNvSpPr txBox="1"/>
          <p:nvPr/>
        </p:nvSpPr>
        <p:spPr>
          <a:xfrm>
            <a:off x="4129088" y="714375"/>
            <a:ext cx="385762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aka Foundation models as features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236" y="440480"/>
            <a:ext cx="7361122" cy="923971"/>
          </a:xfrm>
        </p:spPr>
        <p:txBody>
          <a:bodyPr/>
          <a:lstStyle/>
          <a:p>
            <a:r>
              <a:rPr lang="en-US" dirty="0"/>
              <a:t>Recap (again):</a:t>
            </a:r>
            <a:br>
              <a:rPr lang="en-US" dirty="0"/>
            </a:br>
            <a:r>
              <a:rPr lang="en-US" dirty="0"/>
              <a:t>Recovering latent factors in a matrix</a:t>
            </a:r>
          </a:p>
        </p:txBody>
      </p:sp>
      <p:sp>
        <p:nvSpPr>
          <p:cNvPr id="5" name="Double Bracket 4"/>
          <p:cNvSpPr/>
          <p:nvPr/>
        </p:nvSpPr>
        <p:spPr>
          <a:xfrm>
            <a:off x="1102322" y="2415292"/>
            <a:ext cx="1093576" cy="2880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uble Bracket 5"/>
          <p:cNvSpPr/>
          <p:nvPr/>
        </p:nvSpPr>
        <p:spPr>
          <a:xfrm>
            <a:off x="2819117" y="2403533"/>
            <a:ext cx="2304742" cy="72901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ultiply 6"/>
          <p:cNvSpPr/>
          <p:nvPr/>
        </p:nvSpPr>
        <p:spPr>
          <a:xfrm>
            <a:off x="2307604" y="2650462"/>
            <a:ext cx="223418" cy="282198"/>
          </a:xfrm>
          <a:prstGeom prst="mathMultipl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qual 7"/>
          <p:cNvSpPr/>
          <p:nvPr/>
        </p:nvSpPr>
        <p:spPr>
          <a:xfrm>
            <a:off x="5325152" y="2509361"/>
            <a:ext cx="280822" cy="282202"/>
          </a:xfrm>
          <a:prstGeom prst="mathEqua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Double Bracket 8"/>
          <p:cNvSpPr/>
          <p:nvPr/>
        </p:nvSpPr>
        <p:spPr>
          <a:xfrm>
            <a:off x="6015666" y="2415291"/>
            <a:ext cx="2544802" cy="2880773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504146" y="1575624"/>
            <a:ext cx="738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 * m</a:t>
            </a:r>
          </a:p>
        </p:txBody>
      </p:sp>
      <p:sp>
        <p:nvSpPr>
          <p:cNvPr id="11" name="Right Brace 10"/>
          <p:cNvSpPr/>
          <p:nvPr/>
        </p:nvSpPr>
        <p:spPr>
          <a:xfrm rot="16200000">
            <a:off x="3809297" y="983161"/>
            <a:ext cx="324381" cy="2304741"/>
          </a:xfrm>
          <a:prstGeom prst="rightBrace">
            <a:avLst>
              <a:gd name="adj1" fmla="val 0"/>
              <a:gd name="adj2" fmla="val 5000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 rot="16200000">
            <a:off x="-150769" y="3652969"/>
            <a:ext cx="679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 * K</a:t>
            </a:r>
            <a:endParaRPr lang="en-US" dirty="0"/>
          </a:p>
        </p:txBody>
      </p:sp>
      <p:sp>
        <p:nvSpPr>
          <p:cNvPr id="14" name="Right Brace 13"/>
          <p:cNvSpPr/>
          <p:nvPr/>
        </p:nvSpPr>
        <p:spPr>
          <a:xfrm rot="10800000">
            <a:off x="457200" y="2415292"/>
            <a:ext cx="324382" cy="2892531"/>
          </a:xfrm>
          <a:prstGeom prst="rightBrace">
            <a:avLst>
              <a:gd name="adj1" fmla="val 0"/>
              <a:gd name="adj2" fmla="val 5000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222924" y="2509361"/>
          <a:ext cx="972974" cy="274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6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377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y1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y2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ambria Math"/>
                          <a:cs typeface="Cambria Math"/>
                        </a:rPr>
                        <a:t>xn</a:t>
                      </a:r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ambria Math"/>
                          <a:cs typeface="Cambria Math"/>
                        </a:rPr>
                        <a:t>yn</a:t>
                      </a:r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2902118" y="2467083"/>
          <a:ext cx="2071890" cy="5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27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Cambria Math"/>
                          <a:cs typeface="Cambria Math"/>
                        </a:rPr>
                        <a:t>bm</a:t>
                      </a:r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255310" y="2566003"/>
          <a:ext cx="2071890" cy="5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27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v11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255310" y="3341807"/>
          <a:ext cx="2071890" cy="5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ambria Math"/>
                          <a:cs typeface="Cambria Math"/>
                        </a:rPr>
                        <a:t>vij</a:t>
                      </a:r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255310" y="4654902"/>
          <a:ext cx="2175810" cy="5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5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44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Cambria Math"/>
                          <a:cs typeface="Cambria Math"/>
                        </a:rPr>
                        <a:t>vnm</a:t>
                      </a:r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261222" y="2111144"/>
            <a:ext cx="42832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~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5BFDCA1-C2F8-BA4E-82CE-5B3B1AA6CE7D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73636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328496" y="1057414"/>
            <a:ext cx="2721603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266" dirty="0"/>
              <a:t>Adapters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708" y="2550761"/>
            <a:ext cx="7023812" cy="338287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37556" y="1786893"/>
            <a:ext cx="7275343" cy="529293"/>
          </a:xfrm>
          <a:prstGeom prst="rect">
            <a:avLst/>
          </a:prstGeom>
        </p:spPr>
        <p:txBody>
          <a:bodyPr vert="horz" wrap="square" lIns="0" tIns="16174" rIns="0" bIns="0" rtlCol="0">
            <a:spAutoFit/>
          </a:bodyPr>
          <a:lstStyle/>
          <a:p>
            <a:pPr marL="5776" marR="2310">
              <a:lnSpc>
                <a:spcPts val="1987"/>
              </a:lnSpc>
              <a:spcBef>
                <a:spcPts val="127"/>
              </a:spcBef>
            </a:pPr>
            <a:r>
              <a:rPr sz="1683" spc="-30" dirty="0">
                <a:latin typeface="Gill Sans MT"/>
                <a:cs typeface="Gill Sans MT"/>
              </a:rPr>
              <a:t>Adapters</a:t>
            </a:r>
            <a:r>
              <a:rPr sz="1683" spc="-77" dirty="0">
                <a:latin typeface="Gill Sans MT"/>
                <a:cs typeface="Gill Sans MT"/>
              </a:rPr>
              <a:t> </a:t>
            </a:r>
            <a:r>
              <a:rPr sz="1683" spc="-41" dirty="0">
                <a:latin typeface="Gill Sans MT"/>
                <a:cs typeface="Gill Sans MT"/>
              </a:rPr>
              <a:t>are</a:t>
            </a:r>
            <a:r>
              <a:rPr sz="1683" spc="-75" dirty="0">
                <a:latin typeface="Gill Sans MT"/>
                <a:cs typeface="Gill Sans MT"/>
              </a:rPr>
              <a:t> </a:t>
            </a:r>
            <a:r>
              <a:rPr sz="1683" spc="-57" dirty="0">
                <a:latin typeface="Gill Sans MT"/>
                <a:cs typeface="Gill Sans MT"/>
              </a:rPr>
              <a:t>new</a:t>
            </a:r>
            <a:r>
              <a:rPr sz="1683" spc="-75" dirty="0">
                <a:latin typeface="Gill Sans MT"/>
                <a:cs typeface="Gill Sans MT"/>
              </a:rPr>
              <a:t> </a:t>
            </a:r>
            <a:r>
              <a:rPr sz="1683" spc="-9" dirty="0">
                <a:latin typeface="Gill Sans MT"/>
                <a:cs typeface="Gill Sans MT"/>
              </a:rPr>
              <a:t>modules</a:t>
            </a:r>
            <a:r>
              <a:rPr sz="1683" spc="-75" dirty="0">
                <a:latin typeface="Gill Sans MT"/>
                <a:cs typeface="Gill Sans MT"/>
              </a:rPr>
              <a:t> </a:t>
            </a:r>
            <a:r>
              <a:rPr sz="1683" spc="-41" dirty="0">
                <a:latin typeface="Gill Sans MT"/>
                <a:cs typeface="Gill Sans MT"/>
              </a:rPr>
              <a:t>are</a:t>
            </a:r>
            <a:r>
              <a:rPr sz="1683" spc="-75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added</a:t>
            </a:r>
            <a:r>
              <a:rPr sz="1683" spc="-75" dirty="0">
                <a:latin typeface="Gill Sans MT"/>
                <a:cs typeface="Gill Sans MT"/>
              </a:rPr>
              <a:t> </a:t>
            </a:r>
            <a:r>
              <a:rPr sz="1683" b="1" spc="-48" dirty="0">
                <a:solidFill>
                  <a:schemeClr val="tx2"/>
                </a:solidFill>
                <a:latin typeface="Gill Sans MT"/>
                <a:cs typeface="Gill Sans MT"/>
              </a:rPr>
              <a:t>between</a:t>
            </a:r>
            <a:r>
              <a:rPr sz="1683" spc="-75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layers</a:t>
            </a:r>
            <a:r>
              <a:rPr sz="1683" spc="-77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of</a:t>
            </a:r>
            <a:r>
              <a:rPr sz="1683" spc="-75" dirty="0">
                <a:latin typeface="Gill Sans MT"/>
                <a:cs typeface="Gill Sans MT"/>
              </a:rPr>
              <a:t> </a:t>
            </a:r>
            <a:r>
              <a:rPr sz="1683" spc="84" dirty="0">
                <a:latin typeface="Gill Sans MT"/>
                <a:cs typeface="Gill Sans MT"/>
              </a:rPr>
              <a:t>a</a:t>
            </a:r>
            <a:r>
              <a:rPr sz="1683" spc="-75" dirty="0">
                <a:latin typeface="Gill Sans MT"/>
                <a:cs typeface="Gill Sans MT"/>
              </a:rPr>
              <a:t> </a:t>
            </a:r>
            <a:r>
              <a:rPr sz="1683" spc="-82" dirty="0">
                <a:latin typeface="Gill Sans MT"/>
                <a:cs typeface="Gill Sans MT"/>
              </a:rPr>
              <a:t>pre-</a:t>
            </a:r>
            <a:r>
              <a:rPr sz="1683" spc="-41" dirty="0">
                <a:latin typeface="Gill Sans MT"/>
                <a:cs typeface="Gill Sans MT"/>
              </a:rPr>
              <a:t>trained</a:t>
            </a:r>
            <a:r>
              <a:rPr sz="1683" spc="-75" dirty="0">
                <a:latin typeface="Gill Sans MT"/>
                <a:cs typeface="Gill Sans MT"/>
              </a:rPr>
              <a:t> </a:t>
            </a:r>
            <a:r>
              <a:rPr sz="1683" spc="-57" dirty="0">
                <a:latin typeface="Gill Sans MT"/>
                <a:cs typeface="Gill Sans MT"/>
              </a:rPr>
              <a:t>network.</a:t>
            </a:r>
            <a:r>
              <a:rPr sz="1683" spc="-75" dirty="0">
                <a:latin typeface="Gill Sans MT"/>
                <a:cs typeface="Gill Sans MT"/>
              </a:rPr>
              <a:t> </a:t>
            </a:r>
            <a:r>
              <a:rPr sz="1683" spc="-5" dirty="0">
                <a:latin typeface="Gill Sans MT"/>
                <a:cs typeface="Gill Sans MT"/>
              </a:rPr>
              <a:t>Original </a:t>
            </a:r>
            <a:r>
              <a:rPr sz="1683" spc="-34" dirty="0">
                <a:latin typeface="Gill Sans MT"/>
                <a:cs typeface="Gill Sans MT"/>
              </a:rPr>
              <a:t>model</a:t>
            </a:r>
            <a:r>
              <a:rPr sz="1683" spc="-82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weights</a:t>
            </a:r>
            <a:r>
              <a:rPr sz="1683" spc="-82" dirty="0">
                <a:latin typeface="Gill Sans MT"/>
                <a:cs typeface="Gill Sans MT"/>
              </a:rPr>
              <a:t> </a:t>
            </a:r>
            <a:r>
              <a:rPr sz="1683" spc="-41" dirty="0">
                <a:latin typeface="Gill Sans MT"/>
                <a:cs typeface="Gill Sans MT"/>
              </a:rPr>
              <a:t>are</a:t>
            </a:r>
            <a:r>
              <a:rPr sz="1683" spc="-82" dirty="0">
                <a:latin typeface="Gill Sans MT"/>
                <a:cs typeface="Gill Sans MT"/>
              </a:rPr>
              <a:t> </a:t>
            </a:r>
            <a:r>
              <a:rPr sz="1683" spc="-5" dirty="0">
                <a:latin typeface="Gill Sans MT"/>
                <a:cs typeface="Gill Sans MT"/>
              </a:rPr>
              <a:t>fixed</a:t>
            </a:r>
            <a:r>
              <a:rPr sz="1683" spc="-80" dirty="0">
                <a:latin typeface="Gill Sans MT"/>
                <a:cs typeface="Gill Sans MT"/>
              </a:rPr>
              <a:t> </a:t>
            </a:r>
            <a:r>
              <a:rPr sz="1683" spc="-539" dirty="0">
                <a:latin typeface="Gill Sans MT"/>
                <a:cs typeface="Gill Sans MT"/>
              </a:rPr>
              <a:t>—</a:t>
            </a:r>
            <a:r>
              <a:rPr sz="1683" spc="-82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just</a:t>
            </a:r>
            <a:r>
              <a:rPr sz="1683" spc="-82" dirty="0">
                <a:latin typeface="Gill Sans MT"/>
                <a:cs typeface="Gill Sans MT"/>
              </a:rPr>
              <a:t> </a:t>
            </a:r>
            <a:r>
              <a:rPr sz="1683" spc="-43" dirty="0">
                <a:latin typeface="Gill Sans MT"/>
                <a:cs typeface="Gill Sans MT"/>
              </a:rPr>
              <a:t>the</a:t>
            </a:r>
            <a:r>
              <a:rPr sz="1683" spc="-80" dirty="0">
                <a:latin typeface="Gill Sans MT"/>
                <a:cs typeface="Gill Sans MT"/>
              </a:rPr>
              <a:t> </a:t>
            </a:r>
            <a:r>
              <a:rPr sz="1683" spc="-14" dirty="0">
                <a:latin typeface="Gill Sans MT"/>
                <a:cs typeface="Gill Sans MT"/>
              </a:rPr>
              <a:t>adapter</a:t>
            </a:r>
            <a:r>
              <a:rPr sz="1683" spc="-82" dirty="0">
                <a:latin typeface="Gill Sans MT"/>
                <a:cs typeface="Gill Sans MT"/>
              </a:rPr>
              <a:t> </a:t>
            </a:r>
            <a:r>
              <a:rPr sz="1683" spc="-9" dirty="0">
                <a:latin typeface="Gill Sans MT"/>
                <a:cs typeface="Gill Sans MT"/>
              </a:rPr>
              <a:t>modules</a:t>
            </a:r>
            <a:r>
              <a:rPr sz="1683" spc="-82" dirty="0">
                <a:latin typeface="Gill Sans MT"/>
                <a:cs typeface="Gill Sans MT"/>
              </a:rPr>
              <a:t> </a:t>
            </a:r>
            <a:r>
              <a:rPr sz="1683" spc="-41" dirty="0">
                <a:latin typeface="Gill Sans MT"/>
                <a:cs typeface="Gill Sans MT"/>
              </a:rPr>
              <a:t>are</a:t>
            </a:r>
            <a:r>
              <a:rPr sz="1683" spc="-80" dirty="0">
                <a:latin typeface="Gill Sans MT"/>
                <a:cs typeface="Gill Sans MT"/>
              </a:rPr>
              <a:t> </a:t>
            </a:r>
            <a:r>
              <a:rPr sz="1683" spc="-5" dirty="0">
                <a:latin typeface="Gill Sans MT"/>
                <a:cs typeface="Gill Sans MT"/>
              </a:rPr>
              <a:t>tuned</a:t>
            </a:r>
            <a:endParaRPr sz="1683" dirty="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497" y="1057414"/>
            <a:ext cx="7872528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421" dirty="0"/>
              <a:t>LoRA</a:t>
            </a:r>
            <a:r>
              <a:rPr spc="-134" dirty="0"/>
              <a:t> </a:t>
            </a:r>
            <a:r>
              <a:rPr spc="-250" dirty="0"/>
              <a:t>(low</a:t>
            </a:r>
            <a:r>
              <a:rPr spc="-134" dirty="0"/>
              <a:t> </a:t>
            </a:r>
            <a:r>
              <a:rPr spc="-280" dirty="0"/>
              <a:t>rank</a:t>
            </a:r>
            <a:r>
              <a:rPr spc="-134" dirty="0"/>
              <a:t> </a:t>
            </a:r>
            <a:r>
              <a:rPr spc="-236" dirty="0"/>
              <a:t>adaptation)</a:t>
            </a:r>
            <a:r>
              <a:rPr spc="-134" dirty="0"/>
              <a:t> </a:t>
            </a:r>
            <a:r>
              <a:rPr spc="-189" dirty="0"/>
              <a:t>finetuning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2816384"/>
            <a:ext cx="9126829" cy="3641378"/>
            <a:chOff x="1818803" y="4307770"/>
            <a:chExt cx="16800340" cy="602075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86185" y="4309412"/>
              <a:ext cx="8526786" cy="60174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18803" y="4307770"/>
              <a:ext cx="6892120" cy="60207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54501" y="6481826"/>
              <a:ext cx="3422650" cy="2123440"/>
            </a:xfrm>
            <a:custGeom>
              <a:avLst/>
              <a:gdLst/>
              <a:ahLst/>
              <a:cxnLst/>
              <a:rect l="l" t="t" r="r" b="b"/>
              <a:pathLst>
                <a:path w="3422650" h="2123440">
                  <a:moveTo>
                    <a:pt x="0" y="0"/>
                  </a:moveTo>
                  <a:lnTo>
                    <a:pt x="3422431" y="0"/>
                  </a:lnTo>
                  <a:lnTo>
                    <a:pt x="3422431" y="2122856"/>
                  </a:lnTo>
                  <a:lnTo>
                    <a:pt x="0" y="2122856"/>
                  </a:lnTo>
                  <a:lnTo>
                    <a:pt x="0" y="0"/>
                  </a:lnTo>
                  <a:close/>
                </a:path>
              </a:pathLst>
            </a:custGeom>
            <a:ln w="62825">
              <a:solidFill>
                <a:srgbClr val="FF644E"/>
              </a:solidFill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sp>
          <p:nvSpPr>
            <p:cNvPr id="7" name="object 7"/>
            <p:cNvSpPr/>
            <p:nvPr/>
          </p:nvSpPr>
          <p:spPr>
            <a:xfrm>
              <a:off x="14438303" y="6335466"/>
              <a:ext cx="4180840" cy="2286635"/>
            </a:xfrm>
            <a:custGeom>
              <a:avLst/>
              <a:gdLst/>
              <a:ahLst/>
              <a:cxnLst/>
              <a:rect l="l" t="t" r="r" b="b"/>
              <a:pathLst>
                <a:path w="4180840" h="2286634">
                  <a:moveTo>
                    <a:pt x="0" y="0"/>
                  </a:moveTo>
                  <a:lnTo>
                    <a:pt x="4180734" y="0"/>
                  </a:lnTo>
                  <a:lnTo>
                    <a:pt x="4180734" y="2286221"/>
                  </a:lnTo>
                  <a:lnTo>
                    <a:pt x="0" y="2286221"/>
                  </a:lnTo>
                  <a:lnTo>
                    <a:pt x="0" y="0"/>
                  </a:lnTo>
                  <a:close/>
                </a:path>
              </a:pathLst>
            </a:custGeom>
            <a:ln w="62825">
              <a:solidFill>
                <a:srgbClr val="FF644E"/>
              </a:solidFill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37556" y="1946944"/>
            <a:ext cx="6244260" cy="529293"/>
          </a:xfrm>
          <a:prstGeom prst="rect">
            <a:avLst/>
          </a:prstGeom>
        </p:spPr>
        <p:txBody>
          <a:bodyPr vert="horz" wrap="square" lIns="0" tIns="16174" rIns="0" bIns="0" rtlCol="0">
            <a:spAutoFit/>
          </a:bodyPr>
          <a:lstStyle/>
          <a:p>
            <a:pPr marL="5776" marR="2310">
              <a:lnSpc>
                <a:spcPts val="1987"/>
              </a:lnSpc>
              <a:spcBef>
                <a:spcPts val="127"/>
              </a:spcBef>
            </a:pPr>
            <a:r>
              <a:rPr sz="1683" spc="-98" dirty="0">
                <a:latin typeface="Gill Sans MT"/>
                <a:cs typeface="Gill Sans MT"/>
              </a:rPr>
              <a:t>Key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idea: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-66" dirty="0">
                <a:latin typeface="Gill Sans MT"/>
                <a:cs typeface="Gill Sans MT"/>
              </a:rPr>
              <a:t>don’t</a:t>
            </a:r>
            <a:r>
              <a:rPr sz="1683" spc="-68" dirty="0">
                <a:latin typeface="Gill Sans MT"/>
                <a:cs typeface="Gill Sans MT"/>
              </a:rPr>
              <a:t> </a:t>
            </a:r>
            <a:r>
              <a:rPr sz="1683" spc="-23" dirty="0">
                <a:latin typeface="Gill Sans MT"/>
                <a:cs typeface="Gill Sans MT"/>
              </a:rPr>
              <a:t>learn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84" dirty="0">
                <a:latin typeface="Gill Sans MT"/>
                <a:cs typeface="Gill Sans MT"/>
              </a:rPr>
              <a:t>a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25" dirty="0">
                <a:latin typeface="Gill Sans MT"/>
                <a:cs typeface="Gill Sans MT"/>
              </a:rPr>
              <a:t>full</a:t>
            </a:r>
            <a:r>
              <a:rPr sz="1683" spc="-68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d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-104" dirty="0">
                <a:latin typeface="Gill Sans MT"/>
                <a:cs typeface="Gill Sans MT"/>
              </a:rPr>
              <a:t>x</a:t>
            </a:r>
            <a:r>
              <a:rPr sz="1683" spc="-68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d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-45" dirty="0">
                <a:latin typeface="Gill Sans MT"/>
                <a:cs typeface="Gill Sans MT"/>
              </a:rPr>
              <a:t>matrix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of</a:t>
            </a:r>
            <a:r>
              <a:rPr sz="1683" spc="-68" dirty="0">
                <a:latin typeface="Gill Sans MT"/>
                <a:cs typeface="Gill Sans MT"/>
              </a:rPr>
              <a:t> </a:t>
            </a:r>
            <a:r>
              <a:rPr sz="1683" spc="-5" dirty="0">
                <a:latin typeface="Gill Sans MT"/>
                <a:cs typeface="Gill Sans MT"/>
              </a:rPr>
              <a:t>weights,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instead</a:t>
            </a:r>
            <a:r>
              <a:rPr sz="1683" spc="-68" dirty="0">
                <a:latin typeface="Gill Sans MT"/>
                <a:cs typeface="Gill Sans MT"/>
              </a:rPr>
              <a:t> </a:t>
            </a:r>
            <a:r>
              <a:rPr sz="1683" spc="-23" dirty="0">
                <a:latin typeface="Gill Sans MT"/>
                <a:cs typeface="Gill Sans MT"/>
              </a:rPr>
              <a:t>learn</a:t>
            </a:r>
            <a:r>
              <a:rPr sz="1683" spc="-70" dirty="0">
                <a:latin typeface="Gill Sans MT"/>
                <a:cs typeface="Gill Sans MT"/>
              </a:rPr>
              <a:t> </a:t>
            </a:r>
            <a:r>
              <a:rPr sz="1683" spc="84" dirty="0">
                <a:latin typeface="Gill Sans MT"/>
                <a:cs typeface="Gill Sans MT"/>
              </a:rPr>
              <a:t>a</a:t>
            </a:r>
            <a:r>
              <a:rPr sz="1683" spc="-68" dirty="0">
                <a:latin typeface="Gill Sans MT"/>
                <a:cs typeface="Gill Sans MT"/>
              </a:rPr>
              <a:t> </a:t>
            </a:r>
            <a:r>
              <a:rPr sz="1683" spc="-86" dirty="0">
                <a:solidFill>
                  <a:srgbClr val="FF644E"/>
                </a:solidFill>
                <a:latin typeface="Gill Sans MT"/>
                <a:cs typeface="Gill Sans MT"/>
              </a:rPr>
              <a:t>low-</a:t>
            </a:r>
            <a:r>
              <a:rPr sz="1683" spc="-9" dirty="0">
                <a:solidFill>
                  <a:srgbClr val="FF644E"/>
                </a:solidFill>
                <a:latin typeface="Gill Sans MT"/>
                <a:cs typeface="Gill Sans MT"/>
              </a:rPr>
              <a:t>rank </a:t>
            </a:r>
            <a:r>
              <a:rPr sz="1683" spc="-34" dirty="0">
                <a:solidFill>
                  <a:srgbClr val="FF644E"/>
                </a:solidFill>
                <a:latin typeface="Gill Sans MT"/>
                <a:cs typeface="Gill Sans MT"/>
              </a:rPr>
              <a:t>approximation</a:t>
            </a:r>
            <a:r>
              <a:rPr sz="1683" spc="-64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683" spc="-89" dirty="0">
                <a:latin typeface="Gill Sans MT"/>
                <a:cs typeface="Gill Sans MT"/>
              </a:rPr>
              <a:t>to</a:t>
            </a:r>
            <a:r>
              <a:rPr sz="1683" spc="-64" dirty="0">
                <a:latin typeface="Gill Sans MT"/>
                <a:cs typeface="Gill Sans MT"/>
              </a:rPr>
              <a:t> </a:t>
            </a:r>
            <a:r>
              <a:rPr sz="1683" dirty="0">
                <a:latin typeface="Gill Sans MT"/>
                <a:cs typeface="Gill Sans MT"/>
              </a:rPr>
              <a:t>this</a:t>
            </a:r>
            <a:r>
              <a:rPr sz="1683" spc="-64" dirty="0">
                <a:latin typeface="Gill Sans MT"/>
                <a:cs typeface="Gill Sans MT"/>
              </a:rPr>
              <a:t> </a:t>
            </a:r>
            <a:r>
              <a:rPr sz="1683" spc="-5" dirty="0">
                <a:latin typeface="Gill Sans MT"/>
                <a:cs typeface="Gill Sans MT"/>
              </a:rPr>
              <a:t>matrix!</a:t>
            </a:r>
            <a:endParaRPr sz="1683">
              <a:latin typeface="Gill Sans MT"/>
              <a:cs typeface="Gill Sans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40474" y="5511309"/>
            <a:ext cx="887828" cy="529293"/>
          </a:xfrm>
          <a:prstGeom prst="rect">
            <a:avLst/>
          </a:prstGeom>
        </p:spPr>
        <p:txBody>
          <a:bodyPr vert="horz" wrap="square" lIns="0" tIns="16174" rIns="0" bIns="0" rtlCol="0">
            <a:spAutoFit/>
          </a:bodyPr>
          <a:lstStyle/>
          <a:p>
            <a:pPr marL="5776" marR="2310" indent="296018">
              <a:lnSpc>
                <a:spcPts val="1987"/>
              </a:lnSpc>
              <a:spcBef>
                <a:spcPts val="127"/>
              </a:spcBef>
            </a:pPr>
            <a:r>
              <a:rPr sz="1683" b="1" spc="-9" dirty="0">
                <a:latin typeface="Gill Sans MT"/>
                <a:cs typeface="Gill Sans MT"/>
              </a:rPr>
              <a:t>full </a:t>
            </a:r>
            <a:r>
              <a:rPr sz="1683" b="1" spc="-102" dirty="0">
                <a:latin typeface="Gill Sans MT"/>
                <a:cs typeface="Gill Sans MT"/>
              </a:rPr>
              <a:t>finetuning</a:t>
            </a:r>
            <a:endParaRPr sz="1683" dirty="0">
              <a:latin typeface="Gill Sans MT"/>
              <a:cs typeface="Gill Sans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55837" y="5440596"/>
            <a:ext cx="887828" cy="519377"/>
          </a:xfrm>
          <a:prstGeom prst="rect">
            <a:avLst/>
          </a:prstGeom>
        </p:spPr>
        <p:txBody>
          <a:bodyPr vert="horz" wrap="square" lIns="0" tIns="6354" rIns="0" bIns="0" rtlCol="0">
            <a:spAutoFit/>
          </a:bodyPr>
          <a:lstStyle/>
          <a:p>
            <a:pPr algn="ctr">
              <a:lnSpc>
                <a:spcPts val="2003"/>
              </a:lnSpc>
              <a:spcBef>
                <a:spcPts val="50"/>
              </a:spcBef>
            </a:pPr>
            <a:r>
              <a:rPr sz="1683" b="1" spc="-241" dirty="0">
                <a:latin typeface="Gill Sans MT"/>
                <a:cs typeface="Gill Sans MT"/>
              </a:rPr>
              <a:t>LoRA</a:t>
            </a:r>
            <a:endParaRPr sz="1683" dirty="0">
              <a:latin typeface="Gill Sans MT"/>
              <a:cs typeface="Gill Sans MT"/>
            </a:endParaRPr>
          </a:p>
          <a:p>
            <a:pPr algn="ctr">
              <a:lnSpc>
                <a:spcPts val="2003"/>
              </a:lnSpc>
            </a:pPr>
            <a:r>
              <a:rPr sz="1683" b="1" spc="-93" dirty="0">
                <a:latin typeface="Gill Sans MT"/>
                <a:cs typeface="Gill Sans MT"/>
              </a:rPr>
              <a:t>finetuning</a:t>
            </a:r>
            <a:endParaRPr sz="1683" dirty="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328496" y="1057414"/>
            <a:ext cx="7458192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421" dirty="0"/>
              <a:t>LoRA</a:t>
            </a:r>
            <a:r>
              <a:rPr spc="-134" dirty="0"/>
              <a:t> </a:t>
            </a:r>
            <a:r>
              <a:rPr spc="-250" dirty="0"/>
              <a:t>(low</a:t>
            </a:r>
            <a:r>
              <a:rPr spc="-134" dirty="0"/>
              <a:t> </a:t>
            </a:r>
            <a:r>
              <a:rPr spc="-280" dirty="0"/>
              <a:t>rank</a:t>
            </a:r>
            <a:r>
              <a:rPr spc="-134" dirty="0"/>
              <a:t> </a:t>
            </a:r>
            <a:r>
              <a:rPr spc="-236" dirty="0"/>
              <a:t>adaptation)</a:t>
            </a:r>
            <a:r>
              <a:rPr spc="-134" dirty="0"/>
              <a:t> </a:t>
            </a:r>
            <a:r>
              <a:rPr spc="-189" dirty="0"/>
              <a:t>finetuning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7556" y="1946944"/>
            <a:ext cx="7642143" cy="529293"/>
          </a:xfrm>
          <a:prstGeom prst="rect">
            <a:avLst/>
          </a:prstGeom>
        </p:spPr>
        <p:txBody>
          <a:bodyPr vert="horz" wrap="square" lIns="0" tIns="16174" rIns="0" bIns="0" rtlCol="0">
            <a:spAutoFit/>
          </a:bodyPr>
          <a:lstStyle/>
          <a:p>
            <a:pPr marL="5776" marR="2310">
              <a:lnSpc>
                <a:spcPts val="1987"/>
              </a:lnSpc>
              <a:spcBef>
                <a:spcPts val="127"/>
              </a:spcBef>
            </a:pPr>
            <a:r>
              <a:rPr sz="2000" spc="-39" dirty="0">
                <a:latin typeface="Calibri" panose="020F0502020204030204" pitchFamily="34" charset="0"/>
                <a:cs typeface="Calibri" panose="020F0502020204030204" pitchFamily="34" charset="0"/>
              </a:rPr>
              <a:t>LoRa</a:t>
            </a:r>
            <a:r>
              <a:rPr sz="2000" spc="-5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spc="45" dirty="0">
                <a:latin typeface="Calibri" panose="020F0502020204030204" pitchFamily="34" charset="0"/>
                <a:cs typeface="Calibri" panose="020F0502020204030204" pitchFamily="34" charset="0"/>
              </a:rPr>
              <a:t>scaling:</a:t>
            </a:r>
            <a:r>
              <a:rPr sz="2000" spc="-5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>
                <a:latin typeface="Calibri" panose="020F0502020204030204" pitchFamily="34" charset="0"/>
                <a:cs typeface="Calibri" panose="020F0502020204030204" pitchFamily="34" charset="0"/>
              </a:rPr>
              <a:t>default</a:t>
            </a:r>
            <a:r>
              <a:rPr sz="2000" spc="-5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>
                <a:latin typeface="Calibri" panose="020F0502020204030204" pitchFamily="34" charset="0"/>
                <a:cs typeface="Calibri" panose="020F0502020204030204" pitchFamily="34" charset="0"/>
              </a:rPr>
              <a:t>value</a:t>
            </a:r>
            <a:r>
              <a:rPr sz="2000" spc="-5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2000" spc="-5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>
                <a:latin typeface="Calibri" panose="020F0502020204030204" pitchFamily="34" charset="0"/>
                <a:cs typeface="Calibri" panose="020F0502020204030204" pitchFamily="34" charset="0"/>
              </a:rPr>
              <a:t>alpha/r</a:t>
            </a:r>
            <a:r>
              <a:rPr sz="2000" spc="-5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spc="66" dirty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sz="2000" spc="-5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spc="32" dirty="0">
                <a:latin typeface="Calibri" panose="020F0502020204030204" pitchFamily="34" charset="0"/>
                <a:cs typeface="Calibri" panose="020F0502020204030204" pitchFamily="34" charset="0"/>
              </a:rPr>
              <a:t>1.</a:t>
            </a:r>
            <a:r>
              <a:rPr sz="2000" spc="-5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spc="-102" dirty="0">
                <a:latin typeface="Calibri" panose="020F0502020204030204" pitchFamily="34" charset="0"/>
                <a:cs typeface="Calibri" panose="020F0502020204030204" pitchFamily="34" charset="0"/>
              </a:rPr>
              <a:t>However,</a:t>
            </a:r>
            <a:r>
              <a:rPr sz="2000" spc="-5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spc="32" dirty="0"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sz="2000" spc="-5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spc="-9" dirty="0"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sz="2000" spc="-5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spc="-36" dirty="0">
                <a:latin typeface="Calibri" panose="020F0502020204030204" pitchFamily="34" charset="0"/>
                <a:cs typeface="Calibri" panose="020F0502020204030204" pitchFamily="34" charset="0"/>
              </a:rPr>
              <a:t>tuned</a:t>
            </a:r>
            <a:r>
              <a:rPr sz="2000" spc="-5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spc="-89"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z="2000" spc="-5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spc="-45" dirty="0">
                <a:latin typeface="Calibri" panose="020F0502020204030204" pitchFamily="34" charset="0"/>
                <a:cs typeface="Calibri" panose="020F0502020204030204" pitchFamily="34" charset="0"/>
              </a:rPr>
              <a:t>trade-</a:t>
            </a:r>
            <a:r>
              <a:rPr sz="2000" dirty="0">
                <a:latin typeface="Calibri" panose="020F0502020204030204" pitchFamily="34" charset="0"/>
                <a:cs typeface="Calibri" panose="020F0502020204030204" pitchFamily="34" charset="0"/>
              </a:rPr>
              <a:t>off</a:t>
            </a:r>
            <a:r>
              <a:rPr sz="2000" spc="-5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spc="27" dirty="0">
                <a:latin typeface="Calibri" panose="020F0502020204030204" pitchFamily="34" charset="0"/>
                <a:cs typeface="Calibri" panose="020F0502020204030204" pitchFamily="34" charset="0"/>
              </a:rPr>
              <a:t>emphasis</a:t>
            </a:r>
            <a:r>
              <a:rPr sz="2000" spc="-5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spc="-11" dirty="0">
                <a:latin typeface="Calibri" panose="020F0502020204030204" pitchFamily="34" charset="0"/>
                <a:cs typeface="Calibri" panose="020F0502020204030204" pitchFamily="34" charset="0"/>
              </a:rPr>
              <a:t>on </a:t>
            </a:r>
            <a:r>
              <a:rPr sz="2000" spc="-48" dirty="0">
                <a:latin typeface="Calibri" panose="020F0502020204030204" pitchFamily="34" charset="0"/>
                <a:cs typeface="Calibri" panose="020F0502020204030204" pitchFamily="34" charset="0"/>
              </a:rPr>
              <a:t>pretrained</a:t>
            </a:r>
            <a:r>
              <a:rPr sz="2000" spc="-7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>
                <a:latin typeface="Calibri" panose="020F0502020204030204" pitchFamily="34" charset="0"/>
                <a:cs typeface="Calibri" panose="020F0502020204030204" pitchFamily="34" charset="0"/>
              </a:rPr>
              <a:t>weights</a:t>
            </a:r>
            <a:r>
              <a:rPr sz="2000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spc="55" dirty="0">
                <a:latin typeface="Calibri" panose="020F0502020204030204" pitchFamily="34" charset="0"/>
                <a:cs typeface="Calibri" panose="020F0502020204030204" pitchFamily="34" charset="0"/>
              </a:rPr>
              <a:t>vs.</a:t>
            </a:r>
            <a:r>
              <a:rPr sz="2000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spc="-14" dirty="0">
                <a:latin typeface="Calibri" panose="020F0502020204030204" pitchFamily="34" charset="0"/>
                <a:cs typeface="Calibri" panose="020F0502020204030204" pitchFamily="34" charset="0"/>
              </a:rPr>
              <a:t>updated</a:t>
            </a:r>
            <a:r>
              <a:rPr sz="2000" spc="-7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spc="-5" dirty="0">
                <a:latin typeface="Calibri" panose="020F0502020204030204" pitchFamily="34" charset="0"/>
                <a:cs typeface="Calibri" panose="020F0502020204030204" pitchFamily="34" charset="0"/>
              </a:rPr>
              <a:t>weights</a:t>
            </a:r>
            <a:endParaRPr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5254" y="2967282"/>
            <a:ext cx="3667125" cy="1685925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497" y="1057414"/>
            <a:ext cx="6648028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421" dirty="0"/>
              <a:t>QLoRA:</a:t>
            </a:r>
            <a:r>
              <a:rPr spc="-132" dirty="0"/>
              <a:t> </a:t>
            </a:r>
            <a:r>
              <a:rPr spc="-305" dirty="0"/>
              <a:t>Quantized</a:t>
            </a:r>
            <a:r>
              <a:rPr spc="-130" dirty="0"/>
              <a:t> </a:t>
            </a:r>
            <a:r>
              <a:rPr spc="-429" dirty="0"/>
              <a:t>LoRA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7556" y="1946944"/>
            <a:ext cx="6648029" cy="785773"/>
          </a:xfrm>
          <a:prstGeom prst="rect">
            <a:avLst/>
          </a:prstGeom>
        </p:spPr>
        <p:txBody>
          <a:bodyPr vert="horz" wrap="square" lIns="0" tIns="16174" rIns="0" bIns="0" rtlCol="0">
            <a:spAutoFit/>
          </a:bodyPr>
          <a:lstStyle/>
          <a:p>
            <a:pPr marL="5776" marR="2310">
              <a:lnSpc>
                <a:spcPts val="1987"/>
              </a:lnSpc>
              <a:spcBef>
                <a:spcPts val="127"/>
              </a:spcBef>
            </a:pPr>
            <a:r>
              <a:rPr sz="2000" spc="-98" dirty="0">
                <a:latin typeface="Gill Sans MT"/>
                <a:cs typeface="Gill Sans MT"/>
              </a:rPr>
              <a:t>Key</a:t>
            </a:r>
            <a:r>
              <a:rPr sz="2000" spc="-66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idea:</a:t>
            </a:r>
            <a:r>
              <a:rPr sz="2000" spc="-66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quantize</a:t>
            </a:r>
            <a:r>
              <a:rPr sz="2000" spc="-64" dirty="0">
                <a:latin typeface="Gill Sans MT"/>
                <a:cs typeface="Gill Sans MT"/>
              </a:rPr>
              <a:t> </a:t>
            </a:r>
            <a:r>
              <a:rPr sz="2000" spc="-48" dirty="0">
                <a:latin typeface="Gill Sans MT"/>
                <a:cs typeface="Gill Sans MT"/>
              </a:rPr>
              <a:t>pretrained</a:t>
            </a:r>
            <a:r>
              <a:rPr sz="2000" spc="-66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weights</a:t>
            </a:r>
            <a:r>
              <a:rPr sz="2000" spc="-64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so</a:t>
            </a:r>
            <a:r>
              <a:rPr sz="2000" spc="-66" dirty="0">
                <a:latin typeface="Gill Sans MT"/>
                <a:cs typeface="Gill Sans MT"/>
              </a:rPr>
              <a:t> </a:t>
            </a:r>
            <a:r>
              <a:rPr sz="2000" spc="-48" dirty="0">
                <a:latin typeface="Gill Sans MT"/>
                <a:cs typeface="Gill Sans MT"/>
              </a:rPr>
              <a:t>they</a:t>
            </a:r>
            <a:r>
              <a:rPr sz="2000" spc="-64" dirty="0">
                <a:latin typeface="Gill Sans MT"/>
                <a:cs typeface="Gill Sans MT"/>
              </a:rPr>
              <a:t> </a:t>
            </a:r>
            <a:r>
              <a:rPr sz="2000" spc="-41" dirty="0">
                <a:latin typeface="Gill Sans MT"/>
                <a:cs typeface="Gill Sans MT"/>
              </a:rPr>
              <a:t>are</a:t>
            </a:r>
            <a:r>
              <a:rPr sz="2000" spc="-66" dirty="0">
                <a:latin typeface="Gill Sans MT"/>
                <a:cs typeface="Gill Sans MT"/>
              </a:rPr>
              <a:t> </a:t>
            </a:r>
            <a:r>
              <a:rPr sz="2000" spc="-61" dirty="0">
                <a:latin typeface="Gill Sans MT"/>
                <a:cs typeface="Gill Sans MT"/>
              </a:rPr>
              <a:t>very</a:t>
            </a:r>
            <a:r>
              <a:rPr sz="2000" spc="-64" dirty="0">
                <a:latin typeface="Gill Sans MT"/>
                <a:cs typeface="Gill Sans MT"/>
              </a:rPr>
              <a:t> </a:t>
            </a:r>
            <a:r>
              <a:rPr sz="2000" spc="36" dirty="0">
                <a:latin typeface="Gill Sans MT"/>
                <a:cs typeface="Gill Sans MT"/>
              </a:rPr>
              <a:t>small</a:t>
            </a:r>
            <a:r>
              <a:rPr sz="2000" spc="-66" dirty="0">
                <a:latin typeface="Gill Sans MT"/>
                <a:cs typeface="Gill Sans MT"/>
              </a:rPr>
              <a:t> </a:t>
            </a:r>
            <a:r>
              <a:rPr sz="2000" spc="150" dirty="0">
                <a:latin typeface="Gill Sans MT"/>
                <a:cs typeface="Gill Sans MT"/>
              </a:rPr>
              <a:t>/</a:t>
            </a:r>
            <a:r>
              <a:rPr sz="2000" spc="-64" dirty="0">
                <a:latin typeface="Gill Sans MT"/>
                <a:cs typeface="Gill Sans MT"/>
              </a:rPr>
              <a:t> </a:t>
            </a:r>
            <a:r>
              <a:rPr sz="2000" spc="-66" dirty="0">
                <a:latin typeface="Gill Sans MT"/>
                <a:cs typeface="Gill Sans MT"/>
              </a:rPr>
              <a:t>memory </a:t>
            </a:r>
            <a:r>
              <a:rPr sz="2000" spc="-5" dirty="0">
                <a:latin typeface="Gill Sans MT"/>
                <a:cs typeface="Gill Sans MT"/>
              </a:rPr>
              <a:t>efficient </a:t>
            </a:r>
            <a:r>
              <a:rPr sz="2000" spc="-84" dirty="0">
                <a:latin typeface="Gill Sans MT"/>
                <a:cs typeface="Gill Sans MT"/>
              </a:rPr>
              <a:t>Hope</a:t>
            </a:r>
            <a:r>
              <a:rPr sz="2000" spc="-73" dirty="0">
                <a:latin typeface="Gill Sans MT"/>
                <a:cs typeface="Gill Sans MT"/>
              </a:rPr>
              <a:t> </a:t>
            </a:r>
            <a:r>
              <a:rPr sz="2000" spc="66" dirty="0">
                <a:latin typeface="Gill Sans MT"/>
                <a:cs typeface="Gill Sans MT"/>
              </a:rPr>
              <a:t>is</a:t>
            </a:r>
            <a:r>
              <a:rPr sz="2000" spc="-73" dirty="0">
                <a:latin typeface="Gill Sans MT"/>
                <a:cs typeface="Gill Sans MT"/>
              </a:rPr>
              <a:t> </a:t>
            </a:r>
            <a:r>
              <a:rPr sz="2000" spc="-18" dirty="0">
                <a:latin typeface="Gill Sans MT"/>
                <a:cs typeface="Gill Sans MT"/>
              </a:rPr>
              <a:t>that</a:t>
            </a:r>
            <a:r>
              <a:rPr sz="2000" spc="-73" dirty="0">
                <a:latin typeface="Gill Sans MT"/>
                <a:cs typeface="Gill Sans MT"/>
              </a:rPr>
              <a:t> </a:t>
            </a:r>
            <a:r>
              <a:rPr sz="2000" spc="-102" dirty="0">
                <a:latin typeface="Gill Sans MT"/>
                <a:cs typeface="Gill Sans MT"/>
              </a:rPr>
              <a:t>LoRA</a:t>
            </a:r>
            <a:r>
              <a:rPr sz="2000" spc="-73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finetuning</a:t>
            </a:r>
            <a:r>
              <a:rPr sz="2000" spc="-73" dirty="0">
                <a:latin typeface="Gill Sans MT"/>
                <a:cs typeface="Gill Sans MT"/>
              </a:rPr>
              <a:t> </a:t>
            </a:r>
            <a:r>
              <a:rPr sz="2000" spc="32" dirty="0">
                <a:latin typeface="Gill Sans MT"/>
                <a:cs typeface="Gill Sans MT"/>
              </a:rPr>
              <a:t>can</a:t>
            </a:r>
            <a:r>
              <a:rPr sz="2000" spc="-73" dirty="0">
                <a:latin typeface="Gill Sans MT"/>
                <a:cs typeface="Gill Sans MT"/>
              </a:rPr>
              <a:t> </a:t>
            </a:r>
            <a:r>
              <a:rPr sz="2000" spc="-9" dirty="0">
                <a:latin typeface="Gill Sans MT"/>
                <a:cs typeface="Gill Sans MT"/>
              </a:rPr>
              <a:t>help</a:t>
            </a:r>
            <a:r>
              <a:rPr sz="2000" spc="-73" dirty="0">
                <a:latin typeface="Gill Sans MT"/>
                <a:cs typeface="Gill Sans MT"/>
              </a:rPr>
              <a:t> </a:t>
            </a:r>
            <a:r>
              <a:rPr sz="2000" spc="-89" dirty="0">
                <a:latin typeface="Gill Sans MT"/>
                <a:cs typeface="Gill Sans MT"/>
              </a:rPr>
              <a:t>to</a:t>
            </a:r>
            <a:r>
              <a:rPr sz="2000" spc="-70" dirty="0">
                <a:latin typeface="Gill Sans MT"/>
                <a:cs typeface="Gill Sans MT"/>
              </a:rPr>
              <a:t> </a:t>
            </a:r>
            <a:r>
              <a:rPr sz="2000" spc="25" dirty="0">
                <a:latin typeface="Gill Sans MT"/>
                <a:cs typeface="Gill Sans MT"/>
              </a:rPr>
              <a:t>offset</a:t>
            </a:r>
            <a:r>
              <a:rPr sz="2000" spc="-73" dirty="0">
                <a:latin typeface="Gill Sans MT"/>
                <a:cs typeface="Gill Sans MT"/>
              </a:rPr>
              <a:t> </a:t>
            </a:r>
            <a:r>
              <a:rPr sz="2000" spc="50" dirty="0">
                <a:latin typeface="Gill Sans MT"/>
                <a:cs typeface="Gill Sans MT"/>
              </a:rPr>
              <a:t>issues</a:t>
            </a:r>
            <a:r>
              <a:rPr sz="2000" spc="-73" dirty="0">
                <a:latin typeface="Gill Sans MT"/>
                <a:cs typeface="Gill Sans MT"/>
              </a:rPr>
              <a:t> </a:t>
            </a:r>
            <a:r>
              <a:rPr sz="2000" spc="-57" dirty="0">
                <a:latin typeface="Gill Sans MT"/>
                <a:cs typeface="Gill Sans MT"/>
              </a:rPr>
              <a:t>with</a:t>
            </a:r>
            <a:r>
              <a:rPr sz="2000" spc="-73" dirty="0">
                <a:latin typeface="Gill Sans MT"/>
                <a:cs typeface="Gill Sans MT"/>
              </a:rPr>
              <a:t> </a:t>
            </a:r>
            <a:r>
              <a:rPr sz="2000" spc="-80" dirty="0">
                <a:latin typeface="Gill Sans MT"/>
                <a:cs typeface="Gill Sans MT"/>
              </a:rPr>
              <a:t>lower</a:t>
            </a:r>
            <a:r>
              <a:rPr sz="2000" spc="-73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precision</a:t>
            </a:r>
            <a:endParaRPr sz="2000" dirty="0">
              <a:latin typeface="Gill Sans MT"/>
              <a:cs typeface="Gill Sans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3573" y="2886058"/>
            <a:ext cx="5572125" cy="25622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290176" y="5739111"/>
            <a:ext cx="3811829" cy="178457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>
              <a:spcBef>
                <a:spcPts val="55"/>
              </a:spcBef>
            </a:pPr>
            <a:r>
              <a:rPr sz="1114" spc="39" dirty="0">
                <a:solidFill>
                  <a:srgbClr val="A7A7A7"/>
                </a:solidFill>
                <a:latin typeface="Arial"/>
                <a:cs typeface="Arial"/>
              </a:rPr>
              <a:t>https://github.com/bitsandbytes-</a:t>
            </a:r>
            <a:r>
              <a:rPr sz="1114" spc="36" dirty="0">
                <a:solidFill>
                  <a:srgbClr val="A7A7A7"/>
                </a:solidFill>
                <a:latin typeface="Arial"/>
                <a:cs typeface="Arial"/>
              </a:rPr>
              <a:t>foundation/bitsandbytes</a:t>
            </a:r>
            <a:endParaRPr sz="1114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CD416-5BEF-0DEA-9198-599DC4BF0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A38CD6E-E460-F5C7-BCC8-1DD0B9EAA6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497" y="1057414"/>
            <a:ext cx="3348078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262" dirty="0"/>
              <a:t>Outline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62ADB40-DF4D-062B-45BA-764CF6D6DC54}"/>
              </a:ext>
            </a:extLst>
          </p:cNvPr>
          <p:cNvSpPr txBox="1"/>
          <p:nvPr/>
        </p:nvSpPr>
        <p:spPr>
          <a:xfrm>
            <a:off x="828674" y="2665279"/>
            <a:ext cx="7915275" cy="3124776"/>
          </a:xfrm>
          <a:prstGeom prst="rect">
            <a:avLst/>
          </a:prstGeom>
        </p:spPr>
        <p:txBody>
          <a:bodyPr vert="horz" wrap="square" lIns="0" tIns="135456" rIns="0" bIns="0" rtlCol="0">
            <a:spAutoFit/>
          </a:bodyPr>
          <a:lstStyle/>
          <a:p>
            <a:pPr marL="255875" indent="-250099" defTabSz="415869">
              <a:spcBef>
                <a:spcPts val="1067"/>
              </a:spcBef>
              <a:buFontTx/>
              <a:buAutoNum type="arabicPeriod"/>
              <a:tabLst>
                <a:tab pos="255875" algn="l"/>
              </a:tabLst>
            </a:pPr>
            <a:r>
              <a:rPr sz="3200" kern="0" spc="5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Scaling</a:t>
            </a:r>
            <a:r>
              <a:rPr sz="3200" kern="0" spc="-93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3200" kern="0" dirty="0">
                <a:solidFill>
                  <a:sysClr val="windowText" lastClr="000000"/>
                </a:solidFill>
                <a:latin typeface="Gill Sans MT"/>
                <a:cs typeface="Gill Sans MT"/>
              </a:rPr>
              <a:t>up</a:t>
            </a:r>
            <a:r>
              <a:rPr sz="3200" kern="0" spc="-8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3200" kern="0" spc="-2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Mb-</a:t>
            </a:r>
            <a:r>
              <a:rPr sz="3200" kern="0" spc="-152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SGD:</a:t>
            </a:r>
            <a:r>
              <a:rPr sz="3200" kern="0" spc="-91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3200" kern="0" spc="-3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Communication</a:t>
            </a:r>
            <a:r>
              <a:rPr sz="3200" kern="0" spc="-89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</a:t>
            </a:r>
            <a:r>
              <a:rPr sz="3200" kern="0" spc="2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schemes</a:t>
            </a:r>
            <a:endParaRPr lang="en-US" sz="3200" kern="0" spc="25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marL="255875" indent="-250099" defTabSz="415869">
              <a:spcBef>
                <a:spcPts val="1067"/>
              </a:spcBef>
              <a:buFontTx/>
              <a:buAutoNum type="arabicPeriod"/>
              <a:tabLst>
                <a:tab pos="255875" algn="l"/>
              </a:tabLst>
            </a:pPr>
            <a:r>
              <a:rPr lang="en-US" sz="3200" kern="0" spc="25" dirty="0" err="1">
                <a:solidFill>
                  <a:sysClr val="windowText" lastClr="000000"/>
                </a:solidFill>
                <a:latin typeface="Gill Sans MT"/>
                <a:cs typeface="Gill Sans MT"/>
              </a:rPr>
              <a:t>AllReduce</a:t>
            </a:r>
            <a:r>
              <a:rPr lang="en-US" sz="3200" kern="0" spc="25" dirty="0">
                <a:solidFill>
                  <a:sysClr val="windowText" lastClr="000000"/>
                </a:solidFill>
                <a:latin typeface="Gill Sans MT"/>
                <a:cs typeface="Gill Sans MT"/>
              </a:rPr>
              <a:t> for GPU clusters</a:t>
            </a:r>
            <a:endParaRPr sz="3200" kern="0" dirty="0">
              <a:solidFill>
                <a:sysClr val="windowText" lastClr="000000"/>
              </a:solidFill>
              <a:latin typeface="Gill Sans MT"/>
              <a:cs typeface="Gill Sans MT"/>
            </a:endParaRPr>
          </a:p>
          <a:p>
            <a:pPr marL="255875" indent="-250099" defTabSz="415869">
              <a:spcBef>
                <a:spcPts val="1026"/>
              </a:spcBef>
              <a:buFontTx/>
              <a:buAutoNum type="arabicPeriod"/>
              <a:tabLst>
                <a:tab pos="255875" algn="l"/>
              </a:tabLst>
            </a:pPr>
            <a:r>
              <a:rPr sz="3200" kern="0" dirty="0">
                <a:latin typeface="Gill Sans MT"/>
                <a:cs typeface="Gill Sans MT"/>
              </a:rPr>
              <a:t>Challenges</a:t>
            </a:r>
            <a:r>
              <a:rPr sz="3200" kern="0" spc="-52" dirty="0">
                <a:latin typeface="Gill Sans MT"/>
                <a:cs typeface="Gill Sans MT"/>
              </a:rPr>
              <a:t> </a:t>
            </a:r>
            <a:r>
              <a:rPr sz="3200" kern="0" spc="-57" dirty="0">
                <a:latin typeface="Gill Sans MT"/>
                <a:cs typeface="Gill Sans MT"/>
              </a:rPr>
              <a:t>with </a:t>
            </a:r>
            <a:r>
              <a:rPr sz="3200" kern="0" spc="-27" dirty="0">
                <a:latin typeface="Gill Sans MT"/>
                <a:cs typeface="Gill Sans MT"/>
              </a:rPr>
              <a:t>mini-</a:t>
            </a:r>
            <a:r>
              <a:rPr sz="3200" kern="0" spc="-5" dirty="0">
                <a:latin typeface="Gill Sans MT"/>
                <a:cs typeface="Gill Sans MT"/>
              </a:rPr>
              <a:t>batch</a:t>
            </a:r>
            <a:r>
              <a:rPr lang="en-US" sz="3200" kern="0" spc="-5" dirty="0">
                <a:latin typeface="Gill Sans MT"/>
                <a:cs typeface="Gill Sans MT"/>
              </a:rPr>
              <a:t>ed optimization</a:t>
            </a:r>
          </a:p>
          <a:p>
            <a:pPr marL="255875" indent="-250099" defTabSz="415869">
              <a:spcBef>
                <a:spcPts val="1026"/>
              </a:spcBef>
              <a:buFontTx/>
              <a:buAutoNum type="arabicPeriod"/>
              <a:tabLst>
                <a:tab pos="255875" algn="l"/>
              </a:tabLst>
            </a:pPr>
            <a:r>
              <a:rPr lang="en-US" sz="3200" kern="0" spc="-5" dirty="0">
                <a:latin typeface="Gill Sans MT"/>
                <a:cs typeface="Gill Sans MT"/>
              </a:rPr>
              <a:t> Fine-tuning</a:t>
            </a:r>
          </a:p>
          <a:p>
            <a:pPr marL="255875" indent="-250099" defTabSz="415869">
              <a:spcBef>
                <a:spcPts val="1026"/>
              </a:spcBef>
              <a:buFontTx/>
              <a:buAutoNum type="arabicPeriod"/>
              <a:tabLst>
                <a:tab pos="255875" algn="l"/>
              </a:tabLst>
            </a:pPr>
            <a:r>
              <a:rPr lang="en-US" sz="3200" kern="0" spc="-5" dirty="0">
                <a:solidFill>
                  <a:schemeClr val="tx2"/>
                </a:solidFill>
                <a:latin typeface="Gill Sans MT"/>
                <a:cs typeface="Gill Sans MT"/>
              </a:rPr>
              <a:t> More on Modern optimizers  </a:t>
            </a:r>
            <a:endParaRPr sz="3200" kern="0" dirty="0">
              <a:solidFill>
                <a:schemeClr val="tx2"/>
              </a:solidFill>
              <a:latin typeface="Gill Sans MT"/>
              <a:cs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87111811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2236" y="1187452"/>
            <a:ext cx="2219572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182" dirty="0"/>
              <a:t>Non-</a:t>
            </a:r>
            <a:r>
              <a:rPr spc="-257" dirty="0"/>
              <a:t>convexity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2237" y="1035612"/>
            <a:ext cx="1113685" cy="213238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76">
              <a:spcBef>
                <a:spcPts val="52"/>
              </a:spcBef>
            </a:pPr>
            <a:r>
              <a:rPr lang="en-US" sz="1342" b="1" spc="43" dirty="0">
                <a:solidFill>
                  <a:srgbClr val="FF644E"/>
                </a:solidFill>
                <a:latin typeface="Trebuchet MS"/>
                <a:cs typeface="Trebuchet MS"/>
              </a:rPr>
              <a:t>RECALL</a:t>
            </a:r>
            <a:endParaRPr sz="1342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3108" y="1041242"/>
            <a:ext cx="3577870" cy="281912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02488" y="2657843"/>
            <a:ext cx="3014978" cy="1889192"/>
          </a:xfrm>
          <a:prstGeom prst="rect">
            <a:avLst/>
          </a:prstGeom>
        </p:spPr>
        <p:txBody>
          <a:bodyPr vert="horz" wrap="square" lIns="0" tIns="22817" rIns="0" bIns="0" rtlCol="0">
            <a:spAutoFit/>
          </a:bodyPr>
          <a:lstStyle/>
          <a:p>
            <a:pPr marL="5776" marR="726905">
              <a:lnSpc>
                <a:spcPts val="2174"/>
              </a:lnSpc>
              <a:spcBef>
                <a:spcPts val="180"/>
              </a:spcBef>
            </a:pPr>
            <a:r>
              <a:rPr sz="1865" spc="-141" dirty="0">
                <a:latin typeface="Trebuchet MS"/>
                <a:cs typeface="Trebuchet MS"/>
              </a:rPr>
              <a:t>What</a:t>
            </a:r>
            <a:r>
              <a:rPr sz="1865" spc="-116" dirty="0">
                <a:latin typeface="Trebuchet MS"/>
                <a:cs typeface="Trebuchet MS"/>
              </a:rPr>
              <a:t> </a:t>
            </a:r>
            <a:r>
              <a:rPr sz="1865" spc="-84" dirty="0">
                <a:latin typeface="Trebuchet MS"/>
                <a:cs typeface="Trebuchet MS"/>
              </a:rPr>
              <a:t>makes</a:t>
            </a:r>
            <a:r>
              <a:rPr sz="1865" spc="-116" dirty="0">
                <a:latin typeface="Trebuchet MS"/>
                <a:cs typeface="Trebuchet MS"/>
              </a:rPr>
              <a:t> </a:t>
            </a:r>
            <a:r>
              <a:rPr sz="1865" spc="-107" dirty="0">
                <a:latin typeface="Trebuchet MS"/>
                <a:cs typeface="Trebuchet MS"/>
              </a:rPr>
              <a:t>non-</a:t>
            </a:r>
            <a:r>
              <a:rPr sz="1865" spc="-127" dirty="0">
                <a:latin typeface="Trebuchet MS"/>
                <a:cs typeface="Trebuchet MS"/>
              </a:rPr>
              <a:t>convex </a:t>
            </a:r>
            <a:r>
              <a:rPr sz="1865" spc="-116" dirty="0">
                <a:latin typeface="Trebuchet MS"/>
                <a:cs typeface="Trebuchet MS"/>
              </a:rPr>
              <a:t>optimization</a:t>
            </a:r>
            <a:r>
              <a:rPr sz="1865" spc="-102" dirty="0">
                <a:latin typeface="Trebuchet MS"/>
                <a:cs typeface="Trebuchet MS"/>
              </a:rPr>
              <a:t> </a:t>
            </a:r>
            <a:r>
              <a:rPr sz="1865" spc="-45" dirty="0">
                <a:latin typeface="Trebuchet MS"/>
                <a:cs typeface="Trebuchet MS"/>
              </a:rPr>
              <a:t>difficult?</a:t>
            </a:r>
            <a:endParaRPr sz="1865">
              <a:latin typeface="Trebuchet MS"/>
              <a:cs typeface="Trebuchet MS"/>
            </a:endParaRPr>
          </a:p>
          <a:p>
            <a:pPr marL="193495" indent="-187719">
              <a:spcBef>
                <a:spcPts val="252"/>
              </a:spcBef>
              <a:buChar char="•"/>
              <a:tabLst>
                <a:tab pos="193495" algn="l"/>
              </a:tabLst>
            </a:pPr>
            <a:r>
              <a:rPr sz="1865" spc="-123" dirty="0">
                <a:latin typeface="Trebuchet MS"/>
                <a:cs typeface="Trebuchet MS"/>
              </a:rPr>
              <a:t>Potentially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23" dirty="0">
                <a:latin typeface="Trebuchet MS"/>
                <a:cs typeface="Trebuchet MS"/>
              </a:rPr>
              <a:t>many </a:t>
            </a:r>
            <a:r>
              <a:rPr sz="1865" spc="-96" dirty="0">
                <a:latin typeface="Trebuchet MS"/>
                <a:cs typeface="Trebuchet MS"/>
              </a:rPr>
              <a:t>local</a:t>
            </a:r>
            <a:r>
              <a:rPr sz="1865" spc="-123" dirty="0">
                <a:latin typeface="Trebuchet MS"/>
                <a:cs typeface="Trebuchet MS"/>
              </a:rPr>
              <a:t> minima</a:t>
            </a:r>
            <a:endParaRPr sz="1865">
              <a:latin typeface="Trebuchet MS"/>
              <a:cs typeface="Trebuchet MS"/>
            </a:endParaRPr>
          </a:p>
          <a:p>
            <a:pPr marL="193495" indent="-187719">
              <a:spcBef>
                <a:spcPts val="312"/>
              </a:spcBef>
              <a:buChar char="•"/>
              <a:tabLst>
                <a:tab pos="193495" algn="l"/>
              </a:tabLst>
            </a:pPr>
            <a:r>
              <a:rPr sz="1865" spc="-89" dirty="0">
                <a:latin typeface="Trebuchet MS"/>
                <a:cs typeface="Trebuchet MS"/>
              </a:rPr>
              <a:t>Saddle</a:t>
            </a:r>
            <a:r>
              <a:rPr sz="1865" spc="-118" dirty="0">
                <a:latin typeface="Trebuchet MS"/>
                <a:cs typeface="Trebuchet MS"/>
              </a:rPr>
              <a:t> </a:t>
            </a:r>
            <a:r>
              <a:rPr sz="1865" spc="-5" dirty="0">
                <a:latin typeface="Trebuchet MS"/>
                <a:cs typeface="Trebuchet MS"/>
              </a:rPr>
              <a:t>points</a:t>
            </a:r>
            <a:endParaRPr sz="1865">
              <a:latin typeface="Trebuchet MS"/>
              <a:cs typeface="Trebuchet MS"/>
            </a:endParaRPr>
          </a:p>
          <a:p>
            <a:pPr marL="193495" indent="-187719">
              <a:spcBef>
                <a:spcPts val="312"/>
              </a:spcBef>
              <a:buChar char="•"/>
              <a:tabLst>
                <a:tab pos="193495" algn="l"/>
              </a:tabLst>
            </a:pPr>
            <a:r>
              <a:rPr sz="1865" spc="-134" dirty="0">
                <a:latin typeface="Trebuchet MS"/>
                <a:cs typeface="Trebuchet MS"/>
              </a:rPr>
              <a:t>Very</a:t>
            </a:r>
            <a:r>
              <a:rPr sz="1865" spc="-132" dirty="0">
                <a:latin typeface="Trebuchet MS"/>
                <a:cs typeface="Trebuchet MS"/>
              </a:rPr>
              <a:t> </a:t>
            </a:r>
            <a:r>
              <a:rPr sz="1865" spc="-127" dirty="0">
                <a:latin typeface="Trebuchet MS"/>
                <a:cs typeface="Trebuchet MS"/>
              </a:rPr>
              <a:t>flat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5" dirty="0">
                <a:latin typeface="Trebuchet MS"/>
                <a:cs typeface="Trebuchet MS"/>
              </a:rPr>
              <a:t>regions</a:t>
            </a:r>
            <a:endParaRPr sz="1865">
              <a:latin typeface="Trebuchet MS"/>
              <a:cs typeface="Trebuchet MS"/>
            </a:endParaRPr>
          </a:p>
          <a:p>
            <a:pPr marL="193495" indent="-187719">
              <a:spcBef>
                <a:spcPts val="314"/>
              </a:spcBef>
              <a:buChar char="•"/>
              <a:tabLst>
                <a:tab pos="193495" algn="l"/>
              </a:tabLst>
            </a:pPr>
            <a:r>
              <a:rPr sz="1865" spc="-132" dirty="0">
                <a:latin typeface="Trebuchet MS"/>
                <a:cs typeface="Trebuchet MS"/>
              </a:rPr>
              <a:t>Widely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09" dirty="0">
                <a:latin typeface="Trebuchet MS"/>
                <a:cs typeface="Trebuchet MS"/>
              </a:rPr>
              <a:t>varying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34" dirty="0">
                <a:latin typeface="Trebuchet MS"/>
                <a:cs typeface="Trebuchet MS"/>
              </a:rPr>
              <a:t>curvature</a:t>
            </a:r>
            <a:endParaRPr sz="1865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2237" y="1187452"/>
            <a:ext cx="6095807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239" dirty="0"/>
              <a:t>Techniques</a:t>
            </a:r>
            <a:r>
              <a:rPr spc="-207" dirty="0"/>
              <a:t> </a:t>
            </a:r>
            <a:r>
              <a:rPr spc="-218" dirty="0"/>
              <a:t>for</a:t>
            </a:r>
            <a:r>
              <a:rPr spc="-207" dirty="0"/>
              <a:t> </a:t>
            </a:r>
            <a:r>
              <a:rPr spc="-161" dirty="0"/>
              <a:t>large-</a:t>
            </a:r>
            <a:r>
              <a:rPr spc="-146" dirty="0"/>
              <a:t>scale</a:t>
            </a:r>
            <a:r>
              <a:rPr spc="-207" dirty="0"/>
              <a:t> </a:t>
            </a:r>
            <a:r>
              <a:rPr spc="-239" dirty="0"/>
              <a:t>optimization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1238" y="2077603"/>
            <a:ext cx="1991694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>
              <a:spcBef>
                <a:spcPts val="55"/>
              </a:spcBef>
            </a:pPr>
            <a:r>
              <a:rPr sz="1865" b="1" i="1" spc="-109" dirty="0">
                <a:latin typeface="Gill Sans MT"/>
                <a:cs typeface="Gill Sans MT"/>
              </a:rPr>
              <a:t>Reduce</a:t>
            </a:r>
            <a:r>
              <a:rPr sz="1865" b="1" i="1" spc="-73" dirty="0">
                <a:latin typeface="Gill Sans MT"/>
                <a:cs typeface="Gill Sans MT"/>
              </a:rPr>
              <a:t> </a:t>
            </a:r>
            <a:r>
              <a:rPr sz="1865" b="1" i="1" spc="-121" dirty="0">
                <a:latin typeface="Gill Sans MT"/>
                <a:cs typeface="Gill Sans MT"/>
              </a:rPr>
              <a:t>computation:</a:t>
            </a:r>
            <a:endParaRPr sz="1865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1238" y="2369703"/>
            <a:ext cx="115816" cy="980458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76">
              <a:lnSpc>
                <a:spcPts val="2624"/>
              </a:lnSpc>
              <a:spcBef>
                <a:spcPts val="45"/>
              </a:spcBef>
            </a:pPr>
            <a:r>
              <a:rPr sz="2342" spc="-23" dirty="0">
                <a:latin typeface="Arial"/>
                <a:cs typeface="Arial"/>
              </a:rPr>
              <a:t>•</a:t>
            </a:r>
            <a:endParaRPr sz="2342">
              <a:latin typeface="Arial"/>
              <a:cs typeface="Arial"/>
            </a:endParaRPr>
          </a:p>
          <a:p>
            <a:pPr marL="5776">
              <a:lnSpc>
                <a:spcPts val="2438"/>
              </a:lnSpc>
            </a:pPr>
            <a:r>
              <a:rPr sz="2342" spc="-23" dirty="0">
                <a:latin typeface="Arial"/>
                <a:cs typeface="Arial"/>
              </a:rPr>
              <a:t>•</a:t>
            </a:r>
            <a:endParaRPr sz="2342">
              <a:latin typeface="Arial"/>
              <a:cs typeface="Arial"/>
            </a:endParaRPr>
          </a:p>
          <a:p>
            <a:pPr marL="5776">
              <a:lnSpc>
                <a:spcPts val="2624"/>
              </a:lnSpc>
            </a:pPr>
            <a:r>
              <a:rPr sz="2342" spc="-23" dirty="0">
                <a:latin typeface="Arial"/>
                <a:cs typeface="Arial"/>
              </a:rPr>
              <a:t>•</a:t>
            </a:r>
            <a:endParaRPr sz="2342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48894" y="2377641"/>
            <a:ext cx="5822585" cy="943875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 marR="2621997">
              <a:lnSpc>
                <a:spcPct val="108900"/>
              </a:lnSpc>
              <a:spcBef>
                <a:spcPts val="43"/>
              </a:spcBef>
            </a:pPr>
            <a:r>
              <a:rPr sz="1865" spc="-123" dirty="0">
                <a:latin typeface="Trebuchet MS"/>
                <a:cs typeface="Trebuchet MS"/>
              </a:rPr>
              <a:t>Parallelize/distribute</a:t>
            </a:r>
            <a:r>
              <a:rPr sz="1865" spc="-107" dirty="0">
                <a:latin typeface="Trebuchet MS"/>
                <a:cs typeface="Trebuchet MS"/>
              </a:rPr>
              <a:t> </a:t>
            </a:r>
            <a:r>
              <a:rPr sz="1865" spc="-121" dirty="0">
                <a:latin typeface="Trebuchet MS"/>
                <a:cs typeface="Trebuchet MS"/>
              </a:rPr>
              <a:t>computation </a:t>
            </a:r>
            <a:r>
              <a:rPr sz="1865" spc="-75" dirty="0">
                <a:latin typeface="Trebuchet MS"/>
                <a:cs typeface="Trebuchet MS"/>
              </a:rPr>
              <a:t>Use</a:t>
            </a:r>
            <a:r>
              <a:rPr sz="1865" spc="-118" dirty="0">
                <a:latin typeface="Trebuchet MS"/>
                <a:cs typeface="Trebuchet MS"/>
              </a:rPr>
              <a:t> </a:t>
            </a:r>
            <a:r>
              <a:rPr sz="1865" spc="-73" dirty="0">
                <a:latin typeface="Trebuchet MS"/>
                <a:cs typeface="Trebuchet MS"/>
              </a:rPr>
              <a:t>stochastic</a:t>
            </a:r>
            <a:r>
              <a:rPr sz="1865" spc="-118" dirty="0">
                <a:latin typeface="Trebuchet MS"/>
                <a:cs typeface="Trebuchet MS"/>
              </a:rPr>
              <a:t> </a:t>
            </a:r>
            <a:r>
              <a:rPr sz="1865" spc="-27" dirty="0">
                <a:latin typeface="Trebuchet MS"/>
                <a:cs typeface="Trebuchet MS"/>
              </a:rPr>
              <a:t>methods</a:t>
            </a:r>
            <a:endParaRPr sz="1865" dirty="0">
              <a:latin typeface="Trebuchet MS"/>
              <a:cs typeface="Trebuchet MS"/>
            </a:endParaRPr>
          </a:p>
          <a:p>
            <a:pPr marL="5776">
              <a:spcBef>
                <a:spcPts val="200"/>
              </a:spcBef>
            </a:pPr>
            <a:r>
              <a:rPr sz="1865" spc="-75" dirty="0">
                <a:solidFill>
                  <a:srgbClr val="FF0000"/>
                </a:solidFill>
                <a:latin typeface="Trebuchet MS"/>
                <a:cs typeface="Trebuchet MS"/>
              </a:rPr>
              <a:t>Use</a:t>
            </a:r>
            <a:r>
              <a:rPr sz="1865" spc="-118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65" spc="-116" dirty="0">
                <a:solidFill>
                  <a:srgbClr val="FF0000"/>
                </a:solidFill>
                <a:latin typeface="Trebuchet MS"/>
                <a:cs typeface="Trebuchet MS"/>
              </a:rPr>
              <a:t>first-</a:t>
            </a:r>
            <a:r>
              <a:rPr sz="1865" spc="-150" dirty="0">
                <a:solidFill>
                  <a:srgbClr val="FF0000"/>
                </a:solidFill>
                <a:latin typeface="Trebuchet MS"/>
                <a:cs typeface="Trebuchet MS"/>
              </a:rPr>
              <a:t>order</a:t>
            </a:r>
            <a:r>
              <a:rPr sz="1865" spc="-123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65" spc="-102" dirty="0">
                <a:solidFill>
                  <a:srgbClr val="FF0000"/>
                </a:solidFill>
                <a:latin typeface="Trebuchet MS"/>
                <a:cs typeface="Trebuchet MS"/>
              </a:rPr>
              <a:t>methods</a:t>
            </a:r>
            <a:r>
              <a:rPr sz="1865" spc="-123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65" spc="-177" dirty="0">
                <a:solidFill>
                  <a:srgbClr val="FF0000"/>
                </a:solidFill>
                <a:latin typeface="Trebuchet MS"/>
                <a:cs typeface="Trebuchet MS"/>
              </a:rPr>
              <a:t>(i.e.,</a:t>
            </a:r>
            <a:r>
              <a:rPr sz="1865" spc="-123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65" spc="-86" dirty="0">
                <a:solidFill>
                  <a:srgbClr val="FF0000"/>
                </a:solidFill>
                <a:latin typeface="Trebuchet MS"/>
                <a:cs typeface="Trebuchet MS"/>
              </a:rPr>
              <a:t>no</a:t>
            </a:r>
            <a:r>
              <a:rPr sz="1865" spc="-123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65" spc="-107" dirty="0">
                <a:solidFill>
                  <a:srgbClr val="FF0000"/>
                </a:solidFill>
                <a:latin typeface="Trebuchet MS"/>
                <a:cs typeface="Trebuchet MS"/>
              </a:rPr>
              <a:t>2nd-</a:t>
            </a:r>
            <a:r>
              <a:rPr sz="1865" spc="-150" dirty="0">
                <a:solidFill>
                  <a:srgbClr val="FF0000"/>
                </a:solidFill>
                <a:latin typeface="Trebuchet MS"/>
                <a:cs typeface="Trebuchet MS"/>
              </a:rPr>
              <a:t>order</a:t>
            </a:r>
            <a:r>
              <a:rPr sz="1865" spc="-123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65" spc="-114" dirty="0">
                <a:solidFill>
                  <a:srgbClr val="FF0000"/>
                </a:solidFill>
                <a:latin typeface="Trebuchet MS"/>
                <a:cs typeface="Trebuchet MS"/>
              </a:rPr>
              <a:t>or</a:t>
            </a:r>
            <a:r>
              <a:rPr sz="1865" spc="-123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65" spc="-116" dirty="0">
                <a:solidFill>
                  <a:srgbClr val="FF0000"/>
                </a:solidFill>
                <a:latin typeface="Trebuchet MS"/>
                <a:cs typeface="Trebuchet MS"/>
              </a:rPr>
              <a:t>higher</a:t>
            </a:r>
            <a:r>
              <a:rPr sz="1865" spc="-123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65" spc="-70" dirty="0">
                <a:solidFill>
                  <a:srgbClr val="FF0000"/>
                </a:solidFill>
                <a:latin typeface="Trebuchet MS"/>
                <a:cs typeface="Trebuchet MS"/>
              </a:rPr>
              <a:t>gradients)</a:t>
            </a:r>
            <a:endParaRPr sz="1865" dirty="0">
              <a:solidFill>
                <a:srgbClr val="FF0000"/>
              </a:solidFill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1238" y="3653991"/>
            <a:ext cx="2259140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>
              <a:spcBef>
                <a:spcPts val="55"/>
              </a:spcBef>
            </a:pPr>
            <a:r>
              <a:rPr sz="1865" b="1" i="1" spc="-109" dirty="0">
                <a:latin typeface="Gill Sans MT"/>
                <a:cs typeface="Gill Sans MT"/>
              </a:rPr>
              <a:t>Reduce</a:t>
            </a:r>
            <a:r>
              <a:rPr sz="1865" b="1" i="1" spc="-73" dirty="0">
                <a:latin typeface="Gill Sans MT"/>
                <a:cs typeface="Gill Sans MT"/>
              </a:rPr>
              <a:t> </a:t>
            </a:r>
            <a:r>
              <a:rPr sz="1865" b="1" i="1" spc="-123" dirty="0">
                <a:latin typeface="Gill Sans MT"/>
                <a:cs typeface="Gill Sans MT"/>
              </a:rPr>
              <a:t>communication</a:t>
            </a:r>
            <a:r>
              <a:rPr sz="1865" b="1" spc="-123" dirty="0">
                <a:latin typeface="Trebuchet MS"/>
                <a:cs typeface="Trebuchet MS"/>
              </a:rPr>
              <a:t>:</a:t>
            </a:r>
            <a:endParaRPr sz="1865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1238" y="3946091"/>
            <a:ext cx="115816" cy="672682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76">
              <a:lnSpc>
                <a:spcPts val="2624"/>
              </a:lnSpc>
              <a:spcBef>
                <a:spcPts val="45"/>
              </a:spcBef>
            </a:pPr>
            <a:r>
              <a:rPr sz="2342" spc="-23" dirty="0">
                <a:latin typeface="Arial"/>
                <a:cs typeface="Arial"/>
              </a:rPr>
              <a:t>•</a:t>
            </a:r>
            <a:endParaRPr sz="2342">
              <a:latin typeface="Arial"/>
              <a:cs typeface="Arial"/>
            </a:endParaRPr>
          </a:p>
          <a:p>
            <a:pPr marL="5776">
              <a:lnSpc>
                <a:spcPts val="2624"/>
              </a:lnSpc>
            </a:pPr>
            <a:r>
              <a:rPr sz="2342" spc="-23" dirty="0">
                <a:latin typeface="Arial"/>
                <a:cs typeface="Arial"/>
              </a:rPr>
              <a:t>•</a:t>
            </a:r>
            <a:endParaRPr sz="2342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48895" y="3954028"/>
            <a:ext cx="2253363" cy="608014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 marR="2310">
              <a:lnSpc>
                <a:spcPct val="108900"/>
              </a:lnSpc>
              <a:spcBef>
                <a:spcPts val="43"/>
              </a:spcBef>
            </a:pPr>
            <a:r>
              <a:rPr sz="1865" spc="-123" dirty="0">
                <a:latin typeface="Trebuchet MS"/>
                <a:cs typeface="Trebuchet MS"/>
              </a:rPr>
              <a:t>Keep </a:t>
            </a:r>
            <a:r>
              <a:rPr sz="1865" spc="-111" dirty="0">
                <a:latin typeface="Trebuchet MS"/>
                <a:cs typeface="Trebuchet MS"/>
              </a:rPr>
              <a:t>large</a:t>
            </a:r>
            <a:r>
              <a:rPr sz="1865" spc="-121" dirty="0">
                <a:latin typeface="Trebuchet MS"/>
                <a:cs typeface="Trebuchet MS"/>
              </a:rPr>
              <a:t> </a:t>
            </a:r>
            <a:r>
              <a:rPr sz="1865" spc="-111" dirty="0">
                <a:latin typeface="Trebuchet MS"/>
                <a:cs typeface="Trebuchet MS"/>
              </a:rPr>
              <a:t>objects</a:t>
            </a:r>
            <a:r>
              <a:rPr sz="1865" spc="-121" dirty="0">
                <a:latin typeface="Trebuchet MS"/>
                <a:cs typeface="Trebuchet MS"/>
              </a:rPr>
              <a:t> </a:t>
            </a:r>
            <a:r>
              <a:rPr sz="1865" spc="-80" dirty="0">
                <a:latin typeface="Trebuchet MS"/>
                <a:cs typeface="Trebuchet MS"/>
              </a:rPr>
              <a:t>local </a:t>
            </a:r>
            <a:r>
              <a:rPr sz="1865" spc="-114" dirty="0">
                <a:solidFill>
                  <a:srgbClr val="FF0000"/>
                </a:solidFill>
                <a:latin typeface="Trebuchet MS"/>
                <a:cs typeface="Trebuchet MS"/>
              </a:rPr>
              <a:t>Reduce</a:t>
            </a:r>
            <a:r>
              <a:rPr sz="1865" spc="-121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65" spc="-66" dirty="0">
                <a:solidFill>
                  <a:srgbClr val="FF0000"/>
                </a:solidFill>
                <a:latin typeface="Trebuchet MS"/>
                <a:cs typeface="Trebuchet MS"/>
              </a:rPr>
              <a:t>iterations</a:t>
            </a:r>
            <a:endParaRPr sz="1865" dirty="0">
              <a:solidFill>
                <a:srgbClr val="FF0000"/>
              </a:solidFill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2237" y="1035612"/>
            <a:ext cx="726379" cy="213238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76">
              <a:spcBef>
                <a:spcPts val="52"/>
              </a:spcBef>
            </a:pPr>
            <a:r>
              <a:rPr sz="1342" b="1" spc="68" dirty="0">
                <a:solidFill>
                  <a:srgbClr val="FF644E"/>
                </a:solidFill>
                <a:latin typeface="Trebuchet MS"/>
                <a:cs typeface="Trebuchet MS"/>
              </a:rPr>
              <a:t>REC</a:t>
            </a:r>
            <a:r>
              <a:rPr sz="1342" b="1" spc="-180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59" dirty="0">
                <a:solidFill>
                  <a:srgbClr val="FF644E"/>
                </a:solidFill>
                <a:latin typeface="Trebuchet MS"/>
                <a:cs typeface="Trebuchet MS"/>
              </a:rPr>
              <a:t>ALL </a:t>
            </a:r>
            <a:endParaRPr sz="1342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497" y="1057414"/>
            <a:ext cx="3348078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211" dirty="0"/>
              <a:t>Reducing</a:t>
            </a:r>
            <a:r>
              <a:rPr spc="-202" dirty="0"/>
              <a:t> </a:t>
            </a:r>
            <a:r>
              <a:rPr spc="-218" dirty="0"/>
              <a:t>iterations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1238" y="2077604"/>
            <a:ext cx="7158371" cy="2843043"/>
          </a:xfrm>
          <a:prstGeom prst="rect">
            <a:avLst/>
          </a:prstGeom>
        </p:spPr>
        <p:txBody>
          <a:bodyPr vert="horz" wrap="square" lIns="0" tIns="22817" rIns="0" bIns="0" rtlCol="0">
            <a:spAutoFit/>
          </a:bodyPr>
          <a:lstStyle/>
          <a:p>
            <a:pPr marL="5776" marR="13284">
              <a:lnSpc>
                <a:spcPts val="2174"/>
              </a:lnSpc>
              <a:spcBef>
                <a:spcPts val="180"/>
              </a:spcBef>
            </a:pPr>
            <a:r>
              <a:rPr sz="1865" spc="-166" dirty="0">
                <a:latin typeface="Trebuchet MS"/>
                <a:cs typeface="Trebuchet MS"/>
              </a:rPr>
              <a:t>We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34" dirty="0">
                <a:latin typeface="Trebuchet MS"/>
                <a:cs typeface="Trebuchet MS"/>
              </a:rPr>
              <a:t>are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25" dirty="0">
                <a:latin typeface="Trebuchet MS"/>
                <a:cs typeface="Trebuchet MS"/>
              </a:rPr>
              <a:t>interested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09" dirty="0">
                <a:latin typeface="Trebuchet MS"/>
                <a:cs typeface="Trebuchet MS"/>
              </a:rPr>
              <a:t>in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16" dirty="0">
                <a:latin typeface="Trebuchet MS"/>
                <a:cs typeface="Trebuchet MS"/>
              </a:rPr>
              <a:t>optimization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04" dirty="0">
                <a:latin typeface="Trebuchet MS"/>
                <a:cs typeface="Trebuchet MS"/>
              </a:rPr>
              <a:t>techniques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48" dirty="0">
                <a:latin typeface="Trebuchet MS"/>
                <a:cs typeface="Trebuchet MS"/>
              </a:rPr>
              <a:t>that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25" dirty="0">
                <a:latin typeface="Trebuchet MS"/>
                <a:cs typeface="Trebuchet MS"/>
              </a:rPr>
              <a:t>reduce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52" dirty="0">
                <a:latin typeface="Trebuchet MS"/>
                <a:cs typeface="Trebuchet MS"/>
              </a:rPr>
              <a:t>the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39" dirty="0">
                <a:latin typeface="Trebuchet MS"/>
                <a:cs typeface="Trebuchet MS"/>
              </a:rPr>
              <a:t>total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36" dirty="0">
                <a:latin typeface="Trebuchet MS"/>
                <a:cs typeface="Trebuchet MS"/>
              </a:rPr>
              <a:t>number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1" dirty="0">
                <a:latin typeface="Trebuchet MS"/>
                <a:cs typeface="Trebuchet MS"/>
              </a:rPr>
              <a:t>of </a:t>
            </a:r>
            <a:r>
              <a:rPr sz="1865" spc="-114" dirty="0">
                <a:latin typeface="Trebuchet MS"/>
                <a:cs typeface="Trebuchet MS"/>
              </a:rPr>
              <a:t>iterations</a:t>
            </a:r>
            <a:r>
              <a:rPr sz="1865" spc="-116" dirty="0">
                <a:latin typeface="Trebuchet MS"/>
                <a:cs typeface="Trebuchet MS"/>
              </a:rPr>
              <a:t> </a:t>
            </a:r>
            <a:r>
              <a:rPr sz="1865" spc="-130" dirty="0">
                <a:latin typeface="Trebuchet MS"/>
                <a:cs typeface="Trebuchet MS"/>
              </a:rPr>
              <a:t>until</a:t>
            </a:r>
            <a:r>
              <a:rPr sz="1865" spc="-114" dirty="0">
                <a:latin typeface="Trebuchet MS"/>
                <a:cs typeface="Trebuchet MS"/>
              </a:rPr>
              <a:t> </a:t>
            </a:r>
            <a:r>
              <a:rPr sz="1865" spc="-61" dirty="0">
                <a:latin typeface="Trebuchet MS"/>
                <a:cs typeface="Trebuchet MS"/>
              </a:rPr>
              <a:t>convergence</a:t>
            </a:r>
            <a:endParaRPr sz="1865">
              <a:latin typeface="Trebuchet MS"/>
              <a:cs typeface="Trebuchet MS"/>
            </a:endParaRPr>
          </a:p>
          <a:p>
            <a:pPr>
              <a:spcBef>
                <a:spcPts val="637"/>
              </a:spcBef>
            </a:pPr>
            <a:endParaRPr sz="1865">
              <a:latin typeface="Trebuchet MS"/>
              <a:cs typeface="Trebuchet MS"/>
            </a:endParaRPr>
          </a:p>
          <a:p>
            <a:pPr marL="5776"/>
            <a:r>
              <a:rPr sz="1865" spc="-166" dirty="0">
                <a:latin typeface="Trebuchet MS"/>
                <a:cs typeface="Trebuchet MS"/>
              </a:rPr>
              <a:t>However,</a:t>
            </a:r>
            <a:r>
              <a:rPr sz="1865" spc="-118" dirty="0">
                <a:latin typeface="Trebuchet MS"/>
                <a:cs typeface="Trebuchet MS"/>
              </a:rPr>
              <a:t> </a:t>
            </a:r>
            <a:r>
              <a:rPr sz="1865" spc="-104" dirty="0">
                <a:latin typeface="Trebuchet MS"/>
                <a:cs typeface="Trebuchet MS"/>
              </a:rPr>
              <a:t>these</a:t>
            </a:r>
            <a:r>
              <a:rPr sz="1865" spc="-118" dirty="0">
                <a:latin typeface="Trebuchet MS"/>
                <a:cs typeface="Trebuchet MS"/>
              </a:rPr>
              <a:t> </a:t>
            </a:r>
            <a:r>
              <a:rPr sz="1865" spc="-104" dirty="0">
                <a:latin typeface="Trebuchet MS"/>
                <a:cs typeface="Trebuchet MS"/>
              </a:rPr>
              <a:t>techniques</a:t>
            </a:r>
            <a:r>
              <a:rPr sz="1865" spc="-118" dirty="0">
                <a:latin typeface="Trebuchet MS"/>
                <a:cs typeface="Trebuchet MS"/>
              </a:rPr>
              <a:t> </a:t>
            </a:r>
            <a:r>
              <a:rPr sz="1865" spc="-125" dirty="0">
                <a:latin typeface="Trebuchet MS"/>
                <a:cs typeface="Trebuchet MS"/>
              </a:rPr>
              <a:t>often</a:t>
            </a:r>
            <a:r>
              <a:rPr sz="1865" spc="-118" dirty="0">
                <a:latin typeface="Trebuchet MS"/>
                <a:cs typeface="Trebuchet MS"/>
              </a:rPr>
              <a:t> </a:t>
            </a:r>
            <a:r>
              <a:rPr sz="1865" spc="-104" dirty="0">
                <a:latin typeface="Trebuchet MS"/>
                <a:cs typeface="Trebuchet MS"/>
              </a:rPr>
              <a:t>come</a:t>
            </a:r>
            <a:r>
              <a:rPr sz="1865" spc="-118" dirty="0">
                <a:latin typeface="Trebuchet MS"/>
                <a:cs typeface="Trebuchet MS"/>
              </a:rPr>
              <a:t> </a:t>
            </a:r>
            <a:r>
              <a:rPr sz="1865" spc="-139" dirty="0">
                <a:latin typeface="Trebuchet MS"/>
                <a:cs typeface="Trebuchet MS"/>
              </a:rPr>
              <a:t>at</a:t>
            </a:r>
            <a:r>
              <a:rPr sz="1865" spc="-118" dirty="0">
                <a:latin typeface="Trebuchet MS"/>
                <a:cs typeface="Trebuchet MS"/>
              </a:rPr>
              <a:t> </a:t>
            </a:r>
            <a:r>
              <a:rPr sz="1865" spc="-91" dirty="0">
                <a:latin typeface="Trebuchet MS"/>
                <a:cs typeface="Trebuchet MS"/>
              </a:rPr>
              <a:t>a</a:t>
            </a:r>
            <a:r>
              <a:rPr sz="1865" spc="-118" dirty="0">
                <a:latin typeface="Trebuchet MS"/>
                <a:cs typeface="Trebuchet MS"/>
              </a:rPr>
              <a:t> </a:t>
            </a:r>
            <a:r>
              <a:rPr sz="1865" spc="-141" dirty="0">
                <a:latin typeface="Trebuchet MS"/>
                <a:cs typeface="Trebuchet MS"/>
              </a:rPr>
              <a:t>price:</a:t>
            </a:r>
            <a:r>
              <a:rPr sz="1865" spc="-114" dirty="0">
                <a:latin typeface="Trebuchet MS"/>
                <a:cs typeface="Trebuchet MS"/>
              </a:rPr>
              <a:t> </a:t>
            </a:r>
            <a:r>
              <a:rPr sz="1865" i="1" dirty="0">
                <a:solidFill>
                  <a:srgbClr val="FF644E"/>
                </a:solidFill>
                <a:latin typeface="Gill Sans MT"/>
                <a:cs typeface="Gill Sans MT"/>
              </a:rPr>
              <a:t>more</a:t>
            </a:r>
            <a:r>
              <a:rPr sz="1865" i="1" spc="-77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865" i="1" spc="30" dirty="0">
                <a:solidFill>
                  <a:srgbClr val="FF644E"/>
                </a:solidFill>
                <a:latin typeface="Gill Sans MT"/>
                <a:cs typeface="Gill Sans MT"/>
              </a:rPr>
              <a:t>computation</a:t>
            </a:r>
            <a:endParaRPr sz="1865">
              <a:latin typeface="Gill Sans MT"/>
              <a:cs typeface="Gill Sans MT"/>
            </a:endParaRPr>
          </a:p>
          <a:p>
            <a:pPr>
              <a:spcBef>
                <a:spcPts val="825"/>
              </a:spcBef>
            </a:pPr>
            <a:endParaRPr sz="1865">
              <a:latin typeface="Gill Sans MT"/>
              <a:cs typeface="Gill Sans MT"/>
            </a:endParaRPr>
          </a:p>
          <a:p>
            <a:pPr marL="5776" marR="2310">
              <a:lnSpc>
                <a:spcPts val="2174"/>
              </a:lnSpc>
            </a:pPr>
            <a:r>
              <a:rPr sz="1865" spc="-132" dirty="0">
                <a:latin typeface="Trebuchet MS"/>
                <a:cs typeface="Trebuchet MS"/>
              </a:rPr>
              <a:t>Will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8" dirty="0">
                <a:latin typeface="Trebuchet MS"/>
                <a:cs typeface="Trebuchet MS"/>
              </a:rPr>
              <a:t>discuss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46" dirty="0">
                <a:latin typeface="Trebuchet MS"/>
                <a:cs typeface="Trebuchet MS"/>
              </a:rPr>
              <a:t>two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16" dirty="0">
                <a:latin typeface="Trebuchet MS"/>
                <a:cs typeface="Trebuchet MS"/>
              </a:rPr>
              <a:t>popular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04" dirty="0">
                <a:latin typeface="Trebuchet MS"/>
                <a:cs typeface="Trebuchet MS"/>
              </a:rPr>
              <a:t>techniques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09" dirty="0">
                <a:latin typeface="Trebuchet MS"/>
                <a:cs typeface="Trebuchet MS"/>
              </a:rPr>
              <a:t>for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73" dirty="0">
                <a:latin typeface="Trebuchet MS"/>
                <a:cs typeface="Trebuchet MS"/>
              </a:rPr>
              <a:t>DL</a:t>
            </a:r>
            <a:r>
              <a:rPr sz="1865" spc="-121" dirty="0">
                <a:latin typeface="Trebuchet MS"/>
                <a:cs typeface="Trebuchet MS"/>
              </a:rPr>
              <a:t> </a:t>
            </a:r>
            <a:r>
              <a:rPr sz="1865" spc="-148" dirty="0">
                <a:latin typeface="Trebuchet MS"/>
                <a:cs typeface="Trebuchet MS"/>
              </a:rPr>
              <a:t>that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16" dirty="0">
                <a:latin typeface="Trebuchet MS"/>
                <a:cs typeface="Trebuchet MS"/>
              </a:rPr>
              <a:t>aim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36" dirty="0">
                <a:latin typeface="Trebuchet MS"/>
                <a:cs typeface="Trebuchet MS"/>
              </a:rPr>
              <a:t>to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25" dirty="0">
                <a:latin typeface="Trebuchet MS"/>
                <a:cs typeface="Trebuchet MS"/>
              </a:rPr>
              <a:t>reduce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14" dirty="0">
                <a:latin typeface="Trebuchet MS"/>
                <a:cs typeface="Trebuchet MS"/>
              </a:rPr>
              <a:t>iterations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59" dirty="0">
                <a:latin typeface="Trebuchet MS"/>
                <a:cs typeface="Trebuchet MS"/>
              </a:rPr>
              <a:t>with </a:t>
            </a:r>
            <a:r>
              <a:rPr sz="1865" spc="-148" dirty="0">
                <a:latin typeface="Trebuchet MS"/>
                <a:cs typeface="Trebuchet MS"/>
              </a:rPr>
              <a:t>little</a:t>
            </a:r>
            <a:r>
              <a:rPr sz="1865" spc="-121" dirty="0">
                <a:latin typeface="Trebuchet MS"/>
                <a:cs typeface="Trebuchet MS"/>
              </a:rPr>
              <a:t> </a:t>
            </a:r>
            <a:r>
              <a:rPr sz="1865" spc="-114" dirty="0">
                <a:latin typeface="Trebuchet MS"/>
                <a:cs typeface="Trebuchet MS"/>
              </a:rPr>
              <a:t>additional</a:t>
            </a:r>
            <a:r>
              <a:rPr sz="1865" spc="-118" dirty="0">
                <a:latin typeface="Trebuchet MS"/>
                <a:cs typeface="Trebuchet MS"/>
              </a:rPr>
              <a:t> </a:t>
            </a:r>
            <a:r>
              <a:rPr sz="1865" spc="-130" dirty="0">
                <a:latin typeface="Trebuchet MS"/>
                <a:cs typeface="Trebuchet MS"/>
              </a:rPr>
              <a:t>computation:</a:t>
            </a:r>
            <a:endParaRPr sz="1865">
              <a:latin typeface="Trebuchet MS"/>
              <a:cs typeface="Trebuchet MS"/>
            </a:endParaRPr>
          </a:p>
          <a:p>
            <a:pPr marL="193495" indent="-187719">
              <a:spcBef>
                <a:spcPts val="250"/>
              </a:spcBef>
              <a:buChar char="•"/>
              <a:tabLst>
                <a:tab pos="193495" algn="l"/>
              </a:tabLst>
            </a:pPr>
            <a:r>
              <a:rPr sz="1865" spc="-116" dirty="0">
                <a:latin typeface="Trebuchet MS"/>
                <a:cs typeface="Trebuchet MS"/>
              </a:rPr>
              <a:t>Adaptive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09" dirty="0">
                <a:latin typeface="Trebuchet MS"/>
                <a:cs typeface="Trebuchet MS"/>
              </a:rPr>
              <a:t>learning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55" dirty="0">
                <a:latin typeface="Trebuchet MS"/>
                <a:cs typeface="Trebuchet MS"/>
              </a:rPr>
              <a:t>rate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23" dirty="0">
                <a:latin typeface="Trebuchet MS"/>
                <a:cs typeface="Trebuchet MS"/>
              </a:rPr>
              <a:t>methods</a:t>
            </a:r>
            <a:endParaRPr sz="1865">
              <a:latin typeface="Trebuchet MS"/>
              <a:cs typeface="Trebuchet MS"/>
            </a:endParaRPr>
          </a:p>
          <a:p>
            <a:pPr marL="193495" indent="-187719">
              <a:spcBef>
                <a:spcPts val="314"/>
              </a:spcBef>
              <a:buChar char="•"/>
              <a:tabLst>
                <a:tab pos="193495" algn="l"/>
              </a:tabLst>
            </a:pPr>
            <a:r>
              <a:rPr sz="1865" spc="-111" dirty="0">
                <a:latin typeface="Trebuchet MS"/>
                <a:cs typeface="Trebuchet MS"/>
              </a:rPr>
              <a:t>Momentum-</a:t>
            </a:r>
            <a:r>
              <a:rPr sz="1865" spc="-91" dirty="0">
                <a:latin typeface="Trebuchet MS"/>
                <a:cs typeface="Trebuchet MS"/>
              </a:rPr>
              <a:t>based</a:t>
            </a:r>
            <a:r>
              <a:rPr sz="1865" spc="-93" dirty="0">
                <a:latin typeface="Trebuchet MS"/>
                <a:cs typeface="Trebuchet MS"/>
              </a:rPr>
              <a:t> </a:t>
            </a:r>
            <a:r>
              <a:rPr sz="1865" spc="-27" dirty="0">
                <a:latin typeface="Trebuchet MS"/>
                <a:cs typeface="Trebuchet MS"/>
              </a:rPr>
              <a:t>methods</a:t>
            </a:r>
            <a:endParaRPr sz="1865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18" y="4225039"/>
            <a:ext cx="3030575" cy="1131130"/>
          </a:xfrm>
          <a:prstGeom prst="rect">
            <a:avLst/>
          </a:prstGeom>
        </p:spPr>
        <p:txBody>
          <a:bodyPr vert="horz" wrap="square" lIns="0" tIns="100508" rIns="0" bIns="0" rtlCol="0">
            <a:spAutoFit/>
          </a:bodyPr>
          <a:lstStyle/>
          <a:p>
            <a:pPr marL="17328">
              <a:spcBef>
                <a:spcPts val="791"/>
              </a:spcBef>
            </a:pPr>
            <a:r>
              <a:rPr sz="1865" spc="-166" dirty="0">
                <a:latin typeface="Trebuchet MS"/>
                <a:cs typeface="Trebuchet MS"/>
              </a:rPr>
              <a:t>We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86" dirty="0">
                <a:latin typeface="Trebuchet MS"/>
                <a:cs typeface="Trebuchet MS"/>
              </a:rPr>
              <a:t>can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25" dirty="0">
                <a:latin typeface="Trebuchet MS"/>
                <a:cs typeface="Trebuchet MS"/>
              </a:rPr>
              <a:t>move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41" dirty="0">
                <a:latin typeface="Trebuchet MS"/>
                <a:cs typeface="Trebuchet MS"/>
              </a:rPr>
              <a:t>anywhere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11" dirty="0">
                <a:latin typeface="Trebuchet MS"/>
                <a:cs typeface="Trebuchet MS"/>
              </a:rPr>
              <a:t>in</a:t>
            </a:r>
            <a:r>
              <a:rPr sz="1865" spc="-252" dirty="0">
                <a:latin typeface="Trebuchet MS"/>
                <a:cs typeface="Trebuchet MS"/>
              </a:rPr>
              <a:t> </a:t>
            </a:r>
            <a:r>
              <a:rPr sz="3786" spc="-17" baseline="-8508" dirty="0">
                <a:latin typeface="Century"/>
                <a:cs typeface="Century"/>
              </a:rPr>
              <a:t>R</a:t>
            </a:r>
            <a:r>
              <a:rPr sz="2626" i="1" spc="-17" baseline="20923" dirty="0">
                <a:latin typeface="Times New Roman"/>
                <a:cs typeface="Times New Roman"/>
              </a:rPr>
              <a:t>d</a:t>
            </a:r>
            <a:endParaRPr sz="2626" baseline="20923">
              <a:latin typeface="Times New Roman"/>
              <a:cs typeface="Times New Roman"/>
            </a:endParaRPr>
          </a:p>
          <a:p>
            <a:pPr marL="17328">
              <a:lnSpc>
                <a:spcPts val="2206"/>
              </a:lnSpc>
              <a:spcBef>
                <a:spcPts val="555"/>
              </a:spcBef>
            </a:pPr>
            <a:r>
              <a:rPr sz="1865" spc="-111" dirty="0">
                <a:latin typeface="Trebuchet MS"/>
                <a:cs typeface="Trebuchet MS"/>
              </a:rPr>
              <a:t>Negative</a:t>
            </a:r>
            <a:r>
              <a:rPr sz="1865" spc="-123" dirty="0">
                <a:latin typeface="Trebuchet MS"/>
                <a:cs typeface="Trebuchet MS"/>
              </a:rPr>
              <a:t> gradient</a:t>
            </a:r>
            <a:r>
              <a:rPr sz="1865" spc="-121" dirty="0">
                <a:latin typeface="Trebuchet MS"/>
                <a:cs typeface="Trebuchet MS"/>
              </a:rPr>
              <a:t> </a:t>
            </a:r>
            <a:r>
              <a:rPr sz="1865" spc="-9" dirty="0">
                <a:latin typeface="Trebuchet MS"/>
                <a:cs typeface="Trebuchet MS"/>
              </a:rPr>
              <a:t>is</a:t>
            </a:r>
            <a:r>
              <a:rPr sz="1865" spc="-121" dirty="0">
                <a:latin typeface="Trebuchet MS"/>
                <a:cs typeface="Trebuchet MS"/>
              </a:rPr>
              <a:t> direction </a:t>
            </a:r>
            <a:r>
              <a:rPr sz="1865" spc="-11" dirty="0">
                <a:latin typeface="Trebuchet MS"/>
                <a:cs typeface="Trebuchet MS"/>
              </a:rPr>
              <a:t>of</a:t>
            </a:r>
            <a:endParaRPr sz="1865">
              <a:latin typeface="Trebuchet MS"/>
              <a:cs typeface="Trebuchet MS"/>
            </a:endParaRPr>
          </a:p>
          <a:p>
            <a:pPr marL="17328">
              <a:lnSpc>
                <a:spcPts val="2206"/>
              </a:lnSpc>
            </a:pPr>
            <a:r>
              <a:rPr sz="1865" i="1" spc="59" dirty="0">
                <a:latin typeface="Gill Sans MT"/>
                <a:cs typeface="Gill Sans MT"/>
              </a:rPr>
              <a:t>steepest</a:t>
            </a:r>
            <a:r>
              <a:rPr sz="1865" i="1" spc="-89" dirty="0">
                <a:latin typeface="Gill Sans MT"/>
                <a:cs typeface="Gill Sans MT"/>
              </a:rPr>
              <a:t> </a:t>
            </a:r>
            <a:r>
              <a:rPr sz="1865" spc="-52" dirty="0">
                <a:latin typeface="Trebuchet MS"/>
                <a:cs typeface="Trebuchet MS"/>
              </a:rPr>
              <a:t>descent!</a:t>
            </a:r>
            <a:endParaRPr sz="1865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82559" y="2147673"/>
            <a:ext cx="1174626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>
              <a:spcBef>
                <a:spcPts val="55"/>
              </a:spcBef>
            </a:pPr>
            <a:r>
              <a:rPr sz="1865" spc="-70" dirty="0">
                <a:latin typeface="Trebuchet MS"/>
                <a:cs typeface="Trebuchet MS"/>
              </a:rPr>
              <a:t>2D</a:t>
            </a:r>
            <a:r>
              <a:rPr sz="1865" spc="-132" dirty="0">
                <a:latin typeface="Trebuchet MS"/>
                <a:cs typeface="Trebuchet MS"/>
              </a:rPr>
              <a:t> </a:t>
            </a:r>
            <a:r>
              <a:rPr sz="1865" spc="-139" dirty="0">
                <a:latin typeface="Trebuchet MS"/>
                <a:cs typeface="Trebuchet MS"/>
              </a:rPr>
              <a:t>Example:</a:t>
            </a:r>
            <a:endParaRPr sz="1865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82559" y="2480802"/>
            <a:ext cx="112061" cy="970327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5776">
              <a:spcBef>
                <a:spcPts val="45"/>
              </a:spcBef>
            </a:pPr>
            <a:r>
              <a:rPr sz="2342" spc="-466" dirty="0">
                <a:latin typeface="Trebuchet MS"/>
                <a:cs typeface="Trebuchet MS"/>
              </a:rPr>
              <a:t>•</a:t>
            </a:r>
            <a:endParaRPr sz="2342">
              <a:latin typeface="Trebuchet MS"/>
              <a:cs typeface="Trebuchet MS"/>
            </a:endParaRPr>
          </a:p>
          <a:p>
            <a:pPr marL="5776">
              <a:spcBef>
                <a:spcPts val="1915"/>
              </a:spcBef>
            </a:pPr>
            <a:r>
              <a:rPr sz="2342" spc="-466" dirty="0">
                <a:latin typeface="Trebuchet MS"/>
                <a:cs typeface="Trebuchet MS"/>
              </a:rPr>
              <a:t>•</a:t>
            </a:r>
            <a:endParaRPr sz="2342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68307" y="2519148"/>
            <a:ext cx="3265095" cy="912771"/>
          </a:xfrm>
          <a:prstGeom prst="rect">
            <a:avLst/>
          </a:prstGeom>
        </p:spPr>
        <p:txBody>
          <a:bodyPr vert="horz" wrap="square" lIns="0" tIns="22817" rIns="0" bIns="0" rtlCol="0">
            <a:spAutoFit/>
          </a:bodyPr>
          <a:lstStyle/>
          <a:p>
            <a:pPr marL="5776" marR="2310">
              <a:lnSpc>
                <a:spcPts val="2174"/>
              </a:lnSpc>
              <a:spcBef>
                <a:spcPts val="180"/>
              </a:spcBef>
            </a:pPr>
            <a:r>
              <a:rPr sz="1865" spc="-109" dirty="0">
                <a:latin typeface="Trebuchet MS"/>
                <a:cs typeface="Trebuchet MS"/>
              </a:rPr>
              <a:t>Function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89" dirty="0">
                <a:latin typeface="Trebuchet MS"/>
                <a:cs typeface="Trebuchet MS"/>
              </a:rPr>
              <a:t>values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34" dirty="0">
                <a:latin typeface="Trebuchet MS"/>
                <a:cs typeface="Trebuchet MS"/>
              </a:rPr>
              <a:t>are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09" dirty="0">
                <a:latin typeface="Trebuchet MS"/>
                <a:cs typeface="Trebuchet MS"/>
              </a:rPr>
              <a:t>in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43" dirty="0">
                <a:latin typeface="Trebuchet MS"/>
                <a:cs typeface="Trebuchet MS"/>
              </a:rPr>
              <a:t>black/white </a:t>
            </a:r>
            <a:r>
              <a:rPr sz="1865" spc="-107" dirty="0">
                <a:latin typeface="Trebuchet MS"/>
                <a:cs typeface="Trebuchet MS"/>
              </a:rPr>
              <a:t>and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00" dirty="0">
                <a:latin typeface="Trebuchet MS"/>
                <a:cs typeface="Trebuchet MS"/>
              </a:rPr>
              <a:t>black</a:t>
            </a:r>
            <a:r>
              <a:rPr sz="1865" spc="-121" dirty="0">
                <a:latin typeface="Trebuchet MS"/>
                <a:cs typeface="Trebuchet MS"/>
              </a:rPr>
              <a:t> </a:t>
            </a:r>
            <a:r>
              <a:rPr sz="1865" spc="-104" dirty="0">
                <a:latin typeface="Trebuchet MS"/>
                <a:cs typeface="Trebuchet MS"/>
              </a:rPr>
              <a:t>represents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16" dirty="0">
                <a:latin typeface="Trebuchet MS"/>
                <a:cs typeface="Trebuchet MS"/>
              </a:rPr>
              <a:t>higher</a:t>
            </a:r>
            <a:r>
              <a:rPr sz="1865" spc="-121" dirty="0">
                <a:latin typeface="Trebuchet MS"/>
                <a:cs typeface="Trebuchet MS"/>
              </a:rPr>
              <a:t> </a:t>
            </a:r>
            <a:r>
              <a:rPr sz="1865" spc="-64" dirty="0">
                <a:latin typeface="Trebuchet MS"/>
                <a:cs typeface="Trebuchet MS"/>
              </a:rPr>
              <a:t>values</a:t>
            </a:r>
            <a:endParaRPr sz="1865">
              <a:latin typeface="Trebuchet MS"/>
              <a:cs typeface="Trebuchet MS"/>
            </a:endParaRPr>
          </a:p>
          <a:p>
            <a:pPr marL="5776">
              <a:spcBef>
                <a:spcPts val="252"/>
              </a:spcBef>
            </a:pPr>
            <a:r>
              <a:rPr sz="1865" spc="-86" dirty="0">
                <a:latin typeface="Trebuchet MS"/>
                <a:cs typeface="Trebuchet MS"/>
              </a:rPr>
              <a:t>Arrows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134" dirty="0">
                <a:latin typeface="Trebuchet MS"/>
                <a:cs typeface="Trebuchet MS"/>
              </a:rPr>
              <a:t>are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43" dirty="0">
                <a:latin typeface="Trebuchet MS"/>
                <a:cs typeface="Trebuchet MS"/>
              </a:rPr>
              <a:t>gradients</a:t>
            </a:r>
            <a:endParaRPr sz="1865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8993" y="3985140"/>
            <a:ext cx="2717784" cy="188844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 marR="2310">
              <a:spcBef>
                <a:spcPts val="55"/>
              </a:spcBef>
            </a:pPr>
            <a:r>
              <a:rPr sz="591" dirty="0">
                <a:latin typeface="Arial"/>
                <a:cs typeface="Arial"/>
              </a:rPr>
              <a:t>"Gradient2"</a:t>
            </a:r>
            <a:r>
              <a:rPr sz="591" spc="16" dirty="0">
                <a:latin typeface="Arial"/>
                <a:cs typeface="Arial"/>
              </a:rPr>
              <a:t> </a:t>
            </a:r>
            <a:r>
              <a:rPr sz="591" dirty="0">
                <a:latin typeface="Arial"/>
                <a:cs typeface="Arial"/>
              </a:rPr>
              <a:t>by</a:t>
            </a:r>
            <a:r>
              <a:rPr sz="591" spc="16" dirty="0">
                <a:latin typeface="Arial"/>
                <a:cs typeface="Arial"/>
              </a:rPr>
              <a:t> </a:t>
            </a:r>
            <a:r>
              <a:rPr sz="591" dirty="0">
                <a:latin typeface="Arial"/>
                <a:cs typeface="Arial"/>
              </a:rPr>
              <a:t>Sarang.</a:t>
            </a:r>
            <a:r>
              <a:rPr sz="591" spc="18" dirty="0">
                <a:latin typeface="Arial"/>
                <a:cs typeface="Arial"/>
              </a:rPr>
              <a:t> </a:t>
            </a:r>
            <a:r>
              <a:rPr sz="591" dirty="0">
                <a:latin typeface="Arial"/>
                <a:cs typeface="Arial"/>
              </a:rPr>
              <a:t>Licensed</a:t>
            </a:r>
            <a:r>
              <a:rPr sz="591" spc="16" dirty="0">
                <a:latin typeface="Arial"/>
                <a:cs typeface="Arial"/>
              </a:rPr>
              <a:t> </a:t>
            </a:r>
            <a:r>
              <a:rPr sz="591" dirty="0">
                <a:latin typeface="Arial"/>
                <a:cs typeface="Arial"/>
              </a:rPr>
              <a:t>under</a:t>
            </a:r>
            <a:r>
              <a:rPr sz="591" spc="18" dirty="0">
                <a:latin typeface="Arial"/>
                <a:cs typeface="Arial"/>
              </a:rPr>
              <a:t> </a:t>
            </a:r>
            <a:r>
              <a:rPr sz="591" dirty="0">
                <a:latin typeface="Arial"/>
                <a:cs typeface="Arial"/>
              </a:rPr>
              <a:t>CC</a:t>
            </a:r>
            <a:r>
              <a:rPr sz="591" spc="16" dirty="0">
                <a:latin typeface="Arial"/>
                <a:cs typeface="Arial"/>
              </a:rPr>
              <a:t> </a:t>
            </a:r>
            <a:r>
              <a:rPr sz="591" spc="-18" dirty="0">
                <a:latin typeface="Arial"/>
                <a:cs typeface="Arial"/>
              </a:rPr>
              <a:t>BY-</a:t>
            </a:r>
            <a:r>
              <a:rPr sz="591" dirty="0">
                <a:latin typeface="Arial"/>
                <a:cs typeface="Arial"/>
              </a:rPr>
              <a:t>SA</a:t>
            </a:r>
            <a:r>
              <a:rPr sz="591" spc="-20" dirty="0">
                <a:latin typeface="Arial"/>
                <a:cs typeface="Arial"/>
              </a:rPr>
              <a:t> </a:t>
            </a:r>
            <a:r>
              <a:rPr sz="591" dirty="0">
                <a:latin typeface="Arial"/>
                <a:cs typeface="Arial"/>
              </a:rPr>
              <a:t>2.5</a:t>
            </a:r>
            <a:r>
              <a:rPr sz="591" spc="18" dirty="0">
                <a:latin typeface="Arial"/>
                <a:cs typeface="Arial"/>
              </a:rPr>
              <a:t> </a:t>
            </a:r>
            <a:r>
              <a:rPr sz="591" dirty="0">
                <a:latin typeface="Arial"/>
                <a:cs typeface="Arial"/>
              </a:rPr>
              <a:t>via</a:t>
            </a:r>
            <a:r>
              <a:rPr sz="591" spc="16" dirty="0">
                <a:latin typeface="Arial"/>
                <a:cs typeface="Arial"/>
              </a:rPr>
              <a:t> </a:t>
            </a:r>
            <a:r>
              <a:rPr sz="591" dirty="0">
                <a:latin typeface="Arial"/>
                <a:cs typeface="Arial"/>
              </a:rPr>
              <a:t>Wikimedia</a:t>
            </a:r>
            <a:r>
              <a:rPr sz="591" spc="18" dirty="0">
                <a:latin typeface="Arial"/>
                <a:cs typeface="Arial"/>
              </a:rPr>
              <a:t> </a:t>
            </a:r>
            <a:r>
              <a:rPr sz="591" spc="-5" dirty="0">
                <a:latin typeface="Arial"/>
                <a:cs typeface="Arial"/>
              </a:rPr>
              <a:t>Commons </a:t>
            </a:r>
            <a:r>
              <a:rPr sz="591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http://commons.wikimedia.org/wiki/File:Gradient2.svg#/media/File:Gradient2.svg</a:t>
            </a:r>
            <a:endParaRPr sz="591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621" y="2052298"/>
            <a:ext cx="3820664" cy="190269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4524194" y="4401883"/>
            <a:ext cx="4244191" cy="1098378"/>
            <a:chOff x="9946942" y="7793666"/>
            <a:chExt cx="9331325" cy="241490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46942" y="8124007"/>
              <a:ext cx="9331285" cy="153597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988825" y="8144948"/>
              <a:ext cx="9248140" cy="1452245"/>
            </a:xfrm>
            <a:custGeom>
              <a:avLst/>
              <a:gdLst/>
              <a:ahLst/>
              <a:cxnLst/>
              <a:rect l="l" t="t" r="r" b="b"/>
              <a:pathLst>
                <a:path w="9248140" h="1452245">
                  <a:moveTo>
                    <a:pt x="9152486" y="0"/>
                  </a:moveTo>
                  <a:lnTo>
                    <a:pt x="95032" y="0"/>
                  </a:lnTo>
                  <a:lnTo>
                    <a:pt x="58041" y="7468"/>
                  </a:lnTo>
                  <a:lnTo>
                    <a:pt x="27834" y="27834"/>
                  </a:lnTo>
                  <a:lnTo>
                    <a:pt x="7468" y="58042"/>
                  </a:lnTo>
                  <a:lnTo>
                    <a:pt x="0" y="95033"/>
                  </a:lnTo>
                  <a:lnTo>
                    <a:pt x="0" y="1357172"/>
                  </a:lnTo>
                  <a:lnTo>
                    <a:pt x="7468" y="1394163"/>
                  </a:lnTo>
                  <a:lnTo>
                    <a:pt x="27834" y="1424371"/>
                  </a:lnTo>
                  <a:lnTo>
                    <a:pt x="58041" y="1444737"/>
                  </a:lnTo>
                  <a:lnTo>
                    <a:pt x="95032" y="1452206"/>
                  </a:lnTo>
                  <a:lnTo>
                    <a:pt x="9152486" y="1452206"/>
                  </a:lnTo>
                  <a:lnTo>
                    <a:pt x="9189475" y="1444737"/>
                  </a:lnTo>
                  <a:lnTo>
                    <a:pt x="9219683" y="1424371"/>
                  </a:lnTo>
                  <a:lnTo>
                    <a:pt x="9240051" y="1394163"/>
                  </a:lnTo>
                  <a:lnTo>
                    <a:pt x="9247520" y="1357172"/>
                  </a:lnTo>
                  <a:lnTo>
                    <a:pt x="9247520" y="95033"/>
                  </a:lnTo>
                  <a:lnTo>
                    <a:pt x="9240051" y="58042"/>
                  </a:lnTo>
                  <a:lnTo>
                    <a:pt x="9219683" y="27834"/>
                  </a:lnTo>
                  <a:lnTo>
                    <a:pt x="9189475" y="7468"/>
                  </a:lnTo>
                  <a:lnTo>
                    <a:pt x="9152486" y="0"/>
                  </a:lnTo>
                  <a:close/>
                </a:path>
              </a:pathLst>
            </a:custGeom>
            <a:solidFill>
              <a:srgbClr val="A8D6FF"/>
            </a:solidFill>
          </p:spPr>
          <p:txBody>
            <a:bodyPr wrap="square" lIns="0" tIns="0" rIns="0" bIns="0" rtlCol="0"/>
            <a:lstStyle/>
            <a:p>
              <a:endParaRPr sz="819"/>
            </a:p>
          </p:txBody>
        </p:sp>
        <p:sp>
          <p:nvSpPr>
            <p:cNvPr id="11" name="object 11"/>
            <p:cNvSpPr/>
            <p:nvPr/>
          </p:nvSpPr>
          <p:spPr>
            <a:xfrm>
              <a:off x="16454159" y="7793678"/>
              <a:ext cx="935355" cy="2414905"/>
            </a:xfrm>
            <a:custGeom>
              <a:avLst/>
              <a:gdLst/>
              <a:ahLst/>
              <a:cxnLst/>
              <a:rect l="l" t="t" r="r" b="b"/>
              <a:pathLst>
                <a:path w="935355" h="2414904">
                  <a:moveTo>
                    <a:pt x="391350" y="918032"/>
                  </a:moveTo>
                  <a:lnTo>
                    <a:pt x="155981" y="0"/>
                  </a:lnTo>
                  <a:lnTo>
                    <a:pt x="135699" y="5194"/>
                  </a:lnTo>
                  <a:lnTo>
                    <a:pt x="371068" y="923239"/>
                  </a:lnTo>
                  <a:lnTo>
                    <a:pt x="391350" y="918032"/>
                  </a:lnTo>
                  <a:close/>
                </a:path>
                <a:path w="935355" h="2414904">
                  <a:moveTo>
                    <a:pt x="934859" y="1746338"/>
                  </a:moveTo>
                  <a:lnTo>
                    <a:pt x="920051" y="1731530"/>
                  </a:lnTo>
                  <a:lnTo>
                    <a:pt x="268693" y="2382888"/>
                  </a:lnTo>
                  <a:lnTo>
                    <a:pt x="20408" y="1307439"/>
                  </a:lnTo>
                  <a:lnTo>
                    <a:pt x="0" y="1312151"/>
                  </a:lnTo>
                  <a:lnTo>
                    <a:pt x="254520" y="2414549"/>
                  </a:lnTo>
                  <a:lnTo>
                    <a:pt x="264414" y="2412276"/>
                  </a:lnTo>
                  <a:lnTo>
                    <a:pt x="266674" y="2414524"/>
                  </a:lnTo>
                  <a:lnTo>
                    <a:pt x="270281" y="2410917"/>
                  </a:lnTo>
                  <a:lnTo>
                    <a:pt x="274929" y="2409837"/>
                  </a:lnTo>
                  <a:lnTo>
                    <a:pt x="274256" y="2406942"/>
                  </a:lnTo>
                  <a:lnTo>
                    <a:pt x="934859" y="17463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819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610094" y="4643152"/>
            <a:ext cx="4051260" cy="1071311"/>
          </a:xfrm>
          <a:prstGeom prst="rect">
            <a:avLst/>
          </a:prstGeom>
        </p:spPr>
        <p:txBody>
          <a:bodyPr vert="horz" wrap="square" lIns="0" tIns="5199" rIns="0" bIns="0" rtlCol="0">
            <a:spAutoFit/>
          </a:bodyPr>
          <a:lstStyle/>
          <a:p>
            <a:pPr marL="17328">
              <a:spcBef>
                <a:spcPts val="41"/>
              </a:spcBef>
              <a:tabLst>
                <a:tab pos="1398360" algn="l"/>
                <a:tab pos="2039203" algn="l"/>
              </a:tabLst>
            </a:pPr>
            <a:r>
              <a:rPr sz="1865" b="1" spc="-166" dirty="0">
                <a:latin typeface="Trebuchet MS"/>
                <a:cs typeface="Trebuchet MS"/>
              </a:rPr>
              <a:t>Update</a:t>
            </a:r>
            <a:r>
              <a:rPr sz="1865" b="1" spc="-130" dirty="0">
                <a:latin typeface="Trebuchet MS"/>
                <a:cs typeface="Trebuchet MS"/>
              </a:rPr>
              <a:t> </a:t>
            </a:r>
            <a:r>
              <a:rPr sz="1865" b="1" spc="-150" dirty="0">
                <a:latin typeface="Trebuchet MS"/>
                <a:cs typeface="Trebuchet MS"/>
              </a:rPr>
              <a:t>Rule:</a:t>
            </a:r>
            <a:r>
              <a:rPr sz="1865" b="1" dirty="0">
                <a:latin typeface="Trebuchet MS"/>
                <a:cs typeface="Trebuchet MS"/>
              </a:rPr>
              <a:t>	</a:t>
            </a:r>
            <a:r>
              <a:rPr sz="3718" b="1" spc="24" baseline="-5096" dirty="0">
                <a:latin typeface="Times New Roman"/>
                <a:cs typeface="Times New Roman"/>
              </a:rPr>
              <a:t>w</a:t>
            </a:r>
            <a:r>
              <a:rPr sz="2626" i="1" spc="24" baseline="-26695" dirty="0">
                <a:latin typeface="Times New Roman"/>
                <a:cs typeface="Times New Roman"/>
              </a:rPr>
              <a:t>t</a:t>
            </a:r>
            <a:r>
              <a:rPr sz="2626" spc="24" baseline="-26695" dirty="0">
                <a:latin typeface="Cambria"/>
                <a:cs typeface="Cambria"/>
              </a:rPr>
              <a:t>+1</a:t>
            </a:r>
            <a:r>
              <a:rPr sz="2626" baseline="-26695" dirty="0">
                <a:latin typeface="Cambria"/>
                <a:cs typeface="Cambria"/>
              </a:rPr>
              <a:t>	</a:t>
            </a:r>
            <a:r>
              <a:rPr sz="3718" spc="471" baseline="-5096" dirty="0">
                <a:latin typeface="Cambria"/>
                <a:cs typeface="Cambria"/>
              </a:rPr>
              <a:t>=</a:t>
            </a:r>
            <a:r>
              <a:rPr sz="3718" spc="197" baseline="-5096" dirty="0">
                <a:latin typeface="Cambria"/>
                <a:cs typeface="Cambria"/>
              </a:rPr>
              <a:t> </a:t>
            </a:r>
            <a:r>
              <a:rPr sz="3718" b="1" baseline="-5096" dirty="0">
                <a:latin typeface="Times New Roman"/>
                <a:cs typeface="Times New Roman"/>
              </a:rPr>
              <a:t>w</a:t>
            </a:r>
            <a:r>
              <a:rPr sz="2626" i="1" baseline="-26695" dirty="0">
                <a:latin typeface="Times New Roman"/>
                <a:cs typeface="Times New Roman"/>
              </a:rPr>
              <a:t>t</a:t>
            </a:r>
            <a:r>
              <a:rPr sz="2626" i="1" spc="160" baseline="-26695" dirty="0">
                <a:latin typeface="Times New Roman"/>
                <a:cs typeface="Times New Roman"/>
              </a:rPr>
              <a:t> </a:t>
            </a:r>
            <a:r>
              <a:rPr sz="3718" spc="471" baseline="-5096" dirty="0">
                <a:latin typeface="Cambria"/>
                <a:cs typeface="Cambria"/>
              </a:rPr>
              <a:t>−</a:t>
            </a:r>
            <a:r>
              <a:rPr sz="3718" spc="-3" baseline="-5096" dirty="0">
                <a:latin typeface="Cambria"/>
                <a:cs typeface="Cambria"/>
              </a:rPr>
              <a:t> </a:t>
            </a:r>
            <a:r>
              <a:rPr sz="3718" i="1" spc="75" baseline="-5096" dirty="0">
                <a:latin typeface="Times New Roman"/>
                <a:cs typeface="Times New Roman"/>
              </a:rPr>
              <a:t>α</a:t>
            </a:r>
            <a:r>
              <a:rPr sz="3718" i="1" spc="-518" baseline="-5096" dirty="0">
                <a:latin typeface="Times New Roman"/>
                <a:cs typeface="Times New Roman"/>
              </a:rPr>
              <a:t> </a:t>
            </a:r>
            <a:r>
              <a:rPr sz="3718" spc="51" baseline="-5096" dirty="0">
                <a:latin typeface="Cambria"/>
                <a:cs typeface="Cambria"/>
              </a:rPr>
              <a:t>∇</a:t>
            </a:r>
            <a:r>
              <a:rPr sz="3718" i="1" spc="51" baseline="-5096" dirty="0">
                <a:latin typeface="Times New Roman"/>
                <a:cs typeface="Times New Roman"/>
              </a:rPr>
              <a:t>f</a:t>
            </a:r>
            <a:r>
              <a:rPr sz="3718" spc="51" baseline="-5096" dirty="0">
                <a:latin typeface="Cambria"/>
                <a:cs typeface="Cambria"/>
              </a:rPr>
              <a:t>(</a:t>
            </a:r>
            <a:r>
              <a:rPr sz="3718" b="1" spc="51" baseline="-5096" dirty="0">
                <a:latin typeface="Times New Roman"/>
                <a:cs typeface="Times New Roman"/>
              </a:rPr>
              <a:t>w</a:t>
            </a:r>
            <a:r>
              <a:rPr sz="2626" i="1" spc="51" baseline="-26695" dirty="0">
                <a:latin typeface="Times New Roman"/>
                <a:cs typeface="Times New Roman"/>
              </a:rPr>
              <a:t>t</a:t>
            </a:r>
            <a:r>
              <a:rPr sz="3718" spc="51" baseline="-5096" dirty="0">
                <a:latin typeface="Cambria"/>
                <a:cs typeface="Cambria"/>
              </a:rPr>
              <a:t>)</a:t>
            </a:r>
            <a:endParaRPr sz="3718" baseline="-5096">
              <a:latin typeface="Cambria"/>
              <a:cs typeface="Cambria"/>
            </a:endParaRPr>
          </a:p>
          <a:p>
            <a:pPr>
              <a:spcBef>
                <a:spcPts val="1328"/>
              </a:spcBef>
            </a:pPr>
            <a:endParaRPr sz="1865">
              <a:latin typeface="Cambria"/>
              <a:cs typeface="Cambria"/>
            </a:endParaRPr>
          </a:p>
          <a:p>
            <a:pPr marL="2347350"/>
            <a:r>
              <a:rPr sz="1501" dirty="0">
                <a:latin typeface="Arial"/>
                <a:cs typeface="Arial"/>
              </a:rPr>
              <a:t>Negative</a:t>
            </a:r>
            <a:r>
              <a:rPr sz="1501" spc="-64" dirty="0">
                <a:latin typeface="Arial"/>
                <a:cs typeface="Arial"/>
              </a:rPr>
              <a:t> </a:t>
            </a:r>
            <a:r>
              <a:rPr sz="1501" spc="-5" dirty="0">
                <a:latin typeface="Arial"/>
                <a:cs typeface="Arial"/>
              </a:rPr>
              <a:t>Slope</a:t>
            </a:r>
            <a:endParaRPr sz="1501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95147" y="4138854"/>
            <a:ext cx="827176" cy="236502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z="1501" dirty="0">
                <a:latin typeface="Arial"/>
                <a:cs typeface="Arial"/>
              </a:rPr>
              <a:t>Step</a:t>
            </a:r>
            <a:r>
              <a:rPr sz="1501" spc="-23" dirty="0">
                <a:latin typeface="Arial"/>
                <a:cs typeface="Arial"/>
              </a:rPr>
              <a:t> </a:t>
            </a:r>
            <a:r>
              <a:rPr sz="1501" spc="-9" dirty="0">
                <a:latin typeface="Arial"/>
                <a:cs typeface="Arial"/>
              </a:rPr>
              <a:t>Size</a:t>
            </a:r>
            <a:endParaRPr sz="1501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722237" y="1187452"/>
            <a:ext cx="2600812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262" dirty="0"/>
              <a:t>Gradient</a:t>
            </a:r>
            <a:r>
              <a:rPr spc="-205" dirty="0"/>
              <a:t> </a:t>
            </a:r>
            <a:r>
              <a:rPr spc="-223" dirty="0"/>
              <a:t>descent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22237" y="1035612"/>
            <a:ext cx="726379" cy="213238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76">
              <a:spcBef>
                <a:spcPts val="52"/>
              </a:spcBef>
            </a:pPr>
            <a:r>
              <a:rPr sz="1342" b="1" spc="68" dirty="0">
                <a:solidFill>
                  <a:srgbClr val="FF644E"/>
                </a:solidFill>
                <a:latin typeface="Trebuchet MS"/>
                <a:cs typeface="Trebuchet MS"/>
              </a:rPr>
              <a:t>REC</a:t>
            </a:r>
            <a:r>
              <a:rPr sz="1342" b="1" spc="-180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59" dirty="0">
                <a:solidFill>
                  <a:srgbClr val="FF644E"/>
                </a:solidFill>
                <a:latin typeface="Trebuchet MS"/>
                <a:cs typeface="Trebuchet MS"/>
              </a:rPr>
              <a:t>ALL </a:t>
            </a:r>
            <a:endParaRPr sz="1342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497" y="1057414"/>
            <a:ext cx="3348078" cy="929512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211" dirty="0"/>
              <a:t>Motivation:</a:t>
            </a:r>
            <a:r>
              <a:rPr spc="-207" dirty="0"/>
              <a:t> </a:t>
            </a:r>
            <a:r>
              <a:rPr spc="-230" dirty="0"/>
              <a:t>N</a:t>
            </a:r>
            <a:r>
              <a:rPr spc="-234" dirty="0"/>
              <a:t>ew</a:t>
            </a:r>
            <a:r>
              <a:rPr spc="-289" dirty="0"/>
              <a:t>t</a:t>
            </a:r>
            <a:r>
              <a:rPr spc="-230" dirty="0"/>
              <a:t>o</a:t>
            </a:r>
            <a:r>
              <a:rPr spc="-443" dirty="0"/>
              <a:t>n</a:t>
            </a:r>
            <a:r>
              <a:rPr spc="-789" dirty="0"/>
              <a:t>’</a:t>
            </a:r>
            <a:r>
              <a:rPr spc="-230" dirty="0"/>
              <a:t>s</a:t>
            </a:r>
            <a:r>
              <a:rPr spc="-205" dirty="0"/>
              <a:t> </a:t>
            </a:r>
            <a:r>
              <a:rPr spc="-296" dirty="0"/>
              <a:t>method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6009" y="2638430"/>
            <a:ext cx="5283427" cy="183836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21334" y="1946695"/>
            <a:ext cx="5447987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>
              <a:spcBef>
                <a:spcPts val="55"/>
              </a:spcBef>
            </a:pPr>
            <a:r>
              <a:rPr sz="1865" spc="-73" dirty="0">
                <a:latin typeface="Trebuchet MS"/>
                <a:cs typeface="Trebuchet MS"/>
              </a:rPr>
              <a:t>issue: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23" dirty="0">
                <a:latin typeface="Trebuchet MS"/>
                <a:cs typeface="Trebuchet MS"/>
              </a:rPr>
              <a:t>gradient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32" dirty="0">
                <a:latin typeface="Trebuchet MS"/>
                <a:cs typeface="Trebuchet MS"/>
              </a:rPr>
              <a:t>may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34" dirty="0">
                <a:latin typeface="Trebuchet MS"/>
                <a:cs typeface="Trebuchet MS"/>
              </a:rPr>
              <a:t>be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52" dirty="0">
                <a:latin typeface="Trebuchet MS"/>
                <a:cs typeface="Trebuchet MS"/>
              </a:rPr>
              <a:t>the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73" dirty="0">
                <a:latin typeface="Trebuchet MS"/>
                <a:cs typeface="Trebuchet MS"/>
              </a:rPr>
              <a:t>same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07" dirty="0">
                <a:latin typeface="Trebuchet MS"/>
                <a:cs typeface="Trebuchet MS"/>
              </a:rPr>
              <a:t>despite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09" dirty="0">
                <a:latin typeface="Trebuchet MS"/>
                <a:cs typeface="Trebuchet MS"/>
              </a:rPr>
              <a:t>varying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34" dirty="0">
                <a:latin typeface="Trebuchet MS"/>
                <a:cs typeface="Trebuchet MS"/>
              </a:rPr>
              <a:t>curvature</a:t>
            </a:r>
            <a:endParaRPr sz="1865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1388" y="4893067"/>
            <a:ext cx="7207471" cy="585547"/>
          </a:xfrm>
          <a:prstGeom prst="rect">
            <a:avLst/>
          </a:prstGeom>
        </p:spPr>
        <p:txBody>
          <a:bodyPr vert="horz" wrap="square" lIns="0" tIns="21084" rIns="0" bIns="0" rtlCol="0">
            <a:spAutoFit/>
          </a:bodyPr>
          <a:lstStyle/>
          <a:p>
            <a:pPr marL="1104652" marR="2310" indent="-1099165">
              <a:lnSpc>
                <a:spcPts val="2174"/>
              </a:lnSpc>
              <a:spcBef>
                <a:spcPts val="166"/>
              </a:spcBef>
            </a:pPr>
            <a:r>
              <a:rPr sz="1865" spc="-146" dirty="0">
                <a:latin typeface="Trebuchet MS"/>
                <a:cs typeface="Trebuchet MS"/>
              </a:rPr>
              <a:t>Newton’s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32" dirty="0">
                <a:latin typeface="Trebuchet MS"/>
                <a:cs typeface="Trebuchet MS"/>
              </a:rPr>
              <a:t>method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20" dirty="0">
                <a:latin typeface="Trebuchet MS"/>
                <a:cs typeface="Trebuchet MS"/>
              </a:rPr>
              <a:t>uses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70" dirty="0">
                <a:latin typeface="Trebuchet MS"/>
                <a:cs typeface="Trebuchet MS"/>
              </a:rPr>
              <a:t>second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34" dirty="0">
                <a:latin typeface="Trebuchet MS"/>
                <a:cs typeface="Trebuchet MS"/>
              </a:rPr>
              <a:t>order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16" dirty="0">
                <a:latin typeface="Trebuchet MS"/>
                <a:cs typeface="Trebuchet MS"/>
              </a:rPr>
              <a:t>information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36" dirty="0">
                <a:latin typeface="Trebuchet MS"/>
                <a:cs typeface="Trebuchet MS"/>
              </a:rPr>
              <a:t>to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16" dirty="0">
                <a:latin typeface="Trebuchet MS"/>
                <a:cs typeface="Trebuchet MS"/>
              </a:rPr>
              <a:t>estimate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52" dirty="0">
                <a:latin typeface="Trebuchet MS"/>
                <a:cs typeface="Trebuchet MS"/>
              </a:rPr>
              <a:t>the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30" dirty="0">
                <a:latin typeface="Trebuchet MS"/>
                <a:cs typeface="Trebuchet MS"/>
              </a:rPr>
              <a:t>curvature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1" dirty="0">
                <a:latin typeface="Trebuchet MS"/>
                <a:cs typeface="Trebuchet MS"/>
              </a:rPr>
              <a:t>of </a:t>
            </a:r>
            <a:r>
              <a:rPr sz="1865" spc="-152" dirty="0">
                <a:latin typeface="Trebuchet MS"/>
                <a:cs typeface="Trebuchet MS"/>
              </a:rPr>
              <a:t>the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109" dirty="0">
                <a:latin typeface="Trebuchet MS"/>
                <a:cs typeface="Trebuchet MS"/>
              </a:rPr>
              <a:t>function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02" dirty="0">
                <a:latin typeface="Trebuchet MS"/>
                <a:cs typeface="Trebuchet MS"/>
              </a:rPr>
              <a:t>being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18" dirty="0">
                <a:latin typeface="Trebuchet MS"/>
                <a:cs typeface="Trebuchet MS"/>
              </a:rPr>
              <a:t>minimized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77" dirty="0">
                <a:latin typeface="Trebuchet MS"/>
                <a:cs typeface="Trebuchet MS"/>
              </a:rPr>
              <a:t>(i.e.,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52" dirty="0">
                <a:latin typeface="Trebuchet MS"/>
                <a:cs typeface="Trebuchet MS"/>
              </a:rPr>
              <a:t>the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lang="en-US" sz="1865" spc="-30" dirty="0">
                <a:latin typeface="Trebuchet MS"/>
                <a:cs typeface="Trebuchet MS"/>
              </a:rPr>
              <a:t>loss</a:t>
            </a:r>
            <a:r>
              <a:rPr sz="1865" spc="-139" dirty="0">
                <a:latin typeface="Trebuchet MS"/>
                <a:cs typeface="Trebuchet MS"/>
              </a:rPr>
              <a:t>)</a:t>
            </a:r>
            <a:endParaRPr sz="1865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497" y="1057414"/>
            <a:ext cx="3348078" cy="929512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211" dirty="0"/>
              <a:t>Motivation:</a:t>
            </a:r>
            <a:r>
              <a:rPr spc="-207" dirty="0"/>
              <a:t> </a:t>
            </a:r>
            <a:r>
              <a:rPr spc="-230" dirty="0"/>
              <a:t>N</a:t>
            </a:r>
            <a:r>
              <a:rPr spc="-234" dirty="0"/>
              <a:t>ew</a:t>
            </a:r>
            <a:r>
              <a:rPr spc="-289" dirty="0"/>
              <a:t>t</a:t>
            </a:r>
            <a:r>
              <a:rPr spc="-230" dirty="0"/>
              <a:t>o</a:t>
            </a:r>
            <a:r>
              <a:rPr spc="-443" dirty="0"/>
              <a:t>n</a:t>
            </a:r>
            <a:r>
              <a:rPr spc="-789" dirty="0"/>
              <a:t>’</a:t>
            </a:r>
            <a:r>
              <a:rPr spc="-230" dirty="0"/>
              <a:t>s</a:t>
            </a:r>
            <a:r>
              <a:rPr spc="-205" dirty="0"/>
              <a:t> </a:t>
            </a:r>
            <a:r>
              <a:rPr spc="-296" dirty="0"/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21334" y="1946695"/>
            <a:ext cx="5447987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>
              <a:spcBef>
                <a:spcPts val="55"/>
              </a:spcBef>
            </a:pPr>
            <a:r>
              <a:rPr sz="1865" spc="-73" dirty="0">
                <a:latin typeface="Trebuchet MS"/>
                <a:cs typeface="Trebuchet MS"/>
              </a:rPr>
              <a:t>issue: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23" dirty="0">
                <a:latin typeface="Trebuchet MS"/>
                <a:cs typeface="Trebuchet MS"/>
              </a:rPr>
              <a:t>gradient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32" dirty="0">
                <a:latin typeface="Trebuchet MS"/>
                <a:cs typeface="Trebuchet MS"/>
              </a:rPr>
              <a:t>may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34" dirty="0">
                <a:latin typeface="Trebuchet MS"/>
                <a:cs typeface="Trebuchet MS"/>
              </a:rPr>
              <a:t>be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52" dirty="0">
                <a:latin typeface="Trebuchet MS"/>
                <a:cs typeface="Trebuchet MS"/>
              </a:rPr>
              <a:t>the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73" dirty="0">
                <a:latin typeface="Trebuchet MS"/>
                <a:cs typeface="Trebuchet MS"/>
              </a:rPr>
              <a:t>same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07" dirty="0">
                <a:latin typeface="Trebuchet MS"/>
                <a:cs typeface="Trebuchet MS"/>
              </a:rPr>
              <a:t>despite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09" dirty="0">
                <a:latin typeface="Trebuchet MS"/>
                <a:cs typeface="Trebuchet MS"/>
              </a:rPr>
              <a:t>varying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34" dirty="0">
                <a:latin typeface="Trebuchet MS"/>
                <a:cs typeface="Trebuchet MS"/>
              </a:rPr>
              <a:t>curvature</a:t>
            </a:r>
            <a:endParaRPr sz="1865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1388" y="4893067"/>
            <a:ext cx="7207471" cy="585547"/>
          </a:xfrm>
          <a:prstGeom prst="rect">
            <a:avLst/>
          </a:prstGeom>
        </p:spPr>
        <p:txBody>
          <a:bodyPr vert="horz" wrap="square" lIns="0" tIns="21084" rIns="0" bIns="0" rtlCol="0">
            <a:spAutoFit/>
          </a:bodyPr>
          <a:lstStyle/>
          <a:p>
            <a:pPr marL="1104652" marR="2310" indent="-1099165">
              <a:lnSpc>
                <a:spcPts val="2174"/>
              </a:lnSpc>
              <a:spcBef>
                <a:spcPts val="166"/>
              </a:spcBef>
            </a:pPr>
            <a:r>
              <a:rPr sz="1865" spc="-146" dirty="0">
                <a:latin typeface="Trebuchet MS"/>
                <a:cs typeface="Trebuchet MS"/>
              </a:rPr>
              <a:t>Newton’s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32" dirty="0">
                <a:latin typeface="Trebuchet MS"/>
                <a:cs typeface="Trebuchet MS"/>
              </a:rPr>
              <a:t>method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20" dirty="0">
                <a:latin typeface="Trebuchet MS"/>
                <a:cs typeface="Trebuchet MS"/>
              </a:rPr>
              <a:t>uses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70" dirty="0">
                <a:latin typeface="Trebuchet MS"/>
                <a:cs typeface="Trebuchet MS"/>
              </a:rPr>
              <a:t>second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34" dirty="0">
                <a:latin typeface="Trebuchet MS"/>
                <a:cs typeface="Trebuchet MS"/>
              </a:rPr>
              <a:t>order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16" dirty="0">
                <a:latin typeface="Trebuchet MS"/>
                <a:cs typeface="Trebuchet MS"/>
              </a:rPr>
              <a:t>information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36" dirty="0">
                <a:latin typeface="Trebuchet MS"/>
                <a:cs typeface="Trebuchet MS"/>
              </a:rPr>
              <a:t>to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16" dirty="0">
                <a:latin typeface="Trebuchet MS"/>
                <a:cs typeface="Trebuchet MS"/>
              </a:rPr>
              <a:t>estimate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52" dirty="0">
                <a:latin typeface="Trebuchet MS"/>
                <a:cs typeface="Trebuchet MS"/>
              </a:rPr>
              <a:t>the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30" dirty="0">
                <a:latin typeface="Trebuchet MS"/>
                <a:cs typeface="Trebuchet MS"/>
              </a:rPr>
              <a:t>curvature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1" dirty="0">
                <a:latin typeface="Trebuchet MS"/>
                <a:cs typeface="Trebuchet MS"/>
              </a:rPr>
              <a:t>of </a:t>
            </a:r>
            <a:r>
              <a:rPr sz="1865" spc="-152" dirty="0">
                <a:latin typeface="Trebuchet MS"/>
                <a:cs typeface="Trebuchet MS"/>
              </a:rPr>
              <a:t>the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109" dirty="0">
                <a:latin typeface="Trebuchet MS"/>
                <a:cs typeface="Trebuchet MS"/>
              </a:rPr>
              <a:t>function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02" dirty="0">
                <a:latin typeface="Trebuchet MS"/>
                <a:cs typeface="Trebuchet MS"/>
              </a:rPr>
              <a:t>being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18" dirty="0">
                <a:latin typeface="Trebuchet MS"/>
                <a:cs typeface="Trebuchet MS"/>
              </a:rPr>
              <a:t>minimized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77" dirty="0">
                <a:latin typeface="Trebuchet MS"/>
                <a:cs typeface="Trebuchet MS"/>
              </a:rPr>
              <a:t>(i.e.,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lang="en-US" sz="1865" spc="-127" dirty="0">
                <a:latin typeface="Trebuchet MS"/>
                <a:cs typeface="Trebuchet MS"/>
              </a:rPr>
              <a:t>the </a:t>
            </a:r>
            <a:r>
              <a:rPr lang="en-US" sz="1865" spc="-152" dirty="0">
                <a:latin typeface="Trebuchet MS"/>
                <a:cs typeface="Trebuchet MS"/>
              </a:rPr>
              <a:t>loss</a:t>
            </a:r>
            <a:r>
              <a:rPr sz="1865" spc="-139" dirty="0">
                <a:latin typeface="Trebuchet MS"/>
                <a:cs typeface="Trebuchet MS"/>
              </a:rPr>
              <a:t>)</a:t>
            </a:r>
            <a:endParaRPr sz="1865" dirty="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90579" y="2502385"/>
            <a:ext cx="6363831" cy="2363403"/>
            <a:chOff x="2617621" y="3617407"/>
            <a:chExt cx="13991590" cy="519620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17621" y="3747057"/>
              <a:ext cx="6832509" cy="487695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46402" y="3617407"/>
              <a:ext cx="7162541" cy="51958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5">
            <a:extLst>
              <a:ext uri="{FF2B5EF4-FFF2-40B4-BE49-F238E27FC236}">
                <a16:creationId xmlns:a16="http://schemas.microsoft.com/office/drawing/2014/main" id="{FC463E52-4CA0-F9F3-497A-F932318246B7}"/>
              </a:ext>
            </a:extLst>
          </p:cNvPr>
          <p:cNvGrpSpPr/>
          <p:nvPr/>
        </p:nvGrpSpPr>
        <p:grpSpPr>
          <a:xfrm>
            <a:off x="1190579" y="2502385"/>
            <a:ext cx="6363831" cy="2363403"/>
            <a:chOff x="2617621" y="3617407"/>
            <a:chExt cx="13991590" cy="5196205"/>
          </a:xfrm>
        </p:grpSpPr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14C1A966-9C30-05B2-1AA9-770E2E6B800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17621" y="3747057"/>
              <a:ext cx="6832509" cy="4876956"/>
            </a:xfrm>
            <a:prstGeom prst="rect">
              <a:avLst/>
            </a:prstGeom>
          </p:spPr>
        </p:pic>
        <p:pic>
          <p:nvPicPr>
            <p:cNvPr id="6" name="object 7">
              <a:extLst>
                <a:ext uri="{FF2B5EF4-FFF2-40B4-BE49-F238E27FC236}">
                  <a16:creationId xmlns:a16="http://schemas.microsoft.com/office/drawing/2014/main" id="{A1DBE9B5-ABF3-5185-024A-D5E4144DDFD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46402" y="3617407"/>
              <a:ext cx="7162541" cy="5195876"/>
            </a:xfrm>
            <a:prstGeom prst="rect">
              <a:avLst/>
            </a:prstGeom>
          </p:spPr>
        </p:pic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497" y="1057414"/>
            <a:ext cx="3348078" cy="929512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211" dirty="0"/>
              <a:t>Motivation:</a:t>
            </a:r>
            <a:r>
              <a:rPr spc="-207" dirty="0"/>
              <a:t> </a:t>
            </a:r>
            <a:r>
              <a:rPr spc="-230" dirty="0"/>
              <a:t>N</a:t>
            </a:r>
            <a:r>
              <a:rPr spc="-234" dirty="0"/>
              <a:t>ew</a:t>
            </a:r>
            <a:r>
              <a:rPr spc="-289" dirty="0"/>
              <a:t>t</a:t>
            </a:r>
            <a:r>
              <a:rPr spc="-230" dirty="0"/>
              <a:t>o</a:t>
            </a:r>
            <a:r>
              <a:rPr spc="-443" dirty="0"/>
              <a:t>n</a:t>
            </a:r>
            <a:r>
              <a:rPr spc="-789" dirty="0"/>
              <a:t>’</a:t>
            </a:r>
            <a:r>
              <a:rPr spc="-230" dirty="0"/>
              <a:t>s</a:t>
            </a:r>
            <a:r>
              <a:rPr spc="-205" dirty="0"/>
              <a:t> </a:t>
            </a:r>
            <a:r>
              <a:rPr spc="-296" dirty="0"/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21334" y="1946695"/>
            <a:ext cx="5447987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>
              <a:spcBef>
                <a:spcPts val="55"/>
              </a:spcBef>
            </a:pPr>
            <a:r>
              <a:rPr sz="1865" spc="-73" dirty="0">
                <a:latin typeface="Trebuchet MS"/>
                <a:cs typeface="Trebuchet MS"/>
              </a:rPr>
              <a:t>issue: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23" dirty="0">
                <a:latin typeface="Trebuchet MS"/>
                <a:cs typeface="Trebuchet MS"/>
              </a:rPr>
              <a:t>gradient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32" dirty="0">
                <a:latin typeface="Trebuchet MS"/>
                <a:cs typeface="Trebuchet MS"/>
              </a:rPr>
              <a:t>may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34" dirty="0">
                <a:latin typeface="Trebuchet MS"/>
                <a:cs typeface="Trebuchet MS"/>
              </a:rPr>
              <a:t>be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52" dirty="0">
                <a:latin typeface="Trebuchet MS"/>
                <a:cs typeface="Trebuchet MS"/>
              </a:rPr>
              <a:t>the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73" dirty="0">
                <a:latin typeface="Trebuchet MS"/>
                <a:cs typeface="Trebuchet MS"/>
              </a:rPr>
              <a:t>same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07" dirty="0">
                <a:latin typeface="Trebuchet MS"/>
                <a:cs typeface="Trebuchet MS"/>
              </a:rPr>
              <a:t>despite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09" dirty="0">
                <a:latin typeface="Trebuchet MS"/>
                <a:cs typeface="Trebuchet MS"/>
              </a:rPr>
              <a:t>varying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34" dirty="0">
                <a:latin typeface="Trebuchet MS"/>
                <a:cs typeface="Trebuchet MS"/>
              </a:rPr>
              <a:t>curvature</a:t>
            </a:r>
            <a:endParaRPr sz="1865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90579" y="3456815"/>
            <a:ext cx="7748717" cy="1983251"/>
          </a:xfrm>
          <a:prstGeom prst="rect">
            <a:avLst/>
          </a:prstGeom>
        </p:spPr>
        <p:txBody>
          <a:bodyPr vert="horz" wrap="square" lIns="0" tIns="70183" rIns="0" bIns="0" rtlCol="0">
            <a:spAutoFit/>
          </a:bodyPr>
          <a:lstStyle/>
          <a:p>
            <a:pPr marL="6563512" marR="2310" algn="ctr">
              <a:lnSpc>
                <a:spcPct val="77800"/>
              </a:lnSpc>
              <a:spcBef>
                <a:spcPts val="553"/>
              </a:spcBef>
            </a:pPr>
            <a:r>
              <a:rPr sz="1865" spc="-127" dirty="0">
                <a:latin typeface="Trebuchet MS"/>
                <a:cs typeface="Trebuchet MS"/>
              </a:rPr>
              <a:t>Newton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82" dirty="0">
                <a:latin typeface="Trebuchet MS"/>
                <a:cs typeface="Trebuchet MS"/>
              </a:rPr>
              <a:t>step </a:t>
            </a:r>
            <a:r>
              <a:rPr sz="1865" spc="-84" dirty="0">
                <a:latin typeface="Trebuchet MS"/>
                <a:cs typeface="Trebuchet MS"/>
              </a:rPr>
              <a:t>makes</a:t>
            </a:r>
            <a:r>
              <a:rPr sz="1865" spc="-121" dirty="0">
                <a:latin typeface="Trebuchet MS"/>
                <a:cs typeface="Trebuchet MS"/>
              </a:rPr>
              <a:t> </a:t>
            </a:r>
            <a:r>
              <a:rPr sz="1865" spc="-143" dirty="0">
                <a:latin typeface="Trebuchet MS"/>
                <a:cs typeface="Trebuchet MS"/>
              </a:rPr>
              <a:t>more </a:t>
            </a:r>
            <a:r>
              <a:rPr sz="1865" spc="-9" dirty="0">
                <a:latin typeface="Trebuchet MS"/>
                <a:cs typeface="Trebuchet MS"/>
              </a:rPr>
              <a:t>progress</a:t>
            </a:r>
            <a:endParaRPr sz="1865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865" dirty="0">
              <a:latin typeface="Trebuchet MS"/>
              <a:cs typeface="Trebuchet MS"/>
            </a:endParaRPr>
          </a:p>
          <a:p>
            <a:pPr>
              <a:spcBef>
                <a:spcPts val="762"/>
              </a:spcBef>
            </a:pPr>
            <a:endParaRPr sz="1865" dirty="0">
              <a:latin typeface="Trebuchet MS"/>
              <a:cs typeface="Trebuchet MS"/>
            </a:endParaRPr>
          </a:p>
          <a:p>
            <a:pPr marL="1104652" marR="543518" indent="-1099165">
              <a:lnSpc>
                <a:spcPts val="2174"/>
              </a:lnSpc>
            </a:pPr>
            <a:r>
              <a:rPr sz="1865" spc="-146" dirty="0">
                <a:latin typeface="Trebuchet MS"/>
                <a:cs typeface="Trebuchet MS"/>
              </a:rPr>
              <a:t>Newton’s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32" dirty="0">
                <a:latin typeface="Trebuchet MS"/>
                <a:cs typeface="Trebuchet MS"/>
              </a:rPr>
              <a:t>method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20" dirty="0">
                <a:latin typeface="Trebuchet MS"/>
                <a:cs typeface="Trebuchet MS"/>
              </a:rPr>
              <a:t>uses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70" dirty="0">
                <a:latin typeface="Trebuchet MS"/>
                <a:cs typeface="Trebuchet MS"/>
              </a:rPr>
              <a:t>second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34" dirty="0">
                <a:latin typeface="Trebuchet MS"/>
                <a:cs typeface="Trebuchet MS"/>
              </a:rPr>
              <a:t>order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16" dirty="0">
                <a:latin typeface="Trebuchet MS"/>
                <a:cs typeface="Trebuchet MS"/>
              </a:rPr>
              <a:t>information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36" dirty="0">
                <a:latin typeface="Trebuchet MS"/>
                <a:cs typeface="Trebuchet MS"/>
              </a:rPr>
              <a:t>to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16" dirty="0">
                <a:latin typeface="Trebuchet MS"/>
                <a:cs typeface="Trebuchet MS"/>
              </a:rPr>
              <a:t>estimate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52" dirty="0">
                <a:latin typeface="Trebuchet MS"/>
                <a:cs typeface="Trebuchet MS"/>
              </a:rPr>
              <a:t>the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30" dirty="0">
                <a:latin typeface="Trebuchet MS"/>
                <a:cs typeface="Trebuchet MS"/>
              </a:rPr>
              <a:t>curvature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1" dirty="0">
                <a:latin typeface="Trebuchet MS"/>
                <a:cs typeface="Trebuchet MS"/>
              </a:rPr>
              <a:t>of </a:t>
            </a:r>
            <a:r>
              <a:rPr sz="1865" spc="-152" dirty="0">
                <a:latin typeface="Trebuchet MS"/>
                <a:cs typeface="Trebuchet MS"/>
              </a:rPr>
              <a:t>the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109" dirty="0">
                <a:latin typeface="Trebuchet MS"/>
                <a:cs typeface="Trebuchet MS"/>
              </a:rPr>
              <a:t>function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02" dirty="0">
                <a:latin typeface="Trebuchet MS"/>
                <a:cs typeface="Trebuchet MS"/>
              </a:rPr>
              <a:t>being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18" dirty="0">
                <a:latin typeface="Trebuchet MS"/>
                <a:cs typeface="Trebuchet MS"/>
              </a:rPr>
              <a:t>minimized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77" dirty="0">
                <a:latin typeface="Trebuchet MS"/>
                <a:cs typeface="Trebuchet MS"/>
              </a:rPr>
              <a:t>(i.e.,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52" dirty="0">
                <a:latin typeface="Trebuchet MS"/>
                <a:cs typeface="Trebuchet MS"/>
              </a:rPr>
              <a:t>the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30" dirty="0">
                <a:latin typeface="Trebuchet MS"/>
                <a:cs typeface="Trebuchet MS"/>
              </a:rPr>
              <a:t>ERM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39" dirty="0">
                <a:latin typeface="Trebuchet MS"/>
                <a:cs typeface="Trebuchet MS"/>
              </a:rPr>
              <a:t>objective)</a:t>
            </a:r>
            <a:endParaRPr sz="1865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497" y="1057414"/>
            <a:ext cx="3348078" cy="929512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211" dirty="0"/>
              <a:t>Motivation:</a:t>
            </a:r>
            <a:r>
              <a:rPr spc="-207" dirty="0"/>
              <a:t> </a:t>
            </a:r>
            <a:r>
              <a:rPr spc="-230" dirty="0"/>
              <a:t>N</a:t>
            </a:r>
            <a:r>
              <a:rPr spc="-234" dirty="0"/>
              <a:t>ew</a:t>
            </a:r>
            <a:r>
              <a:rPr spc="-289" dirty="0"/>
              <a:t>t</a:t>
            </a:r>
            <a:r>
              <a:rPr spc="-230" dirty="0"/>
              <a:t>o</a:t>
            </a:r>
            <a:r>
              <a:rPr spc="-443" dirty="0"/>
              <a:t>n</a:t>
            </a:r>
            <a:r>
              <a:rPr spc="-789" dirty="0"/>
              <a:t>’</a:t>
            </a:r>
            <a:r>
              <a:rPr spc="-230" dirty="0"/>
              <a:t>s</a:t>
            </a:r>
            <a:r>
              <a:rPr spc="-205" dirty="0"/>
              <a:t> </a:t>
            </a:r>
            <a:r>
              <a:rPr spc="-296" dirty="0"/>
              <a:t>method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92001" y="3425660"/>
            <a:ext cx="6415819" cy="812447"/>
            <a:chOff x="1521442" y="5647331"/>
            <a:chExt cx="14105890" cy="17862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1442" y="5647331"/>
              <a:ext cx="14105392" cy="178596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63326" y="5668273"/>
              <a:ext cx="14022069" cy="1702435"/>
            </a:xfrm>
            <a:custGeom>
              <a:avLst/>
              <a:gdLst/>
              <a:ahLst/>
              <a:cxnLst/>
              <a:rect l="l" t="t" r="r" b="b"/>
              <a:pathLst>
                <a:path w="14022069" h="1702434">
                  <a:moveTo>
                    <a:pt x="13924254" y="0"/>
                  </a:moveTo>
                  <a:lnTo>
                    <a:pt x="97375" y="0"/>
                  </a:lnTo>
                  <a:lnTo>
                    <a:pt x="59472" y="7652"/>
                  </a:lnTo>
                  <a:lnTo>
                    <a:pt x="28520" y="28520"/>
                  </a:lnTo>
                  <a:lnTo>
                    <a:pt x="7652" y="59472"/>
                  </a:lnTo>
                  <a:lnTo>
                    <a:pt x="0" y="97375"/>
                  </a:lnTo>
                  <a:lnTo>
                    <a:pt x="0" y="1604824"/>
                  </a:lnTo>
                  <a:lnTo>
                    <a:pt x="7652" y="1642727"/>
                  </a:lnTo>
                  <a:lnTo>
                    <a:pt x="28520" y="1673679"/>
                  </a:lnTo>
                  <a:lnTo>
                    <a:pt x="59472" y="1694548"/>
                  </a:lnTo>
                  <a:lnTo>
                    <a:pt x="97375" y="1702200"/>
                  </a:lnTo>
                  <a:lnTo>
                    <a:pt x="13924254" y="1702200"/>
                  </a:lnTo>
                  <a:lnTo>
                    <a:pt x="13962157" y="1694548"/>
                  </a:lnTo>
                  <a:lnTo>
                    <a:pt x="13993111" y="1673679"/>
                  </a:lnTo>
                  <a:lnTo>
                    <a:pt x="14013980" y="1642727"/>
                  </a:lnTo>
                  <a:lnTo>
                    <a:pt x="14021633" y="1604824"/>
                  </a:lnTo>
                  <a:lnTo>
                    <a:pt x="14021633" y="97375"/>
                  </a:lnTo>
                  <a:lnTo>
                    <a:pt x="14013980" y="59472"/>
                  </a:lnTo>
                  <a:lnTo>
                    <a:pt x="13993111" y="28520"/>
                  </a:lnTo>
                  <a:lnTo>
                    <a:pt x="13962157" y="7652"/>
                  </a:lnTo>
                  <a:lnTo>
                    <a:pt x="13924254" y="0"/>
                  </a:lnTo>
                  <a:close/>
                </a:path>
              </a:pathLst>
            </a:custGeom>
            <a:solidFill>
              <a:srgbClr val="A8D6FF"/>
            </a:solidFill>
          </p:spPr>
          <p:txBody>
            <a:bodyPr wrap="square" lIns="0" tIns="0" rIns="0" bIns="0" rtlCol="0"/>
            <a:lstStyle/>
            <a:p>
              <a:endParaRPr sz="819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43260" y="3658597"/>
            <a:ext cx="1620562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>
              <a:spcBef>
                <a:spcPts val="55"/>
              </a:spcBef>
            </a:pPr>
            <a:r>
              <a:rPr sz="1865" b="1" spc="-139" dirty="0">
                <a:latin typeface="Trebuchet MS"/>
                <a:cs typeface="Trebuchet MS"/>
              </a:rPr>
              <a:t>N</a:t>
            </a:r>
            <a:r>
              <a:rPr sz="1865" b="1" spc="-143" dirty="0">
                <a:latin typeface="Trebuchet MS"/>
                <a:cs typeface="Trebuchet MS"/>
              </a:rPr>
              <a:t>ew</a:t>
            </a:r>
            <a:r>
              <a:rPr sz="1865" b="1" spc="-177" dirty="0">
                <a:latin typeface="Trebuchet MS"/>
                <a:cs typeface="Trebuchet MS"/>
              </a:rPr>
              <a:t>t</a:t>
            </a:r>
            <a:r>
              <a:rPr sz="1865" b="1" spc="-143" dirty="0">
                <a:latin typeface="Trebuchet MS"/>
                <a:cs typeface="Trebuchet MS"/>
              </a:rPr>
              <a:t>o</a:t>
            </a:r>
            <a:r>
              <a:rPr sz="1865" b="1" spc="-275" dirty="0">
                <a:latin typeface="Trebuchet MS"/>
                <a:cs typeface="Trebuchet MS"/>
              </a:rPr>
              <a:t>n</a:t>
            </a:r>
            <a:r>
              <a:rPr sz="1865" b="1" spc="-491" dirty="0">
                <a:latin typeface="Trebuchet MS"/>
                <a:cs typeface="Trebuchet MS"/>
              </a:rPr>
              <a:t>’</a:t>
            </a:r>
            <a:r>
              <a:rPr sz="1865" b="1" spc="-139" dirty="0">
                <a:latin typeface="Trebuchet MS"/>
                <a:cs typeface="Trebuchet MS"/>
              </a:rPr>
              <a:t>s</a:t>
            </a:r>
            <a:r>
              <a:rPr sz="1865" b="1" spc="-100" dirty="0">
                <a:latin typeface="Trebuchet MS"/>
                <a:cs typeface="Trebuchet MS"/>
              </a:rPr>
              <a:t> </a:t>
            </a:r>
            <a:r>
              <a:rPr sz="1865" b="1" spc="-182" dirty="0">
                <a:latin typeface="Trebuchet MS"/>
                <a:cs typeface="Trebuchet MS"/>
              </a:rPr>
              <a:t>method</a:t>
            </a:r>
            <a:endParaRPr sz="1865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45310" y="3493658"/>
            <a:ext cx="4266719" cy="507964"/>
          </a:xfrm>
          <a:prstGeom prst="rect">
            <a:avLst/>
          </a:prstGeom>
        </p:spPr>
        <p:txBody>
          <a:bodyPr vert="horz" wrap="square" lIns="0" tIns="6354" rIns="0" bIns="0" rtlCol="0">
            <a:spAutoFit/>
          </a:bodyPr>
          <a:lstStyle/>
          <a:p>
            <a:pPr marR="887765" algn="r">
              <a:lnSpc>
                <a:spcPts val="1453"/>
              </a:lnSpc>
              <a:spcBef>
                <a:spcPts val="50"/>
              </a:spcBef>
            </a:pPr>
            <a:r>
              <a:rPr sz="1751" spc="50" dirty="0">
                <a:latin typeface="Cambria"/>
                <a:cs typeface="Cambria"/>
              </a:rPr>
              <a:t>−1</a:t>
            </a:r>
            <a:endParaRPr sz="1751">
              <a:latin typeface="Cambria"/>
              <a:cs typeface="Cambria"/>
            </a:endParaRPr>
          </a:p>
          <a:p>
            <a:pPr marL="17328">
              <a:lnSpc>
                <a:spcPts val="2326"/>
              </a:lnSpc>
              <a:tabLst>
                <a:tab pos="657882" algn="l"/>
                <a:tab pos="3409549" algn="l"/>
              </a:tabLst>
            </a:pPr>
            <a:r>
              <a:rPr sz="2479" b="1" spc="16" dirty="0">
                <a:latin typeface="Times New Roman"/>
                <a:cs typeface="Times New Roman"/>
              </a:rPr>
              <a:t>w</a:t>
            </a:r>
            <a:r>
              <a:rPr sz="2626" i="1" spc="24" baseline="-19480" dirty="0">
                <a:latin typeface="Times New Roman"/>
                <a:cs typeface="Times New Roman"/>
              </a:rPr>
              <a:t>t</a:t>
            </a:r>
            <a:r>
              <a:rPr sz="2626" spc="24" baseline="-19480" dirty="0">
                <a:latin typeface="Cambria"/>
                <a:cs typeface="Cambria"/>
              </a:rPr>
              <a:t>+1</a:t>
            </a:r>
            <a:r>
              <a:rPr sz="2626" baseline="-19480" dirty="0">
                <a:latin typeface="Cambria"/>
                <a:cs typeface="Cambria"/>
              </a:rPr>
              <a:t>	</a:t>
            </a:r>
            <a:r>
              <a:rPr sz="2479" spc="314" dirty="0">
                <a:latin typeface="Cambria"/>
                <a:cs typeface="Cambria"/>
              </a:rPr>
              <a:t>=</a:t>
            </a:r>
            <a:r>
              <a:rPr sz="2479" spc="130" dirty="0">
                <a:latin typeface="Cambria"/>
                <a:cs typeface="Cambria"/>
              </a:rPr>
              <a:t> </a:t>
            </a:r>
            <a:r>
              <a:rPr sz="2479" b="1" dirty="0">
                <a:latin typeface="Times New Roman"/>
                <a:cs typeface="Times New Roman"/>
              </a:rPr>
              <a:t>w</a:t>
            </a:r>
            <a:r>
              <a:rPr sz="2626" i="1" baseline="-19480" dirty="0">
                <a:latin typeface="Times New Roman"/>
                <a:cs typeface="Times New Roman"/>
              </a:rPr>
              <a:t>t</a:t>
            </a:r>
            <a:r>
              <a:rPr sz="2626" i="1" spc="160" baseline="-19480" dirty="0">
                <a:latin typeface="Times New Roman"/>
                <a:cs typeface="Times New Roman"/>
              </a:rPr>
              <a:t> </a:t>
            </a:r>
            <a:r>
              <a:rPr sz="2479" spc="314" dirty="0">
                <a:latin typeface="Cambria"/>
                <a:cs typeface="Cambria"/>
              </a:rPr>
              <a:t>−</a:t>
            </a:r>
            <a:r>
              <a:rPr sz="2479" dirty="0">
                <a:latin typeface="Cambria"/>
                <a:cs typeface="Cambria"/>
              </a:rPr>
              <a:t> </a:t>
            </a:r>
            <a:r>
              <a:rPr sz="2479" i="1" spc="50" dirty="0">
                <a:latin typeface="Times New Roman"/>
                <a:cs typeface="Times New Roman"/>
              </a:rPr>
              <a:t>α</a:t>
            </a:r>
            <a:r>
              <a:rPr sz="2479" i="1" spc="-207" dirty="0">
                <a:latin typeface="Times New Roman"/>
                <a:cs typeface="Times New Roman"/>
              </a:rPr>
              <a:t> </a:t>
            </a:r>
            <a:r>
              <a:rPr sz="3718" baseline="-11213" dirty="0">
                <a:latin typeface="Sitka Small"/>
                <a:cs typeface="Sitka Small"/>
              </a:rPr>
              <a:t>(</a:t>
            </a:r>
            <a:r>
              <a:rPr sz="3718" spc="-737" baseline="-11213" dirty="0">
                <a:latin typeface="Sitka Small"/>
                <a:cs typeface="Sitka Small"/>
              </a:rPr>
              <a:t> </a:t>
            </a:r>
            <a:r>
              <a:rPr sz="2479" spc="-5" dirty="0">
                <a:latin typeface="Cambria"/>
                <a:cs typeface="Cambria"/>
              </a:rPr>
              <a:t>∇</a:t>
            </a:r>
            <a:r>
              <a:rPr sz="2626" spc="-7" baseline="28860" dirty="0">
                <a:latin typeface="Cambria"/>
                <a:cs typeface="Cambria"/>
              </a:rPr>
              <a:t>2</a:t>
            </a:r>
            <a:r>
              <a:rPr sz="2479" i="1" spc="-5" dirty="0">
                <a:latin typeface="Times New Roman"/>
                <a:cs typeface="Times New Roman"/>
              </a:rPr>
              <a:t>f</a:t>
            </a:r>
            <a:r>
              <a:rPr sz="2479" spc="-5" dirty="0">
                <a:latin typeface="Cambria"/>
                <a:cs typeface="Cambria"/>
              </a:rPr>
              <a:t>(</a:t>
            </a:r>
            <a:r>
              <a:rPr sz="2479" b="1" spc="-5" dirty="0">
                <a:latin typeface="Times New Roman"/>
                <a:cs typeface="Times New Roman"/>
              </a:rPr>
              <a:t>w</a:t>
            </a:r>
            <a:r>
              <a:rPr sz="2626" i="1" spc="-7" baseline="-19480" dirty="0">
                <a:latin typeface="Times New Roman"/>
                <a:cs typeface="Times New Roman"/>
              </a:rPr>
              <a:t>t</a:t>
            </a:r>
            <a:r>
              <a:rPr sz="2479" spc="-5" dirty="0">
                <a:latin typeface="Cambria"/>
                <a:cs typeface="Cambria"/>
              </a:rPr>
              <a:t>)</a:t>
            </a:r>
            <a:r>
              <a:rPr sz="3718" spc="-7" baseline="-11213" dirty="0">
                <a:latin typeface="Sitka Small"/>
                <a:cs typeface="Sitka Small"/>
              </a:rPr>
              <a:t>)</a:t>
            </a:r>
            <a:r>
              <a:rPr sz="3718" baseline="-11213" dirty="0">
                <a:latin typeface="Sitka Small"/>
                <a:cs typeface="Sitka Small"/>
              </a:rPr>
              <a:t>	</a:t>
            </a:r>
            <a:r>
              <a:rPr sz="2479" spc="34" dirty="0">
                <a:latin typeface="Cambria"/>
                <a:cs typeface="Cambria"/>
              </a:rPr>
              <a:t>∇</a:t>
            </a:r>
            <a:r>
              <a:rPr sz="2479" i="1" spc="34" dirty="0">
                <a:latin typeface="Times New Roman"/>
                <a:cs typeface="Times New Roman"/>
              </a:rPr>
              <a:t>f</a:t>
            </a:r>
            <a:r>
              <a:rPr sz="2479" spc="34" dirty="0">
                <a:latin typeface="Cambria"/>
                <a:cs typeface="Cambria"/>
              </a:rPr>
              <a:t>(</a:t>
            </a:r>
            <a:r>
              <a:rPr sz="2479" b="1" spc="34" dirty="0">
                <a:latin typeface="Times New Roman"/>
                <a:cs typeface="Times New Roman"/>
              </a:rPr>
              <a:t>w</a:t>
            </a:r>
            <a:r>
              <a:rPr sz="2626" i="1" spc="51" baseline="-19480" dirty="0">
                <a:latin typeface="Times New Roman"/>
                <a:cs typeface="Times New Roman"/>
              </a:rPr>
              <a:t>t</a:t>
            </a:r>
            <a:r>
              <a:rPr sz="2479" spc="34" dirty="0">
                <a:latin typeface="Cambria"/>
                <a:cs typeface="Cambria"/>
              </a:rPr>
              <a:t>)</a:t>
            </a:r>
            <a:endParaRPr sz="2479">
              <a:latin typeface="Cambria"/>
              <a:cs typeface="Cambri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50349" y="1225033"/>
            <a:ext cx="2895924" cy="1541442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372643" y="3210160"/>
            <a:ext cx="545290" cy="341961"/>
            <a:chOff x="9613742" y="5173530"/>
            <a:chExt cx="1198880" cy="751840"/>
          </a:xfrm>
        </p:grpSpPr>
        <p:sp>
          <p:nvSpPr>
            <p:cNvPr id="10" name="object 10"/>
            <p:cNvSpPr/>
            <p:nvPr/>
          </p:nvSpPr>
          <p:spPr>
            <a:xfrm>
              <a:off x="9639919" y="5199707"/>
              <a:ext cx="1012825" cy="626745"/>
            </a:xfrm>
            <a:custGeom>
              <a:avLst/>
              <a:gdLst/>
              <a:ahLst/>
              <a:cxnLst/>
              <a:rect l="l" t="t" r="r" b="b"/>
              <a:pathLst>
                <a:path w="1012825" h="626745">
                  <a:moveTo>
                    <a:pt x="0" y="0"/>
                  </a:moveTo>
                  <a:lnTo>
                    <a:pt x="990508" y="612693"/>
                  </a:lnTo>
                  <a:lnTo>
                    <a:pt x="1012771" y="626463"/>
                  </a:lnTo>
                </a:path>
              </a:pathLst>
            </a:custGeom>
            <a:ln w="52354">
              <a:solidFill>
                <a:srgbClr val="FF644E"/>
              </a:solidFill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sp>
          <p:nvSpPr>
            <p:cNvPr id="11" name="object 11"/>
            <p:cNvSpPr/>
            <p:nvPr/>
          </p:nvSpPr>
          <p:spPr>
            <a:xfrm>
              <a:off x="10574243" y="5721570"/>
              <a:ext cx="238125" cy="203200"/>
            </a:xfrm>
            <a:custGeom>
              <a:avLst/>
              <a:gdLst/>
              <a:ahLst/>
              <a:cxnLst/>
              <a:rect l="l" t="t" r="r" b="b"/>
              <a:pathLst>
                <a:path w="238125" h="203200">
                  <a:moveTo>
                    <a:pt x="112373" y="0"/>
                  </a:moveTo>
                  <a:lnTo>
                    <a:pt x="0" y="181660"/>
                  </a:lnTo>
                  <a:lnTo>
                    <a:pt x="237846" y="203199"/>
                  </a:lnTo>
                  <a:lnTo>
                    <a:pt x="112373" y="0"/>
                  </a:lnTo>
                  <a:close/>
                </a:path>
              </a:pathLst>
            </a:custGeom>
            <a:solidFill>
              <a:srgbClr val="FF644E"/>
            </a:solidFill>
          </p:spPr>
          <p:txBody>
            <a:bodyPr wrap="square" lIns="0" tIns="0" rIns="0" bIns="0" rtlCol="0"/>
            <a:lstStyle/>
            <a:p>
              <a:endParaRPr sz="819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07825" y="2887188"/>
            <a:ext cx="7237949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>
              <a:spcBef>
                <a:spcPts val="55"/>
              </a:spcBef>
            </a:pPr>
            <a:r>
              <a:rPr sz="1865" spc="-86" dirty="0">
                <a:latin typeface="Trebuchet MS"/>
                <a:cs typeface="Trebuchet MS"/>
              </a:rPr>
              <a:t>can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61" dirty="0">
                <a:latin typeface="Trebuchet MS"/>
                <a:cs typeface="Trebuchet MS"/>
              </a:rPr>
              <a:t>we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91" dirty="0">
                <a:latin typeface="Trebuchet MS"/>
                <a:cs typeface="Trebuchet MS"/>
              </a:rPr>
              <a:t>do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23" dirty="0">
                <a:latin typeface="Trebuchet MS"/>
                <a:cs typeface="Trebuchet MS"/>
              </a:rPr>
              <a:t>better?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41" dirty="0">
                <a:latin typeface="Trebuchet MS"/>
                <a:cs typeface="Trebuchet MS"/>
              </a:rPr>
              <a:t>idea: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57" dirty="0">
                <a:latin typeface="Trebuchet MS"/>
                <a:cs typeface="Trebuchet MS"/>
              </a:rPr>
              <a:t>use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70" dirty="0">
                <a:latin typeface="Trebuchet MS"/>
                <a:cs typeface="Trebuchet MS"/>
              </a:rPr>
              <a:t>second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34" dirty="0">
                <a:latin typeface="Trebuchet MS"/>
                <a:cs typeface="Trebuchet MS"/>
              </a:rPr>
              <a:t>order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16" dirty="0">
                <a:latin typeface="Trebuchet MS"/>
                <a:cs typeface="Trebuchet MS"/>
              </a:rPr>
              <a:t>information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77" dirty="0">
                <a:latin typeface="Trebuchet MS"/>
                <a:cs typeface="Trebuchet MS"/>
              </a:rPr>
              <a:t>(i.e.,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52" dirty="0">
                <a:latin typeface="Trebuchet MS"/>
                <a:cs typeface="Trebuchet MS"/>
              </a:rPr>
              <a:t>the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lang="en-US" sz="1865" spc="-23" dirty="0">
                <a:latin typeface="Trebuchet MS"/>
                <a:cs typeface="Trebuchet MS"/>
              </a:rPr>
              <a:t>H</a:t>
            </a:r>
            <a:r>
              <a:rPr sz="1865" spc="-23" dirty="0">
                <a:latin typeface="Trebuchet MS"/>
                <a:cs typeface="Trebuchet MS"/>
              </a:rPr>
              <a:t>essian)</a:t>
            </a:r>
            <a:endParaRPr sz="1865" dirty="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81357" y="4516458"/>
            <a:ext cx="6527880" cy="1008380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17328" marR="13862" algn="ctr">
              <a:lnSpc>
                <a:spcPct val="118400"/>
              </a:lnSpc>
              <a:spcBef>
                <a:spcPts val="43"/>
              </a:spcBef>
            </a:pPr>
            <a:r>
              <a:rPr sz="1865" spc="-86" dirty="0">
                <a:latin typeface="Trebuchet MS"/>
                <a:cs typeface="Trebuchet MS"/>
              </a:rPr>
              <a:t>can</a:t>
            </a:r>
            <a:r>
              <a:rPr sz="1865" spc="-121" dirty="0">
                <a:latin typeface="Trebuchet MS"/>
                <a:cs typeface="Trebuchet MS"/>
              </a:rPr>
              <a:t> </a:t>
            </a:r>
            <a:r>
              <a:rPr sz="1865" spc="-93" dirty="0">
                <a:latin typeface="Trebuchet MS"/>
                <a:cs typeface="Trebuchet MS"/>
              </a:rPr>
              <a:t>significantly</a:t>
            </a:r>
            <a:r>
              <a:rPr sz="1865" spc="-121" dirty="0">
                <a:latin typeface="Trebuchet MS"/>
                <a:cs typeface="Trebuchet MS"/>
              </a:rPr>
              <a:t> </a:t>
            </a:r>
            <a:r>
              <a:rPr sz="1865" spc="-125" dirty="0">
                <a:latin typeface="Trebuchet MS"/>
                <a:cs typeface="Trebuchet MS"/>
              </a:rPr>
              <a:t>reduce</a:t>
            </a:r>
            <a:r>
              <a:rPr sz="1865" spc="-121" dirty="0">
                <a:latin typeface="Trebuchet MS"/>
                <a:cs typeface="Trebuchet MS"/>
              </a:rPr>
              <a:t> </a:t>
            </a:r>
            <a:r>
              <a:rPr sz="1865" spc="-136" dirty="0">
                <a:latin typeface="Trebuchet MS"/>
                <a:cs typeface="Trebuchet MS"/>
              </a:rPr>
              <a:t>number</a:t>
            </a:r>
            <a:r>
              <a:rPr sz="1865" spc="-118" dirty="0">
                <a:latin typeface="Trebuchet MS"/>
                <a:cs typeface="Trebuchet MS"/>
              </a:rPr>
              <a:t> </a:t>
            </a:r>
            <a:r>
              <a:rPr sz="1865" spc="-86" dirty="0">
                <a:latin typeface="Trebuchet MS"/>
                <a:cs typeface="Trebuchet MS"/>
              </a:rPr>
              <a:t>of</a:t>
            </a:r>
            <a:r>
              <a:rPr sz="1865" spc="-121" dirty="0">
                <a:latin typeface="Trebuchet MS"/>
                <a:cs typeface="Trebuchet MS"/>
              </a:rPr>
              <a:t> </a:t>
            </a:r>
            <a:r>
              <a:rPr sz="1865" spc="-114" dirty="0">
                <a:latin typeface="Trebuchet MS"/>
                <a:cs typeface="Trebuchet MS"/>
              </a:rPr>
              <a:t>iterations</a:t>
            </a:r>
            <a:r>
              <a:rPr sz="1865" spc="-121" dirty="0">
                <a:latin typeface="Trebuchet MS"/>
                <a:cs typeface="Trebuchet MS"/>
              </a:rPr>
              <a:t> </a:t>
            </a:r>
            <a:r>
              <a:rPr sz="1865" spc="-130" dirty="0">
                <a:latin typeface="Trebuchet MS"/>
                <a:cs typeface="Trebuchet MS"/>
              </a:rPr>
              <a:t>needed</a:t>
            </a:r>
            <a:r>
              <a:rPr sz="1865" spc="-121" dirty="0">
                <a:latin typeface="Trebuchet MS"/>
                <a:cs typeface="Trebuchet MS"/>
              </a:rPr>
              <a:t> </a:t>
            </a:r>
            <a:r>
              <a:rPr sz="1865" spc="-109" dirty="0">
                <a:latin typeface="Trebuchet MS"/>
                <a:cs typeface="Trebuchet MS"/>
              </a:rPr>
              <a:t>for</a:t>
            </a:r>
            <a:r>
              <a:rPr sz="1865" spc="-118" dirty="0">
                <a:latin typeface="Trebuchet MS"/>
                <a:cs typeface="Trebuchet MS"/>
              </a:rPr>
              <a:t> </a:t>
            </a:r>
            <a:r>
              <a:rPr sz="1865" spc="-86" dirty="0">
                <a:latin typeface="Trebuchet MS"/>
                <a:cs typeface="Trebuchet MS"/>
              </a:rPr>
              <a:t>convergence </a:t>
            </a:r>
            <a:r>
              <a:rPr sz="1865" spc="-175" dirty="0">
                <a:solidFill>
                  <a:srgbClr val="FF644E"/>
                </a:solidFill>
                <a:latin typeface="Trebuchet MS"/>
                <a:cs typeface="Trebuchet MS"/>
              </a:rPr>
              <a:t>however,</a:t>
            </a:r>
            <a:r>
              <a:rPr sz="1865" spc="-130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865" spc="-66" dirty="0">
                <a:solidFill>
                  <a:srgbClr val="FF644E"/>
                </a:solidFill>
                <a:latin typeface="Trebuchet MS"/>
                <a:cs typeface="Trebuchet MS"/>
              </a:rPr>
              <a:t>comes</a:t>
            </a:r>
            <a:r>
              <a:rPr sz="1865" spc="-127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865" spc="-139" dirty="0">
                <a:solidFill>
                  <a:srgbClr val="FF644E"/>
                </a:solidFill>
                <a:latin typeface="Trebuchet MS"/>
                <a:cs typeface="Trebuchet MS"/>
              </a:rPr>
              <a:t>at</a:t>
            </a:r>
            <a:r>
              <a:rPr sz="1865" spc="-127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865" spc="-91" dirty="0">
                <a:solidFill>
                  <a:srgbClr val="FF644E"/>
                </a:solidFill>
                <a:latin typeface="Trebuchet MS"/>
                <a:cs typeface="Trebuchet MS"/>
              </a:rPr>
              <a:t>a</a:t>
            </a:r>
            <a:r>
              <a:rPr sz="1865" spc="-130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865" spc="-93" dirty="0">
                <a:solidFill>
                  <a:srgbClr val="FF644E"/>
                </a:solidFill>
                <a:latin typeface="Trebuchet MS"/>
                <a:cs typeface="Trebuchet MS"/>
              </a:rPr>
              <a:t>cost:</a:t>
            </a:r>
            <a:r>
              <a:rPr sz="1865" spc="-127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865" spc="-130" dirty="0">
                <a:solidFill>
                  <a:srgbClr val="FF644E"/>
                </a:solidFill>
                <a:latin typeface="Trebuchet MS"/>
                <a:cs typeface="Trebuchet MS"/>
              </a:rPr>
              <a:t>need</a:t>
            </a:r>
            <a:r>
              <a:rPr sz="1865" spc="-127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865" spc="-136" dirty="0">
                <a:solidFill>
                  <a:srgbClr val="FF644E"/>
                </a:solidFill>
                <a:latin typeface="Trebuchet MS"/>
                <a:cs typeface="Trebuchet MS"/>
              </a:rPr>
              <a:t>to</a:t>
            </a:r>
            <a:r>
              <a:rPr sz="1865" spc="-130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865" spc="-134" dirty="0">
                <a:solidFill>
                  <a:srgbClr val="FF644E"/>
                </a:solidFill>
                <a:latin typeface="Trebuchet MS"/>
                <a:cs typeface="Trebuchet MS"/>
              </a:rPr>
              <a:t>invert</a:t>
            </a:r>
            <a:r>
              <a:rPr sz="1865" spc="-127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865" i="1" spc="-52" dirty="0">
                <a:solidFill>
                  <a:srgbClr val="FF644E"/>
                </a:solidFill>
                <a:latin typeface="Gill Sans MT"/>
                <a:cs typeface="Gill Sans MT"/>
              </a:rPr>
              <a:t>k</a:t>
            </a:r>
            <a:r>
              <a:rPr sz="1865" spc="-52" dirty="0">
                <a:solidFill>
                  <a:srgbClr val="FF644E"/>
                </a:solidFill>
                <a:latin typeface="Trebuchet MS"/>
                <a:cs typeface="Trebuchet MS"/>
              </a:rPr>
              <a:t>×</a:t>
            </a:r>
            <a:r>
              <a:rPr sz="1865" i="1" spc="-52" dirty="0">
                <a:solidFill>
                  <a:srgbClr val="FF644E"/>
                </a:solidFill>
                <a:latin typeface="Gill Sans MT"/>
                <a:cs typeface="Gill Sans MT"/>
              </a:rPr>
              <a:t>k</a:t>
            </a:r>
            <a:r>
              <a:rPr sz="1865" i="1" spc="-84" dirty="0">
                <a:solidFill>
                  <a:srgbClr val="FF644E"/>
                </a:solidFill>
                <a:latin typeface="Gill Sans MT"/>
                <a:cs typeface="Gill Sans MT"/>
              </a:rPr>
              <a:t> </a:t>
            </a:r>
            <a:r>
              <a:rPr sz="1865" spc="-134" dirty="0">
                <a:solidFill>
                  <a:srgbClr val="FF644E"/>
                </a:solidFill>
                <a:latin typeface="Trebuchet MS"/>
                <a:cs typeface="Trebuchet MS"/>
              </a:rPr>
              <a:t>matrix</a:t>
            </a:r>
            <a:r>
              <a:rPr sz="1865" spc="-127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865" dirty="0">
                <a:solidFill>
                  <a:srgbClr val="FF644E"/>
                </a:solidFill>
                <a:latin typeface="Arial Narrow"/>
                <a:cs typeface="Arial Narrow"/>
              </a:rPr>
              <a:t>→</a:t>
            </a:r>
            <a:r>
              <a:rPr sz="1865" spc="9" dirty="0">
                <a:solidFill>
                  <a:srgbClr val="FF644E"/>
                </a:solidFill>
                <a:latin typeface="Arial Narrow"/>
                <a:cs typeface="Arial Narrow"/>
              </a:rPr>
              <a:t> </a:t>
            </a:r>
            <a:r>
              <a:rPr sz="1865" spc="-5" dirty="0">
                <a:solidFill>
                  <a:srgbClr val="FF644E"/>
                </a:solidFill>
                <a:latin typeface="Trebuchet MS"/>
                <a:cs typeface="Trebuchet MS"/>
              </a:rPr>
              <a:t>O(</a:t>
            </a:r>
            <a:r>
              <a:rPr sz="1865" i="1" spc="-5" dirty="0">
                <a:solidFill>
                  <a:srgbClr val="FF644E"/>
                </a:solidFill>
                <a:latin typeface="Gill Sans MT"/>
                <a:cs typeface="Gill Sans MT"/>
              </a:rPr>
              <a:t>k</a:t>
            </a:r>
            <a:r>
              <a:rPr sz="1876" spc="-7" baseline="20202" dirty="0">
                <a:solidFill>
                  <a:srgbClr val="FF644E"/>
                </a:solidFill>
                <a:latin typeface="Trebuchet MS"/>
                <a:cs typeface="Trebuchet MS"/>
              </a:rPr>
              <a:t>3</a:t>
            </a:r>
            <a:r>
              <a:rPr sz="1865" spc="-5" dirty="0">
                <a:solidFill>
                  <a:srgbClr val="FF644E"/>
                </a:solidFill>
                <a:latin typeface="Trebuchet MS"/>
                <a:cs typeface="Trebuchet MS"/>
              </a:rPr>
              <a:t>)</a:t>
            </a:r>
            <a:endParaRPr sz="1865">
              <a:latin typeface="Trebuchet MS"/>
              <a:cs typeface="Trebuchet MS"/>
            </a:endParaRPr>
          </a:p>
          <a:p>
            <a:pPr algn="ctr">
              <a:spcBef>
                <a:spcPts val="312"/>
              </a:spcBef>
            </a:pPr>
            <a:r>
              <a:rPr sz="1865" spc="-125" dirty="0">
                <a:latin typeface="Trebuchet MS"/>
                <a:cs typeface="Trebuchet MS"/>
              </a:rPr>
              <a:t>often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11" dirty="0">
                <a:latin typeface="Trebuchet MS"/>
                <a:cs typeface="Trebuchet MS"/>
              </a:rPr>
              <a:t>too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07" dirty="0">
                <a:latin typeface="Trebuchet MS"/>
                <a:cs typeface="Trebuchet MS"/>
              </a:rPr>
              <a:t>expensive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09" dirty="0">
                <a:latin typeface="Trebuchet MS"/>
                <a:cs typeface="Trebuchet MS"/>
              </a:rPr>
              <a:t>for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32" dirty="0">
                <a:latin typeface="Trebuchet MS"/>
                <a:cs typeface="Trebuchet MS"/>
              </a:rPr>
              <a:t>neural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09" dirty="0">
                <a:latin typeface="Trebuchet MS"/>
                <a:cs typeface="Trebuchet MS"/>
              </a:rPr>
              <a:t>networks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64" dirty="0">
                <a:latin typeface="Trebuchet MS"/>
                <a:cs typeface="Trebuchet MS"/>
              </a:rPr>
              <a:t>(</a:t>
            </a:r>
            <a:r>
              <a:rPr sz="1865" i="1" spc="-64" dirty="0">
                <a:latin typeface="Gill Sans MT"/>
                <a:cs typeface="Gill Sans MT"/>
              </a:rPr>
              <a:t>k</a:t>
            </a:r>
            <a:r>
              <a:rPr sz="1865" i="1" spc="-84" dirty="0">
                <a:latin typeface="Gill Sans MT"/>
                <a:cs typeface="Gill Sans MT"/>
              </a:rPr>
              <a:t> </a:t>
            </a:r>
            <a:r>
              <a:rPr sz="1865" spc="-86" dirty="0">
                <a:latin typeface="Trebuchet MS"/>
                <a:cs typeface="Trebuchet MS"/>
              </a:rPr>
              <a:t>can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34" dirty="0">
                <a:latin typeface="Trebuchet MS"/>
                <a:cs typeface="Trebuchet MS"/>
              </a:rPr>
              <a:t>be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09" dirty="0">
                <a:latin typeface="Trebuchet MS"/>
                <a:cs typeface="Trebuchet MS"/>
              </a:rPr>
              <a:t>in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52" dirty="0">
                <a:latin typeface="Trebuchet MS"/>
                <a:cs typeface="Trebuchet MS"/>
              </a:rPr>
              <a:t>the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6" dirty="0">
                <a:latin typeface="Trebuchet MS"/>
                <a:cs typeface="Trebuchet MS"/>
              </a:rPr>
              <a:t>millions)</a:t>
            </a:r>
            <a:endParaRPr sz="1865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4348" y="4346204"/>
            <a:ext cx="1504713" cy="1555714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710197" y="1926186"/>
            <a:ext cx="4813164" cy="793962"/>
            <a:chOff x="1561448" y="2350572"/>
            <a:chExt cx="10582275" cy="1745614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61448" y="2350572"/>
              <a:ext cx="10582159" cy="174502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603332" y="2371514"/>
              <a:ext cx="10498455" cy="1661795"/>
            </a:xfrm>
            <a:custGeom>
              <a:avLst/>
              <a:gdLst/>
              <a:ahLst/>
              <a:cxnLst/>
              <a:rect l="l" t="t" r="r" b="b"/>
              <a:pathLst>
                <a:path w="10498455" h="1661795">
                  <a:moveTo>
                    <a:pt x="10403359" y="0"/>
                  </a:moveTo>
                  <a:lnTo>
                    <a:pt x="95033" y="0"/>
                  </a:lnTo>
                  <a:lnTo>
                    <a:pt x="58042" y="7468"/>
                  </a:lnTo>
                  <a:lnTo>
                    <a:pt x="27834" y="27834"/>
                  </a:lnTo>
                  <a:lnTo>
                    <a:pt x="7468" y="58042"/>
                  </a:lnTo>
                  <a:lnTo>
                    <a:pt x="0" y="95033"/>
                  </a:lnTo>
                  <a:lnTo>
                    <a:pt x="0" y="1566225"/>
                  </a:lnTo>
                  <a:lnTo>
                    <a:pt x="7468" y="1603217"/>
                  </a:lnTo>
                  <a:lnTo>
                    <a:pt x="27834" y="1633424"/>
                  </a:lnTo>
                  <a:lnTo>
                    <a:pt x="58042" y="1653791"/>
                  </a:lnTo>
                  <a:lnTo>
                    <a:pt x="95033" y="1661259"/>
                  </a:lnTo>
                  <a:lnTo>
                    <a:pt x="10403359" y="1661259"/>
                  </a:lnTo>
                  <a:lnTo>
                    <a:pt x="10440348" y="1653791"/>
                  </a:lnTo>
                  <a:lnTo>
                    <a:pt x="10470556" y="1633424"/>
                  </a:lnTo>
                  <a:lnTo>
                    <a:pt x="10490924" y="1603217"/>
                  </a:lnTo>
                  <a:lnTo>
                    <a:pt x="10498393" y="1566225"/>
                  </a:lnTo>
                  <a:lnTo>
                    <a:pt x="10498393" y="95033"/>
                  </a:lnTo>
                  <a:lnTo>
                    <a:pt x="10490924" y="58042"/>
                  </a:lnTo>
                  <a:lnTo>
                    <a:pt x="10470556" y="27834"/>
                  </a:lnTo>
                  <a:lnTo>
                    <a:pt x="10440348" y="7468"/>
                  </a:lnTo>
                  <a:lnTo>
                    <a:pt x="10403359" y="0"/>
                  </a:lnTo>
                  <a:close/>
                </a:path>
              </a:pathLst>
            </a:custGeom>
            <a:solidFill>
              <a:srgbClr val="A8D6FF"/>
            </a:solidFill>
          </p:spPr>
          <p:txBody>
            <a:bodyPr wrap="square" lIns="0" tIns="0" rIns="0" bIns="0" rtlCol="0"/>
            <a:lstStyle/>
            <a:p>
              <a:endParaRPr sz="819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58781" y="2149584"/>
            <a:ext cx="1630093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>
              <a:spcBef>
                <a:spcPts val="55"/>
              </a:spcBef>
            </a:pPr>
            <a:r>
              <a:rPr sz="1865" b="1" spc="-161" dirty="0">
                <a:latin typeface="Trebuchet MS"/>
                <a:cs typeface="Trebuchet MS"/>
              </a:rPr>
              <a:t>Gradient</a:t>
            </a:r>
            <a:r>
              <a:rPr sz="1865" b="1" spc="-127" dirty="0">
                <a:latin typeface="Trebuchet MS"/>
                <a:cs typeface="Trebuchet MS"/>
              </a:rPr>
              <a:t> </a:t>
            </a:r>
            <a:r>
              <a:rPr sz="1865" b="1" spc="-139" dirty="0">
                <a:latin typeface="Trebuchet MS"/>
                <a:cs typeface="Trebuchet MS"/>
              </a:rPr>
              <a:t>descent</a:t>
            </a:r>
            <a:endParaRPr sz="1865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 rot="21240000">
            <a:off x="771771" y="1984959"/>
            <a:ext cx="738495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21"/>
              </a:lnSpc>
            </a:pPr>
            <a:r>
              <a:rPr sz="2012" b="1" spc="102" baseline="-1883" dirty="0">
                <a:solidFill>
                  <a:srgbClr val="FF644E"/>
                </a:solidFill>
                <a:latin typeface="Trebuchet MS"/>
                <a:cs typeface="Trebuchet MS"/>
              </a:rPr>
              <a:t>REC</a:t>
            </a:r>
            <a:r>
              <a:rPr sz="2012" b="1" spc="-310" baseline="-1883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59" dirty="0">
                <a:solidFill>
                  <a:srgbClr val="FF644E"/>
                </a:solidFill>
                <a:latin typeface="Trebuchet MS"/>
                <a:cs typeface="Trebuchet MS"/>
              </a:rPr>
              <a:t>ALL </a:t>
            </a:r>
            <a:endParaRPr sz="1342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63506" y="2070262"/>
            <a:ext cx="2669840" cy="386764"/>
          </a:xfrm>
          <a:prstGeom prst="rect">
            <a:avLst/>
          </a:prstGeom>
        </p:spPr>
        <p:txBody>
          <a:bodyPr vert="horz" wrap="square" lIns="0" tIns="5199" rIns="0" bIns="0" rtlCol="0">
            <a:spAutoFit/>
          </a:bodyPr>
          <a:lstStyle/>
          <a:p>
            <a:pPr marL="17328">
              <a:spcBef>
                <a:spcPts val="41"/>
              </a:spcBef>
              <a:tabLst>
                <a:tab pos="657882" algn="l"/>
              </a:tabLst>
            </a:pPr>
            <a:r>
              <a:rPr sz="2479" b="1" spc="16" dirty="0">
                <a:latin typeface="Times New Roman"/>
                <a:cs typeface="Times New Roman"/>
              </a:rPr>
              <a:t>w</a:t>
            </a:r>
            <a:r>
              <a:rPr sz="2626" i="1" spc="24" baseline="-19480" dirty="0">
                <a:latin typeface="Times New Roman"/>
                <a:cs typeface="Times New Roman"/>
              </a:rPr>
              <a:t>t</a:t>
            </a:r>
            <a:r>
              <a:rPr sz="2626" spc="24" baseline="-19480" dirty="0">
                <a:latin typeface="Cambria"/>
                <a:cs typeface="Cambria"/>
              </a:rPr>
              <a:t>+1</a:t>
            </a:r>
            <a:r>
              <a:rPr sz="2626" baseline="-19480" dirty="0">
                <a:latin typeface="Cambria"/>
                <a:cs typeface="Cambria"/>
              </a:rPr>
              <a:t>	</a:t>
            </a:r>
            <a:r>
              <a:rPr sz="2479" spc="314" dirty="0">
                <a:latin typeface="Cambria"/>
                <a:cs typeface="Cambria"/>
              </a:rPr>
              <a:t>=</a:t>
            </a:r>
            <a:r>
              <a:rPr sz="2479" spc="132" dirty="0">
                <a:latin typeface="Cambria"/>
                <a:cs typeface="Cambria"/>
              </a:rPr>
              <a:t> </a:t>
            </a:r>
            <a:r>
              <a:rPr sz="2479" b="1" dirty="0">
                <a:latin typeface="Times New Roman"/>
                <a:cs typeface="Times New Roman"/>
              </a:rPr>
              <a:t>w</a:t>
            </a:r>
            <a:r>
              <a:rPr sz="2626" i="1" baseline="-19480" dirty="0">
                <a:latin typeface="Times New Roman"/>
                <a:cs typeface="Times New Roman"/>
              </a:rPr>
              <a:t>t</a:t>
            </a:r>
            <a:r>
              <a:rPr sz="2626" i="1" spc="160" baseline="-19480" dirty="0">
                <a:latin typeface="Times New Roman"/>
                <a:cs typeface="Times New Roman"/>
              </a:rPr>
              <a:t> </a:t>
            </a:r>
            <a:r>
              <a:rPr sz="2479" spc="314" dirty="0">
                <a:latin typeface="Cambria"/>
                <a:cs typeface="Cambria"/>
              </a:rPr>
              <a:t>−</a:t>
            </a:r>
            <a:r>
              <a:rPr sz="2479" spc="-2" dirty="0">
                <a:latin typeface="Cambria"/>
                <a:cs typeface="Cambria"/>
              </a:rPr>
              <a:t> </a:t>
            </a:r>
            <a:r>
              <a:rPr sz="2479" i="1" spc="50" dirty="0">
                <a:latin typeface="Times New Roman"/>
                <a:cs typeface="Times New Roman"/>
              </a:rPr>
              <a:t>α</a:t>
            </a:r>
            <a:r>
              <a:rPr sz="2479" i="1" spc="-346" dirty="0">
                <a:latin typeface="Times New Roman"/>
                <a:cs typeface="Times New Roman"/>
              </a:rPr>
              <a:t> </a:t>
            </a:r>
            <a:r>
              <a:rPr sz="2479" spc="34" dirty="0">
                <a:latin typeface="Cambria"/>
                <a:cs typeface="Cambria"/>
              </a:rPr>
              <a:t>∇</a:t>
            </a:r>
            <a:r>
              <a:rPr sz="2479" i="1" spc="34" dirty="0">
                <a:latin typeface="Times New Roman"/>
                <a:cs typeface="Times New Roman"/>
              </a:rPr>
              <a:t>f</a:t>
            </a:r>
            <a:r>
              <a:rPr sz="2479" spc="34" dirty="0">
                <a:latin typeface="Cambria"/>
                <a:cs typeface="Cambria"/>
              </a:rPr>
              <a:t>(</a:t>
            </a:r>
            <a:r>
              <a:rPr sz="2479" b="1" spc="34" dirty="0">
                <a:latin typeface="Times New Roman"/>
                <a:cs typeface="Times New Roman"/>
              </a:rPr>
              <a:t>w</a:t>
            </a:r>
            <a:r>
              <a:rPr sz="2626" i="1" spc="51" baseline="-19480" dirty="0">
                <a:latin typeface="Times New Roman"/>
                <a:cs typeface="Times New Roman"/>
              </a:rPr>
              <a:t>t</a:t>
            </a:r>
            <a:r>
              <a:rPr sz="2479" spc="34" dirty="0">
                <a:latin typeface="Cambria"/>
                <a:cs typeface="Cambria"/>
              </a:rPr>
              <a:t>)</a:t>
            </a:r>
            <a:endParaRPr sz="2479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DA295-BE43-1EA9-1B30-320BD622B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9E42935-9F44-0961-ABAC-D75DF0DD5A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497" y="1057414"/>
            <a:ext cx="3348078" cy="929512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211" dirty="0"/>
              <a:t>Motivation:</a:t>
            </a:r>
            <a:r>
              <a:rPr spc="-207" dirty="0"/>
              <a:t> </a:t>
            </a:r>
            <a:r>
              <a:rPr spc="-230" dirty="0"/>
              <a:t>N</a:t>
            </a:r>
            <a:r>
              <a:rPr spc="-234" dirty="0"/>
              <a:t>ew</a:t>
            </a:r>
            <a:r>
              <a:rPr spc="-289" dirty="0"/>
              <a:t>t</a:t>
            </a:r>
            <a:r>
              <a:rPr spc="-230" dirty="0"/>
              <a:t>o</a:t>
            </a:r>
            <a:r>
              <a:rPr spc="-443" dirty="0"/>
              <a:t>n</a:t>
            </a:r>
            <a:r>
              <a:rPr spc="-789" dirty="0"/>
              <a:t>’</a:t>
            </a:r>
            <a:r>
              <a:rPr spc="-230" dirty="0"/>
              <a:t>s</a:t>
            </a:r>
            <a:r>
              <a:rPr spc="-205" dirty="0"/>
              <a:t> </a:t>
            </a:r>
            <a:r>
              <a:rPr spc="-296" dirty="0"/>
              <a:t>method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A0B6756-1AB3-81BA-E27E-6617BE70E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9" y="2174874"/>
            <a:ext cx="5353051" cy="450548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13D950A-A45E-269C-27CD-D93B4D07A64C}"/>
              </a:ext>
            </a:extLst>
          </p:cNvPr>
          <p:cNvSpPr txBox="1"/>
          <p:nvPr/>
        </p:nvSpPr>
        <p:spPr>
          <a:xfrm>
            <a:off x="428625" y="2386013"/>
            <a:ext cx="2619374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But – for functions with </a:t>
            </a:r>
            <a:r>
              <a:rPr lang="en-US" i="1" dirty="0"/>
              <a:t>n </a:t>
            </a:r>
            <a:r>
              <a:rPr lang="en-US" dirty="0"/>
              <a:t>inputs the “second derivative” is too large.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E0B046-D79C-BDA7-EC4C-61613FCBC1D0}"/>
              </a:ext>
            </a:extLst>
          </p:cNvPr>
          <p:cNvSpPr txBox="1"/>
          <p:nvPr/>
        </p:nvSpPr>
        <p:spPr>
          <a:xfrm>
            <a:off x="428625" y="3609856"/>
            <a:ext cx="2619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/>
              <a:t>Hessian matrix: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D422F2B-44D2-977A-C6BD-9467D7BEE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7837" y="1057414"/>
            <a:ext cx="1766687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02921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191C1-0B00-4152-35C7-C88CD97FA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B0A5768-0D2B-AABA-AC4D-66CE9567A9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497" y="1057414"/>
            <a:ext cx="3348078" cy="929512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211" dirty="0"/>
              <a:t>Motivation:</a:t>
            </a:r>
            <a:r>
              <a:rPr spc="-207" dirty="0"/>
              <a:t> </a:t>
            </a:r>
            <a:r>
              <a:rPr spc="-230" dirty="0"/>
              <a:t>N</a:t>
            </a:r>
            <a:r>
              <a:rPr spc="-234" dirty="0"/>
              <a:t>ew</a:t>
            </a:r>
            <a:r>
              <a:rPr spc="-289" dirty="0"/>
              <a:t>t</a:t>
            </a:r>
            <a:r>
              <a:rPr spc="-230" dirty="0"/>
              <a:t>o</a:t>
            </a:r>
            <a:r>
              <a:rPr spc="-443" dirty="0"/>
              <a:t>n</a:t>
            </a:r>
            <a:r>
              <a:rPr spc="-789" dirty="0"/>
              <a:t>’</a:t>
            </a:r>
            <a:r>
              <a:rPr spc="-230" dirty="0"/>
              <a:t>s</a:t>
            </a:r>
            <a:r>
              <a:rPr spc="-205" dirty="0"/>
              <a:t> </a:t>
            </a:r>
            <a:r>
              <a:rPr spc="-296" dirty="0"/>
              <a:t>method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D6E517-6248-9E53-94CC-C622C81BF529}"/>
              </a:ext>
            </a:extLst>
          </p:cNvPr>
          <p:cNvSpPr txBox="1"/>
          <p:nvPr/>
        </p:nvSpPr>
        <p:spPr>
          <a:xfrm>
            <a:off x="428625" y="2386013"/>
            <a:ext cx="2619374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Hessian is worse than the </a:t>
            </a:r>
            <a:r>
              <a:rPr lang="en-US" b="1" dirty="0" err="1"/>
              <a:t>Jaccobian</a:t>
            </a:r>
            <a:r>
              <a:rPr lang="en-US" dirty="0"/>
              <a:t> (from </a:t>
            </a:r>
            <a:r>
              <a:rPr lang="en-US" dirty="0" err="1"/>
              <a:t>autodiff</a:t>
            </a:r>
            <a:r>
              <a:rPr lang="en-US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53C698-C7F3-C878-5CAF-9B3D15EA4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985" y="3608605"/>
            <a:ext cx="7696843" cy="21919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B522F6-A217-E668-47CB-357DCA002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1142" y="1061771"/>
            <a:ext cx="1907541" cy="48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74787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2236" y="1187452"/>
            <a:ext cx="1319324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239" dirty="0"/>
              <a:t>AdaGrad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2237" y="1035612"/>
            <a:ext cx="2172205" cy="213238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76">
              <a:spcBef>
                <a:spcPts val="52"/>
              </a:spcBef>
              <a:tabLst>
                <a:tab pos="204469" algn="l"/>
                <a:tab pos="1139308" algn="l"/>
              </a:tabLst>
            </a:pPr>
            <a:r>
              <a:rPr sz="1342" b="1" spc="-23" dirty="0">
                <a:solidFill>
                  <a:srgbClr val="FF644E"/>
                </a:solidFill>
                <a:latin typeface="Trebuchet MS"/>
                <a:cs typeface="Trebuchet MS"/>
              </a:rPr>
              <a:t>A</a:t>
            </a:r>
            <a:r>
              <a:rPr sz="1342" b="1" dirty="0">
                <a:solidFill>
                  <a:srgbClr val="FF644E"/>
                </a:solidFill>
                <a:latin typeface="Trebuchet MS"/>
                <a:cs typeface="Trebuchet MS"/>
              </a:rPr>
              <a:t>	</a:t>
            </a:r>
            <a:r>
              <a:rPr sz="1342" b="1" spc="114" dirty="0">
                <a:solidFill>
                  <a:srgbClr val="FF644E"/>
                </a:solidFill>
                <a:latin typeface="Trebuchet MS"/>
                <a:cs typeface="Trebuchet MS"/>
              </a:rPr>
              <a:t>CHEAPER</a:t>
            </a:r>
            <a:r>
              <a:rPr sz="1342" b="1" dirty="0">
                <a:solidFill>
                  <a:srgbClr val="FF644E"/>
                </a:solidFill>
                <a:latin typeface="Trebuchet MS"/>
                <a:cs typeface="Trebuchet MS"/>
              </a:rPr>
              <a:t>	</a:t>
            </a:r>
            <a:r>
              <a:rPr sz="1342" b="1" spc="121" dirty="0">
                <a:solidFill>
                  <a:srgbClr val="FF644E"/>
                </a:solidFill>
                <a:latin typeface="Trebuchet MS"/>
                <a:cs typeface="Trebuchet MS"/>
              </a:rPr>
              <a:t>APPRO</a:t>
            </a:r>
            <a:r>
              <a:rPr sz="1342" b="1" spc="-191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-45" dirty="0">
                <a:solidFill>
                  <a:srgbClr val="FF644E"/>
                </a:solidFill>
                <a:latin typeface="Trebuchet MS"/>
                <a:cs typeface="Trebuchet MS"/>
              </a:rPr>
              <a:t>A</a:t>
            </a:r>
            <a:r>
              <a:rPr sz="1342" b="1" spc="-189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32" dirty="0">
                <a:solidFill>
                  <a:srgbClr val="FF644E"/>
                </a:solidFill>
                <a:latin typeface="Trebuchet MS"/>
                <a:cs typeface="Trebuchet MS"/>
              </a:rPr>
              <a:t>CH </a:t>
            </a:r>
            <a:endParaRPr sz="1342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34335" y="1881007"/>
            <a:ext cx="6415819" cy="1447270"/>
            <a:chOff x="1614517" y="2251240"/>
            <a:chExt cx="14105890" cy="31819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14517" y="2251240"/>
              <a:ext cx="14105392" cy="318172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656400" y="2272182"/>
              <a:ext cx="14022069" cy="3098165"/>
            </a:xfrm>
            <a:custGeom>
              <a:avLst/>
              <a:gdLst/>
              <a:ahLst/>
              <a:cxnLst/>
              <a:rect l="l" t="t" r="r" b="b"/>
              <a:pathLst>
                <a:path w="14022069" h="3098165">
                  <a:moveTo>
                    <a:pt x="13924255" y="0"/>
                  </a:moveTo>
                  <a:lnTo>
                    <a:pt x="97375" y="0"/>
                  </a:lnTo>
                  <a:lnTo>
                    <a:pt x="59472" y="7652"/>
                  </a:lnTo>
                  <a:lnTo>
                    <a:pt x="28520" y="28520"/>
                  </a:lnTo>
                  <a:lnTo>
                    <a:pt x="7652" y="59472"/>
                  </a:lnTo>
                  <a:lnTo>
                    <a:pt x="0" y="97376"/>
                  </a:lnTo>
                  <a:lnTo>
                    <a:pt x="0" y="3000578"/>
                  </a:lnTo>
                  <a:lnTo>
                    <a:pt x="7652" y="3038482"/>
                  </a:lnTo>
                  <a:lnTo>
                    <a:pt x="28520" y="3069434"/>
                  </a:lnTo>
                  <a:lnTo>
                    <a:pt x="59472" y="3090302"/>
                  </a:lnTo>
                  <a:lnTo>
                    <a:pt x="97375" y="3097954"/>
                  </a:lnTo>
                  <a:lnTo>
                    <a:pt x="13924255" y="3097954"/>
                  </a:lnTo>
                  <a:lnTo>
                    <a:pt x="13962158" y="3090302"/>
                  </a:lnTo>
                  <a:lnTo>
                    <a:pt x="13993112" y="3069434"/>
                  </a:lnTo>
                  <a:lnTo>
                    <a:pt x="14013981" y="3038482"/>
                  </a:lnTo>
                  <a:lnTo>
                    <a:pt x="14021634" y="3000578"/>
                  </a:lnTo>
                  <a:lnTo>
                    <a:pt x="14021634" y="97376"/>
                  </a:lnTo>
                  <a:lnTo>
                    <a:pt x="14013981" y="59472"/>
                  </a:lnTo>
                  <a:lnTo>
                    <a:pt x="13993112" y="28520"/>
                  </a:lnTo>
                  <a:lnTo>
                    <a:pt x="13962158" y="7652"/>
                  </a:lnTo>
                  <a:lnTo>
                    <a:pt x="13924255" y="0"/>
                  </a:lnTo>
                  <a:close/>
                </a:path>
              </a:pathLst>
            </a:custGeom>
            <a:solidFill>
              <a:srgbClr val="A8D6FF"/>
            </a:solidFill>
          </p:spPr>
          <p:txBody>
            <a:bodyPr wrap="square" lIns="0" tIns="0" rIns="0" bIns="0" rtlCol="0"/>
            <a:lstStyle/>
            <a:p>
              <a:endParaRPr sz="819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85593" y="2069131"/>
            <a:ext cx="894183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>
              <a:spcBef>
                <a:spcPts val="55"/>
              </a:spcBef>
            </a:pPr>
            <a:r>
              <a:rPr sz="1865" b="1" spc="-150" dirty="0">
                <a:latin typeface="Trebuchet MS"/>
                <a:cs typeface="Trebuchet MS"/>
              </a:rPr>
              <a:t>AdaGrad:</a:t>
            </a:r>
            <a:endParaRPr sz="1865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76655" y="2693018"/>
            <a:ext cx="400591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>
              <a:spcBef>
                <a:spcPts val="55"/>
              </a:spcBef>
            </a:pPr>
            <a:r>
              <a:rPr sz="1865" b="1" i="1" spc="-9" dirty="0">
                <a:latin typeface="Gill Sans MT"/>
                <a:cs typeface="Gill Sans MT"/>
              </a:rPr>
              <a:t>else</a:t>
            </a:r>
            <a:endParaRPr sz="1865">
              <a:latin typeface="Gill Sans MT"/>
              <a:cs typeface="Gill Sans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05572" y="2066294"/>
            <a:ext cx="588324" cy="386636"/>
          </a:xfrm>
          <a:prstGeom prst="rect">
            <a:avLst/>
          </a:prstGeom>
        </p:spPr>
        <p:txBody>
          <a:bodyPr vert="horz" wrap="square" lIns="0" tIns="5199" rIns="0" bIns="0" rtlCol="0">
            <a:spAutoFit/>
          </a:bodyPr>
          <a:lstStyle/>
          <a:p>
            <a:pPr marL="17328">
              <a:spcBef>
                <a:spcPts val="41"/>
              </a:spcBef>
            </a:pPr>
            <a:r>
              <a:rPr sz="3718" b="1" spc="24" baseline="13761" dirty="0">
                <a:latin typeface="Times New Roman"/>
                <a:cs typeface="Times New Roman"/>
              </a:rPr>
              <a:t>w</a:t>
            </a:r>
            <a:r>
              <a:rPr sz="1751" i="1" spc="16" dirty="0">
                <a:latin typeface="Times New Roman"/>
                <a:cs typeface="Times New Roman"/>
              </a:rPr>
              <a:t>t</a:t>
            </a:r>
            <a:r>
              <a:rPr sz="1751" spc="16" dirty="0">
                <a:latin typeface="Cambria"/>
                <a:cs typeface="Cambria"/>
              </a:rPr>
              <a:t>+1</a:t>
            </a:r>
            <a:endParaRPr sz="1751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87565" y="2157457"/>
            <a:ext cx="73649" cy="275849"/>
          </a:xfrm>
          <a:prstGeom prst="rect">
            <a:avLst/>
          </a:prstGeom>
        </p:spPr>
        <p:txBody>
          <a:bodyPr vert="horz" wrap="square" lIns="0" tIns="6354" rIns="0" bIns="0" rtlCol="0">
            <a:spAutoFit/>
          </a:bodyPr>
          <a:lstStyle/>
          <a:p>
            <a:pPr marL="5776">
              <a:spcBef>
                <a:spcPts val="50"/>
              </a:spcBef>
            </a:pPr>
            <a:r>
              <a:rPr sz="1751" i="1" spc="-23" dirty="0">
                <a:latin typeface="Times New Roman"/>
                <a:cs typeface="Times New Roman"/>
              </a:rPr>
              <a:t>t</a:t>
            </a:r>
            <a:endParaRPr sz="1751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57944" y="1987704"/>
            <a:ext cx="1358892" cy="386764"/>
          </a:xfrm>
          <a:prstGeom prst="rect">
            <a:avLst/>
          </a:prstGeom>
        </p:spPr>
        <p:txBody>
          <a:bodyPr vert="horz" wrap="square" lIns="0" tIns="5199" rIns="0" bIns="0" rtlCol="0">
            <a:spAutoFit/>
          </a:bodyPr>
          <a:lstStyle/>
          <a:p>
            <a:pPr marL="5776">
              <a:spcBef>
                <a:spcPts val="41"/>
              </a:spcBef>
              <a:tabLst>
                <a:tab pos="667123" algn="l"/>
              </a:tabLst>
            </a:pPr>
            <a:r>
              <a:rPr sz="2479" spc="314" dirty="0">
                <a:latin typeface="Cambria"/>
                <a:cs typeface="Cambria"/>
              </a:rPr>
              <a:t>=</a:t>
            </a:r>
            <a:r>
              <a:rPr sz="2479" spc="141" dirty="0">
                <a:latin typeface="Cambria"/>
                <a:cs typeface="Cambria"/>
              </a:rPr>
              <a:t> </a:t>
            </a:r>
            <a:r>
              <a:rPr sz="2479" b="1" spc="-23" dirty="0">
                <a:latin typeface="Times New Roman"/>
                <a:cs typeface="Times New Roman"/>
              </a:rPr>
              <a:t>w</a:t>
            </a:r>
            <a:r>
              <a:rPr sz="2479" b="1" dirty="0">
                <a:latin typeface="Times New Roman"/>
                <a:cs typeface="Times New Roman"/>
              </a:rPr>
              <a:t>	</a:t>
            </a:r>
            <a:r>
              <a:rPr sz="2479" spc="314" dirty="0">
                <a:latin typeface="Cambria"/>
                <a:cs typeface="Cambria"/>
              </a:rPr>
              <a:t>−</a:t>
            </a:r>
            <a:r>
              <a:rPr sz="2479" spc="2" dirty="0">
                <a:latin typeface="Cambria"/>
                <a:cs typeface="Cambria"/>
              </a:rPr>
              <a:t> </a:t>
            </a:r>
            <a:r>
              <a:rPr sz="2479" i="1" spc="-11" dirty="0">
                <a:latin typeface="Times New Roman"/>
                <a:cs typeface="Times New Roman"/>
              </a:rPr>
              <a:t>αG</a:t>
            </a:r>
            <a:endParaRPr sz="2479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21498" y="1962555"/>
            <a:ext cx="276111" cy="275849"/>
          </a:xfrm>
          <a:prstGeom prst="rect">
            <a:avLst/>
          </a:prstGeom>
        </p:spPr>
        <p:txBody>
          <a:bodyPr vert="horz" wrap="square" lIns="0" tIns="6354" rIns="0" bIns="0" rtlCol="0">
            <a:spAutoFit/>
          </a:bodyPr>
          <a:lstStyle/>
          <a:p>
            <a:pPr marL="5776">
              <a:spcBef>
                <a:spcPts val="50"/>
              </a:spcBef>
            </a:pPr>
            <a:r>
              <a:rPr sz="1751" spc="50" dirty="0">
                <a:latin typeface="Cambria"/>
                <a:cs typeface="Cambria"/>
              </a:rPr>
              <a:t>−1</a:t>
            </a:r>
            <a:endParaRPr sz="1751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94107" y="2157457"/>
            <a:ext cx="73649" cy="275849"/>
          </a:xfrm>
          <a:prstGeom prst="rect">
            <a:avLst/>
          </a:prstGeom>
        </p:spPr>
        <p:txBody>
          <a:bodyPr vert="horz" wrap="square" lIns="0" tIns="6354" rIns="0" bIns="0" rtlCol="0">
            <a:spAutoFit/>
          </a:bodyPr>
          <a:lstStyle/>
          <a:p>
            <a:pPr marL="5776">
              <a:spcBef>
                <a:spcPts val="50"/>
              </a:spcBef>
            </a:pPr>
            <a:r>
              <a:rPr sz="1751" i="1" spc="-23" dirty="0">
                <a:latin typeface="Times New Roman"/>
                <a:cs typeface="Times New Roman"/>
              </a:rPr>
              <a:t>t</a:t>
            </a:r>
            <a:endParaRPr sz="1751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93296" y="2157457"/>
            <a:ext cx="73649" cy="275849"/>
          </a:xfrm>
          <a:prstGeom prst="rect">
            <a:avLst/>
          </a:prstGeom>
        </p:spPr>
        <p:txBody>
          <a:bodyPr vert="horz" wrap="square" lIns="0" tIns="6354" rIns="0" bIns="0" rtlCol="0">
            <a:spAutoFit/>
          </a:bodyPr>
          <a:lstStyle/>
          <a:p>
            <a:pPr marL="5776">
              <a:spcBef>
                <a:spcPts val="50"/>
              </a:spcBef>
            </a:pPr>
            <a:r>
              <a:rPr sz="1751" i="1" spc="-23" dirty="0">
                <a:latin typeface="Times New Roman"/>
                <a:cs typeface="Times New Roman"/>
              </a:rPr>
              <a:t>t</a:t>
            </a:r>
            <a:endParaRPr sz="1751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20911" y="1987704"/>
            <a:ext cx="850860" cy="386764"/>
          </a:xfrm>
          <a:prstGeom prst="rect">
            <a:avLst/>
          </a:prstGeom>
        </p:spPr>
        <p:txBody>
          <a:bodyPr vert="horz" wrap="square" lIns="0" tIns="5199" rIns="0" bIns="0" rtlCol="0">
            <a:spAutoFit/>
          </a:bodyPr>
          <a:lstStyle/>
          <a:p>
            <a:pPr marL="5776">
              <a:spcBef>
                <a:spcPts val="41"/>
              </a:spcBef>
            </a:pPr>
            <a:r>
              <a:rPr sz="2479" spc="91" dirty="0">
                <a:latin typeface="Cambria"/>
                <a:cs typeface="Cambria"/>
              </a:rPr>
              <a:t>∇</a:t>
            </a:r>
            <a:r>
              <a:rPr sz="2479" i="1" spc="91" dirty="0">
                <a:latin typeface="Times New Roman"/>
                <a:cs typeface="Times New Roman"/>
              </a:rPr>
              <a:t>f</a:t>
            </a:r>
            <a:r>
              <a:rPr sz="2479" spc="91" dirty="0">
                <a:latin typeface="Cambria"/>
                <a:cs typeface="Cambria"/>
              </a:rPr>
              <a:t>(</a:t>
            </a:r>
            <a:r>
              <a:rPr sz="2479" b="1" spc="91" dirty="0">
                <a:latin typeface="Times New Roman"/>
                <a:cs typeface="Times New Roman"/>
              </a:rPr>
              <a:t>w</a:t>
            </a:r>
            <a:r>
              <a:rPr sz="2479" b="1" spc="-127" dirty="0">
                <a:latin typeface="Times New Roman"/>
                <a:cs typeface="Times New Roman"/>
              </a:rPr>
              <a:t> </a:t>
            </a:r>
            <a:r>
              <a:rPr sz="2479" spc="-146" dirty="0">
                <a:latin typeface="Cambria"/>
                <a:cs typeface="Cambria"/>
              </a:rPr>
              <a:t>)</a:t>
            </a:r>
            <a:endParaRPr sz="2479">
              <a:latin typeface="Cambria"/>
              <a:cs typeface="Cambr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169039" y="2590850"/>
            <a:ext cx="1929598" cy="571861"/>
          </a:xfrm>
          <a:custGeom>
            <a:avLst/>
            <a:gdLst/>
            <a:ahLst/>
            <a:cxnLst/>
            <a:rect l="l" t="t" r="r" b="b"/>
            <a:pathLst>
              <a:path w="4242434" h="1257300">
                <a:moveTo>
                  <a:pt x="153580" y="699664"/>
                </a:moveTo>
                <a:lnTo>
                  <a:pt x="54448" y="699664"/>
                </a:lnTo>
                <a:lnTo>
                  <a:pt x="68890" y="702493"/>
                </a:lnTo>
                <a:lnTo>
                  <a:pt x="80141" y="711064"/>
                </a:lnTo>
                <a:lnTo>
                  <a:pt x="89095" y="725506"/>
                </a:lnTo>
                <a:lnTo>
                  <a:pt x="96646" y="745945"/>
                </a:lnTo>
                <a:lnTo>
                  <a:pt x="253866" y="1257082"/>
                </a:lnTo>
                <a:lnTo>
                  <a:pt x="282452" y="1257082"/>
                </a:lnTo>
                <a:lnTo>
                  <a:pt x="324077" y="1120280"/>
                </a:lnTo>
                <a:lnTo>
                  <a:pt x="283132" y="1120280"/>
                </a:lnTo>
                <a:lnTo>
                  <a:pt x="153580" y="699664"/>
                </a:lnTo>
                <a:close/>
              </a:path>
              <a:path w="4242434" h="1257300">
                <a:moveTo>
                  <a:pt x="626158" y="0"/>
                </a:moveTo>
                <a:lnTo>
                  <a:pt x="285855" y="1120280"/>
                </a:lnTo>
                <a:lnTo>
                  <a:pt x="324077" y="1120280"/>
                </a:lnTo>
                <a:lnTo>
                  <a:pt x="651285" y="44920"/>
                </a:lnTo>
                <a:lnTo>
                  <a:pt x="626158" y="44920"/>
                </a:lnTo>
                <a:lnTo>
                  <a:pt x="626158" y="0"/>
                </a:lnTo>
                <a:close/>
              </a:path>
              <a:path w="4242434" h="1257300">
                <a:moveTo>
                  <a:pt x="128634" y="618672"/>
                </a:moveTo>
                <a:lnTo>
                  <a:pt x="111619" y="618672"/>
                </a:lnTo>
                <a:lnTo>
                  <a:pt x="0" y="704428"/>
                </a:lnTo>
                <a:lnTo>
                  <a:pt x="8167" y="718040"/>
                </a:lnTo>
                <a:lnTo>
                  <a:pt x="20471" y="709714"/>
                </a:lnTo>
                <a:lnTo>
                  <a:pt x="32584" y="704003"/>
                </a:lnTo>
                <a:lnTo>
                  <a:pt x="44058" y="700717"/>
                </a:lnTo>
                <a:lnTo>
                  <a:pt x="54448" y="699664"/>
                </a:lnTo>
                <a:lnTo>
                  <a:pt x="153580" y="699664"/>
                </a:lnTo>
                <a:lnTo>
                  <a:pt x="128634" y="618672"/>
                </a:lnTo>
                <a:close/>
              </a:path>
              <a:path w="4242434" h="1257300">
                <a:moveTo>
                  <a:pt x="664953" y="0"/>
                </a:moveTo>
                <a:lnTo>
                  <a:pt x="626158" y="0"/>
                </a:lnTo>
                <a:lnTo>
                  <a:pt x="626158" y="44920"/>
                </a:lnTo>
                <a:lnTo>
                  <a:pt x="651285" y="44920"/>
                </a:lnTo>
                <a:lnTo>
                  <a:pt x="664953" y="0"/>
                </a:lnTo>
                <a:close/>
              </a:path>
              <a:path w="4242434" h="1257300">
                <a:moveTo>
                  <a:pt x="4241848" y="0"/>
                </a:moveTo>
                <a:lnTo>
                  <a:pt x="664953" y="0"/>
                </a:lnTo>
                <a:lnTo>
                  <a:pt x="651285" y="44920"/>
                </a:lnTo>
                <a:lnTo>
                  <a:pt x="4241848" y="44920"/>
                </a:lnTo>
                <a:lnTo>
                  <a:pt x="42418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819"/>
          </a:p>
        </p:txBody>
      </p:sp>
      <p:sp>
        <p:nvSpPr>
          <p:cNvPr id="17" name="object 17"/>
          <p:cNvSpPr txBox="1"/>
          <p:nvPr/>
        </p:nvSpPr>
        <p:spPr>
          <a:xfrm>
            <a:off x="2076221" y="2616330"/>
            <a:ext cx="1730024" cy="380878"/>
          </a:xfrm>
          <a:prstGeom prst="rect">
            <a:avLst/>
          </a:prstGeom>
        </p:spPr>
        <p:txBody>
          <a:bodyPr vert="horz" wrap="square" lIns="0" tIns="6354" rIns="0" bIns="0" rtlCol="0">
            <a:spAutoFit/>
          </a:bodyPr>
          <a:lstStyle/>
          <a:p>
            <a:pPr marL="23104">
              <a:spcBef>
                <a:spcPts val="50"/>
              </a:spcBef>
              <a:tabLst>
                <a:tab pos="794483" algn="l"/>
                <a:tab pos="1429261" algn="l"/>
              </a:tabLst>
            </a:pPr>
            <a:r>
              <a:rPr sz="3650" spc="-7" baseline="-10903" dirty="0">
                <a:latin typeface="Sitka Small"/>
                <a:cs typeface="Sitka Small"/>
              </a:rPr>
              <a:t>(</a:t>
            </a:r>
            <a:r>
              <a:rPr sz="2433" i="1" spc="-5" dirty="0">
                <a:latin typeface="Times New Roman"/>
                <a:cs typeface="Times New Roman"/>
              </a:rPr>
              <a:t>G</a:t>
            </a:r>
            <a:r>
              <a:rPr sz="2592" i="1" spc="-7" baseline="-19736" dirty="0">
                <a:latin typeface="Times New Roman"/>
                <a:cs typeface="Times New Roman"/>
              </a:rPr>
              <a:t>t</a:t>
            </a:r>
            <a:r>
              <a:rPr sz="3650" spc="-7" baseline="-10903" dirty="0">
                <a:latin typeface="Sitka Small"/>
                <a:cs typeface="Sitka Small"/>
              </a:rPr>
              <a:t>)</a:t>
            </a:r>
            <a:r>
              <a:rPr sz="2592" i="1" spc="-7" baseline="-40935" dirty="0">
                <a:latin typeface="Times New Roman"/>
                <a:cs typeface="Times New Roman"/>
              </a:rPr>
              <a:t>ii</a:t>
            </a:r>
            <a:r>
              <a:rPr sz="2592" i="1" baseline="-40935" dirty="0">
                <a:latin typeface="Times New Roman"/>
                <a:cs typeface="Times New Roman"/>
              </a:rPr>
              <a:t>	</a:t>
            </a:r>
            <a:r>
              <a:rPr sz="2433" spc="287" dirty="0">
                <a:latin typeface="Cambria"/>
                <a:cs typeface="Cambria"/>
              </a:rPr>
              <a:t>=</a:t>
            </a:r>
            <a:r>
              <a:rPr sz="2433" dirty="0">
                <a:latin typeface="Cambria"/>
                <a:cs typeface="Cambria"/>
              </a:rPr>
              <a:t>	</a:t>
            </a:r>
            <a:r>
              <a:rPr sz="2433" spc="475" dirty="0">
                <a:latin typeface="Cambria"/>
                <a:cs typeface="Cambria"/>
              </a:rPr>
              <a:t>∑</a:t>
            </a:r>
            <a:endParaRPr sz="2433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83041" y="2546524"/>
            <a:ext cx="72782" cy="272031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5776">
              <a:spcBef>
                <a:spcPts val="48"/>
              </a:spcBef>
            </a:pPr>
            <a:r>
              <a:rPr sz="1728" i="1" spc="-23" dirty="0">
                <a:latin typeface="Times New Roman"/>
                <a:cs typeface="Times New Roman"/>
              </a:rPr>
              <a:t>t</a:t>
            </a:r>
            <a:endParaRPr sz="1728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83040" y="2835423"/>
            <a:ext cx="333297" cy="272031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5776">
              <a:spcBef>
                <a:spcPts val="48"/>
              </a:spcBef>
            </a:pPr>
            <a:r>
              <a:rPr sz="1728" i="1" spc="32" dirty="0">
                <a:latin typeface="Times New Roman"/>
                <a:cs typeface="Times New Roman"/>
              </a:rPr>
              <a:t>j</a:t>
            </a:r>
            <a:r>
              <a:rPr sz="1728" spc="32" dirty="0">
                <a:latin typeface="Cambria"/>
                <a:cs typeface="Cambria"/>
              </a:rPr>
              <a:t>=1</a:t>
            </a:r>
            <a:endParaRPr sz="1728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56187" y="2616330"/>
            <a:ext cx="838152" cy="380814"/>
          </a:xfrm>
          <a:prstGeom prst="rect">
            <a:avLst/>
          </a:prstGeom>
        </p:spPr>
        <p:txBody>
          <a:bodyPr vert="horz" wrap="square" lIns="0" tIns="6354" rIns="0" bIns="0" rtlCol="0">
            <a:spAutoFit/>
          </a:bodyPr>
          <a:lstStyle/>
          <a:p>
            <a:pPr marL="5776">
              <a:spcBef>
                <a:spcPts val="50"/>
              </a:spcBef>
            </a:pPr>
            <a:r>
              <a:rPr sz="2433" spc="93" dirty="0">
                <a:latin typeface="Cambria"/>
                <a:cs typeface="Cambria"/>
              </a:rPr>
              <a:t>∇</a:t>
            </a:r>
            <a:r>
              <a:rPr sz="2433" i="1" spc="93" dirty="0">
                <a:latin typeface="Times New Roman"/>
                <a:cs typeface="Times New Roman"/>
              </a:rPr>
              <a:t>f</a:t>
            </a:r>
            <a:r>
              <a:rPr sz="2433" spc="93" dirty="0">
                <a:latin typeface="Cambria"/>
                <a:cs typeface="Cambria"/>
              </a:rPr>
              <a:t>(</a:t>
            </a:r>
            <a:r>
              <a:rPr sz="2433" b="1" spc="93" dirty="0">
                <a:latin typeface="Times New Roman"/>
                <a:cs typeface="Times New Roman"/>
              </a:rPr>
              <a:t>w</a:t>
            </a:r>
            <a:r>
              <a:rPr sz="2433" b="1" spc="-121" dirty="0">
                <a:latin typeface="Times New Roman"/>
                <a:cs typeface="Times New Roman"/>
              </a:rPr>
              <a:t> </a:t>
            </a:r>
            <a:r>
              <a:rPr sz="2433" spc="-143" dirty="0">
                <a:latin typeface="Cambria"/>
                <a:cs typeface="Cambria"/>
              </a:rPr>
              <a:t>)</a:t>
            </a:r>
            <a:endParaRPr sz="2433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82699" y="2591565"/>
            <a:ext cx="121593" cy="272031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5776">
              <a:spcBef>
                <a:spcPts val="48"/>
              </a:spcBef>
            </a:pPr>
            <a:r>
              <a:rPr sz="1728" spc="-66" dirty="0">
                <a:latin typeface="Cambria"/>
                <a:cs typeface="Cambria"/>
              </a:rPr>
              <a:t>2</a:t>
            </a:r>
            <a:endParaRPr sz="1728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18513" y="2783494"/>
            <a:ext cx="237120" cy="272031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5776">
              <a:spcBef>
                <a:spcPts val="48"/>
              </a:spcBef>
              <a:tabLst>
                <a:tab pos="169813" algn="l"/>
              </a:tabLst>
            </a:pPr>
            <a:r>
              <a:rPr sz="1728" i="1" spc="-23" dirty="0">
                <a:latin typeface="Times New Roman"/>
                <a:cs typeface="Times New Roman"/>
              </a:rPr>
              <a:t>j</a:t>
            </a:r>
            <a:r>
              <a:rPr sz="1728" i="1" dirty="0">
                <a:latin typeface="Times New Roman"/>
                <a:cs typeface="Times New Roman"/>
              </a:rPr>
              <a:t>	</a:t>
            </a:r>
            <a:r>
              <a:rPr sz="1728" i="1" spc="-23" dirty="0">
                <a:latin typeface="Times New Roman"/>
                <a:cs typeface="Times New Roman"/>
              </a:rPr>
              <a:t>i</a:t>
            </a:r>
            <a:endParaRPr sz="1728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62698" y="2616330"/>
            <a:ext cx="1069496" cy="380814"/>
          </a:xfrm>
          <a:prstGeom prst="rect">
            <a:avLst/>
          </a:prstGeom>
        </p:spPr>
        <p:txBody>
          <a:bodyPr vert="horz" wrap="square" lIns="0" tIns="6354" rIns="0" bIns="0" rtlCol="0">
            <a:spAutoFit/>
          </a:bodyPr>
          <a:lstStyle/>
          <a:p>
            <a:pPr marL="5776">
              <a:spcBef>
                <a:spcPts val="50"/>
              </a:spcBef>
              <a:tabLst>
                <a:tab pos="908559" algn="l"/>
              </a:tabLst>
            </a:pPr>
            <a:r>
              <a:rPr sz="2433" spc="82" dirty="0">
                <a:latin typeface="Cambria"/>
                <a:cs typeface="Cambria"/>
              </a:rPr>
              <a:t>,</a:t>
            </a:r>
            <a:r>
              <a:rPr sz="2433" dirty="0">
                <a:latin typeface="Cambria"/>
                <a:cs typeface="Cambria"/>
              </a:rPr>
              <a:t>	</a:t>
            </a:r>
            <a:r>
              <a:rPr sz="2433" spc="-159" dirty="0">
                <a:latin typeface="Cambria"/>
                <a:cs typeface="Cambria"/>
              </a:rPr>
              <a:t>0</a:t>
            </a:r>
            <a:endParaRPr sz="2433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75576" y="2693018"/>
            <a:ext cx="573016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>
              <a:spcBef>
                <a:spcPts val="55"/>
              </a:spcBef>
            </a:pPr>
            <a:r>
              <a:rPr sz="1865" b="1" i="1" spc="-123" dirty="0">
                <a:latin typeface="Gill Sans MT"/>
                <a:cs typeface="Gill Sans MT"/>
              </a:rPr>
              <a:t>where</a:t>
            </a:r>
            <a:endParaRPr sz="1865">
              <a:latin typeface="Gill Sans MT"/>
              <a:cs typeface="Gill Sans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74401" y="3475412"/>
            <a:ext cx="8259060" cy="2421659"/>
          </a:xfrm>
          <a:prstGeom prst="rect">
            <a:avLst/>
          </a:prstGeom>
        </p:spPr>
        <p:txBody>
          <a:bodyPr vert="horz" wrap="square" lIns="0" tIns="45056" rIns="0" bIns="0" rtlCol="0">
            <a:spAutoFit/>
          </a:bodyPr>
          <a:lstStyle/>
          <a:p>
            <a:pPr marL="193495" indent="-187719">
              <a:spcBef>
                <a:spcPts val="355"/>
              </a:spcBef>
              <a:buChar char="•"/>
              <a:tabLst>
                <a:tab pos="193495" algn="l"/>
              </a:tabLst>
            </a:pPr>
            <a:r>
              <a:rPr sz="1865" spc="-25" dirty="0">
                <a:latin typeface="Trebuchet MS"/>
                <a:cs typeface="Trebuchet MS"/>
              </a:rPr>
              <a:t>A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07" dirty="0">
                <a:latin typeface="Trebuchet MS"/>
                <a:cs typeface="Trebuchet MS"/>
              </a:rPr>
              <a:t>cheap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18" dirty="0">
                <a:latin typeface="Trebuchet MS"/>
                <a:cs typeface="Trebuchet MS"/>
              </a:rPr>
              <a:t>approximation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86" dirty="0">
                <a:latin typeface="Trebuchet MS"/>
                <a:cs typeface="Trebuchet MS"/>
              </a:rPr>
              <a:t>of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52" dirty="0">
                <a:latin typeface="Trebuchet MS"/>
                <a:cs typeface="Trebuchet MS"/>
              </a:rPr>
              <a:t>the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75" dirty="0">
                <a:latin typeface="Trebuchet MS"/>
                <a:cs typeface="Trebuchet MS"/>
              </a:rPr>
              <a:t>Hessian: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14" dirty="0">
                <a:latin typeface="Trebuchet MS"/>
                <a:cs typeface="Trebuchet MS"/>
              </a:rPr>
              <a:t>only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16" dirty="0">
                <a:latin typeface="Trebuchet MS"/>
                <a:cs typeface="Trebuchet MS"/>
              </a:rPr>
              <a:t>estimate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52" dirty="0">
                <a:latin typeface="Trebuchet MS"/>
                <a:cs typeface="Trebuchet MS"/>
              </a:rPr>
              <a:t>the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93" dirty="0">
                <a:latin typeface="Trebuchet MS"/>
                <a:cs typeface="Trebuchet MS"/>
              </a:rPr>
              <a:t>diagonal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27" dirty="0">
                <a:latin typeface="Trebuchet MS"/>
                <a:cs typeface="Trebuchet MS"/>
              </a:rPr>
              <a:t>elements</a:t>
            </a:r>
            <a:endParaRPr sz="1865">
              <a:latin typeface="Trebuchet MS"/>
              <a:cs typeface="Trebuchet MS"/>
            </a:endParaRPr>
          </a:p>
          <a:p>
            <a:pPr marL="193495" indent="-187719">
              <a:spcBef>
                <a:spcPts val="312"/>
              </a:spcBef>
              <a:buChar char="•"/>
              <a:tabLst>
                <a:tab pos="193495" algn="l"/>
              </a:tabLst>
            </a:pPr>
            <a:r>
              <a:rPr sz="1865" spc="-82" dirty="0">
                <a:latin typeface="Trebuchet MS"/>
                <a:cs typeface="Trebuchet MS"/>
              </a:rPr>
              <a:t>Enforces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91" dirty="0">
                <a:latin typeface="Trebuchet MS"/>
                <a:cs typeface="Trebuchet MS"/>
              </a:rPr>
              <a:t>a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11" dirty="0">
                <a:solidFill>
                  <a:srgbClr val="FF644E"/>
                </a:solidFill>
                <a:latin typeface="Trebuchet MS"/>
                <a:cs typeface="Trebuchet MS"/>
              </a:rPr>
              <a:t>separate</a:t>
            </a:r>
            <a:r>
              <a:rPr sz="1865" spc="-125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865" spc="-93" dirty="0">
                <a:solidFill>
                  <a:srgbClr val="FF644E"/>
                </a:solidFill>
                <a:latin typeface="Trebuchet MS"/>
                <a:cs typeface="Trebuchet MS"/>
              </a:rPr>
              <a:t>step</a:t>
            </a:r>
            <a:r>
              <a:rPr sz="1865" spc="-125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865" spc="-61" dirty="0">
                <a:solidFill>
                  <a:srgbClr val="FF644E"/>
                </a:solidFill>
                <a:latin typeface="Trebuchet MS"/>
                <a:cs typeface="Trebuchet MS"/>
              </a:rPr>
              <a:t>size</a:t>
            </a:r>
            <a:r>
              <a:rPr sz="1865" spc="-125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865" spc="-284" dirty="0">
                <a:solidFill>
                  <a:srgbClr val="FF644E"/>
                </a:solidFill>
                <a:latin typeface="Trebuchet MS"/>
                <a:cs typeface="Trebuchet MS"/>
              </a:rPr>
              <a:t>/</a:t>
            </a:r>
            <a:r>
              <a:rPr sz="1865" spc="-125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865" spc="-109" dirty="0">
                <a:solidFill>
                  <a:srgbClr val="FF644E"/>
                </a:solidFill>
                <a:latin typeface="Trebuchet MS"/>
                <a:cs typeface="Trebuchet MS"/>
              </a:rPr>
              <a:t>learning</a:t>
            </a:r>
            <a:r>
              <a:rPr sz="1865" spc="-125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865" spc="-155" dirty="0">
                <a:solidFill>
                  <a:srgbClr val="FF644E"/>
                </a:solidFill>
                <a:latin typeface="Trebuchet MS"/>
                <a:cs typeface="Trebuchet MS"/>
              </a:rPr>
              <a:t>rate</a:t>
            </a:r>
            <a:r>
              <a:rPr sz="1865" spc="-123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865" spc="-109" dirty="0">
                <a:latin typeface="Trebuchet MS"/>
                <a:cs typeface="Trebuchet MS"/>
              </a:rPr>
              <a:t>for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46" dirty="0">
                <a:latin typeface="Trebuchet MS"/>
                <a:cs typeface="Trebuchet MS"/>
              </a:rPr>
              <a:t>every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14" dirty="0">
                <a:latin typeface="Trebuchet MS"/>
                <a:cs typeface="Trebuchet MS"/>
              </a:rPr>
              <a:t>coordinate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86" dirty="0">
                <a:latin typeface="Trebuchet MS"/>
                <a:cs typeface="Trebuchet MS"/>
              </a:rPr>
              <a:t>of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52" dirty="0">
                <a:latin typeface="Trebuchet MS"/>
                <a:cs typeface="Trebuchet MS"/>
              </a:rPr>
              <a:t>the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30" dirty="0">
                <a:latin typeface="Trebuchet MS"/>
                <a:cs typeface="Trebuchet MS"/>
              </a:rPr>
              <a:t>weight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34" dirty="0">
                <a:latin typeface="Trebuchet MS"/>
                <a:cs typeface="Trebuchet MS"/>
              </a:rPr>
              <a:t>vector</a:t>
            </a:r>
            <a:endParaRPr sz="1865">
              <a:latin typeface="Trebuchet MS"/>
              <a:cs typeface="Trebuchet MS"/>
            </a:endParaRPr>
          </a:p>
          <a:p>
            <a:pPr marL="479405" lvl="1" indent="-188007">
              <a:spcBef>
                <a:spcPts val="314"/>
              </a:spcBef>
              <a:buChar char="•"/>
              <a:tabLst>
                <a:tab pos="479405" algn="l"/>
              </a:tabLst>
            </a:pPr>
            <a:r>
              <a:rPr sz="1865" spc="-73" dirty="0">
                <a:latin typeface="Trebuchet MS"/>
                <a:cs typeface="Trebuchet MS"/>
              </a:rPr>
              <a:t>Decreases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52" dirty="0">
                <a:latin typeface="Trebuchet MS"/>
                <a:cs typeface="Trebuchet MS"/>
              </a:rPr>
              <a:t>the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93" dirty="0">
                <a:latin typeface="Trebuchet MS"/>
                <a:cs typeface="Trebuchet MS"/>
              </a:rPr>
              <a:t>step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61" dirty="0">
                <a:latin typeface="Trebuchet MS"/>
                <a:cs typeface="Trebuchet MS"/>
              </a:rPr>
              <a:t>size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09" dirty="0">
                <a:latin typeface="Trebuchet MS"/>
                <a:cs typeface="Trebuchet MS"/>
              </a:rPr>
              <a:t>for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96" dirty="0">
                <a:latin typeface="Trebuchet MS"/>
                <a:cs typeface="Trebuchet MS"/>
              </a:rPr>
              <a:t>coordinates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50" dirty="0">
                <a:latin typeface="Trebuchet MS"/>
                <a:cs typeface="Trebuchet MS"/>
              </a:rPr>
              <a:t>with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96" dirty="0">
                <a:latin typeface="Trebuchet MS"/>
                <a:cs typeface="Trebuchet MS"/>
              </a:rPr>
              <a:t>high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23" dirty="0">
                <a:latin typeface="Trebuchet MS"/>
                <a:cs typeface="Trebuchet MS"/>
              </a:rPr>
              <a:t>gradient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27" dirty="0">
                <a:latin typeface="Trebuchet MS"/>
                <a:cs typeface="Trebuchet MS"/>
              </a:rPr>
              <a:t>magnitudes</a:t>
            </a:r>
            <a:endParaRPr sz="1865">
              <a:latin typeface="Trebuchet MS"/>
              <a:cs typeface="Trebuchet MS"/>
            </a:endParaRPr>
          </a:p>
          <a:p>
            <a:pPr marL="193495" indent="-187719">
              <a:spcBef>
                <a:spcPts val="312"/>
              </a:spcBef>
              <a:buChar char="•"/>
              <a:tabLst>
                <a:tab pos="193495" algn="l"/>
              </a:tabLst>
            </a:pPr>
            <a:r>
              <a:rPr sz="1865" spc="-146" dirty="0">
                <a:latin typeface="Trebuchet MS"/>
                <a:cs typeface="Trebuchet MS"/>
              </a:rPr>
              <a:t>Why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59" dirty="0">
                <a:latin typeface="Trebuchet MS"/>
                <a:cs typeface="Trebuchet MS"/>
              </a:rPr>
              <a:t>does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84" dirty="0">
                <a:latin typeface="Trebuchet MS"/>
                <a:cs typeface="Trebuchet MS"/>
              </a:rPr>
              <a:t>this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25" dirty="0">
                <a:latin typeface="Trebuchet MS"/>
                <a:cs typeface="Trebuchet MS"/>
              </a:rPr>
              <a:t>make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45" dirty="0">
                <a:latin typeface="Trebuchet MS"/>
                <a:cs typeface="Trebuchet MS"/>
              </a:rPr>
              <a:t>sense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41" dirty="0">
                <a:latin typeface="Trebuchet MS"/>
                <a:cs typeface="Trebuchet MS"/>
              </a:rPr>
              <a:t>when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52" dirty="0">
                <a:latin typeface="Trebuchet MS"/>
                <a:cs typeface="Trebuchet MS"/>
              </a:rPr>
              <a:t>the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21" dirty="0">
                <a:latin typeface="Trebuchet MS"/>
                <a:cs typeface="Trebuchet MS"/>
              </a:rPr>
              <a:t>model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9" dirty="0">
                <a:latin typeface="Trebuchet MS"/>
                <a:cs typeface="Trebuchet MS"/>
              </a:rPr>
              <a:t>is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5" dirty="0">
                <a:latin typeface="Trebuchet MS"/>
                <a:cs typeface="Trebuchet MS"/>
              </a:rPr>
              <a:t>large?</a:t>
            </a:r>
            <a:endParaRPr sz="1865">
              <a:latin typeface="Trebuchet MS"/>
              <a:cs typeface="Trebuchet MS"/>
            </a:endParaRPr>
          </a:p>
          <a:p>
            <a:pPr marL="479405" lvl="1" indent="-188007">
              <a:spcBef>
                <a:spcPts val="312"/>
              </a:spcBef>
              <a:buChar char="•"/>
              <a:tabLst>
                <a:tab pos="479405" algn="l"/>
              </a:tabLst>
            </a:pPr>
            <a:r>
              <a:rPr sz="1865" spc="-139" dirty="0">
                <a:latin typeface="Trebuchet MS"/>
                <a:cs typeface="Trebuchet MS"/>
              </a:rPr>
              <a:t>There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132" dirty="0">
                <a:latin typeface="Trebuchet MS"/>
                <a:cs typeface="Trebuchet MS"/>
              </a:rPr>
              <a:t>may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134" dirty="0">
                <a:latin typeface="Trebuchet MS"/>
                <a:cs typeface="Trebuchet MS"/>
              </a:rPr>
              <a:t>be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96" dirty="0">
                <a:latin typeface="Trebuchet MS"/>
                <a:cs typeface="Trebuchet MS"/>
              </a:rPr>
              <a:t>high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125" dirty="0">
                <a:latin typeface="Trebuchet MS"/>
                <a:cs typeface="Trebuchet MS"/>
              </a:rPr>
              <a:t>variability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36" dirty="0">
                <a:latin typeface="Trebuchet MS"/>
                <a:cs typeface="Trebuchet MS"/>
              </a:rPr>
              <a:t>across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152" dirty="0">
                <a:latin typeface="Trebuchet MS"/>
                <a:cs typeface="Trebuchet MS"/>
              </a:rPr>
              <a:t>the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39" dirty="0">
                <a:latin typeface="Trebuchet MS"/>
                <a:cs typeface="Trebuchet MS"/>
              </a:rPr>
              <a:t>coordinates</a:t>
            </a:r>
            <a:endParaRPr sz="1865">
              <a:latin typeface="Trebuchet MS"/>
              <a:cs typeface="Trebuchet MS"/>
            </a:endParaRPr>
          </a:p>
          <a:p>
            <a:pPr marL="193495" indent="-187719">
              <a:spcBef>
                <a:spcPts val="314"/>
              </a:spcBef>
              <a:buClr>
                <a:srgbClr val="000000"/>
              </a:buClr>
              <a:buChar char="•"/>
              <a:tabLst>
                <a:tab pos="193495" algn="l"/>
              </a:tabLst>
            </a:pPr>
            <a:r>
              <a:rPr sz="1865" spc="-116" dirty="0">
                <a:solidFill>
                  <a:srgbClr val="FF644E"/>
                </a:solidFill>
                <a:latin typeface="Trebuchet MS"/>
                <a:cs typeface="Trebuchet MS"/>
              </a:rPr>
              <a:t>Potential</a:t>
            </a:r>
            <a:r>
              <a:rPr sz="1865" spc="-127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865" spc="-73" dirty="0">
                <a:solidFill>
                  <a:srgbClr val="FF644E"/>
                </a:solidFill>
                <a:latin typeface="Trebuchet MS"/>
                <a:cs typeface="Trebuchet MS"/>
              </a:rPr>
              <a:t>issue</a:t>
            </a:r>
            <a:r>
              <a:rPr sz="1865" spc="-73" dirty="0">
                <a:latin typeface="Trebuchet MS"/>
                <a:cs typeface="Trebuchet MS"/>
              </a:rPr>
              <a:t>: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93" dirty="0">
                <a:latin typeface="Trebuchet MS"/>
                <a:cs typeface="Trebuchet MS"/>
              </a:rPr>
              <a:t>step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61" dirty="0">
                <a:latin typeface="Trebuchet MS"/>
                <a:cs typeface="Trebuchet MS"/>
              </a:rPr>
              <a:t>size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86" dirty="0">
                <a:latin typeface="Trebuchet MS"/>
                <a:cs typeface="Trebuchet MS"/>
              </a:rPr>
              <a:t>can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16" dirty="0">
                <a:latin typeface="Trebuchet MS"/>
                <a:cs typeface="Trebuchet MS"/>
              </a:rPr>
              <a:t>become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43" dirty="0">
                <a:latin typeface="Trebuchet MS"/>
                <a:cs typeface="Trebuchet MS"/>
              </a:rPr>
              <a:t>very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80" dirty="0">
                <a:latin typeface="Trebuchet MS"/>
                <a:cs typeface="Trebuchet MS"/>
              </a:rPr>
              <a:t>small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09" dirty="0">
                <a:latin typeface="Trebuchet MS"/>
                <a:cs typeface="Trebuchet MS"/>
              </a:rPr>
              <a:t>in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66" dirty="0">
                <a:latin typeface="Trebuchet MS"/>
                <a:cs typeface="Trebuchet MS"/>
              </a:rPr>
              <a:t>some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36" dirty="0">
                <a:latin typeface="Trebuchet MS"/>
                <a:cs typeface="Trebuchet MS"/>
              </a:rPr>
              <a:t>directions</a:t>
            </a:r>
            <a:endParaRPr sz="1865">
              <a:latin typeface="Trebuchet MS"/>
              <a:cs typeface="Trebuchet MS"/>
            </a:endParaRPr>
          </a:p>
          <a:p>
            <a:pPr marR="2310" algn="r">
              <a:spcBef>
                <a:spcPts val="1794"/>
              </a:spcBef>
            </a:pPr>
            <a:r>
              <a:rPr sz="1501" spc="-84" dirty="0">
                <a:solidFill>
                  <a:srgbClr val="A7A7A7"/>
                </a:solidFill>
                <a:latin typeface="Trebuchet MS"/>
                <a:cs typeface="Trebuchet MS"/>
              </a:rPr>
              <a:t>Duchi</a:t>
            </a:r>
            <a:r>
              <a:rPr sz="1501" spc="-102" dirty="0">
                <a:solidFill>
                  <a:srgbClr val="A7A7A7"/>
                </a:solidFill>
                <a:latin typeface="Trebuchet MS"/>
                <a:cs typeface="Trebuchet MS"/>
              </a:rPr>
              <a:t> </a:t>
            </a:r>
            <a:r>
              <a:rPr sz="1501" spc="-141" dirty="0">
                <a:solidFill>
                  <a:srgbClr val="A7A7A7"/>
                </a:solidFill>
                <a:latin typeface="Trebuchet MS"/>
                <a:cs typeface="Trebuchet MS"/>
              </a:rPr>
              <a:t>et</a:t>
            </a:r>
            <a:r>
              <a:rPr sz="1501" spc="-102" dirty="0">
                <a:solidFill>
                  <a:srgbClr val="A7A7A7"/>
                </a:solidFill>
                <a:latin typeface="Trebuchet MS"/>
                <a:cs typeface="Trebuchet MS"/>
              </a:rPr>
              <a:t> </a:t>
            </a:r>
            <a:r>
              <a:rPr sz="1501" spc="-152" dirty="0">
                <a:solidFill>
                  <a:srgbClr val="A7A7A7"/>
                </a:solidFill>
                <a:latin typeface="Trebuchet MS"/>
                <a:cs typeface="Trebuchet MS"/>
              </a:rPr>
              <a:t>al,</a:t>
            </a:r>
            <a:r>
              <a:rPr sz="1501" spc="-100" dirty="0">
                <a:solidFill>
                  <a:srgbClr val="A7A7A7"/>
                </a:solidFill>
                <a:latin typeface="Trebuchet MS"/>
                <a:cs typeface="Trebuchet MS"/>
              </a:rPr>
              <a:t> </a:t>
            </a:r>
            <a:r>
              <a:rPr sz="1501" spc="-9" dirty="0">
                <a:solidFill>
                  <a:srgbClr val="A7A7A7"/>
                </a:solidFill>
                <a:latin typeface="Trebuchet MS"/>
                <a:cs typeface="Trebuchet MS"/>
              </a:rPr>
              <a:t>2011</a:t>
            </a:r>
            <a:endParaRPr sz="1501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2236" y="1187452"/>
            <a:ext cx="1431963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150" dirty="0"/>
              <a:t>RMSProp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44918" y="1881007"/>
            <a:ext cx="6415819" cy="1784033"/>
            <a:chOff x="1637785" y="2251240"/>
            <a:chExt cx="14105890" cy="39223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7785" y="2251240"/>
              <a:ext cx="14105392" cy="392231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679669" y="2272182"/>
              <a:ext cx="14022069" cy="3838575"/>
            </a:xfrm>
            <a:custGeom>
              <a:avLst/>
              <a:gdLst/>
              <a:ahLst/>
              <a:cxnLst/>
              <a:rect l="l" t="t" r="r" b="b"/>
              <a:pathLst>
                <a:path w="14022069" h="3838575">
                  <a:moveTo>
                    <a:pt x="13924253" y="0"/>
                  </a:moveTo>
                  <a:lnTo>
                    <a:pt x="97375" y="0"/>
                  </a:lnTo>
                  <a:lnTo>
                    <a:pt x="59472" y="7652"/>
                  </a:lnTo>
                  <a:lnTo>
                    <a:pt x="28520" y="28520"/>
                  </a:lnTo>
                  <a:lnTo>
                    <a:pt x="7652" y="59472"/>
                  </a:lnTo>
                  <a:lnTo>
                    <a:pt x="0" y="97376"/>
                  </a:lnTo>
                  <a:lnTo>
                    <a:pt x="0" y="3741176"/>
                  </a:lnTo>
                  <a:lnTo>
                    <a:pt x="7652" y="3779079"/>
                  </a:lnTo>
                  <a:lnTo>
                    <a:pt x="28520" y="3810031"/>
                  </a:lnTo>
                  <a:lnTo>
                    <a:pt x="59472" y="3830899"/>
                  </a:lnTo>
                  <a:lnTo>
                    <a:pt x="97375" y="3838552"/>
                  </a:lnTo>
                  <a:lnTo>
                    <a:pt x="13924253" y="3838552"/>
                  </a:lnTo>
                  <a:lnTo>
                    <a:pt x="13962156" y="3830899"/>
                  </a:lnTo>
                  <a:lnTo>
                    <a:pt x="13993110" y="3810031"/>
                  </a:lnTo>
                  <a:lnTo>
                    <a:pt x="14013979" y="3779079"/>
                  </a:lnTo>
                  <a:lnTo>
                    <a:pt x="14021632" y="3741176"/>
                  </a:lnTo>
                  <a:lnTo>
                    <a:pt x="14021632" y="97376"/>
                  </a:lnTo>
                  <a:lnTo>
                    <a:pt x="14013979" y="59472"/>
                  </a:lnTo>
                  <a:lnTo>
                    <a:pt x="13993110" y="28520"/>
                  </a:lnTo>
                  <a:lnTo>
                    <a:pt x="13962156" y="7652"/>
                  </a:lnTo>
                  <a:lnTo>
                    <a:pt x="13924253" y="0"/>
                  </a:lnTo>
                  <a:close/>
                </a:path>
              </a:pathLst>
            </a:custGeom>
            <a:solidFill>
              <a:srgbClr val="A8D6FF"/>
            </a:solidFill>
          </p:spPr>
          <p:txBody>
            <a:bodyPr wrap="square" lIns="0" tIns="0" rIns="0" bIns="0" rtlCol="0"/>
            <a:lstStyle/>
            <a:p>
              <a:endParaRPr sz="819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96176" y="2023457"/>
            <a:ext cx="964654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>
              <a:spcBef>
                <a:spcPts val="55"/>
              </a:spcBef>
            </a:pPr>
            <a:r>
              <a:rPr sz="1865" b="1" spc="-86" dirty="0">
                <a:latin typeface="Trebuchet MS"/>
                <a:cs typeface="Trebuchet MS"/>
              </a:rPr>
              <a:t>RMSProp:</a:t>
            </a:r>
            <a:endParaRPr sz="1865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27708" y="1961080"/>
            <a:ext cx="1999781" cy="386764"/>
          </a:xfrm>
          <a:prstGeom prst="rect">
            <a:avLst/>
          </a:prstGeom>
        </p:spPr>
        <p:txBody>
          <a:bodyPr vert="horz" wrap="square" lIns="0" tIns="5199" rIns="0" bIns="0" rtlCol="0">
            <a:spAutoFit/>
          </a:bodyPr>
          <a:lstStyle/>
          <a:p>
            <a:pPr marL="5776">
              <a:spcBef>
                <a:spcPts val="41"/>
              </a:spcBef>
              <a:tabLst>
                <a:tab pos="646330" algn="l"/>
                <a:tab pos="1307966" algn="l"/>
              </a:tabLst>
            </a:pPr>
            <a:r>
              <a:rPr sz="2479" b="1" spc="-23" dirty="0">
                <a:latin typeface="Times New Roman"/>
                <a:cs typeface="Times New Roman"/>
              </a:rPr>
              <a:t>w</a:t>
            </a:r>
            <a:r>
              <a:rPr sz="2479" b="1" dirty="0">
                <a:latin typeface="Times New Roman"/>
                <a:cs typeface="Times New Roman"/>
              </a:rPr>
              <a:t>	</a:t>
            </a:r>
            <a:r>
              <a:rPr sz="2479" spc="314" dirty="0">
                <a:latin typeface="Cambria"/>
                <a:cs typeface="Cambria"/>
              </a:rPr>
              <a:t>=</a:t>
            </a:r>
            <a:r>
              <a:rPr sz="2479" spc="141" dirty="0">
                <a:latin typeface="Cambria"/>
                <a:cs typeface="Cambria"/>
              </a:rPr>
              <a:t> </a:t>
            </a:r>
            <a:r>
              <a:rPr sz="2479" b="1" spc="-23" dirty="0">
                <a:latin typeface="Times New Roman"/>
                <a:cs typeface="Times New Roman"/>
              </a:rPr>
              <a:t>w</a:t>
            </a:r>
            <a:r>
              <a:rPr sz="2479" b="1" dirty="0">
                <a:latin typeface="Times New Roman"/>
                <a:cs typeface="Times New Roman"/>
              </a:rPr>
              <a:t>	</a:t>
            </a:r>
            <a:r>
              <a:rPr sz="2479" spc="314" dirty="0">
                <a:latin typeface="Cambria"/>
                <a:cs typeface="Cambria"/>
              </a:rPr>
              <a:t>−</a:t>
            </a:r>
            <a:r>
              <a:rPr sz="2479" spc="2" dirty="0">
                <a:latin typeface="Cambria"/>
                <a:cs typeface="Cambria"/>
              </a:rPr>
              <a:t> </a:t>
            </a:r>
            <a:r>
              <a:rPr sz="2479" i="1" spc="-11" dirty="0">
                <a:latin typeface="Times New Roman"/>
                <a:cs typeface="Times New Roman"/>
              </a:rPr>
              <a:t>αG</a:t>
            </a:r>
            <a:endParaRPr sz="2479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32082" y="1935932"/>
            <a:ext cx="276111" cy="275849"/>
          </a:xfrm>
          <a:prstGeom prst="rect">
            <a:avLst/>
          </a:prstGeom>
        </p:spPr>
        <p:txBody>
          <a:bodyPr vert="horz" wrap="square" lIns="0" tIns="6354" rIns="0" bIns="0" rtlCol="0">
            <a:spAutoFit/>
          </a:bodyPr>
          <a:lstStyle/>
          <a:p>
            <a:pPr marL="5776">
              <a:spcBef>
                <a:spcPts val="50"/>
              </a:spcBef>
            </a:pPr>
            <a:r>
              <a:rPr sz="1751" spc="50" dirty="0">
                <a:latin typeface="Cambria"/>
                <a:cs typeface="Cambria"/>
              </a:rPr>
              <a:t>−1</a:t>
            </a:r>
            <a:endParaRPr sz="1751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54674" y="2130833"/>
            <a:ext cx="1823890" cy="275849"/>
          </a:xfrm>
          <a:prstGeom prst="rect">
            <a:avLst/>
          </a:prstGeom>
        </p:spPr>
        <p:txBody>
          <a:bodyPr vert="horz" wrap="square" lIns="0" tIns="6354" rIns="0" bIns="0" rtlCol="0">
            <a:spAutoFit/>
          </a:bodyPr>
          <a:lstStyle/>
          <a:p>
            <a:pPr marL="5776">
              <a:spcBef>
                <a:spcPts val="50"/>
              </a:spcBef>
              <a:tabLst>
                <a:tab pos="948990" algn="l"/>
                <a:tab pos="1755603" algn="l"/>
              </a:tabLst>
            </a:pPr>
            <a:r>
              <a:rPr sz="1751" i="1" spc="27" dirty="0">
                <a:latin typeface="Times New Roman"/>
                <a:cs typeface="Times New Roman"/>
              </a:rPr>
              <a:t>t</a:t>
            </a:r>
            <a:r>
              <a:rPr sz="1751" spc="27" dirty="0">
                <a:latin typeface="Cambria"/>
                <a:cs typeface="Cambria"/>
              </a:rPr>
              <a:t>+1</a:t>
            </a:r>
            <a:r>
              <a:rPr sz="1751" dirty="0">
                <a:latin typeface="Cambria"/>
                <a:cs typeface="Cambria"/>
              </a:rPr>
              <a:t>	</a:t>
            </a:r>
            <a:r>
              <a:rPr sz="1751" i="1" spc="-23" dirty="0">
                <a:latin typeface="Times New Roman"/>
                <a:cs typeface="Times New Roman"/>
              </a:rPr>
              <a:t>t</a:t>
            </a:r>
            <a:r>
              <a:rPr sz="1751" i="1" dirty="0">
                <a:latin typeface="Times New Roman"/>
                <a:cs typeface="Times New Roman"/>
              </a:rPr>
              <a:t>	</a:t>
            </a:r>
            <a:r>
              <a:rPr sz="1751" i="1" spc="-23" dirty="0">
                <a:latin typeface="Times New Roman"/>
                <a:cs typeface="Times New Roman"/>
              </a:rPr>
              <a:t>t</a:t>
            </a:r>
            <a:endParaRPr sz="1751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03879" y="2130833"/>
            <a:ext cx="73649" cy="275849"/>
          </a:xfrm>
          <a:prstGeom prst="rect">
            <a:avLst/>
          </a:prstGeom>
        </p:spPr>
        <p:txBody>
          <a:bodyPr vert="horz" wrap="square" lIns="0" tIns="6354" rIns="0" bIns="0" rtlCol="0">
            <a:spAutoFit/>
          </a:bodyPr>
          <a:lstStyle/>
          <a:p>
            <a:pPr marL="5776">
              <a:spcBef>
                <a:spcPts val="50"/>
              </a:spcBef>
            </a:pPr>
            <a:r>
              <a:rPr sz="1751" i="1" spc="-23" dirty="0">
                <a:latin typeface="Times New Roman"/>
                <a:cs typeface="Times New Roman"/>
              </a:rPr>
              <a:t>t</a:t>
            </a:r>
            <a:endParaRPr sz="1751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31494" y="1961080"/>
            <a:ext cx="850860" cy="386764"/>
          </a:xfrm>
          <a:prstGeom prst="rect">
            <a:avLst/>
          </a:prstGeom>
        </p:spPr>
        <p:txBody>
          <a:bodyPr vert="horz" wrap="square" lIns="0" tIns="5199" rIns="0" bIns="0" rtlCol="0">
            <a:spAutoFit/>
          </a:bodyPr>
          <a:lstStyle/>
          <a:p>
            <a:pPr marL="5776">
              <a:spcBef>
                <a:spcPts val="41"/>
              </a:spcBef>
            </a:pPr>
            <a:r>
              <a:rPr sz="2479" spc="91" dirty="0">
                <a:latin typeface="Cambria"/>
                <a:cs typeface="Cambria"/>
              </a:rPr>
              <a:t>∇</a:t>
            </a:r>
            <a:r>
              <a:rPr sz="2479" i="1" spc="91" dirty="0">
                <a:latin typeface="Times New Roman"/>
                <a:cs typeface="Times New Roman"/>
              </a:rPr>
              <a:t>f</a:t>
            </a:r>
            <a:r>
              <a:rPr sz="2479" spc="91" dirty="0">
                <a:latin typeface="Cambria"/>
                <a:cs typeface="Cambria"/>
              </a:rPr>
              <a:t>(</a:t>
            </a:r>
            <a:r>
              <a:rPr sz="2479" b="1" spc="91" dirty="0">
                <a:latin typeface="Times New Roman"/>
                <a:cs typeface="Times New Roman"/>
              </a:rPr>
              <a:t>w</a:t>
            </a:r>
            <a:r>
              <a:rPr sz="2479" b="1" spc="-127" dirty="0">
                <a:latin typeface="Times New Roman"/>
                <a:cs typeface="Times New Roman"/>
              </a:rPr>
              <a:t> </a:t>
            </a:r>
            <a:r>
              <a:rPr sz="2479" spc="-146" dirty="0">
                <a:latin typeface="Cambria"/>
                <a:cs typeface="Cambria"/>
              </a:rPr>
              <a:t>)</a:t>
            </a:r>
            <a:endParaRPr sz="2479">
              <a:latin typeface="Cambria"/>
              <a:cs typeface="Cambr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194096" y="2615303"/>
            <a:ext cx="735910" cy="381530"/>
          </a:xfrm>
          <a:custGeom>
            <a:avLst/>
            <a:gdLst/>
            <a:ahLst/>
            <a:cxnLst/>
            <a:rect l="l" t="t" r="r" b="b"/>
            <a:pathLst>
              <a:path w="1617979" h="838835">
                <a:moveTo>
                  <a:pt x="148403" y="437710"/>
                </a:moveTo>
                <a:lnTo>
                  <a:pt x="52416" y="437710"/>
                </a:lnTo>
                <a:lnTo>
                  <a:pt x="64562" y="439677"/>
                </a:lnTo>
                <a:lnTo>
                  <a:pt x="75560" y="446304"/>
                </a:lnTo>
                <a:lnTo>
                  <a:pt x="85537" y="458674"/>
                </a:lnTo>
                <a:lnTo>
                  <a:pt x="94621" y="477873"/>
                </a:lnTo>
                <a:lnTo>
                  <a:pt x="232129" y="838660"/>
                </a:lnTo>
                <a:lnTo>
                  <a:pt x="253912" y="838660"/>
                </a:lnTo>
                <a:lnTo>
                  <a:pt x="297755" y="725659"/>
                </a:lnTo>
                <a:lnTo>
                  <a:pt x="257996" y="725659"/>
                </a:lnTo>
                <a:lnTo>
                  <a:pt x="148403" y="437710"/>
                </a:lnTo>
                <a:close/>
              </a:path>
              <a:path w="1617979" h="838835">
                <a:moveTo>
                  <a:pt x="542542" y="0"/>
                </a:moveTo>
                <a:lnTo>
                  <a:pt x="260719" y="725659"/>
                </a:lnTo>
                <a:lnTo>
                  <a:pt x="297755" y="725659"/>
                </a:lnTo>
                <a:lnTo>
                  <a:pt x="561870" y="44927"/>
                </a:lnTo>
                <a:lnTo>
                  <a:pt x="542542" y="44927"/>
                </a:lnTo>
                <a:lnTo>
                  <a:pt x="542542" y="0"/>
                </a:lnTo>
                <a:close/>
              </a:path>
              <a:path w="1617979" h="838835">
                <a:moveTo>
                  <a:pt x="119127" y="360786"/>
                </a:moveTo>
                <a:lnTo>
                  <a:pt x="106193" y="360786"/>
                </a:lnTo>
                <a:lnTo>
                  <a:pt x="0" y="445197"/>
                </a:lnTo>
                <a:lnTo>
                  <a:pt x="8085" y="458674"/>
                </a:lnTo>
                <a:lnTo>
                  <a:pt x="8168" y="458812"/>
                </a:lnTo>
                <a:lnTo>
                  <a:pt x="19772" y="449771"/>
                </a:lnTo>
                <a:lnTo>
                  <a:pt x="31568" y="443155"/>
                </a:lnTo>
                <a:lnTo>
                  <a:pt x="42726" y="439092"/>
                </a:lnTo>
                <a:lnTo>
                  <a:pt x="52416" y="437710"/>
                </a:lnTo>
                <a:lnTo>
                  <a:pt x="148403" y="437710"/>
                </a:lnTo>
                <a:lnTo>
                  <a:pt x="119127" y="360786"/>
                </a:lnTo>
                <a:close/>
              </a:path>
              <a:path w="1617979" h="838835">
                <a:moveTo>
                  <a:pt x="579301" y="0"/>
                </a:moveTo>
                <a:lnTo>
                  <a:pt x="542542" y="0"/>
                </a:lnTo>
                <a:lnTo>
                  <a:pt x="542542" y="44927"/>
                </a:lnTo>
                <a:lnTo>
                  <a:pt x="561870" y="44927"/>
                </a:lnTo>
                <a:lnTo>
                  <a:pt x="579301" y="0"/>
                </a:lnTo>
                <a:close/>
              </a:path>
              <a:path w="1617979" h="838835">
                <a:moveTo>
                  <a:pt x="1617841" y="0"/>
                </a:moveTo>
                <a:lnTo>
                  <a:pt x="579301" y="0"/>
                </a:lnTo>
                <a:lnTo>
                  <a:pt x="561870" y="44927"/>
                </a:lnTo>
                <a:lnTo>
                  <a:pt x="1617841" y="44927"/>
                </a:lnTo>
                <a:lnTo>
                  <a:pt x="16178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819"/>
          </a:p>
        </p:txBody>
      </p:sp>
      <p:sp>
        <p:nvSpPr>
          <p:cNvPr id="13" name="object 13"/>
          <p:cNvSpPr txBox="1"/>
          <p:nvPr/>
        </p:nvSpPr>
        <p:spPr>
          <a:xfrm>
            <a:off x="2095309" y="2557927"/>
            <a:ext cx="3080251" cy="380878"/>
          </a:xfrm>
          <a:prstGeom prst="rect">
            <a:avLst/>
          </a:prstGeom>
        </p:spPr>
        <p:txBody>
          <a:bodyPr vert="horz" wrap="square" lIns="0" tIns="6354" rIns="0" bIns="0" rtlCol="0">
            <a:spAutoFit/>
          </a:bodyPr>
          <a:lstStyle/>
          <a:p>
            <a:pPr marL="28880">
              <a:spcBef>
                <a:spcPts val="50"/>
              </a:spcBef>
              <a:tabLst>
                <a:tab pos="800548" algn="l"/>
                <a:tab pos="1361971" algn="l"/>
                <a:tab pos="2004547" algn="l"/>
                <a:tab pos="2907618" algn="l"/>
              </a:tabLst>
            </a:pPr>
            <a:r>
              <a:rPr sz="3650" spc="-7" baseline="-10903" dirty="0">
                <a:latin typeface="Sitka Small"/>
                <a:cs typeface="Sitka Small"/>
              </a:rPr>
              <a:t>(</a:t>
            </a:r>
            <a:r>
              <a:rPr sz="2433" i="1" spc="-5" dirty="0">
                <a:latin typeface="Times New Roman"/>
                <a:cs typeface="Times New Roman"/>
              </a:rPr>
              <a:t>G</a:t>
            </a:r>
            <a:r>
              <a:rPr sz="2592" i="1" spc="-7" baseline="-19736" dirty="0">
                <a:latin typeface="Times New Roman"/>
                <a:cs typeface="Times New Roman"/>
              </a:rPr>
              <a:t>t</a:t>
            </a:r>
            <a:r>
              <a:rPr sz="3650" spc="-7" baseline="-10903" dirty="0">
                <a:latin typeface="Sitka Small"/>
                <a:cs typeface="Sitka Small"/>
              </a:rPr>
              <a:t>)</a:t>
            </a:r>
            <a:r>
              <a:rPr sz="2592" i="1" spc="-7" baseline="-40935" dirty="0">
                <a:latin typeface="Times New Roman"/>
                <a:cs typeface="Times New Roman"/>
              </a:rPr>
              <a:t>ii</a:t>
            </a:r>
            <a:r>
              <a:rPr sz="2592" i="1" baseline="-40935" dirty="0">
                <a:latin typeface="Times New Roman"/>
                <a:cs typeface="Times New Roman"/>
              </a:rPr>
              <a:t>	</a:t>
            </a:r>
            <a:r>
              <a:rPr sz="2433" spc="287" dirty="0">
                <a:latin typeface="Cambria"/>
                <a:cs typeface="Cambria"/>
              </a:rPr>
              <a:t>=</a:t>
            </a:r>
            <a:r>
              <a:rPr sz="2433" dirty="0">
                <a:latin typeface="Cambria"/>
                <a:cs typeface="Cambria"/>
              </a:rPr>
              <a:t>	</a:t>
            </a:r>
            <a:r>
              <a:rPr sz="2433" spc="-5" dirty="0">
                <a:latin typeface="Cambria"/>
                <a:cs typeface="Cambria"/>
              </a:rPr>
              <a:t>(</a:t>
            </a:r>
            <a:r>
              <a:rPr sz="2433" i="1" spc="-5" dirty="0">
                <a:latin typeface="Times New Roman"/>
                <a:cs typeface="Times New Roman"/>
              </a:rPr>
              <a:t>g</a:t>
            </a:r>
            <a:r>
              <a:rPr sz="2592" i="1" spc="-7" baseline="-19736" dirty="0">
                <a:latin typeface="Times New Roman"/>
                <a:cs typeface="Times New Roman"/>
              </a:rPr>
              <a:t>t</a:t>
            </a:r>
            <a:r>
              <a:rPr sz="2433" spc="-5" dirty="0">
                <a:latin typeface="Cambria"/>
                <a:cs typeface="Cambria"/>
              </a:rPr>
              <a:t>)</a:t>
            </a:r>
            <a:r>
              <a:rPr sz="2592" i="1" spc="-7" baseline="-19736" dirty="0">
                <a:latin typeface="Times New Roman"/>
                <a:cs typeface="Times New Roman"/>
              </a:rPr>
              <a:t>i</a:t>
            </a:r>
            <a:r>
              <a:rPr sz="2592" i="1" baseline="-19736" dirty="0">
                <a:latin typeface="Times New Roman"/>
                <a:cs typeface="Times New Roman"/>
              </a:rPr>
              <a:t>	</a:t>
            </a:r>
            <a:r>
              <a:rPr sz="2433" spc="82" dirty="0">
                <a:latin typeface="Cambria"/>
                <a:cs typeface="Cambria"/>
              </a:rPr>
              <a:t>,</a:t>
            </a:r>
            <a:r>
              <a:rPr sz="2433" dirty="0">
                <a:latin typeface="Cambria"/>
                <a:cs typeface="Cambria"/>
              </a:rPr>
              <a:t>	</a:t>
            </a:r>
            <a:r>
              <a:rPr sz="2433" spc="-159" dirty="0">
                <a:latin typeface="Cambria"/>
                <a:cs typeface="Cambria"/>
              </a:rPr>
              <a:t>0</a:t>
            </a:r>
            <a:endParaRPr sz="2433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86159" y="2666394"/>
            <a:ext cx="573016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>
              <a:spcBef>
                <a:spcPts val="55"/>
              </a:spcBef>
            </a:pPr>
            <a:r>
              <a:rPr sz="1865" b="1" i="1" spc="-123" dirty="0">
                <a:latin typeface="Gill Sans MT"/>
                <a:cs typeface="Gill Sans MT"/>
              </a:rPr>
              <a:t>where</a:t>
            </a:r>
            <a:endParaRPr sz="1865">
              <a:latin typeface="Gill Sans MT"/>
              <a:cs typeface="Gill Sans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80739" y="2589015"/>
            <a:ext cx="400591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>
              <a:spcBef>
                <a:spcPts val="55"/>
              </a:spcBef>
            </a:pPr>
            <a:r>
              <a:rPr sz="1865" b="1" i="1" spc="-9" dirty="0">
                <a:latin typeface="Gill Sans MT"/>
                <a:cs typeface="Gill Sans MT"/>
              </a:rPr>
              <a:t>else</a:t>
            </a:r>
            <a:endParaRPr sz="1865">
              <a:latin typeface="Gill Sans MT"/>
              <a:cs typeface="Gill Sans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46552" y="3274015"/>
            <a:ext cx="72782" cy="272031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5776">
              <a:spcBef>
                <a:spcPts val="48"/>
              </a:spcBef>
            </a:pPr>
            <a:r>
              <a:rPr sz="1728" i="1" spc="-23" dirty="0">
                <a:latin typeface="Times New Roman"/>
                <a:cs typeface="Times New Roman"/>
              </a:rPr>
              <a:t>i</a:t>
            </a:r>
            <a:endParaRPr sz="1728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40217" y="3022714"/>
            <a:ext cx="4319284" cy="380878"/>
          </a:xfrm>
          <a:prstGeom prst="rect">
            <a:avLst/>
          </a:prstGeom>
        </p:spPr>
        <p:txBody>
          <a:bodyPr vert="horz" wrap="square" lIns="0" tIns="6354" rIns="0" bIns="0" rtlCol="0">
            <a:spAutoFit/>
          </a:bodyPr>
          <a:lstStyle/>
          <a:p>
            <a:pPr marL="17328">
              <a:spcBef>
                <a:spcPts val="50"/>
              </a:spcBef>
              <a:tabLst>
                <a:tab pos="659037" algn="l"/>
              </a:tabLst>
            </a:pPr>
            <a:r>
              <a:rPr sz="3650" spc="-14" baseline="-10903" dirty="0">
                <a:latin typeface="Sitka Small"/>
                <a:cs typeface="Sitka Small"/>
              </a:rPr>
              <a:t>(</a:t>
            </a:r>
            <a:r>
              <a:rPr sz="2433" i="1" spc="-9" dirty="0">
                <a:latin typeface="Times New Roman"/>
                <a:cs typeface="Times New Roman"/>
              </a:rPr>
              <a:t>g</a:t>
            </a:r>
            <a:r>
              <a:rPr sz="2592" i="1" spc="-14" baseline="-19736" dirty="0">
                <a:latin typeface="Times New Roman"/>
                <a:cs typeface="Times New Roman"/>
              </a:rPr>
              <a:t>t</a:t>
            </a:r>
            <a:r>
              <a:rPr sz="3650" spc="-14" baseline="-10903" dirty="0">
                <a:latin typeface="Sitka Small"/>
                <a:cs typeface="Sitka Small"/>
              </a:rPr>
              <a:t>)</a:t>
            </a:r>
            <a:r>
              <a:rPr sz="3650" baseline="-10903" dirty="0">
                <a:latin typeface="Sitka Small"/>
                <a:cs typeface="Sitka Small"/>
              </a:rPr>
              <a:t>	</a:t>
            </a:r>
            <a:r>
              <a:rPr sz="2433" spc="309" dirty="0">
                <a:latin typeface="Cambria"/>
                <a:cs typeface="Cambria"/>
              </a:rPr>
              <a:t>=</a:t>
            </a:r>
            <a:r>
              <a:rPr sz="2433" spc="68" dirty="0">
                <a:latin typeface="Cambria"/>
                <a:cs typeface="Cambria"/>
              </a:rPr>
              <a:t> </a:t>
            </a:r>
            <a:r>
              <a:rPr sz="2433" i="1" dirty="0">
                <a:latin typeface="Times New Roman"/>
                <a:cs typeface="Times New Roman"/>
              </a:rPr>
              <a:t>β</a:t>
            </a:r>
            <a:r>
              <a:rPr sz="2433" dirty="0">
                <a:latin typeface="Cambria"/>
                <a:cs typeface="Cambria"/>
              </a:rPr>
              <a:t>(</a:t>
            </a:r>
            <a:r>
              <a:rPr sz="2433" i="1" dirty="0">
                <a:latin typeface="Times New Roman"/>
                <a:cs typeface="Times New Roman"/>
              </a:rPr>
              <a:t>g</a:t>
            </a:r>
            <a:r>
              <a:rPr sz="2592" i="1" baseline="-19736" dirty="0">
                <a:latin typeface="Times New Roman"/>
                <a:cs typeface="Times New Roman"/>
              </a:rPr>
              <a:t>t</a:t>
            </a:r>
            <a:r>
              <a:rPr sz="2592" baseline="-19736" dirty="0">
                <a:latin typeface="Cambria"/>
                <a:cs typeface="Cambria"/>
              </a:rPr>
              <a:t>−1</a:t>
            </a:r>
            <a:r>
              <a:rPr sz="2433" dirty="0">
                <a:latin typeface="Cambria"/>
                <a:cs typeface="Cambria"/>
              </a:rPr>
              <a:t>)</a:t>
            </a:r>
            <a:r>
              <a:rPr sz="2592" i="1" baseline="-19736" dirty="0">
                <a:latin typeface="Times New Roman"/>
                <a:cs typeface="Times New Roman"/>
              </a:rPr>
              <a:t>i</a:t>
            </a:r>
            <a:r>
              <a:rPr sz="2592" i="1" spc="123" baseline="-19736" dirty="0">
                <a:latin typeface="Times New Roman"/>
                <a:cs typeface="Times New Roman"/>
              </a:rPr>
              <a:t> </a:t>
            </a:r>
            <a:r>
              <a:rPr sz="2433" spc="309" dirty="0">
                <a:latin typeface="Cambria"/>
                <a:cs typeface="Cambria"/>
              </a:rPr>
              <a:t>+</a:t>
            </a:r>
            <a:r>
              <a:rPr sz="2433" spc="-25" dirty="0">
                <a:latin typeface="Cambria"/>
                <a:cs typeface="Cambria"/>
              </a:rPr>
              <a:t> </a:t>
            </a:r>
            <a:r>
              <a:rPr sz="2433" spc="-130" dirty="0">
                <a:latin typeface="Cambria"/>
                <a:cs typeface="Cambria"/>
              </a:rPr>
              <a:t>(1</a:t>
            </a:r>
            <a:r>
              <a:rPr sz="2433" spc="-5" dirty="0">
                <a:latin typeface="Cambria"/>
                <a:cs typeface="Cambria"/>
              </a:rPr>
              <a:t> </a:t>
            </a:r>
            <a:r>
              <a:rPr sz="2433" spc="309" dirty="0">
                <a:latin typeface="Cambria"/>
                <a:cs typeface="Cambria"/>
              </a:rPr>
              <a:t>−</a:t>
            </a:r>
            <a:r>
              <a:rPr sz="2433" spc="-23" dirty="0">
                <a:latin typeface="Cambria"/>
                <a:cs typeface="Cambria"/>
              </a:rPr>
              <a:t> </a:t>
            </a:r>
            <a:r>
              <a:rPr sz="2433" i="1" spc="-80" dirty="0">
                <a:latin typeface="Times New Roman"/>
                <a:cs typeface="Times New Roman"/>
              </a:rPr>
              <a:t>β</a:t>
            </a:r>
            <a:r>
              <a:rPr sz="2433" spc="-80" dirty="0">
                <a:latin typeface="Cambria"/>
                <a:cs typeface="Cambria"/>
              </a:rPr>
              <a:t>)(</a:t>
            </a:r>
            <a:r>
              <a:rPr sz="2433" spc="-266" dirty="0">
                <a:latin typeface="Cambria"/>
                <a:cs typeface="Cambria"/>
              </a:rPr>
              <a:t> </a:t>
            </a:r>
            <a:r>
              <a:rPr sz="2433" spc="-5" dirty="0">
                <a:latin typeface="Cambria"/>
                <a:cs typeface="Cambria"/>
              </a:rPr>
              <a:t>∇</a:t>
            </a:r>
            <a:r>
              <a:rPr sz="2433" i="1" spc="-5" dirty="0">
                <a:latin typeface="Times New Roman"/>
                <a:cs typeface="Times New Roman"/>
              </a:rPr>
              <a:t>f</a:t>
            </a:r>
            <a:r>
              <a:rPr sz="2433" spc="-5" dirty="0">
                <a:latin typeface="Cambria"/>
                <a:cs typeface="Cambria"/>
              </a:rPr>
              <a:t>(</a:t>
            </a:r>
            <a:r>
              <a:rPr sz="2433" b="1" spc="-5" dirty="0">
                <a:latin typeface="Times New Roman"/>
                <a:cs typeface="Times New Roman"/>
              </a:rPr>
              <a:t>w</a:t>
            </a:r>
            <a:r>
              <a:rPr sz="2592" i="1" spc="-7" baseline="-19736" dirty="0">
                <a:latin typeface="Times New Roman"/>
                <a:cs typeface="Times New Roman"/>
              </a:rPr>
              <a:t>t</a:t>
            </a:r>
            <a:r>
              <a:rPr sz="2433" spc="-5" dirty="0">
                <a:latin typeface="Cambria"/>
                <a:cs typeface="Cambria"/>
              </a:rPr>
              <a:t>)</a:t>
            </a:r>
            <a:r>
              <a:rPr sz="2592" i="1" spc="-7" baseline="-19736" dirty="0">
                <a:latin typeface="Times New Roman"/>
                <a:cs typeface="Times New Roman"/>
              </a:rPr>
              <a:t>i</a:t>
            </a:r>
            <a:r>
              <a:rPr sz="2433" spc="-5" dirty="0">
                <a:latin typeface="Cambria"/>
                <a:cs typeface="Cambria"/>
              </a:rPr>
              <a:t>)</a:t>
            </a:r>
            <a:r>
              <a:rPr sz="2592" spc="-7" baseline="29239" dirty="0">
                <a:latin typeface="Cambria"/>
                <a:cs typeface="Cambria"/>
              </a:rPr>
              <a:t>2</a:t>
            </a:r>
            <a:endParaRPr sz="2592" baseline="29239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2237" y="1035612"/>
            <a:ext cx="2894830" cy="213238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76">
              <a:spcBef>
                <a:spcPts val="52"/>
              </a:spcBef>
              <a:tabLst>
                <a:tab pos="338182" algn="l"/>
                <a:tab pos="1676472" algn="l"/>
                <a:tab pos="1995594" algn="l"/>
              </a:tabLst>
            </a:pPr>
            <a:r>
              <a:rPr sz="1342" b="1" spc="39" dirty="0">
                <a:solidFill>
                  <a:srgbClr val="FF644E"/>
                </a:solidFill>
                <a:latin typeface="Trebuchet MS"/>
                <a:cs typeface="Trebuchet MS"/>
              </a:rPr>
              <a:t>AN</a:t>
            </a:r>
            <a:r>
              <a:rPr sz="1342" b="1" dirty="0">
                <a:solidFill>
                  <a:srgbClr val="FF644E"/>
                </a:solidFill>
                <a:latin typeface="Trebuchet MS"/>
                <a:cs typeface="Trebuchet MS"/>
              </a:rPr>
              <a:t>	</a:t>
            </a:r>
            <a:r>
              <a:rPr sz="1342" b="1" spc="-45" dirty="0">
                <a:solidFill>
                  <a:srgbClr val="FF644E"/>
                </a:solidFill>
                <a:latin typeface="Trebuchet MS"/>
                <a:cs typeface="Trebuchet MS"/>
              </a:rPr>
              <a:t>A</a:t>
            </a:r>
            <a:r>
              <a:rPr sz="1342" b="1" spc="-177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-52" dirty="0">
                <a:solidFill>
                  <a:srgbClr val="FF644E"/>
                </a:solidFill>
                <a:latin typeface="Trebuchet MS"/>
                <a:cs typeface="Trebuchet MS"/>
              </a:rPr>
              <a:t>LT</a:t>
            </a:r>
            <a:r>
              <a:rPr sz="1342" b="1" spc="-177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66" dirty="0">
                <a:solidFill>
                  <a:srgbClr val="FF644E"/>
                </a:solidFill>
                <a:latin typeface="Trebuchet MS"/>
                <a:cs typeface="Trebuchet MS"/>
              </a:rPr>
              <a:t>ERN</a:t>
            </a:r>
            <a:r>
              <a:rPr sz="1342" b="1" spc="-166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73" dirty="0">
                <a:solidFill>
                  <a:srgbClr val="FF644E"/>
                </a:solidFill>
                <a:latin typeface="Trebuchet MS"/>
                <a:cs typeface="Trebuchet MS"/>
              </a:rPr>
              <a:t>ATI</a:t>
            </a:r>
            <a:r>
              <a:rPr sz="1342" b="1" spc="-180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20" dirty="0">
                <a:solidFill>
                  <a:srgbClr val="FF644E"/>
                </a:solidFill>
                <a:latin typeface="Trebuchet MS"/>
                <a:cs typeface="Trebuchet MS"/>
              </a:rPr>
              <a:t>VE</a:t>
            </a:r>
            <a:r>
              <a:rPr sz="1342" b="1" dirty="0">
                <a:solidFill>
                  <a:srgbClr val="FF644E"/>
                </a:solidFill>
                <a:latin typeface="Trebuchet MS"/>
                <a:cs typeface="Trebuchet MS"/>
              </a:rPr>
              <a:t>	</a:t>
            </a:r>
            <a:r>
              <a:rPr sz="1342" b="1" spc="-93" dirty="0">
                <a:solidFill>
                  <a:srgbClr val="FF644E"/>
                </a:solidFill>
                <a:latin typeface="Trebuchet MS"/>
                <a:cs typeface="Trebuchet MS"/>
              </a:rPr>
              <a:t>T</a:t>
            </a:r>
            <a:r>
              <a:rPr sz="1342" b="1" spc="-197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-157" dirty="0">
                <a:solidFill>
                  <a:srgbClr val="FF644E"/>
                </a:solidFill>
                <a:latin typeface="Trebuchet MS"/>
                <a:cs typeface="Trebuchet MS"/>
              </a:rPr>
              <a:t>O</a:t>
            </a:r>
            <a:r>
              <a:rPr sz="1342" b="1" dirty="0">
                <a:solidFill>
                  <a:srgbClr val="FF644E"/>
                </a:solidFill>
                <a:latin typeface="Trebuchet MS"/>
                <a:cs typeface="Trebuchet MS"/>
              </a:rPr>
              <a:t>	</a:t>
            </a:r>
            <a:r>
              <a:rPr sz="1342" b="1" spc="34" dirty="0">
                <a:solidFill>
                  <a:srgbClr val="FF644E"/>
                </a:solidFill>
                <a:latin typeface="Trebuchet MS"/>
                <a:cs typeface="Trebuchet MS"/>
              </a:rPr>
              <a:t>AD</a:t>
            </a:r>
            <a:r>
              <a:rPr sz="1342" b="1" spc="-191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-45" dirty="0">
                <a:solidFill>
                  <a:srgbClr val="FF644E"/>
                </a:solidFill>
                <a:latin typeface="Trebuchet MS"/>
                <a:cs typeface="Trebuchet MS"/>
              </a:rPr>
              <a:t>A</a:t>
            </a:r>
            <a:r>
              <a:rPr sz="1342" b="1" spc="-191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73" dirty="0">
                <a:solidFill>
                  <a:srgbClr val="FF644E"/>
                </a:solidFill>
                <a:latin typeface="Trebuchet MS"/>
                <a:cs typeface="Trebuchet MS"/>
              </a:rPr>
              <a:t>GRAD </a:t>
            </a:r>
            <a:endParaRPr sz="1342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4401" y="3863877"/>
            <a:ext cx="8259060" cy="2047967"/>
          </a:xfrm>
          <a:prstGeom prst="rect">
            <a:avLst/>
          </a:prstGeom>
        </p:spPr>
        <p:txBody>
          <a:bodyPr vert="horz" wrap="square" lIns="0" tIns="45056" rIns="0" bIns="0" rtlCol="0">
            <a:spAutoFit/>
          </a:bodyPr>
          <a:lstStyle/>
          <a:p>
            <a:pPr marL="193495" indent="-187719">
              <a:spcBef>
                <a:spcPts val="355"/>
              </a:spcBef>
              <a:buChar char="•"/>
              <a:tabLst>
                <a:tab pos="193495" algn="l"/>
              </a:tabLst>
            </a:pPr>
            <a:r>
              <a:rPr sz="1865" spc="-141" dirty="0">
                <a:latin typeface="Trebuchet MS"/>
                <a:cs typeface="Trebuchet MS"/>
              </a:rPr>
              <a:t>Take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91" dirty="0">
                <a:latin typeface="Trebuchet MS"/>
                <a:cs typeface="Trebuchet MS"/>
              </a:rPr>
              <a:t>a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98" dirty="0">
                <a:solidFill>
                  <a:srgbClr val="FF644E"/>
                </a:solidFill>
                <a:latin typeface="Trebuchet MS"/>
                <a:cs typeface="Trebuchet MS"/>
              </a:rPr>
              <a:t>moving</a:t>
            </a:r>
            <a:r>
              <a:rPr sz="1865" spc="-125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865" spc="-118" dirty="0">
                <a:solidFill>
                  <a:srgbClr val="FF644E"/>
                </a:solidFill>
                <a:latin typeface="Trebuchet MS"/>
                <a:cs typeface="Trebuchet MS"/>
              </a:rPr>
              <a:t>average</a:t>
            </a:r>
            <a:r>
              <a:rPr sz="1865" spc="-125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865" spc="-86" dirty="0">
                <a:latin typeface="Trebuchet MS"/>
                <a:cs typeface="Trebuchet MS"/>
              </a:rPr>
              <a:t>of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52" dirty="0">
                <a:latin typeface="Trebuchet MS"/>
                <a:cs typeface="Trebuchet MS"/>
              </a:rPr>
              <a:t>the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96" dirty="0">
                <a:latin typeface="Trebuchet MS"/>
                <a:cs typeface="Trebuchet MS"/>
              </a:rPr>
              <a:t>coordinates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86" dirty="0">
                <a:latin typeface="Trebuchet MS"/>
                <a:cs typeface="Trebuchet MS"/>
              </a:rPr>
              <a:t>of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52" dirty="0">
                <a:latin typeface="Trebuchet MS"/>
                <a:cs typeface="Trebuchet MS"/>
              </a:rPr>
              <a:t>the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46" dirty="0">
                <a:latin typeface="Trebuchet MS"/>
                <a:cs typeface="Trebuchet MS"/>
              </a:rPr>
              <a:t>gradient,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98" dirty="0">
                <a:latin typeface="Trebuchet MS"/>
                <a:cs typeface="Trebuchet MS"/>
              </a:rPr>
              <a:t>instead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86" dirty="0">
                <a:latin typeface="Trebuchet MS"/>
                <a:cs typeface="Trebuchet MS"/>
              </a:rPr>
              <a:t>of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91" dirty="0">
                <a:latin typeface="Trebuchet MS"/>
                <a:cs typeface="Trebuchet MS"/>
              </a:rPr>
              <a:t>a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1" dirty="0">
                <a:latin typeface="Trebuchet MS"/>
                <a:cs typeface="Trebuchet MS"/>
              </a:rPr>
              <a:t>sum</a:t>
            </a:r>
            <a:endParaRPr sz="1865">
              <a:latin typeface="Trebuchet MS"/>
              <a:cs typeface="Trebuchet MS"/>
            </a:endParaRPr>
          </a:p>
          <a:p>
            <a:pPr marL="193495" marR="1668097" indent="-188007">
              <a:lnSpc>
                <a:spcPts val="2174"/>
              </a:lnSpc>
              <a:spcBef>
                <a:spcPts val="439"/>
              </a:spcBef>
              <a:buChar char="•"/>
              <a:tabLst>
                <a:tab pos="193495" algn="l"/>
              </a:tabLst>
            </a:pPr>
            <a:r>
              <a:rPr sz="1865" spc="-57" dirty="0">
                <a:latin typeface="Trebuchet MS"/>
                <a:cs typeface="Trebuchet MS"/>
              </a:rPr>
              <a:t>Puts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134" dirty="0">
                <a:latin typeface="Trebuchet MS"/>
                <a:cs typeface="Trebuchet MS"/>
              </a:rPr>
              <a:t>more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86" dirty="0">
                <a:latin typeface="Trebuchet MS"/>
                <a:cs typeface="Trebuchet MS"/>
              </a:rPr>
              <a:t>of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00" dirty="0">
                <a:latin typeface="Trebuchet MS"/>
                <a:cs typeface="Trebuchet MS"/>
              </a:rPr>
              <a:t>an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68" dirty="0">
                <a:latin typeface="Trebuchet MS"/>
                <a:cs typeface="Trebuchet MS"/>
              </a:rPr>
              <a:t>emphasis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91" dirty="0">
                <a:latin typeface="Trebuchet MS"/>
                <a:cs typeface="Trebuchet MS"/>
              </a:rPr>
              <a:t>on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52" dirty="0">
                <a:latin typeface="Trebuchet MS"/>
                <a:cs typeface="Trebuchet MS"/>
              </a:rPr>
              <a:t>the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136" dirty="0">
                <a:latin typeface="Trebuchet MS"/>
                <a:cs typeface="Trebuchet MS"/>
              </a:rPr>
              <a:t>current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100" dirty="0">
                <a:latin typeface="Trebuchet MS"/>
                <a:cs typeface="Trebuchet MS"/>
              </a:rPr>
              <a:t>gradients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30" dirty="0">
                <a:latin typeface="Trebuchet MS"/>
                <a:cs typeface="Trebuchet MS"/>
              </a:rPr>
              <a:t>than </a:t>
            </a:r>
            <a:r>
              <a:rPr sz="1865" spc="-152" dirty="0">
                <a:latin typeface="Trebuchet MS"/>
                <a:cs typeface="Trebuchet MS"/>
              </a:rPr>
              <a:t>the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127" dirty="0">
                <a:latin typeface="Trebuchet MS"/>
                <a:cs typeface="Trebuchet MS"/>
              </a:rPr>
              <a:t>gradient </a:t>
            </a:r>
            <a:r>
              <a:rPr sz="1865" spc="-36" dirty="0">
                <a:latin typeface="Trebuchet MS"/>
                <a:cs typeface="Trebuchet MS"/>
              </a:rPr>
              <a:t>history</a:t>
            </a:r>
            <a:endParaRPr sz="1865">
              <a:latin typeface="Trebuchet MS"/>
              <a:cs typeface="Trebuchet MS"/>
            </a:endParaRPr>
          </a:p>
          <a:p>
            <a:pPr marL="193495" indent="-187719">
              <a:spcBef>
                <a:spcPts val="250"/>
              </a:spcBef>
              <a:buChar char="•"/>
              <a:tabLst>
                <a:tab pos="193495" algn="l"/>
              </a:tabLst>
            </a:pPr>
            <a:r>
              <a:rPr sz="1865" spc="-86" dirty="0">
                <a:latin typeface="Trebuchet MS"/>
                <a:cs typeface="Trebuchet MS"/>
              </a:rPr>
              <a:t>Can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134" dirty="0">
                <a:latin typeface="Trebuchet MS"/>
                <a:cs typeface="Trebuchet MS"/>
              </a:rPr>
              <a:t>be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134" dirty="0">
                <a:latin typeface="Trebuchet MS"/>
                <a:cs typeface="Trebuchet MS"/>
              </a:rPr>
              <a:t>more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127" dirty="0">
                <a:latin typeface="Trebuchet MS"/>
                <a:cs typeface="Trebuchet MS"/>
              </a:rPr>
              <a:t>effective </a:t>
            </a:r>
            <a:r>
              <a:rPr sz="1865" spc="-109" dirty="0">
                <a:latin typeface="Trebuchet MS"/>
                <a:cs typeface="Trebuchet MS"/>
              </a:rPr>
              <a:t>for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9" dirty="0">
                <a:latin typeface="Trebuchet MS"/>
                <a:cs typeface="Trebuchet MS"/>
              </a:rPr>
              <a:t>DNNs</a:t>
            </a:r>
            <a:endParaRPr sz="1865">
              <a:latin typeface="Trebuchet MS"/>
              <a:cs typeface="Trebuchet MS"/>
            </a:endParaRPr>
          </a:p>
          <a:p>
            <a:pPr marL="193495" indent="-187719">
              <a:spcBef>
                <a:spcPts val="312"/>
              </a:spcBef>
              <a:buChar char="•"/>
              <a:tabLst>
                <a:tab pos="193495" algn="l"/>
              </a:tabLst>
            </a:pPr>
            <a:r>
              <a:rPr sz="1865" spc="-30" dirty="0">
                <a:latin typeface="Trebuchet MS"/>
                <a:cs typeface="Trebuchet MS"/>
              </a:rPr>
              <a:t>Also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11" dirty="0">
                <a:latin typeface="Trebuchet MS"/>
                <a:cs typeface="Trebuchet MS"/>
              </a:rPr>
              <a:t>see: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48" dirty="0">
                <a:latin typeface="Trebuchet MS"/>
                <a:cs typeface="Trebuchet MS"/>
              </a:rPr>
              <a:t>AdaDelta</a:t>
            </a:r>
            <a:endParaRPr sz="1865">
              <a:latin typeface="Trebuchet MS"/>
              <a:cs typeface="Trebuchet MS"/>
            </a:endParaRPr>
          </a:p>
          <a:p>
            <a:pPr marR="2310" algn="r">
              <a:spcBef>
                <a:spcPts val="1662"/>
              </a:spcBef>
            </a:pPr>
            <a:r>
              <a:rPr sz="1501" spc="-100" dirty="0">
                <a:solidFill>
                  <a:srgbClr val="A7A7A7"/>
                </a:solidFill>
                <a:latin typeface="Trebuchet MS"/>
                <a:cs typeface="Trebuchet MS"/>
              </a:rPr>
              <a:t>Hinton</a:t>
            </a:r>
            <a:r>
              <a:rPr sz="1501" spc="-93" dirty="0">
                <a:solidFill>
                  <a:srgbClr val="A7A7A7"/>
                </a:solidFill>
                <a:latin typeface="Trebuchet MS"/>
                <a:cs typeface="Trebuchet MS"/>
              </a:rPr>
              <a:t> </a:t>
            </a:r>
            <a:r>
              <a:rPr sz="1501" spc="-116" dirty="0">
                <a:solidFill>
                  <a:srgbClr val="A7A7A7"/>
                </a:solidFill>
                <a:latin typeface="Trebuchet MS"/>
                <a:cs typeface="Trebuchet MS"/>
              </a:rPr>
              <a:t>[Coursera],</a:t>
            </a:r>
            <a:r>
              <a:rPr sz="1501" spc="-93" dirty="0">
                <a:solidFill>
                  <a:srgbClr val="A7A7A7"/>
                </a:solidFill>
                <a:latin typeface="Trebuchet MS"/>
                <a:cs typeface="Trebuchet MS"/>
              </a:rPr>
              <a:t> </a:t>
            </a:r>
            <a:r>
              <a:rPr sz="1501" spc="-9" dirty="0">
                <a:solidFill>
                  <a:srgbClr val="A7A7A7"/>
                </a:solidFill>
                <a:latin typeface="Trebuchet MS"/>
                <a:cs typeface="Trebuchet MS"/>
              </a:rPr>
              <a:t>2012</a:t>
            </a:r>
            <a:endParaRPr sz="1501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3896" y="4528364"/>
            <a:ext cx="6272414" cy="116794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22236" y="1187452"/>
            <a:ext cx="1730602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268" dirty="0"/>
              <a:t>Momentum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44918" y="1881007"/>
            <a:ext cx="6415819" cy="966965"/>
            <a:chOff x="1637785" y="2251240"/>
            <a:chExt cx="14105890" cy="212598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37785" y="2251240"/>
              <a:ext cx="14105392" cy="21257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679669" y="2272182"/>
              <a:ext cx="14022069" cy="2042160"/>
            </a:xfrm>
            <a:custGeom>
              <a:avLst/>
              <a:gdLst/>
              <a:ahLst/>
              <a:cxnLst/>
              <a:rect l="l" t="t" r="r" b="b"/>
              <a:pathLst>
                <a:path w="14022069" h="2042160">
                  <a:moveTo>
                    <a:pt x="13924253" y="0"/>
                  </a:moveTo>
                  <a:lnTo>
                    <a:pt x="97375" y="0"/>
                  </a:lnTo>
                  <a:lnTo>
                    <a:pt x="59472" y="7652"/>
                  </a:lnTo>
                  <a:lnTo>
                    <a:pt x="28520" y="28520"/>
                  </a:lnTo>
                  <a:lnTo>
                    <a:pt x="7652" y="59472"/>
                  </a:lnTo>
                  <a:lnTo>
                    <a:pt x="0" y="97376"/>
                  </a:lnTo>
                  <a:lnTo>
                    <a:pt x="0" y="1944582"/>
                  </a:lnTo>
                  <a:lnTo>
                    <a:pt x="7652" y="1982485"/>
                  </a:lnTo>
                  <a:lnTo>
                    <a:pt x="28520" y="2013438"/>
                  </a:lnTo>
                  <a:lnTo>
                    <a:pt x="59472" y="2034306"/>
                  </a:lnTo>
                  <a:lnTo>
                    <a:pt x="97375" y="2041958"/>
                  </a:lnTo>
                  <a:lnTo>
                    <a:pt x="13924253" y="2041958"/>
                  </a:lnTo>
                  <a:lnTo>
                    <a:pt x="13962156" y="2034306"/>
                  </a:lnTo>
                  <a:lnTo>
                    <a:pt x="13993110" y="2013438"/>
                  </a:lnTo>
                  <a:lnTo>
                    <a:pt x="14013979" y="1982485"/>
                  </a:lnTo>
                  <a:lnTo>
                    <a:pt x="14021632" y="1944582"/>
                  </a:lnTo>
                  <a:lnTo>
                    <a:pt x="14021632" y="97376"/>
                  </a:lnTo>
                  <a:lnTo>
                    <a:pt x="14013979" y="59472"/>
                  </a:lnTo>
                  <a:lnTo>
                    <a:pt x="13993110" y="28520"/>
                  </a:lnTo>
                  <a:lnTo>
                    <a:pt x="13962156" y="7652"/>
                  </a:lnTo>
                  <a:lnTo>
                    <a:pt x="13924253" y="0"/>
                  </a:lnTo>
                  <a:close/>
                </a:path>
              </a:pathLst>
            </a:custGeom>
            <a:solidFill>
              <a:srgbClr val="A8D6FF"/>
            </a:solidFill>
          </p:spPr>
          <p:txBody>
            <a:bodyPr wrap="square" lIns="0" tIns="0" rIns="0" bIns="0" rtlCol="0"/>
            <a:lstStyle/>
            <a:p>
              <a:endParaRPr sz="819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96177" y="2047269"/>
            <a:ext cx="1081048" cy="585547"/>
          </a:xfrm>
          <a:prstGeom prst="rect">
            <a:avLst/>
          </a:prstGeom>
        </p:spPr>
        <p:txBody>
          <a:bodyPr vert="horz" wrap="square" lIns="0" tIns="21084" rIns="0" bIns="0" rtlCol="0">
            <a:spAutoFit/>
          </a:bodyPr>
          <a:lstStyle/>
          <a:p>
            <a:pPr marL="5776" marR="2310">
              <a:lnSpc>
                <a:spcPts val="2174"/>
              </a:lnSpc>
              <a:spcBef>
                <a:spcPts val="166"/>
              </a:spcBef>
            </a:pPr>
            <a:r>
              <a:rPr sz="1865" b="1" spc="-121" dirty="0">
                <a:latin typeface="Trebuchet MS"/>
                <a:cs typeface="Trebuchet MS"/>
              </a:rPr>
              <a:t>Polyak </a:t>
            </a:r>
            <a:r>
              <a:rPr sz="1865" b="1" spc="-200" dirty="0">
                <a:latin typeface="Trebuchet MS"/>
                <a:cs typeface="Trebuchet MS"/>
              </a:rPr>
              <a:t>momentum</a:t>
            </a:r>
            <a:endParaRPr sz="1865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16156" y="2078477"/>
            <a:ext cx="4590773" cy="386764"/>
          </a:xfrm>
          <a:prstGeom prst="rect">
            <a:avLst/>
          </a:prstGeom>
        </p:spPr>
        <p:txBody>
          <a:bodyPr vert="horz" wrap="square" lIns="0" tIns="5199" rIns="0" bIns="0" rtlCol="0">
            <a:spAutoFit/>
          </a:bodyPr>
          <a:lstStyle/>
          <a:p>
            <a:pPr marL="17328">
              <a:spcBef>
                <a:spcPts val="41"/>
              </a:spcBef>
              <a:tabLst>
                <a:tab pos="657882" algn="l"/>
              </a:tabLst>
            </a:pPr>
            <a:r>
              <a:rPr sz="2479" b="1" spc="16" dirty="0">
                <a:latin typeface="Times New Roman"/>
                <a:cs typeface="Times New Roman"/>
              </a:rPr>
              <a:t>w</a:t>
            </a:r>
            <a:r>
              <a:rPr sz="2626" i="1" spc="24" baseline="-19480" dirty="0">
                <a:latin typeface="Times New Roman"/>
                <a:cs typeface="Times New Roman"/>
              </a:rPr>
              <a:t>t</a:t>
            </a:r>
            <a:r>
              <a:rPr sz="2626" spc="24" baseline="-19480" dirty="0">
                <a:latin typeface="Cambria"/>
                <a:cs typeface="Cambria"/>
              </a:rPr>
              <a:t>+1</a:t>
            </a:r>
            <a:r>
              <a:rPr sz="2626" baseline="-19480" dirty="0">
                <a:latin typeface="Cambria"/>
                <a:cs typeface="Cambria"/>
              </a:rPr>
              <a:t>	</a:t>
            </a:r>
            <a:r>
              <a:rPr sz="2479" spc="314" dirty="0">
                <a:latin typeface="Cambria"/>
                <a:cs typeface="Cambria"/>
              </a:rPr>
              <a:t>=</a:t>
            </a:r>
            <a:r>
              <a:rPr sz="2479" spc="109" dirty="0">
                <a:latin typeface="Cambria"/>
                <a:cs typeface="Cambria"/>
              </a:rPr>
              <a:t> </a:t>
            </a:r>
            <a:r>
              <a:rPr sz="2479" b="1" dirty="0">
                <a:latin typeface="Times New Roman"/>
                <a:cs typeface="Times New Roman"/>
              </a:rPr>
              <a:t>w</a:t>
            </a:r>
            <a:r>
              <a:rPr sz="2626" i="1" baseline="-19480" dirty="0">
                <a:latin typeface="Times New Roman"/>
                <a:cs typeface="Times New Roman"/>
              </a:rPr>
              <a:t>t</a:t>
            </a:r>
            <a:r>
              <a:rPr sz="2626" i="1" spc="140" baseline="-19480" dirty="0">
                <a:latin typeface="Times New Roman"/>
                <a:cs typeface="Times New Roman"/>
              </a:rPr>
              <a:t> </a:t>
            </a:r>
            <a:r>
              <a:rPr sz="2479" spc="314" dirty="0">
                <a:latin typeface="Cambria"/>
                <a:cs typeface="Cambria"/>
              </a:rPr>
              <a:t>−</a:t>
            </a:r>
            <a:r>
              <a:rPr sz="2479" spc="-16" dirty="0">
                <a:latin typeface="Cambria"/>
                <a:cs typeface="Cambria"/>
              </a:rPr>
              <a:t> </a:t>
            </a:r>
            <a:r>
              <a:rPr sz="2479" i="1" spc="50" dirty="0">
                <a:latin typeface="Times New Roman"/>
                <a:cs typeface="Times New Roman"/>
              </a:rPr>
              <a:t>α</a:t>
            </a:r>
            <a:r>
              <a:rPr sz="2479" i="1" spc="-346" dirty="0">
                <a:latin typeface="Times New Roman"/>
                <a:cs typeface="Times New Roman"/>
              </a:rPr>
              <a:t> </a:t>
            </a:r>
            <a:r>
              <a:rPr sz="2479" spc="39" dirty="0">
                <a:latin typeface="Cambria"/>
                <a:cs typeface="Cambria"/>
              </a:rPr>
              <a:t>∇</a:t>
            </a:r>
            <a:r>
              <a:rPr sz="2479" i="1" spc="39" dirty="0">
                <a:latin typeface="Times New Roman"/>
                <a:cs typeface="Times New Roman"/>
              </a:rPr>
              <a:t>f</a:t>
            </a:r>
            <a:r>
              <a:rPr sz="2479" spc="39" dirty="0">
                <a:latin typeface="Cambria"/>
                <a:cs typeface="Cambria"/>
              </a:rPr>
              <a:t>(</a:t>
            </a:r>
            <a:r>
              <a:rPr sz="2479" b="1" spc="39" dirty="0">
                <a:latin typeface="Times New Roman"/>
                <a:cs typeface="Times New Roman"/>
              </a:rPr>
              <a:t>w</a:t>
            </a:r>
            <a:r>
              <a:rPr sz="2626" i="1" spc="58" baseline="-19480" dirty="0">
                <a:latin typeface="Times New Roman"/>
                <a:cs typeface="Times New Roman"/>
              </a:rPr>
              <a:t>t</a:t>
            </a:r>
            <a:r>
              <a:rPr sz="2479" spc="39" dirty="0">
                <a:latin typeface="Cambria"/>
                <a:cs typeface="Cambria"/>
              </a:rPr>
              <a:t>)</a:t>
            </a:r>
            <a:r>
              <a:rPr sz="2479" spc="-16" dirty="0">
                <a:latin typeface="Cambria"/>
                <a:cs typeface="Cambria"/>
              </a:rPr>
              <a:t> </a:t>
            </a:r>
            <a:r>
              <a:rPr sz="2479" spc="314" dirty="0">
                <a:latin typeface="Cambria"/>
                <a:cs typeface="Cambria"/>
              </a:rPr>
              <a:t>+</a:t>
            </a:r>
            <a:r>
              <a:rPr sz="2479" spc="-16" dirty="0">
                <a:latin typeface="Cambria"/>
                <a:cs typeface="Cambria"/>
              </a:rPr>
              <a:t> </a:t>
            </a:r>
            <a:r>
              <a:rPr sz="2479" i="1" dirty="0">
                <a:latin typeface="Times New Roman"/>
                <a:cs typeface="Times New Roman"/>
              </a:rPr>
              <a:t>β</a:t>
            </a:r>
            <a:r>
              <a:rPr sz="2479" dirty="0">
                <a:latin typeface="Cambria"/>
                <a:cs typeface="Cambria"/>
              </a:rPr>
              <a:t>(</a:t>
            </a:r>
            <a:r>
              <a:rPr sz="2479" b="1" dirty="0">
                <a:latin typeface="Times New Roman"/>
                <a:cs typeface="Times New Roman"/>
              </a:rPr>
              <a:t>w</a:t>
            </a:r>
            <a:r>
              <a:rPr sz="2626" i="1" baseline="-19480" dirty="0">
                <a:latin typeface="Times New Roman"/>
                <a:cs typeface="Times New Roman"/>
              </a:rPr>
              <a:t>t</a:t>
            </a:r>
            <a:r>
              <a:rPr sz="2626" i="1" spc="140" baseline="-19480" dirty="0">
                <a:latin typeface="Times New Roman"/>
                <a:cs typeface="Times New Roman"/>
              </a:rPr>
              <a:t> </a:t>
            </a:r>
            <a:r>
              <a:rPr sz="2479" spc="314" dirty="0">
                <a:latin typeface="Cambria"/>
                <a:cs typeface="Cambria"/>
              </a:rPr>
              <a:t>−</a:t>
            </a:r>
            <a:r>
              <a:rPr sz="2479" spc="-16" dirty="0">
                <a:latin typeface="Cambria"/>
                <a:cs typeface="Cambria"/>
              </a:rPr>
              <a:t> </a:t>
            </a:r>
            <a:r>
              <a:rPr sz="2479" b="1" spc="-5" dirty="0">
                <a:latin typeface="Times New Roman"/>
                <a:cs typeface="Times New Roman"/>
              </a:rPr>
              <a:t>w</a:t>
            </a:r>
            <a:r>
              <a:rPr sz="2626" i="1" spc="-7" baseline="-19480" dirty="0">
                <a:latin typeface="Times New Roman"/>
                <a:cs typeface="Times New Roman"/>
              </a:rPr>
              <a:t>t</a:t>
            </a:r>
            <a:r>
              <a:rPr sz="2626" spc="-7" baseline="-19480" dirty="0">
                <a:latin typeface="Cambria"/>
                <a:cs typeface="Cambria"/>
              </a:rPr>
              <a:t>−1</a:t>
            </a:r>
            <a:r>
              <a:rPr sz="2479" spc="-5" dirty="0">
                <a:latin typeface="Cambria"/>
                <a:cs typeface="Cambria"/>
              </a:rPr>
              <a:t>)</a:t>
            </a:r>
            <a:endParaRPr sz="2479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2237" y="1035612"/>
            <a:ext cx="1988228" cy="213238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76">
              <a:spcBef>
                <a:spcPts val="52"/>
              </a:spcBef>
              <a:tabLst>
                <a:tab pos="955344" algn="l"/>
              </a:tabLst>
            </a:pPr>
            <a:r>
              <a:rPr sz="1342" b="1" spc="50" dirty="0">
                <a:solidFill>
                  <a:srgbClr val="FF644E"/>
                </a:solidFill>
                <a:latin typeface="Trebuchet MS"/>
                <a:cs typeface="Trebuchet MS"/>
              </a:rPr>
              <a:t>AN</a:t>
            </a:r>
            <a:r>
              <a:rPr sz="1342" b="1" spc="-177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-134" dirty="0">
                <a:solidFill>
                  <a:srgbClr val="FF644E"/>
                </a:solidFill>
                <a:latin typeface="Trebuchet MS"/>
                <a:cs typeface="Trebuchet MS"/>
              </a:rPr>
              <a:t>O</a:t>
            </a:r>
            <a:r>
              <a:rPr sz="1342" b="1" spc="-234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-93" dirty="0">
                <a:solidFill>
                  <a:srgbClr val="FF644E"/>
                </a:solidFill>
                <a:latin typeface="Trebuchet MS"/>
                <a:cs typeface="Trebuchet MS"/>
              </a:rPr>
              <a:t>T</a:t>
            </a:r>
            <a:r>
              <a:rPr sz="1342" b="1" spc="-177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45" dirty="0">
                <a:solidFill>
                  <a:srgbClr val="FF644E"/>
                </a:solidFill>
                <a:latin typeface="Trebuchet MS"/>
                <a:cs typeface="Trebuchet MS"/>
              </a:rPr>
              <a:t>HER</a:t>
            </a:r>
            <a:r>
              <a:rPr sz="1342" b="1" dirty="0">
                <a:solidFill>
                  <a:srgbClr val="FF644E"/>
                </a:solidFill>
                <a:latin typeface="Trebuchet MS"/>
                <a:cs typeface="Trebuchet MS"/>
              </a:rPr>
              <a:t>	</a:t>
            </a:r>
            <a:r>
              <a:rPr sz="1342" b="1" spc="121" dirty="0">
                <a:solidFill>
                  <a:srgbClr val="FF644E"/>
                </a:solidFill>
                <a:latin typeface="Trebuchet MS"/>
                <a:cs typeface="Trebuchet MS"/>
              </a:rPr>
              <a:t>APPRO</a:t>
            </a:r>
            <a:r>
              <a:rPr sz="1342" b="1" spc="-191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-45" dirty="0">
                <a:solidFill>
                  <a:srgbClr val="FF644E"/>
                </a:solidFill>
                <a:latin typeface="Trebuchet MS"/>
                <a:cs typeface="Trebuchet MS"/>
              </a:rPr>
              <a:t>A</a:t>
            </a:r>
            <a:r>
              <a:rPr sz="1342" b="1" spc="-189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32" dirty="0">
                <a:solidFill>
                  <a:srgbClr val="FF644E"/>
                </a:solidFill>
                <a:latin typeface="Trebuchet MS"/>
                <a:cs typeface="Trebuchet MS"/>
              </a:rPr>
              <a:t>CH </a:t>
            </a:r>
            <a:endParaRPr sz="1342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4401" y="2935190"/>
            <a:ext cx="7259458" cy="1273524"/>
          </a:xfrm>
          <a:prstGeom prst="rect">
            <a:avLst/>
          </a:prstGeom>
        </p:spPr>
        <p:txBody>
          <a:bodyPr vert="horz" wrap="square" lIns="0" tIns="45056" rIns="0" bIns="0" rtlCol="0">
            <a:spAutoFit/>
          </a:bodyPr>
          <a:lstStyle/>
          <a:p>
            <a:pPr marL="193495" indent="-187719">
              <a:spcBef>
                <a:spcPts val="355"/>
              </a:spcBef>
              <a:buChar char="•"/>
              <a:tabLst>
                <a:tab pos="193495" algn="l"/>
              </a:tabLst>
            </a:pPr>
            <a:r>
              <a:rPr sz="1865" spc="-118" dirty="0">
                <a:latin typeface="Trebuchet MS"/>
                <a:cs typeface="Trebuchet MS"/>
              </a:rPr>
              <a:t>Another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07" dirty="0">
                <a:latin typeface="Trebuchet MS"/>
                <a:cs typeface="Trebuchet MS"/>
              </a:rPr>
              <a:t>cheap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46" dirty="0">
                <a:latin typeface="Trebuchet MS"/>
                <a:cs typeface="Trebuchet MS"/>
              </a:rPr>
              <a:t>way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36" dirty="0">
                <a:latin typeface="Trebuchet MS"/>
                <a:cs typeface="Trebuchet MS"/>
              </a:rPr>
              <a:t>to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32" dirty="0">
                <a:latin typeface="Trebuchet MS"/>
                <a:cs typeface="Trebuchet MS"/>
              </a:rPr>
              <a:t>potentially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32" dirty="0">
                <a:latin typeface="Trebuchet MS"/>
                <a:cs typeface="Trebuchet MS"/>
              </a:rPr>
              <a:t>improve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23" dirty="0">
                <a:latin typeface="Trebuchet MS"/>
                <a:cs typeface="Trebuchet MS"/>
              </a:rPr>
              <a:t>gradient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16" dirty="0">
                <a:latin typeface="Trebuchet MS"/>
                <a:cs typeface="Trebuchet MS"/>
              </a:rPr>
              <a:t>descent: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57" dirty="0">
                <a:solidFill>
                  <a:srgbClr val="FF644E"/>
                </a:solidFill>
                <a:latin typeface="Trebuchet MS"/>
                <a:cs typeface="Trebuchet MS"/>
              </a:rPr>
              <a:t>use</a:t>
            </a:r>
            <a:r>
              <a:rPr sz="1865" spc="-125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865" spc="-136" dirty="0">
                <a:solidFill>
                  <a:srgbClr val="FF644E"/>
                </a:solidFill>
                <a:latin typeface="Trebuchet MS"/>
                <a:cs typeface="Trebuchet MS"/>
              </a:rPr>
              <a:t>momentum</a:t>
            </a:r>
            <a:endParaRPr sz="1865">
              <a:latin typeface="Trebuchet MS"/>
              <a:cs typeface="Trebuchet MS"/>
            </a:endParaRPr>
          </a:p>
          <a:p>
            <a:pPr marL="193495" marR="50250" indent="-188007">
              <a:lnSpc>
                <a:spcPts val="2174"/>
              </a:lnSpc>
              <a:spcBef>
                <a:spcPts val="439"/>
              </a:spcBef>
              <a:buChar char="•"/>
              <a:tabLst>
                <a:tab pos="193495" algn="l"/>
              </a:tabLst>
            </a:pPr>
            <a:r>
              <a:rPr sz="1865" spc="-130" dirty="0">
                <a:latin typeface="Trebuchet MS"/>
                <a:cs typeface="Trebuchet MS"/>
              </a:rPr>
              <a:t>Intuition: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09" dirty="0">
                <a:latin typeface="Trebuchet MS"/>
                <a:cs typeface="Trebuchet MS"/>
              </a:rPr>
              <a:t>if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36" dirty="0">
                <a:latin typeface="Trebuchet MS"/>
                <a:cs typeface="Trebuchet MS"/>
              </a:rPr>
              <a:t>current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23" dirty="0">
                <a:latin typeface="Trebuchet MS"/>
                <a:cs typeface="Trebuchet MS"/>
              </a:rPr>
              <a:t>gradient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93" dirty="0">
                <a:latin typeface="Trebuchet MS"/>
                <a:cs typeface="Trebuchet MS"/>
              </a:rPr>
              <a:t>step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9" dirty="0">
                <a:latin typeface="Trebuchet MS"/>
                <a:cs typeface="Trebuchet MS"/>
              </a:rPr>
              <a:t>is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09" dirty="0">
                <a:latin typeface="Trebuchet MS"/>
                <a:cs typeface="Trebuchet MS"/>
              </a:rPr>
              <a:t>in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73" dirty="0">
                <a:latin typeface="Trebuchet MS"/>
                <a:cs typeface="Trebuchet MS"/>
              </a:rPr>
              <a:t>same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21" dirty="0">
                <a:latin typeface="Trebuchet MS"/>
                <a:cs typeface="Trebuchet MS"/>
              </a:rPr>
              <a:t>direction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dirty="0">
                <a:latin typeface="Trebuchet MS"/>
                <a:cs typeface="Trebuchet MS"/>
              </a:rPr>
              <a:t>as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00" dirty="0">
                <a:latin typeface="Trebuchet MS"/>
                <a:cs typeface="Trebuchet MS"/>
              </a:rPr>
              <a:t>previous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39" dirty="0">
                <a:latin typeface="Trebuchet MS"/>
                <a:cs typeface="Trebuchet MS"/>
              </a:rPr>
              <a:t>step,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52" dirty="0">
                <a:latin typeface="Trebuchet MS"/>
                <a:cs typeface="Trebuchet MS"/>
              </a:rPr>
              <a:t>then </a:t>
            </a:r>
            <a:r>
              <a:rPr sz="1865" spc="-125" dirty="0">
                <a:latin typeface="Trebuchet MS"/>
                <a:cs typeface="Trebuchet MS"/>
              </a:rPr>
              <a:t>move</a:t>
            </a:r>
            <a:r>
              <a:rPr sz="1865" spc="-132" dirty="0">
                <a:latin typeface="Trebuchet MS"/>
                <a:cs typeface="Trebuchet MS"/>
              </a:rPr>
              <a:t> </a:t>
            </a:r>
            <a:r>
              <a:rPr sz="1865" spc="-91" dirty="0">
                <a:latin typeface="Trebuchet MS"/>
                <a:cs typeface="Trebuchet MS"/>
              </a:rPr>
              <a:t>a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148" dirty="0">
                <a:latin typeface="Trebuchet MS"/>
                <a:cs typeface="Trebuchet MS"/>
              </a:rPr>
              <a:t>little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134" dirty="0">
                <a:latin typeface="Trebuchet MS"/>
                <a:cs typeface="Trebuchet MS"/>
              </a:rPr>
              <a:t>further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109" dirty="0">
                <a:latin typeface="Trebuchet MS"/>
                <a:cs typeface="Trebuchet MS"/>
              </a:rPr>
              <a:t>in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148" dirty="0">
                <a:latin typeface="Trebuchet MS"/>
                <a:cs typeface="Trebuchet MS"/>
              </a:rPr>
              <a:t>that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139" dirty="0">
                <a:latin typeface="Trebuchet MS"/>
                <a:cs typeface="Trebuchet MS"/>
              </a:rPr>
              <a:t>direction;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109" dirty="0">
                <a:latin typeface="Trebuchet MS"/>
                <a:cs typeface="Trebuchet MS"/>
              </a:rPr>
              <a:t>if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175" dirty="0">
                <a:latin typeface="Trebuchet MS"/>
                <a:cs typeface="Trebuchet MS"/>
              </a:rPr>
              <a:t>not,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125" dirty="0">
                <a:latin typeface="Trebuchet MS"/>
                <a:cs typeface="Trebuchet MS"/>
              </a:rPr>
              <a:t>move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23" dirty="0">
                <a:latin typeface="Trebuchet MS"/>
                <a:cs typeface="Trebuchet MS"/>
              </a:rPr>
              <a:t>less</a:t>
            </a:r>
            <a:r>
              <a:rPr sz="1865" spc="-132" dirty="0">
                <a:latin typeface="Trebuchet MS"/>
                <a:cs typeface="Trebuchet MS"/>
              </a:rPr>
              <a:t> </a:t>
            </a:r>
            <a:r>
              <a:rPr sz="1865" spc="-11" dirty="0">
                <a:latin typeface="Trebuchet MS"/>
                <a:cs typeface="Trebuchet MS"/>
              </a:rPr>
              <a:t>far</a:t>
            </a:r>
            <a:endParaRPr sz="1865">
              <a:latin typeface="Trebuchet MS"/>
              <a:cs typeface="Trebuchet MS"/>
            </a:endParaRPr>
          </a:p>
          <a:p>
            <a:pPr marL="193495" indent="-187719">
              <a:spcBef>
                <a:spcPts val="250"/>
              </a:spcBef>
              <a:buChar char="•"/>
              <a:tabLst>
                <a:tab pos="193495" algn="l"/>
              </a:tabLst>
            </a:pPr>
            <a:r>
              <a:rPr sz="1865" spc="-30" dirty="0">
                <a:latin typeface="Trebuchet MS"/>
                <a:cs typeface="Trebuchet MS"/>
              </a:rPr>
              <a:t>Also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14" dirty="0">
                <a:latin typeface="Trebuchet MS"/>
                <a:cs typeface="Trebuchet MS"/>
              </a:rPr>
              <a:t>known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dirty="0">
                <a:latin typeface="Trebuchet MS"/>
                <a:cs typeface="Trebuchet MS"/>
              </a:rPr>
              <a:t>as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52" dirty="0">
                <a:latin typeface="Trebuchet MS"/>
                <a:cs typeface="Trebuchet MS"/>
              </a:rPr>
              <a:t>the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30" dirty="0">
                <a:latin typeface="Trebuchet MS"/>
                <a:cs typeface="Trebuchet MS"/>
              </a:rPr>
              <a:t>heavy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16" dirty="0">
                <a:latin typeface="Trebuchet MS"/>
                <a:cs typeface="Trebuchet MS"/>
              </a:rPr>
              <a:t>ball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36" dirty="0">
                <a:latin typeface="Trebuchet MS"/>
                <a:cs typeface="Trebuchet MS"/>
              </a:rPr>
              <a:t>method</a:t>
            </a:r>
            <a:endParaRPr sz="1865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54494" y="5646443"/>
            <a:ext cx="779233" cy="236502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z="1501" spc="-80" dirty="0">
                <a:solidFill>
                  <a:srgbClr val="A7A7A7"/>
                </a:solidFill>
                <a:latin typeface="Trebuchet MS"/>
                <a:cs typeface="Trebuchet MS"/>
              </a:rPr>
              <a:t>Polyak</a:t>
            </a:r>
            <a:r>
              <a:rPr sz="1501" spc="-98" dirty="0">
                <a:solidFill>
                  <a:srgbClr val="A7A7A7"/>
                </a:solidFill>
                <a:latin typeface="Trebuchet MS"/>
                <a:cs typeface="Trebuchet MS"/>
              </a:rPr>
              <a:t> </a:t>
            </a:r>
            <a:r>
              <a:rPr sz="1501" spc="-132" dirty="0">
                <a:solidFill>
                  <a:srgbClr val="A7A7A7"/>
                </a:solidFill>
                <a:latin typeface="Trebuchet MS"/>
                <a:cs typeface="Trebuchet MS"/>
              </a:rPr>
              <a:t>‘64</a:t>
            </a:r>
            <a:endParaRPr sz="1501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497" y="1057414"/>
            <a:ext cx="3348078" cy="929512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227" dirty="0"/>
              <a:t>Nesterov</a:t>
            </a:r>
            <a:r>
              <a:rPr spc="-200" dirty="0"/>
              <a:t> </a:t>
            </a:r>
            <a:r>
              <a:rPr spc="-241" dirty="0"/>
              <a:t>accelerated</a:t>
            </a:r>
            <a:r>
              <a:rPr spc="-197" dirty="0"/>
              <a:t> </a:t>
            </a:r>
            <a:r>
              <a:rPr spc="-231" dirty="0"/>
              <a:t>gradient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44918" y="1976257"/>
            <a:ext cx="8092700" cy="1011443"/>
            <a:chOff x="1637785" y="2460658"/>
            <a:chExt cx="17792700" cy="22237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7785" y="2460658"/>
              <a:ext cx="17792201" cy="222352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679669" y="2481599"/>
              <a:ext cx="17708880" cy="2139950"/>
            </a:xfrm>
            <a:custGeom>
              <a:avLst/>
              <a:gdLst/>
              <a:ahLst/>
              <a:cxnLst/>
              <a:rect l="l" t="t" r="r" b="b"/>
              <a:pathLst>
                <a:path w="17708880" h="2139950">
                  <a:moveTo>
                    <a:pt x="17611062" y="0"/>
                  </a:moveTo>
                  <a:lnTo>
                    <a:pt x="97375" y="0"/>
                  </a:lnTo>
                  <a:lnTo>
                    <a:pt x="59472" y="7652"/>
                  </a:lnTo>
                  <a:lnTo>
                    <a:pt x="28520" y="28520"/>
                  </a:lnTo>
                  <a:lnTo>
                    <a:pt x="7652" y="59472"/>
                  </a:lnTo>
                  <a:lnTo>
                    <a:pt x="0" y="97376"/>
                  </a:lnTo>
                  <a:lnTo>
                    <a:pt x="0" y="2042383"/>
                  </a:lnTo>
                  <a:lnTo>
                    <a:pt x="7652" y="2080287"/>
                  </a:lnTo>
                  <a:lnTo>
                    <a:pt x="28520" y="2111239"/>
                  </a:lnTo>
                  <a:lnTo>
                    <a:pt x="59472" y="2132107"/>
                  </a:lnTo>
                  <a:lnTo>
                    <a:pt x="97375" y="2139759"/>
                  </a:lnTo>
                  <a:lnTo>
                    <a:pt x="17611062" y="2139759"/>
                  </a:lnTo>
                  <a:lnTo>
                    <a:pt x="17648964" y="2132107"/>
                  </a:lnTo>
                  <a:lnTo>
                    <a:pt x="17679914" y="2111239"/>
                  </a:lnTo>
                  <a:lnTo>
                    <a:pt x="17700780" y="2080287"/>
                  </a:lnTo>
                  <a:lnTo>
                    <a:pt x="17708431" y="2042383"/>
                  </a:lnTo>
                  <a:lnTo>
                    <a:pt x="17708431" y="97376"/>
                  </a:lnTo>
                  <a:lnTo>
                    <a:pt x="17700780" y="59472"/>
                  </a:lnTo>
                  <a:lnTo>
                    <a:pt x="17679914" y="28520"/>
                  </a:lnTo>
                  <a:lnTo>
                    <a:pt x="17648964" y="7652"/>
                  </a:lnTo>
                  <a:lnTo>
                    <a:pt x="17611062" y="0"/>
                  </a:lnTo>
                  <a:close/>
                </a:path>
              </a:pathLst>
            </a:custGeom>
            <a:solidFill>
              <a:srgbClr val="A8D6FF"/>
            </a:solidFill>
          </p:spPr>
          <p:txBody>
            <a:bodyPr wrap="square" lIns="0" tIns="0" rIns="0" bIns="0" rtlCol="0"/>
            <a:lstStyle/>
            <a:p>
              <a:endParaRPr sz="819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96177" y="2142519"/>
            <a:ext cx="1081048" cy="585547"/>
          </a:xfrm>
          <a:prstGeom prst="rect">
            <a:avLst/>
          </a:prstGeom>
        </p:spPr>
        <p:txBody>
          <a:bodyPr vert="horz" wrap="square" lIns="0" tIns="21084" rIns="0" bIns="0" rtlCol="0">
            <a:spAutoFit/>
          </a:bodyPr>
          <a:lstStyle/>
          <a:p>
            <a:pPr marL="5776" marR="2310">
              <a:lnSpc>
                <a:spcPts val="2174"/>
              </a:lnSpc>
              <a:spcBef>
                <a:spcPts val="166"/>
              </a:spcBef>
            </a:pPr>
            <a:r>
              <a:rPr sz="1865" b="1" spc="-143" dirty="0">
                <a:latin typeface="Trebuchet MS"/>
                <a:cs typeface="Trebuchet MS"/>
              </a:rPr>
              <a:t>Nesterov </a:t>
            </a:r>
            <a:r>
              <a:rPr sz="1865" b="1" spc="-200" dirty="0">
                <a:latin typeface="Trebuchet MS"/>
                <a:cs typeface="Trebuchet MS"/>
              </a:rPr>
              <a:t>momentum</a:t>
            </a:r>
            <a:endParaRPr sz="1865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36781" y="2110229"/>
            <a:ext cx="6511706" cy="386764"/>
          </a:xfrm>
          <a:prstGeom prst="rect">
            <a:avLst/>
          </a:prstGeom>
        </p:spPr>
        <p:txBody>
          <a:bodyPr vert="horz" wrap="square" lIns="0" tIns="5199" rIns="0" bIns="0" rtlCol="0">
            <a:spAutoFit/>
          </a:bodyPr>
          <a:lstStyle/>
          <a:p>
            <a:pPr marL="17328">
              <a:spcBef>
                <a:spcPts val="41"/>
              </a:spcBef>
              <a:tabLst>
                <a:tab pos="657882" algn="l"/>
              </a:tabLst>
            </a:pPr>
            <a:r>
              <a:rPr sz="2479" b="1" spc="16" dirty="0">
                <a:latin typeface="Times New Roman"/>
                <a:cs typeface="Times New Roman"/>
              </a:rPr>
              <a:t>w</a:t>
            </a:r>
            <a:r>
              <a:rPr sz="2626" i="1" spc="24" baseline="-19480" dirty="0">
                <a:latin typeface="Times New Roman"/>
                <a:cs typeface="Times New Roman"/>
              </a:rPr>
              <a:t>t</a:t>
            </a:r>
            <a:r>
              <a:rPr sz="2626" spc="24" baseline="-19480" dirty="0">
                <a:latin typeface="Cambria"/>
                <a:cs typeface="Cambria"/>
              </a:rPr>
              <a:t>+1</a:t>
            </a:r>
            <a:r>
              <a:rPr sz="2626" baseline="-19480" dirty="0">
                <a:latin typeface="Cambria"/>
                <a:cs typeface="Cambria"/>
              </a:rPr>
              <a:t>	</a:t>
            </a:r>
            <a:r>
              <a:rPr sz="2479" spc="314" dirty="0">
                <a:latin typeface="Cambria"/>
                <a:cs typeface="Cambria"/>
              </a:rPr>
              <a:t>=</a:t>
            </a:r>
            <a:r>
              <a:rPr sz="2479" spc="82" dirty="0">
                <a:latin typeface="Cambria"/>
                <a:cs typeface="Cambria"/>
              </a:rPr>
              <a:t> </a:t>
            </a:r>
            <a:r>
              <a:rPr sz="2479" b="1" dirty="0">
                <a:latin typeface="Times New Roman"/>
                <a:cs typeface="Times New Roman"/>
              </a:rPr>
              <a:t>w</a:t>
            </a:r>
            <a:r>
              <a:rPr sz="2626" i="1" baseline="-19480" dirty="0">
                <a:latin typeface="Times New Roman"/>
                <a:cs typeface="Times New Roman"/>
              </a:rPr>
              <a:t>t</a:t>
            </a:r>
            <a:r>
              <a:rPr sz="2626" i="1" spc="116" baseline="-19480" dirty="0">
                <a:latin typeface="Times New Roman"/>
                <a:cs typeface="Times New Roman"/>
              </a:rPr>
              <a:t> </a:t>
            </a:r>
            <a:r>
              <a:rPr sz="2479" spc="314" dirty="0">
                <a:latin typeface="Cambria"/>
                <a:cs typeface="Cambria"/>
              </a:rPr>
              <a:t>−</a:t>
            </a:r>
            <a:r>
              <a:rPr sz="2479" spc="-32" dirty="0">
                <a:latin typeface="Cambria"/>
                <a:cs typeface="Cambria"/>
              </a:rPr>
              <a:t> </a:t>
            </a:r>
            <a:r>
              <a:rPr sz="2479" i="1" spc="50" dirty="0">
                <a:latin typeface="Times New Roman"/>
                <a:cs typeface="Times New Roman"/>
              </a:rPr>
              <a:t>α</a:t>
            </a:r>
            <a:r>
              <a:rPr sz="2479" i="1" spc="-346" dirty="0">
                <a:latin typeface="Times New Roman"/>
                <a:cs typeface="Times New Roman"/>
              </a:rPr>
              <a:t> </a:t>
            </a:r>
            <a:r>
              <a:rPr sz="2479" spc="73" dirty="0">
                <a:latin typeface="Cambria"/>
                <a:cs typeface="Cambria"/>
              </a:rPr>
              <a:t>∇</a:t>
            </a:r>
            <a:r>
              <a:rPr sz="2479" i="1" spc="73" dirty="0">
                <a:latin typeface="Times New Roman"/>
                <a:cs typeface="Times New Roman"/>
              </a:rPr>
              <a:t>f</a:t>
            </a:r>
            <a:r>
              <a:rPr sz="2479" spc="73" dirty="0">
                <a:latin typeface="Cambria"/>
                <a:cs typeface="Cambria"/>
              </a:rPr>
              <a:t>(</a:t>
            </a:r>
            <a:r>
              <a:rPr sz="2479" b="1" spc="73" dirty="0">
                <a:latin typeface="Times New Roman"/>
                <a:cs typeface="Times New Roman"/>
              </a:rPr>
              <a:t>w</a:t>
            </a:r>
            <a:r>
              <a:rPr sz="2626" i="1" spc="109" baseline="-19480" dirty="0">
                <a:latin typeface="Times New Roman"/>
                <a:cs typeface="Times New Roman"/>
              </a:rPr>
              <a:t>t</a:t>
            </a:r>
            <a:r>
              <a:rPr sz="2626" i="1" spc="116" baseline="-19480" dirty="0">
                <a:latin typeface="Times New Roman"/>
                <a:cs typeface="Times New Roman"/>
              </a:rPr>
              <a:t> </a:t>
            </a:r>
            <a:r>
              <a:rPr sz="2479" spc="314" dirty="0">
                <a:latin typeface="Cambria"/>
                <a:cs typeface="Cambria"/>
              </a:rPr>
              <a:t>+</a:t>
            </a:r>
            <a:r>
              <a:rPr sz="2479" spc="-30" dirty="0">
                <a:latin typeface="Cambria"/>
                <a:cs typeface="Cambria"/>
              </a:rPr>
              <a:t> </a:t>
            </a:r>
            <a:r>
              <a:rPr sz="2479" i="1" dirty="0">
                <a:latin typeface="Times New Roman"/>
                <a:cs typeface="Times New Roman"/>
              </a:rPr>
              <a:t>β</a:t>
            </a:r>
            <a:r>
              <a:rPr sz="2479" dirty="0">
                <a:latin typeface="Cambria"/>
                <a:cs typeface="Cambria"/>
              </a:rPr>
              <a:t>(</a:t>
            </a:r>
            <a:r>
              <a:rPr sz="2479" b="1" dirty="0">
                <a:latin typeface="Times New Roman"/>
                <a:cs typeface="Times New Roman"/>
              </a:rPr>
              <a:t>w</a:t>
            </a:r>
            <a:r>
              <a:rPr sz="2626" i="1" baseline="-19480" dirty="0">
                <a:latin typeface="Times New Roman"/>
                <a:cs typeface="Times New Roman"/>
              </a:rPr>
              <a:t>t</a:t>
            </a:r>
            <a:r>
              <a:rPr sz="2626" i="1" spc="116" baseline="-19480" dirty="0">
                <a:latin typeface="Times New Roman"/>
                <a:cs typeface="Times New Roman"/>
              </a:rPr>
              <a:t> </a:t>
            </a:r>
            <a:r>
              <a:rPr sz="2479" spc="314" dirty="0">
                <a:latin typeface="Cambria"/>
                <a:cs typeface="Cambria"/>
              </a:rPr>
              <a:t>−</a:t>
            </a:r>
            <a:r>
              <a:rPr sz="2479" spc="-32" dirty="0">
                <a:latin typeface="Cambria"/>
                <a:cs typeface="Cambria"/>
              </a:rPr>
              <a:t> </a:t>
            </a:r>
            <a:r>
              <a:rPr sz="2479" b="1" spc="-5" dirty="0">
                <a:latin typeface="Times New Roman"/>
                <a:cs typeface="Times New Roman"/>
              </a:rPr>
              <a:t>w</a:t>
            </a:r>
            <a:r>
              <a:rPr sz="2626" i="1" spc="-7" baseline="-19480" dirty="0">
                <a:latin typeface="Times New Roman"/>
                <a:cs typeface="Times New Roman"/>
              </a:rPr>
              <a:t>t</a:t>
            </a:r>
            <a:r>
              <a:rPr sz="2626" spc="-7" baseline="-19480" dirty="0">
                <a:latin typeface="Cambria"/>
                <a:cs typeface="Cambria"/>
              </a:rPr>
              <a:t>−1</a:t>
            </a:r>
            <a:r>
              <a:rPr sz="2479" spc="-5" dirty="0">
                <a:latin typeface="Cambria"/>
                <a:cs typeface="Cambria"/>
              </a:rPr>
              <a:t>))</a:t>
            </a:r>
            <a:r>
              <a:rPr sz="2479" spc="-30" dirty="0">
                <a:latin typeface="Cambria"/>
                <a:cs typeface="Cambria"/>
              </a:rPr>
              <a:t> </a:t>
            </a:r>
            <a:r>
              <a:rPr sz="2479" spc="314" dirty="0">
                <a:latin typeface="Cambria"/>
                <a:cs typeface="Cambria"/>
              </a:rPr>
              <a:t>+</a:t>
            </a:r>
            <a:r>
              <a:rPr sz="2479" spc="-32" dirty="0">
                <a:latin typeface="Cambria"/>
                <a:cs typeface="Cambria"/>
              </a:rPr>
              <a:t> </a:t>
            </a:r>
            <a:r>
              <a:rPr sz="2479" i="1" dirty="0">
                <a:latin typeface="Times New Roman"/>
                <a:cs typeface="Times New Roman"/>
              </a:rPr>
              <a:t>β</a:t>
            </a:r>
            <a:r>
              <a:rPr sz="2479" dirty="0">
                <a:latin typeface="Cambria"/>
                <a:cs typeface="Cambria"/>
              </a:rPr>
              <a:t>(</a:t>
            </a:r>
            <a:r>
              <a:rPr sz="2479" b="1" dirty="0">
                <a:latin typeface="Times New Roman"/>
                <a:cs typeface="Times New Roman"/>
              </a:rPr>
              <a:t>w</a:t>
            </a:r>
            <a:r>
              <a:rPr sz="2626" i="1" baseline="-19480" dirty="0">
                <a:latin typeface="Times New Roman"/>
                <a:cs typeface="Times New Roman"/>
              </a:rPr>
              <a:t>t</a:t>
            </a:r>
            <a:r>
              <a:rPr sz="2626" i="1" spc="116" baseline="-19480" dirty="0">
                <a:latin typeface="Times New Roman"/>
                <a:cs typeface="Times New Roman"/>
              </a:rPr>
              <a:t> </a:t>
            </a:r>
            <a:r>
              <a:rPr sz="2479" spc="314" dirty="0">
                <a:latin typeface="Cambria"/>
                <a:cs typeface="Cambria"/>
              </a:rPr>
              <a:t>−</a:t>
            </a:r>
            <a:r>
              <a:rPr sz="2479" spc="-32" dirty="0">
                <a:latin typeface="Cambria"/>
                <a:cs typeface="Cambria"/>
              </a:rPr>
              <a:t> </a:t>
            </a:r>
            <a:r>
              <a:rPr sz="2479" b="1" spc="-9" dirty="0">
                <a:latin typeface="Times New Roman"/>
                <a:cs typeface="Times New Roman"/>
              </a:rPr>
              <a:t>w</a:t>
            </a:r>
            <a:r>
              <a:rPr sz="2626" i="1" spc="-14" baseline="-19480" dirty="0">
                <a:latin typeface="Times New Roman"/>
                <a:cs typeface="Times New Roman"/>
              </a:rPr>
              <a:t>t</a:t>
            </a:r>
            <a:r>
              <a:rPr sz="2626" spc="-14" baseline="-19480" dirty="0">
                <a:latin typeface="Cambria"/>
                <a:cs typeface="Cambria"/>
              </a:rPr>
              <a:t>−1</a:t>
            </a:r>
            <a:r>
              <a:rPr sz="2479" spc="-9" dirty="0">
                <a:latin typeface="Cambria"/>
                <a:cs typeface="Cambria"/>
              </a:rPr>
              <a:t>)</a:t>
            </a:r>
            <a:endParaRPr sz="2479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4498" y="3099254"/>
            <a:ext cx="5909519" cy="657971"/>
          </a:xfrm>
          <a:prstGeom prst="rect">
            <a:avLst/>
          </a:prstGeom>
        </p:spPr>
        <p:txBody>
          <a:bodyPr vert="horz" wrap="square" lIns="0" tIns="45056" rIns="0" bIns="0" rtlCol="0">
            <a:spAutoFit/>
          </a:bodyPr>
          <a:lstStyle/>
          <a:p>
            <a:pPr marL="193495" indent="-187719">
              <a:spcBef>
                <a:spcPts val="355"/>
              </a:spcBef>
              <a:buChar char="•"/>
              <a:tabLst>
                <a:tab pos="193495" algn="l"/>
              </a:tabLst>
            </a:pPr>
            <a:r>
              <a:rPr sz="1865" spc="-25" dirty="0">
                <a:latin typeface="Trebuchet MS"/>
                <a:cs typeface="Trebuchet MS"/>
              </a:rPr>
              <a:t>A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139" dirty="0">
                <a:latin typeface="Trebuchet MS"/>
                <a:cs typeface="Trebuchet MS"/>
              </a:rPr>
              <a:t>“look-</a:t>
            </a:r>
            <a:r>
              <a:rPr sz="1865" spc="-171" dirty="0">
                <a:latin typeface="Trebuchet MS"/>
                <a:cs typeface="Trebuchet MS"/>
              </a:rPr>
              <a:t>ahead”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25" dirty="0">
                <a:latin typeface="Trebuchet MS"/>
                <a:cs typeface="Trebuchet MS"/>
              </a:rPr>
              <a:t>variant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86" dirty="0">
                <a:latin typeface="Trebuchet MS"/>
                <a:cs typeface="Trebuchet MS"/>
              </a:rPr>
              <a:t>of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36" dirty="0">
                <a:latin typeface="Trebuchet MS"/>
                <a:cs typeface="Trebuchet MS"/>
              </a:rPr>
              <a:t>momentum</a:t>
            </a:r>
            <a:endParaRPr sz="1865">
              <a:latin typeface="Trebuchet MS"/>
              <a:cs typeface="Trebuchet MS"/>
            </a:endParaRPr>
          </a:p>
          <a:p>
            <a:pPr marL="193495" indent="-187719">
              <a:spcBef>
                <a:spcPts val="312"/>
              </a:spcBef>
              <a:buChar char="•"/>
              <a:tabLst>
                <a:tab pos="193495" algn="l"/>
              </a:tabLst>
            </a:pPr>
            <a:r>
              <a:rPr sz="1865" spc="-111" dirty="0">
                <a:latin typeface="Trebuchet MS"/>
                <a:cs typeface="Trebuchet MS"/>
              </a:rPr>
              <a:t>Provably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98" dirty="0">
                <a:latin typeface="Trebuchet MS"/>
                <a:cs typeface="Trebuchet MS"/>
              </a:rPr>
              <a:t>faster</a:t>
            </a:r>
            <a:r>
              <a:rPr sz="1865" spc="-121" dirty="0">
                <a:latin typeface="Trebuchet MS"/>
                <a:cs typeface="Trebuchet MS"/>
              </a:rPr>
              <a:t> </a:t>
            </a:r>
            <a:r>
              <a:rPr sz="1865" spc="-109" dirty="0">
                <a:latin typeface="Trebuchet MS"/>
                <a:cs typeface="Trebuchet MS"/>
              </a:rPr>
              <a:t>convergence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30" dirty="0">
                <a:latin typeface="Trebuchet MS"/>
                <a:cs typeface="Trebuchet MS"/>
              </a:rPr>
              <a:t>than</a:t>
            </a:r>
            <a:r>
              <a:rPr sz="1865" spc="-121" dirty="0">
                <a:latin typeface="Trebuchet MS"/>
                <a:cs typeface="Trebuchet MS"/>
              </a:rPr>
              <a:t> </a:t>
            </a:r>
            <a:r>
              <a:rPr sz="1865" spc="-125" dirty="0">
                <a:latin typeface="Trebuchet MS"/>
                <a:cs typeface="Trebuchet MS"/>
              </a:rPr>
              <a:t>GD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09" dirty="0">
                <a:latin typeface="Trebuchet MS"/>
                <a:cs typeface="Trebuchet MS"/>
              </a:rPr>
              <a:t>for</a:t>
            </a:r>
            <a:r>
              <a:rPr sz="1865" spc="-121" dirty="0">
                <a:latin typeface="Trebuchet MS"/>
                <a:cs typeface="Trebuchet MS"/>
              </a:rPr>
              <a:t> </a:t>
            </a:r>
            <a:r>
              <a:rPr sz="1865" spc="-116" dirty="0">
                <a:latin typeface="Trebuchet MS"/>
                <a:cs typeface="Trebuchet MS"/>
              </a:rPr>
              <a:t>any</a:t>
            </a:r>
            <a:r>
              <a:rPr sz="1865" spc="-121" dirty="0">
                <a:latin typeface="Trebuchet MS"/>
                <a:cs typeface="Trebuchet MS"/>
              </a:rPr>
              <a:t> </a:t>
            </a:r>
            <a:r>
              <a:rPr sz="1865" spc="-107" dirty="0">
                <a:latin typeface="Trebuchet MS"/>
                <a:cs typeface="Trebuchet MS"/>
              </a:rPr>
              <a:t>convex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77" dirty="0">
                <a:latin typeface="Trebuchet MS"/>
                <a:cs typeface="Trebuchet MS"/>
              </a:rPr>
              <a:t>function</a:t>
            </a:r>
            <a:endParaRPr sz="1865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81944" y="5646443"/>
            <a:ext cx="951658" cy="236502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z="1501" spc="-86" dirty="0">
                <a:solidFill>
                  <a:srgbClr val="A7A7A7"/>
                </a:solidFill>
                <a:latin typeface="Trebuchet MS"/>
                <a:cs typeface="Trebuchet MS"/>
              </a:rPr>
              <a:t>Nesterov</a:t>
            </a:r>
            <a:r>
              <a:rPr sz="1501" spc="-91" dirty="0">
                <a:solidFill>
                  <a:srgbClr val="A7A7A7"/>
                </a:solidFill>
                <a:latin typeface="Trebuchet MS"/>
                <a:cs typeface="Trebuchet MS"/>
              </a:rPr>
              <a:t> </a:t>
            </a:r>
            <a:r>
              <a:rPr sz="1501" spc="-132" dirty="0">
                <a:solidFill>
                  <a:srgbClr val="A7A7A7"/>
                </a:solidFill>
                <a:latin typeface="Trebuchet MS"/>
                <a:cs typeface="Trebuchet MS"/>
              </a:rPr>
              <a:t>’83</a:t>
            </a:r>
            <a:endParaRPr sz="1501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56374" y="4226033"/>
            <a:ext cx="4297885" cy="1549337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5364256" y="1488486"/>
            <a:ext cx="1213616" cy="651864"/>
            <a:chOff x="11793913" y="1388239"/>
            <a:chExt cx="2668270" cy="1433195"/>
          </a:xfrm>
        </p:grpSpPr>
        <p:sp>
          <p:nvSpPr>
            <p:cNvPr id="12" name="object 12"/>
            <p:cNvSpPr/>
            <p:nvPr/>
          </p:nvSpPr>
          <p:spPr>
            <a:xfrm>
              <a:off x="11959356" y="1414416"/>
              <a:ext cx="2477135" cy="1318895"/>
            </a:xfrm>
            <a:custGeom>
              <a:avLst/>
              <a:gdLst/>
              <a:ahLst/>
              <a:cxnLst/>
              <a:rect l="l" t="t" r="r" b="b"/>
              <a:pathLst>
                <a:path w="2477134" h="1318895">
                  <a:moveTo>
                    <a:pt x="2476633" y="0"/>
                  </a:moveTo>
                  <a:lnTo>
                    <a:pt x="23105" y="1306541"/>
                  </a:lnTo>
                  <a:lnTo>
                    <a:pt x="0" y="1318845"/>
                  </a:lnTo>
                </a:path>
              </a:pathLst>
            </a:custGeom>
            <a:ln w="52354">
              <a:solidFill>
                <a:srgbClr val="FF644E"/>
              </a:solidFill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sp>
          <p:nvSpPr>
            <p:cNvPr id="13" name="object 13"/>
            <p:cNvSpPr/>
            <p:nvPr/>
          </p:nvSpPr>
          <p:spPr>
            <a:xfrm>
              <a:off x="11793913" y="2626688"/>
              <a:ext cx="238760" cy="194945"/>
            </a:xfrm>
            <a:custGeom>
              <a:avLst/>
              <a:gdLst/>
              <a:ahLst/>
              <a:cxnLst/>
              <a:rect l="l" t="t" r="r" b="b"/>
              <a:pathLst>
                <a:path w="238759" h="194944">
                  <a:moveTo>
                    <a:pt x="138341" y="0"/>
                  </a:moveTo>
                  <a:lnTo>
                    <a:pt x="0" y="194669"/>
                  </a:lnTo>
                  <a:lnTo>
                    <a:pt x="238746" y="188539"/>
                  </a:lnTo>
                  <a:lnTo>
                    <a:pt x="138341" y="0"/>
                  </a:lnTo>
                  <a:close/>
                </a:path>
              </a:pathLst>
            </a:custGeom>
            <a:solidFill>
              <a:srgbClr val="FF644E"/>
            </a:solidFill>
          </p:spPr>
          <p:txBody>
            <a:bodyPr wrap="square" lIns="0" tIns="0" rIns="0" bIns="0" rtlCol="0"/>
            <a:lstStyle/>
            <a:p>
              <a:endParaRPr sz="819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640168" y="1058656"/>
            <a:ext cx="1863169" cy="585547"/>
          </a:xfrm>
          <a:prstGeom prst="rect">
            <a:avLst/>
          </a:prstGeom>
        </p:spPr>
        <p:txBody>
          <a:bodyPr vert="horz" wrap="square" lIns="0" tIns="21084" rIns="0" bIns="0" rtlCol="0">
            <a:spAutoFit/>
          </a:bodyPr>
          <a:lstStyle/>
          <a:p>
            <a:pPr marL="103101" marR="2310" indent="-97613">
              <a:lnSpc>
                <a:spcPts val="2174"/>
              </a:lnSpc>
              <a:spcBef>
                <a:spcPts val="166"/>
              </a:spcBef>
            </a:pPr>
            <a:r>
              <a:rPr sz="1865" spc="-132" dirty="0">
                <a:latin typeface="Trebuchet MS"/>
                <a:cs typeface="Trebuchet MS"/>
              </a:rPr>
              <a:t>evaluate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23" dirty="0">
                <a:latin typeface="Trebuchet MS"/>
                <a:cs typeface="Trebuchet MS"/>
              </a:rPr>
              <a:t>gradient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52" dirty="0">
                <a:latin typeface="Trebuchet MS"/>
                <a:cs typeface="Trebuchet MS"/>
              </a:rPr>
              <a:t>at </a:t>
            </a:r>
            <a:r>
              <a:rPr sz="1865" spc="-132" dirty="0">
                <a:latin typeface="Trebuchet MS"/>
                <a:cs typeface="Trebuchet MS"/>
              </a:rPr>
              <a:t>‘look-</a:t>
            </a:r>
            <a:r>
              <a:rPr sz="1865" spc="-166" dirty="0">
                <a:latin typeface="Trebuchet MS"/>
                <a:cs typeface="Trebuchet MS"/>
              </a:rPr>
              <a:t>ahead’</a:t>
            </a:r>
            <a:r>
              <a:rPr sz="1865" spc="-116" dirty="0">
                <a:latin typeface="Trebuchet MS"/>
                <a:cs typeface="Trebuchet MS"/>
              </a:rPr>
              <a:t> </a:t>
            </a:r>
            <a:r>
              <a:rPr sz="1865" spc="-125" dirty="0">
                <a:latin typeface="Trebuchet MS"/>
                <a:cs typeface="Trebuchet MS"/>
              </a:rPr>
              <a:t>point</a:t>
            </a:r>
            <a:endParaRPr sz="1865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2237" y="1187452"/>
            <a:ext cx="889850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250" dirty="0"/>
              <a:t>Adam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2237" y="1035612"/>
            <a:ext cx="4128086" cy="213238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76">
              <a:spcBef>
                <a:spcPts val="52"/>
              </a:spcBef>
              <a:tabLst>
                <a:tab pos="451969" algn="l"/>
                <a:tab pos="1000974" algn="l"/>
                <a:tab pos="1930037" algn="l"/>
                <a:tab pos="2860833" algn="l"/>
              </a:tabLst>
            </a:pPr>
            <a:r>
              <a:rPr sz="1342" b="1" dirty="0">
                <a:solidFill>
                  <a:srgbClr val="FF644E"/>
                </a:solidFill>
                <a:latin typeface="Trebuchet MS"/>
                <a:cs typeface="Trebuchet MS"/>
              </a:rPr>
              <a:t>ON</a:t>
            </a:r>
            <a:r>
              <a:rPr sz="1342" b="1" spc="-161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-27" dirty="0">
                <a:solidFill>
                  <a:srgbClr val="FF644E"/>
                </a:solidFill>
                <a:latin typeface="Trebuchet MS"/>
                <a:cs typeface="Trebuchet MS"/>
              </a:rPr>
              <a:t>E</a:t>
            </a:r>
            <a:r>
              <a:rPr sz="1342" b="1" dirty="0">
                <a:solidFill>
                  <a:srgbClr val="FF644E"/>
                </a:solidFill>
                <a:latin typeface="Trebuchet MS"/>
                <a:cs typeface="Trebuchet MS"/>
              </a:rPr>
              <a:t>	</a:t>
            </a:r>
            <a:r>
              <a:rPr sz="1342" b="1" spc="-100" dirty="0">
                <a:solidFill>
                  <a:srgbClr val="FF644E"/>
                </a:solidFill>
                <a:latin typeface="Trebuchet MS"/>
                <a:cs typeface="Trebuchet MS"/>
              </a:rPr>
              <a:t>L</a:t>
            </a:r>
            <a:r>
              <a:rPr sz="1342" b="1" spc="-166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-45" dirty="0">
                <a:solidFill>
                  <a:srgbClr val="FF644E"/>
                </a:solidFill>
                <a:latin typeface="Trebuchet MS"/>
                <a:cs typeface="Trebuchet MS"/>
              </a:rPr>
              <a:t>A</a:t>
            </a:r>
            <a:r>
              <a:rPr sz="1342" b="1" spc="-177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34" dirty="0">
                <a:solidFill>
                  <a:srgbClr val="FF644E"/>
                </a:solidFill>
                <a:latin typeface="Trebuchet MS"/>
                <a:cs typeface="Trebuchet MS"/>
              </a:rPr>
              <a:t>S</a:t>
            </a:r>
            <a:r>
              <a:rPr sz="1342" b="1" spc="-177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-23" dirty="0">
                <a:solidFill>
                  <a:srgbClr val="FF644E"/>
                </a:solidFill>
                <a:latin typeface="Trebuchet MS"/>
                <a:cs typeface="Trebuchet MS"/>
              </a:rPr>
              <a:t>T</a:t>
            </a:r>
            <a:r>
              <a:rPr sz="1342" b="1" dirty="0">
                <a:solidFill>
                  <a:srgbClr val="FF644E"/>
                </a:solidFill>
                <a:latin typeface="Trebuchet MS"/>
                <a:cs typeface="Trebuchet MS"/>
              </a:rPr>
              <a:t>	M</a:t>
            </a:r>
            <a:r>
              <a:rPr sz="1342" b="1" spc="-171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-109" dirty="0">
                <a:solidFill>
                  <a:srgbClr val="FF644E"/>
                </a:solidFill>
                <a:latin typeface="Trebuchet MS"/>
                <a:cs typeface="Trebuchet MS"/>
              </a:rPr>
              <a:t>E</a:t>
            </a:r>
            <a:r>
              <a:rPr sz="1342" b="1" spc="-155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59" dirty="0">
                <a:solidFill>
                  <a:srgbClr val="FF644E"/>
                </a:solidFill>
                <a:latin typeface="Trebuchet MS"/>
                <a:cs typeface="Trebuchet MS"/>
              </a:rPr>
              <a:t>THOD:</a:t>
            </a:r>
            <a:r>
              <a:rPr sz="1342" b="1" dirty="0">
                <a:solidFill>
                  <a:srgbClr val="FF644E"/>
                </a:solidFill>
                <a:latin typeface="Trebuchet MS"/>
                <a:cs typeface="Trebuchet MS"/>
              </a:rPr>
              <a:t>	</a:t>
            </a:r>
            <a:r>
              <a:rPr sz="1342" b="1" spc="-52" dirty="0">
                <a:solidFill>
                  <a:srgbClr val="FF644E"/>
                </a:solidFill>
                <a:latin typeface="Trebuchet MS"/>
                <a:cs typeface="Trebuchet MS"/>
              </a:rPr>
              <a:t>C</a:t>
            </a:r>
            <a:r>
              <a:rPr sz="1342" b="1" spc="-177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52" dirty="0">
                <a:solidFill>
                  <a:srgbClr val="FF644E"/>
                </a:solidFill>
                <a:latin typeface="Trebuchet MS"/>
                <a:cs typeface="Trebuchet MS"/>
              </a:rPr>
              <a:t>OM</a:t>
            </a:r>
            <a:r>
              <a:rPr sz="1342" b="1" spc="-177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-43" dirty="0">
                <a:solidFill>
                  <a:srgbClr val="FF644E"/>
                </a:solidFill>
                <a:latin typeface="Trebuchet MS"/>
                <a:cs typeface="Trebuchet MS"/>
              </a:rPr>
              <a:t>B</a:t>
            </a:r>
            <a:r>
              <a:rPr sz="1342" b="1" spc="-177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66" dirty="0">
                <a:solidFill>
                  <a:srgbClr val="FF644E"/>
                </a:solidFill>
                <a:latin typeface="Trebuchet MS"/>
                <a:cs typeface="Trebuchet MS"/>
              </a:rPr>
              <a:t>IN</a:t>
            </a:r>
            <a:r>
              <a:rPr sz="1342" b="1" spc="-177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-23" dirty="0">
                <a:solidFill>
                  <a:srgbClr val="FF644E"/>
                </a:solidFill>
                <a:latin typeface="Trebuchet MS"/>
                <a:cs typeface="Trebuchet MS"/>
              </a:rPr>
              <a:t>E</a:t>
            </a:r>
            <a:r>
              <a:rPr sz="1342" b="1" dirty="0">
                <a:solidFill>
                  <a:srgbClr val="FF644E"/>
                </a:solidFill>
                <a:latin typeface="Trebuchet MS"/>
                <a:cs typeface="Trebuchet MS"/>
              </a:rPr>
              <a:t>	</a:t>
            </a:r>
            <a:r>
              <a:rPr sz="1342" b="1" spc="30" dirty="0">
                <a:solidFill>
                  <a:srgbClr val="FF644E"/>
                </a:solidFill>
                <a:latin typeface="Trebuchet MS"/>
                <a:cs typeface="Trebuchet MS"/>
              </a:rPr>
              <a:t>EV</a:t>
            </a:r>
            <a:r>
              <a:rPr sz="1342" b="1" spc="-175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23" dirty="0">
                <a:solidFill>
                  <a:srgbClr val="FF644E"/>
                </a:solidFill>
                <a:latin typeface="Trebuchet MS"/>
                <a:cs typeface="Trebuchet MS"/>
              </a:rPr>
              <a:t>ER</a:t>
            </a:r>
            <a:r>
              <a:rPr sz="1342" b="1" spc="-209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-102" dirty="0">
                <a:solidFill>
                  <a:srgbClr val="FF644E"/>
                </a:solidFill>
                <a:latin typeface="Trebuchet MS"/>
                <a:cs typeface="Trebuchet MS"/>
              </a:rPr>
              <a:t>Y</a:t>
            </a:r>
            <a:r>
              <a:rPr sz="1342" b="1" spc="-166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98" dirty="0">
                <a:solidFill>
                  <a:srgbClr val="FF644E"/>
                </a:solidFill>
                <a:latin typeface="Trebuchet MS"/>
                <a:cs typeface="Trebuchet MS"/>
              </a:rPr>
              <a:t>THIN</a:t>
            </a:r>
            <a:r>
              <a:rPr sz="1342" b="1" spc="-175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-11" dirty="0">
                <a:solidFill>
                  <a:srgbClr val="FF644E"/>
                </a:solidFill>
                <a:latin typeface="Trebuchet MS"/>
                <a:cs typeface="Trebuchet MS"/>
              </a:rPr>
              <a:t>G! </a:t>
            </a:r>
            <a:endParaRPr sz="1342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44918" y="1881007"/>
            <a:ext cx="6415819" cy="2232569"/>
            <a:chOff x="1637785" y="2251240"/>
            <a:chExt cx="14105890" cy="49085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7785" y="2251240"/>
              <a:ext cx="14105392" cy="490796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679669" y="2272182"/>
              <a:ext cx="14022069" cy="4824730"/>
            </a:xfrm>
            <a:custGeom>
              <a:avLst/>
              <a:gdLst/>
              <a:ahLst/>
              <a:cxnLst/>
              <a:rect l="l" t="t" r="r" b="b"/>
              <a:pathLst>
                <a:path w="14022069" h="4824730">
                  <a:moveTo>
                    <a:pt x="13924253" y="0"/>
                  </a:moveTo>
                  <a:lnTo>
                    <a:pt x="97375" y="0"/>
                  </a:lnTo>
                  <a:lnTo>
                    <a:pt x="59472" y="7652"/>
                  </a:lnTo>
                  <a:lnTo>
                    <a:pt x="28520" y="28520"/>
                  </a:lnTo>
                  <a:lnTo>
                    <a:pt x="7652" y="59472"/>
                  </a:lnTo>
                  <a:lnTo>
                    <a:pt x="0" y="97376"/>
                  </a:lnTo>
                  <a:lnTo>
                    <a:pt x="0" y="4726820"/>
                  </a:lnTo>
                  <a:lnTo>
                    <a:pt x="7652" y="4764723"/>
                  </a:lnTo>
                  <a:lnTo>
                    <a:pt x="28520" y="4795675"/>
                  </a:lnTo>
                  <a:lnTo>
                    <a:pt x="59472" y="4816544"/>
                  </a:lnTo>
                  <a:lnTo>
                    <a:pt x="97375" y="4824196"/>
                  </a:lnTo>
                  <a:lnTo>
                    <a:pt x="13924253" y="4824196"/>
                  </a:lnTo>
                  <a:lnTo>
                    <a:pt x="13962156" y="4816544"/>
                  </a:lnTo>
                  <a:lnTo>
                    <a:pt x="13993110" y="4795675"/>
                  </a:lnTo>
                  <a:lnTo>
                    <a:pt x="14013979" y="4764723"/>
                  </a:lnTo>
                  <a:lnTo>
                    <a:pt x="14021632" y="4726820"/>
                  </a:lnTo>
                  <a:lnTo>
                    <a:pt x="14021632" y="97376"/>
                  </a:lnTo>
                  <a:lnTo>
                    <a:pt x="14013979" y="59472"/>
                  </a:lnTo>
                  <a:lnTo>
                    <a:pt x="13993110" y="28520"/>
                  </a:lnTo>
                  <a:lnTo>
                    <a:pt x="13962156" y="7652"/>
                  </a:lnTo>
                  <a:lnTo>
                    <a:pt x="13924253" y="0"/>
                  </a:lnTo>
                  <a:close/>
                </a:path>
              </a:pathLst>
            </a:custGeom>
            <a:solidFill>
              <a:srgbClr val="A8D6FF"/>
            </a:solidFill>
          </p:spPr>
          <p:txBody>
            <a:bodyPr wrap="square" lIns="0" tIns="0" rIns="0" bIns="0" rtlCol="0"/>
            <a:lstStyle/>
            <a:p>
              <a:endParaRPr sz="819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96177" y="2023457"/>
            <a:ext cx="625870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>
              <a:spcBef>
                <a:spcPts val="55"/>
              </a:spcBef>
            </a:pPr>
            <a:r>
              <a:rPr sz="1865" b="1" spc="-155" dirty="0">
                <a:latin typeface="Trebuchet MS"/>
                <a:cs typeface="Trebuchet MS"/>
              </a:rPr>
              <a:t>Adam:</a:t>
            </a:r>
            <a:endParaRPr sz="1865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27708" y="1961081"/>
            <a:ext cx="1999781" cy="386764"/>
          </a:xfrm>
          <a:prstGeom prst="rect">
            <a:avLst/>
          </a:prstGeom>
        </p:spPr>
        <p:txBody>
          <a:bodyPr vert="horz" wrap="square" lIns="0" tIns="5199" rIns="0" bIns="0" rtlCol="0">
            <a:spAutoFit/>
          </a:bodyPr>
          <a:lstStyle/>
          <a:p>
            <a:pPr marL="5776">
              <a:spcBef>
                <a:spcPts val="41"/>
              </a:spcBef>
              <a:tabLst>
                <a:tab pos="646330" algn="l"/>
                <a:tab pos="1307966" algn="l"/>
              </a:tabLst>
            </a:pPr>
            <a:r>
              <a:rPr sz="2479" b="1" spc="-23" dirty="0">
                <a:latin typeface="Times New Roman"/>
                <a:cs typeface="Times New Roman"/>
              </a:rPr>
              <a:t>w</a:t>
            </a:r>
            <a:r>
              <a:rPr sz="2479" b="1" dirty="0">
                <a:latin typeface="Times New Roman"/>
                <a:cs typeface="Times New Roman"/>
              </a:rPr>
              <a:t>	</a:t>
            </a:r>
            <a:r>
              <a:rPr sz="2479" spc="314" dirty="0">
                <a:latin typeface="Cambria"/>
                <a:cs typeface="Cambria"/>
              </a:rPr>
              <a:t>=</a:t>
            </a:r>
            <a:r>
              <a:rPr sz="2479" spc="141" dirty="0">
                <a:latin typeface="Cambria"/>
                <a:cs typeface="Cambria"/>
              </a:rPr>
              <a:t> </a:t>
            </a:r>
            <a:r>
              <a:rPr sz="2479" b="1" spc="-23" dirty="0">
                <a:latin typeface="Times New Roman"/>
                <a:cs typeface="Times New Roman"/>
              </a:rPr>
              <a:t>w</a:t>
            </a:r>
            <a:r>
              <a:rPr sz="2479" b="1" dirty="0">
                <a:latin typeface="Times New Roman"/>
                <a:cs typeface="Times New Roman"/>
              </a:rPr>
              <a:t>	</a:t>
            </a:r>
            <a:r>
              <a:rPr sz="2479" spc="314" dirty="0">
                <a:latin typeface="Cambria"/>
                <a:cs typeface="Cambria"/>
              </a:rPr>
              <a:t>−</a:t>
            </a:r>
            <a:r>
              <a:rPr sz="2479" spc="2" dirty="0">
                <a:latin typeface="Cambria"/>
                <a:cs typeface="Cambria"/>
              </a:rPr>
              <a:t> </a:t>
            </a:r>
            <a:r>
              <a:rPr sz="2479" i="1" spc="-11" dirty="0">
                <a:latin typeface="Times New Roman"/>
                <a:cs typeface="Times New Roman"/>
              </a:rPr>
              <a:t>αG</a:t>
            </a:r>
            <a:endParaRPr sz="2479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32060" y="1935933"/>
            <a:ext cx="276111" cy="275849"/>
          </a:xfrm>
          <a:prstGeom prst="rect">
            <a:avLst/>
          </a:prstGeom>
        </p:spPr>
        <p:txBody>
          <a:bodyPr vert="horz" wrap="square" lIns="0" tIns="6354" rIns="0" bIns="0" rtlCol="0">
            <a:spAutoFit/>
          </a:bodyPr>
          <a:lstStyle/>
          <a:p>
            <a:pPr marL="5776">
              <a:spcBef>
                <a:spcPts val="50"/>
              </a:spcBef>
            </a:pPr>
            <a:r>
              <a:rPr sz="1751" spc="50" dirty="0">
                <a:latin typeface="Cambria"/>
                <a:cs typeface="Cambria"/>
              </a:rPr>
              <a:t>−1</a:t>
            </a:r>
            <a:endParaRPr sz="1751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96542" y="1961081"/>
            <a:ext cx="168959" cy="386764"/>
          </a:xfrm>
          <a:prstGeom prst="rect">
            <a:avLst/>
          </a:prstGeom>
        </p:spPr>
        <p:txBody>
          <a:bodyPr vert="horz" wrap="square" lIns="0" tIns="5199" rIns="0" bIns="0" rtlCol="0">
            <a:spAutoFit/>
          </a:bodyPr>
          <a:lstStyle/>
          <a:p>
            <a:pPr marL="5776">
              <a:spcBef>
                <a:spcPts val="41"/>
              </a:spcBef>
            </a:pPr>
            <a:r>
              <a:rPr sz="2479" b="1" spc="-23" dirty="0">
                <a:latin typeface="Times New Roman"/>
                <a:cs typeface="Times New Roman"/>
              </a:rPr>
              <a:t>v</a:t>
            </a:r>
            <a:endParaRPr sz="2479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54672" y="2130831"/>
            <a:ext cx="2272714" cy="275849"/>
          </a:xfrm>
          <a:prstGeom prst="rect">
            <a:avLst/>
          </a:prstGeom>
        </p:spPr>
        <p:txBody>
          <a:bodyPr vert="horz" wrap="square" lIns="0" tIns="6354" rIns="0" bIns="0" rtlCol="0">
            <a:spAutoFit/>
          </a:bodyPr>
          <a:lstStyle/>
          <a:p>
            <a:pPr marL="5776">
              <a:spcBef>
                <a:spcPts val="50"/>
              </a:spcBef>
              <a:tabLst>
                <a:tab pos="948990" algn="l"/>
                <a:tab pos="1755603" algn="l"/>
                <a:tab pos="2204395" algn="l"/>
              </a:tabLst>
            </a:pPr>
            <a:r>
              <a:rPr sz="1751" i="1" spc="27" dirty="0">
                <a:latin typeface="Times New Roman"/>
                <a:cs typeface="Times New Roman"/>
              </a:rPr>
              <a:t>t</a:t>
            </a:r>
            <a:r>
              <a:rPr sz="1751" spc="27" dirty="0">
                <a:latin typeface="Cambria"/>
                <a:cs typeface="Cambria"/>
              </a:rPr>
              <a:t>+1</a:t>
            </a:r>
            <a:r>
              <a:rPr sz="1751" dirty="0">
                <a:latin typeface="Cambria"/>
                <a:cs typeface="Cambria"/>
              </a:rPr>
              <a:t>	</a:t>
            </a:r>
            <a:r>
              <a:rPr sz="1751" i="1" spc="-23" dirty="0">
                <a:latin typeface="Times New Roman"/>
                <a:cs typeface="Times New Roman"/>
              </a:rPr>
              <a:t>t</a:t>
            </a:r>
            <a:r>
              <a:rPr sz="1751" i="1" dirty="0">
                <a:latin typeface="Times New Roman"/>
                <a:cs typeface="Times New Roman"/>
              </a:rPr>
              <a:t>	</a:t>
            </a:r>
            <a:r>
              <a:rPr sz="1751" i="1" spc="-23" dirty="0">
                <a:latin typeface="Times New Roman"/>
                <a:cs typeface="Times New Roman"/>
              </a:rPr>
              <a:t>t</a:t>
            </a:r>
            <a:r>
              <a:rPr sz="1751" i="1" dirty="0">
                <a:latin typeface="Times New Roman"/>
                <a:cs typeface="Times New Roman"/>
              </a:rPr>
              <a:t>	</a:t>
            </a:r>
            <a:r>
              <a:rPr sz="1751" i="1" spc="-23" dirty="0">
                <a:latin typeface="Times New Roman"/>
                <a:cs typeface="Times New Roman"/>
              </a:rPr>
              <a:t>t</a:t>
            </a:r>
            <a:endParaRPr sz="1751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06861" y="2557927"/>
            <a:ext cx="1018664" cy="380878"/>
          </a:xfrm>
          <a:prstGeom prst="rect">
            <a:avLst/>
          </a:prstGeom>
        </p:spPr>
        <p:txBody>
          <a:bodyPr vert="horz" wrap="square" lIns="0" tIns="6354" rIns="0" bIns="0" rtlCol="0">
            <a:spAutoFit/>
          </a:bodyPr>
          <a:lstStyle/>
          <a:p>
            <a:pPr marL="17328">
              <a:spcBef>
                <a:spcPts val="50"/>
              </a:spcBef>
              <a:tabLst>
                <a:tab pos="788996" algn="l"/>
              </a:tabLst>
            </a:pPr>
            <a:r>
              <a:rPr sz="3650" spc="-7" baseline="-10903" dirty="0">
                <a:latin typeface="Sitka Small"/>
                <a:cs typeface="Sitka Small"/>
              </a:rPr>
              <a:t>(</a:t>
            </a:r>
            <a:r>
              <a:rPr sz="2433" i="1" spc="-5" dirty="0">
                <a:latin typeface="Times New Roman"/>
                <a:cs typeface="Times New Roman"/>
              </a:rPr>
              <a:t>G</a:t>
            </a:r>
            <a:r>
              <a:rPr sz="2592" i="1" spc="-7" baseline="-19736" dirty="0">
                <a:latin typeface="Times New Roman"/>
                <a:cs typeface="Times New Roman"/>
              </a:rPr>
              <a:t>t</a:t>
            </a:r>
            <a:r>
              <a:rPr sz="3650" spc="-7" baseline="-10903" dirty="0">
                <a:latin typeface="Sitka Small"/>
                <a:cs typeface="Sitka Small"/>
              </a:rPr>
              <a:t>)</a:t>
            </a:r>
            <a:r>
              <a:rPr sz="2592" i="1" spc="-7" baseline="-40935" dirty="0">
                <a:latin typeface="Times New Roman"/>
                <a:cs typeface="Times New Roman"/>
              </a:rPr>
              <a:t>ii</a:t>
            </a:r>
            <a:r>
              <a:rPr sz="2592" i="1" baseline="-40935" dirty="0">
                <a:latin typeface="Times New Roman"/>
                <a:cs typeface="Times New Roman"/>
              </a:rPr>
              <a:t>	</a:t>
            </a:r>
            <a:r>
              <a:rPr sz="2433" spc="287" dirty="0">
                <a:latin typeface="Cambria"/>
                <a:cs typeface="Cambria"/>
              </a:rPr>
              <a:t>=</a:t>
            </a:r>
            <a:endParaRPr sz="2433">
              <a:latin typeface="Cambria"/>
              <a:cs typeface="Cambr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194096" y="2615303"/>
            <a:ext cx="735910" cy="381530"/>
          </a:xfrm>
          <a:custGeom>
            <a:avLst/>
            <a:gdLst/>
            <a:ahLst/>
            <a:cxnLst/>
            <a:rect l="l" t="t" r="r" b="b"/>
            <a:pathLst>
              <a:path w="1617979" h="838835">
                <a:moveTo>
                  <a:pt x="148403" y="437710"/>
                </a:moveTo>
                <a:lnTo>
                  <a:pt x="52416" y="437710"/>
                </a:lnTo>
                <a:lnTo>
                  <a:pt x="64562" y="439677"/>
                </a:lnTo>
                <a:lnTo>
                  <a:pt x="75560" y="446304"/>
                </a:lnTo>
                <a:lnTo>
                  <a:pt x="85537" y="458674"/>
                </a:lnTo>
                <a:lnTo>
                  <a:pt x="94621" y="477873"/>
                </a:lnTo>
                <a:lnTo>
                  <a:pt x="232129" y="838660"/>
                </a:lnTo>
                <a:lnTo>
                  <a:pt x="253912" y="838660"/>
                </a:lnTo>
                <a:lnTo>
                  <a:pt x="297755" y="725659"/>
                </a:lnTo>
                <a:lnTo>
                  <a:pt x="257996" y="725659"/>
                </a:lnTo>
                <a:lnTo>
                  <a:pt x="148403" y="437710"/>
                </a:lnTo>
                <a:close/>
              </a:path>
              <a:path w="1617979" h="838835">
                <a:moveTo>
                  <a:pt x="542542" y="0"/>
                </a:moveTo>
                <a:lnTo>
                  <a:pt x="260719" y="725659"/>
                </a:lnTo>
                <a:lnTo>
                  <a:pt x="297755" y="725659"/>
                </a:lnTo>
                <a:lnTo>
                  <a:pt x="561870" y="44927"/>
                </a:lnTo>
                <a:lnTo>
                  <a:pt x="542542" y="44927"/>
                </a:lnTo>
                <a:lnTo>
                  <a:pt x="542542" y="0"/>
                </a:lnTo>
                <a:close/>
              </a:path>
              <a:path w="1617979" h="838835">
                <a:moveTo>
                  <a:pt x="119127" y="360786"/>
                </a:moveTo>
                <a:lnTo>
                  <a:pt x="106193" y="360786"/>
                </a:lnTo>
                <a:lnTo>
                  <a:pt x="0" y="445197"/>
                </a:lnTo>
                <a:lnTo>
                  <a:pt x="8085" y="458674"/>
                </a:lnTo>
                <a:lnTo>
                  <a:pt x="8168" y="458812"/>
                </a:lnTo>
                <a:lnTo>
                  <a:pt x="19772" y="449771"/>
                </a:lnTo>
                <a:lnTo>
                  <a:pt x="31568" y="443155"/>
                </a:lnTo>
                <a:lnTo>
                  <a:pt x="42726" y="439092"/>
                </a:lnTo>
                <a:lnTo>
                  <a:pt x="52416" y="437710"/>
                </a:lnTo>
                <a:lnTo>
                  <a:pt x="148403" y="437710"/>
                </a:lnTo>
                <a:lnTo>
                  <a:pt x="119127" y="360786"/>
                </a:lnTo>
                <a:close/>
              </a:path>
              <a:path w="1617979" h="838835">
                <a:moveTo>
                  <a:pt x="579301" y="0"/>
                </a:moveTo>
                <a:lnTo>
                  <a:pt x="542542" y="0"/>
                </a:lnTo>
                <a:lnTo>
                  <a:pt x="542542" y="44927"/>
                </a:lnTo>
                <a:lnTo>
                  <a:pt x="561870" y="44927"/>
                </a:lnTo>
                <a:lnTo>
                  <a:pt x="579301" y="0"/>
                </a:lnTo>
                <a:close/>
              </a:path>
              <a:path w="1617979" h="838835">
                <a:moveTo>
                  <a:pt x="1617841" y="0"/>
                </a:moveTo>
                <a:lnTo>
                  <a:pt x="579301" y="0"/>
                </a:lnTo>
                <a:lnTo>
                  <a:pt x="561870" y="44927"/>
                </a:lnTo>
                <a:lnTo>
                  <a:pt x="1617841" y="44927"/>
                </a:lnTo>
                <a:lnTo>
                  <a:pt x="16178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819"/>
          </a:p>
        </p:txBody>
      </p:sp>
      <p:sp>
        <p:nvSpPr>
          <p:cNvPr id="14" name="object 14"/>
          <p:cNvSpPr txBox="1"/>
          <p:nvPr/>
        </p:nvSpPr>
        <p:spPr>
          <a:xfrm>
            <a:off x="3434476" y="2557927"/>
            <a:ext cx="1740999" cy="380814"/>
          </a:xfrm>
          <a:prstGeom prst="rect">
            <a:avLst/>
          </a:prstGeom>
        </p:spPr>
        <p:txBody>
          <a:bodyPr vert="horz" wrap="square" lIns="0" tIns="6354" rIns="0" bIns="0" rtlCol="0">
            <a:spAutoFit/>
          </a:bodyPr>
          <a:lstStyle/>
          <a:p>
            <a:pPr marL="23104">
              <a:spcBef>
                <a:spcPts val="50"/>
              </a:spcBef>
              <a:tabLst>
                <a:tab pos="665391" algn="l"/>
                <a:tab pos="1568462" algn="l"/>
              </a:tabLst>
            </a:pPr>
            <a:r>
              <a:rPr sz="2433" spc="-5" dirty="0">
                <a:latin typeface="Cambria"/>
                <a:cs typeface="Cambria"/>
              </a:rPr>
              <a:t>(</a:t>
            </a:r>
            <a:r>
              <a:rPr sz="2433" i="1" spc="-5" dirty="0">
                <a:latin typeface="Times New Roman"/>
                <a:cs typeface="Times New Roman"/>
              </a:rPr>
              <a:t>g</a:t>
            </a:r>
            <a:r>
              <a:rPr sz="2592" i="1" spc="-7" baseline="-19736" dirty="0">
                <a:latin typeface="Times New Roman"/>
                <a:cs typeface="Times New Roman"/>
              </a:rPr>
              <a:t>t</a:t>
            </a:r>
            <a:r>
              <a:rPr sz="2433" spc="-5" dirty="0">
                <a:latin typeface="Cambria"/>
                <a:cs typeface="Cambria"/>
              </a:rPr>
              <a:t>)</a:t>
            </a:r>
            <a:r>
              <a:rPr sz="2592" i="1" spc="-7" baseline="-19736" dirty="0">
                <a:latin typeface="Times New Roman"/>
                <a:cs typeface="Times New Roman"/>
              </a:rPr>
              <a:t>i</a:t>
            </a:r>
            <a:r>
              <a:rPr sz="2592" i="1" baseline="-19736" dirty="0">
                <a:latin typeface="Times New Roman"/>
                <a:cs typeface="Times New Roman"/>
              </a:rPr>
              <a:t>	</a:t>
            </a:r>
            <a:r>
              <a:rPr sz="2433" spc="82" dirty="0">
                <a:latin typeface="Cambria"/>
                <a:cs typeface="Cambria"/>
              </a:rPr>
              <a:t>,</a:t>
            </a:r>
            <a:r>
              <a:rPr sz="2433" dirty="0">
                <a:latin typeface="Cambria"/>
                <a:cs typeface="Cambria"/>
              </a:rPr>
              <a:t>	</a:t>
            </a:r>
            <a:r>
              <a:rPr sz="2433" spc="-159" dirty="0">
                <a:latin typeface="Cambria"/>
                <a:cs typeface="Cambria"/>
              </a:rPr>
              <a:t>0</a:t>
            </a:r>
            <a:endParaRPr sz="2433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86159" y="2614006"/>
            <a:ext cx="573016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>
              <a:spcBef>
                <a:spcPts val="55"/>
              </a:spcBef>
            </a:pPr>
            <a:r>
              <a:rPr sz="1865" b="1" i="1" spc="-123" dirty="0">
                <a:latin typeface="Gill Sans MT"/>
                <a:cs typeface="Gill Sans MT"/>
              </a:rPr>
              <a:t>where</a:t>
            </a:r>
            <a:endParaRPr sz="1865">
              <a:latin typeface="Gill Sans MT"/>
              <a:cs typeface="Gill Sans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80739" y="2589015"/>
            <a:ext cx="400591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>
              <a:spcBef>
                <a:spcPts val="55"/>
              </a:spcBef>
            </a:pPr>
            <a:r>
              <a:rPr sz="1865" b="1" i="1" spc="-9" dirty="0">
                <a:latin typeface="Gill Sans MT"/>
                <a:cs typeface="Gill Sans MT"/>
              </a:rPr>
              <a:t>else</a:t>
            </a:r>
            <a:endParaRPr sz="1865">
              <a:latin typeface="Gill Sans MT"/>
              <a:cs typeface="Gill Sans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46551" y="3274014"/>
            <a:ext cx="72782" cy="272031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5776">
              <a:spcBef>
                <a:spcPts val="48"/>
              </a:spcBef>
            </a:pPr>
            <a:r>
              <a:rPr sz="1728" i="1" spc="-23" dirty="0">
                <a:latin typeface="Times New Roman"/>
                <a:cs typeface="Times New Roman"/>
              </a:rPr>
              <a:t>i</a:t>
            </a:r>
            <a:endParaRPr sz="1728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40217" y="3022714"/>
            <a:ext cx="1488282" cy="380878"/>
          </a:xfrm>
          <a:prstGeom prst="rect">
            <a:avLst/>
          </a:prstGeom>
        </p:spPr>
        <p:txBody>
          <a:bodyPr vert="horz" wrap="square" lIns="0" tIns="6354" rIns="0" bIns="0" rtlCol="0">
            <a:spAutoFit/>
          </a:bodyPr>
          <a:lstStyle/>
          <a:p>
            <a:pPr marL="17328">
              <a:spcBef>
                <a:spcPts val="50"/>
              </a:spcBef>
              <a:tabLst>
                <a:tab pos="659037" algn="l"/>
              </a:tabLst>
            </a:pPr>
            <a:r>
              <a:rPr sz="3650" spc="-14" baseline="-10903" dirty="0">
                <a:latin typeface="Sitka Small"/>
                <a:cs typeface="Sitka Small"/>
              </a:rPr>
              <a:t>(</a:t>
            </a:r>
            <a:r>
              <a:rPr sz="2433" i="1" spc="-9" dirty="0">
                <a:latin typeface="Times New Roman"/>
                <a:cs typeface="Times New Roman"/>
              </a:rPr>
              <a:t>g</a:t>
            </a:r>
            <a:r>
              <a:rPr sz="2592" i="1" spc="-14" baseline="-19736" dirty="0">
                <a:latin typeface="Times New Roman"/>
                <a:cs typeface="Times New Roman"/>
              </a:rPr>
              <a:t>t</a:t>
            </a:r>
            <a:r>
              <a:rPr sz="3650" spc="-14" baseline="-10903" dirty="0">
                <a:latin typeface="Sitka Small"/>
                <a:cs typeface="Sitka Small"/>
              </a:rPr>
              <a:t>)</a:t>
            </a:r>
            <a:r>
              <a:rPr sz="3650" baseline="-10903" dirty="0">
                <a:latin typeface="Sitka Small"/>
                <a:cs typeface="Sitka Small"/>
              </a:rPr>
              <a:t>	</a:t>
            </a:r>
            <a:r>
              <a:rPr sz="2433" spc="309" dirty="0">
                <a:latin typeface="Cambria"/>
                <a:cs typeface="Cambria"/>
              </a:rPr>
              <a:t>=</a:t>
            </a:r>
            <a:r>
              <a:rPr sz="2433" spc="141" dirty="0">
                <a:latin typeface="Cambria"/>
                <a:cs typeface="Cambria"/>
              </a:rPr>
              <a:t> </a:t>
            </a:r>
            <a:r>
              <a:rPr sz="2433" i="1" dirty="0">
                <a:latin typeface="Times New Roman"/>
                <a:cs typeface="Times New Roman"/>
              </a:rPr>
              <a:t>β</a:t>
            </a:r>
            <a:r>
              <a:rPr sz="2433" i="1" spc="180" dirty="0">
                <a:latin typeface="Times New Roman"/>
                <a:cs typeface="Times New Roman"/>
              </a:rPr>
              <a:t> </a:t>
            </a:r>
            <a:r>
              <a:rPr sz="2433" spc="-16" dirty="0">
                <a:latin typeface="Cambria"/>
                <a:cs typeface="Cambria"/>
              </a:rPr>
              <a:t>(</a:t>
            </a:r>
            <a:r>
              <a:rPr sz="2433" i="1" spc="-16" dirty="0">
                <a:latin typeface="Times New Roman"/>
                <a:cs typeface="Times New Roman"/>
              </a:rPr>
              <a:t>g</a:t>
            </a:r>
            <a:endParaRPr sz="2433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37473" y="3189886"/>
            <a:ext cx="3195490" cy="272031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5776">
              <a:spcBef>
                <a:spcPts val="48"/>
              </a:spcBef>
              <a:tabLst>
                <a:tab pos="362441" algn="l"/>
                <a:tab pos="786975" algn="l"/>
                <a:tab pos="1951119" algn="l"/>
                <a:tab pos="2963934" algn="l"/>
                <a:tab pos="3127971" algn="l"/>
              </a:tabLst>
            </a:pPr>
            <a:r>
              <a:rPr sz="1728" spc="-23" dirty="0">
                <a:latin typeface="Cambria"/>
                <a:cs typeface="Cambria"/>
              </a:rPr>
              <a:t>1</a:t>
            </a:r>
            <a:r>
              <a:rPr sz="1728" dirty="0">
                <a:latin typeface="Cambria"/>
                <a:cs typeface="Cambria"/>
              </a:rPr>
              <a:t>	</a:t>
            </a:r>
            <a:r>
              <a:rPr sz="1728" i="1" spc="32" dirty="0">
                <a:latin typeface="Times New Roman"/>
                <a:cs typeface="Times New Roman"/>
              </a:rPr>
              <a:t>t</a:t>
            </a:r>
            <a:r>
              <a:rPr sz="1728" spc="32" dirty="0">
                <a:latin typeface="Cambria"/>
                <a:cs typeface="Cambria"/>
              </a:rPr>
              <a:t>−1</a:t>
            </a:r>
            <a:r>
              <a:rPr sz="1728" dirty="0">
                <a:latin typeface="Cambria"/>
                <a:cs typeface="Cambria"/>
              </a:rPr>
              <a:t>	</a:t>
            </a:r>
            <a:r>
              <a:rPr sz="1728" i="1" spc="-23" dirty="0">
                <a:latin typeface="Times New Roman"/>
                <a:cs typeface="Times New Roman"/>
              </a:rPr>
              <a:t>i</a:t>
            </a:r>
            <a:r>
              <a:rPr sz="1728" i="1" dirty="0">
                <a:latin typeface="Times New Roman"/>
                <a:cs typeface="Times New Roman"/>
              </a:rPr>
              <a:t>	</a:t>
            </a:r>
            <a:r>
              <a:rPr sz="1728" spc="-23" dirty="0">
                <a:latin typeface="Cambria"/>
                <a:cs typeface="Cambria"/>
              </a:rPr>
              <a:t>1</a:t>
            </a:r>
            <a:r>
              <a:rPr sz="1728" dirty="0">
                <a:latin typeface="Cambria"/>
                <a:cs typeface="Cambria"/>
              </a:rPr>
              <a:t>	</a:t>
            </a:r>
            <a:r>
              <a:rPr sz="1728" i="1" spc="-23" dirty="0">
                <a:latin typeface="Times New Roman"/>
                <a:cs typeface="Times New Roman"/>
              </a:rPr>
              <a:t>t</a:t>
            </a:r>
            <a:r>
              <a:rPr sz="1728" i="1" dirty="0">
                <a:latin typeface="Times New Roman"/>
                <a:cs typeface="Times New Roman"/>
              </a:rPr>
              <a:t>	</a:t>
            </a:r>
            <a:r>
              <a:rPr sz="1728" i="1" spc="-23" dirty="0">
                <a:latin typeface="Times New Roman"/>
                <a:cs typeface="Times New Roman"/>
              </a:rPr>
              <a:t>i</a:t>
            </a:r>
            <a:endParaRPr sz="1728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04390" y="3022714"/>
            <a:ext cx="2753020" cy="380814"/>
          </a:xfrm>
          <a:prstGeom prst="rect">
            <a:avLst/>
          </a:prstGeom>
        </p:spPr>
        <p:txBody>
          <a:bodyPr vert="horz" wrap="square" lIns="0" tIns="6354" rIns="0" bIns="0" rtlCol="0">
            <a:spAutoFit/>
          </a:bodyPr>
          <a:lstStyle/>
          <a:p>
            <a:pPr marL="17328">
              <a:spcBef>
                <a:spcPts val="50"/>
              </a:spcBef>
              <a:tabLst>
                <a:tab pos="250099" algn="l"/>
              </a:tabLst>
            </a:pPr>
            <a:r>
              <a:rPr sz="2433" spc="-143" dirty="0">
                <a:latin typeface="Cambria"/>
                <a:cs typeface="Cambria"/>
              </a:rPr>
              <a:t>)</a:t>
            </a:r>
            <a:r>
              <a:rPr sz="2433" dirty="0">
                <a:latin typeface="Cambria"/>
                <a:cs typeface="Cambria"/>
              </a:rPr>
              <a:t>	</a:t>
            </a:r>
            <a:r>
              <a:rPr sz="2433" spc="309" dirty="0">
                <a:latin typeface="Cambria"/>
                <a:cs typeface="Cambria"/>
              </a:rPr>
              <a:t>+</a:t>
            </a:r>
            <a:r>
              <a:rPr sz="2433" spc="2" dirty="0">
                <a:latin typeface="Cambria"/>
                <a:cs typeface="Cambria"/>
              </a:rPr>
              <a:t> </a:t>
            </a:r>
            <a:r>
              <a:rPr sz="2433" spc="-130" dirty="0">
                <a:latin typeface="Cambria"/>
                <a:cs typeface="Cambria"/>
              </a:rPr>
              <a:t>(1</a:t>
            </a:r>
            <a:r>
              <a:rPr sz="2433" spc="9" dirty="0">
                <a:latin typeface="Cambria"/>
                <a:cs typeface="Cambria"/>
              </a:rPr>
              <a:t> </a:t>
            </a:r>
            <a:r>
              <a:rPr sz="2433" spc="309" dirty="0">
                <a:latin typeface="Cambria"/>
                <a:cs typeface="Cambria"/>
              </a:rPr>
              <a:t>−</a:t>
            </a:r>
            <a:r>
              <a:rPr sz="2433" spc="7" dirty="0">
                <a:latin typeface="Cambria"/>
                <a:cs typeface="Cambria"/>
              </a:rPr>
              <a:t> </a:t>
            </a:r>
            <a:r>
              <a:rPr sz="2433" i="1" dirty="0">
                <a:latin typeface="Times New Roman"/>
                <a:cs typeface="Times New Roman"/>
              </a:rPr>
              <a:t>β</a:t>
            </a:r>
            <a:r>
              <a:rPr sz="2433" i="1" spc="177" dirty="0">
                <a:latin typeface="Times New Roman"/>
                <a:cs typeface="Times New Roman"/>
              </a:rPr>
              <a:t> </a:t>
            </a:r>
            <a:r>
              <a:rPr sz="2433" spc="-121" dirty="0">
                <a:latin typeface="Cambria"/>
                <a:cs typeface="Cambria"/>
              </a:rPr>
              <a:t>)(</a:t>
            </a:r>
            <a:r>
              <a:rPr sz="2433" spc="-264" dirty="0">
                <a:latin typeface="Cambria"/>
                <a:cs typeface="Cambria"/>
              </a:rPr>
              <a:t> </a:t>
            </a:r>
            <a:r>
              <a:rPr sz="2433" spc="93" dirty="0">
                <a:latin typeface="Cambria"/>
                <a:cs typeface="Cambria"/>
              </a:rPr>
              <a:t>∇</a:t>
            </a:r>
            <a:r>
              <a:rPr sz="2433" i="1" spc="93" dirty="0">
                <a:latin typeface="Times New Roman"/>
                <a:cs typeface="Times New Roman"/>
              </a:rPr>
              <a:t>f</a:t>
            </a:r>
            <a:r>
              <a:rPr sz="2433" spc="93" dirty="0">
                <a:latin typeface="Cambria"/>
                <a:cs typeface="Cambria"/>
              </a:rPr>
              <a:t>(</a:t>
            </a:r>
            <a:r>
              <a:rPr sz="2433" b="1" spc="93" dirty="0">
                <a:latin typeface="Times New Roman"/>
                <a:cs typeface="Times New Roman"/>
              </a:rPr>
              <a:t>w</a:t>
            </a:r>
            <a:r>
              <a:rPr sz="2433" b="1" spc="-125" dirty="0">
                <a:latin typeface="Times New Roman"/>
                <a:cs typeface="Times New Roman"/>
              </a:rPr>
              <a:t> </a:t>
            </a:r>
            <a:r>
              <a:rPr sz="2433" spc="-121" dirty="0">
                <a:latin typeface="Cambria"/>
                <a:cs typeface="Cambria"/>
              </a:rPr>
              <a:t>)</a:t>
            </a:r>
            <a:r>
              <a:rPr sz="2433" spc="-52" dirty="0">
                <a:latin typeface="Cambria"/>
                <a:cs typeface="Cambria"/>
              </a:rPr>
              <a:t> </a:t>
            </a:r>
            <a:r>
              <a:rPr sz="2433" spc="-11" dirty="0">
                <a:latin typeface="Cambria"/>
                <a:cs typeface="Cambria"/>
              </a:rPr>
              <a:t>)</a:t>
            </a:r>
            <a:r>
              <a:rPr sz="2592" spc="-17" baseline="29239" dirty="0">
                <a:latin typeface="Cambria"/>
                <a:cs typeface="Cambria"/>
              </a:rPr>
              <a:t>2</a:t>
            </a:r>
            <a:endParaRPr sz="2592" baseline="29239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8625" y="3487765"/>
            <a:ext cx="7555786" cy="2003309"/>
          </a:xfrm>
          <a:prstGeom prst="rect">
            <a:avLst/>
          </a:prstGeom>
        </p:spPr>
        <p:txBody>
          <a:bodyPr vert="horz" wrap="square" lIns="0" tIns="6354" rIns="0" bIns="0" rtlCol="0">
            <a:spAutoFit/>
          </a:bodyPr>
          <a:lstStyle/>
          <a:p>
            <a:pPr marR="401718" algn="ctr">
              <a:spcBef>
                <a:spcPts val="50"/>
              </a:spcBef>
              <a:tabLst>
                <a:tab pos="301794" algn="l"/>
              </a:tabLst>
            </a:pPr>
            <a:r>
              <a:rPr sz="2433" b="1" spc="-11" dirty="0">
                <a:latin typeface="Times New Roman"/>
                <a:cs typeface="Times New Roman"/>
              </a:rPr>
              <a:t>v</a:t>
            </a:r>
            <a:r>
              <a:rPr sz="2592" i="1" spc="-17" baseline="-19736" dirty="0">
                <a:latin typeface="Times New Roman"/>
                <a:cs typeface="Times New Roman"/>
              </a:rPr>
              <a:t>t</a:t>
            </a:r>
            <a:r>
              <a:rPr sz="2592" i="1" baseline="-19736" dirty="0">
                <a:latin typeface="Times New Roman"/>
                <a:cs typeface="Times New Roman"/>
              </a:rPr>
              <a:t>	</a:t>
            </a:r>
            <a:r>
              <a:rPr sz="2433" spc="309" dirty="0">
                <a:latin typeface="Cambria"/>
                <a:cs typeface="Cambria"/>
              </a:rPr>
              <a:t>=</a:t>
            </a:r>
            <a:r>
              <a:rPr sz="2433" spc="134" dirty="0">
                <a:latin typeface="Cambria"/>
                <a:cs typeface="Cambria"/>
              </a:rPr>
              <a:t> </a:t>
            </a:r>
            <a:r>
              <a:rPr sz="2433" i="1" dirty="0">
                <a:latin typeface="Times New Roman"/>
                <a:cs typeface="Times New Roman"/>
              </a:rPr>
              <a:t>β</a:t>
            </a:r>
            <a:r>
              <a:rPr sz="2592" baseline="-19736" dirty="0">
                <a:latin typeface="Cambria"/>
                <a:cs typeface="Cambria"/>
              </a:rPr>
              <a:t>2</a:t>
            </a:r>
            <a:r>
              <a:rPr sz="2433" b="1" dirty="0">
                <a:latin typeface="Times New Roman"/>
                <a:cs typeface="Times New Roman"/>
              </a:rPr>
              <a:t>v</a:t>
            </a:r>
            <a:r>
              <a:rPr sz="2592" i="1" baseline="-19736" dirty="0">
                <a:latin typeface="Times New Roman"/>
                <a:cs typeface="Times New Roman"/>
              </a:rPr>
              <a:t>t</a:t>
            </a:r>
            <a:r>
              <a:rPr sz="2592" baseline="-19736" dirty="0">
                <a:latin typeface="Cambria"/>
                <a:cs typeface="Cambria"/>
              </a:rPr>
              <a:t>−1</a:t>
            </a:r>
            <a:r>
              <a:rPr sz="2592" spc="231" baseline="-19736" dirty="0">
                <a:latin typeface="Cambria"/>
                <a:cs typeface="Cambria"/>
              </a:rPr>
              <a:t> </a:t>
            </a:r>
            <a:r>
              <a:rPr sz="2433" spc="309" dirty="0">
                <a:latin typeface="Cambria"/>
                <a:cs typeface="Cambria"/>
              </a:rPr>
              <a:t>+</a:t>
            </a:r>
            <a:r>
              <a:rPr sz="2433" spc="2" dirty="0">
                <a:latin typeface="Cambria"/>
                <a:cs typeface="Cambria"/>
              </a:rPr>
              <a:t> </a:t>
            </a:r>
            <a:r>
              <a:rPr sz="2433" spc="-130" dirty="0">
                <a:latin typeface="Cambria"/>
                <a:cs typeface="Cambria"/>
              </a:rPr>
              <a:t>(1</a:t>
            </a:r>
            <a:r>
              <a:rPr sz="2433" dirty="0">
                <a:latin typeface="Cambria"/>
                <a:cs typeface="Cambria"/>
              </a:rPr>
              <a:t> </a:t>
            </a:r>
            <a:r>
              <a:rPr sz="2433" spc="309" dirty="0">
                <a:latin typeface="Cambria"/>
                <a:cs typeface="Cambria"/>
              </a:rPr>
              <a:t>−</a:t>
            </a:r>
            <a:r>
              <a:rPr sz="2433" spc="2" dirty="0">
                <a:latin typeface="Cambria"/>
                <a:cs typeface="Cambria"/>
              </a:rPr>
              <a:t> </a:t>
            </a:r>
            <a:r>
              <a:rPr sz="2433" i="1" spc="-100" dirty="0">
                <a:latin typeface="Times New Roman"/>
                <a:cs typeface="Times New Roman"/>
              </a:rPr>
              <a:t>β</a:t>
            </a:r>
            <a:r>
              <a:rPr sz="2592" spc="-150" baseline="-19736" dirty="0">
                <a:latin typeface="Cambria"/>
                <a:cs typeface="Cambria"/>
              </a:rPr>
              <a:t>2</a:t>
            </a:r>
            <a:r>
              <a:rPr sz="2433" spc="-100" dirty="0">
                <a:latin typeface="Cambria"/>
                <a:cs typeface="Cambria"/>
              </a:rPr>
              <a:t>)</a:t>
            </a:r>
            <a:r>
              <a:rPr sz="2433" spc="-266" dirty="0">
                <a:latin typeface="Cambria"/>
                <a:cs typeface="Cambria"/>
              </a:rPr>
              <a:t> </a:t>
            </a:r>
            <a:r>
              <a:rPr sz="2433" spc="39" dirty="0">
                <a:latin typeface="Cambria"/>
                <a:cs typeface="Cambria"/>
              </a:rPr>
              <a:t>∇</a:t>
            </a:r>
            <a:r>
              <a:rPr sz="2433" i="1" spc="39" dirty="0">
                <a:latin typeface="Times New Roman"/>
                <a:cs typeface="Times New Roman"/>
              </a:rPr>
              <a:t>f</a:t>
            </a:r>
            <a:r>
              <a:rPr sz="2433" spc="39" dirty="0">
                <a:latin typeface="Cambria"/>
                <a:cs typeface="Cambria"/>
              </a:rPr>
              <a:t>(</a:t>
            </a:r>
            <a:r>
              <a:rPr sz="2433" b="1" spc="39" dirty="0">
                <a:latin typeface="Times New Roman"/>
                <a:cs typeface="Times New Roman"/>
              </a:rPr>
              <a:t>w</a:t>
            </a:r>
            <a:r>
              <a:rPr sz="2592" i="1" spc="58" baseline="-19736" dirty="0">
                <a:latin typeface="Times New Roman"/>
                <a:cs typeface="Times New Roman"/>
              </a:rPr>
              <a:t>t</a:t>
            </a:r>
            <a:r>
              <a:rPr sz="2433" spc="39" dirty="0">
                <a:latin typeface="Cambria"/>
                <a:cs typeface="Cambria"/>
              </a:rPr>
              <a:t>)</a:t>
            </a:r>
            <a:endParaRPr sz="2433">
              <a:latin typeface="Cambria"/>
              <a:cs typeface="Cambria"/>
            </a:endParaRPr>
          </a:p>
          <a:p>
            <a:pPr marL="199271" indent="-187719">
              <a:spcBef>
                <a:spcPts val="2783"/>
              </a:spcBef>
              <a:buChar char="•"/>
              <a:tabLst>
                <a:tab pos="199271" algn="l"/>
              </a:tabLst>
            </a:pPr>
            <a:r>
              <a:rPr sz="1865" spc="-84" dirty="0">
                <a:latin typeface="Trebuchet MS"/>
                <a:cs typeface="Trebuchet MS"/>
              </a:rPr>
              <a:t>Combines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32" dirty="0">
                <a:latin typeface="Trebuchet MS"/>
                <a:cs typeface="Trebuchet MS"/>
              </a:rPr>
              <a:t>momentum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07" dirty="0">
                <a:latin typeface="Trebuchet MS"/>
                <a:cs typeface="Trebuchet MS"/>
              </a:rPr>
              <a:t>and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5" dirty="0">
                <a:latin typeface="Trebuchet MS"/>
                <a:cs typeface="Trebuchet MS"/>
              </a:rPr>
              <a:t>RMSprop</a:t>
            </a:r>
            <a:endParaRPr sz="1865">
              <a:latin typeface="Trebuchet MS"/>
              <a:cs typeface="Trebuchet MS"/>
            </a:endParaRPr>
          </a:p>
          <a:p>
            <a:pPr marL="199271" indent="-187719">
              <a:spcBef>
                <a:spcPts val="312"/>
              </a:spcBef>
              <a:buChar char="•"/>
              <a:tabLst>
                <a:tab pos="199271" algn="l"/>
              </a:tabLst>
            </a:pPr>
            <a:r>
              <a:rPr sz="1865" spc="-121" dirty="0">
                <a:latin typeface="Trebuchet MS"/>
                <a:cs typeface="Trebuchet MS"/>
              </a:rPr>
              <a:t>Default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93" dirty="0">
                <a:latin typeface="Trebuchet MS"/>
                <a:cs typeface="Trebuchet MS"/>
              </a:rPr>
              <a:t>choice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09" dirty="0">
                <a:latin typeface="Trebuchet MS"/>
                <a:cs typeface="Trebuchet MS"/>
              </a:rPr>
              <a:t>in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77" dirty="0">
                <a:latin typeface="Trebuchet MS"/>
                <a:cs typeface="Trebuchet MS"/>
              </a:rPr>
              <a:t>most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73" dirty="0">
                <a:latin typeface="Trebuchet MS"/>
                <a:cs typeface="Trebuchet MS"/>
              </a:rPr>
              <a:t>DL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57" dirty="0">
                <a:latin typeface="Trebuchet MS"/>
                <a:cs typeface="Trebuchet MS"/>
              </a:rPr>
              <a:t>frameworks</a:t>
            </a:r>
            <a:endParaRPr sz="1865">
              <a:latin typeface="Trebuchet MS"/>
              <a:cs typeface="Trebuchet MS"/>
            </a:endParaRPr>
          </a:p>
          <a:p>
            <a:pPr marL="199271" indent="-187719">
              <a:spcBef>
                <a:spcPts val="314"/>
              </a:spcBef>
              <a:buChar char="•"/>
              <a:tabLst>
                <a:tab pos="199271" algn="l"/>
              </a:tabLst>
            </a:pPr>
            <a:r>
              <a:rPr sz="1865" spc="-166" dirty="0">
                <a:latin typeface="Trebuchet MS"/>
                <a:cs typeface="Trebuchet MS"/>
              </a:rPr>
              <a:t>However,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59" dirty="0">
                <a:latin typeface="Trebuchet MS"/>
                <a:cs typeface="Trebuchet MS"/>
              </a:rPr>
              <a:t>does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25" dirty="0">
                <a:latin typeface="Trebuchet MS"/>
                <a:cs typeface="Trebuchet MS"/>
              </a:rPr>
              <a:t>not </a:t>
            </a:r>
            <a:r>
              <a:rPr sz="1865" spc="-109" dirty="0">
                <a:latin typeface="Trebuchet MS"/>
                <a:cs typeface="Trebuchet MS"/>
              </a:rPr>
              <a:t>converge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30" dirty="0">
                <a:latin typeface="Trebuchet MS"/>
                <a:cs typeface="Trebuchet MS"/>
              </a:rPr>
              <a:t>(even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09" dirty="0">
                <a:latin typeface="Trebuchet MS"/>
                <a:cs typeface="Trebuchet MS"/>
              </a:rPr>
              <a:t>for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07" dirty="0">
                <a:latin typeface="Trebuchet MS"/>
                <a:cs typeface="Trebuchet MS"/>
              </a:rPr>
              <a:t>convex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02" dirty="0">
                <a:latin typeface="Trebuchet MS"/>
                <a:cs typeface="Trebuchet MS"/>
              </a:rPr>
              <a:t>problems)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41" dirty="0">
                <a:latin typeface="Trebuchet MS"/>
                <a:cs typeface="Trebuchet MS"/>
              </a:rPr>
              <a:t>without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61" dirty="0">
                <a:latin typeface="Trebuchet MS"/>
                <a:cs typeface="Trebuchet MS"/>
              </a:rPr>
              <a:t>modifications</a:t>
            </a:r>
            <a:endParaRPr sz="1865">
              <a:latin typeface="Trebuchet MS"/>
              <a:cs typeface="Trebuchet MS"/>
            </a:endParaRPr>
          </a:p>
          <a:p>
            <a:pPr marL="342226" lvl="1" indent="-188007">
              <a:spcBef>
                <a:spcPts val="312"/>
              </a:spcBef>
              <a:buChar char="•"/>
              <a:tabLst>
                <a:tab pos="342226" algn="l"/>
              </a:tabLst>
            </a:pPr>
            <a:r>
              <a:rPr sz="1865" spc="-9" dirty="0">
                <a:latin typeface="Trebuchet MS"/>
                <a:cs typeface="Trebuchet MS"/>
              </a:rPr>
              <a:t>[</a:t>
            </a:r>
            <a:r>
              <a:rPr sz="1865" i="1" spc="-9" dirty="0">
                <a:latin typeface="Gill Sans MT"/>
                <a:cs typeface="Gill Sans MT"/>
              </a:rPr>
              <a:t>Reddi,</a:t>
            </a:r>
            <a:r>
              <a:rPr sz="1865" i="1" spc="-82" dirty="0">
                <a:latin typeface="Gill Sans MT"/>
                <a:cs typeface="Gill Sans MT"/>
              </a:rPr>
              <a:t> </a:t>
            </a:r>
            <a:r>
              <a:rPr sz="1865" i="1" dirty="0">
                <a:latin typeface="Gill Sans MT"/>
                <a:cs typeface="Gill Sans MT"/>
              </a:rPr>
              <a:t>Kale,</a:t>
            </a:r>
            <a:r>
              <a:rPr sz="1865" i="1" spc="-82" dirty="0">
                <a:latin typeface="Gill Sans MT"/>
                <a:cs typeface="Gill Sans MT"/>
              </a:rPr>
              <a:t> </a:t>
            </a:r>
            <a:r>
              <a:rPr sz="1865" i="1" spc="-41" dirty="0">
                <a:latin typeface="Gill Sans MT"/>
                <a:cs typeface="Gill Sans MT"/>
              </a:rPr>
              <a:t>Kumar,</a:t>
            </a:r>
            <a:r>
              <a:rPr sz="1865" i="1" spc="-82" dirty="0">
                <a:latin typeface="Gill Sans MT"/>
                <a:cs typeface="Gill Sans MT"/>
              </a:rPr>
              <a:t> </a:t>
            </a:r>
            <a:r>
              <a:rPr sz="1865" i="1" spc="23" dirty="0">
                <a:latin typeface="Gill Sans MT"/>
                <a:cs typeface="Gill Sans MT"/>
              </a:rPr>
              <a:t>ICLR</a:t>
            </a:r>
            <a:r>
              <a:rPr sz="1865" i="1" spc="-82" dirty="0">
                <a:latin typeface="Gill Sans MT"/>
                <a:cs typeface="Gill Sans MT"/>
              </a:rPr>
              <a:t> </a:t>
            </a:r>
            <a:r>
              <a:rPr sz="1865" i="1" spc="-50" dirty="0">
                <a:latin typeface="Gill Sans MT"/>
                <a:cs typeface="Gill Sans MT"/>
              </a:rPr>
              <a:t>’19</a:t>
            </a:r>
            <a:r>
              <a:rPr sz="1865" i="1" spc="-82" dirty="0">
                <a:latin typeface="Gill Sans MT"/>
                <a:cs typeface="Gill Sans MT"/>
              </a:rPr>
              <a:t> </a:t>
            </a:r>
            <a:r>
              <a:rPr sz="1865" i="1" spc="61" dirty="0">
                <a:latin typeface="Gill Sans MT"/>
                <a:cs typeface="Gill Sans MT"/>
              </a:rPr>
              <a:t>best</a:t>
            </a:r>
            <a:r>
              <a:rPr sz="1865" i="1" spc="-82" dirty="0">
                <a:latin typeface="Gill Sans MT"/>
                <a:cs typeface="Gill Sans MT"/>
              </a:rPr>
              <a:t> </a:t>
            </a:r>
            <a:r>
              <a:rPr sz="1865" i="1" spc="-5" dirty="0">
                <a:latin typeface="Gill Sans MT"/>
                <a:cs typeface="Gill Sans MT"/>
              </a:rPr>
              <a:t>paper</a:t>
            </a:r>
            <a:r>
              <a:rPr sz="1865" spc="-5" dirty="0">
                <a:latin typeface="Trebuchet MS"/>
                <a:cs typeface="Trebuchet MS"/>
              </a:rPr>
              <a:t>]</a:t>
            </a:r>
            <a:endParaRPr sz="1865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745256" y="2269668"/>
            <a:ext cx="1621139" cy="1537671"/>
            <a:chOff x="12631584" y="3105755"/>
            <a:chExt cx="3564254" cy="3380740"/>
          </a:xfrm>
        </p:grpSpPr>
        <p:sp>
          <p:nvSpPr>
            <p:cNvPr id="23" name="object 23"/>
            <p:cNvSpPr/>
            <p:nvPr/>
          </p:nvSpPr>
          <p:spPr>
            <a:xfrm>
              <a:off x="12797860" y="3131932"/>
              <a:ext cx="2748280" cy="1430020"/>
            </a:xfrm>
            <a:custGeom>
              <a:avLst/>
              <a:gdLst/>
              <a:ahLst/>
              <a:cxnLst/>
              <a:rect l="l" t="t" r="r" b="b"/>
              <a:pathLst>
                <a:path w="2748280" h="1430020">
                  <a:moveTo>
                    <a:pt x="2747927" y="0"/>
                  </a:moveTo>
                  <a:lnTo>
                    <a:pt x="23222" y="1417434"/>
                  </a:lnTo>
                  <a:lnTo>
                    <a:pt x="0" y="1429515"/>
                  </a:lnTo>
                </a:path>
              </a:pathLst>
            </a:custGeom>
            <a:ln w="52354">
              <a:solidFill>
                <a:srgbClr val="FF644E"/>
              </a:solidFill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sp>
          <p:nvSpPr>
            <p:cNvPr id="24" name="object 24"/>
            <p:cNvSpPr/>
            <p:nvPr/>
          </p:nvSpPr>
          <p:spPr>
            <a:xfrm>
              <a:off x="12631584" y="4454617"/>
              <a:ext cx="239395" cy="193675"/>
            </a:xfrm>
            <a:custGeom>
              <a:avLst/>
              <a:gdLst/>
              <a:ahLst/>
              <a:cxnLst/>
              <a:rect l="l" t="t" r="r" b="b"/>
              <a:pathLst>
                <a:path w="239395" h="193675">
                  <a:moveTo>
                    <a:pt x="140215" y="0"/>
                  </a:moveTo>
                  <a:lnTo>
                    <a:pt x="0" y="193329"/>
                  </a:lnTo>
                  <a:lnTo>
                    <a:pt x="238788" y="189497"/>
                  </a:lnTo>
                  <a:lnTo>
                    <a:pt x="140215" y="0"/>
                  </a:lnTo>
                  <a:close/>
                </a:path>
              </a:pathLst>
            </a:custGeom>
            <a:solidFill>
              <a:srgbClr val="FF644E"/>
            </a:solidFill>
          </p:spPr>
          <p:txBody>
            <a:bodyPr wrap="square" lIns="0" tIns="0" rIns="0" bIns="0" rtlCol="0"/>
            <a:lstStyle/>
            <a:p>
              <a:endParaRPr sz="819"/>
            </a:p>
          </p:txBody>
        </p:sp>
        <p:sp>
          <p:nvSpPr>
            <p:cNvPr id="25" name="object 25"/>
            <p:cNvSpPr/>
            <p:nvPr/>
          </p:nvSpPr>
          <p:spPr>
            <a:xfrm>
              <a:off x="13692863" y="5079225"/>
              <a:ext cx="2477135" cy="1318895"/>
            </a:xfrm>
            <a:custGeom>
              <a:avLst/>
              <a:gdLst/>
              <a:ahLst/>
              <a:cxnLst/>
              <a:rect l="l" t="t" r="r" b="b"/>
              <a:pathLst>
                <a:path w="2477134" h="1318895">
                  <a:moveTo>
                    <a:pt x="2476633" y="0"/>
                  </a:moveTo>
                  <a:lnTo>
                    <a:pt x="23105" y="1306541"/>
                  </a:lnTo>
                  <a:lnTo>
                    <a:pt x="0" y="1318845"/>
                  </a:lnTo>
                </a:path>
              </a:pathLst>
            </a:custGeom>
            <a:ln w="52354">
              <a:solidFill>
                <a:srgbClr val="FF644E"/>
              </a:solidFill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sp>
          <p:nvSpPr>
            <p:cNvPr id="26" name="object 26"/>
            <p:cNvSpPr/>
            <p:nvPr/>
          </p:nvSpPr>
          <p:spPr>
            <a:xfrm>
              <a:off x="13527431" y="6291498"/>
              <a:ext cx="238760" cy="194945"/>
            </a:xfrm>
            <a:custGeom>
              <a:avLst/>
              <a:gdLst/>
              <a:ahLst/>
              <a:cxnLst/>
              <a:rect l="l" t="t" r="r" b="b"/>
              <a:pathLst>
                <a:path w="238759" h="194945">
                  <a:moveTo>
                    <a:pt x="138341" y="0"/>
                  </a:moveTo>
                  <a:lnTo>
                    <a:pt x="0" y="194669"/>
                  </a:lnTo>
                  <a:lnTo>
                    <a:pt x="238736" y="188539"/>
                  </a:lnTo>
                  <a:lnTo>
                    <a:pt x="138341" y="0"/>
                  </a:lnTo>
                  <a:close/>
                </a:path>
              </a:pathLst>
            </a:custGeom>
            <a:solidFill>
              <a:srgbClr val="FF644E"/>
            </a:solidFill>
          </p:spPr>
          <p:txBody>
            <a:bodyPr wrap="square" lIns="0" tIns="0" rIns="0" bIns="0" rtlCol="0"/>
            <a:lstStyle/>
            <a:p>
              <a:endParaRPr sz="819"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162324" y="2027560"/>
            <a:ext cx="1581282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>
              <a:spcBef>
                <a:spcPts val="55"/>
              </a:spcBef>
            </a:pPr>
            <a:r>
              <a:rPr sz="1865" spc="-48" dirty="0">
                <a:latin typeface="Trebuchet MS"/>
                <a:cs typeface="Trebuchet MS"/>
              </a:rPr>
              <a:t>RMSProp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34" dirty="0">
                <a:latin typeface="Trebuchet MS"/>
                <a:cs typeface="Trebuchet MS"/>
              </a:rPr>
              <a:t>update</a:t>
            </a:r>
            <a:endParaRPr sz="1865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544544" y="2927143"/>
            <a:ext cx="1081626" cy="294001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 marL="5776">
              <a:spcBef>
                <a:spcPts val="55"/>
              </a:spcBef>
            </a:pPr>
            <a:r>
              <a:rPr sz="1865" spc="-98" dirty="0">
                <a:latin typeface="Trebuchet MS"/>
                <a:cs typeface="Trebuchet MS"/>
              </a:rPr>
              <a:t>Momentum</a:t>
            </a:r>
            <a:endParaRPr sz="1865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2237" y="1187452"/>
            <a:ext cx="2184336" cy="467528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L="5776">
              <a:spcBef>
                <a:spcPts val="43"/>
              </a:spcBef>
            </a:pPr>
            <a:r>
              <a:rPr spc="-227" dirty="0"/>
              <a:t>Early</a:t>
            </a:r>
            <a:r>
              <a:rPr spc="-209" dirty="0"/>
              <a:t> </a:t>
            </a:r>
            <a:r>
              <a:rPr spc="-193" dirty="0"/>
              <a:t>stopping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4402" y="2020790"/>
            <a:ext cx="7079523" cy="2713007"/>
          </a:xfrm>
          <a:prstGeom prst="rect">
            <a:avLst/>
          </a:prstGeom>
        </p:spPr>
        <p:txBody>
          <a:bodyPr vert="horz" wrap="square" lIns="0" tIns="22817" rIns="0" bIns="0" rtlCol="0">
            <a:spAutoFit/>
          </a:bodyPr>
          <a:lstStyle/>
          <a:p>
            <a:pPr marL="193495" marR="737012" indent="-188007">
              <a:lnSpc>
                <a:spcPts val="2174"/>
              </a:lnSpc>
              <a:spcBef>
                <a:spcPts val="180"/>
              </a:spcBef>
              <a:buChar char="•"/>
              <a:tabLst>
                <a:tab pos="193495" algn="l"/>
              </a:tabLst>
            </a:pPr>
            <a:r>
              <a:rPr sz="1865" spc="-127" dirty="0">
                <a:latin typeface="Trebuchet MS"/>
                <a:cs typeface="Trebuchet MS"/>
              </a:rPr>
              <a:t>Recall: </a:t>
            </a:r>
            <a:r>
              <a:rPr sz="1865" spc="-146" dirty="0">
                <a:latin typeface="Trebuchet MS"/>
                <a:cs typeface="Trebuchet MS"/>
              </a:rPr>
              <a:t>what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61" dirty="0">
                <a:latin typeface="Trebuchet MS"/>
                <a:cs typeface="Trebuchet MS"/>
              </a:rPr>
              <a:t>we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18" dirty="0">
                <a:latin typeface="Trebuchet MS"/>
                <a:cs typeface="Trebuchet MS"/>
              </a:rPr>
              <a:t>actually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16" dirty="0">
                <a:latin typeface="Trebuchet MS"/>
                <a:cs typeface="Trebuchet MS"/>
              </a:rPr>
              <a:t>care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18" dirty="0">
                <a:latin typeface="Trebuchet MS"/>
                <a:cs typeface="Trebuchet MS"/>
              </a:rPr>
              <a:t>about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9" dirty="0">
                <a:latin typeface="Trebuchet MS"/>
                <a:cs typeface="Trebuchet MS"/>
              </a:rPr>
              <a:t>is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14" dirty="0">
                <a:latin typeface="Trebuchet MS"/>
                <a:cs typeface="Trebuchet MS"/>
              </a:rPr>
              <a:t>generalization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23" dirty="0">
                <a:latin typeface="Trebuchet MS"/>
                <a:cs typeface="Trebuchet MS"/>
              </a:rPr>
              <a:t>performance </a:t>
            </a:r>
            <a:r>
              <a:rPr sz="1865" spc="-177" dirty="0">
                <a:latin typeface="Trebuchet MS"/>
                <a:cs typeface="Trebuchet MS"/>
              </a:rPr>
              <a:t>(i.e.,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121" dirty="0">
                <a:latin typeface="Trebuchet MS"/>
                <a:cs typeface="Trebuchet MS"/>
              </a:rPr>
              <a:t>how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136" dirty="0">
                <a:latin typeface="Trebuchet MS"/>
                <a:cs typeface="Trebuchet MS"/>
              </a:rPr>
              <a:t>will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152" dirty="0">
                <a:latin typeface="Trebuchet MS"/>
                <a:cs typeface="Trebuchet MS"/>
              </a:rPr>
              <a:t>the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136" dirty="0">
                <a:latin typeface="Trebuchet MS"/>
                <a:cs typeface="Trebuchet MS"/>
              </a:rPr>
              <a:t>trained</a:t>
            </a:r>
            <a:r>
              <a:rPr sz="1865" spc="-132" dirty="0">
                <a:latin typeface="Trebuchet MS"/>
                <a:cs typeface="Trebuchet MS"/>
              </a:rPr>
              <a:t> </a:t>
            </a:r>
            <a:r>
              <a:rPr sz="1865" spc="-121" dirty="0">
                <a:latin typeface="Trebuchet MS"/>
                <a:cs typeface="Trebuchet MS"/>
              </a:rPr>
              <a:t>model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125" dirty="0">
                <a:latin typeface="Trebuchet MS"/>
                <a:cs typeface="Trebuchet MS"/>
              </a:rPr>
              <a:t>perform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91" dirty="0">
                <a:latin typeface="Trebuchet MS"/>
                <a:cs typeface="Trebuchet MS"/>
              </a:rPr>
              <a:t>on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218" dirty="0">
                <a:latin typeface="Trebuchet MS"/>
                <a:cs typeface="Trebuchet MS"/>
              </a:rPr>
              <a:t>new,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91" dirty="0">
                <a:latin typeface="Trebuchet MS"/>
                <a:cs typeface="Trebuchet MS"/>
              </a:rPr>
              <a:t>unseen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5" dirty="0">
                <a:latin typeface="Trebuchet MS"/>
                <a:cs typeface="Trebuchet MS"/>
              </a:rPr>
              <a:t>data?)</a:t>
            </a:r>
            <a:endParaRPr sz="1865">
              <a:latin typeface="Trebuchet MS"/>
              <a:cs typeface="Trebuchet MS"/>
            </a:endParaRPr>
          </a:p>
          <a:p>
            <a:pPr marL="193495" indent="-187719">
              <a:spcBef>
                <a:spcPts val="252"/>
              </a:spcBef>
              <a:buChar char="•"/>
              <a:tabLst>
                <a:tab pos="193495" algn="l"/>
              </a:tabLst>
            </a:pPr>
            <a:r>
              <a:rPr sz="1865" spc="-68" dirty="0">
                <a:latin typeface="Trebuchet MS"/>
                <a:cs typeface="Trebuchet MS"/>
              </a:rPr>
              <a:t>Many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04" dirty="0">
                <a:latin typeface="Trebuchet MS"/>
                <a:cs typeface="Trebuchet MS"/>
              </a:rPr>
              <a:t>techniques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36" dirty="0">
                <a:latin typeface="Trebuchet MS"/>
                <a:cs typeface="Trebuchet MS"/>
              </a:rPr>
              <a:t>to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16" dirty="0">
                <a:latin typeface="Trebuchet MS"/>
                <a:cs typeface="Trebuchet MS"/>
              </a:rPr>
              <a:t>regularize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8" dirty="0">
                <a:latin typeface="Trebuchet MS"/>
                <a:cs typeface="Trebuchet MS"/>
              </a:rPr>
              <a:t>DNNs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07" dirty="0">
                <a:latin typeface="Trebuchet MS"/>
                <a:cs typeface="Trebuchet MS"/>
              </a:rPr>
              <a:t>and</a:t>
            </a:r>
            <a:r>
              <a:rPr sz="1865" spc="-121" dirty="0">
                <a:latin typeface="Trebuchet MS"/>
                <a:cs typeface="Trebuchet MS"/>
              </a:rPr>
              <a:t> </a:t>
            </a:r>
            <a:r>
              <a:rPr sz="1865" spc="-150" dirty="0">
                <a:latin typeface="Trebuchet MS"/>
                <a:cs typeface="Trebuchet MS"/>
              </a:rPr>
              <a:t>prevent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25" dirty="0">
                <a:latin typeface="Trebuchet MS"/>
                <a:cs typeface="Trebuchet MS"/>
              </a:rPr>
              <a:t>overfitting</a:t>
            </a:r>
            <a:endParaRPr sz="1865">
              <a:latin typeface="Trebuchet MS"/>
              <a:cs typeface="Trebuchet MS"/>
            </a:endParaRPr>
          </a:p>
          <a:p>
            <a:pPr marL="193495" marR="2310" indent="-188007">
              <a:lnSpc>
                <a:spcPts val="2174"/>
              </a:lnSpc>
              <a:spcBef>
                <a:spcPts val="437"/>
              </a:spcBef>
              <a:buClr>
                <a:srgbClr val="000000"/>
              </a:buClr>
              <a:buChar char="•"/>
              <a:tabLst>
                <a:tab pos="193495" algn="l"/>
              </a:tabLst>
            </a:pPr>
            <a:r>
              <a:rPr sz="1865" spc="-116" dirty="0">
                <a:solidFill>
                  <a:srgbClr val="FF644E"/>
                </a:solidFill>
                <a:latin typeface="Trebuchet MS"/>
                <a:cs typeface="Trebuchet MS"/>
              </a:rPr>
              <a:t>Early</a:t>
            </a:r>
            <a:r>
              <a:rPr sz="1865" spc="-125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865" spc="-86" dirty="0">
                <a:solidFill>
                  <a:srgbClr val="FF644E"/>
                </a:solidFill>
                <a:latin typeface="Trebuchet MS"/>
                <a:cs typeface="Trebuchet MS"/>
              </a:rPr>
              <a:t>stopping</a:t>
            </a:r>
            <a:r>
              <a:rPr sz="1865" spc="-123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865" spc="-9" dirty="0">
                <a:latin typeface="Trebuchet MS"/>
                <a:cs typeface="Trebuchet MS"/>
              </a:rPr>
              <a:t>is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91" dirty="0">
                <a:latin typeface="Trebuchet MS"/>
                <a:cs typeface="Trebuchet MS"/>
              </a:rPr>
              <a:t>a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96" dirty="0">
                <a:latin typeface="Trebuchet MS"/>
                <a:cs typeface="Trebuchet MS"/>
              </a:rPr>
              <a:t>simple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04" dirty="0">
                <a:latin typeface="Trebuchet MS"/>
                <a:cs typeface="Trebuchet MS"/>
              </a:rPr>
              <a:t>(and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21" dirty="0">
                <a:latin typeface="Trebuchet MS"/>
                <a:cs typeface="Trebuchet MS"/>
              </a:rPr>
              <a:t>cheap!)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46" dirty="0">
                <a:latin typeface="Trebuchet MS"/>
                <a:cs typeface="Trebuchet MS"/>
              </a:rPr>
              <a:t>way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36" dirty="0">
                <a:latin typeface="Trebuchet MS"/>
                <a:cs typeface="Trebuchet MS"/>
              </a:rPr>
              <a:t>to</a:t>
            </a:r>
            <a:r>
              <a:rPr sz="1865" spc="-125" dirty="0">
                <a:latin typeface="Trebuchet MS"/>
                <a:cs typeface="Trebuchet MS"/>
              </a:rPr>
              <a:t> </a:t>
            </a:r>
            <a:r>
              <a:rPr sz="1865" spc="-132" dirty="0">
                <a:latin typeface="Trebuchet MS"/>
                <a:cs typeface="Trebuchet MS"/>
              </a:rPr>
              <a:t>improve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14" dirty="0">
                <a:latin typeface="Trebuchet MS"/>
                <a:cs typeface="Trebuchet MS"/>
              </a:rPr>
              <a:t>generalization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1" dirty="0">
                <a:latin typeface="Trebuchet MS"/>
                <a:cs typeface="Trebuchet MS"/>
              </a:rPr>
              <a:t>and </a:t>
            </a:r>
            <a:r>
              <a:rPr sz="1865" spc="-150" dirty="0">
                <a:latin typeface="Trebuchet MS"/>
                <a:cs typeface="Trebuchet MS"/>
              </a:rPr>
              <a:t>prevent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25" dirty="0">
                <a:latin typeface="Trebuchet MS"/>
                <a:cs typeface="Trebuchet MS"/>
              </a:rPr>
              <a:t>overfitting</a:t>
            </a:r>
            <a:endParaRPr sz="1865">
              <a:latin typeface="Trebuchet MS"/>
              <a:cs typeface="Trebuchet MS"/>
            </a:endParaRPr>
          </a:p>
          <a:p>
            <a:pPr>
              <a:spcBef>
                <a:spcPts val="375"/>
              </a:spcBef>
              <a:buFont typeface="Trebuchet MS"/>
              <a:buChar char="•"/>
            </a:pPr>
            <a:endParaRPr sz="1865">
              <a:latin typeface="Trebuchet MS"/>
              <a:cs typeface="Trebuchet MS"/>
            </a:endParaRPr>
          </a:p>
          <a:p>
            <a:pPr marL="193495" marR="4640406" indent="-188007">
              <a:lnSpc>
                <a:spcPts val="2174"/>
              </a:lnSpc>
              <a:buChar char="•"/>
              <a:tabLst>
                <a:tab pos="193495" algn="l"/>
              </a:tabLst>
            </a:pPr>
            <a:r>
              <a:rPr sz="1865" spc="-132" dirty="0">
                <a:latin typeface="Trebuchet MS"/>
                <a:cs typeface="Trebuchet MS"/>
              </a:rPr>
              <a:t>Idea: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80" dirty="0">
                <a:latin typeface="Trebuchet MS"/>
                <a:cs typeface="Trebuchet MS"/>
              </a:rPr>
              <a:t>stop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18" dirty="0">
                <a:latin typeface="Trebuchet MS"/>
                <a:cs typeface="Trebuchet MS"/>
              </a:rPr>
              <a:t>training</a:t>
            </a:r>
            <a:r>
              <a:rPr sz="1865" spc="-123" dirty="0">
                <a:latin typeface="Trebuchet MS"/>
                <a:cs typeface="Trebuchet MS"/>
              </a:rPr>
              <a:t> </a:t>
            </a:r>
            <a:r>
              <a:rPr sz="1865" spc="-150" dirty="0">
                <a:latin typeface="Trebuchet MS"/>
                <a:cs typeface="Trebuchet MS"/>
              </a:rPr>
              <a:t>when </a:t>
            </a:r>
            <a:r>
              <a:rPr sz="1865" spc="-116" dirty="0">
                <a:latin typeface="Trebuchet MS"/>
                <a:cs typeface="Trebuchet MS"/>
              </a:rPr>
              <a:t>validation</a:t>
            </a:r>
            <a:r>
              <a:rPr sz="1865" spc="-109" dirty="0">
                <a:latin typeface="Trebuchet MS"/>
                <a:cs typeface="Trebuchet MS"/>
              </a:rPr>
              <a:t> </a:t>
            </a:r>
            <a:r>
              <a:rPr sz="1865" spc="-41" dirty="0">
                <a:latin typeface="Trebuchet MS"/>
                <a:cs typeface="Trebuchet MS"/>
              </a:rPr>
              <a:t>accuracy </a:t>
            </a:r>
            <a:r>
              <a:rPr sz="1865" spc="-68" dirty="0">
                <a:latin typeface="Trebuchet MS"/>
                <a:cs typeface="Trebuchet MS"/>
              </a:rPr>
              <a:t>starts</a:t>
            </a:r>
            <a:r>
              <a:rPr sz="1865" spc="-130" dirty="0">
                <a:latin typeface="Trebuchet MS"/>
                <a:cs typeface="Trebuchet MS"/>
              </a:rPr>
              <a:t> </a:t>
            </a:r>
            <a:r>
              <a:rPr sz="1865" spc="-136" dirty="0">
                <a:latin typeface="Trebuchet MS"/>
                <a:cs typeface="Trebuchet MS"/>
              </a:rPr>
              <a:t>to</a:t>
            </a:r>
            <a:r>
              <a:rPr sz="1865" spc="-127" dirty="0">
                <a:latin typeface="Trebuchet MS"/>
                <a:cs typeface="Trebuchet MS"/>
              </a:rPr>
              <a:t> </a:t>
            </a:r>
            <a:r>
              <a:rPr sz="1865" spc="-130" dirty="0">
                <a:latin typeface="Trebuchet MS"/>
                <a:cs typeface="Trebuchet MS"/>
              </a:rPr>
              <a:t>reduce</a:t>
            </a:r>
            <a:endParaRPr sz="1865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2739" y="3630548"/>
            <a:ext cx="3603075" cy="222708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22237" y="1035612"/>
            <a:ext cx="1753418" cy="213238"/>
          </a:xfrm>
          <a:prstGeom prst="rect">
            <a:avLst/>
          </a:prstGeom>
        </p:spPr>
        <p:txBody>
          <a:bodyPr vert="horz" wrap="square" lIns="0" tIns="6642" rIns="0" bIns="0" rtlCol="0">
            <a:spAutoFit/>
          </a:bodyPr>
          <a:lstStyle/>
          <a:p>
            <a:pPr marL="5776">
              <a:spcBef>
                <a:spcPts val="52"/>
              </a:spcBef>
              <a:tabLst>
                <a:tab pos="451969" algn="l"/>
                <a:tab pos="996064" algn="l"/>
                <a:tab pos="1633730" algn="l"/>
              </a:tabLst>
            </a:pPr>
            <a:r>
              <a:rPr sz="1342" b="1" dirty="0">
                <a:solidFill>
                  <a:srgbClr val="FF644E"/>
                </a:solidFill>
                <a:latin typeface="Trebuchet MS"/>
                <a:cs typeface="Trebuchet MS"/>
              </a:rPr>
              <a:t>ON</a:t>
            </a:r>
            <a:r>
              <a:rPr sz="1342" b="1" spc="-161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-27" dirty="0">
                <a:solidFill>
                  <a:srgbClr val="FF644E"/>
                </a:solidFill>
                <a:latin typeface="Trebuchet MS"/>
                <a:cs typeface="Trebuchet MS"/>
              </a:rPr>
              <a:t>E</a:t>
            </a:r>
            <a:r>
              <a:rPr sz="1342" b="1" dirty="0">
                <a:solidFill>
                  <a:srgbClr val="FF644E"/>
                </a:solidFill>
                <a:latin typeface="Trebuchet MS"/>
                <a:cs typeface="Trebuchet MS"/>
              </a:rPr>
              <a:t>	</a:t>
            </a:r>
            <a:r>
              <a:rPr sz="1342" b="1" spc="-100" dirty="0">
                <a:solidFill>
                  <a:srgbClr val="FF644E"/>
                </a:solidFill>
                <a:latin typeface="Trebuchet MS"/>
                <a:cs typeface="Trebuchet MS"/>
              </a:rPr>
              <a:t>L</a:t>
            </a:r>
            <a:r>
              <a:rPr sz="1342" b="1" spc="-166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-45" dirty="0">
                <a:solidFill>
                  <a:srgbClr val="FF644E"/>
                </a:solidFill>
                <a:latin typeface="Trebuchet MS"/>
                <a:cs typeface="Trebuchet MS"/>
              </a:rPr>
              <a:t>A</a:t>
            </a:r>
            <a:r>
              <a:rPr sz="1342" b="1" spc="-177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34" dirty="0">
                <a:solidFill>
                  <a:srgbClr val="FF644E"/>
                </a:solidFill>
                <a:latin typeface="Trebuchet MS"/>
                <a:cs typeface="Trebuchet MS"/>
              </a:rPr>
              <a:t>S</a:t>
            </a:r>
            <a:r>
              <a:rPr sz="1342" b="1" spc="-177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-23" dirty="0">
                <a:solidFill>
                  <a:srgbClr val="FF644E"/>
                </a:solidFill>
                <a:latin typeface="Trebuchet MS"/>
                <a:cs typeface="Trebuchet MS"/>
              </a:rPr>
              <a:t>T</a:t>
            </a:r>
            <a:r>
              <a:rPr sz="1342" b="1" dirty="0">
                <a:solidFill>
                  <a:srgbClr val="FF644E"/>
                </a:solidFill>
                <a:latin typeface="Trebuchet MS"/>
                <a:cs typeface="Trebuchet MS"/>
              </a:rPr>
              <a:t>	</a:t>
            </a:r>
            <a:r>
              <a:rPr sz="1342" b="1" spc="109" dirty="0">
                <a:solidFill>
                  <a:srgbClr val="FF644E"/>
                </a:solidFill>
                <a:latin typeface="Trebuchet MS"/>
                <a:cs typeface="Trebuchet MS"/>
              </a:rPr>
              <a:t>TRIC</a:t>
            </a:r>
            <a:r>
              <a:rPr sz="1342" b="1" spc="-175" dirty="0">
                <a:solidFill>
                  <a:srgbClr val="FF644E"/>
                </a:solidFill>
                <a:latin typeface="Trebuchet MS"/>
                <a:cs typeface="Trebuchet MS"/>
              </a:rPr>
              <a:t> </a:t>
            </a:r>
            <a:r>
              <a:rPr sz="1342" b="1" spc="-23" dirty="0">
                <a:solidFill>
                  <a:srgbClr val="FF644E"/>
                </a:solidFill>
                <a:latin typeface="Trebuchet MS"/>
                <a:cs typeface="Trebuchet MS"/>
              </a:rPr>
              <a:t>K</a:t>
            </a:r>
            <a:r>
              <a:rPr sz="1342" b="1" dirty="0">
                <a:solidFill>
                  <a:srgbClr val="FF644E"/>
                </a:solidFill>
                <a:latin typeface="Trebuchet MS"/>
                <a:cs typeface="Trebuchet MS"/>
              </a:rPr>
              <a:t>	</a:t>
            </a:r>
            <a:r>
              <a:rPr sz="1342" b="1" spc="-68" dirty="0">
                <a:solidFill>
                  <a:srgbClr val="FF644E"/>
                </a:solidFill>
                <a:latin typeface="Trebuchet MS"/>
                <a:cs typeface="Trebuchet MS"/>
              </a:rPr>
              <a:t>…</a:t>
            </a:r>
            <a:endParaRPr sz="1342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3352</TotalTime>
  <Words>4028</Words>
  <Application>Microsoft Macintosh PowerPoint</Application>
  <PresentationFormat>On-screen Show (4:3)</PresentationFormat>
  <Paragraphs>636</Paragraphs>
  <Slides>88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88</vt:i4>
      </vt:variant>
    </vt:vector>
  </HeadingPairs>
  <TitlesOfParts>
    <vt:vector size="106" baseType="lpstr">
      <vt:lpstr>American Typewriter</vt:lpstr>
      <vt:lpstr>Arial</vt:lpstr>
      <vt:lpstr>Arial Black</vt:lpstr>
      <vt:lpstr>Arial Narrow</vt:lpstr>
      <vt:lpstr>Book Antiqua</vt:lpstr>
      <vt:lpstr>Calibri</vt:lpstr>
      <vt:lpstr>Cambria</vt:lpstr>
      <vt:lpstr>Cambria Math</vt:lpstr>
      <vt:lpstr>Century</vt:lpstr>
      <vt:lpstr>Gill Sans MT</vt:lpstr>
      <vt:lpstr>Lucida Sans Unicode</vt:lpstr>
      <vt:lpstr>Sitka Small</vt:lpstr>
      <vt:lpstr>Tahoma</vt:lpstr>
      <vt:lpstr>Times New Roman</vt:lpstr>
      <vt:lpstr>Trebuchet MS</vt:lpstr>
      <vt:lpstr>Verdana</vt:lpstr>
      <vt:lpstr>Office Theme</vt:lpstr>
      <vt:lpstr>1_Office Theme</vt:lpstr>
      <vt:lpstr>10-605 / 10-405</vt:lpstr>
      <vt:lpstr>Recap: Autodiff for Logistic Regression</vt:lpstr>
      <vt:lpstr>Extension: Deeper Logistic Regression</vt:lpstr>
      <vt:lpstr>Autodiff for Multilayer Linear Perceptrons (MLPs)</vt:lpstr>
      <vt:lpstr>Autodiff for Multilayer Linear Perceptrons (MLPs)</vt:lpstr>
      <vt:lpstr>Not all data is linear …</vt:lpstr>
      <vt:lpstr>Non-convexity</vt:lpstr>
      <vt:lpstr>Non-convexity</vt:lpstr>
      <vt:lpstr>Non-convexity</vt:lpstr>
      <vt:lpstr>Outline</vt:lpstr>
      <vt:lpstr>Methods for distributed optimization</vt:lpstr>
      <vt:lpstr>Mini-batch SGD</vt:lpstr>
      <vt:lpstr>How to parallelize mini-batch SGD?</vt:lpstr>
      <vt:lpstr>Data parallel vs. model parallel</vt:lpstr>
      <vt:lpstr>Data parallel vs. model parallel</vt:lpstr>
      <vt:lpstr>Model parallel</vt:lpstr>
      <vt:lpstr>Tensor parallelism is a kind of intra-layer parallelism</vt:lpstr>
      <vt:lpstr>Model parallel</vt:lpstr>
      <vt:lpstr>Pipeline parallelism schedules inter-layer parallelism</vt:lpstr>
      <vt:lpstr>Example of combined/hybrid parallelism: FSDP</vt:lpstr>
      <vt:lpstr>Which strategy to use? (In Pytorch)</vt:lpstr>
      <vt:lpstr>How to parallelize mini-batch SGD?</vt:lpstr>
      <vt:lpstr>Synchronous vs. asynchronous</vt:lpstr>
      <vt:lpstr>Asynchronous ML</vt:lpstr>
      <vt:lpstr>Communication strategies</vt:lpstr>
      <vt:lpstr>PowerPoint Presentation</vt:lpstr>
      <vt:lpstr>PowerPoint Presentation</vt:lpstr>
      <vt:lpstr>Ring all-reduce is used like tree all-reducer</vt:lpstr>
      <vt:lpstr>Many Possisble AllReduce Communication Patterns</vt:lpstr>
      <vt:lpstr>Ring all-reduce has different goals</vt:lpstr>
      <vt:lpstr>Ring AllReduce</vt:lpstr>
      <vt:lpstr>Ring AllReduce</vt:lpstr>
      <vt:lpstr>Ring AllReduce</vt:lpstr>
      <vt:lpstr>Ring AllReduce</vt:lpstr>
      <vt:lpstr>Ring AllReduce</vt:lpstr>
      <vt:lpstr>Ring AllReduce</vt:lpstr>
      <vt:lpstr>Ring AllReduce</vt:lpstr>
      <vt:lpstr>Ring AllReduce</vt:lpstr>
      <vt:lpstr>Communication strategies</vt:lpstr>
      <vt:lpstr>Ring all-reduce vs parameter server!</vt:lpstr>
      <vt:lpstr>Outline</vt:lpstr>
      <vt:lpstr>One major issue with mini-batch SGD</vt:lpstr>
      <vt:lpstr>One major issue with mini-batch SGD</vt:lpstr>
      <vt:lpstr>Recap: Stochastic gradient descent</vt:lpstr>
      <vt:lpstr>LO T S O F [ O N - G O I N G ] W O R K I N T H I S A R E A … One major issue with mini-batch SGD</vt:lpstr>
      <vt:lpstr>Diminishing returns</vt:lpstr>
      <vt:lpstr>Diminishing returns</vt:lpstr>
      <vt:lpstr>Poor generalization</vt:lpstr>
      <vt:lpstr>Outline</vt:lpstr>
      <vt:lpstr>Training in the Foundation Model Era: Fine-Tuning</vt:lpstr>
      <vt:lpstr>How are foundation models changing deep learning?</vt:lpstr>
      <vt:lpstr>Classical ML</vt:lpstr>
      <vt:lpstr>ML in the foundation model era</vt:lpstr>
      <vt:lpstr>How do we ‘finetune’ models?</vt:lpstr>
      <vt:lpstr>How do we ‘finetune’ models?</vt:lpstr>
      <vt:lpstr>Gradient descent for model training</vt:lpstr>
      <vt:lpstr>Gradient descent for model finetuning</vt:lpstr>
      <vt:lpstr>Fine-tuning example: BERT (2019)</vt:lpstr>
      <vt:lpstr>PowerPoint Presentation</vt:lpstr>
      <vt:lpstr>PowerPoint Presentation</vt:lpstr>
      <vt:lpstr>PowerPoint Presentation</vt:lpstr>
      <vt:lpstr>PowerPoint Presentation</vt:lpstr>
      <vt:lpstr>Potential issue: pre-trained models are getting large!</vt:lpstr>
      <vt:lpstr>How do we ‘finetune’ large models?</vt:lpstr>
      <vt:lpstr>Types of PEFT methods</vt:lpstr>
      <vt:lpstr>Linear probing</vt:lpstr>
      <vt:lpstr>Recap (again): Recovering latent factors in a matrix</vt:lpstr>
      <vt:lpstr>Adapters</vt:lpstr>
      <vt:lpstr>LoRA (low rank adaptation) finetuning</vt:lpstr>
      <vt:lpstr>LoRA (low rank adaptation) finetuning</vt:lpstr>
      <vt:lpstr>QLoRA: Quantized LoRA</vt:lpstr>
      <vt:lpstr>Outline</vt:lpstr>
      <vt:lpstr>Non-convexity</vt:lpstr>
      <vt:lpstr>Techniques for large-scale optimization</vt:lpstr>
      <vt:lpstr>Reducing iterations</vt:lpstr>
      <vt:lpstr>Gradient descent</vt:lpstr>
      <vt:lpstr>Motivation: Newton’s method</vt:lpstr>
      <vt:lpstr>Motivation: Newton’s method</vt:lpstr>
      <vt:lpstr>Motivation: Newton’s method</vt:lpstr>
      <vt:lpstr>Motivation: Newton’s method</vt:lpstr>
      <vt:lpstr>Motivation: Newton’s method</vt:lpstr>
      <vt:lpstr>Motivation: Newton’s method</vt:lpstr>
      <vt:lpstr>AdaGrad</vt:lpstr>
      <vt:lpstr>RMSProp</vt:lpstr>
      <vt:lpstr>Momentum</vt:lpstr>
      <vt:lpstr>Nesterov accelerated gradient</vt:lpstr>
      <vt:lpstr>Adam</vt:lpstr>
      <vt:lpstr>Early stopping</vt:lpstr>
    </vt:vector>
  </TitlesOfParts>
  <Company>Carnegie Mellon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from Big Datasets</dc:title>
  <dc:creator>William Cohen</dc:creator>
  <cp:lastModifiedBy>William W Cohen</cp:lastModifiedBy>
  <cp:revision>377</cp:revision>
  <dcterms:created xsi:type="dcterms:W3CDTF">2013-01-13T19:42:44Z</dcterms:created>
  <dcterms:modified xsi:type="dcterms:W3CDTF">2025-02-19T17:17:35Z</dcterms:modified>
</cp:coreProperties>
</file>