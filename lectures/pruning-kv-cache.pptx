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5"/>
  </p:notesMasterIdLst>
  <p:sldIdLst>
    <p:sldId id="375" r:id="rId2"/>
    <p:sldId id="524" r:id="rId3"/>
    <p:sldId id="525" r:id="rId4"/>
    <p:sldId id="402" r:id="rId5"/>
    <p:sldId id="404" r:id="rId6"/>
    <p:sldId id="405" r:id="rId7"/>
    <p:sldId id="406" r:id="rId8"/>
    <p:sldId id="492" r:id="rId9"/>
    <p:sldId id="495" r:id="rId10"/>
    <p:sldId id="502" r:id="rId11"/>
    <p:sldId id="501" r:id="rId12"/>
    <p:sldId id="500" r:id="rId13"/>
    <p:sldId id="496" r:id="rId14"/>
    <p:sldId id="503" r:id="rId15"/>
    <p:sldId id="504" r:id="rId16"/>
    <p:sldId id="505" r:id="rId17"/>
    <p:sldId id="506" r:id="rId18"/>
    <p:sldId id="507" r:id="rId19"/>
    <p:sldId id="510" r:id="rId20"/>
    <p:sldId id="511" r:id="rId21"/>
    <p:sldId id="534" r:id="rId22"/>
    <p:sldId id="512" r:id="rId23"/>
    <p:sldId id="526" r:id="rId24"/>
    <p:sldId id="513" r:id="rId25"/>
    <p:sldId id="441" r:id="rId26"/>
    <p:sldId id="434" r:id="rId27"/>
    <p:sldId id="427" r:id="rId28"/>
    <p:sldId id="438" r:id="rId29"/>
    <p:sldId id="440" r:id="rId30"/>
    <p:sldId id="439" r:id="rId31"/>
    <p:sldId id="527" r:id="rId32"/>
    <p:sldId id="442" r:id="rId33"/>
    <p:sldId id="450" r:id="rId34"/>
    <p:sldId id="455" r:id="rId35"/>
    <p:sldId id="444" r:id="rId36"/>
    <p:sldId id="445" r:id="rId37"/>
    <p:sldId id="446" r:id="rId38"/>
    <p:sldId id="447" r:id="rId39"/>
    <p:sldId id="448" r:id="rId40"/>
    <p:sldId id="449" r:id="rId41"/>
    <p:sldId id="451" r:id="rId42"/>
    <p:sldId id="452" r:id="rId43"/>
    <p:sldId id="453" r:id="rId44"/>
    <p:sldId id="457" r:id="rId45"/>
    <p:sldId id="458" r:id="rId46"/>
    <p:sldId id="443" r:id="rId47"/>
    <p:sldId id="459" r:id="rId48"/>
    <p:sldId id="435" r:id="rId49"/>
    <p:sldId id="463" r:id="rId50"/>
    <p:sldId id="464" r:id="rId51"/>
    <p:sldId id="465" r:id="rId52"/>
    <p:sldId id="528" r:id="rId53"/>
    <p:sldId id="485" r:id="rId54"/>
    <p:sldId id="536" r:id="rId55"/>
    <p:sldId id="514" r:id="rId56"/>
    <p:sldId id="487" r:id="rId57"/>
    <p:sldId id="488" r:id="rId58"/>
    <p:sldId id="489" r:id="rId59"/>
    <p:sldId id="490" r:id="rId60"/>
    <p:sldId id="491" r:id="rId61"/>
    <p:sldId id="515" r:id="rId62"/>
    <p:sldId id="493" r:id="rId63"/>
    <p:sldId id="529" r:id="rId64"/>
    <p:sldId id="535" r:id="rId65"/>
    <p:sldId id="494" r:id="rId66"/>
    <p:sldId id="516" r:id="rId67"/>
    <p:sldId id="517" r:id="rId68"/>
    <p:sldId id="518" r:id="rId69"/>
    <p:sldId id="519" r:id="rId70"/>
    <p:sldId id="520" r:id="rId71"/>
    <p:sldId id="521" r:id="rId72"/>
    <p:sldId id="466" r:id="rId73"/>
    <p:sldId id="467" r:id="rId74"/>
    <p:sldId id="531" r:id="rId75"/>
    <p:sldId id="468" r:id="rId76"/>
    <p:sldId id="469" r:id="rId77"/>
    <p:sldId id="470" r:id="rId78"/>
    <p:sldId id="471" r:id="rId79"/>
    <p:sldId id="472" r:id="rId80"/>
    <p:sldId id="473" r:id="rId81"/>
    <p:sldId id="474" r:id="rId82"/>
    <p:sldId id="532" r:id="rId83"/>
    <p:sldId id="476" r:id="rId84"/>
    <p:sldId id="477" r:id="rId85"/>
    <p:sldId id="479" r:id="rId86"/>
    <p:sldId id="478" r:id="rId87"/>
    <p:sldId id="480" r:id="rId88"/>
    <p:sldId id="481" r:id="rId89"/>
    <p:sldId id="482" r:id="rId90"/>
    <p:sldId id="483" r:id="rId91"/>
    <p:sldId id="533" r:id="rId92"/>
    <p:sldId id="484" r:id="rId93"/>
    <p:sldId id="522" r:id="rId9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3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152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direct.mit.edu</a:t>
            </a:r>
            <a:r>
              <a:rPr lang="en-US" dirty="0"/>
              <a:t>/</a:t>
            </a:r>
            <a:r>
              <a:rPr lang="en-US" dirty="0" err="1"/>
              <a:t>tacl</a:t>
            </a:r>
            <a:r>
              <a:rPr lang="en-US" dirty="0"/>
              <a:t>/article/</a:t>
            </a:r>
            <a:r>
              <a:rPr lang="en-US" dirty="0" err="1"/>
              <a:t>doi</a:t>
            </a:r>
            <a:r>
              <a:rPr lang="en-US" dirty="0"/>
              <a:t>/10.1162/tacl_a_</a:t>
            </a:r>
            <a:r>
              <a:rPr lang="en-US"/>
              <a:t>00704/125482 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402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64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0E2AC-66F5-5381-2434-E84F26F8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B9316-0438-1950-18D2-3FFDE9958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457E0-F1E5-42C9-A5A1-F63372D0E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/abs/2104.08378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F13F9-7D7B-60DE-2920-791B2789F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33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45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27FAB-11B0-A380-F6C4-BBE75C31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422F7-A467-62E6-7DA5-8C0E24C8F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F4C86-2A7C-FB39-FD37-6A1F8D698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84ACC-7C8D-6FC1-66DF-7144959B0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93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FB40C-FCEC-D5F1-ACB6-87700E224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F10F3-BD41-EFA8-72DF-0554629CC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6D996-AC8B-FCCF-D1E6-49C83F3E8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BE792-1665-3BED-1707-340DD6D21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43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969A98"/>
                </a:solidFill>
                <a:effectLst/>
                <a:latin typeface="Helvetica" pitchFamily="2" charset="0"/>
              </a:rPr>
              <a:t>Han et al, ICLR 2016</a:t>
            </a:r>
          </a:p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/pdf/1510.00149</a:t>
            </a:r>
          </a:p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5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448D-2913-4668-E2DD-400004A3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6DDD8-97BF-A723-113F-A0801E967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06802-0DD9-863A-FB0E-0B7E892B9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5DB25-F0E3-9412-AF2D-BD7909E2B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96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37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D7B4-8048-8667-173A-D91BEBE6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FEEA3-0C6E-705F-0FA7-471BC5F1F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AAC7A-A76C-E335-D6BC-72129EAB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8C2DC-10DA-D987-15F2-60548B51B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41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FA4B-D200-2870-C3BB-28770D96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01D3B-EE71-77FD-CE7D-35875707D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38795-F39F-3D4E-B3CF-9CE43DFCC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07026-A779-D352-435E-EB24F8A84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78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joaolages</a:t>
            </a:r>
            <a:r>
              <a:rPr lang="en-US" dirty="0"/>
              <a:t>/kv-caching-explained-276520203249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89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https://</a:t>
            </a:r>
            <a:r>
              <a:rPr lang="en-US" dirty="0" err="1"/>
              <a:t>arxiv.org</a:t>
            </a:r>
            <a:r>
              <a:rPr lang="en-US" dirty="0"/>
              <a:t>/abs/2004.08483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24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- https://</a:t>
            </a:r>
            <a:r>
              <a:rPr lang="en-US" dirty="0" err="1"/>
              <a:t>proceedings.neurips.cc</a:t>
            </a:r>
            <a:r>
              <a:rPr lang="en-US" dirty="0"/>
              <a:t>/paper/2020/hash/c8512d142a2d849725f31a9a7a361ab9-Abstract.html: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28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3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/abs/2001.04451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04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proceedings.neurips.cc</a:t>
            </a:r>
            <a:r>
              <a:rPr lang="en-US" dirty="0"/>
              <a:t>/</a:t>
            </a:r>
            <a:r>
              <a:rPr lang="en-US" dirty="0" err="1"/>
              <a:t>paper_files</a:t>
            </a:r>
            <a:r>
              <a:rPr lang="en-US" dirty="0"/>
              <a:t>/paper/2023/hash/6ceefa7b15572587b78ecfcebb2827f8-Abstract-Conference.html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817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DF2E00-D426-0941-B533-5C8FC051038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6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2A97F9-DF0A-A346-B83D-6DF8DE56559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9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0412" cy="3429000"/>
          </a:xfrm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3"/>
            <a:ext cx="5030391" cy="4115405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/pdf/2309.17453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01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536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5F5F-57F8-0BE7-D4F1-42C1F4BC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A58C9-29BF-B560-CC38-D0B2A6D24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0E7E22-8085-35DA-0478-8B4549A84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set with “high attn weights which determines overlap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529C8-42CD-8619-7A34-E33E849D6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8A38A-2AE8-7511-9717-1395170C0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CF329-36D7-11D4-D2D2-E31EF2D3E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F9F14-54A1-4007-A659-8E5B60873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3C2F7-F14C-5D71-8C45-F50AEABED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20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arize.com</a:t>
            </a:r>
            <a:r>
              <a:rPr lang="en-US" dirty="0"/>
              <a:t>/blog-course/the-needle-in-a-haystack-test-evaluating-the-performance-of-llm-rag-systems/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256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4534F-91EE-A929-2C6D-473E77F2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38B2D-DE68-6265-538C-E706A8AAE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A9BD2-A09A-A8EA-BF2D-AE3822288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arize.com</a:t>
            </a:r>
            <a:r>
              <a:rPr lang="en-US" dirty="0"/>
              <a:t>/blog-course/the-needle-in-a-haystack-test-evaluating-the-performance-of-llm-rag-systems/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ED6E2-767A-B124-EDCB-6B16AE921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7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ADB2C0-A13D-F346-9F00-45255C4343FE}" type="slidenum">
              <a:rPr lang="en-US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53668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edium.com/@joaolages/kv-caching-explained-276520203249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rize.com/blog-course/the-needle-in-a-haystack-test-evaluating-the-performance-of-llm-rag-systems/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689D1-F09F-6399-269B-8D129A40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63512-61F5-7CF2-04B1-A69B63D2F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/>
              <a:t>Structured pruning</a:t>
            </a:r>
          </a:p>
          <a:p>
            <a:r>
              <a:rPr lang="en-US" dirty="0"/>
              <a:t>Key-value caching</a:t>
            </a:r>
          </a:p>
          <a:p>
            <a:pPr lvl="1"/>
            <a:r>
              <a:rPr lang="en-US" dirty="0"/>
              <a:t>Motivation  and importance</a:t>
            </a:r>
          </a:p>
          <a:p>
            <a:pPr lvl="1"/>
            <a:r>
              <a:rPr lang="en-US" dirty="0"/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/>
              <a:t>Techniques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/>
              <a:t>Attention sinks – </a:t>
            </a:r>
            <a:r>
              <a:rPr lang="en-US" dirty="0" err="1"/>
              <a:t>StreamingLLM</a:t>
            </a:r>
            <a:endParaRPr lang="en-US" dirty="0"/>
          </a:p>
          <a:p>
            <a:pPr lvl="2"/>
            <a:r>
              <a:rPr lang="en-US" dirty="0"/>
              <a:t>Predictive caching – </a:t>
            </a:r>
            <a:r>
              <a:rPr lang="en-US" dirty="0" err="1"/>
              <a:t>SnapKV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64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0E9E-E854-ED23-E290-281D9045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4C02-3B87-8A77-5BD8-424FBAE00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2D8E5-0BD0-46DF-478F-E515E9E1C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Structured pruning</a:t>
            </a:r>
          </a:p>
          <a:p>
            <a:r>
              <a:rPr lang="en-US" dirty="0"/>
              <a:t>Key-value caching</a:t>
            </a:r>
          </a:p>
          <a:p>
            <a:pPr lvl="1"/>
            <a:r>
              <a:rPr lang="en-US" dirty="0"/>
              <a:t>Motivation  and importance</a:t>
            </a:r>
          </a:p>
          <a:p>
            <a:pPr lvl="1"/>
            <a:r>
              <a:rPr lang="en-US" dirty="0"/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/>
              <a:t>Techniques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/>
              <a:t>Attention sinks – </a:t>
            </a:r>
            <a:r>
              <a:rPr lang="en-US" dirty="0" err="1"/>
              <a:t>StreamingLLM</a:t>
            </a:r>
            <a:endParaRPr lang="en-US" dirty="0"/>
          </a:p>
          <a:p>
            <a:pPr lvl="2"/>
            <a:r>
              <a:rPr lang="en-US" dirty="0"/>
              <a:t>Predictive caching – </a:t>
            </a:r>
            <a:r>
              <a:rPr lang="en-US" dirty="0" err="1"/>
              <a:t>SnapKV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59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BIG Transformers SMALLER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9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201A8-93AC-58A7-2B8C-A5F50BF4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37AB7-0DB8-595A-E4AE-C171D8B7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techniques for compressing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D5B12-E045-3C28-A586-CF18E7906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Train a smaller “student model” to give the same outputs as a larger “teacher model” </a:t>
            </a:r>
          </a:p>
          <a:p>
            <a:pPr lvl="2"/>
            <a:r>
              <a:rPr lang="en-US" dirty="0"/>
              <a:t>Usually on a particular task</a:t>
            </a:r>
          </a:p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Replace floating-point operations in parts of the model with lower-precision versions</a:t>
            </a:r>
          </a:p>
          <a:p>
            <a:r>
              <a:rPr lang="en-US" dirty="0">
                <a:highlight>
                  <a:srgbClr val="FFFF00"/>
                </a:highlight>
              </a:rPr>
              <a:t>Model pruning</a:t>
            </a:r>
          </a:p>
          <a:p>
            <a:pPr lvl="1"/>
            <a:r>
              <a:rPr lang="en-US" dirty="0"/>
              <a:t>Remove parts of a large model and re-train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791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E1643-A05B-3A29-D3BB-4F830EAA4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B796-702D-C8CE-A689-EA9A1F3F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C175-5A71-9CD3-7A67-E11AD96EB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Unstructured pruning</a:t>
            </a:r>
          </a:p>
          <a:p>
            <a:pPr lvl="1"/>
            <a:r>
              <a:rPr lang="en-US" dirty="0"/>
              <a:t>zero out individual weights anywhere in the model</a:t>
            </a:r>
          </a:p>
          <a:p>
            <a:r>
              <a:rPr lang="en-US" dirty="0"/>
              <a:t>Semi-structured pruning</a:t>
            </a:r>
          </a:p>
          <a:p>
            <a:pPr lvl="1"/>
            <a:r>
              <a:rPr lang="en-US" dirty="0"/>
              <a:t>somewhere in between these extremes</a:t>
            </a:r>
          </a:p>
          <a:p>
            <a:pPr lvl="1"/>
            <a:r>
              <a:rPr lang="en-US" dirty="0"/>
              <a:t>usually M:N pruning</a:t>
            </a:r>
          </a:p>
          <a:p>
            <a:pPr lvl="1"/>
            <a:r>
              <a:rPr lang="en-US" dirty="0"/>
              <a:t>similar techniques as unstructured pruning </a:t>
            </a:r>
            <a:r>
              <a:rPr lang="en-US" b="1" dirty="0"/>
              <a:t>but </a:t>
            </a:r>
            <a:r>
              <a:rPr lang="en-US" dirty="0"/>
              <a:t>prune weights relative to a </a:t>
            </a:r>
            <a:r>
              <a:rPr lang="en-US" b="1" dirty="0"/>
              <a:t>comparison group</a:t>
            </a:r>
            <a:r>
              <a:rPr lang="en-US" dirty="0"/>
              <a:t> (e.g., 2:</a:t>
            </a:r>
            <a:r>
              <a:rPr lang="en-US" dirty="0">
                <a:solidFill>
                  <a:srgbClr val="0070C0"/>
                </a:solidFill>
              </a:rPr>
              <a:t>4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weights</a:t>
            </a:r>
            <a:r>
              <a:rPr lang="en-US" dirty="0"/>
              <a:t>)</a:t>
            </a:r>
          </a:p>
          <a:p>
            <a:r>
              <a:rPr lang="en-US" dirty="0"/>
              <a:t>Structured pruning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77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AAF3-2729-1BEB-7E78-85D8EC9B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5B9F-13A0-4618-5C27-8E8C96A4C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Unstructured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9E00E-86AC-49CC-9C8A-A0D969B69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292600" cy="493122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Unstructured pruning</a:t>
            </a:r>
          </a:p>
          <a:p>
            <a:pPr lvl="1"/>
            <a:r>
              <a:rPr lang="en-US" dirty="0"/>
              <a:t>zero out individual weights or neurons</a:t>
            </a:r>
          </a:p>
          <a:p>
            <a:pPr lvl="2"/>
            <a:r>
              <a:rPr lang="en-US" dirty="0"/>
              <a:t>anywhere in the model</a:t>
            </a:r>
          </a:p>
          <a:p>
            <a:pPr lvl="1"/>
            <a:r>
              <a:rPr lang="en-US" dirty="0"/>
              <a:t>re-train</a:t>
            </a:r>
          </a:p>
          <a:p>
            <a:pPr marL="457200" lvl="1" indent="0">
              <a:buNone/>
            </a:pPr>
            <a:r>
              <a:rPr lang="en-US" dirty="0"/>
              <a:t>- optionally repeat</a:t>
            </a:r>
          </a:p>
          <a:p>
            <a:r>
              <a:rPr lang="en-US" dirty="0"/>
              <a:t>Design decisions: 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subset</a:t>
            </a:r>
            <a:r>
              <a:rPr lang="en-US" dirty="0"/>
              <a:t> to prune?</a:t>
            </a:r>
          </a:p>
          <a:p>
            <a:pPr lvl="1"/>
            <a:r>
              <a:rPr lang="en-US" dirty="0"/>
              <a:t>How much to </a:t>
            </a:r>
            <a:r>
              <a:rPr lang="en-US" b="1" dirty="0"/>
              <a:t>re-train, </a:t>
            </a:r>
            <a:r>
              <a:rPr lang="en-US" dirty="0"/>
              <a:t>and on </a:t>
            </a:r>
            <a:r>
              <a:rPr lang="en-US" b="1" dirty="0"/>
              <a:t>what data?</a:t>
            </a:r>
            <a:endParaRPr lang="en-US" dirty="0"/>
          </a:p>
          <a:p>
            <a:pPr lvl="1"/>
            <a:r>
              <a:rPr lang="en-US" dirty="0"/>
              <a:t>Do you </a:t>
            </a:r>
            <a:r>
              <a:rPr lang="en-US" b="1" dirty="0"/>
              <a:t>iterate</a:t>
            </a:r>
            <a:r>
              <a:rPr lang="en-US" dirty="0"/>
              <a:t> or not?</a:t>
            </a:r>
          </a:p>
          <a:p>
            <a:pPr lvl="2"/>
            <a:r>
              <a:rPr lang="en-US" dirty="0"/>
              <a:t>When do you </a:t>
            </a:r>
            <a:r>
              <a:rPr lang="en-US" b="1" dirty="0"/>
              <a:t>stop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205A8-32EF-8F7F-774A-5B6E26FB8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99" y="1096961"/>
            <a:ext cx="4343501" cy="2691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57676F-700A-6C07-5C48-7876323C5A90}"/>
              </a:ext>
            </a:extLst>
          </p:cNvPr>
          <p:cNvSpPr txBox="1"/>
          <p:nvPr/>
        </p:nvSpPr>
        <p:spPr>
          <a:xfrm>
            <a:off x="5453743" y="4245429"/>
            <a:ext cx="3474357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The mini-project  will let you explore some of these ideas on your own</a:t>
            </a:r>
          </a:p>
        </p:txBody>
      </p:sp>
    </p:spTree>
    <p:extLst>
      <p:ext uri="{BB962C8B-B14F-4D97-AF65-F5344CB8AC3E}">
        <p14:creationId xmlns:p14="http://schemas.microsoft.com/office/powerpoint/2010/main" val="4100433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37624-25D5-208A-A116-C8D4F0E5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7C00-CB07-675C-A11C-A7ABEFF9B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unstructured to N:M pruning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58C1C-AC32-5B99-60C3-E9C875F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338944"/>
            <a:ext cx="8648700" cy="143691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Rank all weights</a:t>
            </a:r>
          </a:p>
          <a:p>
            <a:r>
              <a:rPr lang="en-US" dirty="0"/>
              <a:t>Compare weight scores to a “comparison set”</a:t>
            </a:r>
          </a:p>
          <a:p>
            <a:pPr lvl="1"/>
            <a:r>
              <a:rPr lang="en-US" dirty="0"/>
              <a:t>The four weights in a block</a:t>
            </a:r>
          </a:p>
          <a:p>
            <a:r>
              <a:rPr lang="en-US" dirty="0"/>
              <a:t>Drop the worse 2 of those 4 weights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CFB445-E927-1011-6543-8DA74106F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908300"/>
            <a:ext cx="79248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51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F59D-9FD6-2827-4F8E-8E6AD1EF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D07E-0100-1BC3-ABD4-F074B2AB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F716-17FE-1307-D3C3-5850D752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Unstructured pruning</a:t>
            </a:r>
          </a:p>
          <a:p>
            <a:pPr lvl="1"/>
            <a:r>
              <a:rPr lang="en-US" dirty="0"/>
              <a:t>zero out individual weights anywhere in the model</a:t>
            </a:r>
          </a:p>
          <a:p>
            <a:r>
              <a:rPr lang="en-US" dirty="0"/>
              <a:t>Semi-structured pruning</a:t>
            </a:r>
          </a:p>
          <a:p>
            <a:pPr lvl="1"/>
            <a:r>
              <a:rPr lang="en-US" dirty="0"/>
              <a:t>somewhere in between these extremes</a:t>
            </a:r>
          </a:p>
          <a:p>
            <a:r>
              <a:rPr lang="en-US" dirty="0"/>
              <a:t>Structured pruning</a:t>
            </a:r>
          </a:p>
          <a:p>
            <a:pPr lvl="1"/>
            <a:r>
              <a:rPr lang="en-US" dirty="0"/>
              <a:t>zero out entire architectural components, e.g.</a:t>
            </a:r>
          </a:p>
          <a:p>
            <a:pPr lvl="2"/>
            <a:r>
              <a:rPr lang="en-US" dirty="0"/>
              <a:t>a complete attention head</a:t>
            </a:r>
          </a:p>
          <a:p>
            <a:pPr lvl="2"/>
            <a:r>
              <a:rPr lang="en-US" dirty="0"/>
              <a:t>a complete Transformer layer</a:t>
            </a:r>
          </a:p>
          <a:p>
            <a:pPr lvl="2"/>
            <a:r>
              <a:rPr lang="en-US" dirty="0"/>
              <a:t>…</a:t>
            </a:r>
          </a:p>
          <a:p>
            <a:pPr lvl="1"/>
            <a:r>
              <a:rPr lang="en-US" dirty="0"/>
              <a:t>advantage: it is much </a:t>
            </a:r>
            <a:r>
              <a:rPr lang="en-US" b="1" dirty="0"/>
              <a:t>easier</a:t>
            </a:r>
            <a:r>
              <a:rPr lang="en-US" dirty="0"/>
              <a:t> to translate this pruning into </a:t>
            </a:r>
            <a:r>
              <a:rPr lang="en-US" b="1" dirty="0"/>
              <a:t>faster </a:t>
            </a:r>
            <a:r>
              <a:rPr lang="en-US" dirty="0"/>
              <a:t>inference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400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90F4D-B2FF-8BDA-5ABE-5A2E66AB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3F89-15A7-E1A3-0F0A-3BADFA11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2672A-7328-47AE-B1B9-DBEBB504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3766"/>
            <a:ext cx="7772400" cy="28104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5301B-58BC-A5F2-1D23-7A95CE736FFA}"/>
              </a:ext>
            </a:extLst>
          </p:cNvPr>
          <p:cNvSpPr txBox="1"/>
          <p:nvPr/>
        </p:nvSpPr>
        <p:spPr>
          <a:xfrm>
            <a:off x="6874329" y="1387929"/>
            <a:ext cx="158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3460093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92FEF-1CEC-706B-19EC-EE68BCAA6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E113-9A9A-DC84-F559-E96B03A2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LLM Pruner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35DAC-1F83-02CE-93FE-4DE2B26EA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301"/>
            <a:ext cx="4292601" cy="35639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Coupled structures: </a:t>
            </a:r>
            <a:r>
              <a:rPr lang="en-US" dirty="0"/>
              <a:t>If neuron N</a:t>
            </a:r>
            <a:r>
              <a:rPr lang="en-US" baseline="-25000" dirty="0"/>
              <a:t>j</a:t>
            </a:r>
            <a:r>
              <a:rPr lang="en-US" dirty="0"/>
              <a:t>’s only input is the output of N</a:t>
            </a:r>
            <a:r>
              <a:rPr lang="en-US" baseline="-25000" dirty="0"/>
              <a:t>i</a:t>
            </a:r>
            <a:r>
              <a:rPr lang="en-US" dirty="0"/>
              <a:t> then they are </a:t>
            </a:r>
            <a:r>
              <a:rPr lang="en-US" b="1" dirty="0"/>
              <a:t>coupled, </a:t>
            </a:r>
            <a:r>
              <a:rPr lang="en-US" dirty="0"/>
              <a:t>and must be pruned together (or not at all)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attention head and its Q,K,V inputs*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0168D-DC03-6551-0219-CA1C40A07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57300"/>
            <a:ext cx="4203700" cy="340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A68645-647A-3741-5ADC-8E8BE5E1E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418" y="5600700"/>
            <a:ext cx="9075310" cy="8740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D1CED2-5166-5A41-94CE-77083FC027B9}"/>
              </a:ext>
            </a:extLst>
          </p:cNvPr>
          <p:cNvSpPr txBox="1"/>
          <p:nvPr/>
        </p:nvSpPr>
        <p:spPr>
          <a:xfrm>
            <a:off x="1028700" y="5026303"/>
            <a:ext cx="305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except for …</a:t>
            </a:r>
          </a:p>
        </p:txBody>
      </p:sp>
    </p:spTree>
    <p:extLst>
      <p:ext uri="{BB962C8B-B14F-4D97-AF65-F5344CB8AC3E}">
        <p14:creationId xmlns:p14="http://schemas.microsoft.com/office/powerpoint/2010/main" val="202926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72248-9C3E-8976-6805-09717B58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5F29-B0D3-0D0E-D8FC-16E10492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LLM Pruner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C9C4B-425A-44F4-431E-9A55ABAAA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4406900" cy="543628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Group importance: e.g., </a:t>
            </a:r>
            <a:r>
              <a:rPr lang="en-US" dirty="0"/>
              <a:t>sum weight importance over all weights in a </a:t>
            </a:r>
            <a:r>
              <a:rPr lang="en-US" b="1" dirty="0"/>
              <a:t>coupled group </a:t>
            </a:r>
            <a:r>
              <a:rPr lang="en-US" dirty="0"/>
              <a:t>of neurons.</a:t>
            </a:r>
          </a:p>
          <a:p>
            <a:pPr lvl="1"/>
            <a:r>
              <a:rPr lang="en-US" b="1" dirty="0"/>
              <a:t>Retrain using </a:t>
            </a:r>
            <a:r>
              <a:rPr lang="en-US" b="1" dirty="0" err="1"/>
              <a:t>LoRA</a:t>
            </a:r>
            <a:r>
              <a:rPr lang="en-US" b="1" dirty="0"/>
              <a:t> </a:t>
            </a:r>
            <a:r>
              <a:rPr lang="en-US" dirty="0"/>
              <a:t>using a small external dataset of zero-shot prompts</a:t>
            </a: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5D23EB-7667-7D1A-C0AD-A75AA572C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0" y="1359240"/>
            <a:ext cx="44069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67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F720-AD17-F746-6CD6-F6F31795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Shortened Llama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D5E5FB-059F-0873-E331-D5FA16E872C5}"/>
              </a:ext>
            </a:extLst>
          </p:cNvPr>
          <p:cNvSpPr txBox="1"/>
          <p:nvPr/>
        </p:nvSpPr>
        <p:spPr>
          <a:xfrm>
            <a:off x="6874329" y="1387929"/>
            <a:ext cx="158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74C01-1724-CB0C-49EC-DC2C053C6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9" y="1926195"/>
            <a:ext cx="8784314" cy="33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828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8763-4A78-0CA2-D26F-F01BC8AD5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3DE6-CCD0-8E82-103B-A5751709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Shortened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FCF1A-1C76-C8B8-5D9C-384FA2CE6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4079947" cy="407193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Approach</a:t>
            </a:r>
          </a:p>
          <a:p>
            <a:pPr lvl="1"/>
            <a:r>
              <a:rPr lang="en-US" dirty="0"/>
              <a:t>For each layer, compute increase in PPL on a calibration set if removed</a:t>
            </a:r>
          </a:p>
          <a:p>
            <a:pPr lvl="2"/>
            <a:r>
              <a:rPr lang="en-US" dirty="0"/>
              <a:t>Also use a gradient*weight metric, Taylor+</a:t>
            </a:r>
          </a:p>
          <a:p>
            <a:pPr lvl="1"/>
            <a:r>
              <a:rPr lang="en-US" dirty="0"/>
              <a:t>Prune layers one-shot to get target size</a:t>
            </a:r>
          </a:p>
          <a:p>
            <a:pPr lvl="1"/>
            <a:r>
              <a:rPr lang="en-US" dirty="0"/>
              <a:t>Retrain with </a:t>
            </a:r>
            <a:r>
              <a:rPr lang="en-US" dirty="0" err="1"/>
              <a:t>LoRA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022D8-2B33-8BF9-5D29-B86876A0A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654" y="1223212"/>
            <a:ext cx="4280750" cy="316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2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51B7-A093-BF82-84D7-E4FBBFE1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18CA-DECD-213D-77BC-C0D5B66CB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Shortened Llama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D4179B-F535-66A8-0495-419D912E0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5" y="1303020"/>
            <a:ext cx="8907235" cy="356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34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ECDC-7C87-DCAC-09CD-FD3A2293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AE9E-229A-1A6C-BFAB-39722357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CF257-AE8A-92DD-DB9C-6FBD23EB036C}"/>
              </a:ext>
            </a:extLst>
          </p:cNvPr>
          <p:cNvSpPr txBox="1"/>
          <p:nvPr/>
        </p:nvSpPr>
        <p:spPr>
          <a:xfrm>
            <a:off x="6874329" y="1387929"/>
            <a:ext cx="158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2B9341-18B6-44D2-9A4E-B3670B25F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56876"/>
            <a:ext cx="7772400" cy="29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894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8662-383E-0ED9-85B6-16FB0DFD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2D6A-9DC8-6B37-1691-DB1CACC4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36B7D-F23A-2418-8671-E999BB463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114393" cy="3143250"/>
          </a:xfrm>
        </p:spPr>
        <p:txBody>
          <a:bodyPr>
            <a:normAutofit fontScale="92500"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Prune to a particular target architecture</a:t>
            </a:r>
          </a:p>
          <a:p>
            <a:pPr lvl="2"/>
            <a:r>
              <a:rPr lang="en-US" dirty="0"/>
              <a:t>E.g., use the INCITE-Base-3B architecture as the target structure when producing a 2.7B model</a:t>
            </a:r>
          </a:p>
          <a:p>
            <a:pPr lvl="2"/>
            <a:r>
              <a:rPr lang="en-US" dirty="0"/>
              <a:t>This means learning </a:t>
            </a:r>
            <a:r>
              <a:rPr lang="en-US" b="1" dirty="0"/>
              <a:t>masks</a:t>
            </a:r>
            <a:r>
              <a:rPr lang="en-US" dirty="0"/>
              <a:t> with target number of non-zeros for each attention head, </a:t>
            </a:r>
            <a:r>
              <a:rPr lang="en-US" dirty="0" err="1"/>
              <a:t>etc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92B49-97D9-E006-02B4-89FBBD81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3" y="4606952"/>
            <a:ext cx="7772400" cy="16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1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D56E-AFE1-3542-6454-44CED241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BC080-DFBF-6AE1-CB19-2600D3B0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A9C24-10C3-16B6-D669-2A7F9A021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301"/>
            <a:ext cx="8393113" cy="33575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Prune to a particular target architecture</a:t>
            </a:r>
          </a:p>
          <a:p>
            <a:pPr lvl="2"/>
            <a:r>
              <a:rPr lang="en-US" dirty="0"/>
              <a:t>Optimize a loss that includes PPL on a </a:t>
            </a:r>
            <a:r>
              <a:rPr lang="en-US" b="1" dirty="0"/>
              <a:t>validation set </a:t>
            </a:r>
            <a:r>
              <a:rPr lang="en-US" dirty="0"/>
              <a:t>+ loss indicating how masks are </a:t>
            </a:r>
            <a:r>
              <a:rPr lang="en-US" b="1" dirty="0"/>
              <a:t>mismatched</a:t>
            </a:r>
            <a:r>
              <a:rPr lang="en-US" dirty="0"/>
              <a:t> to target architecture</a:t>
            </a:r>
          </a:p>
          <a:p>
            <a:pPr lvl="2"/>
            <a:r>
              <a:rPr lang="en-US" dirty="0"/>
              <a:t>Like extreme quantization: discrete optimization combined with continuous optimization</a:t>
            </a:r>
          </a:p>
          <a:p>
            <a:pPr lvl="2"/>
            <a:r>
              <a:rPr lang="en-US" dirty="0"/>
              <a:t>Use Lagrange multipliers and soft approximation of the mask in training (slow!)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037D0-DCC0-C8FD-8581-D876F1B20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3" y="4904974"/>
            <a:ext cx="7772400" cy="16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39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C20E-0A18-6A94-43BB-2B38005D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D8CE-34AF-E823-BCCE-FFF1677F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7427-F930-3626-EB5B-9D336E4B6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56386" cy="5436281"/>
          </a:xfrm>
        </p:spPr>
        <p:txBody>
          <a:bodyPr>
            <a:normAutofit/>
          </a:bodyPr>
          <a:lstStyle/>
          <a:p>
            <a:r>
              <a:rPr lang="en-US" dirty="0"/>
              <a:t>Some key ideas:</a:t>
            </a:r>
          </a:p>
          <a:p>
            <a:pPr lvl="1"/>
            <a:r>
              <a:rPr lang="en-US" b="1" dirty="0"/>
              <a:t>Prune to a particular target architecture</a:t>
            </a:r>
          </a:p>
          <a:p>
            <a:pPr lvl="2"/>
            <a:r>
              <a:rPr lang="en-US" dirty="0"/>
              <a:t>Pruning and retraining are done in the same optimization pass</a:t>
            </a:r>
          </a:p>
          <a:p>
            <a:pPr lvl="2"/>
            <a:r>
              <a:rPr lang="en-US" dirty="0"/>
              <a:t>Retrain to a ”reference loss” predicted by scaling laws.</a:t>
            </a:r>
          </a:p>
          <a:p>
            <a:pPr lvl="2"/>
            <a:r>
              <a:rPr lang="en-US" dirty="0"/>
              <a:t>In pruning/retraining, focus on high-loss slices of the data.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65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32178-D30F-A0C0-F3B5-B47E4CC1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619C-7D7E-E4BF-D3A1-A05629BB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Pruning: Sheared Llama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898E8-41BD-5B71-F738-DD28F83FD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786" y="1096962"/>
            <a:ext cx="4767708" cy="29718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E22202-3324-0A95-044C-A0A60DBE0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3410857" cy="3298371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dirty="0"/>
              <a:t>Training/pruning is expensive but much cheaper than separately training a comparable-sized small model from scratch.</a:t>
            </a:r>
          </a:p>
        </p:txBody>
      </p:sp>
    </p:spTree>
    <p:extLst>
      <p:ext uri="{BB962C8B-B14F-4D97-AF65-F5344CB8AC3E}">
        <p14:creationId xmlns:p14="http://schemas.microsoft.com/office/powerpoint/2010/main" val="1788499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70FD6-4CCE-E1E9-E2D5-5F355A48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701A7-C1CF-6270-CB42-48B204F2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pruning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BCAA4-BAAF-CA0B-8AEC-C571AA613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Active area of work</a:t>
            </a:r>
          </a:p>
          <a:p>
            <a:r>
              <a:rPr lang="en-US" dirty="0"/>
              <a:t>Optimization problem is difficult</a:t>
            </a:r>
          </a:p>
          <a:p>
            <a:pPr lvl="1"/>
            <a:r>
              <a:rPr lang="en-US" dirty="0"/>
              <a:t>Some simple-to-understand heuristics work surprisingly well </a:t>
            </a:r>
          </a:p>
        </p:txBody>
      </p:sp>
    </p:spTree>
    <p:extLst>
      <p:ext uri="{BB962C8B-B14F-4D97-AF65-F5344CB8AC3E}">
        <p14:creationId xmlns:p14="http://schemas.microsoft.com/office/powerpoint/2010/main" val="2203915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90E1F-64BE-02F2-B2A5-2827DECA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C52B4-DEB6-7F16-0B18-5A88F4DE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techniques for compressing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4012-7A81-16FF-A243-1D22B5B67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Distillation</a:t>
            </a:r>
          </a:p>
          <a:p>
            <a:pPr lvl="1"/>
            <a:r>
              <a:rPr lang="en-US" dirty="0"/>
              <a:t>Train a smaller “student model” to give the same outputs as a larger “teacher model” </a:t>
            </a:r>
          </a:p>
          <a:p>
            <a:pPr lvl="2"/>
            <a:r>
              <a:rPr lang="en-US" dirty="0"/>
              <a:t>Usually on a particular task</a:t>
            </a:r>
          </a:p>
          <a:p>
            <a:r>
              <a:rPr lang="en-US" dirty="0"/>
              <a:t>Quantization</a:t>
            </a:r>
          </a:p>
          <a:p>
            <a:pPr lvl="1"/>
            <a:r>
              <a:rPr lang="en-US" dirty="0"/>
              <a:t>Replace floating-point operations in parts of the model with lower-precision versions</a:t>
            </a:r>
          </a:p>
          <a:p>
            <a:r>
              <a:rPr lang="en-US" dirty="0"/>
              <a:t>Model pruning</a:t>
            </a:r>
          </a:p>
          <a:p>
            <a:pPr lvl="1"/>
            <a:r>
              <a:rPr lang="en-US" dirty="0"/>
              <a:t>Remove parts of a large model and re-train</a:t>
            </a:r>
          </a:p>
          <a:p>
            <a:r>
              <a:rPr lang="en-US" dirty="0">
                <a:highlight>
                  <a:srgbClr val="FFFF00"/>
                </a:highlight>
              </a:rPr>
              <a:t>Combinations</a:t>
            </a:r>
            <a:r>
              <a:rPr lang="en-US" dirty="0"/>
              <a:t> of the above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4C793-3443-1B71-909A-46F06CC22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777" y="1257300"/>
            <a:ext cx="9255553" cy="421798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6335B6-795D-644A-B69D-F8629365F7D7}"/>
              </a:ext>
            </a:extLst>
          </p:cNvPr>
          <p:cNvSpPr txBox="1"/>
          <p:nvPr/>
        </p:nvSpPr>
        <p:spPr>
          <a:xfrm>
            <a:off x="5229225" y="5943600"/>
            <a:ext cx="369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Helvetica" pitchFamily="2" charset="0"/>
              </a:rPr>
              <a:t>Han et al, ICLR 2016</a:t>
            </a:r>
          </a:p>
        </p:txBody>
      </p:sp>
    </p:spTree>
    <p:extLst>
      <p:ext uri="{BB962C8B-B14F-4D97-AF65-F5344CB8AC3E}">
        <p14:creationId xmlns:p14="http://schemas.microsoft.com/office/powerpoint/2010/main" val="267431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6B81-8A3E-B3A5-8C0D-B12E8FA4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298A-C1FA-5BD4-0111-14569E74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AC64-C717-35B3-11F6-ACC69B34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/>
              <a:t>Structured</a:t>
            </a:r>
          </a:p>
          <a:p>
            <a:r>
              <a:rPr lang="en-US" dirty="0">
                <a:highlight>
                  <a:srgbClr val="FFFF00"/>
                </a:highlight>
              </a:rPr>
              <a:t>Key-value caching</a:t>
            </a:r>
          </a:p>
          <a:p>
            <a:pPr lvl="1"/>
            <a:r>
              <a:rPr lang="en-US" dirty="0"/>
              <a:t>Motivation  and importance</a:t>
            </a:r>
          </a:p>
          <a:p>
            <a:pPr lvl="1"/>
            <a:r>
              <a:rPr lang="en-US" dirty="0"/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/>
              <a:t>Techniques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/>
              <a:t>Attention sinks – </a:t>
            </a:r>
            <a:r>
              <a:rPr lang="en-US" dirty="0" err="1"/>
              <a:t>StreamingLLM</a:t>
            </a:r>
            <a:endParaRPr lang="en-US" dirty="0"/>
          </a:p>
          <a:p>
            <a:pPr lvl="2"/>
            <a:r>
              <a:rPr lang="en-US" dirty="0"/>
              <a:t>Predictive caching – </a:t>
            </a:r>
            <a:r>
              <a:rPr lang="en-US" dirty="0" err="1"/>
              <a:t>SnapKV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353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Key-Value Caching for Transformers:</a:t>
            </a:r>
            <a:br>
              <a:rPr lang="en-US" dirty="0"/>
            </a:br>
            <a:r>
              <a:rPr lang="en-US" dirty="0"/>
              <a:t>MOTIVATION AND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263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C05E-AFFB-981E-BCE6-FF02831DE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recap of KV caching</a:t>
            </a:r>
          </a:p>
        </p:txBody>
      </p:sp>
    </p:spTree>
    <p:extLst>
      <p:ext uri="{BB962C8B-B14F-4D97-AF65-F5344CB8AC3E}">
        <p14:creationId xmlns:p14="http://schemas.microsoft.com/office/powerpoint/2010/main" val="1456256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3553-5C74-6886-2527-07E1C103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FDE6114-6AD6-48A0-6F09-CDA27E33A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CB60D31-F8B0-3DE9-803A-4C3A1D48A7F8}"/>
              </a:ext>
            </a:extLst>
          </p:cNvPr>
          <p:cNvSpPr/>
          <p:nvPr/>
        </p:nvSpPr>
        <p:spPr>
          <a:xfrm>
            <a:off x="2688907" y="3946870"/>
            <a:ext cx="1311594" cy="83944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BA1C-C129-4152-E92B-AACE86B952D7}"/>
              </a:ext>
            </a:extLst>
          </p:cNvPr>
          <p:cNvSpPr txBox="1"/>
          <p:nvPr/>
        </p:nvSpPr>
        <p:spPr>
          <a:xfrm>
            <a:off x="4957763" y="4043425"/>
            <a:ext cx="357187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Masked</a:t>
            </a:r>
            <a:r>
              <a:rPr lang="en-US" dirty="0"/>
              <a:t> self-attention is used in the decoder</a:t>
            </a:r>
          </a:p>
        </p:txBody>
      </p:sp>
      <p:pic>
        <p:nvPicPr>
          <p:cNvPr id="6" name="Picture 5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897F2294-DB0A-B2B2-5622-23046968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456" y="46371"/>
            <a:ext cx="4826544" cy="91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0D0F09-71B0-8541-CF70-A58CD83812AC}"/>
              </a:ext>
            </a:extLst>
          </p:cNvPr>
          <p:cNvSpPr txBox="1"/>
          <p:nvPr/>
        </p:nvSpPr>
        <p:spPr>
          <a:xfrm>
            <a:off x="4537755" y="960334"/>
            <a:ext cx="43859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</a:t>
            </a:r>
            <a:r>
              <a:rPr lang="en-US" b="1" dirty="0"/>
              <a:t>masked</a:t>
            </a:r>
            <a:r>
              <a:rPr lang="en-US" dirty="0"/>
              <a:t> self-attention, the </a:t>
            </a:r>
            <a:r>
              <a:rPr lang="en-US" b="1" dirty="0"/>
              <a:t>query</a:t>
            </a:r>
            <a:r>
              <a:rPr lang="en-US" dirty="0"/>
              <a:t> for token at </a:t>
            </a:r>
            <a:r>
              <a:rPr lang="en-US" b="1" dirty="0"/>
              <a:t>position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dirty="0"/>
              <a:t>can only attend to </a:t>
            </a:r>
            <a:r>
              <a:rPr lang="en-US" dirty="0" err="1"/>
              <a:t>thr</a:t>
            </a:r>
            <a:r>
              <a:rPr lang="en-US" dirty="0"/>
              <a:t> </a:t>
            </a:r>
            <a:r>
              <a:rPr lang="en-US" b="1" dirty="0"/>
              <a:t>keys</a:t>
            </a:r>
            <a:r>
              <a:rPr lang="en-US" dirty="0"/>
              <a:t> for tokens at positions </a:t>
            </a:r>
            <a:r>
              <a:rPr lang="en-US" b="1" dirty="0"/>
              <a:t>0,1,…,</a:t>
            </a:r>
            <a:r>
              <a:rPr lang="en-US" b="1" dirty="0" err="1"/>
              <a:t>i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4BE0-1B17-936D-6261-34E080634115}"/>
              </a:ext>
            </a:extLst>
          </p:cNvPr>
          <p:cNvSpPr txBox="1"/>
          <p:nvPr/>
        </p:nvSpPr>
        <p:spPr>
          <a:xfrm>
            <a:off x="4662351" y="1891245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This is done with a </a:t>
            </a:r>
            <a:r>
              <a:rPr lang="en-US" b="1" dirty="0"/>
              <a:t>mask</a:t>
            </a:r>
            <a:r>
              <a:rPr lang="en-US" dirty="0"/>
              <a:t> </a:t>
            </a:r>
            <a:endParaRPr lang="en-US" b="1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683999D-0DF9-50CC-38D5-74AFD06B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633" y="2465415"/>
            <a:ext cx="4157663" cy="301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32D992-0B04-835B-068F-8AEAA4B09D0D}"/>
              </a:ext>
            </a:extLst>
          </p:cNvPr>
          <p:cNvSpPr txBox="1"/>
          <p:nvPr/>
        </p:nvSpPr>
        <p:spPr>
          <a:xfrm>
            <a:off x="4662350" y="5642902"/>
            <a:ext cx="43859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Prediction for token at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/>
              <a:t>not affec</a:t>
            </a:r>
            <a:r>
              <a:rPr lang="en-US" dirty="0"/>
              <a:t>ted by “future” tokens at i+1,i+2, …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A4E5E-95B2-BBFA-58FF-E2D394AEB1D7}"/>
              </a:ext>
            </a:extLst>
          </p:cNvPr>
          <p:cNvSpPr txBox="1"/>
          <p:nvPr/>
        </p:nvSpPr>
        <p:spPr>
          <a:xfrm>
            <a:off x="4537754" y="6337426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aka ”causal LM” or “causal masking”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BCDA5-BECF-89A4-DC84-D6DC8FC891B5}"/>
              </a:ext>
            </a:extLst>
          </p:cNvPr>
          <p:cNvSpPr txBox="1"/>
          <p:nvPr/>
        </p:nvSpPr>
        <p:spPr>
          <a:xfrm>
            <a:off x="381476" y="207793"/>
            <a:ext cx="2149453" cy="18158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</a:t>
            </a:r>
            <a:r>
              <a:rPr lang="en-US" sz="2800" b="1" dirty="0"/>
              <a:t>masked </a:t>
            </a:r>
            <a:r>
              <a:rPr lang="en-US" sz="2800" dirty="0"/>
              <a:t>self-attention</a:t>
            </a:r>
          </a:p>
        </p:txBody>
      </p:sp>
    </p:spTree>
    <p:extLst>
      <p:ext uri="{BB962C8B-B14F-4D97-AF65-F5344CB8AC3E}">
        <p14:creationId xmlns:p14="http://schemas.microsoft.com/office/powerpoint/2010/main" val="140386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3EBA-C811-7A8F-43EB-BED43F0E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Architecture of the GPT family of models">
            <a:extLst>
              <a:ext uri="{FF2B5EF4-FFF2-40B4-BE49-F238E27FC236}">
                <a16:creationId xmlns:a16="http://schemas.microsoft.com/office/drawing/2014/main" id="{470F2B51-9D26-1126-7C70-23B84D4F8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669" y="384285"/>
            <a:ext cx="3400410" cy="64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C321215B-887E-DD2B-1076-08C049E65FD7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6679E9-3121-3E6D-3B0A-597F2235754B}"/>
              </a:ext>
            </a:extLst>
          </p:cNvPr>
          <p:cNvSpPr/>
          <p:nvPr/>
        </p:nvSpPr>
        <p:spPr>
          <a:xfrm>
            <a:off x="5999077" y="4632670"/>
            <a:ext cx="2083566" cy="1017016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F1D99-24A3-EDAD-0714-A4C3D58B97AE}"/>
              </a:ext>
            </a:extLst>
          </p:cNvPr>
          <p:cNvSpPr txBox="1"/>
          <p:nvPr/>
        </p:nvSpPr>
        <p:spPr>
          <a:xfrm>
            <a:off x="381476" y="207793"/>
            <a:ext cx="4399834" cy="18158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</a:t>
            </a:r>
            <a:r>
              <a:rPr lang="en-US" sz="2800" b="1" dirty="0"/>
              <a:t>masked </a:t>
            </a:r>
            <a:r>
              <a:rPr lang="en-US" sz="2800" dirty="0"/>
              <a:t>self-attention is </a:t>
            </a:r>
            <a:r>
              <a:rPr lang="en-US" sz="2800" b="1" dirty="0"/>
              <a:t>always </a:t>
            </a:r>
            <a:r>
              <a:rPr lang="en-US" sz="2800" dirty="0"/>
              <a:t>used in decoder-only Transformers</a:t>
            </a:r>
          </a:p>
        </p:txBody>
      </p:sp>
      <p:pic>
        <p:nvPicPr>
          <p:cNvPr id="18" name="Picture 17" descr="A diagram of software coding&#10;&#10;AI-generated content may be incorrect.">
            <a:extLst>
              <a:ext uri="{FF2B5EF4-FFF2-40B4-BE49-F238E27FC236}">
                <a16:creationId xmlns:a16="http://schemas.microsoft.com/office/drawing/2014/main" id="{326DB01F-7793-72F3-EA38-9871E23FE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443" y="3429000"/>
            <a:ext cx="2151225" cy="2824843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85678144-0464-35D5-FC5A-1CEBC7EC02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53" b="6173"/>
          <a:stretch/>
        </p:blipFill>
        <p:spPr bwMode="auto">
          <a:xfrm>
            <a:off x="278278" y="3869872"/>
            <a:ext cx="2355847" cy="219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44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6065F-918C-2A5B-EC3C-93951FDA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B5E485-0019-DE4E-5438-CD5B382B3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6884"/>
          <a:stretch/>
        </p:blipFill>
        <p:spPr>
          <a:xfrm>
            <a:off x="-179614" y="3677807"/>
            <a:ext cx="9144000" cy="2314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7FC0B-615F-58F3-1BF2-E9A8A3E0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A98ABF19-F6BA-041D-44D6-8FFCD03516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25FF0E-274C-1748-265F-D5BC8ED7368D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5929E8-9D16-43E2-D357-65F261C98DE6}"/>
              </a:ext>
            </a:extLst>
          </p:cNvPr>
          <p:cNvSpPr/>
          <p:nvPr/>
        </p:nvSpPr>
        <p:spPr>
          <a:xfrm>
            <a:off x="7036595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75372B1-6B47-2DC8-BB92-D13B9D72A6B9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21F3CD-2301-55AB-F1A1-4A96500624F5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698758A-12B4-8232-2379-4401C7DB79C7}"/>
              </a:ext>
            </a:extLst>
          </p:cNvPr>
          <p:cNvSpPr/>
          <p:nvPr/>
        </p:nvSpPr>
        <p:spPr>
          <a:xfrm>
            <a:off x="2076450" y="4072616"/>
            <a:ext cx="748393" cy="141378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855C21-58F4-3EE9-8937-82BD92CF16EC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6193FDF-0B47-8E22-17D3-5ED796867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37" b="77461"/>
          <a:stretch/>
        </p:blipFill>
        <p:spPr bwMode="auto">
          <a:xfrm>
            <a:off x="3046242" y="1634331"/>
            <a:ext cx="1503022" cy="90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8A336D1-12FE-3F2A-8DF2-331BEFC2FC66}"/>
              </a:ext>
            </a:extLst>
          </p:cNvPr>
          <p:cNvSpPr/>
          <p:nvPr/>
        </p:nvSpPr>
        <p:spPr>
          <a:xfrm>
            <a:off x="3484927" y="1680890"/>
            <a:ext cx="450260" cy="4086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CD5E584-03AF-A033-AF46-71CA6555B802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224AC0-DD59-1FB4-518D-84F172F0FF8D}"/>
              </a:ext>
            </a:extLst>
          </p:cNvPr>
          <p:cNvSpPr txBox="1"/>
          <p:nvPr/>
        </p:nvSpPr>
        <p:spPr>
          <a:xfrm>
            <a:off x="1765868" y="6202730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</p:spTree>
    <p:extLst>
      <p:ext uri="{BB962C8B-B14F-4D97-AF65-F5344CB8AC3E}">
        <p14:creationId xmlns:p14="http://schemas.microsoft.com/office/powerpoint/2010/main" val="2516071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6A024-B0C4-5867-3992-AFC118B5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8FF19C-B6F0-BD74-7969-DDC64A53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28373"/>
          <a:stretch/>
        </p:blipFill>
        <p:spPr>
          <a:xfrm>
            <a:off x="-179614" y="3677807"/>
            <a:ext cx="9144000" cy="12044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038549-C9E0-DA1F-EBC0-8CEAC6FB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CFD05748-1BF0-7F94-F4A2-7A14C05FB1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385B71-CC00-2C2D-FACB-8F0809F33601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1385018-1335-E7CE-B9D7-B601996896C1}"/>
              </a:ext>
            </a:extLst>
          </p:cNvPr>
          <p:cNvSpPr/>
          <p:nvPr/>
        </p:nvSpPr>
        <p:spPr>
          <a:xfrm>
            <a:off x="7036595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088DD8-8B62-23F9-5DCC-9BE504ACE5C6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042B09-D1A0-96C9-56B2-D1A57F753E15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BD334E-37C0-309D-418D-754EC8D236CA}"/>
              </a:ext>
            </a:extLst>
          </p:cNvPr>
          <p:cNvSpPr/>
          <p:nvPr/>
        </p:nvSpPr>
        <p:spPr>
          <a:xfrm>
            <a:off x="2076450" y="4072616"/>
            <a:ext cx="748393" cy="141378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A1AF04-6203-DA14-054C-8E781DB4B3EF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C46FA61-0DC9-2231-233D-E4F6E7195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700" b="88682"/>
          <a:stretch/>
        </p:blipFill>
        <p:spPr bwMode="auto">
          <a:xfrm>
            <a:off x="3046242" y="1634331"/>
            <a:ext cx="905273" cy="45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A76B5AF-9285-5D04-5917-CB0C23F2BB53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B16691-C778-578A-DFF6-27BCBC964960}"/>
              </a:ext>
            </a:extLst>
          </p:cNvPr>
          <p:cNvSpPr/>
          <p:nvPr/>
        </p:nvSpPr>
        <p:spPr>
          <a:xfrm>
            <a:off x="2824843" y="4147457"/>
            <a:ext cx="660083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45375-E064-785B-C6C4-7D9AD0C5C69B}"/>
              </a:ext>
            </a:extLst>
          </p:cNvPr>
          <p:cNvSpPr txBox="1"/>
          <p:nvPr/>
        </p:nvSpPr>
        <p:spPr>
          <a:xfrm>
            <a:off x="1765868" y="6202730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50F9CF-92D5-75D0-DB1B-9B16633F6F86}"/>
              </a:ext>
            </a:extLst>
          </p:cNvPr>
          <p:cNvSpPr/>
          <p:nvPr/>
        </p:nvSpPr>
        <p:spPr>
          <a:xfrm>
            <a:off x="4658825" y="4147457"/>
            <a:ext cx="660083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06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0AC02-582F-B85A-8C1D-7B890602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B83C9-53EF-584B-4CB6-87EEC96E66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23948"/>
          <a:stretch/>
        </p:blipFill>
        <p:spPr>
          <a:xfrm>
            <a:off x="-179614" y="3677807"/>
            <a:ext cx="9144000" cy="14330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2C7D1A-A34B-2D51-1D8F-195F6303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Caching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407E35AD-A10F-BC4D-4292-99CF438E9C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73591B-382B-B8E7-9CD5-A67EB7C30FC8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57E540-EEAB-1B31-4AC4-6509C7B3705B}"/>
              </a:ext>
            </a:extLst>
          </p:cNvPr>
          <p:cNvSpPr/>
          <p:nvPr/>
        </p:nvSpPr>
        <p:spPr>
          <a:xfrm>
            <a:off x="7787711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6D492D-C417-240F-ABCC-8C808E4882D3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1ACE91-856C-E90C-4C90-50F92255BA42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AA87BD-5979-893D-3CD5-03BED9C62F0A}"/>
              </a:ext>
            </a:extLst>
          </p:cNvPr>
          <p:cNvSpPr/>
          <p:nvPr/>
        </p:nvSpPr>
        <p:spPr>
          <a:xfrm>
            <a:off x="2076450" y="4072616"/>
            <a:ext cx="734923" cy="143303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03530B-A7C7-665F-D600-ADB1CC711191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D340377-1E28-D8C0-4A98-B69713306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72" b="84997"/>
          <a:stretch/>
        </p:blipFill>
        <p:spPr bwMode="auto">
          <a:xfrm>
            <a:off x="3046242" y="1634331"/>
            <a:ext cx="1101215" cy="60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CD58D9-7314-5F34-FE38-0136EB4768AC}"/>
              </a:ext>
            </a:extLst>
          </p:cNvPr>
          <p:cNvSpPr/>
          <p:nvPr/>
        </p:nvSpPr>
        <p:spPr>
          <a:xfrm>
            <a:off x="3484926" y="1680890"/>
            <a:ext cx="793160" cy="60339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5481BA8-73D2-03CC-D537-613578EA9263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C1C43A-0042-851D-E342-4C551E1A57ED}"/>
              </a:ext>
            </a:extLst>
          </p:cNvPr>
          <p:cNvSpPr/>
          <p:nvPr/>
        </p:nvSpPr>
        <p:spPr>
          <a:xfrm>
            <a:off x="3124200" y="4147457"/>
            <a:ext cx="360726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A21F8-7EE4-157B-4062-3C404B1ACD5E}"/>
              </a:ext>
            </a:extLst>
          </p:cNvPr>
          <p:cNvSpPr txBox="1"/>
          <p:nvPr/>
        </p:nvSpPr>
        <p:spPr>
          <a:xfrm>
            <a:off x="1577407" y="5786911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F0C788-6A89-7F98-B084-3530851B29AC}"/>
              </a:ext>
            </a:extLst>
          </p:cNvPr>
          <p:cNvSpPr txBox="1"/>
          <p:nvPr/>
        </p:nvSpPr>
        <p:spPr>
          <a:xfrm>
            <a:off x="1798526" y="6214030"/>
            <a:ext cx="670764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Fourth output</a:t>
            </a:r>
            <a:r>
              <a:rPr lang="en-US" dirty="0"/>
              <a:t> output depends only on the first </a:t>
            </a:r>
            <a:r>
              <a:rPr lang="en-US" b="1" dirty="0"/>
              <a:t>three</a:t>
            </a:r>
            <a:r>
              <a:rPr lang="en-US" dirty="0"/>
              <a:t> tokens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385600-380B-64C1-446F-5FB407930338}"/>
              </a:ext>
            </a:extLst>
          </p:cNvPr>
          <p:cNvSpPr txBox="1"/>
          <p:nvPr/>
        </p:nvSpPr>
        <p:spPr>
          <a:xfrm>
            <a:off x="777307" y="2792408"/>
            <a:ext cx="6707643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Stuff in green boxes has not changed since step 3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9590B0-2361-1255-A817-E5B2D150BEA9}"/>
              </a:ext>
            </a:extLst>
          </p:cNvPr>
          <p:cNvSpPr txBox="1"/>
          <p:nvPr/>
        </p:nvSpPr>
        <p:spPr>
          <a:xfrm>
            <a:off x="777307" y="3319855"/>
            <a:ext cx="7807033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keys </a:t>
            </a:r>
            <a:r>
              <a:rPr lang="en-US" sz="2000" dirty="0"/>
              <a:t>and </a:t>
            </a:r>
            <a:r>
              <a:rPr lang="en-US" sz="2000" b="1" dirty="0"/>
              <a:t>values </a:t>
            </a:r>
            <a:r>
              <a:rPr lang="en-US" sz="2000" dirty="0"/>
              <a:t>can be </a:t>
            </a:r>
            <a:r>
              <a:rPr lang="en-US" sz="2000" b="1" dirty="0"/>
              <a:t>cached and re-used </a:t>
            </a:r>
            <a:r>
              <a:rPr lang="en-US" sz="2000" dirty="0"/>
              <a:t>in forward pass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A5C1FB-C28E-15E0-2571-BB55B9D1E580}"/>
              </a:ext>
            </a:extLst>
          </p:cNvPr>
          <p:cNvSpPr/>
          <p:nvPr/>
        </p:nvSpPr>
        <p:spPr>
          <a:xfrm>
            <a:off x="4971984" y="4198583"/>
            <a:ext cx="360726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0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21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90E6-B26C-F532-0B46-CF4B7F69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95CF-9798-18E6-A837-BBE6365A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F6F1-27A9-2647-B4C5-A8DCD3A0A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/>
              <a:t>Structured</a:t>
            </a:r>
          </a:p>
          <a:p>
            <a:r>
              <a:rPr lang="en-US" dirty="0"/>
              <a:t>Key-value caching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Motivation  and importance</a:t>
            </a:r>
          </a:p>
          <a:p>
            <a:pPr lvl="1"/>
            <a:r>
              <a:rPr lang="en-US" dirty="0"/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/>
              <a:t>Techniques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/>
              <a:t>Attention sinks – </a:t>
            </a:r>
            <a:r>
              <a:rPr lang="en-US" dirty="0" err="1"/>
              <a:t>StreamingLLM</a:t>
            </a:r>
            <a:endParaRPr lang="en-US" dirty="0"/>
          </a:p>
          <a:p>
            <a:pPr lvl="2"/>
            <a:r>
              <a:rPr lang="en-US" dirty="0"/>
              <a:t>Predictive caching – </a:t>
            </a:r>
            <a:r>
              <a:rPr lang="en-US" dirty="0" err="1"/>
              <a:t>SnapKV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52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3FB0B-AC97-B214-EA98-9A58BF84F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2441-E605-DB11-2D69-E05E57E4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KV caching?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C1EE3-55CC-7456-8284-FEB98D72C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Inference with an LLM has two phases</a:t>
            </a:r>
          </a:p>
          <a:p>
            <a:pPr lvl="1"/>
            <a:r>
              <a:rPr lang="en-US" dirty="0"/>
              <a:t>Prefilling</a:t>
            </a:r>
          </a:p>
          <a:p>
            <a:pPr lvl="2"/>
            <a:r>
              <a:rPr lang="en-US" dirty="0"/>
              <a:t>process the prompt and context</a:t>
            </a:r>
          </a:p>
          <a:p>
            <a:pPr lvl="2"/>
            <a:r>
              <a:rPr lang="en-US" dirty="0"/>
              <a:t>this can be very long!</a:t>
            </a:r>
          </a:p>
          <a:p>
            <a:pPr lvl="1"/>
            <a:r>
              <a:rPr lang="en-US" dirty="0"/>
              <a:t>Decoding</a:t>
            </a:r>
          </a:p>
          <a:p>
            <a:pPr lvl="2"/>
            <a:r>
              <a:rPr lang="en-US" dirty="0"/>
              <a:t>generate the response</a:t>
            </a:r>
          </a:p>
        </p:txBody>
      </p:sp>
    </p:spTree>
    <p:extLst>
      <p:ext uri="{BB962C8B-B14F-4D97-AF65-F5344CB8AC3E}">
        <p14:creationId xmlns:p14="http://schemas.microsoft.com/office/powerpoint/2010/main" val="1931405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81C8-6DD3-2C9B-B757-D10A522C5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B8F2-A8FB-3720-63E3-224FB748E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KV caching?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D64B1-11A8-34F2-054D-F5D089599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Inference with an LLM has two phases</a:t>
            </a:r>
          </a:p>
          <a:p>
            <a:pPr lvl="1"/>
            <a:r>
              <a:rPr lang="en-US" dirty="0"/>
              <a:t>Prefilling</a:t>
            </a:r>
          </a:p>
          <a:p>
            <a:pPr lvl="2"/>
            <a:r>
              <a:rPr lang="en-US" dirty="0"/>
              <a:t>process the prompt and context</a:t>
            </a:r>
          </a:p>
          <a:p>
            <a:pPr lvl="2"/>
            <a:r>
              <a:rPr lang="en-US" dirty="0"/>
              <a:t>this can be very long!</a:t>
            </a:r>
          </a:p>
          <a:p>
            <a:pPr lvl="2"/>
            <a:r>
              <a:rPr lang="en-US" dirty="0"/>
              <a:t>caching the </a:t>
            </a:r>
            <a:r>
              <a:rPr lang="en-US" b="1" dirty="0"/>
              <a:t>system prompt </a:t>
            </a:r>
            <a:r>
              <a:rPr lang="en-US" dirty="0"/>
              <a:t>alone is very helpful</a:t>
            </a:r>
          </a:p>
          <a:p>
            <a:pPr lvl="1"/>
            <a:r>
              <a:rPr lang="en-US" dirty="0"/>
              <a:t>Decoding</a:t>
            </a:r>
          </a:p>
          <a:p>
            <a:pPr lvl="2"/>
            <a:r>
              <a:rPr lang="en-US" dirty="0"/>
              <a:t>generate the response</a:t>
            </a:r>
          </a:p>
        </p:txBody>
      </p:sp>
    </p:spTree>
    <p:extLst>
      <p:ext uri="{BB962C8B-B14F-4D97-AF65-F5344CB8AC3E}">
        <p14:creationId xmlns:p14="http://schemas.microsoft.com/office/powerpoint/2010/main" val="3884062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8733-0290-9520-DB0F-CE81E9BA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16A4-2056-A482-67B0-ADFB842B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KV caching?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43C163-E0A0-85A6-A48E-8BC4765AA2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101"/>
          <a:stretch/>
        </p:blipFill>
        <p:spPr>
          <a:xfrm>
            <a:off x="62863" y="1257300"/>
            <a:ext cx="7546252" cy="3533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A5C55-73E1-4D10-F4C4-72B338279E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839" t="-1282"/>
          <a:stretch/>
        </p:blipFill>
        <p:spPr>
          <a:xfrm>
            <a:off x="2503394" y="2398102"/>
            <a:ext cx="6305178" cy="44598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B42F11-AD0A-0496-D6B5-6911406C91C2}"/>
              </a:ext>
            </a:extLst>
          </p:cNvPr>
          <p:cNvSpPr txBox="1"/>
          <p:nvPr/>
        </p:nvSpPr>
        <p:spPr>
          <a:xfrm>
            <a:off x="1414463" y="5114925"/>
            <a:ext cx="69723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User input is appended to a  “system prompt” that helps guide the LLM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9DD98-472A-234A-67CC-62E5A4723A05}"/>
              </a:ext>
            </a:extLst>
          </p:cNvPr>
          <p:cNvSpPr txBox="1"/>
          <p:nvPr/>
        </p:nvSpPr>
        <p:spPr>
          <a:xfrm>
            <a:off x="1638300" y="5623629"/>
            <a:ext cx="69723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Often hidden but Anthropic publishes theirs…</a:t>
            </a:r>
          </a:p>
        </p:txBody>
      </p:sp>
    </p:spTree>
    <p:extLst>
      <p:ext uri="{BB962C8B-B14F-4D97-AF65-F5344CB8AC3E}">
        <p14:creationId xmlns:p14="http://schemas.microsoft.com/office/powerpoint/2010/main" val="17706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54D5-01F0-BB20-B92C-8864967E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5FCC-E928-2447-AFE3-61CEABDEF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Prefilling: system prompt for Claude 3.7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3A25F8-5038-CD52-9CE7-17C398846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00661"/>
            <a:ext cx="7772400" cy="513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990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4F32A-52CE-5E72-A9DD-7D55311A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72E5-A5E0-4EDF-F21A-B860B8255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6462"/>
          </a:xfrm>
        </p:spPr>
        <p:txBody>
          <a:bodyPr>
            <a:normAutofit fontScale="90000"/>
          </a:bodyPr>
          <a:lstStyle/>
          <a:p>
            <a:r>
              <a:rPr lang="en-US" dirty="0"/>
              <a:t>Prefilling: system prompt for Claude 3.7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5A1906-74F9-BDAA-4775-294CCC053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7747"/>
            <a:ext cx="7772400" cy="594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99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8A90B-69F1-922B-1E32-9342A872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5E17B-5913-069F-8E31-42DF212C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6462"/>
          </a:xfrm>
        </p:spPr>
        <p:txBody>
          <a:bodyPr>
            <a:normAutofit fontScale="90000"/>
          </a:bodyPr>
          <a:lstStyle/>
          <a:p>
            <a:r>
              <a:rPr lang="en-US" dirty="0"/>
              <a:t>Prefilling: system prompt for Claude 3.7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E5E7B-ACBD-1773-BDB2-578F6300F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06462"/>
            <a:ext cx="7772400" cy="575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956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40CB-4E50-80F4-98B2-39C92A331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0CE8-76D6-886B-2DE1-4062414F1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6462"/>
          </a:xfrm>
        </p:spPr>
        <p:txBody>
          <a:bodyPr>
            <a:normAutofit fontScale="90000"/>
          </a:bodyPr>
          <a:lstStyle/>
          <a:p>
            <a:r>
              <a:rPr lang="en-US" dirty="0"/>
              <a:t>Prefilling: system prompt for Claude 3.7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B550E3-CC46-42DE-9AA8-D1BC269B3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87717"/>
            <a:ext cx="7772400" cy="583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06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967C-D550-4A0C-C51E-78F86264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D78D7-763E-7FCD-146A-8E073ED2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6462"/>
          </a:xfrm>
        </p:spPr>
        <p:txBody>
          <a:bodyPr>
            <a:normAutofit fontScale="90000"/>
          </a:bodyPr>
          <a:lstStyle/>
          <a:p>
            <a:r>
              <a:rPr lang="en-US" dirty="0"/>
              <a:t>Prefilling: system prompt for Claude 3.7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D9145F-F7E4-7648-62D6-BC2C6FAE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06462"/>
            <a:ext cx="7772400" cy="566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3552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CCC51-280F-5629-5233-A103CB986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9E43-237B-5DEC-93B0-25A2F522C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6462"/>
          </a:xfrm>
        </p:spPr>
        <p:txBody>
          <a:bodyPr>
            <a:normAutofit fontScale="90000"/>
          </a:bodyPr>
          <a:lstStyle/>
          <a:p>
            <a:r>
              <a:rPr lang="en-US" dirty="0"/>
              <a:t>Prefilling: system prompt for Claude 3.7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239DEE-5393-4682-4FEB-A6E36601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06462"/>
            <a:ext cx="7772400" cy="5590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4ECA15-D2EC-88A0-4CA4-1551D794629B}"/>
              </a:ext>
            </a:extLst>
          </p:cNvPr>
          <p:cNvSpPr txBox="1"/>
          <p:nvPr/>
        </p:nvSpPr>
        <p:spPr>
          <a:xfrm>
            <a:off x="4072255" y="6173969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… about 5 more pages more …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9078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5033F-C8E7-AE2F-5A51-872018F8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4321-4B5A-AA9B-A8DB-4176E6DC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KV caching?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48B98-C9DC-F56D-DBC1-5EE9FE6AD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Inference with an LLM has two phases</a:t>
            </a:r>
          </a:p>
          <a:p>
            <a:pPr lvl="1"/>
            <a:r>
              <a:rPr lang="en-US" dirty="0"/>
              <a:t>Prefilling</a:t>
            </a:r>
          </a:p>
          <a:p>
            <a:pPr lvl="2"/>
            <a:r>
              <a:rPr lang="en-US" dirty="0"/>
              <a:t>process the prompt and context</a:t>
            </a:r>
          </a:p>
          <a:p>
            <a:pPr lvl="2"/>
            <a:r>
              <a:rPr lang="en-US" dirty="0"/>
              <a:t>this can be very long!</a:t>
            </a:r>
          </a:p>
          <a:p>
            <a:pPr lvl="2"/>
            <a:r>
              <a:rPr lang="en-US" dirty="0"/>
              <a:t>caching the </a:t>
            </a:r>
            <a:r>
              <a:rPr lang="en-US" b="1" dirty="0"/>
              <a:t>system prompt alone </a:t>
            </a:r>
            <a:r>
              <a:rPr lang="en-US" dirty="0"/>
              <a:t>is helpful</a:t>
            </a:r>
          </a:p>
          <a:p>
            <a:pPr lvl="2"/>
            <a:r>
              <a:rPr lang="en-US" dirty="0"/>
              <a:t>caching </a:t>
            </a:r>
            <a:r>
              <a:rPr lang="en-US" b="1" dirty="0"/>
              <a:t>repeated parts </a:t>
            </a:r>
            <a:r>
              <a:rPr lang="en-US" dirty="0"/>
              <a:t>of a </a:t>
            </a:r>
            <a:r>
              <a:rPr lang="en-US" b="1" dirty="0"/>
              <a:t>user’s input </a:t>
            </a:r>
            <a:r>
              <a:rPr lang="en-US" dirty="0"/>
              <a:t>can save up to 90% of inference costs</a:t>
            </a:r>
          </a:p>
          <a:p>
            <a:pPr lvl="1"/>
            <a:r>
              <a:rPr lang="en-US" dirty="0"/>
              <a:t>Decoding</a:t>
            </a:r>
          </a:p>
          <a:p>
            <a:pPr lvl="2"/>
            <a:r>
              <a:rPr lang="en-US" dirty="0"/>
              <a:t>generate the response</a:t>
            </a:r>
          </a:p>
        </p:txBody>
      </p:sp>
    </p:spTree>
    <p:extLst>
      <p:ext uri="{BB962C8B-B14F-4D97-AF65-F5344CB8AC3E}">
        <p14:creationId xmlns:p14="http://schemas.microsoft.com/office/powerpoint/2010/main" val="40976431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F5B8-141E-88A5-BC9F-C27652B64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“Chain of Thought”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3845C7-5D73-7FFE-3BE8-57DECF8BF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28" y="1181100"/>
            <a:ext cx="8441871" cy="55081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D12187-D627-37F3-ED09-72C13BDEE013}"/>
              </a:ext>
            </a:extLst>
          </p:cNvPr>
          <p:cNvSpPr txBox="1"/>
          <p:nvPr/>
        </p:nvSpPr>
        <p:spPr>
          <a:xfrm>
            <a:off x="4300854" y="6404530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one of three “in context” examples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724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0B7C-30EE-48C7-C048-2FA1FFCB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6E70-F382-5F37-AB87-0DE7BAB3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“Chain of Thought” Prompt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D9CBA-8A36-ADE4-5CFA-5D1A4B46E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1100"/>
            <a:ext cx="7772400" cy="53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803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EB11F-B7BA-1958-672F-2EBE09FEA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D262-EBD4-F969-5B8F-FF74E398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“Chain of Thought”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012B-971B-8840-2FC7-471B58AA1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49287"/>
            <a:ext cx="7772400" cy="277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27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8B8D9-E97D-A252-80D3-42D39F4FA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602B-82D4-57CD-7BA7-B4F95039C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KV caching?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E37A2-A144-F9F6-5A36-91D07E18F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Inference with an LLM has two phases</a:t>
            </a:r>
          </a:p>
          <a:p>
            <a:pPr lvl="1"/>
            <a:r>
              <a:rPr lang="en-US" dirty="0"/>
              <a:t>Prefilling</a:t>
            </a:r>
          </a:p>
          <a:p>
            <a:pPr lvl="2"/>
            <a:r>
              <a:rPr lang="en-US" dirty="0"/>
              <a:t>process the prompt and context</a:t>
            </a:r>
          </a:p>
          <a:p>
            <a:pPr lvl="2"/>
            <a:r>
              <a:rPr lang="en-US" dirty="0"/>
              <a:t>this can be very long!</a:t>
            </a:r>
          </a:p>
          <a:p>
            <a:pPr lvl="2"/>
            <a:r>
              <a:rPr lang="en-US" dirty="0"/>
              <a:t>caching the system prompt alone is very helpful</a:t>
            </a:r>
          </a:p>
          <a:p>
            <a:pPr lvl="2"/>
            <a:r>
              <a:rPr lang="en-US" dirty="0"/>
              <a:t>caching </a:t>
            </a:r>
            <a:r>
              <a:rPr lang="en-US" b="1" dirty="0"/>
              <a:t>repeated parts </a:t>
            </a:r>
            <a:r>
              <a:rPr lang="en-US" dirty="0"/>
              <a:t>of a </a:t>
            </a:r>
            <a:r>
              <a:rPr lang="en-US" b="1" dirty="0"/>
              <a:t>user’s input </a:t>
            </a:r>
            <a:r>
              <a:rPr lang="en-US" dirty="0"/>
              <a:t>can save up to 90% of inference costs</a:t>
            </a:r>
          </a:p>
          <a:p>
            <a:pPr lvl="3"/>
            <a:r>
              <a:rPr lang="en-US" dirty="0"/>
              <a:t>this requires </a:t>
            </a:r>
            <a:r>
              <a:rPr lang="en-US" b="1" dirty="0"/>
              <a:t>knowing</a:t>
            </a:r>
            <a:r>
              <a:rPr lang="en-US" dirty="0"/>
              <a:t> the user is </a:t>
            </a:r>
            <a:r>
              <a:rPr lang="en-US" b="1" dirty="0"/>
              <a:t>likely</a:t>
            </a:r>
            <a:r>
              <a:rPr lang="en-US" dirty="0"/>
              <a:t> repeat parts of their queries, usually via API call params</a:t>
            </a:r>
          </a:p>
          <a:p>
            <a:pPr lvl="1"/>
            <a:r>
              <a:rPr lang="en-US" dirty="0"/>
              <a:t>Decoding</a:t>
            </a:r>
          </a:p>
          <a:p>
            <a:pPr lvl="2"/>
            <a:r>
              <a:rPr lang="en-US" dirty="0"/>
              <a:t>generate the response</a:t>
            </a:r>
          </a:p>
        </p:txBody>
      </p:sp>
    </p:spTree>
    <p:extLst>
      <p:ext uri="{BB962C8B-B14F-4D97-AF65-F5344CB8AC3E}">
        <p14:creationId xmlns:p14="http://schemas.microsoft.com/office/powerpoint/2010/main" val="1858884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CA6D-892D-365F-80CA-EEE6F358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Prefilling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E33883-1937-1038-7B11-DAAFA5B7C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66" y="1423533"/>
            <a:ext cx="3500801" cy="5159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BE00A0E-594B-2A4E-FBCA-CE32A77B1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634" y="3078569"/>
            <a:ext cx="3310920" cy="2397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2942A5-E189-CAC1-982F-4EDCB1D4CAD0}"/>
              </a:ext>
            </a:extLst>
          </p:cNvPr>
          <p:cNvSpPr txBox="1"/>
          <p:nvPr/>
        </p:nvSpPr>
        <p:spPr>
          <a:xfrm>
            <a:off x="4353121" y="1548162"/>
            <a:ext cx="43859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All the inputs needed in pre-filling are </a:t>
            </a:r>
            <a:r>
              <a:rPr lang="en-US" b="1" dirty="0"/>
              <a:t>immediately</a:t>
            </a:r>
            <a:r>
              <a:rPr lang="en-US" dirty="0"/>
              <a:t> available.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2E15FF-9804-9D53-741A-8923AC735738}"/>
              </a:ext>
            </a:extLst>
          </p:cNvPr>
          <p:cNvSpPr txBox="1"/>
          <p:nvPr/>
        </p:nvSpPr>
        <p:spPr>
          <a:xfrm>
            <a:off x="4452875" y="2238389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There are opportunities for </a:t>
            </a:r>
            <a:r>
              <a:rPr lang="en-US" b="1" dirty="0"/>
              <a:t>parallelism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7204F-9951-3C4B-1603-1603778EA9E9}"/>
              </a:ext>
            </a:extLst>
          </p:cNvPr>
          <p:cNvSpPr txBox="1"/>
          <p:nvPr/>
        </p:nvSpPr>
        <p:spPr>
          <a:xfrm>
            <a:off x="4572000" y="5762294"/>
            <a:ext cx="43859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KV cache does get filled incrementally but using it is an </a:t>
            </a:r>
            <a:r>
              <a:rPr lang="en-US" b="1" dirty="0"/>
              <a:t>optimization </a:t>
            </a:r>
            <a:r>
              <a:rPr lang="en-US" dirty="0"/>
              <a:t>not a </a:t>
            </a:r>
            <a:r>
              <a:rPr lang="en-US" b="1" dirty="0"/>
              <a:t>necessity</a:t>
            </a:r>
          </a:p>
        </p:txBody>
      </p:sp>
    </p:spTree>
    <p:extLst>
      <p:ext uri="{BB962C8B-B14F-4D97-AF65-F5344CB8AC3E}">
        <p14:creationId xmlns:p14="http://schemas.microsoft.com/office/powerpoint/2010/main" val="410230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9566-14D2-6121-0BE9-EE66878ED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23C3-4D54-6FEC-7154-E9D8BB9DF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KV caching?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625AF-0853-C5B4-B19F-F7C6D5A0C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Inference with an LLM has two phases</a:t>
            </a:r>
          </a:p>
          <a:p>
            <a:pPr lvl="1"/>
            <a:r>
              <a:rPr lang="en-US" dirty="0"/>
              <a:t>Prefilling</a:t>
            </a:r>
          </a:p>
          <a:p>
            <a:pPr lvl="2"/>
            <a:r>
              <a:rPr lang="en-US" dirty="0"/>
              <a:t>process the prompt and context</a:t>
            </a:r>
          </a:p>
          <a:p>
            <a:pPr lvl="2"/>
            <a:r>
              <a:rPr lang="en-US" dirty="0"/>
              <a:t>this can be very long!</a:t>
            </a:r>
          </a:p>
          <a:p>
            <a:pPr lvl="2"/>
            <a:r>
              <a:rPr lang="en-US" dirty="0"/>
              <a:t>caching the system prompt alone is very helpful</a:t>
            </a:r>
          </a:p>
          <a:p>
            <a:pPr lvl="2"/>
            <a:r>
              <a:rPr lang="en-US" dirty="0"/>
              <a:t>caching </a:t>
            </a:r>
            <a:r>
              <a:rPr lang="en-US" b="1" dirty="0"/>
              <a:t>repeated parts </a:t>
            </a:r>
            <a:r>
              <a:rPr lang="en-US" dirty="0"/>
              <a:t>of a </a:t>
            </a:r>
            <a:r>
              <a:rPr lang="en-US" b="1" dirty="0"/>
              <a:t>user’s input </a:t>
            </a:r>
            <a:r>
              <a:rPr lang="en-US" dirty="0"/>
              <a:t>can save up to 90% of inference costs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Decoding</a:t>
            </a:r>
          </a:p>
          <a:p>
            <a:pPr lvl="2"/>
            <a:r>
              <a:rPr lang="en-US" dirty="0"/>
              <a:t>generate the response, word by word</a:t>
            </a:r>
          </a:p>
          <a:p>
            <a:pPr lvl="2"/>
            <a:r>
              <a:rPr lang="en-US" dirty="0"/>
              <a:t>this is </a:t>
            </a:r>
            <a:r>
              <a:rPr lang="en-US" b="1" dirty="0"/>
              <a:t>sequential</a:t>
            </a:r>
            <a:r>
              <a:rPr lang="en-US" dirty="0"/>
              <a:t> and uses the “prefilled” cache</a:t>
            </a:r>
          </a:p>
        </p:txBody>
      </p:sp>
    </p:spTree>
    <p:extLst>
      <p:ext uri="{BB962C8B-B14F-4D97-AF65-F5344CB8AC3E}">
        <p14:creationId xmlns:p14="http://schemas.microsoft.com/office/powerpoint/2010/main" val="31687975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9B94-B64D-55FC-84C6-8F73F263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A49CB87D-36B3-A521-354B-5B0E8A045032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AF9201-7C29-6041-1932-D9D4CCA6F00E}"/>
              </a:ext>
            </a:extLst>
          </p:cNvPr>
          <p:cNvSpPr txBox="1"/>
          <p:nvPr/>
        </p:nvSpPr>
        <p:spPr>
          <a:xfrm>
            <a:off x="381475" y="207793"/>
            <a:ext cx="7080681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generation</a:t>
            </a:r>
            <a:r>
              <a:rPr lang="en-US" sz="2800" b="1" dirty="0"/>
              <a:t> </a:t>
            </a:r>
            <a:r>
              <a:rPr lang="en-US" sz="2800" dirty="0"/>
              <a:t>is </a:t>
            </a:r>
            <a:r>
              <a:rPr lang="en-US" sz="2800" b="1" dirty="0"/>
              <a:t>auto-regressive</a:t>
            </a:r>
            <a:endParaRPr lang="en-US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E22721-AB65-6D41-AAF1-0BC509FBA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9144000" cy="319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F0DD2-C6DE-217B-759A-4C1262CD8B85}"/>
              </a:ext>
            </a:extLst>
          </p:cNvPr>
          <p:cNvSpPr txBox="1"/>
          <p:nvPr/>
        </p:nvSpPr>
        <p:spPr>
          <a:xfrm>
            <a:off x="381475" y="5372100"/>
            <a:ext cx="86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https://medium.com/@joaolages/kv-caching-explained-276520203249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0137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AB778-2FDA-AEBC-1072-95DD238E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ACD0-77F4-903F-DD17-4482CC10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KV caching?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C67E9-3F50-E148-8EA2-A2FBCC3BD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Inference with an LLM has two phases</a:t>
            </a:r>
          </a:p>
          <a:p>
            <a:pPr lvl="1"/>
            <a:r>
              <a:rPr lang="en-US" dirty="0"/>
              <a:t>Prefilling</a:t>
            </a:r>
          </a:p>
          <a:p>
            <a:pPr lvl="2"/>
            <a:r>
              <a:rPr lang="en-US" dirty="0"/>
              <a:t>process the prompt and context</a:t>
            </a:r>
          </a:p>
          <a:p>
            <a:pPr lvl="2"/>
            <a:r>
              <a:rPr lang="en-US" dirty="0"/>
              <a:t>some ways to parallelize</a:t>
            </a:r>
          </a:p>
          <a:p>
            <a:pPr lvl="1"/>
            <a:r>
              <a:rPr lang="en-US" b="1" dirty="0"/>
              <a:t>Decoding</a:t>
            </a:r>
          </a:p>
          <a:p>
            <a:pPr lvl="2"/>
            <a:r>
              <a:rPr lang="en-US" dirty="0"/>
              <a:t>generate the response, word by word</a:t>
            </a:r>
          </a:p>
          <a:p>
            <a:pPr lvl="2"/>
            <a:r>
              <a:rPr lang="en-US" dirty="0"/>
              <a:t>this is </a:t>
            </a:r>
            <a:r>
              <a:rPr lang="en-US" b="1" dirty="0"/>
              <a:t>sequential</a:t>
            </a:r>
            <a:r>
              <a:rPr lang="en-US" dirty="0"/>
              <a:t> and uses the “prefilled” cache</a:t>
            </a:r>
          </a:p>
          <a:p>
            <a:pPr lvl="2"/>
            <a:r>
              <a:rPr lang="en-US" dirty="0"/>
              <a:t>for each decoding step you generate new </a:t>
            </a:r>
            <a:r>
              <a:rPr lang="en-US" b="1" dirty="0"/>
              <a:t>queries </a:t>
            </a:r>
            <a:r>
              <a:rPr lang="en-US" dirty="0"/>
              <a:t>and “search” the KV cache (with a dot product)</a:t>
            </a:r>
          </a:p>
          <a:p>
            <a:r>
              <a:rPr lang="en-US" dirty="0"/>
              <a:t>Decoding time: O(</a:t>
            </a:r>
            <a:r>
              <a:rPr lang="en-US" dirty="0" err="1"/>
              <a:t>N</a:t>
            </a:r>
            <a:r>
              <a:rPr lang="en-US" baseline="-25000" dirty="0" err="1"/>
              <a:t>output</a:t>
            </a:r>
            <a:r>
              <a:rPr lang="en-US" baseline="-25000" dirty="0"/>
              <a:t> tokens </a:t>
            </a:r>
            <a:r>
              <a:rPr lang="en-US" dirty="0"/>
              <a:t>* max(</a:t>
            </a:r>
            <a:r>
              <a:rPr lang="en-US" dirty="0" err="1"/>
              <a:t>N</a:t>
            </a:r>
            <a:r>
              <a:rPr lang="en-US" baseline="-25000" dirty="0" err="1"/>
              <a:t>kv</a:t>
            </a:r>
            <a:r>
              <a:rPr lang="en-US" baseline="-25000" dirty="0"/>
              <a:t> cache</a:t>
            </a:r>
            <a:r>
              <a:rPr lang="en-US" dirty="0"/>
              <a:t>))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6129931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1E3A6-D553-526C-B8A3-2D4A920A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092B-4C67-3689-7161-13A7EC7A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important is KV caching?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F003A-5CA2-2DBC-1ABC-777636116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Example: Llama 7B</a:t>
            </a:r>
          </a:p>
          <a:p>
            <a:pPr lvl="1"/>
            <a:r>
              <a:rPr lang="en-US" dirty="0"/>
              <a:t>7B model weights size = 7B * </a:t>
            </a:r>
            <a:r>
              <a:rPr lang="en-US" dirty="0" err="1"/>
              <a:t>sizeof</a:t>
            </a:r>
            <a:r>
              <a:rPr lang="en-US" dirty="0"/>
              <a:t>(float)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14Gb memory</a:t>
            </a:r>
          </a:p>
          <a:p>
            <a:pPr lvl="1"/>
            <a:r>
              <a:rPr lang="en-US" dirty="0"/>
              <a:t>KV cache is product of</a:t>
            </a:r>
          </a:p>
          <a:p>
            <a:pPr lvl="2"/>
            <a:r>
              <a:rPr lang="en-US" dirty="0"/>
              <a:t>batch size = 1</a:t>
            </a:r>
          </a:p>
          <a:p>
            <a:pPr lvl="2"/>
            <a:r>
              <a:rPr lang="en-US" dirty="0"/>
              <a:t>sequence length = 4096</a:t>
            </a:r>
          </a:p>
          <a:p>
            <a:pPr lvl="2"/>
            <a:r>
              <a:rPr lang="en-US" dirty="0"/>
              <a:t>number of layers = 32</a:t>
            </a:r>
          </a:p>
          <a:p>
            <a:pPr lvl="2"/>
            <a:r>
              <a:rPr lang="en-US" dirty="0"/>
              <a:t>attention open hidden layer size = 4096</a:t>
            </a:r>
          </a:p>
          <a:p>
            <a:pPr lvl="2"/>
            <a:r>
              <a:rPr lang="en-US" dirty="0" err="1"/>
              <a:t>sizeof</a:t>
            </a:r>
            <a:r>
              <a:rPr lang="en-US" dirty="0"/>
              <a:t>(float) = 2</a:t>
            </a:r>
          </a:p>
          <a:p>
            <a:pPr lvl="2"/>
            <a:r>
              <a:rPr lang="en-US" dirty="0"/>
              <a:t>2 (for keys + values)</a:t>
            </a:r>
          </a:p>
          <a:p>
            <a:pPr lvl="2"/>
            <a:r>
              <a:rPr lang="en-US" dirty="0">
                <a:sym typeface="Wingdings" pitchFamily="2" charset="2"/>
              </a:rPr>
              <a:t> 2GB</a:t>
            </a:r>
          </a:p>
          <a:p>
            <a:pPr lvl="1"/>
            <a:r>
              <a:rPr lang="en-US" dirty="0"/>
              <a:t>KB cache size grows </a:t>
            </a:r>
            <a:r>
              <a:rPr lang="en-US" b="1" dirty="0"/>
              <a:t>linearly</a:t>
            </a:r>
            <a:r>
              <a:rPr lang="en-US" dirty="0"/>
              <a:t> with sequence length</a:t>
            </a:r>
          </a:p>
        </p:txBody>
      </p:sp>
    </p:spTree>
    <p:extLst>
      <p:ext uri="{BB962C8B-B14F-4D97-AF65-F5344CB8AC3E}">
        <p14:creationId xmlns:p14="http://schemas.microsoft.com/office/powerpoint/2010/main" val="9319676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035E-C369-210F-B65F-7EFE00003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F908-DEE9-4174-E4F1-F5AEEA0F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Aside: some architectural changes impact KV caching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1B69CF-0C6E-875B-89C8-D20DC67BD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Grouped query and multi-query attention!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902F40B-7EF2-0607-7CD8-4D704D4E6398}"/>
              </a:ext>
            </a:extLst>
          </p:cNvPr>
          <p:cNvSpPr txBox="1">
            <a:spLocks/>
          </p:cNvSpPr>
          <p:nvPr/>
        </p:nvSpPr>
        <p:spPr>
          <a:xfrm>
            <a:off x="824593" y="1975756"/>
            <a:ext cx="6882493" cy="629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Font typeface="Arial"/>
              <a:buNone/>
            </a:pPr>
            <a:r>
              <a:rPr lang="en-US" dirty="0"/>
              <a:t>Recall: we can re-use keys and values in “groups”</a:t>
            </a:r>
          </a:p>
          <a:p>
            <a:pPr lvl="3"/>
            <a:endParaRPr lang="en-US" dirty="0"/>
          </a:p>
        </p:txBody>
      </p:sp>
      <p:pic>
        <p:nvPicPr>
          <p:cNvPr id="7" name="Picture 2" descr="Klu: What is Grouped-query Attention?">
            <a:extLst>
              <a:ext uri="{FF2B5EF4-FFF2-40B4-BE49-F238E27FC236}">
                <a16:creationId xmlns:a16="http://schemas.microsoft.com/office/drawing/2014/main" id="{DB4A9125-18ED-E826-63BD-EE327A5C8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06737"/>
            <a:ext cx="9144000" cy="375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1378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3085-8404-A9EB-4C7E-8850373A2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62BB-C15B-0382-8906-8CAABE74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E7486-130B-9F9E-CA5F-C1DF26C64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/>
              <a:t>Structured</a:t>
            </a:r>
          </a:p>
          <a:p>
            <a:r>
              <a:rPr lang="en-US" dirty="0"/>
              <a:t>Key-value caching</a:t>
            </a:r>
          </a:p>
          <a:p>
            <a:pPr lvl="1"/>
            <a:r>
              <a:rPr lang="en-US" dirty="0"/>
              <a:t>Motivation  and importance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/>
              <a:t>Techniques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/>
              <a:t>Attention sinks – </a:t>
            </a:r>
            <a:r>
              <a:rPr lang="en-US" dirty="0" err="1"/>
              <a:t>StreamingLLM</a:t>
            </a:r>
            <a:endParaRPr lang="en-US" dirty="0"/>
          </a:p>
          <a:p>
            <a:pPr lvl="2"/>
            <a:r>
              <a:rPr lang="en-US" dirty="0"/>
              <a:t>Predictive caching – </a:t>
            </a:r>
            <a:r>
              <a:rPr lang="en-US" dirty="0" err="1"/>
              <a:t>SnapKV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5549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CEF3D2-812C-8BFB-A20E-EC75BBCE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a lecture?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B6618-F1A3-1F8D-99D2-470F79FED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Attention is all you need….</a:t>
            </a:r>
          </a:p>
          <a:p>
            <a:pPr lvl="1"/>
            <a:r>
              <a:rPr lang="en-US" dirty="0"/>
              <a:t>…but you don’t need all the attention</a:t>
            </a:r>
          </a:p>
          <a:p>
            <a:r>
              <a:rPr lang="en-US" dirty="0"/>
              <a:t>Attention that’s quadratic in sequence length doesn’t scale to long sequences</a:t>
            </a:r>
          </a:p>
          <a:p>
            <a:pPr lvl="1"/>
            <a:r>
              <a:rPr lang="en-US" dirty="0"/>
              <a:t>So we need to approximate somehow…</a:t>
            </a:r>
          </a:p>
          <a:p>
            <a:pPr lvl="1"/>
            <a:r>
              <a:rPr lang="en-US" dirty="0"/>
              <a:t>What attention do we really need?</a:t>
            </a:r>
          </a:p>
          <a:p>
            <a:pPr lvl="1"/>
            <a:r>
              <a:rPr lang="en-US" dirty="0"/>
              <a:t>What can we ignore?</a:t>
            </a:r>
          </a:p>
          <a:p>
            <a:r>
              <a:rPr lang="en-US" dirty="0"/>
              <a:t>In decoder-only Transformers manipulating the </a:t>
            </a:r>
            <a:r>
              <a:rPr lang="en-US" b="1" dirty="0"/>
              <a:t>KV cache </a:t>
            </a:r>
            <a:r>
              <a:rPr lang="en-US" dirty="0"/>
              <a:t>is the </a:t>
            </a:r>
            <a:r>
              <a:rPr lang="en-US" b="1" dirty="0"/>
              <a:t>main</a:t>
            </a:r>
            <a:r>
              <a:rPr lang="en-US" dirty="0"/>
              <a:t> way of </a:t>
            </a:r>
            <a:r>
              <a:rPr lang="en-US" b="1" dirty="0"/>
              <a:t>restricting</a:t>
            </a:r>
            <a:r>
              <a:rPr lang="en-US" dirty="0"/>
              <a:t> </a:t>
            </a:r>
            <a:r>
              <a:rPr lang="en-US" b="1" dirty="0"/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7907312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42F5-6B37-1F45-9027-A368EBC3C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2C73F1-2835-8A5E-5917-4F6FB9E1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Approximating quadratic attention with KV caching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F8746-F2DE-6AC1-086F-DB4E13E57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80552" cy="4865914"/>
          </a:xfrm>
        </p:spPr>
        <p:txBody>
          <a:bodyPr>
            <a:normAutofit/>
          </a:bodyPr>
          <a:lstStyle/>
          <a:p>
            <a:r>
              <a:rPr lang="en-US" dirty="0"/>
              <a:t>In key-value caching we restrict attention </a:t>
            </a:r>
            <a:r>
              <a:rPr lang="en-US" b="1" dirty="0"/>
              <a:t>after </a:t>
            </a:r>
            <a:r>
              <a:rPr lang="en-US" dirty="0"/>
              <a:t>training by </a:t>
            </a:r>
            <a:r>
              <a:rPr lang="en-US" b="1" dirty="0"/>
              <a:t>evicting </a:t>
            </a:r>
            <a:r>
              <a:rPr lang="en-US" dirty="0"/>
              <a:t>from the </a:t>
            </a:r>
            <a:r>
              <a:rPr lang="en-US" b="1" dirty="0"/>
              <a:t>cache</a:t>
            </a:r>
          </a:p>
          <a:p>
            <a:r>
              <a:rPr lang="en-US" dirty="0"/>
              <a:t>This is a crucial method for </a:t>
            </a:r>
            <a:r>
              <a:rPr lang="en-US" b="1" dirty="0"/>
              <a:t>long inputs</a:t>
            </a:r>
          </a:p>
          <a:p>
            <a:pPr lvl="1"/>
            <a:r>
              <a:rPr lang="en-US" dirty="0"/>
              <a:t>or </a:t>
            </a:r>
            <a:r>
              <a:rPr lang="en-US" b="1" dirty="0"/>
              <a:t>outputs</a:t>
            </a:r>
            <a:r>
              <a:rPr lang="en-US" dirty="0"/>
              <a:t>, e.g. reasoning models (O1,…)</a:t>
            </a:r>
          </a:p>
          <a:p>
            <a:endParaRPr lang="en-US" dirty="0"/>
          </a:p>
          <a:p>
            <a:r>
              <a:rPr lang="en-US" dirty="0"/>
              <a:t>Big question: what is the eviction </a:t>
            </a:r>
            <a:r>
              <a:rPr lang="en-US" b="1" dirty="0"/>
              <a:t>policy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238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Key-Value Caching for Transformers:</a:t>
            </a:r>
            <a:br>
              <a:rPr lang="en-US" dirty="0"/>
            </a:br>
            <a:r>
              <a:rPr lang="en-US" dirty="0"/>
              <a:t>Backstory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332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75FA-AC4D-5E51-9548-A56AEFC4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CB61C4-3A5B-29FA-02D8-B510EEA6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quadratic attention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757A3-F59A-CF38-E9F1-C5BF30723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551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early paper/system: ETC (2020)</a:t>
            </a:r>
          </a:p>
          <a:p>
            <a:pPr lvl="1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E52F32-8D0C-4E07-3CD9-F98303D3C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9" y="2263139"/>
            <a:ext cx="8873671" cy="266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188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F560-8C62-0947-15A2-CBADC03A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53FE51-7D12-CBDA-A9A1-6FB7DB135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quadratic attention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4B73B-0EE8-925D-E1FC-67271CC3F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18941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Key idea: split tokens into </a:t>
            </a:r>
            <a:r>
              <a:rPr lang="en-US" b="1" dirty="0"/>
              <a:t>local</a:t>
            </a:r>
            <a:r>
              <a:rPr lang="en-US" dirty="0"/>
              <a:t> and </a:t>
            </a:r>
            <a:r>
              <a:rPr lang="en-US" b="1" dirty="0"/>
              <a:t>global</a:t>
            </a:r>
          </a:p>
          <a:p>
            <a:r>
              <a:rPr lang="en-US" dirty="0"/>
              <a:t>Attention is global-local, local-global, and local-local with constraints</a:t>
            </a:r>
          </a:p>
          <a:p>
            <a:r>
              <a:rPr lang="en-US" dirty="0"/>
              <a:t>Local-local attention is </a:t>
            </a:r>
            <a:r>
              <a:rPr lang="en-US" b="1" dirty="0"/>
              <a:t>not a mask</a:t>
            </a:r>
            <a:r>
              <a:rPr lang="en-US" dirty="0"/>
              <a:t> but a “gather”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02818-08FB-855D-30EA-94BF1AB2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3302193"/>
            <a:ext cx="8403015" cy="326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814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E06DF-656F-E5FA-6D15-059F5A60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5AB7D-C00A-120C-B2CA-AEA7C713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quadratic attention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75D43-1DCB-F1BB-6404-F744B4894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18941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Cost: O(N</a:t>
            </a:r>
            <a:r>
              <a:rPr lang="en-US" baseline="-25000" dirty="0"/>
              <a:t>global</a:t>
            </a:r>
            <a:r>
              <a:rPr lang="en-US" baseline="30000" dirty="0"/>
              <a:t>2</a:t>
            </a:r>
            <a:r>
              <a:rPr lang="en-US" dirty="0"/>
              <a:t> + </a:t>
            </a:r>
            <a:r>
              <a:rPr lang="en-US" dirty="0" err="1"/>
              <a:t>N</a:t>
            </a:r>
            <a:r>
              <a:rPr lang="en-US" baseline="-25000" dirty="0" err="1"/>
              <a:t>global</a:t>
            </a:r>
            <a:r>
              <a:rPr lang="en-US" baseline="-25000" dirty="0"/>
              <a:t> </a:t>
            </a:r>
            <a:r>
              <a:rPr lang="en-US" dirty="0" err="1"/>
              <a:t>N</a:t>
            </a:r>
            <a:r>
              <a:rPr lang="en-US" baseline="-25000" dirty="0" err="1"/>
              <a:t>local</a:t>
            </a:r>
            <a:r>
              <a:rPr lang="en-US" dirty="0"/>
              <a:t> + k </a:t>
            </a:r>
            <a:r>
              <a:rPr lang="en-US" dirty="0" err="1"/>
              <a:t>N</a:t>
            </a:r>
            <a:r>
              <a:rPr lang="en-US" baseline="-25000" dirty="0" err="1"/>
              <a:t>local</a:t>
            </a:r>
            <a:r>
              <a:rPr lang="en-US" dirty="0"/>
              <a:t> ) vs N</a:t>
            </a:r>
            <a:r>
              <a:rPr lang="en-US" baseline="30000" dirty="0"/>
              <a:t>2</a:t>
            </a:r>
          </a:p>
          <a:p>
            <a:r>
              <a:rPr lang="en-US" dirty="0"/>
              <a:t>ETC was very configurable</a:t>
            </a:r>
          </a:p>
          <a:p>
            <a:pPr lvl="1"/>
            <a:r>
              <a:rPr lang="en-US" dirty="0"/>
              <a:t>because in 2020 nobody knew </a:t>
            </a:r>
            <a:r>
              <a:rPr lang="en-US" i="1" dirty="0"/>
              <a:t>how </a:t>
            </a:r>
            <a:r>
              <a:rPr lang="en-US" dirty="0"/>
              <a:t>to restrict attention (except locally)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027E1-8CA7-C58E-7124-68B7DD6F7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3302193"/>
            <a:ext cx="8403015" cy="326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745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54A4-1515-C910-9A76-93B9FBD0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3C5DDC-95A2-044F-1D97-A91B3BDD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quadratic attention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D0BA7-5764-0BB0-7C9A-DF9661B26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551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Another early paper/system: </a:t>
            </a:r>
            <a:r>
              <a:rPr lang="en-US" dirty="0" err="1"/>
              <a:t>BigBird</a:t>
            </a:r>
            <a:r>
              <a:rPr lang="en-US" dirty="0"/>
              <a:t> (2020)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F8937-A2FA-3704-212A-2FE3C2403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75" y="1925615"/>
            <a:ext cx="8740220" cy="338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560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7057-75EE-271B-F6B6-8A471671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F5CC4D-91B4-48F4-4B5E-D1A93EDB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quadratic attention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DC4D3-FC12-90F5-277A-E70A4B785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1"/>
            <a:ext cx="8517128" cy="15773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Another early paper/system: </a:t>
            </a:r>
            <a:r>
              <a:rPr lang="en-US" dirty="0" err="1"/>
              <a:t>BigBird</a:t>
            </a:r>
            <a:r>
              <a:rPr lang="en-US" dirty="0"/>
              <a:t> (2020)</a:t>
            </a:r>
          </a:p>
          <a:p>
            <a:r>
              <a:rPr lang="en-US" dirty="0"/>
              <a:t>Three kinds of attention: local / sliding window; global; </a:t>
            </a:r>
            <a:r>
              <a:rPr lang="en-US" b="1" dirty="0"/>
              <a:t>random</a:t>
            </a:r>
            <a:r>
              <a:rPr lang="en-US" dirty="0"/>
              <a:t> long-range </a:t>
            </a:r>
          </a:p>
          <a:p>
            <a:pPr lvl="1"/>
            <a:endParaRPr lang="en-US" dirty="0"/>
          </a:p>
        </p:txBody>
      </p:sp>
      <p:pic>
        <p:nvPicPr>
          <p:cNvPr id="1026" name="Picture 2" descr="BigBird block sparse attention">
            <a:extLst>
              <a:ext uri="{FF2B5EF4-FFF2-40B4-BE49-F238E27FC236}">
                <a16:creationId xmlns:a16="http://schemas.microsoft.com/office/drawing/2014/main" id="{8534B4DB-D764-D622-A3DE-7240FF3A4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124" y="2834640"/>
            <a:ext cx="6583680" cy="403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1E237C-3A21-5A97-63FC-28E75EED19A8}"/>
              </a:ext>
            </a:extLst>
          </p:cNvPr>
          <p:cNvSpPr txBox="1"/>
          <p:nvPr/>
        </p:nvSpPr>
        <p:spPr>
          <a:xfrm>
            <a:off x="5105399" y="5208814"/>
            <a:ext cx="4038600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shortest paths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ＭＳ Ｐゴシック"/>
              </a:rPr>
              <a:t>between nodes in a 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random Erdos-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Renyi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graph are about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logn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/ log np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683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FC513-87F2-0158-F913-BE3A52E18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9C15D6-0172-22A4-3E2E-712BA16A8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quadratic attention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70EFC-898E-8AF9-97DE-37CE15584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551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Another early paper/system: Reformer (2020)</a:t>
            </a:r>
          </a:p>
          <a:p>
            <a:pPr lvl="1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3854B6-38BA-E2E5-65EB-696AC6A8B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85" y="2240540"/>
            <a:ext cx="8788615" cy="237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884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119B-1180-C12E-BDD4-2C7476EA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9A96E3-6F7D-6F9B-F333-D4B1CF7CB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quadratic attention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39551-C2C9-0CC4-623E-86FFD8669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80552" cy="117500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Reformer used LSH to bucket token representations by similarity and then did attention mostly inside buckets</a:t>
            </a:r>
          </a:p>
          <a:p>
            <a:pPr lvl="1"/>
            <a:endParaRPr lang="en-US" dirty="0"/>
          </a:p>
        </p:txBody>
      </p:sp>
      <p:pic>
        <p:nvPicPr>
          <p:cNvPr id="8" name="Picture 7" descr="A diagram of a market&#10;&#10;AI-generated content may be incorrect.">
            <a:extLst>
              <a:ext uri="{FF2B5EF4-FFF2-40B4-BE49-F238E27FC236}">
                <a16:creationId xmlns:a16="http://schemas.microsoft.com/office/drawing/2014/main" id="{86A0C925-2659-67A3-C668-21C2DBCD4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3" y="2249424"/>
            <a:ext cx="7296913" cy="441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263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CCBC5-CFD9-4A15-1F95-2C9230F23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3651-951B-1669-C400-16C178BE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2225F-0CB1-9F9E-5609-1179F9A6D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/>
              <a:t>Structured</a:t>
            </a:r>
          </a:p>
          <a:p>
            <a:r>
              <a:rPr lang="en-US" dirty="0"/>
              <a:t>Key-value caching</a:t>
            </a:r>
          </a:p>
          <a:p>
            <a:pPr lvl="1"/>
            <a:r>
              <a:rPr lang="en-US" dirty="0"/>
              <a:t>Motivation  and importance</a:t>
            </a:r>
          </a:p>
          <a:p>
            <a:pPr lvl="1"/>
            <a:r>
              <a:rPr lang="en-US" dirty="0"/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Techniques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/>
              <a:t>Attention sinks – </a:t>
            </a:r>
            <a:r>
              <a:rPr lang="en-US" dirty="0" err="1"/>
              <a:t>StreamingLLM</a:t>
            </a:r>
            <a:endParaRPr lang="en-US" dirty="0"/>
          </a:p>
          <a:p>
            <a:pPr lvl="2"/>
            <a:r>
              <a:rPr lang="en-US" dirty="0"/>
              <a:t>Predictive caching – </a:t>
            </a:r>
            <a:r>
              <a:rPr lang="en-US" dirty="0" err="1"/>
              <a:t>SnapKV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5306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687A-088F-2365-ECD3-9AD00396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D43B28-2916-F370-4602-D49960194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Key-Value Caching for Transformers:</a:t>
            </a:r>
            <a:br>
              <a:rPr lang="en-US" dirty="0"/>
            </a:br>
            <a:r>
              <a:rPr lang="en-US" dirty="0"/>
              <a:t>TECHNIQUES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7B6E3-5601-18C5-CE87-093EA3F9C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797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6DF64-2118-4AF9-77B7-074C38BF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E558ED-5551-68EB-C9DB-030CB9F3A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Approximating quadratic attention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C5B0F-1979-884D-B399-5621A752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80552" cy="4865914"/>
          </a:xfrm>
        </p:spPr>
        <p:txBody>
          <a:bodyPr>
            <a:normAutofit/>
          </a:bodyPr>
          <a:lstStyle/>
          <a:p>
            <a:r>
              <a:rPr lang="en-US" dirty="0"/>
              <a:t>ETC, </a:t>
            </a:r>
            <a:r>
              <a:rPr lang="en-US" dirty="0" err="1"/>
              <a:t>BigBird</a:t>
            </a:r>
            <a:r>
              <a:rPr lang="en-US" dirty="0"/>
              <a:t>, Reformer,  … were </a:t>
            </a:r>
            <a:r>
              <a:rPr lang="en-US" b="1" dirty="0"/>
              <a:t>pretrained</a:t>
            </a:r>
            <a:r>
              <a:rPr lang="en-US" dirty="0"/>
              <a:t> with </a:t>
            </a:r>
            <a:r>
              <a:rPr lang="en-US" b="1" dirty="0"/>
              <a:t>restricted attention</a:t>
            </a:r>
          </a:p>
          <a:p>
            <a:r>
              <a:rPr lang="en-US" dirty="0"/>
              <a:t>In key-value caching we restrict attention </a:t>
            </a:r>
            <a:r>
              <a:rPr lang="en-US" b="1" dirty="0"/>
              <a:t>after </a:t>
            </a:r>
            <a:r>
              <a:rPr lang="en-US" dirty="0"/>
              <a:t>training by </a:t>
            </a:r>
            <a:r>
              <a:rPr lang="en-US" b="1" dirty="0"/>
              <a:t>evicting </a:t>
            </a:r>
            <a:r>
              <a:rPr lang="en-US" dirty="0"/>
              <a:t>from the </a:t>
            </a:r>
            <a:r>
              <a:rPr lang="en-US" b="1" dirty="0"/>
              <a:t>cache</a:t>
            </a:r>
          </a:p>
          <a:p>
            <a:r>
              <a:rPr lang="en-US" dirty="0"/>
              <a:t>This is a crucial method for </a:t>
            </a:r>
            <a:r>
              <a:rPr lang="en-US" b="1" dirty="0"/>
              <a:t>long inputs</a:t>
            </a:r>
          </a:p>
          <a:p>
            <a:pPr lvl="1"/>
            <a:r>
              <a:rPr lang="en-US" dirty="0"/>
              <a:t>or </a:t>
            </a:r>
            <a:r>
              <a:rPr lang="en-US" b="1" dirty="0"/>
              <a:t>outputs</a:t>
            </a:r>
            <a:r>
              <a:rPr lang="en-US" dirty="0"/>
              <a:t>, e.g. reasoning models (O1,…)</a:t>
            </a:r>
          </a:p>
          <a:p>
            <a:endParaRPr lang="en-US" dirty="0"/>
          </a:p>
          <a:p>
            <a:r>
              <a:rPr lang="en-US" dirty="0"/>
              <a:t>Big question: what is the eviction </a:t>
            </a:r>
            <a:r>
              <a:rPr lang="en-US" b="1" dirty="0"/>
              <a:t>policy</a:t>
            </a:r>
            <a:r>
              <a:rPr lang="en-US" dirty="0"/>
              <a:t>?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4772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051D-86B6-36CB-414C-DFB31F14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3EEC-4105-C475-17EF-22024FF5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“Heavy Hitters” in KV Caches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D28421-E4FB-A6EA-8CA5-AD3FC2B85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36" y="1847969"/>
            <a:ext cx="8836728" cy="42262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16B264-0748-27FF-571B-D0F35213BE3E}"/>
              </a:ext>
            </a:extLst>
          </p:cNvPr>
          <p:cNvSpPr txBox="1"/>
          <p:nvPr/>
        </p:nvSpPr>
        <p:spPr>
          <a:xfrm>
            <a:off x="6482443" y="1436914"/>
            <a:ext cx="199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2023</a:t>
            </a:r>
          </a:p>
        </p:txBody>
      </p:sp>
    </p:spTree>
    <p:extLst>
      <p:ext uri="{BB962C8B-B14F-4D97-AF65-F5344CB8AC3E}">
        <p14:creationId xmlns:p14="http://schemas.microsoft.com/office/powerpoint/2010/main" val="20563508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 Quick Intro to Data Stream Algorithmics –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CS262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</a:t>
            </a:r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CM Sketch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4453241"/>
            <a:ext cx="8686800" cy="1795159"/>
          </a:xfrm>
          <a:ln/>
          <a:extLst>
            <a:ext uri="{91240B29-F687-4f45-9708-019B960494DF}">
              <a14:hiddenLine xmlns:a14="http://schemas.microsoft.com/office/drawing/2010/main" xmlns="" w="9525">
                <a:solidFill>
                  <a:schemeClr val="bg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r>
              <a:rPr lang="en-US" sz="2000" dirty="0"/>
              <a:t>Each string is mapped to one bucket per row</a:t>
            </a:r>
            <a:endParaRPr lang="en-US" sz="2000" i="1" dirty="0"/>
          </a:p>
          <a:p>
            <a:r>
              <a:rPr lang="en-US" sz="2000" dirty="0"/>
              <a:t>Estimate A[j] by taking min</a:t>
            </a:r>
            <a:r>
              <a:rPr lang="en-US" sz="2000" baseline="-25000" dirty="0"/>
              <a:t>k</a:t>
            </a:r>
            <a:r>
              <a:rPr lang="en-US" sz="2000" dirty="0"/>
              <a:t> { CM[</a:t>
            </a:r>
            <a:r>
              <a:rPr lang="en-US" sz="2000" dirty="0" err="1"/>
              <a:t>k,h</a:t>
            </a:r>
            <a:r>
              <a:rPr lang="en-US" sz="2000" baseline="-25000" dirty="0" err="1"/>
              <a:t>k</a:t>
            </a:r>
            <a:r>
              <a:rPr lang="en-US" sz="2000" dirty="0"/>
              <a:t>(j)] }</a:t>
            </a:r>
          </a:p>
          <a:p>
            <a:r>
              <a:rPr lang="en-US" sz="2000" dirty="0"/>
              <a:t>Errors are always over-estimates</a:t>
            </a:r>
          </a:p>
          <a:p>
            <a:r>
              <a:rPr lang="en-US" sz="2000" dirty="0"/>
              <a:t>Analysis: </a:t>
            </a:r>
            <a:r>
              <a:rPr lang="da-DK" sz="2000" dirty="0"/>
              <a:t>d=log 1/𝛿, w=2/ 𝛿 </a:t>
            </a:r>
            <a:r>
              <a:rPr lang="da-DK" sz="2000" dirty="0">
                <a:sym typeface="Wingdings"/>
              </a:rPr>
              <a:t> </a:t>
            </a:r>
            <a:r>
              <a:rPr lang="da-DK" sz="2000" dirty="0" err="1">
                <a:sym typeface="Wingdings"/>
              </a:rPr>
              <a:t>error</a:t>
            </a:r>
            <a:r>
              <a:rPr lang="da-DK" sz="2000" dirty="0">
                <a:sym typeface="Wingdings"/>
              </a:rPr>
              <a:t> is </a:t>
            </a:r>
            <a:r>
              <a:rPr lang="da-DK" sz="2000" dirty="0" err="1">
                <a:sym typeface="Wingdings"/>
              </a:rPr>
              <a:t>usually</a:t>
            </a:r>
            <a:r>
              <a:rPr lang="da-DK" sz="2000" dirty="0">
                <a:sym typeface="Wingdings"/>
              </a:rPr>
              <a:t> 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i.e. with prob &gt; 1-</a:t>
            </a:r>
            <a:r>
              <a:rPr kumimoji="0" lang="da-DK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𝜺</a:t>
            </a:r>
            <a:r>
              <a:rPr lang="da-DK" sz="2000" dirty="0">
                <a:sym typeface="Wingdings"/>
              </a:rPr>
              <a:t>) </a:t>
            </a:r>
            <a:r>
              <a:rPr lang="da-DK" sz="2000" dirty="0" err="1">
                <a:sym typeface="Wingdings"/>
              </a:rPr>
              <a:t>less</a:t>
            </a:r>
            <a:r>
              <a:rPr lang="da-DK" sz="2000" dirty="0">
                <a:sym typeface="Wingdings"/>
              </a:rPr>
              <a:t> </a:t>
            </a:r>
            <a:r>
              <a:rPr lang="da-DK" sz="2000" dirty="0" err="1">
                <a:sym typeface="Wingdings"/>
              </a:rPr>
              <a:t>than</a:t>
            </a:r>
            <a:r>
              <a:rPr lang="da-DK" sz="2000" dirty="0">
                <a:sym typeface="Wingdings"/>
              </a:rPr>
              <a:t> </a:t>
            </a:r>
            <a:r>
              <a:rPr lang="da-DK" sz="2000" dirty="0"/>
              <a:t>𝜺 </a:t>
            </a:r>
            <a:r>
              <a:rPr lang="da-DK" sz="2000" dirty="0">
                <a:sym typeface="Wingdings"/>
              </a:rPr>
              <a:t>||A||</a:t>
            </a:r>
            <a:r>
              <a:rPr lang="da-DK" sz="2000" baseline="-25000" dirty="0">
                <a:sym typeface="Wingdings"/>
              </a:rPr>
              <a:t>1</a:t>
            </a:r>
            <a:endParaRPr lang="da-DK" sz="2000" baseline="-25000" dirty="0"/>
          </a:p>
          <a:p>
            <a:pPr lvl="0"/>
            <a:endParaRPr lang="da-DK" dirty="0"/>
          </a:p>
        </p:txBody>
      </p:sp>
      <p:sp>
        <p:nvSpPr>
          <p:cNvPr id="345092" name="Oval 4"/>
          <p:cNvSpPr>
            <a:spLocks noChangeArrowheads="1"/>
          </p:cNvSpPr>
          <p:nvPr/>
        </p:nvSpPr>
        <p:spPr bwMode="auto">
          <a:xfrm>
            <a:off x="76200" y="2133600"/>
            <a:ext cx="16764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093" name="Rectangle 5"/>
          <p:cNvSpPr>
            <a:spLocks noChangeArrowheads="1"/>
          </p:cNvSpPr>
          <p:nvPr/>
        </p:nvSpPr>
        <p:spPr bwMode="auto">
          <a:xfrm>
            <a:off x="2209800" y="1371600"/>
            <a:ext cx="5486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094" name="Rectangle 6"/>
          <p:cNvSpPr>
            <a:spLocks noChangeArrowheads="1"/>
          </p:cNvSpPr>
          <p:nvPr/>
        </p:nvSpPr>
        <p:spPr bwMode="auto">
          <a:xfrm>
            <a:off x="2209800" y="1574800"/>
            <a:ext cx="609600" cy="406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095" name="Rectangle 7"/>
          <p:cNvSpPr>
            <a:spLocks noChangeArrowheads="1"/>
          </p:cNvSpPr>
          <p:nvPr/>
        </p:nvSpPr>
        <p:spPr bwMode="auto">
          <a:xfrm>
            <a:off x="2819400" y="1778000"/>
            <a:ext cx="609600" cy="203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096" name="Rectangle 8"/>
          <p:cNvSpPr>
            <a:spLocks noChangeArrowheads="1"/>
          </p:cNvSpPr>
          <p:nvPr/>
        </p:nvSpPr>
        <p:spPr bwMode="auto">
          <a:xfrm>
            <a:off x="3429000" y="1439863"/>
            <a:ext cx="609600" cy="5413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097" name="Rectangle 9"/>
          <p:cNvSpPr>
            <a:spLocks noChangeArrowheads="1"/>
          </p:cNvSpPr>
          <p:nvPr/>
        </p:nvSpPr>
        <p:spPr bwMode="auto">
          <a:xfrm>
            <a:off x="4038600" y="1846263"/>
            <a:ext cx="609600" cy="1349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098" name="Rectangle 10"/>
          <p:cNvSpPr>
            <a:spLocks noChangeArrowheads="1"/>
          </p:cNvSpPr>
          <p:nvPr/>
        </p:nvSpPr>
        <p:spPr bwMode="auto">
          <a:xfrm>
            <a:off x="4648200" y="1643063"/>
            <a:ext cx="609600" cy="3381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099" name="Rectangle 11"/>
          <p:cNvSpPr>
            <a:spLocks noChangeArrowheads="1"/>
          </p:cNvSpPr>
          <p:nvPr/>
        </p:nvSpPr>
        <p:spPr bwMode="auto">
          <a:xfrm>
            <a:off x="5867400" y="1912938"/>
            <a:ext cx="609600" cy="6826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0" name="Rectangle 12"/>
          <p:cNvSpPr>
            <a:spLocks noChangeArrowheads="1"/>
          </p:cNvSpPr>
          <p:nvPr/>
        </p:nvSpPr>
        <p:spPr bwMode="auto">
          <a:xfrm>
            <a:off x="6477000" y="1846263"/>
            <a:ext cx="609600" cy="1349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1" name="Rectangle 13"/>
          <p:cNvSpPr>
            <a:spLocks noChangeArrowheads="1"/>
          </p:cNvSpPr>
          <p:nvPr/>
        </p:nvSpPr>
        <p:spPr bwMode="auto">
          <a:xfrm>
            <a:off x="7086600" y="1643063"/>
            <a:ext cx="609600" cy="33813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2" name="Line 14"/>
          <p:cNvSpPr>
            <a:spLocks noChangeShapeType="1"/>
          </p:cNvSpPr>
          <p:nvPr/>
        </p:nvSpPr>
        <p:spPr bwMode="auto">
          <a:xfrm>
            <a:off x="28194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3" name="Line 15"/>
          <p:cNvSpPr>
            <a:spLocks noChangeShapeType="1"/>
          </p:cNvSpPr>
          <p:nvPr/>
        </p:nvSpPr>
        <p:spPr bwMode="auto">
          <a:xfrm>
            <a:off x="34290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4" name="Line 16"/>
          <p:cNvSpPr>
            <a:spLocks noChangeShapeType="1"/>
          </p:cNvSpPr>
          <p:nvPr/>
        </p:nvSpPr>
        <p:spPr bwMode="auto">
          <a:xfrm>
            <a:off x="40386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5" name="Line 17"/>
          <p:cNvSpPr>
            <a:spLocks noChangeShapeType="1"/>
          </p:cNvSpPr>
          <p:nvPr/>
        </p:nvSpPr>
        <p:spPr bwMode="auto">
          <a:xfrm>
            <a:off x="46482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6" name="Line 18"/>
          <p:cNvSpPr>
            <a:spLocks noChangeShapeType="1"/>
          </p:cNvSpPr>
          <p:nvPr/>
        </p:nvSpPr>
        <p:spPr bwMode="auto">
          <a:xfrm>
            <a:off x="52578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7" name="Line 19"/>
          <p:cNvSpPr>
            <a:spLocks noChangeShapeType="1"/>
          </p:cNvSpPr>
          <p:nvPr/>
        </p:nvSpPr>
        <p:spPr bwMode="auto">
          <a:xfrm>
            <a:off x="58674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8" name="Line 20"/>
          <p:cNvSpPr>
            <a:spLocks noChangeShapeType="1"/>
          </p:cNvSpPr>
          <p:nvPr/>
        </p:nvSpPr>
        <p:spPr bwMode="auto">
          <a:xfrm>
            <a:off x="64770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09" name="Line 21"/>
          <p:cNvSpPr>
            <a:spLocks noChangeShapeType="1"/>
          </p:cNvSpPr>
          <p:nvPr/>
        </p:nvSpPr>
        <p:spPr bwMode="auto">
          <a:xfrm>
            <a:off x="7086600" y="1371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0" name="Rectangle 22"/>
          <p:cNvSpPr>
            <a:spLocks noChangeArrowheads="1"/>
          </p:cNvSpPr>
          <p:nvPr/>
        </p:nvSpPr>
        <p:spPr bwMode="auto">
          <a:xfrm>
            <a:off x="2209800" y="1371600"/>
            <a:ext cx="5486400" cy="2438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1" name="Line 23"/>
          <p:cNvSpPr>
            <a:spLocks noChangeShapeType="1"/>
          </p:cNvSpPr>
          <p:nvPr/>
        </p:nvSpPr>
        <p:spPr bwMode="auto">
          <a:xfrm>
            <a:off x="28194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2" name="Line 24"/>
          <p:cNvSpPr>
            <a:spLocks noChangeShapeType="1"/>
          </p:cNvSpPr>
          <p:nvPr/>
        </p:nvSpPr>
        <p:spPr bwMode="auto">
          <a:xfrm>
            <a:off x="34290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3" name="Line 25"/>
          <p:cNvSpPr>
            <a:spLocks noChangeShapeType="1"/>
          </p:cNvSpPr>
          <p:nvPr/>
        </p:nvSpPr>
        <p:spPr bwMode="auto">
          <a:xfrm>
            <a:off x="40386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4" name="Line 26"/>
          <p:cNvSpPr>
            <a:spLocks noChangeShapeType="1"/>
          </p:cNvSpPr>
          <p:nvPr/>
        </p:nvSpPr>
        <p:spPr bwMode="auto">
          <a:xfrm>
            <a:off x="46482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5" name="Line 27"/>
          <p:cNvSpPr>
            <a:spLocks noChangeShapeType="1"/>
          </p:cNvSpPr>
          <p:nvPr/>
        </p:nvSpPr>
        <p:spPr bwMode="auto">
          <a:xfrm>
            <a:off x="52578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6" name="Line 28"/>
          <p:cNvSpPr>
            <a:spLocks noChangeShapeType="1"/>
          </p:cNvSpPr>
          <p:nvPr/>
        </p:nvSpPr>
        <p:spPr bwMode="auto">
          <a:xfrm>
            <a:off x="58674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7" name="Line 29"/>
          <p:cNvSpPr>
            <a:spLocks noChangeShapeType="1"/>
          </p:cNvSpPr>
          <p:nvPr/>
        </p:nvSpPr>
        <p:spPr bwMode="auto">
          <a:xfrm>
            <a:off x="64770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8" name="Line 30"/>
          <p:cNvSpPr>
            <a:spLocks noChangeShapeType="1"/>
          </p:cNvSpPr>
          <p:nvPr/>
        </p:nvSpPr>
        <p:spPr bwMode="auto">
          <a:xfrm>
            <a:off x="7086600" y="1371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19" name="Line 31"/>
          <p:cNvSpPr>
            <a:spLocks noChangeShapeType="1"/>
          </p:cNvSpPr>
          <p:nvPr/>
        </p:nvSpPr>
        <p:spPr bwMode="auto">
          <a:xfrm>
            <a:off x="2209800" y="19812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20" name="Line 32"/>
          <p:cNvSpPr>
            <a:spLocks noChangeShapeType="1"/>
          </p:cNvSpPr>
          <p:nvPr/>
        </p:nvSpPr>
        <p:spPr bwMode="auto">
          <a:xfrm>
            <a:off x="2209800" y="25908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21" name="Line 33"/>
          <p:cNvSpPr>
            <a:spLocks noChangeShapeType="1"/>
          </p:cNvSpPr>
          <p:nvPr/>
        </p:nvSpPr>
        <p:spPr bwMode="auto">
          <a:xfrm>
            <a:off x="2209800" y="32004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grpSp>
        <p:nvGrpSpPr>
          <p:cNvPr id="345122" name="Group 34"/>
          <p:cNvGrpSpPr>
            <a:grpSpLocks/>
          </p:cNvGrpSpPr>
          <p:nvPr/>
        </p:nvGrpSpPr>
        <p:grpSpPr bwMode="auto">
          <a:xfrm>
            <a:off x="3200400" y="1385888"/>
            <a:ext cx="4114800" cy="2225675"/>
            <a:chOff x="2016" y="873"/>
            <a:chExt cx="2592" cy="1402"/>
          </a:xfrm>
        </p:grpSpPr>
        <p:sp>
          <p:nvSpPr>
            <p:cNvPr id="345123" name="Text Box 35"/>
            <p:cNvSpPr txBox="1">
              <a:spLocks noChangeArrowheads="1"/>
            </p:cNvSpPr>
            <p:nvPr/>
          </p:nvSpPr>
          <p:spPr bwMode="auto">
            <a:xfrm>
              <a:off x="2016" y="873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B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+c</a:t>
              </a:r>
            </a:p>
          </p:txBody>
        </p:sp>
        <p:sp>
          <p:nvSpPr>
            <p:cNvPr id="345124" name="Text Box 36"/>
            <p:cNvSpPr txBox="1">
              <a:spLocks noChangeArrowheads="1"/>
            </p:cNvSpPr>
            <p:nvPr/>
          </p:nvSpPr>
          <p:spPr bwMode="auto">
            <a:xfrm>
              <a:off x="3936" y="1344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B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+c</a:t>
              </a:r>
            </a:p>
          </p:txBody>
        </p:sp>
        <p:sp>
          <p:nvSpPr>
            <p:cNvPr id="345125" name="Text Box 37"/>
            <p:cNvSpPr txBox="1">
              <a:spLocks noChangeArrowheads="1"/>
            </p:cNvSpPr>
            <p:nvPr/>
          </p:nvSpPr>
          <p:spPr bwMode="auto">
            <a:xfrm>
              <a:off x="2400" y="1680"/>
              <a:ext cx="6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B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+c</a:t>
              </a:r>
            </a:p>
          </p:txBody>
        </p:sp>
        <p:sp>
          <p:nvSpPr>
            <p:cNvPr id="345126" name="Text Box 38"/>
            <p:cNvSpPr txBox="1">
              <a:spLocks noChangeArrowheads="1"/>
            </p:cNvSpPr>
            <p:nvPr/>
          </p:nvSpPr>
          <p:spPr bwMode="auto">
            <a:xfrm>
              <a:off x="3168" y="2025"/>
              <a:ext cx="7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BE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+c</a:t>
              </a:r>
            </a:p>
          </p:txBody>
        </p:sp>
      </p:grpSp>
      <p:grpSp>
        <p:nvGrpSpPr>
          <p:cNvPr id="345127" name="Group 39"/>
          <p:cNvGrpSpPr>
            <a:grpSpLocks/>
          </p:cNvGrpSpPr>
          <p:nvPr/>
        </p:nvGrpSpPr>
        <p:grpSpPr bwMode="auto">
          <a:xfrm>
            <a:off x="1143000" y="1455738"/>
            <a:ext cx="5562600" cy="2216151"/>
            <a:chOff x="720" y="917"/>
            <a:chExt cx="3504" cy="1396"/>
          </a:xfrm>
        </p:grpSpPr>
        <p:sp>
          <p:nvSpPr>
            <p:cNvPr id="345128" name="Line 40"/>
            <p:cNvSpPr>
              <a:spLocks noChangeShapeType="1"/>
            </p:cNvSpPr>
            <p:nvPr/>
          </p:nvSpPr>
          <p:spPr bwMode="auto">
            <a:xfrm flipV="1">
              <a:off x="1104" y="1056"/>
              <a:ext cx="1248" cy="48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45129" name="Line 41"/>
            <p:cNvSpPr>
              <a:spLocks noChangeShapeType="1"/>
            </p:cNvSpPr>
            <p:nvPr/>
          </p:nvSpPr>
          <p:spPr bwMode="auto">
            <a:xfrm flipV="1">
              <a:off x="1104" y="1392"/>
              <a:ext cx="3120" cy="14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45130" name="Line 42"/>
            <p:cNvSpPr>
              <a:spLocks noChangeShapeType="1"/>
            </p:cNvSpPr>
            <p:nvPr/>
          </p:nvSpPr>
          <p:spPr bwMode="auto">
            <a:xfrm>
              <a:off x="1104" y="1536"/>
              <a:ext cx="1632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45131" name="Line 43"/>
            <p:cNvSpPr>
              <a:spLocks noChangeShapeType="1"/>
            </p:cNvSpPr>
            <p:nvPr/>
          </p:nvSpPr>
          <p:spPr bwMode="auto">
            <a:xfrm>
              <a:off x="1104" y="1536"/>
              <a:ext cx="2400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endParaRPr>
            </a:p>
          </p:txBody>
        </p:sp>
        <p:sp>
          <p:nvSpPr>
            <p:cNvPr id="345132" name="Text Box 44"/>
            <p:cNvSpPr txBox="1">
              <a:spLocks noChangeArrowheads="1"/>
            </p:cNvSpPr>
            <p:nvPr/>
          </p:nvSpPr>
          <p:spPr bwMode="auto">
            <a:xfrm>
              <a:off x="720" y="917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h</a:t>
              </a:r>
              <a:r>
                <a:rPr kumimoji="0" 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1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(s)</a:t>
              </a:r>
            </a:p>
          </p:txBody>
        </p:sp>
        <p:sp>
          <p:nvSpPr>
            <p:cNvPr id="345133" name="Text Box 45"/>
            <p:cNvSpPr txBox="1">
              <a:spLocks noChangeArrowheads="1"/>
            </p:cNvSpPr>
            <p:nvPr/>
          </p:nvSpPr>
          <p:spPr bwMode="auto">
            <a:xfrm>
              <a:off x="720" y="2025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h</a:t>
              </a:r>
              <a:r>
                <a:rPr kumimoji="0" lang="en-US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d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(s)</a:t>
              </a:r>
            </a:p>
          </p:txBody>
        </p:sp>
      </p:grpSp>
      <p:sp>
        <p:nvSpPr>
          <p:cNvPr id="345134" name="Text Box 46"/>
          <p:cNvSpPr txBox="1">
            <a:spLocks noChangeArrowheads="1"/>
          </p:cNvSpPr>
          <p:nvPr/>
        </p:nvSpPr>
        <p:spPr bwMode="auto">
          <a:xfrm>
            <a:off x="381000" y="22098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&lt;s, +c&gt;</a:t>
            </a:r>
          </a:p>
        </p:txBody>
      </p:sp>
      <p:sp>
        <p:nvSpPr>
          <p:cNvPr id="345135" name="Line 47"/>
          <p:cNvSpPr>
            <a:spLocks noChangeShapeType="1"/>
          </p:cNvSpPr>
          <p:nvPr/>
        </p:nvSpPr>
        <p:spPr bwMode="auto">
          <a:xfrm>
            <a:off x="7924800" y="1371600"/>
            <a:ext cx="0" cy="2438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36" name="Line 48"/>
          <p:cNvSpPr>
            <a:spLocks noChangeShapeType="1"/>
          </p:cNvSpPr>
          <p:nvPr/>
        </p:nvSpPr>
        <p:spPr bwMode="auto">
          <a:xfrm>
            <a:off x="2209800" y="4038600"/>
            <a:ext cx="548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345137" name="Text Box 49"/>
          <p:cNvSpPr txBox="1">
            <a:spLocks noChangeArrowheads="1"/>
          </p:cNvSpPr>
          <p:nvPr/>
        </p:nvSpPr>
        <p:spPr bwMode="auto">
          <a:xfrm rot="5400000">
            <a:off x="7403307" y="2366169"/>
            <a:ext cx="1820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d=log 1/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  <a:sym typeface="Symbol" charset="0"/>
              </a:rPr>
              <a:t></a:t>
            </a:r>
          </a:p>
        </p:txBody>
      </p:sp>
      <p:sp>
        <p:nvSpPr>
          <p:cNvPr id="345138" name="Text Box 50"/>
          <p:cNvSpPr txBox="1">
            <a:spLocks noChangeArrowheads="1"/>
          </p:cNvSpPr>
          <p:nvPr/>
        </p:nvSpPr>
        <p:spPr bwMode="auto">
          <a:xfrm>
            <a:off x="4419600" y="39624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w = 2/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Symbol" charset="0"/>
                <a:ea typeface="ＭＳ Ｐゴシック" charset="0"/>
                <a:cs typeface="+mn-cs"/>
                <a:sym typeface="Symbol" charset="0"/>
              </a:rPr>
              <a:t></a:t>
            </a: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4305300" y="0"/>
            <a:ext cx="4800600" cy="48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/>
                <a:ea typeface="ＭＳ Ｐゴシック"/>
                <a:cs typeface="+mn-cs"/>
              </a:rPr>
              <a:t>from: Minos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/>
                <a:ea typeface="ＭＳ Ｐゴシック"/>
                <a:cs typeface="+mn-cs"/>
              </a:rPr>
              <a:t>Garofalakis</a:t>
            </a:r>
            <a:b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/>
                <a:ea typeface="ＭＳ Ｐゴシック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BE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591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 Quick Intro to Data Stream Algorithmics –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CS262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BE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</a:t>
            </a:r>
          </a:p>
        </p:txBody>
      </p:sp>
      <p:sp>
        <p:nvSpPr>
          <p:cNvPr id="84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CM Sketch Guarantees</a:t>
            </a:r>
          </a:p>
        </p:txBody>
      </p:sp>
      <p:sp>
        <p:nvSpPr>
          <p:cNvPr id="84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563" y="1219200"/>
            <a:ext cx="8961437" cy="5464175"/>
          </a:xfrm>
        </p:spPr>
        <p:txBody>
          <a:bodyPr>
            <a:normAutofit/>
          </a:bodyPr>
          <a:lstStyle/>
          <a:p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Cormode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Muthukrishnan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 ‘04]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CM sketch guarantees approximation error on point queries less than e||A||</a:t>
            </a:r>
            <a:r>
              <a:rPr 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 space O(1/e log 1/d)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CM sketches are also accurate for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skewed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values---i.e., only a few entries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with large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A[s] 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“Finding heavy hitters”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 a streaming process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305300" y="0"/>
            <a:ext cx="4800600" cy="48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/>
                <a:ea typeface="ＭＳ Ｐゴシック"/>
                <a:cs typeface="+mn-cs"/>
              </a:rPr>
              <a:t>from: Minos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/>
                <a:ea typeface="ＭＳ Ｐゴシック"/>
                <a:cs typeface="+mn-cs"/>
              </a:rPr>
              <a:t>Garofalakis</a:t>
            </a:r>
            <a:b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uLnTx/>
                <a:uFillTx/>
                <a:latin typeface="Arial"/>
                <a:ea typeface="ＭＳ Ｐゴシック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BE"/>
              </a:solidFill>
              <a:effectLst>
                <a:outerShdw blurRad="38100" dist="38100" dir="2700000" algn="tl">
                  <a:srgbClr val="DDDDDD"/>
                </a:outerShdw>
              </a:effectLst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467458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2C51E-593C-8B67-14F0-6F6464DC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60B8-A34D-3A65-43E4-1D4CFA68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“Heavy Hitters” in KV Caches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24BA17-9A83-C41D-39AA-03C0F9AE14D7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observations</a:t>
            </a:r>
          </a:p>
          <a:p>
            <a:pPr lvl="1"/>
            <a:r>
              <a:rPr lang="en-US" dirty="0"/>
              <a:t>Attention is naturally </a:t>
            </a:r>
            <a:r>
              <a:rPr lang="en-US" b="1" dirty="0"/>
              <a:t>sparse</a:t>
            </a:r>
          </a:p>
          <a:p>
            <a:pPr lvl="1"/>
            <a:r>
              <a:rPr lang="en-US" dirty="0" err="1"/>
              <a:t>I.e</a:t>
            </a:r>
            <a:r>
              <a:rPr lang="en-US" dirty="0"/>
              <a:t>, </a:t>
            </a:r>
            <a:r>
              <a:rPr lang="en-US" b="1" dirty="0"/>
              <a:t>most</a:t>
            </a:r>
            <a:r>
              <a:rPr lang="en-US" dirty="0"/>
              <a:t> LLMs give </a:t>
            </a:r>
            <a:r>
              <a:rPr lang="en-US" b="1" dirty="0"/>
              <a:t>small</a:t>
            </a:r>
            <a:r>
              <a:rPr lang="en-US" dirty="0"/>
              <a:t> weight to </a:t>
            </a:r>
            <a:r>
              <a:rPr lang="en-US" b="1" dirty="0"/>
              <a:t>most</a:t>
            </a:r>
            <a:r>
              <a:rPr lang="en-US" dirty="0"/>
              <a:t> of the KV cache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66B8E2-00E2-5288-E9E5-7EE5C81DF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2" y="1417638"/>
            <a:ext cx="4267200" cy="3568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14660B-BF69-A21F-798F-947BFE12864E}"/>
              </a:ext>
            </a:extLst>
          </p:cNvPr>
          <p:cNvSpPr txBox="1"/>
          <p:nvPr/>
        </p:nvSpPr>
        <p:spPr>
          <a:xfrm>
            <a:off x="5105399" y="5208814"/>
            <a:ext cx="40386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sparsity: fraction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with &lt; 1% of max attention score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58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B8D9-C45C-532C-ADAB-878EF131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8B29-FD52-3189-77A3-D9FE5FFD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“Heavy Hitters” in KV Caches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E65FD-4EC4-56CF-C3EE-1073F6E0329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3624943" cy="4539343"/>
          </a:xfrm>
        </p:spPr>
        <p:txBody>
          <a:bodyPr>
            <a:normAutofit/>
          </a:bodyPr>
          <a:lstStyle/>
          <a:p>
            <a:r>
              <a:rPr lang="en-US" dirty="0"/>
              <a:t>New observations</a:t>
            </a:r>
          </a:p>
          <a:p>
            <a:pPr lvl="1"/>
            <a:r>
              <a:rPr lang="en-US" dirty="0"/>
              <a:t>Accumulated attention weights are distributed like a </a:t>
            </a:r>
            <a:r>
              <a:rPr lang="en-US" b="1" dirty="0"/>
              <a:t>power law</a:t>
            </a:r>
          </a:p>
          <a:p>
            <a:pPr lvl="1"/>
            <a:r>
              <a:rPr lang="en-US" dirty="0"/>
              <a:t>So: a small number of “heavy hitter” tokens seem to be </a:t>
            </a:r>
            <a:r>
              <a:rPr lang="en-US" b="1" dirty="0"/>
              <a:t>important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D63A74-5FBB-8835-7FE4-A462DD571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78"/>
          <a:stretch/>
        </p:blipFill>
        <p:spPr>
          <a:xfrm>
            <a:off x="4914900" y="1600200"/>
            <a:ext cx="4229099" cy="35106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BA9AD2-AD1A-1A45-598A-EE569548E395}"/>
              </a:ext>
            </a:extLst>
          </p:cNvPr>
          <p:cNvSpPr txBox="1"/>
          <p:nvPr/>
        </p:nvSpPr>
        <p:spPr>
          <a:xfrm>
            <a:off x="4784271" y="5208814"/>
            <a:ext cx="4359728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red scatter is total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attention summed over all decoding steps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95625-3AE2-D797-8DDC-9D7572D12B31}"/>
              </a:ext>
            </a:extLst>
          </p:cNvPr>
          <p:cNvSpPr txBox="1"/>
          <p:nvPr/>
        </p:nvSpPr>
        <p:spPr>
          <a:xfrm>
            <a:off x="4082143" y="5993644"/>
            <a:ext cx="4359728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x-axis is “co-occurrence” 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ＭＳ Ｐゴシック"/>
              </a:rPr>
              <a:t>frequency </a:t>
            </a:r>
            <a:r>
              <a:rPr lang="en-US" dirty="0">
                <a:solidFill>
                  <a:srgbClr val="000000"/>
                </a:solidFill>
                <a:latin typeface="Arial"/>
                <a:ea typeface="ＭＳ Ｐゴシック"/>
              </a:rPr>
              <a:t>(same token appears 2x)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38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D92E4-C323-EA91-4009-3971BF81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45FE-6669-0E27-715D-E8EB094A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“Heavy Hitters” in KV Caches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89CD1E-677A-C8B8-8A0D-9B03BAF561A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3624943" cy="4539343"/>
          </a:xfrm>
        </p:spPr>
        <p:txBody>
          <a:bodyPr>
            <a:normAutofit/>
          </a:bodyPr>
          <a:lstStyle/>
          <a:p>
            <a:r>
              <a:rPr lang="en-US" dirty="0"/>
              <a:t>New observations</a:t>
            </a:r>
          </a:p>
          <a:p>
            <a:pPr lvl="1"/>
            <a:r>
              <a:rPr lang="en-US" dirty="0"/>
              <a:t>Masking heavy hitter tokens degrades performance</a:t>
            </a:r>
          </a:p>
          <a:p>
            <a:endParaRPr lang="en-US" dirty="0"/>
          </a:p>
          <a:p>
            <a:r>
              <a:rPr lang="en-US" dirty="0"/>
              <a:t>So: make sure you keep them in the KV cache!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9882F-BB26-036A-B31B-D341B523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03338"/>
            <a:ext cx="4359728" cy="383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334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C3B8-AD08-108D-9A7F-8778A1CE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CE1A-1478-455A-A855-CF84931A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“Heavy Hitters” in KV Caches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B486B-E2F6-179A-11CC-50B5A80964F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40005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Proposed method</a:t>
            </a:r>
          </a:p>
          <a:p>
            <a:pPr lvl="1"/>
            <a:r>
              <a:rPr lang="en-US" dirty="0"/>
              <a:t>Fix the cache size to K</a:t>
            </a:r>
          </a:p>
          <a:p>
            <a:pPr lvl="1"/>
            <a:r>
              <a:rPr lang="en-US" dirty="0"/>
              <a:t>Generate tokens </a:t>
            </a:r>
            <a:r>
              <a:rPr lang="en-US" dirty="0" err="1"/>
              <a:t>i</a:t>
            </a:r>
            <a:r>
              <a:rPr lang="en-US" dirty="0"/>
              <a:t>=1, …, …</a:t>
            </a:r>
          </a:p>
          <a:p>
            <a:pPr lvl="2"/>
            <a:r>
              <a:rPr lang="en-US" dirty="0"/>
              <a:t>Track score (cumulative attention) of each token in the cache</a:t>
            </a:r>
          </a:p>
          <a:p>
            <a:pPr lvl="3"/>
            <a:r>
              <a:rPr lang="en-US" dirty="0"/>
              <a:t>“local H2 statistic” – cumulative attention up to position </a:t>
            </a:r>
            <a:r>
              <a:rPr lang="en-US" dirty="0" err="1"/>
              <a:t>i</a:t>
            </a:r>
            <a:endParaRPr lang="en-US" dirty="0"/>
          </a:p>
          <a:p>
            <a:pPr lvl="2"/>
            <a:r>
              <a:rPr lang="en-US" dirty="0"/>
              <a:t>When the cache is full, overwrite the token with lowest local H2 score</a:t>
            </a:r>
          </a:p>
          <a:p>
            <a:pPr lvl="3"/>
            <a:r>
              <a:rPr lang="en-US" dirty="0"/>
              <a:t>(Attention to recent-past tokens keeps tokens from being evicted too quickly)</a:t>
            </a:r>
          </a:p>
          <a:p>
            <a:pPr lvl="2"/>
            <a:r>
              <a:rPr lang="en-US" dirty="0"/>
              <a:t>Called an “</a:t>
            </a:r>
            <a:r>
              <a:rPr lang="en-US" b="1" dirty="0"/>
              <a:t>eviction policy</a:t>
            </a:r>
            <a:r>
              <a:rPr lang="en-US" dirty="0"/>
              <a:t>”</a:t>
            </a:r>
          </a:p>
          <a:p>
            <a:pPr lvl="1"/>
            <a:r>
              <a:rPr lang="en-US" b="1" dirty="0"/>
              <a:t>Local H2 statistic </a:t>
            </a:r>
            <a:r>
              <a:rPr lang="en-US" dirty="0"/>
              <a:t>is close to </a:t>
            </a:r>
            <a:r>
              <a:rPr lang="en-US" b="1" dirty="0"/>
              <a:t>full oracle H2 statistic </a:t>
            </a:r>
            <a:r>
              <a:rPr lang="en-US" dirty="0"/>
              <a:t>that looks at future tokens</a:t>
            </a:r>
          </a:p>
        </p:txBody>
      </p:sp>
    </p:spTree>
    <p:extLst>
      <p:ext uri="{BB962C8B-B14F-4D97-AF65-F5344CB8AC3E}">
        <p14:creationId xmlns:p14="http://schemas.microsoft.com/office/powerpoint/2010/main" val="17874343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02588-A8A4-4765-72B5-D5F34212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34D6-E8B9-26FF-F80F-0BB77F0D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“Heavy Hitters” in KV Caches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749AC8-8046-F8A7-F025-406AB6A1F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4" y="1417638"/>
            <a:ext cx="6237514" cy="52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765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2A0B-FDCA-0C22-67CA-5FCD8CAD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115B-7F15-0B8B-B801-E4032FB9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2B046-A03D-39A9-8C35-5EE7F66D1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/>
              <a:t>Structured</a:t>
            </a:r>
          </a:p>
          <a:p>
            <a:r>
              <a:rPr lang="en-US" dirty="0"/>
              <a:t>Key-value caching</a:t>
            </a:r>
          </a:p>
          <a:p>
            <a:pPr lvl="1"/>
            <a:r>
              <a:rPr lang="en-US" dirty="0"/>
              <a:t>Motivation  and importance</a:t>
            </a:r>
          </a:p>
          <a:p>
            <a:pPr lvl="1"/>
            <a:r>
              <a:rPr lang="en-US" dirty="0"/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/>
              <a:t>Techniques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Attention sinks – </a:t>
            </a:r>
            <a:r>
              <a:rPr lang="en-US" dirty="0" err="1">
                <a:highlight>
                  <a:srgbClr val="FFFF00"/>
                </a:highlight>
              </a:rPr>
              <a:t>StreamingLLM</a:t>
            </a:r>
            <a:endParaRPr lang="en-US" dirty="0">
              <a:highlight>
                <a:srgbClr val="FFFF00"/>
              </a:highlight>
            </a:endParaRPr>
          </a:p>
          <a:p>
            <a:pPr lvl="2"/>
            <a:r>
              <a:rPr lang="en-US" dirty="0"/>
              <a:t>Predictive caching – </a:t>
            </a:r>
            <a:r>
              <a:rPr lang="en-US" dirty="0" err="1"/>
              <a:t>SnapKV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0748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19D3-7368-028F-13E4-0C0ADF9CE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38BA-BD3E-BA56-95C5-B53B96C7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ways of predicting attention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B84C6-1E1A-B1E4-80E8-CEBA0E67AF27}"/>
              </a:ext>
            </a:extLst>
          </p:cNvPr>
          <p:cNvSpPr txBox="1"/>
          <p:nvPr/>
        </p:nvSpPr>
        <p:spPr>
          <a:xfrm>
            <a:off x="6482443" y="1436914"/>
            <a:ext cx="199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7DD6D-B2D0-48B2-AC5D-96D51FE46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14" y="1806246"/>
            <a:ext cx="9146913" cy="34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559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36C34-7824-9635-4E44-E3BDE84E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124AA-D517-6D00-DE2E-17937507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ways of predicting attention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8F423-2920-6D20-F4B0-6ED6D1B03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4" y="1594756"/>
            <a:ext cx="7992836" cy="413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35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7A10-2144-D682-6691-A4249F08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5DC7-C497-D837-7BC7-AE3667BC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ways of predicting attention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8159F-536C-249F-16BC-50994452F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870" y="1746249"/>
            <a:ext cx="3866127" cy="3772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DFD5D-A032-69EF-F161-42C03C49E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21" y="2051795"/>
            <a:ext cx="4629150" cy="23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549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209F-6AA1-6DCA-84F0-8CB6CCCD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89F2-436E-D60C-551C-52A936C4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ways of predicting attention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86AE63-E460-39ED-BF9D-6579FDB1C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074" y="1259658"/>
            <a:ext cx="5850224" cy="53237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6AD20C-455B-5409-AF75-6DFDE134E380}"/>
              </a:ext>
            </a:extLst>
          </p:cNvPr>
          <p:cNvSpPr txBox="1"/>
          <p:nvPr/>
        </p:nvSpPr>
        <p:spPr>
          <a:xfrm>
            <a:off x="6860298" y="3135085"/>
            <a:ext cx="2155370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Why are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initial positions getting so much attention?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40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0D36-19C1-5E75-196A-4DE9A061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DE1B-9BE1-716C-30B9-44EFB91D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ways of predicting attention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69A0A-FF77-6BA4-1A1D-CA86E359CF22}"/>
              </a:ext>
            </a:extLst>
          </p:cNvPr>
          <p:cNvSpPr txBox="1"/>
          <p:nvPr/>
        </p:nvSpPr>
        <p:spPr>
          <a:xfrm>
            <a:off x="1226941" y="1698169"/>
            <a:ext cx="7149616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rgbClr val="000000"/>
                </a:solidFill>
                <a:latin typeface="Arial"/>
                <a:ea typeface="ＭＳ Ｐゴシック"/>
              </a:rPr>
              <a:t>Attention sinks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ＭＳ Ｐゴシック"/>
              </a:rPr>
              <a:t>The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ＭＳ Ｐゴシック"/>
              </a:rPr>
              <a:t>Softmax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ＭＳ Ｐゴシック"/>
              </a:rPr>
              <a:t> operation requires attention scores to sum up to one .. when the current query does </a:t>
            </a:r>
            <a:r>
              <a:rPr lang="en-US" sz="2400" b="1" dirty="0">
                <a:solidFill>
                  <a:srgbClr val="000000"/>
                </a:solidFill>
                <a:latin typeface="Arial"/>
                <a:ea typeface="ＭＳ Ｐゴシック"/>
              </a:rPr>
              <a:t>not have a strong match 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ＭＳ Ｐゴシック"/>
              </a:rPr>
              <a:t>… the model still needs to allocate attention somewhere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ＭＳ Ｐゴシック"/>
              </a:rPr>
              <a:t>Initial tokens are visible to almost all subsequent tokens .. making them readily trained to serve as attention sinks.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8178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19803-CD65-380F-6E0C-7F39817FB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B4C8-5687-8994-99A2-015F19A91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StreamingLLM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B4524-DBC6-4BCA-A1C2-1535EFB14DC5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199" y="1600200"/>
            <a:ext cx="8931729" cy="20410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Proposed method</a:t>
            </a:r>
          </a:p>
          <a:p>
            <a:pPr lvl="1"/>
            <a:r>
              <a:rPr lang="en-US" dirty="0"/>
              <a:t>Fix the cache size to K</a:t>
            </a:r>
          </a:p>
          <a:p>
            <a:pPr lvl="1"/>
            <a:r>
              <a:rPr lang="en-US" dirty="0"/>
              <a:t>Generate tokens </a:t>
            </a:r>
            <a:r>
              <a:rPr lang="en-US" dirty="0" err="1"/>
              <a:t>i</a:t>
            </a:r>
            <a:r>
              <a:rPr lang="en-US" dirty="0"/>
              <a:t>=1, …, …</a:t>
            </a:r>
          </a:p>
          <a:p>
            <a:pPr lvl="2"/>
            <a:r>
              <a:rPr lang="en-US" dirty="0"/>
              <a:t>Keep the first 4 tokens and the most recent K-4</a:t>
            </a:r>
          </a:p>
          <a:p>
            <a:pPr lvl="2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9238CB-953E-42E8-B76F-E6FFF30D9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429000"/>
            <a:ext cx="5486862" cy="32879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BEE095-3709-19E0-FDA4-60AF20E76A56}"/>
              </a:ext>
            </a:extLst>
          </p:cNvPr>
          <p:cNvSpPr txBox="1"/>
          <p:nvPr/>
        </p:nvSpPr>
        <p:spPr>
          <a:xfrm>
            <a:off x="5649686" y="1224643"/>
            <a:ext cx="279218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Note: I’m skipping some details involving </a:t>
            </a:r>
            <a:r>
              <a:rPr lang="en-US" b="1" dirty="0"/>
              <a:t>relative</a:t>
            </a:r>
            <a:r>
              <a:rPr lang="en-US" dirty="0"/>
              <a:t> positional encoding for now…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1F41C-6085-2B9A-3A71-9922821835E4}"/>
              </a:ext>
            </a:extLst>
          </p:cNvPr>
          <p:cNvSpPr txBox="1"/>
          <p:nvPr/>
        </p:nvSpPr>
        <p:spPr>
          <a:xfrm>
            <a:off x="6384471" y="3853543"/>
            <a:ext cx="23023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: stream LLM</a:t>
            </a:r>
          </a:p>
          <a:p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orange</a:t>
            </a:r>
            <a:r>
              <a:rPr lang="en-US" dirty="0"/>
              <a:t>: sliding window attention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blue</a:t>
            </a:r>
            <a:r>
              <a:rPr lang="en-US" dirty="0"/>
              <a:t>: dense attention</a:t>
            </a:r>
          </a:p>
        </p:txBody>
      </p:sp>
    </p:spTree>
    <p:extLst>
      <p:ext uri="{BB962C8B-B14F-4D97-AF65-F5344CB8AC3E}">
        <p14:creationId xmlns:p14="http://schemas.microsoft.com/office/powerpoint/2010/main" val="412335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3516-0AD7-4DBD-CADF-1BE9AC3D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749A4-A274-BCC5-DE5D-F4B5E24E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StreamingLLM</a:t>
            </a:r>
            <a:r>
              <a:rPr lang="en-US" dirty="0"/>
              <a:t> and H2O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B01157-181F-6029-412E-1F48EEF8145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199" y="1600200"/>
            <a:ext cx="8931729" cy="20410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Proposed method</a:t>
            </a:r>
          </a:p>
          <a:p>
            <a:pPr lvl="1"/>
            <a:r>
              <a:rPr lang="en-US" dirty="0"/>
              <a:t>Fix the cache size to K</a:t>
            </a:r>
          </a:p>
          <a:p>
            <a:pPr lvl="1"/>
            <a:r>
              <a:rPr lang="en-US" dirty="0"/>
              <a:t>Generate tokens </a:t>
            </a:r>
            <a:r>
              <a:rPr lang="en-US" dirty="0" err="1"/>
              <a:t>i</a:t>
            </a:r>
            <a:r>
              <a:rPr lang="en-US" dirty="0"/>
              <a:t>=1, …, …</a:t>
            </a:r>
          </a:p>
          <a:p>
            <a:pPr lvl="2"/>
            <a:r>
              <a:rPr lang="en-US" dirty="0"/>
              <a:t>Keep the first 4 tokens and the most recent K-4</a:t>
            </a:r>
          </a:p>
          <a:p>
            <a:pPr lvl="2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39709-77FA-A063-10A0-822AD2D60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927" y="3641271"/>
            <a:ext cx="6289913" cy="308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773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E24CC-D2DA-BB45-0D00-B71393A3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C480-2941-0CA5-810D-3C233585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D1F76-B54B-30E0-FDED-47FDAF6F8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/>
              <a:t>Structured</a:t>
            </a:r>
          </a:p>
          <a:p>
            <a:r>
              <a:rPr lang="en-US" dirty="0"/>
              <a:t>Key-value caching</a:t>
            </a:r>
          </a:p>
          <a:p>
            <a:pPr lvl="1"/>
            <a:r>
              <a:rPr lang="en-US" dirty="0"/>
              <a:t>Motivation  and importance</a:t>
            </a:r>
          </a:p>
          <a:p>
            <a:pPr lvl="1"/>
            <a:r>
              <a:rPr lang="en-US" dirty="0"/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/>
              <a:t>Techniques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/>
              <a:t>Attention sinks – </a:t>
            </a:r>
            <a:r>
              <a:rPr lang="en-US" dirty="0" err="1"/>
              <a:t>StreamingLLM</a:t>
            </a:r>
            <a:endParaRPr lang="en-US" dirty="0"/>
          </a:p>
          <a:p>
            <a:pPr lvl="2"/>
            <a:r>
              <a:rPr lang="en-US" dirty="0">
                <a:highlight>
                  <a:srgbClr val="FFFF00"/>
                </a:highlight>
              </a:rPr>
              <a:t>Predictive caching – </a:t>
            </a:r>
            <a:r>
              <a:rPr lang="en-US" dirty="0" err="1">
                <a:highlight>
                  <a:srgbClr val="FFFF00"/>
                </a:highlight>
              </a:rPr>
              <a:t>SnapKV</a:t>
            </a:r>
            <a:endParaRPr lang="en-US" dirty="0">
              <a:highlight>
                <a:srgbClr val="FFFF00"/>
              </a:highlight>
            </a:endParaRP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00312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A6E9-CDD9-1DDD-24C8-3B6C2835D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9B422-339A-D7A2-CED8-2387BD1C7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KV Caching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80F59-CFC6-75FE-4944-12B29C20E027}"/>
              </a:ext>
            </a:extLst>
          </p:cNvPr>
          <p:cNvSpPr txBox="1"/>
          <p:nvPr/>
        </p:nvSpPr>
        <p:spPr>
          <a:xfrm>
            <a:off x="6482443" y="1436914"/>
            <a:ext cx="199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91E69-ECAB-8DB6-24BF-EBEB86E09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88567"/>
            <a:ext cx="7772400" cy="308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025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B9E5C-4B8F-8661-17F2-75072103C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CDE9-72D1-5EEB-FA1C-9CD7C51F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KV Caching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36EC150-018E-65ED-24E8-7D716B8D6661}"/>
              </a:ext>
            </a:extLst>
          </p:cNvPr>
          <p:cNvSpPr txBox="1">
            <a:spLocks/>
          </p:cNvSpPr>
          <p:nvPr/>
        </p:nvSpPr>
        <p:spPr>
          <a:xfrm>
            <a:off x="358543" y="1577897"/>
            <a:ext cx="8328257" cy="4539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Data: </a:t>
            </a:r>
            <a:r>
              <a:rPr lang="en-US" dirty="0" err="1"/>
              <a:t>UltraChat</a:t>
            </a:r>
            <a:endParaRPr lang="en-US" dirty="0"/>
          </a:p>
          <a:p>
            <a:pPr lvl="1"/>
            <a:r>
              <a:rPr lang="en-US" dirty="0"/>
              <a:t>1.4M sequences, selected dialog turns with prompt &gt; 3k tokens, and response &gt; 512 tokens</a:t>
            </a:r>
          </a:p>
          <a:p>
            <a:r>
              <a:rPr lang="en-US" dirty="0"/>
              <a:t>New observation</a:t>
            </a:r>
          </a:p>
          <a:p>
            <a:pPr lvl="1"/>
            <a:r>
              <a:rPr lang="en-US" dirty="0"/>
              <a:t>The attention pattern for prompt tokens is </a:t>
            </a:r>
            <a:r>
              <a:rPr lang="en-US" b="1" dirty="0"/>
              <a:t>consistent</a:t>
            </a:r>
            <a:r>
              <a:rPr lang="en-US" dirty="0"/>
              <a:t> throughout </a:t>
            </a:r>
            <a:r>
              <a:rPr lang="en-US" b="1" dirty="0"/>
              <a:t>decoding</a:t>
            </a:r>
          </a:p>
          <a:p>
            <a:pPr lvl="1"/>
            <a:r>
              <a:rPr lang="en-US" dirty="0"/>
              <a:t>The attention pattern for prompt tokens is predictable from LLM behavior </a:t>
            </a:r>
            <a:r>
              <a:rPr lang="en-US" b="1" dirty="0"/>
              <a:t>before </a:t>
            </a:r>
            <a:r>
              <a:rPr lang="en-US" dirty="0"/>
              <a:t>decoding starts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2036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73091-F3FE-750C-22EE-2B037EF0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B161-ACEC-781C-7F9B-C1EC0270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KV Caching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057B1CC-8B84-DF94-E912-F0632766832C}"/>
              </a:ext>
            </a:extLst>
          </p:cNvPr>
          <p:cNvSpPr txBox="1">
            <a:spLocks/>
          </p:cNvSpPr>
          <p:nvPr/>
        </p:nvSpPr>
        <p:spPr>
          <a:xfrm>
            <a:off x="358544" y="1577898"/>
            <a:ext cx="3611290" cy="5005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Attn </a:t>
            </a:r>
            <a:r>
              <a:rPr lang="en-US" b="1" dirty="0"/>
              <a:t>overlap</a:t>
            </a:r>
            <a:r>
              <a:rPr lang="en-US" dirty="0"/>
              <a:t> between </a:t>
            </a:r>
            <a:r>
              <a:rPr lang="en-US" b="1" dirty="0"/>
              <a:t>decoding</a:t>
            </a:r>
            <a:r>
              <a:rPr lang="en-US" dirty="0"/>
              <a:t> and 128-tokens windows from the prompt</a:t>
            </a:r>
          </a:p>
          <a:p>
            <a:r>
              <a:rPr lang="en-US" dirty="0"/>
              <a:t>Each line is a layer</a:t>
            </a:r>
          </a:p>
          <a:p>
            <a:r>
              <a:rPr lang="en-US" dirty="0"/>
              <a:t>There is high overlap with the </a:t>
            </a:r>
            <a:r>
              <a:rPr lang="en-US" b="1" dirty="0"/>
              <a:t>last </a:t>
            </a:r>
            <a:r>
              <a:rPr lang="en-US" dirty="0"/>
              <a:t>window in the prompt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A96D2-DA0F-9A57-0529-589DF3BBB8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/>
        </p:blipFill>
        <p:spPr>
          <a:xfrm>
            <a:off x="3969834" y="1867829"/>
            <a:ext cx="5174166" cy="419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616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0733-7532-70CC-AFCE-02D002100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40B1-2B9E-B3E3-3E80-B0909D206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KV Caching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1ED7587-E3AD-21FD-6B70-0E2C30CB744F}"/>
              </a:ext>
            </a:extLst>
          </p:cNvPr>
          <p:cNvSpPr txBox="1">
            <a:spLocks/>
          </p:cNvSpPr>
          <p:nvPr/>
        </p:nvSpPr>
        <p:spPr>
          <a:xfrm>
            <a:off x="358543" y="1577897"/>
            <a:ext cx="3624943" cy="4539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Attn </a:t>
            </a:r>
            <a:r>
              <a:rPr lang="en-US" b="1" dirty="0"/>
              <a:t>overlap</a:t>
            </a:r>
            <a:r>
              <a:rPr lang="en-US" dirty="0"/>
              <a:t> between four 128-token windows in </a:t>
            </a:r>
            <a:r>
              <a:rPr lang="en-US" b="1" dirty="0"/>
              <a:t>decoded</a:t>
            </a:r>
            <a:r>
              <a:rPr lang="en-US" dirty="0"/>
              <a:t> response and </a:t>
            </a:r>
            <a:r>
              <a:rPr lang="en-US" b="1" dirty="0"/>
              <a:t>last </a:t>
            </a:r>
            <a:r>
              <a:rPr lang="en-US" dirty="0"/>
              <a:t>128-token</a:t>
            </a:r>
            <a:r>
              <a:rPr lang="en-US" b="1" dirty="0"/>
              <a:t> </a:t>
            </a:r>
            <a:r>
              <a:rPr lang="en-US" dirty="0"/>
              <a:t>window in prompt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E6EEB-1220-1053-C224-4414EEDB2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183" y="1308100"/>
            <a:ext cx="5182817" cy="536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7230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5D8B-4801-9775-4743-20573A9B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SnapKV</a:t>
            </a:r>
            <a:r>
              <a:rPr lang="en-US" dirty="0"/>
              <a:t>: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D0F7-DC7B-A4C1-3F28-828A97A54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Observation window</a:t>
            </a:r>
            <a:r>
              <a:rPr lang="en-US" dirty="0"/>
              <a:t>: the n-</a:t>
            </a:r>
            <a:r>
              <a:rPr lang="en-US" dirty="0" err="1"/>
              <a:t>th</a:t>
            </a:r>
            <a:r>
              <a:rPr lang="en-US" dirty="0"/>
              <a:t> window in the prompt</a:t>
            </a:r>
          </a:p>
          <a:p>
            <a:r>
              <a:rPr lang="en-US" b="1" dirty="0"/>
              <a:t>Prefix</a:t>
            </a:r>
            <a:r>
              <a:rPr lang="en-US" dirty="0"/>
              <a:t>: first n-1 windows in the prompt</a:t>
            </a:r>
          </a:p>
          <a:p>
            <a:r>
              <a:rPr lang="en-US" b="1" dirty="0" err="1"/>
              <a:t>SumAttn</a:t>
            </a:r>
            <a:r>
              <a:rPr lang="en-US" dirty="0"/>
              <a:t>[head h, prefix position j]: attention weights </a:t>
            </a:r>
          </a:p>
          <a:p>
            <a:pPr lvl="1"/>
            <a:r>
              <a:rPr lang="en-US" dirty="0"/>
              <a:t>for head </a:t>
            </a:r>
            <a:r>
              <a:rPr lang="en-US" i="1" dirty="0"/>
              <a:t>h </a:t>
            </a:r>
            <a:r>
              <a:rPr lang="en-US" dirty="0"/>
              <a:t>to</a:t>
            </a:r>
            <a:r>
              <a:rPr lang="en-US" i="1" dirty="0"/>
              <a:t> </a:t>
            </a:r>
            <a:r>
              <a:rPr lang="en-US" dirty="0"/>
              <a:t>position </a:t>
            </a:r>
            <a:r>
              <a:rPr lang="en-US" i="1" dirty="0"/>
              <a:t>j </a:t>
            </a:r>
          </a:p>
          <a:p>
            <a:pPr lvl="1"/>
            <a:r>
              <a:rPr lang="en-US" b="1" dirty="0"/>
              <a:t>summed</a:t>
            </a:r>
            <a:r>
              <a:rPr lang="en-US" b="1" i="1" dirty="0"/>
              <a:t> </a:t>
            </a:r>
            <a:r>
              <a:rPr lang="en-US" dirty="0"/>
              <a:t>over all positions in </a:t>
            </a:r>
            <a:r>
              <a:rPr lang="en-US" b="1" dirty="0"/>
              <a:t>observation window</a:t>
            </a:r>
          </a:p>
          <a:p>
            <a:pPr lvl="2"/>
            <a:r>
              <a:rPr lang="en-US" b="1" dirty="0"/>
              <a:t>(</a:t>
            </a:r>
            <a:r>
              <a:rPr lang="en-US" b="1" dirty="0" err="1"/>
              <a:t>W</a:t>
            </a:r>
            <a:r>
              <a:rPr lang="en-US" baseline="-25000" dirty="0" err="1"/>
              <a:t>obs</a:t>
            </a:r>
            <a:r>
              <a:rPr lang="en-US" dirty="0"/>
              <a:t> in paper)</a:t>
            </a:r>
          </a:p>
          <a:p>
            <a:r>
              <a:rPr lang="en-US" b="1" i="1" dirty="0"/>
              <a:t>p: </a:t>
            </a:r>
            <a:r>
              <a:rPr lang="en-US" dirty="0"/>
              <a:t>compression ratio, (e.g., 0.9)</a:t>
            </a:r>
          </a:p>
          <a:p>
            <a:r>
              <a:rPr lang="en-US" b="1" dirty="0"/>
              <a:t>Caching strategy: </a:t>
            </a:r>
            <a:r>
              <a:rPr lang="en-US" dirty="0"/>
              <a:t>evict the KV cache entries for the bottom p*|Prefix| positions (for each head)</a:t>
            </a:r>
          </a:p>
          <a:p>
            <a:pPr lvl="1"/>
            <a:r>
              <a:rPr lang="en-US" b="1" dirty="0"/>
              <a:t>Refinement: </a:t>
            </a:r>
            <a:r>
              <a:rPr lang="en-US" dirty="0"/>
              <a:t>also</a:t>
            </a:r>
            <a:r>
              <a:rPr lang="en-US" b="1" dirty="0"/>
              <a:t> </a:t>
            </a:r>
            <a:r>
              <a:rPr lang="en-US" dirty="0"/>
              <a:t>keep positions </a:t>
            </a:r>
            <a:r>
              <a:rPr lang="en-US" b="1" dirty="0"/>
              <a:t>near</a:t>
            </a:r>
            <a:r>
              <a:rPr lang="en-US" dirty="0"/>
              <a:t> a top (1-</a:t>
            </a:r>
            <a:r>
              <a:rPr lang="en-US" i="1" dirty="0"/>
              <a:t>p) </a:t>
            </a:r>
            <a:r>
              <a:rPr lang="en-US" dirty="0"/>
              <a:t>position (i.e., max-pool </a:t>
            </a:r>
            <a:r>
              <a:rPr lang="en-US" dirty="0" err="1"/>
              <a:t>SumAttn</a:t>
            </a:r>
            <a:r>
              <a:rPr lang="en-US" dirty="0"/>
              <a:t> locally)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73098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92D4-2C39-7E1B-A4F2-AAAF18EB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BC0D-D7C1-36B7-E9BB-5DC472B4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SnapKV</a:t>
            </a:r>
            <a:r>
              <a:rPr lang="en-US" dirty="0"/>
              <a:t>: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4C268-DC1B-E1EE-214E-EB43D7C03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“Needle-in-a-haystack” problem:</a:t>
            </a:r>
          </a:p>
          <a:p>
            <a:pPr lvl="1"/>
            <a:r>
              <a:rPr lang="en-US" dirty="0"/>
              <a:t>a long document with a sentence inserted randomly in the middle (e.g., recommend a coffeehouse in Pittsburgh in the middle of the Lord of the Rings)</a:t>
            </a:r>
          </a:p>
          <a:p>
            <a:pPr lvl="1"/>
            <a:r>
              <a:rPr lang="en-US" dirty="0"/>
              <a:t>a question answerable by the inserted sentence</a:t>
            </a:r>
          </a:p>
        </p:txBody>
      </p:sp>
    </p:spTree>
    <p:extLst>
      <p:ext uri="{BB962C8B-B14F-4D97-AF65-F5344CB8AC3E}">
        <p14:creationId xmlns:p14="http://schemas.microsoft.com/office/powerpoint/2010/main" val="380568043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D01D7C7-6E9E-1E50-0C51-B09FD5C25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6638"/>
            <a:ext cx="9144000" cy="478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0D8DEE-A857-7E11-3BF3-F033BC3C7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Needle in a Haystack: 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3A904-1ABA-0E49-ACD4-AE8DDB90928C}"/>
              </a:ext>
            </a:extLst>
          </p:cNvPr>
          <p:cNvSpPr txBox="1"/>
          <p:nvPr/>
        </p:nvSpPr>
        <p:spPr>
          <a:xfrm>
            <a:off x="195943" y="6025243"/>
            <a:ext cx="87357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Source: https://arize.com/blog-course/the-needle-in-a-haystack-test-evaluating-the-performance-of-llm-rag-systems/</a:t>
            </a:r>
            <a:r>
              <a:rPr lang="en-US" sz="12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1769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ACCDB-C77A-9171-A089-88857497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415A-CF46-83C3-7301-7E6374A3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Needle in a Haystack: </a:t>
            </a:r>
            <a:r>
              <a:rPr lang="en-US" dirty="0" err="1"/>
              <a:t>SnapKV</a:t>
            </a:r>
            <a:r>
              <a:rPr lang="en-US" dirty="0"/>
              <a:t>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97224-47DF-CEBE-0960-CC50B7366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81100"/>
            <a:ext cx="9091415" cy="395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627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BFF6B-CEDD-9CDE-2C47-79F8648E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5C4D-7B54-08FD-6DF1-3C1C896D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DC325-9933-1BBF-2FBB-BFF1DE021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Compressing models</a:t>
            </a:r>
          </a:p>
          <a:p>
            <a:pPr lvl="1"/>
            <a:r>
              <a:rPr lang="en-US" dirty="0"/>
              <a:t>Distillation</a:t>
            </a:r>
          </a:p>
          <a:p>
            <a:pPr lvl="1"/>
            <a:r>
              <a:rPr lang="en-US" dirty="0"/>
              <a:t>Quantization</a:t>
            </a:r>
          </a:p>
          <a:p>
            <a:pPr lvl="1"/>
            <a:r>
              <a:rPr lang="en-US" dirty="0"/>
              <a:t>Pruning</a:t>
            </a:r>
          </a:p>
          <a:p>
            <a:pPr lvl="2"/>
            <a:r>
              <a:rPr lang="en-US" dirty="0"/>
              <a:t>Unstructured</a:t>
            </a:r>
          </a:p>
          <a:p>
            <a:pPr lvl="2"/>
            <a:r>
              <a:rPr lang="en-US" dirty="0"/>
              <a:t>Semi-Structured (e.g. 2:4 Pruning)</a:t>
            </a:r>
          </a:p>
          <a:p>
            <a:pPr lvl="2"/>
            <a:r>
              <a:rPr lang="en-US" dirty="0"/>
              <a:t>Structured</a:t>
            </a:r>
          </a:p>
          <a:p>
            <a:r>
              <a:rPr lang="en-US" dirty="0"/>
              <a:t>Key-value caching</a:t>
            </a:r>
          </a:p>
          <a:p>
            <a:pPr lvl="1"/>
            <a:r>
              <a:rPr lang="en-US" dirty="0"/>
              <a:t>Motivation  and importance</a:t>
            </a:r>
          </a:p>
          <a:p>
            <a:pPr lvl="1"/>
            <a:r>
              <a:rPr lang="en-US" dirty="0"/>
              <a:t>Origin story</a:t>
            </a:r>
          </a:p>
          <a:p>
            <a:pPr lvl="2"/>
            <a:r>
              <a:rPr lang="en-US" dirty="0"/>
              <a:t>Long-context Transformers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Techniques - discussion</a:t>
            </a:r>
          </a:p>
          <a:p>
            <a:pPr lvl="2"/>
            <a:r>
              <a:rPr lang="en-US" dirty="0"/>
              <a:t>Heavy hitters – H2O</a:t>
            </a:r>
          </a:p>
          <a:p>
            <a:pPr lvl="2"/>
            <a:r>
              <a:rPr lang="en-US" dirty="0"/>
              <a:t>Attention sinks – </a:t>
            </a:r>
            <a:r>
              <a:rPr lang="en-US" dirty="0" err="1"/>
              <a:t>StreamingLLM</a:t>
            </a:r>
            <a:endParaRPr lang="en-US" dirty="0"/>
          </a:p>
          <a:p>
            <a:pPr lvl="2"/>
            <a:r>
              <a:rPr lang="en-US" dirty="0"/>
              <a:t>Predictive caching – </a:t>
            </a:r>
            <a:r>
              <a:rPr lang="en-US" dirty="0" err="1"/>
              <a:t>SnapKV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133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D5B5-2DBA-1737-FAC5-F6AF6C6A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79DC7-A7D3-BB91-17FA-A7445935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Heavy Hitter Oracle</a:t>
            </a:r>
            <a:r>
              <a:rPr lang="en-US" dirty="0">
                <a:sym typeface="Wingdings" pitchFamily="2" charset="2"/>
              </a:rPr>
              <a:t> (H2O): </a:t>
            </a:r>
          </a:p>
          <a:p>
            <a:pPr lvl="1"/>
            <a:r>
              <a:rPr lang="en-US" dirty="0">
                <a:sym typeface="Wingdings" pitchFamily="2" charset="2"/>
              </a:rPr>
              <a:t>Observations: </a:t>
            </a:r>
          </a:p>
          <a:p>
            <a:pPr lvl="2"/>
            <a:r>
              <a:rPr lang="en-US" dirty="0">
                <a:sym typeface="Wingdings" pitchFamily="2" charset="2"/>
              </a:rPr>
              <a:t>power-law of cumulative attn</a:t>
            </a:r>
          </a:p>
          <a:p>
            <a:pPr lvl="2"/>
            <a:r>
              <a:rPr lang="en-US" dirty="0">
                <a:sym typeface="Wingdings" pitchFamily="2" charset="2"/>
              </a:rPr>
              <a:t>running total of cumulative attn is good approximation</a:t>
            </a:r>
          </a:p>
          <a:p>
            <a:pPr lvl="1"/>
            <a:r>
              <a:rPr lang="en-US" dirty="0">
                <a:sym typeface="Wingdings" pitchFamily="2" charset="2"/>
              </a:rPr>
              <a:t>Strategy: evict lowest cumulative attn KV pairs (during decoding)</a:t>
            </a:r>
          </a:p>
          <a:p>
            <a:r>
              <a:rPr lang="en-US" dirty="0"/>
              <a:t>Streaming LLM: </a:t>
            </a:r>
          </a:p>
          <a:p>
            <a:pPr lvl="1"/>
            <a:r>
              <a:rPr lang="en-US" dirty="0"/>
              <a:t>Observation: first few tokens are “attention sinks”</a:t>
            </a:r>
          </a:p>
          <a:p>
            <a:pPr lvl="1"/>
            <a:r>
              <a:rPr lang="en-US" dirty="0"/>
              <a:t>Strategy: don’t evict the first few tokens (during decoding)</a:t>
            </a:r>
          </a:p>
          <a:p>
            <a:pPr lvl="1"/>
            <a:r>
              <a:rPr lang="en-US" dirty="0"/>
              <a:t>Experiment: H2O is a little better with </a:t>
            </a:r>
            <a:r>
              <a:rPr lang="en-US" dirty="0" err="1"/>
              <a:t>StreamingLLM</a:t>
            </a:r>
            <a:endParaRPr lang="en-US" dirty="0"/>
          </a:p>
          <a:p>
            <a:r>
              <a:rPr lang="en-US" dirty="0" err="1"/>
              <a:t>SnapKV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Observation: last window of prompt predicts attention during decoding</a:t>
            </a:r>
          </a:p>
          <a:p>
            <a:pPr lvl="1"/>
            <a:r>
              <a:rPr lang="en-US" dirty="0"/>
              <a:t>Strategy: compress the KV pairs from the prompt based on last-window attention before decoding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59769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817BE-E62E-FCD8-71E0-ADA87D6C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5965-59EB-B0E9-3664-E8F99A6F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612E5-146D-6AC3-BB84-1BBE75B18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cost of Transformers: </a:t>
            </a:r>
            <a:r>
              <a:rPr lang="en-US" b="1" dirty="0"/>
              <a:t>attention</a:t>
            </a:r>
          </a:p>
          <a:p>
            <a:r>
              <a:rPr lang="en-US" dirty="0"/>
              <a:t>Key optimization: </a:t>
            </a:r>
            <a:r>
              <a:rPr lang="en-US" b="1" dirty="0"/>
              <a:t>restricting attention</a:t>
            </a:r>
            <a:endParaRPr lang="en-US" dirty="0"/>
          </a:p>
          <a:p>
            <a:r>
              <a:rPr lang="en-US" dirty="0"/>
              <a:t>Restricted attention in  decoder-only models: </a:t>
            </a:r>
            <a:r>
              <a:rPr lang="en-US" b="1" dirty="0"/>
              <a:t>key-value cache</a:t>
            </a:r>
            <a:r>
              <a:rPr lang="en-US" dirty="0"/>
              <a:t> manipulation</a:t>
            </a:r>
          </a:p>
          <a:p>
            <a:endParaRPr lang="en-US" dirty="0"/>
          </a:p>
          <a:p>
            <a:r>
              <a:rPr lang="en-US" dirty="0"/>
              <a:t>Key-value cache management is an active research area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40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2720</TotalTime>
  <Words>3329</Words>
  <Application>Microsoft Macintosh PowerPoint</Application>
  <PresentationFormat>On-screen Show (4:3)</PresentationFormat>
  <Paragraphs>577</Paragraphs>
  <Slides>93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2" baseType="lpstr">
      <vt:lpstr>Arial</vt:lpstr>
      <vt:lpstr>Book Antiqua</vt:lpstr>
      <vt:lpstr>Calibri</vt:lpstr>
      <vt:lpstr>Cambria Math</vt:lpstr>
      <vt:lpstr>Gill Sans MT</vt:lpstr>
      <vt:lpstr>Helvetica</vt:lpstr>
      <vt:lpstr>Symbol</vt:lpstr>
      <vt:lpstr>Wingdings</vt:lpstr>
      <vt:lpstr>Office Theme</vt:lpstr>
      <vt:lpstr>10-605 / 10-405</vt:lpstr>
      <vt:lpstr>Outline</vt:lpstr>
      <vt:lpstr>Outline</vt:lpstr>
      <vt:lpstr>MAKING BIG Transformers SMALLER</vt:lpstr>
      <vt:lpstr>Main techniques for compressing models</vt:lpstr>
      <vt:lpstr>Model pruning</vt:lpstr>
      <vt:lpstr>Unstructured pruning</vt:lpstr>
      <vt:lpstr>From unstructured to N:M pruning </vt:lpstr>
      <vt:lpstr>Model pruning</vt:lpstr>
      <vt:lpstr>Structured Pruning</vt:lpstr>
      <vt:lpstr>Structured Pruning: LLM Pruner</vt:lpstr>
      <vt:lpstr>Structured Pruning: LLM Pruner</vt:lpstr>
      <vt:lpstr>Structured Pruning: Shortened Llama</vt:lpstr>
      <vt:lpstr>Structured Pruning: Shortened Llama</vt:lpstr>
      <vt:lpstr>Structured Pruning: Shortened Llama</vt:lpstr>
      <vt:lpstr>Structured Pruning</vt:lpstr>
      <vt:lpstr>Structured Pruning: Sheared Llama</vt:lpstr>
      <vt:lpstr>Structured Pruning: Sheared Llama</vt:lpstr>
      <vt:lpstr>Structured Pruning: Sheared Llama</vt:lpstr>
      <vt:lpstr>Structured Pruning: Sheared Llama</vt:lpstr>
      <vt:lpstr>Discussion of pruning</vt:lpstr>
      <vt:lpstr>Main techniques for compressing models</vt:lpstr>
      <vt:lpstr>Outline</vt:lpstr>
      <vt:lpstr>Key-Value Caching for Transformers: MOTIVATION AND OVERVIEW</vt:lpstr>
      <vt:lpstr>A quick recap of KV caching</vt:lpstr>
      <vt:lpstr>PowerPoint Presentation</vt:lpstr>
      <vt:lpstr>PowerPoint Presentation</vt:lpstr>
      <vt:lpstr>Observation</vt:lpstr>
      <vt:lpstr>Observation</vt:lpstr>
      <vt:lpstr>Key-Value Caching</vt:lpstr>
      <vt:lpstr>Outline</vt:lpstr>
      <vt:lpstr>How important is KV caching?</vt:lpstr>
      <vt:lpstr>How important is KV caching?</vt:lpstr>
      <vt:lpstr>How important is KV caching?</vt:lpstr>
      <vt:lpstr>Prefilling: system prompt for Claude 3.7</vt:lpstr>
      <vt:lpstr>Prefilling: system prompt for Claude 3.7</vt:lpstr>
      <vt:lpstr>Prefilling: system prompt for Claude 3.7</vt:lpstr>
      <vt:lpstr>Prefilling: system prompt for Claude 3.7</vt:lpstr>
      <vt:lpstr>Prefilling: system prompt for Claude 3.7</vt:lpstr>
      <vt:lpstr>Prefilling: system prompt for Claude 3.7</vt:lpstr>
      <vt:lpstr>How important is KV caching?</vt:lpstr>
      <vt:lpstr>A “Chain of Thought” Prompt</vt:lpstr>
      <vt:lpstr>A “Chain of Thought” Prompt</vt:lpstr>
      <vt:lpstr>A “Chain of Thought” Prompt</vt:lpstr>
      <vt:lpstr>How important is KV caching?</vt:lpstr>
      <vt:lpstr>Prefilling</vt:lpstr>
      <vt:lpstr>How important is KV caching?</vt:lpstr>
      <vt:lpstr>PowerPoint Presentation</vt:lpstr>
      <vt:lpstr>How important is KV caching?</vt:lpstr>
      <vt:lpstr>How important is KV caching?</vt:lpstr>
      <vt:lpstr>Aside: some architectural changes impact KV caching</vt:lpstr>
      <vt:lpstr>Outline</vt:lpstr>
      <vt:lpstr>Why is this a lecture?</vt:lpstr>
      <vt:lpstr>Approximating quadratic attention with KV caching</vt:lpstr>
      <vt:lpstr>Key-Value Caching for Transformers: Backstory</vt:lpstr>
      <vt:lpstr>Approximating quadratic attention</vt:lpstr>
      <vt:lpstr>Approximating quadratic attention</vt:lpstr>
      <vt:lpstr>Approximating quadratic attention</vt:lpstr>
      <vt:lpstr>Approximating quadratic attention</vt:lpstr>
      <vt:lpstr>Approximating quadratic attention</vt:lpstr>
      <vt:lpstr>Approximating quadratic attention</vt:lpstr>
      <vt:lpstr>Approximating quadratic attention</vt:lpstr>
      <vt:lpstr>Outline</vt:lpstr>
      <vt:lpstr>Key-Value Caching for Transformers: TECHNIQUES</vt:lpstr>
      <vt:lpstr>Approximating quadratic attention</vt:lpstr>
      <vt:lpstr>Finding “Heavy Hitters” in KV Caches</vt:lpstr>
      <vt:lpstr>Recap: CM Sketch</vt:lpstr>
      <vt:lpstr>Recap: CM Sketch Guarantees</vt:lpstr>
      <vt:lpstr>Finding “Heavy Hitters” in KV Caches</vt:lpstr>
      <vt:lpstr>Finding “Heavy Hitters” in KV Caches</vt:lpstr>
      <vt:lpstr>Finding “Heavy Hitters” in KV Caches</vt:lpstr>
      <vt:lpstr>Finding “Heavy Hitters” in KV Caches</vt:lpstr>
      <vt:lpstr>Finding “Heavy Hitters” in KV Caches</vt:lpstr>
      <vt:lpstr>Outline</vt:lpstr>
      <vt:lpstr>Other ways of predicting attention </vt:lpstr>
      <vt:lpstr>Other ways of predicting attention </vt:lpstr>
      <vt:lpstr>Other ways of predicting attention </vt:lpstr>
      <vt:lpstr>Other ways of predicting attention </vt:lpstr>
      <vt:lpstr>Other ways of predicting attention </vt:lpstr>
      <vt:lpstr>StreamingLLM</vt:lpstr>
      <vt:lpstr>StreamingLLM and H2O</vt:lpstr>
      <vt:lpstr>Outline</vt:lpstr>
      <vt:lpstr>Predictive KV Caching</vt:lpstr>
      <vt:lpstr>Predictive KV Caching</vt:lpstr>
      <vt:lpstr>Predictive KV Caching</vt:lpstr>
      <vt:lpstr>Predictive KV Caching</vt:lpstr>
      <vt:lpstr>SnapKV: Details</vt:lpstr>
      <vt:lpstr>SnapKV: Experiment</vt:lpstr>
      <vt:lpstr>Needle in a Haystack: Background</vt:lpstr>
      <vt:lpstr>Needle in a Haystack: SnapKV results</vt:lpstr>
      <vt:lpstr>Outline</vt:lpstr>
      <vt:lpstr>Discussion</vt:lpstr>
      <vt:lpstr>Discussion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375</cp:revision>
  <dcterms:created xsi:type="dcterms:W3CDTF">2013-01-13T19:42:44Z</dcterms:created>
  <dcterms:modified xsi:type="dcterms:W3CDTF">2025-03-26T16:00:56Z</dcterms:modified>
</cp:coreProperties>
</file>