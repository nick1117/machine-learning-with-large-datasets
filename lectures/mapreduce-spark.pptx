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375" r:id="rId2"/>
    <p:sldId id="519" r:id="rId3"/>
    <p:sldId id="518" r:id="rId4"/>
    <p:sldId id="340" r:id="rId5"/>
    <p:sldId id="337" r:id="rId6"/>
    <p:sldId id="303" r:id="rId7"/>
    <p:sldId id="339" r:id="rId8"/>
    <p:sldId id="338" r:id="rId9"/>
    <p:sldId id="285" r:id="rId10"/>
    <p:sldId id="464" r:id="rId11"/>
    <p:sldId id="468" r:id="rId12"/>
    <p:sldId id="469" r:id="rId13"/>
    <p:sldId id="471" r:id="rId14"/>
    <p:sldId id="472" r:id="rId15"/>
    <p:sldId id="473" r:id="rId16"/>
    <p:sldId id="474" r:id="rId17"/>
    <p:sldId id="475" r:id="rId18"/>
    <p:sldId id="477" r:id="rId19"/>
    <p:sldId id="476" r:id="rId20"/>
    <p:sldId id="386" r:id="rId21"/>
    <p:sldId id="387" r:id="rId22"/>
    <p:sldId id="413" r:id="rId23"/>
    <p:sldId id="414" r:id="rId24"/>
    <p:sldId id="418" r:id="rId25"/>
    <p:sldId id="458" r:id="rId26"/>
    <p:sldId id="419" r:id="rId27"/>
    <p:sldId id="521" r:id="rId28"/>
    <p:sldId id="443" r:id="rId29"/>
    <p:sldId id="522" r:id="rId30"/>
    <p:sldId id="461" r:id="rId31"/>
    <p:sldId id="467" r:id="rId32"/>
    <p:sldId id="462" r:id="rId33"/>
    <p:sldId id="463" r:id="rId34"/>
    <p:sldId id="453" r:id="rId35"/>
    <p:sldId id="520" r:id="rId36"/>
    <p:sldId id="260" r:id="rId37"/>
    <p:sldId id="261" r:id="rId38"/>
    <p:sldId id="262" r:id="rId39"/>
    <p:sldId id="263" r:id="rId40"/>
    <p:sldId id="442" r:id="rId41"/>
    <p:sldId id="454" r:id="rId42"/>
    <p:sldId id="456" r:id="rId43"/>
    <p:sldId id="457" r:id="rId44"/>
    <p:sldId id="459" r:id="rId45"/>
    <p:sldId id="479" r:id="rId46"/>
    <p:sldId id="480" r:id="rId47"/>
    <p:sldId id="481" r:id="rId48"/>
    <p:sldId id="482" r:id="rId49"/>
    <p:sldId id="483" r:id="rId50"/>
    <p:sldId id="484" r:id="rId51"/>
    <p:sldId id="489" r:id="rId52"/>
    <p:sldId id="490" r:id="rId53"/>
    <p:sldId id="491" r:id="rId54"/>
    <p:sldId id="492" r:id="rId55"/>
    <p:sldId id="493" r:id="rId56"/>
    <p:sldId id="494" r:id="rId57"/>
    <p:sldId id="495" r:id="rId58"/>
    <p:sldId id="496" r:id="rId59"/>
    <p:sldId id="497" r:id="rId60"/>
    <p:sldId id="500" r:id="rId61"/>
    <p:sldId id="501" r:id="rId62"/>
    <p:sldId id="502" r:id="rId63"/>
    <p:sldId id="503" r:id="rId64"/>
    <p:sldId id="504" r:id="rId65"/>
    <p:sldId id="485" r:id="rId66"/>
    <p:sldId id="486" r:id="rId67"/>
    <p:sldId id="487" r:id="rId68"/>
    <p:sldId id="505" r:id="rId69"/>
    <p:sldId id="488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88481" autoAdjust="0"/>
  </p:normalViewPr>
  <p:slideViewPr>
    <p:cSldViewPr snapToGrid="0" snapToObjects="1">
      <p:cViewPr varScale="1">
        <p:scale>
          <a:sx n="90" d="100"/>
          <a:sy n="90" d="100"/>
        </p:scale>
        <p:origin x="28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3C4F9-F37E-4225-8EDE-0041EBD1A368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F8AD2-6882-4531-8560-2C8EEF2B5B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2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 mph – plane</a:t>
            </a:r>
          </a:p>
          <a:p>
            <a:r>
              <a:rPr lang="en-US" dirty="0"/>
              <a:t>1 mph – slow walk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00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2025!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27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61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defTabSz="457195" eaLnBrk="1" fontAlgn="base" hangingPunct="1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buNone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on disk?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20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36DBF-1CFD-E6EA-5BD4-DA35CBEFC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63D1F-3FF2-AF82-76BE-002164DA7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4312D-E18D-8F0D-5976-79419C29A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not on disk?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AB5B0-82F0-21B4-7821-2B8861A18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210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955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3B68-227B-1FA9-A0E3-A6128A9F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9A448-791E-39C8-67CC-9A4C968EB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3E980A-6CEC-46AD-D4F6-1318B426A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07E0B-A0E7-67D8-E1C5-B7FD715799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51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793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7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35801-B62B-1347-8D7D-E1D9FD950611}" type="datetimeFigureOut">
              <a:rPr lang="en-US" smtClean="0"/>
              <a:pPr/>
              <a:t>1/15/25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b="1" kern="1200">
          <a:solidFill>
            <a:srgbClr val="0070C0"/>
          </a:solidFill>
          <a:latin typeface="Cambria Math"/>
          <a:ea typeface="+mj-ea"/>
          <a:cs typeface="Cambria Math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mbria Math"/>
          <a:ea typeface="+mn-ea"/>
          <a:cs typeface="Cambria Math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mbria Math"/>
          <a:ea typeface="+mn-ea"/>
          <a:cs typeface="Cambria Math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mbria Math"/>
          <a:ea typeface="+mn-ea"/>
          <a:cs typeface="Cambria Math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amwho.dev/number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urworldindata.org/grapher/historical-cost-of-computer-memory-and-storage?time=1990..latest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ikfrey/bashreduce" TargetMode="External"/><Relationship Id="rId2" Type="http://schemas.openxmlformats.org/officeDocument/2006/relationships/hyperlink" Target="https://github.com/TeamCohen/GuineaPig/blob/master/mrs_gp.py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  <a:br>
              <a:rPr lang="en-US" dirty="0"/>
            </a:br>
            <a:r>
              <a:rPr lang="en-US" dirty="0"/>
              <a:t>Map-Reduce and Spark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AB0DF-0055-1513-B54F-4418C442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Monday’s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A208-5C74-A37A-A687-09F8B3AC4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Administrivia that’s “in the syllabus”</a:t>
            </a:r>
          </a:p>
          <a:p>
            <a:r>
              <a:rPr lang="en-US" dirty="0"/>
              <a:t>History of big data for ML</a:t>
            </a:r>
          </a:p>
          <a:p>
            <a:pPr lvl="1"/>
            <a:r>
              <a:rPr lang="en-US" dirty="0"/>
              <a:t>To learn something complex you need lots and lots of data – the more the better!</a:t>
            </a:r>
          </a:p>
          <a:p>
            <a:pPr lvl="1"/>
            <a:r>
              <a:rPr lang="en-US" dirty="0"/>
              <a:t>Deep learning in general, and LLMs in particular, need big </a:t>
            </a:r>
            <a:r>
              <a:rPr lang="en-US" i="1" dirty="0"/>
              <a:t>data</a:t>
            </a:r>
          </a:p>
          <a:p>
            <a:pPr lvl="2"/>
            <a:r>
              <a:rPr lang="en-US" dirty="0"/>
              <a:t>Big </a:t>
            </a:r>
            <a:r>
              <a:rPr lang="en-US" i="1" dirty="0"/>
              <a:t>models</a:t>
            </a:r>
            <a:r>
              <a:rPr lang="en-US" dirty="0"/>
              <a:t> are not enough</a:t>
            </a:r>
          </a:p>
          <a:p>
            <a:r>
              <a:rPr lang="en-US" dirty="0"/>
              <a:t>Working with big data means </a:t>
            </a:r>
            <a:r>
              <a:rPr lang="en-US" i="1" dirty="0"/>
              <a:t>understanding</a:t>
            </a:r>
            <a:r>
              <a:rPr lang="en-US" dirty="0"/>
              <a:t> how to do ML efficiently</a:t>
            </a:r>
          </a:p>
          <a:p>
            <a:pPr lvl="1"/>
            <a:r>
              <a:rPr lang="en-US" dirty="0"/>
              <a:t>Starting with standard complexity analysis and the cost of operations</a:t>
            </a:r>
          </a:p>
          <a:p>
            <a:pPr lvl="1"/>
            <a:r>
              <a:rPr lang="en-US" dirty="0"/>
              <a:t>Best case for </a:t>
            </a:r>
            <a:r>
              <a:rPr lang="en-US" dirty="0" err="1"/>
              <a:t>i</a:t>
            </a:r>
            <a:r>
              <a:rPr lang="en-US" dirty="0"/>
              <a:t>/o bound tasks is sequential access to data (from disk or from a network)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1194306-CE83-0385-560F-70D64016D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2362" y="1"/>
            <a:ext cx="1671637" cy="209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341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367B6-CC8B-9007-A724-B5C5311A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B41EDD-A9E6-6DDD-3C60-6582A56D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OPERATIONS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3BD91-54ED-3369-24C9-8F0456E50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8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mbria Math"/>
              </a:rPr>
              <a:t>What computers act like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C1D2E6-6CC8-91C1-4EFA-D42BE313F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340286"/>
              </p:ext>
            </p:extLst>
          </p:nvPr>
        </p:nvGraphicFramePr>
        <p:xfrm>
          <a:off x="373811" y="1710906"/>
          <a:ext cx="8397067" cy="3860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116">
                  <a:extLst>
                    <a:ext uri="{9D8B030D-6E8A-4147-A177-3AD203B41FA5}">
                      <a16:colId xmlns:a16="http://schemas.microsoft.com/office/drawing/2014/main" val="1134306610"/>
                    </a:ext>
                  </a:extLst>
                </a:gridCol>
                <a:gridCol w="2660608">
                  <a:extLst>
                    <a:ext uri="{9D8B030D-6E8A-4147-A177-3AD203B41FA5}">
                      <a16:colId xmlns:a16="http://schemas.microsoft.com/office/drawing/2014/main" val="11722895"/>
                    </a:ext>
                  </a:extLst>
                </a:gridCol>
                <a:gridCol w="1054509">
                  <a:extLst>
                    <a:ext uri="{9D8B030D-6E8A-4147-A177-3AD203B41FA5}">
                      <a16:colId xmlns:a16="http://schemas.microsoft.com/office/drawing/2014/main" val="3868919040"/>
                    </a:ext>
                  </a:extLst>
                </a:gridCol>
                <a:gridCol w="1717680">
                  <a:extLst>
                    <a:ext uri="{9D8B030D-6E8A-4147-A177-3AD203B41FA5}">
                      <a16:colId xmlns:a16="http://schemas.microsoft.com/office/drawing/2014/main" val="88432475"/>
                    </a:ext>
                  </a:extLst>
                </a:gridCol>
                <a:gridCol w="1066154">
                  <a:extLst>
                    <a:ext uri="{9D8B030D-6E8A-4147-A177-3AD203B41FA5}">
                      <a16:colId xmlns:a16="http://schemas.microsoft.com/office/drawing/2014/main" val="3026524660"/>
                    </a:ext>
                  </a:extLst>
                </a:gridCol>
              </a:tblGrid>
              <a:tr h="720934"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Typical Access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773115"/>
                  </a:ext>
                </a:extLst>
              </a:tr>
              <a:tr h="5181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L1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128 </a:t>
                      </a:r>
                      <a:r>
                        <a:rPr lang="en-US" dirty="0" err="1">
                          <a:latin typeface="Calibri"/>
                        </a:rPr>
                        <a:t>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644693"/>
                  </a:ext>
                </a:extLst>
              </a:tr>
              <a:tr h="5181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L2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16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4ns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476235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Main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8Gb (up to 192Gb)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500x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100ns -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25x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42961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Read 1Mb sequentially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1000ns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20792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320Gb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40x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886981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Read 1Mb sequentially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500,000ns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500x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306335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Seek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2,000,000ns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16629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45D342-E9E5-FE54-54C9-203832A15EDE}"/>
              </a:ext>
            </a:extLst>
          </p:cNvPr>
          <p:cNvSpPr txBox="1"/>
          <p:nvPr/>
        </p:nvSpPr>
        <p:spPr>
          <a:xfrm>
            <a:off x="142875" y="1181100"/>
            <a:ext cx="2371725" cy="3762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small and fast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913E84-D9FC-1C99-0452-EA169A9C726F}"/>
              </a:ext>
            </a:extLst>
          </p:cNvPr>
          <p:cNvSpPr txBox="1"/>
          <p:nvPr/>
        </p:nvSpPr>
        <p:spPr>
          <a:xfrm>
            <a:off x="142874" y="5659018"/>
            <a:ext cx="2371725" cy="37623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big and slow</a:t>
            </a:r>
          </a:p>
        </p:txBody>
      </p:sp>
    </p:spTree>
    <p:extLst>
      <p:ext uri="{BB962C8B-B14F-4D97-AF65-F5344CB8AC3E}">
        <p14:creationId xmlns:p14="http://schemas.microsoft.com/office/powerpoint/2010/main" val="209951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mbria Math"/>
              </a:rPr>
              <a:t>What computers act like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CC1D2E6-6CC8-91C1-4EFA-D42BE313F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53029"/>
              </p:ext>
            </p:extLst>
          </p:nvPr>
        </p:nvGraphicFramePr>
        <p:xfrm>
          <a:off x="287547" y="1452113"/>
          <a:ext cx="8397067" cy="4957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116">
                  <a:extLst>
                    <a:ext uri="{9D8B030D-6E8A-4147-A177-3AD203B41FA5}">
                      <a16:colId xmlns:a16="http://schemas.microsoft.com/office/drawing/2014/main" val="1134306610"/>
                    </a:ext>
                  </a:extLst>
                </a:gridCol>
                <a:gridCol w="2660608">
                  <a:extLst>
                    <a:ext uri="{9D8B030D-6E8A-4147-A177-3AD203B41FA5}">
                      <a16:colId xmlns:a16="http://schemas.microsoft.com/office/drawing/2014/main" val="11722895"/>
                    </a:ext>
                  </a:extLst>
                </a:gridCol>
                <a:gridCol w="1054509">
                  <a:extLst>
                    <a:ext uri="{9D8B030D-6E8A-4147-A177-3AD203B41FA5}">
                      <a16:colId xmlns:a16="http://schemas.microsoft.com/office/drawing/2014/main" val="3868919040"/>
                    </a:ext>
                  </a:extLst>
                </a:gridCol>
                <a:gridCol w="1717680">
                  <a:extLst>
                    <a:ext uri="{9D8B030D-6E8A-4147-A177-3AD203B41FA5}">
                      <a16:colId xmlns:a16="http://schemas.microsoft.com/office/drawing/2014/main" val="88432475"/>
                    </a:ext>
                  </a:extLst>
                </a:gridCol>
                <a:gridCol w="1066154">
                  <a:extLst>
                    <a:ext uri="{9D8B030D-6E8A-4147-A177-3AD203B41FA5}">
                      <a16:colId xmlns:a16="http://schemas.microsoft.com/office/drawing/2014/main" val="3026524660"/>
                    </a:ext>
                  </a:extLst>
                </a:gridCol>
              </a:tblGrid>
              <a:tr h="720934">
                <a:tc>
                  <a:txBody>
                    <a:bodyPr/>
                    <a:lstStyle/>
                    <a:p>
                      <a:r>
                        <a:rPr lang="en-US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Typical Access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773115"/>
                  </a:ext>
                </a:extLst>
              </a:tr>
              <a:tr h="5181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L1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128 </a:t>
                      </a:r>
                      <a:r>
                        <a:rPr lang="en-US" dirty="0" err="1">
                          <a:latin typeface="Calibri"/>
                        </a:rPr>
                        <a:t>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644693"/>
                  </a:ext>
                </a:extLst>
              </a:tr>
              <a:tr h="5181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L2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16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4ns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476235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Main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8Gb (up to 192Gb)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500x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100ns -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25x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342961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Read 1Mb sequentially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1000ns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10x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20792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SSD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Read 1Mb sequentially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20,000ns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20x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164928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Read 4k random-access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(similar)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596555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320Gb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</a:rPr>
                        <a:t>40x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6886981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dirty="0">
                        <a:latin typeface="Calibri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Read 1Mb sequentially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500,000ns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25x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306335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Network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Send 1Mb in same datacenter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(similar)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~ 1x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535704"/>
                  </a:ext>
                </a:extLst>
              </a:tr>
              <a:tr h="18656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Disk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Seek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2, 000,000ns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latin typeface="Calibri"/>
                        </a:rPr>
                        <a:t>4x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1662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D4E342E-00E5-FE44-5025-CDD56126EFDA}"/>
              </a:ext>
            </a:extLst>
          </p:cNvPr>
          <p:cNvSpPr/>
          <p:nvPr/>
        </p:nvSpPr>
        <p:spPr>
          <a:xfrm>
            <a:off x="187530" y="5272089"/>
            <a:ext cx="8643937" cy="780598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the cost of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4875" y="2196477"/>
            <a:ext cx="701326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ea typeface="+mn-lt"/>
                <a:cs typeface="+mn-lt"/>
                <a:hlinkClick r:id="rId3"/>
              </a:rPr>
              <a:t>https://samwho.dev/numbers/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666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the cost of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8007" y="1348213"/>
            <a:ext cx="807718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But memory gets cheaper over time, right?</a:t>
            </a:r>
          </a:p>
          <a:p>
            <a:endParaRPr lang="en-US" sz="2400" dirty="0"/>
          </a:p>
          <a:p>
            <a:r>
              <a:rPr lang="en-US" sz="2400" dirty="0"/>
              <a:t>Yes but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Data gets bigger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Disk gets cheaper also</a:t>
            </a:r>
          </a:p>
        </p:txBody>
      </p:sp>
    </p:spTree>
    <p:extLst>
      <p:ext uri="{BB962C8B-B14F-4D97-AF65-F5344CB8AC3E}">
        <p14:creationId xmlns:p14="http://schemas.microsoft.com/office/powerpoint/2010/main" val="3848147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the cost of operations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CE4841-386F-9749-C3B2-7C324D7F5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16" y="1033165"/>
            <a:ext cx="7303698" cy="51720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39A9F-F0D5-D587-653C-EFB61BB554DC}"/>
              </a:ext>
            </a:extLst>
          </p:cNvPr>
          <p:cNvSpPr txBox="1"/>
          <p:nvPr/>
        </p:nvSpPr>
        <p:spPr>
          <a:xfrm>
            <a:off x="345751" y="6210730"/>
            <a:ext cx="80901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hlinkClick r:id="rId3"/>
              </a:rPr>
              <a:t>https://ourworldindata.org/grapher/historical-cost-of-computer-memory-and-storage?time=1990..latest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3910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What do we count?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1" y="1600200"/>
            <a:ext cx="8218577" cy="47339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800" dirty="0"/>
              <a:t>Big data comes from a disk, or the network</a:t>
            </a:r>
          </a:p>
          <a:p>
            <a:r>
              <a:rPr lang="en-US" sz="2800" dirty="0"/>
              <a:t>Getting data is slow</a:t>
            </a:r>
          </a:p>
          <a:p>
            <a:pPr lvl="1"/>
            <a:r>
              <a:rPr lang="en-US" sz="2800" dirty="0"/>
              <a:t>Memory access/instructions are </a:t>
            </a:r>
            <a:r>
              <a:rPr lang="en-US" sz="2800" i="1" dirty="0"/>
              <a:t>qualitatively different </a:t>
            </a:r>
            <a:r>
              <a:rPr lang="en-US" sz="2800" dirty="0"/>
              <a:t>from disk access</a:t>
            </a:r>
          </a:p>
          <a:p>
            <a:r>
              <a:rPr lang="en-US" sz="2800" dirty="0"/>
              <a:t>Memory is best when you stream through data </a:t>
            </a:r>
            <a:r>
              <a:rPr lang="en-US" sz="2800" i="1" dirty="0"/>
              <a:t>sequentially</a:t>
            </a:r>
          </a:p>
          <a:p>
            <a:pPr lvl="1"/>
            <a:r>
              <a:rPr lang="en-US" sz="2800" dirty="0"/>
              <a:t>Seeks are </a:t>
            </a:r>
            <a:r>
              <a:rPr lang="en-US" sz="2800" i="1" dirty="0"/>
              <a:t>qualitatively different </a:t>
            </a:r>
            <a:r>
              <a:rPr lang="en-US" sz="2800" dirty="0"/>
              <a:t>from sequential reads on disk</a:t>
            </a:r>
            <a:endParaRPr lang="en-US" sz="2800" i="1" dirty="0"/>
          </a:p>
          <a:p>
            <a:r>
              <a:rPr lang="en-US" sz="2800" dirty="0"/>
              <a:t>Best case for data processing: stream through the data </a:t>
            </a:r>
            <a:r>
              <a:rPr lang="en-US" sz="2800" i="1" dirty="0"/>
              <a:t>once</a:t>
            </a:r>
            <a:r>
              <a:rPr lang="en-US" sz="2800" dirty="0"/>
              <a:t> in </a:t>
            </a:r>
            <a:r>
              <a:rPr lang="en-US" sz="2800" i="1" dirty="0"/>
              <a:t>sequential order, </a:t>
            </a:r>
            <a:r>
              <a:rPr lang="en-US" sz="2800" dirty="0"/>
              <a:t>as it’s found on disk.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Estimates and NAÏVE BAYES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75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Joint Density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Data:</a:t>
            </a:r>
          </a:p>
          <a:p>
            <a:pPr lvl="1"/>
            <a:r>
              <a:rPr lang="en-US" dirty="0"/>
              <a:t>All 5-grams that appear &gt;= 40 times in a corpus of 1M English books</a:t>
            </a:r>
          </a:p>
          <a:p>
            <a:pPr lvl="2"/>
            <a:r>
              <a:rPr lang="en-US" dirty="0" err="1"/>
              <a:t>approx</a:t>
            </a:r>
            <a:r>
              <a:rPr lang="en-US" dirty="0"/>
              <a:t> 80B words</a:t>
            </a:r>
          </a:p>
          <a:p>
            <a:pPr lvl="2"/>
            <a:r>
              <a:rPr lang="en-US" dirty="0"/>
              <a:t>5-grams: 30Gb compressed, 250-300Gb uncompressed</a:t>
            </a:r>
          </a:p>
          <a:p>
            <a:pPr lvl="2"/>
            <a:r>
              <a:rPr lang="en-US" dirty="0"/>
              <a:t>Each 5-gram contains frequency distribution over </a:t>
            </a:r>
            <a:r>
              <a:rPr lang="en-US" i="1" dirty="0"/>
              <a:t>years</a:t>
            </a:r>
          </a:p>
          <a:p>
            <a:pPr lvl="1"/>
            <a:r>
              <a:rPr lang="en-US" dirty="0"/>
              <a:t>Wrote code to compute </a:t>
            </a:r>
          </a:p>
          <a:p>
            <a:pPr lvl="2"/>
            <a:r>
              <a:rPr lang="en-US" dirty="0" err="1"/>
              <a:t>Pr</a:t>
            </a:r>
            <a:r>
              <a:rPr lang="en-US" dirty="0"/>
              <a:t>(A,B,C,D,E|C=affect or C=effect) </a:t>
            </a:r>
          </a:p>
          <a:p>
            <a:pPr lvl="2"/>
            <a:r>
              <a:rPr lang="en-US" dirty="0" err="1"/>
              <a:t>Pr</a:t>
            </a:r>
            <a:r>
              <a:rPr lang="en-US" dirty="0"/>
              <a:t>(any subset of A,…,</a:t>
            </a:r>
            <a:r>
              <a:rPr lang="en-US" dirty="0" err="1"/>
              <a:t>E|any</a:t>
            </a:r>
            <a:r>
              <a:rPr lang="en-US" dirty="0"/>
              <a:t> other fixed values of A,…,E with C=affect V effect</a:t>
            </a:r>
            <a:r>
              <a:rPr lang="en-US" i="1" dirty="0"/>
              <a:t>)</a:t>
            </a:r>
            <a:endParaRPr lang="en-US" dirty="0"/>
          </a:p>
          <a:p>
            <a:r>
              <a:rPr lang="en-US" dirty="0"/>
              <a:t>Observations [from </a:t>
            </a:r>
            <a:r>
              <a:rPr lang="en-US" dirty="0">
                <a:solidFill>
                  <a:srgbClr val="FF0000"/>
                </a:solidFill>
              </a:rPr>
              <a:t>playing with data</a:t>
            </a:r>
            <a:r>
              <a:rPr lang="en-US" dirty="0"/>
              <a:t>]:</a:t>
            </a:r>
          </a:p>
          <a:p>
            <a:pPr lvl="1"/>
            <a:r>
              <a:rPr lang="en-US" dirty="0"/>
              <a:t>Mostly </a:t>
            </a:r>
            <a:r>
              <a:rPr lang="en-US" dirty="0">
                <a:solidFill>
                  <a:srgbClr val="0000FF"/>
                </a:solidFill>
              </a:rPr>
              <a:t>effect</a:t>
            </a:r>
            <a:r>
              <a:rPr lang="en-US" dirty="0"/>
              <a:t> not </a:t>
            </a:r>
            <a:r>
              <a:rPr lang="en-US" dirty="0">
                <a:solidFill>
                  <a:srgbClr val="0000FF"/>
                </a:solidFill>
              </a:rPr>
              <a:t>affect</a:t>
            </a:r>
          </a:p>
          <a:p>
            <a:pPr lvl="1"/>
            <a:r>
              <a:rPr lang="en-US" dirty="0"/>
              <a:t>Most common word before </a:t>
            </a:r>
            <a:r>
              <a:rPr lang="en-US" dirty="0">
                <a:solidFill>
                  <a:srgbClr val="0000FF"/>
                </a:solidFill>
              </a:rPr>
              <a:t>affect</a:t>
            </a:r>
            <a:r>
              <a:rPr lang="en-US" dirty="0"/>
              <a:t> is </a:t>
            </a:r>
            <a:r>
              <a:rPr lang="en-US" dirty="0">
                <a:solidFill>
                  <a:srgbClr val="0000FF"/>
                </a:solidFill>
              </a:rPr>
              <a:t>not</a:t>
            </a:r>
          </a:p>
          <a:p>
            <a:pPr lvl="1"/>
            <a:r>
              <a:rPr lang="en-US" dirty="0"/>
              <a:t>After</a:t>
            </a:r>
            <a:r>
              <a:rPr lang="en-US" dirty="0">
                <a:solidFill>
                  <a:srgbClr val="0000FF"/>
                </a:solidFill>
              </a:rPr>
              <a:t> not effect </a:t>
            </a:r>
            <a:r>
              <a:rPr lang="en-US" dirty="0">
                <a:solidFill>
                  <a:srgbClr val="000000"/>
                </a:solidFill>
              </a:rPr>
              <a:t>most common word is </a:t>
            </a:r>
            <a:r>
              <a:rPr lang="en-US" dirty="0">
                <a:solidFill>
                  <a:srgbClr val="0000FF"/>
                </a:solidFill>
              </a:rPr>
              <a:t>a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 </a:t>
            </a:r>
          </a:p>
          <a:p>
            <a:pPr lvl="1"/>
            <a:r>
              <a:rPr lang="en-US" dirty="0"/>
              <a:t>…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 descr="A screenshot of a math test&#10;&#10;Description automatically generated">
            <a:extLst>
              <a:ext uri="{FF2B5EF4-FFF2-40B4-BE49-F238E27FC236}">
                <a16:creationId xmlns:a16="http://schemas.microsoft.com/office/drawing/2014/main" id="{5F6D5CE2-23D7-DC94-2E21-C647A0745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13467"/>
            <a:ext cx="7116875" cy="4052433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42389682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Joint Can Be Used To Implement A Classifier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691D41-7278-996F-3BE2-0952409D7E26}"/>
                  </a:ext>
                </a:extLst>
              </p:cNvPr>
              <p:cNvSpPr txBox="1"/>
              <p:nvPr/>
            </p:nvSpPr>
            <p:spPr>
              <a:xfrm>
                <a:off x="3986213" y="1670822"/>
                <a:ext cx="20528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/>
                  <a:t>Pr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691D41-7278-996F-3BE2-0952409D7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213" y="1670822"/>
                <a:ext cx="2052870" cy="369332"/>
              </a:xfrm>
              <a:prstGeom prst="rect">
                <a:avLst/>
              </a:prstGeom>
              <a:blipFill>
                <a:blip r:embed="rId2"/>
                <a:stretch>
                  <a:fillRect l="-8589" t="-26667" r="-429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349FCE-7802-741B-95B7-8B9CBF54A169}"/>
                  </a:ext>
                </a:extLst>
              </p:cNvPr>
              <p:cNvSpPr txBox="1"/>
              <p:nvPr/>
            </p:nvSpPr>
            <p:spPr>
              <a:xfrm>
                <a:off x="1082128" y="4029985"/>
                <a:ext cx="7580858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5349FCE-7802-741B-95B7-8B9CBF54A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128" y="4029985"/>
                <a:ext cx="7580858" cy="768993"/>
              </a:xfrm>
              <a:prstGeom prst="rect">
                <a:avLst/>
              </a:prstGeom>
              <a:blipFill>
                <a:blip r:embed="rId3"/>
                <a:stretch>
                  <a:fillRect l="-334" t="-29508" r="-836" b="-1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8EC65C7-13E3-CA2C-09B4-002645341926}"/>
              </a:ext>
            </a:extLst>
          </p:cNvPr>
          <p:cNvSpPr txBox="1"/>
          <p:nvPr/>
        </p:nvSpPr>
        <p:spPr>
          <a:xfrm>
            <a:off x="1201190" y="1624656"/>
            <a:ext cx="4156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i="1" dirty="0"/>
              <a:t>joint density</a:t>
            </a:r>
            <a:r>
              <a:rPr lang="en-US" sz="2400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95B9A-8E2E-AC58-DF97-CC3FB07C8BF6}"/>
              </a:ext>
            </a:extLst>
          </p:cNvPr>
          <p:cNvSpPr txBox="1"/>
          <p:nvPr/>
        </p:nvSpPr>
        <p:spPr>
          <a:xfrm>
            <a:off x="1201191" y="3354839"/>
            <a:ext cx="734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</a:t>
            </a:r>
            <a:r>
              <a:rPr lang="en-US" sz="2400" i="1" dirty="0"/>
              <a:t>classifier</a:t>
            </a:r>
            <a:r>
              <a:rPr lang="en-US" sz="2400" dirty="0"/>
              <a:t> for C based on the joint density estimator: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848D6A-AD96-2608-AC36-321D7BC63EDD}"/>
              </a:ext>
            </a:extLst>
          </p:cNvPr>
          <p:cNvSpPr txBox="1"/>
          <p:nvPr/>
        </p:nvSpPr>
        <p:spPr>
          <a:xfrm>
            <a:off x="1201191" y="5317184"/>
            <a:ext cx="734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and predict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88C165-0844-00C9-231D-AF784A696749}"/>
                  </a:ext>
                </a:extLst>
              </p:cNvPr>
              <p:cNvSpPr txBox="1"/>
              <p:nvPr/>
            </p:nvSpPr>
            <p:spPr>
              <a:xfrm>
                <a:off x="3482428" y="5338570"/>
                <a:ext cx="37507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88C165-0844-00C9-231D-AF784A696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428" y="5338570"/>
                <a:ext cx="3750770" cy="369332"/>
              </a:xfrm>
              <a:prstGeom prst="rect">
                <a:avLst/>
              </a:prstGeom>
              <a:blipFill>
                <a:blip r:embed="rId4"/>
                <a:stretch>
                  <a:fillRect l="-1351" t="-10000" r="-236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21BBAA9-5A8C-6967-442A-D02125F4DC78}"/>
              </a:ext>
            </a:extLst>
          </p:cNvPr>
          <p:cNvSpPr txBox="1"/>
          <p:nvPr/>
        </p:nvSpPr>
        <p:spPr>
          <a:xfrm>
            <a:off x="1201190" y="2198403"/>
            <a:ext cx="704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“brute force” joint density estimate is a big table based on max likelihood estimates (MLEs)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1A7698-42D8-DACC-64CD-4164EF6FB150}"/>
                  </a:ext>
                </a:extLst>
              </p:cNvPr>
              <p:cNvSpPr txBox="1"/>
              <p:nvPr/>
            </p:nvSpPr>
            <p:spPr>
              <a:xfrm>
                <a:off x="3482428" y="5927723"/>
                <a:ext cx="31767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81A7698-42D8-DACC-64CD-4164EF6FB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428" y="5927723"/>
                <a:ext cx="3176767" cy="369332"/>
              </a:xfrm>
              <a:prstGeom prst="rect">
                <a:avLst/>
              </a:prstGeom>
              <a:blipFill>
                <a:blip r:embed="rId5"/>
                <a:stretch>
                  <a:fillRect l="-1594" t="-6667" r="-239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11B2766-5186-20F4-DFBE-779AD1C26F39}"/>
              </a:ext>
            </a:extLst>
          </p:cNvPr>
          <p:cNvSpPr txBox="1"/>
          <p:nvPr/>
        </p:nvSpPr>
        <p:spPr>
          <a:xfrm>
            <a:off x="1201190" y="5927723"/>
            <a:ext cx="4156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just</a:t>
            </a:r>
          </a:p>
        </p:txBody>
      </p:sp>
    </p:spTree>
    <p:extLst>
      <p:ext uri="{BB962C8B-B14F-4D97-AF65-F5344CB8AC3E}">
        <p14:creationId xmlns:p14="http://schemas.microsoft.com/office/powerpoint/2010/main" val="147175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809D8-F65D-37E5-260C-70FDE7E3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BEF7C-642D-F5C9-EADF-18EF2C25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experiment: how useful is that classifier?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D297-94C4-0E5D-3EDE-9282853C7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536700"/>
            <a:ext cx="8648700" cy="2269943"/>
          </a:xfrm>
        </p:spPr>
        <p:txBody>
          <a:bodyPr>
            <a:normAutofit/>
          </a:bodyPr>
          <a:lstStyle/>
          <a:p>
            <a:r>
              <a:rPr lang="en-US" sz="2000" dirty="0"/>
              <a:t>Extracted all affect/effect 5-grams from an old Reuters corpus</a:t>
            </a:r>
          </a:p>
          <a:p>
            <a:pPr lvl="1"/>
            <a:r>
              <a:rPr lang="en-US" sz="2000" dirty="0"/>
              <a:t>about 20k documents</a:t>
            </a:r>
          </a:p>
          <a:p>
            <a:pPr lvl="1"/>
            <a:r>
              <a:rPr lang="en-US" sz="2000" dirty="0"/>
              <a:t>about 723 n-grams, 661 distinct</a:t>
            </a:r>
          </a:p>
          <a:p>
            <a:pPr lvl="1"/>
            <a:r>
              <a:rPr lang="en-US" sz="2000" dirty="0"/>
              <a:t>Financial news, not novels or textbooks</a:t>
            </a:r>
          </a:p>
          <a:p>
            <a:r>
              <a:rPr lang="en-US" sz="2000" dirty="0"/>
              <a:t>Tried to predict center word with:</a:t>
            </a:r>
          </a:p>
          <a:p>
            <a:pPr lvl="1"/>
            <a:r>
              <a:rPr lang="en-US" sz="2000" dirty="0" err="1"/>
              <a:t>Pr</a:t>
            </a:r>
            <a:r>
              <a:rPr lang="en-US" sz="2000" dirty="0"/>
              <a:t>(C|A=</a:t>
            </a:r>
            <a:r>
              <a:rPr lang="en-US" sz="2000" dirty="0" err="1"/>
              <a:t>a,B</a:t>
            </a:r>
            <a:r>
              <a:rPr lang="en-US" sz="2000" dirty="0"/>
              <a:t>=</a:t>
            </a:r>
            <a:r>
              <a:rPr lang="en-US" sz="2000" dirty="0" err="1"/>
              <a:t>b,D</a:t>
            </a:r>
            <a:r>
              <a:rPr lang="en-US" sz="2000" dirty="0"/>
              <a:t>=</a:t>
            </a:r>
            <a:r>
              <a:rPr lang="en-US" sz="2000" dirty="0" err="1"/>
              <a:t>d,E</a:t>
            </a:r>
            <a:r>
              <a:rPr lang="en-US" sz="2000" dirty="0"/>
              <a:t>=e)</a:t>
            </a:r>
          </a:p>
        </p:txBody>
      </p:sp>
      <p:pic>
        <p:nvPicPr>
          <p:cNvPr id="4" name="Picture 3" descr="Screen shot 2012-01-03 at 12.00.44 PM.png">
            <a:extLst>
              <a:ext uri="{FF2B5EF4-FFF2-40B4-BE49-F238E27FC236}">
                <a16:creationId xmlns:a16="http://schemas.microsoft.com/office/drawing/2014/main" id="{A4B56311-6936-BD83-09A9-01EFA740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1" y="3796242"/>
            <a:ext cx="2946400" cy="306175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44B36E1-F1B9-702A-A3D9-E1B5BA662AFF}"/>
              </a:ext>
            </a:extLst>
          </p:cNvPr>
          <p:cNvGrpSpPr/>
          <p:nvPr/>
        </p:nvGrpSpPr>
        <p:grpSpPr>
          <a:xfrm>
            <a:off x="2688886" y="4238443"/>
            <a:ext cx="1883114" cy="1048266"/>
            <a:chOff x="1879600" y="5054600"/>
            <a:chExt cx="1883114" cy="1048266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4F677AB-1724-9761-88E8-884F8FB56A6F}"/>
                </a:ext>
              </a:extLst>
            </p:cNvPr>
            <p:cNvCxnSpPr/>
            <p:nvPr/>
          </p:nvCxnSpPr>
          <p:spPr>
            <a:xfrm flipH="1" flipV="1">
              <a:off x="1879600" y="5054600"/>
              <a:ext cx="825500" cy="8636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4AA548-2237-368E-5977-C08FE8C9A5B7}"/>
                </a:ext>
              </a:extLst>
            </p:cNvPr>
            <p:cNvSpPr txBox="1"/>
            <p:nvPr/>
          </p:nvSpPr>
          <p:spPr>
            <a:xfrm>
              <a:off x="2705100" y="5733534"/>
              <a:ext cx="10576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5% error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9658362-94DC-465E-1C4C-5BE88882A8DA}"/>
              </a:ext>
            </a:extLst>
          </p:cNvPr>
          <p:cNvSpPr txBox="1"/>
          <p:nvPr/>
        </p:nvSpPr>
        <p:spPr>
          <a:xfrm>
            <a:off x="5043487" y="3600450"/>
            <a:ext cx="3686175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723 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622 have 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data for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a,b,d,e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(!)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Of the 101 that do have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predictions are correct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only </a:t>
            </a:r>
            <a:r>
              <a:rPr 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wrong</a:t>
            </a:r>
          </a:p>
        </p:txBody>
      </p:sp>
    </p:spTree>
    <p:extLst>
      <p:ext uri="{BB962C8B-B14F-4D97-AF65-F5344CB8AC3E}">
        <p14:creationId xmlns:p14="http://schemas.microsoft.com/office/powerpoint/2010/main" val="141196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77741-3E63-3800-E1A4-F401F5B1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46CD6-9E95-907C-BEF9-38968B24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experiment: how useful is that classifier?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2281-6937-5A04-3BD1-F92E888F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536700"/>
            <a:ext cx="8648700" cy="4649788"/>
          </a:xfrm>
        </p:spPr>
        <p:txBody>
          <a:bodyPr>
            <a:normAutofit/>
          </a:bodyPr>
          <a:lstStyle/>
          <a:p>
            <a:r>
              <a:rPr lang="en-US" sz="2000" dirty="0"/>
              <a:t>Extracted all affect/effect 5-grams from an old Reuters corpus</a:t>
            </a:r>
          </a:p>
          <a:p>
            <a:pPr lvl="1"/>
            <a:r>
              <a:rPr lang="en-US" sz="2000" dirty="0"/>
              <a:t>about 20k documents</a:t>
            </a:r>
          </a:p>
          <a:p>
            <a:pPr lvl="1"/>
            <a:r>
              <a:rPr lang="en-US" sz="2000" dirty="0"/>
              <a:t>about 723 n-grams, 661 distinct</a:t>
            </a:r>
          </a:p>
          <a:p>
            <a:pPr lvl="1"/>
            <a:r>
              <a:rPr lang="en-US" sz="2000" dirty="0"/>
              <a:t>Financial news, not novels or textbooks</a:t>
            </a:r>
          </a:p>
          <a:p>
            <a:r>
              <a:rPr lang="en-US" sz="2000" dirty="0"/>
              <a:t>Tried to predict center word with “backoff” estimates:</a:t>
            </a:r>
          </a:p>
          <a:p>
            <a:pPr lvl="1"/>
            <a:r>
              <a:rPr lang="en-US" sz="2000" dirty="0" err="1"/>
              <a:t>Pr</a:t>
            </a:r>
            <a:r>
              <a:rPr lang="en-US" sz="2000" dirty="0"/>
              <a:t>(C|A=</a:t>
            </a:r>
            <a:r>
              <a:rPr lang="en-US" sz="2000" dirty="0" err="1"/>
              <a:t>a,B</a:t>
            </a:r>
            <a:r>
              <a:rPr lang="en-US" sz="2000" dirty="0"/>
              <a:t>=</a:t>
            </a:r>
            <a:r>
              <a:rPr lang="en-US" sz="2000" dirty="0" err="1"/>
              <a:t>b,D</a:t>
            </a:r>
            <a:r>
              <a:rPr lang="en-US" sz="2000" dirty="0"/>
              <a:t>=</a:t>
            </a:r>
            <a:r>
              <a:rPr lang="en-US" sz="2000" dirty="0" err="1"/>
              <a:t>d,E</a:t>
            </a:r>
            <a:r>
              <a:rPr lang="en-US" sz="2000" dirty="0"/>
              <a:t>=e)</a:t>
            </a:r>
          </a:p>
          <a:p>
            <a:pPr lvl="1"/>
            <a:r>
              <a:rPr lang="en-US" sz="2000" dirty="0"/>
              <a:t>then </a:t>
            </a:r>
            <a:r>
              <a:rPr lang="en-US" sz="2000" dirty="0" err="1"/>
              <a:t>Pr</a:t>
            </a:r>
            <a:r>
              <a:rPr lang="en-US" sz="2000" dirty="0"/>
              <a:t>(C|A=</a:t>
            </a:r>
            <a:r>
              <a:rPr lang="en-US" sz="2000" dirty="0" err="1"/>
              <a:t>a,B</a:t>
            </a:r>
            <a:r>
              <a:rPr lang="en-US" sz="2000" dirty="0"/>
              <a:t>=</a:t>
            </a:r>
            <a:r>
              <a:rPr lang="en-US" sz="2000" dirty="0" err="1"/>
              <a:t>b,D</a:t>
            </a:r>
            <a:r>
              <a:rPr lang="en-US" sz="2000" dirty="0"/>
              <a:t>=d)</a:t>
            </a:r>
          </a:p>
          <a:p>
            <a:pPr lvl="1"/>
            <a:r>
              <a:rPr lang="en-US" sz="2000" dirty="0"/>
              <a:t>then </a:t>
            </a:r>
            <a:r>
              <a:rPr lang="en-US" sz="2000" dirty="0" err="1"/>
              <a:t>Pr</a:t>
            </a:r>
            <a:r>
              <a:rPr lang="en-US" sz="2000" dirty="0"/>
              <a:t>(C|B=</a:t>
            </a:r>
            <a:r>
              <a:rPr lang="en-US" sz="2000" dirty="0" err="1"/>
              <a:t>b,D</a:t>
            </a:r>
            <a:r>
              <a:rPr lang="en-US" sz="2000" dirty="0"/>
              <a:t>=d)</a:t>
            </a:r>
          </a:p>
          <a:p>
            <a:pPr lvl="1"/>
            <a:r>
              <a:rPr lang="en-US" sz="2000" dirty="0"/>
              <a:t>then </a:t>
            </a:r>
            <a:r>
              <a:rPr lang="en-US" sz="2000" dirty="0" err="1"/>
              <a:t>Pr</a:t>
            </a:r>
            <a:r>
              <a:rPr lang="en-US" sz="2000" dirty="0"/>
              <a:t>(C|B=b)</a:t>
            </a:r>
          </a:p>
          <a:p>
            <a:pPr lvl="1"/>
            <a:r>
              <a:rPr lang="en-US" sz="2000" dirty="0"/>
              <a:t>then </a:t>
            </a:r>
            <a:r>
              <a:rPr lang="en-US" sz="2000" dirty="0" err="1"/>
              <a:t>Pr</a:t>
            </a:r>
            <a:r>
              <a:rPr lang="en-US" sz="2000" dirty="0"/>
              <a:t>(C)</a:t>
            </a:r>
          </a:p>
          <a:p>
            <a:pPr lvl="1"/>
            <a:endParaRPr lang="en-US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6643B2-DD93-4AAE-F69F-C751D5CF90FC}"/>
              </a:ext>
            </a:extLst>
          </p:cNvPr>
          <p:cNvGraphicFramePr>
            <a:graphicFrameLocks noGrp="1"/>
          </p:cNvGraphicFramePr>
          <p:nvPr/>
        </p:nvGraphicFramePr>
        <p:xfrm>
          <a:off x="4148138" y="3734455"/>
          <a:ext cx="423862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8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31">
                <a:tc>
                  <a:txBody>
                    <a:bodyPr/>
                    <a:lstStyle/>
                    <a:p>
                      <a:r>
                        <a:rPr lang="en-US" dirty="0"/>
                        <a:t>P(C|A,B,D,E)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31">
                <a:tc>
                  <a:txBody>
                    <a:bodyPr/>
                    <a:lstStyle/>
                    <a:p>
                      <a:r>
                        <a:rPr lang="en-US" dirty="0"/>
                        <a:t>P(C|A,B,D)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31">
                <a:tc>
                  <a:txBody>
                    <a:bodyPr/>
                    <a:lstStyle/>
                    <a:p>
                      <a:r>
                        <a:rPr lang="en-US" dirty="0"/>
                        <a:t>P(C|B,D)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31">
                <a:tc>
                  <a:txBody>
                    <a:bodyPr/>
                    <a:lstStyle/>
                    <a:p>
                      <a:r>
                        <a:rPr lang="en-US" dirty="0"/>
                        <a:t>P(C|B)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31">
                <a:tc>
                  <a:txBody>
                    <a:bodyPr/>
                    <a:lstStyle/>
                    <a:p>
                      <a:r>
                        <a:rPr lang="en-US" dirty="0"/>
                        <a:t>P(C)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23F5D32-3EBC-F0AA-8FF5-06FFD20A5634}"/>
              </a:ext>
            </a:extLst>
          </p:cNvPr>
          <p:cNvGrpSpPr/>
          <p:nvPr/>
        </p:nvGrpSpPr>
        <p:grpSpPr>
          <a:xfrm>
            <a:off x="2467789" y="5686425"/>
            <a:ext cx="1968296" cy="867807"/>
            <a:chOff x="2623702" y="5163065"/>
            <a:chExt cx="1968296" cy="867807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C93CABC-95CD-BC67-A7F1-4D40CD8949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46657" y="5163065"/>
              <a:ext cx="657394" cy="49847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77120C-B92E-D0E0-427A-D77679BADE0A}"/>
                </a:ext>
              </a:extLst>
            </p:cNvPr>
            <p:cNvSpPr txBox="1"/>
            <p:nvPr/>
          </p:nvSpPr>
          <p:spPr>
            <a:xfrm>
              <a:off x="2623702" y="5661540"/>
              <a:ext cx="19682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17.8% error overall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278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9E1F6-4230-F686-5057-657B3D345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ABA6-2452-27B1-9A89-3C70E009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“naïve” estimate of joint probability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45192-1929-04FC-5FEA-26AB2F2D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B7D17-DE95-D57A-8674-3B28528B94A7}"/>
                  </a:ext>
                </a:extLst>
              </p:cNvPr>
              <p:cNvSpPr txBox="1"/>
              <p:nvPr/>
            </p:nvSpPr>
            <p:spPr>
              <a:xfrm>
                <a:off x="1021047" y="2436667"/>
                <a:ext cx="7665753" cy="6486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/>
                  <a:t>Pr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B7D17-DE95-D57A-8674-3B28528B9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047" y="2436667"/>
                <a:ext cx="7665753" cy="648639"/>
              </a:xfrm>
              <a:prstGeom prst="rect">
                <a:avLst/>
              </a:prstGeom>
              <a:blipFill>
                <a:blip r:embed="rId2"/>
                <a:stretch>
                  <a:fillRect l="-2483" t="-23529" b="-98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1D46DB8-ABD2-67CC-6848-E221BC93F9DD}"/>
              </a:ext>
            </a:extLst>
          </p:cNvPr>
          <p:cNvSpPr txBox="1"/>
          <p:nvPr/>
        </p:nvSpPr>
        <p:spPr>
          <a:xfrm>
            <a:off x="1107801" y="1538941"/>
            <a:ext cx="6928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(brute force) </a:t>
            </a:r>
            <a:r>
              <a:rPr lang="en-US" sz="2400" i="1" dirty="0"/>
              <a:t>joint density estimator </a:t>
            </a:r>
            <a:r>
              <a:rPr lang="en-US" sz="2400" dirty="0"/>
              <a:t>uses MLEs: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344F1-F604-765D-0F98-C92BE81F1FE1}"/>
              </a:ext>
            </a:extLst>
          </p:cNvPr>
          <p:cNvSpPr txBox="1"/>
          <p:nvPr/>
        </p:nvSpPr>
        <p:spPr>
          <a:xfrm>
            <a:off x="1107800" y="3534073"/>
            <a:ext cx="6199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naïve estimator assumes </a:t>
            </a:r>
            <a:r>
              <a:rPr lang="en-US" sz="2400" i="1" dirty="0"/>
              <a:t>independence</a:t>
            </a:r>
            <a:r>
              <a:rPr lang="en-US" sz="2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3C7A6D-90B5-9E71-4105-89CA94C72267}"/>
                  </a:ext>
                </a:extLst>
              </p:cNvPr>
              <p:cNvSpPr txBox="1"/>
              <p:nvPr/>
            </p:nvSpPr>
            <p:spPr>
              <a:xfrm>
                <a:off x="1519049" y="4472172"/>
                <a:ext cx="53871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b="0" dirty="0"/>
                  <a:t>Pr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3C7A6D-90B5-9E71-4105-89CA94C72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049" y="4472172"/>
                <a:ext cx="5387180" cy="369332"/>
              </a:xfrm>
              <a:prstGeom prst="rect">
                <a:avLst/>
              </a:prstGeom>
              <a:blipFill>
                <a:blip r:embed="rId3"/>
                <a:stretch>
                  <a:fillRect l="-3529" t="-26667" b="-4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7DA655-8033-90EC-1CD3-5548A8F322FB}"/>
                  </a:ext>
                </a:extLst>
              </p:cNvPr>
              <p:cNvSpPr txBox="1"/>
              <p:nvPr/>
            </p:nvSpPr>
            <p:spPr>
              <a:xfrm>
                <a:off x="1519049" y="5102579"/>
                <a:ext cx="5209503" cy="10930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0" dirty="0"/>
                  <a:t>Pr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brk m:alnAt="7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endParaRPr lang="en-US" sz="2400" b="0" dirty="0"/>
              </a:p>
              <a:p>
                <a:r>
                  <a:rPr lang="en-US" sz="2400" dirty="0" err="1"/>
                  <a:t>Pr</a:t>
                </a:r>
                <a:r>
                  <a:rPr lang="en-US" sz="2400" dirty="0"/>
                  <a:t>(</a:t>
                </a:r>
                <a:r>
                  <a:rPr lang="en-US" sz="2400" i="1" dirty="0"/>
                  <a:t>b</a:t>
                </a:r>
                <a:r>
                  <a:rPr lang="en-US" sz="2400" dirty="0"/>
                  <a:t>) = …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7DA655-8033-90EC-1CD3-5548A8F32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049" y="5102579"/>
                <a:ext cx="5209503" cy="1093056"/>
              </a:xfrm>
              <a:prstGeom prst="rect">
                <a:avLst/>
              </a:prstGeom>
              <a:blipFill>
                <a:blip r:embed="rId4"/>
                <a:stretch>
                  <a:fillRect l="-3650" t="-40230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3301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8B35-2687-D080-D1D2-E4F4624A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A7B5-55CE-A6B1-F6A2-B8E202DC4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“naïve” </a:t>
            </a:r>
            <a:r>
              <a:rPr lang="en-US" u="sng" dirty="0"/>
              <a:t>but useful </a:t>
            </a:r>
            <a:r>
              <a:rPr lang="en-US" dirty="0"/>
              <a:t>estimate of joint probability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3C9CFF-2AAB-94D7-0826-E91192B9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91DEEF-C355-B1B3-0C50-06C99B5665AD}"/>
              </a:ext>
            </a:extLst>
          </p:cNvPr>
          <p:cNvSpPr txBox="1"/>
          <p:nvPr/>
        </p:nvSpPr>
        <p:spPr>
          <a:xfrm>
            <a:off x="1001164" y="1319876"/>
            <a:ext cx="72206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you want to use this to </a:t>
            </a:r>
            <a:r>
              <a:rPr lang="en-US" sz="2400" b="1" dirty="0"/>
              <a:t>predict</a:t>
            </a:r>
            <a:r>
              <a:rPr lang="en-US" sz="2400" dirty="0"/>
              <a:t> </a:t>
            </a:r>
            <a:r>
              <a:rPr lang="en-US" sz="2400" i="1" dirty="0"/>
              <a:t>C</a:t>
            </a:r>
            <a:r>
              <a:rPr lang="en-US" sz="2400" dirty="0"/>
              <a:t> you need can’t assume everything is </a:t>
            </a:r>
            <a:r>
              <a:rPr lang="en-US" sz="2400" b="1" dirty="0"/>
              <a:t>independent</a:t>
            </a:r>
            <a:r>
              <a:rPr lang="en-US" sz="2400" dirty="0"/>
              <a:t> of C….so….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3B7B9-C536-614F-47E2-551B286FAEA8}"/>
                  </a:ext>
                </a:extLst>
              </p:cNvPr>
              <p:cNvSpPr txBox="1"/>
              <p:nvPr/>
            </p:nvSpPr>
            <p:spPr>
              <a:xfrm>
                <a:off x="954821" y="2462171"/>
                <a:ext cx="72206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9C3B7B9-C536-614F-47E2-551B286FAE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21" y="2462171"/>
                <a:ext cx="7220630" cy="369332"/>
              </a:xfrm>
              <a:prstGeom prst="rect">
                <a:avLst/>
              </a:prstGeom>
              <a:blipFill>
                <a:blip r:embed="rId2"/>
                <a:stretch>
                  <a:fillRect l="-527" r="-879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558E1D-BE9B-3C5C-00EF-65D13226E179}"/>
                  </a:ext>
                </a:extLst>
              </p:cNvPr>
              <p:cNvSpPr txBox="1"/>
              <p:nvPr/>
            </p:nvSpPr>
            <p:spPr>
              <a:xfrm>
                <a:off x="1001164" y="2953299"/>
                <a:ext cx="6524735" cy="9673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0" dirty="0"/>
                  <a:t>Pr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b="0" dirty="0"/>
              </a:p>
              <a:p>
                <a:r>
                  <a:rPr lang="en-US" sz="2400" dirty="0"/>
                  <a:t>…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8558E1D-BE9B-3C5C-00EF-65D13226E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4" y="2953299"/>
                <a:ext cx="6524735" cy="967381"/>
              </a:xfrm>
              <a:prstGeom prst="rect">
                <a:avLst/>
              </a:prstGeom>
              <a:blipFill>
                <a:blip r:embed="rId3"/>
                <a:stretch>
                  <a:fillRect l="-2718" b="-19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62023F-4D47-D972-9B3A-9E8FDF4CAAB5}"/>
                  </a:ext>
                </a:extLst>
              </p:cNvPr>
              <p:cNvSpPr txBox="1"/>
              <p:nvPr/>
            </p:nvSpPr>
            <p:spPr>
              <a:xfrm>
                <a:off x="954821" y="4328164"/>
                <a:ext cx="5317610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62023F-4D47-D972-9B3A-9E8FDF4CA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21" y="4328164"/>
                <a:ext cx="5317610" cy="768993"/>
              </a:xfrm>
              <a:prstGeom prst="rect">
                <a:avLst/>
              </a:prstGeom>
              <a:blipFill>
                <a:blip r:embed="rId4"/>
                <a:stretch>
                  <a:fillRect l="-716" t="-29032" r="-1671" b="-1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89F96E4-CC86-AD8F-EA41-AA2EABA8C2E1}"/>
              </a:ext>
            </a:extLst>
          </p:cNvPr>
          <p:cNvSpPr txBox="1"/>
          <p:nvPr/>
        </p:nvSpPr>
        <p:spPr>
          <a:xfrm>
            <a:off x="954821" y="5186508"/>
            <a:ext cx="734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and predict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9D9C08-7572-6F24-7A93-7297EE235414}"/>
                  </a:ext>
                </a:extLst>
              </p:cNvPr>
              <p:cNvSpPr txBox="1"/>
              <p:nvPr/>
            </p:nvSpPr>
            <p:spPr>
              <a:xfrm>
                <a:off x="3236058" y="5207894"/>
                <a:ext cx="37507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89D9C08-7572-6F24-7A93-7297EE235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058" y="5207894"/>
                <a:ext cx="3750770" cy="369332"/>
              </a:xfrm>
              <a:prstGeom prst="rect">
                <a:avLst/>
              </a:prstGeom>
              <a:blipFill>
                <a:blip r:embed="rId5"/>
                <a:stretch>
                  <a:fillRect l="-1010" t="-3226" r="-2020" b="-35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9D6093-B710-46A1-918B-681C2BF4483E}"/>
                  </a:ext>
                </a:extLst>
              </p:cNvPr>
              <p:cNvSpPr txBox="1"/>
              <p:nvPr/>
            </p:nvSpPr>
            <p:spPr>
              <a:xfrm>
                <a:off x="3482428" y="5927723"/>
                <a:ext cx="31767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9D6093-B710-46A1-918B-681C2BF44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428" y="5927723"/>
                <a:ext cx="3176767" cy="369332"/>
              </a:xfrm>
              <a:prstGeom prst="rect">
                <a:avLst/>
              </a:prstGeom>
              <a:blipFill>
                <a:blip r:embed="rId6"/>
                <a:stretch>
                  <a:fillRect l="-1594" t="-6667" r="-239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462B6F3-924E-7094-A7D8-5EC8444809A8}"/>
              </a:ext>
            </a:extLst>
          </p:cNvPr>
          <p:cNvSpPr txBox="1"/>
          <p:nvPr/>
        </p:nvSpPr>
        <p:spPr>
          <a:xfrm>
            <a:off x="1201190" y="5927723"/>
            <a:ext cx="4156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just</a:t>
            </a:r>
          </a:p>
        </p:txBody>
      </p:sp>
    </p:spTree>
    <p:extLst>
      <p:ext uri="{BB962C8B-B14F-4D97-AF65-F5344CB8AC3E}">
        <p14:creationId xmlns:p14="http://schemas.microsoft.com/office/powerpoint/2010/main" val="1055390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F5132-422A-9333-AACC-AD92794D1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6550-CC44-0239-8825-861DE5B9D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Bayes refinement - 1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D07661-B337-D4FB-6F31-EE06481C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772F7-74C2-9AA2-FBA6-641890B9CE4E}"/>
              </a:ext>
            </a:extLst>
          </p:cNvPr>
          <p:cNvSpPr txBox="1"/>
          <p:nvPr/>
        </p:nvSpPr>
        <p:spPr>
          <a:xfrm>
            <a:off x="457200" y="1329703"/>
            <a:ext cx="8329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n-grams we look at </a:t>
            </a:r>
            <a:r>
              <a:rPr lang="en-US" sz="2400" dirty="0" err="1"/>
              <a:t>Pr</a:t>
            </a:r>
            <a:r>
              <a:rPr lang="en-US" sz="2400" dirty="0"/>
              <a:t>(b)=</a:t>
            </a:r>
            <a:r>
              <a:rPr lang="en-US" sz="2400" dirty="0" err="1"/>
              <a:t>Pr</a:t>
            </a:r>
            <a:r>
              <a:rPr lang="en-US" sz="2400" dirty="0"/>
              <a:t>(second word is “b”), etc.</a:t>
            </a:r>
          </a:p>
          <a:p>
            <a:endParaRPr lang="en-US" sz="2400" dirty="0"/>
          </a:p>
          <a:p>
            <a:r>
              <a:rPr lang="en-US" sz="2400" dirty="0"/>
              <a:t>For long documents you usually don’t keep track of </a:t>
            </a:r>
            <a:r>
              <a:rPr lang="en-US" sz="2400" i="1" dirty="0"/>
              <a:t>where</a:t>
            </a:r>
            <a:r>
              <a:rPr lang="en-US" sz="2400" dirty="0"/>
              <a:t> a word appears, so: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A47A8F-814D-C9DE-FAA6-AE2DC9D08C68}"/>
                  </a:ext>
                </a:extLst>
              </p:cNvPr>
              <p:cNvSpPr txBox="1"/>
              <p:nvPr/>
            </p:nvSpPr>
            <p:spPr>
              <a:xfrm>
                <a:off x="954821" y="3047967"/>
                <a:ext cx="5146858" cy="7633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,…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A47A8F-814D-C9DE-FAA6-AE2DC9D08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821" y="3047967"/>
                <a:ext cx="5146858" cy="763351"/>
              </a:xfrm>
              <a:prstGeom prst="rect">
                <a:avLst/>
              </a:prstGeom>
              <a:blipFill>
                <a:blip r:embed="rId2"/>
                <a:stretch>
                  <a:fillRect l="-739" t="-176667" r="-1478" b="-26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F58BF5-1845-88CA-6A54-727AB099B05F}"/>
                  </a:ext>
                </a:extLst>
              </p:cNvPr>
              <p:cNvSpPr txBox="1"/>
              <p:nvPr/>
            </p:nvSpPr>
            <p:spPr>
              <a:xfrm>
                <a:off x="1001164" y="4120151"/>
                <a:ext cx="7285586" cy="5883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2400" b="0" dirty="0"/>
                  <a:t>Pr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400" dirty="0"/>
                      <m:t>Pr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𝑤𝑜𝑟𝑑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𝑎𝑝𝑝𝑒𝑎𝑟𝑠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𝑑𝑜𝑐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𝑤𝑖𝑡h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𝑙𝑎𝑏𝑒𝑙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 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𝑤𝑜𝑟𝑑𝑠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𝑐𝑜𝑟𝑝𝑢𝑠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9F58BF5-1845-88CA-6A54-727AB099B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4" y="4120151"/>
                <a:ext cx="7285586" cy="588366"/>
              </a:xfrm>
              <a:prstGeom prst="rect">
                <a:avLst/>
              </a:prstGeom>
              <a:blipFill>
                <a:blip r:embed="rId3"/>
                <a:stretch>
                  <a:fillRect l="-2435" t="-6383" b="-19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9EA1185-783B-C64F-DE29-21B8BD338CA3}"/>
              </a:ext>
            </a:extLst>
          </p:cNvPr>
          <p:cNvSpPr txBox="1"/>
          <p:nvPr/>
        </p:nvSpPr>
        <p:spPr>
          <a:xfrm>
            <a:off x="954821" y="5157788"/>
            <a:ext cx="7131904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This computation is a </a:t>
            </a:r>
            <a:r>
              <a:rPr lang="en-US" sz="2000" b="1" dirty="0"/>
              <a:t>lot</a:t>
            </a:r>
            <a:r>
              <a:rPr lang="en-US" sz="2000" dirty="0"/>
              <a:t> like the </a:t>
            </a:r>
            <a:r>
              <a:rPr lang="en-US" sz="2000" b="1" dirty="0"/>
              <a:t>wordcount</a:t>
            </a:r>
            <a:r>
              <a:rPr lang="en-US" sz="2000" dirty="0"/>
              <a:t> example: you just need to count </a:t>
            </a:r>
            <a:r>
              <a:rPr lang="en-US" sz="2000" b="1" dirty="0"/>
              <a:t>co-occurrences</a:t>
            </a:r>
            <a:r>
              <a:rPr lang="en-US" sz="2000" dirty="0"/>
              <a:t> of words with classes instead of words themselves.</a:t>
            </a:r>
          </a:p>
        </p:txBody>
      </p:sp>
    </p:spTree>
    <p:extLst>
      <p:ext uri="{BB962C8B-B14F-4D97-AF65-F5344CB8AC3E}">
        <p14:creationId xmlns:p14="http://schemas.microsoft.com/office/powerpoint/2010/main" val="278610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ADE8-9FEA-F68B-519F-3401D3874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6F3B-9115-63D8-DD41-34708DAC5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Bayes refinement - 2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F848E-80EB-4517-7C84-5E51E4A1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C2D8E-C562-C648-6B40-CDD352A1B041}"/>
              </a:ext>
            </a:extLst>
          </p:cNvPr>
          <p:cNvSpPr txBox="1"/>
          <p:nvPr/>
        </p:nvSpPr>
        <p:spPr>
          <a:xfrm>
            <a:off x="457200" y="1329703"/>
            <a:ext cx="8329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numeric stability it’s best to compute with logs: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7D16A8-F1FB-A708-704A-5E87E24AF1CC}"/>
                  </a:ext>
                </a:extLst>
              </p:cNvPr>
              <p:cNvSpPr txBox="1"/>
              <p:nvPr/>
            </p:nvSpPr>
            <p:spPr>
              <a:xfrm>
                <a:off x="1001164" y="2233609"/>
                <a:ext cx="4050532" cy="7633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argmax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𝑃𝑟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7D16A8-F1FB-A708-704A-5E87E24AF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4" y="2233609"/>
                <a:ext cx="4050532" cy="763351"/>
              </a:xfrm>
              <a:prstGeom prst="rect">
                <a:avLst/>
              </a:prstGeom>
              <a:blipFill>
                <a:blip r:embed="rId2"/>
                <a:stretch>
                  <a:fillRect l="-1250" t="-169355" r="-2188" b="-25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6A0312-4308-FE14-2501-6CB874E9F411}"/>
                  </a:ext>
                </a:extLst>
              </p:cNvPr>
              <p:cNvSpPr txBox="1"/>
              <p:nvPr/>
            </p:nvSpPr>
            <p:spPr>
              <a:xfrm>
                <a:off x="1001164" y="3429000"/>
                <a:ext cx="4921732" cy="426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𝑃𝑟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6A0312-4308-FE14-2501-6CB874E9F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64" y="3429000"/>
                <a:ext cx="4921732" cy="426848"/>
              </a:xfrm>
              <a:prstGeom prst="rect">
                <a:avLst/>
              </a:prstGeom>
              <a:blipFill>
                <a:blip r:embed="rId3"/>
                <a:stretch>
                  <a:fillRect l="-3599" t="-144118" r="-1799" b="-2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979F52C-ED26-AE95-5549-1FA6B6DA5C35}"/>
              </a:ext>
            </a:extLst>
          </p:cNvPr>
          <p:cNvSpPr txBox="1"/>
          <p:nvPr/>
        </p:nvSpPr>
        <p:spPr>
          <a:xfrm>
            <a:off x="1001164" y="4449926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 argmax makes sense</a:t>
            </a:r>
          </a:p>
        </p:txBody>
      </p:sp>
    </p:spTree>
    <p:extLst>
      <p:ext uri="{BB962C8B-B14F-4D97-AF65-F5344CB8AC3E}">
        <p14:creationId xmlns:p14="http://schemas.microsoft.com/office/powerpoint/2010/main" val="1957700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9E4C-9CE5-6D39-4B9F-FB2B7778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5C56-49B0-9C53-1540-1363B2C0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Bayes refinements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573A6-6573-259F-FBC7-C4C2EB1A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FEA33-028C-2AA0-FEAB-04AB53927157}"/>
              </a:ext>
            </a:extLst>
          </p:cNvPr>
          <p:cNvSpPr txBox="1"/>
          <p:nvPr/>
        </p:nvSpPr>
        <p:spPr>
          <a:xfrm>
            <a:off x="457200" y="1329703"/>
            <a:ext cx="83296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You also usually </a:t>
            </a:r>
            <a:r>
              <a:rPr lang="en-US" sz="2400" i="1" dirty="0"/>
              <a:t>smooth</a:t>
            </a:r>
            <a:r>
              <a:rPr lang="en-US" sz="2400" dirty="0"/>
              <a:t> the estimates, e.g.:</a:t>
            </a:r>
          </a:p>
          <a:p>
            <a:endParaRPr lang="en-US" sz="2400" dirty="0"/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E45B1E-DCAB-7B55-AF1E-EFC5D230D777}"/>
                  </a:ext>
                </a:extLst>
              </p:cNvPr>
              <p:cNvSpPr txBox="1"/>
              <p:nvPr/>
            </p:nvSpPr>
            <p:spPr>
              <a:xfrm>
                <a:off x="740265" y="3257944"/>
                <a:ext cx="7514186" cy="8314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 smtClean="0"/>
                        <m:t>Pr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𝑤𝑜𝑟𝑑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𝑎𝑝𝑝𝑒𝑎𝑟𝑠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𝑑𝑜𝑐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𝑙𝑎𝑏𝑒𝑙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𝑤𝑜𝑟𝑑𝑠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𝑐𝑜𝑟𝑝𝑢𝑠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E45B1E-DCAB-7B55-AF1E-EFC5D230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65" y="3257944"/>
                <a:ext cx="7514186" cy="831446"/>
              </a:xfrm>
              <a:prstGeom prst="rect">
                <a:avLst/>
              </a:prstGeom>
              <a:blipFill>
                <a:blip r:embed="rId2"/>
                <a:stretch>
                  <a:fillRect t="-2985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A6C5DDF-DF18-A4EA-81E5-4DB093FDDFC7}"/>
              </a:ext>
            </a:extLst>
          </p:cNvPr>
          <p:cNvSpPr txBox="1"/>
          <p:nvPr/>
        </p:nvSpPr>
        <p:spPr>
          <a:xfrm>
            <a:off x="407193" y="4465467"/>
            <a:ext cx="832961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where </a:t>
            </a:r>
            <a:r>
              <a:rPr lang="en-US" sz="2400" i="1" dirty="0"/>
              <a:t>V </a:t>
            </a:r>
            <a:r>
              <a:rPr lang="en-US" sz="2400" dirty="0"/>
              <a:t>is the number of words.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53C50-FA0F-3A6C-2B93-12B234B54048}"/>
              </a:ext>
            </a:extLst>
          </p:cNvPr>
          <p:cNvSpPr txBox="1"/>
          <p:nvPr/>
        </p:nvSpPr>
        <p:spPr>
          <a:xfrm>
            <a:off x="457199" y="5341982"/>
            <a:ext cx="762952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This is usually a terrible density estimator but often is a pretty good classifier!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4C8F0B-70AB-48B3-64C2-4F3CEC54B974}"/>
                  </a:ext>
                </a:extLst>
              </p:cNvPr>
              <p:cNvSpPr txBox="1"/>
              <p:nvPr/>
            </p:nvSpPr>
            <p:spPr>
              <a:xfrm>
                <a:off x="687878" y="2057615"/>
                <a:ext cx="7514186" cy="778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 smtClean="0"/>
                        <m:t>Pr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𝑤𝑜𝑟𝑑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𝑎𝑝𝑝𝑒𝑎𝑟𝑠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𝑙𝑎𝑏𝑒𝑙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𝑤𝑜𝑟𝑑𝑠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𝑐𝑜𝑟𝑝𝑢𝑠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4C8F0B-70AB-48B3-64C2-4F3CEC54B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78" y="2057615"/>
                <a:ext cx="7514186" cy="778996"/>
              </a:xfrm>
              <a:prstGeom prst="rect">
                <a:avLst/>
              </a:prstGeom>
              <a:blipFill>
                <a:blip r:embed="rId3"/>
                <a:stretch>
                  <a:fillRect t="-6452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1E8C855-A15D-5517-C9DC-AA637C29A821}"/>
              </a:ext>
            </a:extLst>
          </p:cNvPr>
          <p:cNvSpPr txBox="1"/>
          <p:nvPr/>
        </p:nvSpPr>
        <p:spPr>
          <a:xfrm>
            <a:off x="973633" y="3167753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414182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Classification </a:t>
            </a:r>
            <a:r>
              <a:rPr lang="en-US" dirty="0" err="1"/>
              <a:t>vs</a:t>
            </a:r>
            <a:r>
              <a:rPr lang="en-US" dirty="0"/>
              <a:t> Density Estimation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Density Estimation</a:t>
            </a:r>
          </a:p>
        </p:txBody>
      </p:sp>
      <p:pic>
        <p:nvPicPr>
          <p:cNvPr id="294914" name="Picture 2"/>
          <p:cNvPicPr>
            <a:picLocks noChangeAspect="1" noChangeArrowheads="1"/>
          </p:cNvPicPr>
          <p:nvPr/>
        </p:nvPicPr>
        <p:blipFill>
          <a:blip r:embed="rId2"/>
          <a:srcRect l="4000" t="19524" r="5270" b="4508"/>
          <a:stretch>
            <a:fillRect/>
          </a:stretch>
        </p:blipFill>
        <p:spPr bwMode="auto">
          <a:xfrm>
            <a:off x="457202" y="1988457"/>
            <a:ext cx="2658000" cy="1669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59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76914" y="2049840"/>
            <a:ext cx="4709886" cy="4517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06635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Classification </a:t>
            </a:r>
            <a:r>
              <a:rPr lang="en-US" dirty="0" err="1"/>
              <a:t>vs</a:t>
            </a:r>
            <a:r>
              <a:rPr lang="en-US" dirty="0"/>
              <a:t> density estimation</a:t>
            </a:r>
          </a:p>
        </p:txBody>
      </p:sp>
      <p:pic>
        <p:nvPicPr>
          <p:cNvPr id="293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0244" y="1615440"/>
            <a:ext cx="6465211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23560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FA30-CD11-9B57-9811-95B1429ED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PROCESSING FOR LARGE 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447DD-CA12-2593-DF1B-5AC182B39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5A682-2BB7-831D-C56E-AE7747CA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03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A8CF-1B2E-556F-BBE5-4867290A9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Linear-time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EF7C-99B6-6717-919F-7972E4938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1879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Best case, with one machine:</a:t>
            </a:r>
          </a:p>
          <a:p>
            <a:pPr lvl="1"/>
            <a:r>
              <a:rPr lang="en-US" dirty="0"/>
              <a:t>Input is many </a:t>
            </a:r>
            <a:r>
              <a:rPr lang="en-US" i="1" dirty="0"/>
              <a:t>small</a:t>
            </a:r>
            <a:r>
              <a:rPr lang="en-US" dirty="0"/>
              <a:t> things stored </a:t>
            </a:r>
            <a:r>
              <a:rPr lang="en-US" i="1" dirty="0"/>
              <a:t>sequentially </a:t>
            </a:r>
            <a:r>
              <a:rPr lang="en-US" dirty="0"/>
              <a:t>on disk</a:t>
            </a:r>
          </a:p>
          <a:p>
            <a:pPr lvl="2"/>
            <a:r>
              <a:rPr lang="en-US" dirty="0"/>
              <a:t>”Small” means “fits in main memory”</a:t>
            </a:r>
          </a:p>
          <a:p>
            <a:pPr lvl="3"/>
            <a:r>
              <a:rPr lang="en-US" sz="2900" dirty="0"/>
              <a:t>“constant size” is a good approximation to this</a:t>
            </a:r>
          </a:p>
          <a:p>
            <a:pPr lvl="2"/>
            <a:r>
              <a:rPr lang="en-US" dirty="0"/>
              <a:t>Aka I can “stream” through them</a:t>
            </a:r>
          </a:p>
          <a:p>
            <a:pPr lvl="1"/>
            <a:r>
              <a:rPr lang="en-US" dirty="0"/>
              <a:t>To produce output, you make one pass in which you process each thing </a:t>
            </a:r>
            <a:r>
              <a:rPr lang="en-US" i="1" dirty="0"/>
              <a:t>independently </a:t>
            </a:r>
            <a:r>
              <a:rPr lang="en-US" dirty="0"/>
              <a:t>of all the others in the dataset and output one or more “things” for each input “thing”</a:t>
            </a:r>
          </a:p>
          <a:p>
            <a:pPr lvl="2"/>
            <a:r>
              <a:rPr lang="en-US" dirty="0"/>
              <a:t>Relaxation:  you can make a fixed number of passes</a:t>
            </a:r>
          </a:p>
          <a:p>
            <a:pPr lvl="2"/>
            <a:r>
              <a:rPr lang="en-US" dirty="0"/>
              <a:t>Then everything is </a:t>
            </a:r>
            <a:r>
              <a:rPr lang="en-US" b="1" dirty="0"/>
              <a:t>constant memory and linear time</a:t>
            </a:r>
          </a:p>
          <a:p>
            <a:pPr lvl="1"/>
            <a:r>
              <a:rPr lang="en-US" dirty="0"/>
              <a:t>If there’s one output for each input it’s like a Python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</a:t>
            </a:r>
          </a:p>
          <a:p>
            <a:pPr lvl="1"/>
            <a:r>
              <a:rPr lang="en-US" dirty="0"/>
              <a:t>If there are zero or one outputs it’s like a Python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</a:p>
          <a:p>
            <a:pPr marL="457200" lvl="1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map(lambda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x:x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*2, range(0, 20, 2))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[0, 4, 8, 12, 16, 20, 24, 28, 32, 36]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filter(lambda x: x % 8 == 0, range(0, 20, 2))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[0, 8, 16]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5BB20-5CE8-3337-75E7-7EE4C2A60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26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75E3-6D2B-46BE-BC7D-AC248344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1F61E-23B4-0EFD-9D65-F4DCD25C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Embarassingly</a:t>
            </a:r>
            <a:r>
              <a:rPr lang="en-US" dirty="0"/>
              <a:t> Parallel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78191-24BF-4CDC-F8F7-D1E32ABEE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399" y="1257301"/>
            <a:ext cx="8264525" cy="326469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Better case, </a:t>
            </a:r>
            <a:r>
              <a:rPr lang="en-US" b="1" dirty="0"/>
              <a:t>with P machines, </a:t>
            </a:r>
            <a:r>
              <a:rPr lang="en-US" dirty="0"/>
              <a:t>each with it’s own </a:t>
            </a:r>
            <a:r>
              <a:rPr lang="en-US" b="1" dirty="0"/>
              <a:t>disk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Partition the input evenly across each machine</a:t>
            </a:r>
          </a:p>
          <a:p>
            <a:pPr lvl="2"/>
            <a:r>
              <a:rPr lang="en-US" dirty="0"/>
              <a:t>Each piece of the dataset is called a </a:t>
            </a:r>
            <a:r>
              <a:rPr lang="en-US" i="1" dirty="0"/>
              <a:t>shard</a:t>
            </a:r>
            <a:endParaRPr lang="en-US" dirty="0"/>
          </a:p>
          <a:p>
            <a:pPr lvl="1"/>
            <a:r>
              <a:rPr lang="en-US" dirty="0"/>
              <a:t>Run the mapper independently on each of the </a:t>
            </a:r>
            <a:r>
              <a:rPr lang="en-US" i="1" dirty="0"/>
              <a:t>P </a:t>
            </a:r>
            <a:r>
              <a:rPr lang="en-US" dirty="0"/>
              <a:t>machines.</a:t>
            </a:r>
          </a:p>
          <a:p>
            <a:pPr lvl="2"/>
            <a:r>
              <a:rPr lang="en-US" dirty="0"/>
              <a:t>If there is a chain of mappers, run the whole chain independently on each machine</a:t>
            </a:r>
          </a:p>
          <a:p>
            <a:pPr lvl="1"/>
            <a:r>
              <a:rPr lang="en-US" dirty="0"/>
              <a:t>If necessary collect all the outputs together</a:t>
            </a:r>
          </a:p>
          <a:p>
            <a:pPr lvl="2"/>
            <a:r>
              <a:rPr lang="en-US" dirty="0"/>
              <a:t>But it might be better to keep the shards separate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We have made the process faster</a:t>
            </a:r>
          </a:p>
          <a:p>
            <a:pPr lvl="2"/>
            <a:r>
              <a:rPr lang="en-US" dirty="0"/>
              <a:t>We have many </a:t>
            </a:r>
            <a:r>
              <a:rPr lang="en-US" i="1" dirty="0"/>
              <a:t>machines</a:t>
            </a:r>
            <a:r>
              <a:rPr lang="en-US" dirty="0"/>
              <a:t> and many </a:t>
            </a:r>
            <a:r>
              <a:rPr lang="en-US" i="1" dirty="0"/>
              <a:t>disks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F74AE-EE93-8AB0-9D88-01204473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D34B499-7E4D-C962-41C6-83F3D5FEF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0076" y="4521992"/>
            <a:ext cx="2042009" cy="136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186A91-9F65-A653-A7B0-7D17E55C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09876" y="4521992"/>
            <a:ext cx="2042009" cy="136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3EAF1-DBFC-BCAD-A4D8-352D4C1BA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1915" y="4521992"/>
            <a:ext cx="2042009" cy="1360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7AB7E-07B6-E055-F132-B23A33A9863E}"/>
              </a:ext>
            </a:extLst>
          </p:cNvPr>
          <p:cNvSpPr txBox="1"/>
          <p:nvPr/>
        </p:nvSpPr>
        <p:spPr>
          <a:xfrm>
            <a:off x="5269706" y="4928970"/>
            <a:ext cx="814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…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C97C3E8-9A88-B2EF-9B66-633BCD1F5410}"/>
              </a:ext>
            </a:extLst>
          </p:cNvPr>
          <p:cNvSpPr txBox="1">
            <a:spLocks/>
          </p:cNvSpPr>
          <p:nvPr/>
        </p:nvSpPr>
        <p:spPr>
          <a:xfrm>
            <a:off x="348455" y="6032099"/>
            <a:ext cx="8264525" cy="804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Disadvantages:</a:t>
            </a:r>
          </a:p>
          <a:p>
            <a:pPr lvl="1"/>
            <a:r>
              <a:rPr lang="en-US" sz="2000" dirty="0"/>
              <a:t>there’s a lot we </a:t>
            </a:r>
            <a:r>
              <a:rPr lang="en-US" sz="2000" b="1" dirty="0"/>
              <a:t>can’t</a:t>
            </a:r>
            <a:r>
              <a:rPr lang="en-US" sz="2000" dirty="0"/>
              <a:t> do in this way</a:t>
            </a:r>
          </a:p>
        </p:txBody>
      </p:sp>
    </p:spTree>
    <p:extLst>
      <p:ext uri="{BB962C8B-B14F-4D97-AF65-F5344CB8AC3E}">
        <p14:creationId xmlns:p14="http://schemas.microsoft.com/office/powerpoint/2010/main" val="2909600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A65C-06E7-42DB-C444-31B60713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28E28-61D1-C072-207B-446F5F31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Embarrassingly parallel (or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)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ED743-E9B9-0BE1-63CD-67F01F068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Examples, where input is a list of (small) documents</a:t>
            </a:r>
          </a:p>
          <a:p>
            <a:pPr lvl="1"/>
            <a:r>
              <a:rPr lang="en-US" sz="2400" dirty="0"/>
              <a:t>Classify documents by language</a:t>
            </a:r>
          </a:p>
          <a:p>
            <a:pPr lvl="1"/>
            <a:r>
              <a:rPr lang="en-US" sz="2400" dirty="0"/>
              <a:t>Remove non-English documents</a:t>
            </a:r>
          </a:p>
          <a:p>
            <a:pPr lvl="1"/>
            <a:r>
              <a:rPr lang="en-US" sz="2400" dirty="0"/>
              <a:t>Tokenize all the documents</a:t>
            </a:r>
          </a:p>
          <a:p>
            <a:pPr lvl="1"/>
            <a:r>
              <a:rPr lang="en-US" sz="2400" dirty="0"/>
              <a:t>Split documents into sentences</a:t>
            </a:r>
          </a:p>
          <a:p>
            <a:pPr lvl="1"/>
            <a:r>
              <a:rPr lang="en-US" sz="2400" dirty="0"/>
              <a:t>Any chain of the operations above</a:t>
            </a:r>
          </a:p>
          <a:p>
            <a:pPr lvl="1"/>
            <a:r>
              <a:rPr lang="en-US" sz="2400" dirty="0"/>
              <a:t>…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Find the most frequent words in the corpus?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Find the most frequent sentences in the corpus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Discard the longest 10% and the shortest 10% of the documents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Detect duplicate documents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Detect similar pairs of documents</a:t>
            </a:r>
          </a:p>
          <a:p>
            <a:r>
              <a:rPr lang="en-US" sz="2400" dirty="0"/>
              <a:t>Where input is a list of rows in a database relation</a:t>
            </a:r>
          </a:p>
          <a:p>
            <a:pPr lvl="1"/>
            <a:r>
              <a:rPr lang="en-US" sz="2400" dirty="0"/>
              <a:t>Any projection (subset the relation)</a:t>
            </a:r>
          </a:p>
          <a:p>
            <a:pPr lvl="1"/>
            <a:r>
              <a:rPr lang="en-US" sz="2400" dirty="0"/>
              <a:t>Add a new computed field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Join two relations</a:t>
            </a:r>
          </a:p>
          <a:p>
            <a:pPr lvl="1"/>
            <a:r>
              <a:rPr lang="en-US" sz="2400" dirty="0">
                <a:solidFill>
                  <a:srgbClr val="FF0000"/>
                </a:solidFill>
              </a:rPr>
              <a:t>…</a:t>
            </a:r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C7BEC-7904-1990-4B42-8B00C8241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92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2A311-D418-C0D0-BF53-E5F6B7C2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608B3-4C02-B0DB-33F8-35BFA560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Another nearly-linear operation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AE92F4-3128-F1D4-0445-4148CEB44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is O(</a:t>
            </a:r>
            <a:r>
              <a:rPr lang="en-US" i="1" dirty="0"/>
              <a:t>n log n), </a:t>
            </a:r>
            <a:r>
              <a:rPr lang="en-US" dirty="0"/>
              <a:t>nearly linear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CEE9D-3602-579A-07ED-A89BE527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118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DBB1-8BDD-259F-F37C-56D883FE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0B66-91AE-CF5F-F1EA-62A1A4E9D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does sorting help?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1445D-2B83-99CC-8A6C-D3F36F4E3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Examples, where input is a list of (small) documents</a:t>
            </a:r>
          </a:p>
          <a:p>
            <a:pPr lvl="1"/>
            <a:r>
              <a:rPr lang="en-US" sz="2400" dirty="0"/>
              <a:t>Classify documents by language</a:t>
            </a:r>
          </a:p>
          <a:p>
            <a:pPr lvl="1"/>
            <a:r>
              <a:rPr lang="en-US" sz="2400" dirty="0"/>
              <a:t>Remove non-English documents</a:t>
            </a:r>
          </a:p>
          <a:p>
            <a:pPr lvl="1"/>
            <a:r>
              <a:rPr lang="en-US" sz="2400" dirty="0"/>
              <a:t>Tokenize all the documents</a:t>
            </a:r>
          </a:p>
          <a:p>
            <a:pPr lvl="1"/>
            <a:r>
              <a:rPr lang="en-US" sz="2400" dirty="0"/>
              <a:t>Split documents into sentences</a:t>
            </a:r>
          </a:p>
          <a:p>
            <a:pPr lvl="1"/>
            <a:r>
              <a:rPr lang="en-US" sz="2400" dirty="0"/>
              <a:t>Any chain of the operations above</a:t>
            </a:r>
          </a:p>
          <a:p>
            <a:pPr lvl="1"/>
            <a:r>
              <a:rPr lang="en-US" sz="2400" dirty="0"/>
              <a:t>…</a:t>
            </a:r>
          </a:p>
          <a:p>
            <a:pPr lvl="1"/>
            <a:r>
              <a:rPr lang="en-US" sz="2400" u="sng" dirty="0">
                <a:solidFill>
                  <a:schemeClr val="accent3">
                    <a:lumMod val="75000"/>
                  </a:schemeClr>
                </a:solidFill>
              </a:rPr>
              <a:t>Find the most frequent words in the corpus?</a:t>
            </a:r>
          </a:p>
          <a:p>
            <a:pPr lvl="1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Find the most frequent sentences in the corpus</a:t>
            </a:r>
          </a:p>
          <a:p>
            <a:pPr lvl="1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Discard the longest 10% and the shortest 10% of the documents</a:t>
            </a:r>
          </a:p>
          <a:p>
            <a:pPr lvl="1"/>
            <a:r>
              <a:rPr lang="en-US" sz="2400" u="sng" dirty="0">
                <a:solidFill>
                  <a:schemeClr val="accent3">
                    <a:lumMod val="75000"/>
                  </a:schemeClr>
                </a:solidFill>
              </a:rPr>
              <a:t>Detect duplicate documents</a:t>
            </a:r>
          </a:p>
          <a:p>
            <a:pPr lvl="1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Detect similar pairs of documents</a:t>
            </a:r>
          </a:p>
          <a:p>
            <a:r>
              <a:rPr lang="en-US" sz="2400" dirty="0"/>
              <a:t>Where input is a list of rows in a database relation</a:t>
            </a:r>
          </a:p>
          <a:p>
            <a:pPr lvl="1"/>
            <a:r>
              <a:rPr lang="en-US" sz="2400" dirty="0"/>
              <a:t>Any projection (subset the relation)</a:t>
            </a:r>
          </a:p>
          <a:p>
            <a:pPr lvl="1"/>
            <a:r>
              <a:rPr lang="en-US" sz="2400" dirty="0"/>
              <a:t>Add a new computed field</a:t>
            </a:r>
          </a:p>
          <a:p>
            <a:pPr lvl="1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Join two relations</a:t>
            </a:r>
          </a:p>
          <a:p>
            <a:pPr lvl="1"/>
            <a:r>
              <a:rPr lang="en-US" sz="2400" dirty="0">
                <a:solidFill>
                  <a:schemeClr val="accent3">
                    <a:lumMod val="75000"/>
                  </a:schemeClr>
                </a:solidFill>
              </a:rPr>
              <a:t>…</a:t>
            </a:r>
          </a:p>
          <a:p>
            <a:pPr lvl="1"/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618DF-58A4-3EFE-5A29-DA92050DB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88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/>
          </p:nvPr>
        </p:nvSpPr>
        <p:spPr>
          <a:xfrm>
            <a:off x="222921" y="274264"/>
            <a:ext cx="8699589" cy="822789"/>
          </a:xfrm>
        </p:spPr>
        <p:txBody>
          <a:bodyPr lIns="0" tIns="0" rIns="0" bIns="0" anchor="t"/>
          <a:lstStyle/>
          <a:p>
            <a:pPr algn="l" eaLnBrk="1" hangingPunct="1">
              <a:lnSpc>
                <a:spcPct val="95000"/>
              </a:lnSpc>
              <a:buClr>
                <a:srgbClr val="333333"/>
              </a:buClr>
              <a:tabLst>
                <a:tab pos="0" algn="l"/>
                <a:tab pos="411476" algn="l"/>
                <a:tab pos="822952" algn="l"/>
                <a:tab pos="1234427" algn="l"/>
                <a:tab pos="1645904" algn="l"/>
                <a:tab pos="2057379" algn="l"/>
                <a:tab pos="2468856" algn="l"/>
                <a:tab pos="2880331" algn="l"/>
                <a:tab pos="3291807" algn="l"/>
                <a:tab pos="3703283" algn="l"/>
                <a:tab pos="4114759" algn="l"/>
                <a:tab pos="4526235" algn="l"/>
                <a:tab pos="4937711" algn="l"/>
                <a:tab pos="5349187" algn="l"/>
                <a:tab pos="5760662" algn="l"/>
                <a:tab pos="6172138" algn="l"/>
                <a:tab pos="6583614" algn="l"/>
                <a:tab pos="6995090" algn="l"/>
                <a:tab pos="7406566" algn="l"/>
                <a:tab pos="7818042" algn="l"/>
                <a:tab pos="8229518" algn="l"/>
                <a:tab pos="8469545" algn="l"/>
              </a:tabLst>
            </a:pPr>
            <a:r>
              <a:rPr lang="en-US" sz="3900" dirty="0">
                <a:solidFill>
                  <a:srgbClr val="333333"/>
                </a:solidFill>
                <a:latin typeface="Arial" charset="0"/>
              </a:rPr>
              <a:t>Similarity and duplicate detection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72" y="1439881"/>
            <a:ext cx="8642430" cy="3908246"/>
          </a:xfrm>
        </p:spPr>
        <p:txBody>
          <a:bodyPr lIns="0" tIns="0" rIns="0" bIns="0"/>
          <a:lstStyle/>
          <a:p>
            <a:pPr marL="411476" lvl="1" indent="-308607" eaLnBrk="1" hangingPunct="1">
              <a:lnSpc>
                <a:spcPct val="95000"/>
              </a:lnSpc>
              <a:spcBef>
                <a:spcPct val="0"/>
              </a:spcBef>
              <a:buFont typeface="Arial" charset="0"/>
              <a:buChar char="•"/>
              <a:tabLst>
                <a:tab pos="565780" algn="l"/>
                <a:tab pos="977255" algn="l"/>
                <a:tab pos="1388732" algn="l"/>
                <a:tab pos="1800207" algn="l"/>
                <a:tab pos="2211683" algn="l"/>
                <a:tab pos="2623159" algn="l"/>
                <a:tab pos="3034634" algn="l"/>
                <a:tab pos="3446111" algn="l"/>
                <a:tab pos="3857586" algn="l"/>
                <a:tab pos="4269063" algn="l"/>
                <a:tab pos="4680538" algn="l"/>
                <a:tab pos="5092014" algn="l"/>
                <a:tab pos="5503490" algn="l"/>
                <a:tab pos="5914966" algn="l"/>
                <a:tab pos="6326442" algn="l"/>
                <a:tab pos="6737918" algn="l"/>
                <a:tab pos="7149394" algn="l"/>
                <a:tab pos="7560869" algn="l"/>
                <a:tab pos="7972345" algn="l"/>
                <a:tab pos="8383821" algn="l"/>
                <a:tab pos="8469545" algn="l"/>
              </a:tabLst>
            </a:pPr>
            <a:r>
              <a:rPr lang="en-US" sz="2200">
                <a:solidFill>
                  <a:srgbClr val="333333"/>
                </a:solidFill>
                <a:latin typeface="Times New Roman" charset="0"/>
                <a:ea typeface="DejaVu Sans" charset="0"/>
                <a:cs typeface="DejaVu Sans" charset="0"/>
              </a:rPr>
              <a:t>Similarity can be </a:t>
            </a:r>
            <a:r>
              <a:rPr lang="en-US" sz="2200" b="1">
                <a:solidFill>
                  <a:srgbClr val="333333"/>
                </a:solidFill>
                <a:latin typeface="Times New Roman" charset="0"/>
                <a:ea typeface="DejaVu Sans" charset="0"/>
                <a:cs typeface="DejaVu Sans" charset="0"/>
              </a:rPr>
              <a:t>high</a:t>
            </a:r>
            <a:r>
              <a:rPr lang="en-US" sz="2200">
                <a:solidFill>
                  <a:srgbClr val="333333"/>
                </a:solidFill>
                <a:latin typeface="Times New Roman" charset="0"/>
                <a:ea typeface="DejaVu Sans" charset="0"/>
                <a:cs typeface="DejaVu Sans" charset="0"/>
              </a:rPr>
              <a:t> for descriptions of </a:t>
            </a:r>
            <a:r>
              <a:rPr lang="en-US" sz="2200" b="1">
                <a:solidFill>
                  <a:srgbClr val="333333"/>
                </a:solidFill>
                <a:latin typeface="Times New Roman" charset="0"/>
                <a:ea typeface="DejaVu Sans" charset="0"/>
                <a:cs typeface="DejaVu Sans" charset="0"/>
              </a:rPr>
              <a:t>distinct</a:t>
            </a:r>
            <a:r>
              <a:rPr lang="en-US" sz="2200">
                <a:solidFill>
                  <a:srgbClr val="333333"/>
                </a:solidFill>
                <a:latin typeface="Times New Roman" charset="0"/>
                <a:ea typeface="DejaVu Sans" charset="0"/>
                <a:cs typeface="DejaVu Sans" charset="0"/>
              </a:rPr>
              <a:t> items:</a:t>
            </a:r>
          </a:p>
          <a:p>
            <a:pPr marL="411476" lvl="1" indent="-308607" eaLnBrk="1" hangingPunct="1">
              <a:lnSpc>
                <a:spcPct val="95000"/>
              </a:lnSpc>
              <a:spcBef>
                <a:spcPct val="0"/>
              </a:spcBef>
              <a:buFont typeface="Arial" charset="0"/>
              <a:buChar char="•"/>
              <a:tabLst>
                <a:tab pos="565780" algn="l"/>
                <a:tab pos="977255" algn="l"/>
                <a:tab pos="1388732" algn="l"/>
                <a:tab pos="1800207" algn="l"/>
                <a:tab pos="2211683" algn="l"/>
                <a:tab pos="2623159" algn="l"/>
                <a:tab pos="3034634" algn="l"/>
                <a:tab pos="3446111" algn="l"/>
                <a:tab pos="3857586" algn="l"/>
                <a:tab pos="4269063" algn="l"/>
                <a:tab pos="4680538" algn="l"/>
                <a:tab pos="5092014" algn="l"/>
                <a:tab pos="5503490" algn="l"/>
                <a:tab pos="5914966" algn="l"/>
                <a:tab pos="6326442" algn="l"/>
                <a:tab pos="6737918" algn="l"/>
                <a:tab pos="7149394" algn="l"/>
                <a:tab pos="7560869" algn="l"/>
                <a:tab pos="7972345" algn="l"/>
                <a:tab pos="8383821" algn="l"/>
                <a:tab pos="8469545" algn="l"/>
              </a:tabLst>
            </a:pPr>
            <a:endParaRPr lang="en-US" sz="1700">
              <a:solidFill>
                <a:srgbClr val="333333"/>
              </a:solidFill>
              <a:latin typeface="Arial" charset="0"/>
              <a:ea typeface="DejaVu Sans" charset="0"/>
              <a:cs typeface="DejaVu Sans" charset="0"/>
            </a:endParaRPr>
          </a:p>
          <a:p>
            <a:pPr marL="768660" lvl="2" indent="-255744" eaLnBrk="1" hangingPunct="1">
              <a:lnSpc>
                <a:spcPct val="95000"/>
              </a:lnSpc>
              <a:spcBef>
                <a:spcPct val="0"/>
              </a:spcBef>
              <a:buSzPct val="80000"/>
              <a:buFont typeface="Courier New" charset="0"/>
              <a:buChar char="o"/>
              <a:tabLst>
                <a:tab pos="565780" algn="l"/>
                <a:tab pos="977255" algn="l"/>
                <a:tab pos="1388732" algn="l"/>
                <a:tab pos="1800207" algn="l"/>
                <a:tab pos="2211683" algn="l"/>
                <a:tab pos="2623159" algn="l"/>
                <a:tab pos="3034634" algn="l"/>
                <a:tab pos="3446111" algn="l"/>
                <a:tab pos="3857586" algn="l"/>
                <a:tab pos="4269063" algn="l"/>
                <a:tab pos="4680538" algn="l"/>
                <a:tab pos="5092014" algn="l"/>
                <a:tab pos="5503490" algn="l"/>
                <a:tab pos="5914966" algn="l"/>
                <a:tab pos="6326442" algn="l"/>
                <a:tab pos="6737918" algn="l"/>
                <a:tab pos="7149394" algn="l"/>
                <a:tab pos="7560869" algn="l"/>
                <a:tab pos="7972345" algn="l"/>
                <a:tab pos="8383821" algn="l"/>
                <a:tab pos="8469545" algn="l"/>
              </a:tabLst>
            </a:pPr>
            <a:r>
              <a:rPr lang="en-US" sz="1700">
                <a:solidFill>
                  <a:srgbClr val="333333"/>
                </a:solidFill>
                <a:latin typeface="Arial" charset="0"/>
                <a:ea typeface="DejaVu Sans" charset="0"/>
                <a:cs typeface="DejaVu Sans" charset="0"/>
              </a:rPr>
              <a:t>AERO TGX-Series Work Table -42'' x 96'' Model 1TGX-4296 All tables shipped KD AEROSPEC- 1TGX Tables are Aerospec Designed. In addition to above specifications; - All four sides have a V countertop edge ...</a:t>
            </a:r>
          </a:p>
          <a:p>
            <a:pPr marL="768660" lvl="2" indent="-255744" eaLnBrk="1" hangingPunct="1">
              <a:lnSpc>
                <a:spcPct val="95000"/>
              </a:lnSpc>
              <a:spcBef>
                <a:spcPct val="0"/>
              </a:spcBef>
              <a:buSzPct val="80000"/>
              <a:buFont typeface="Courier New" charset="0"/>
              <a:buChar char="o"/>
              <a:tabLst>
                <a:tab pos="565780" algn="l"/>
                <a:tab pos="977255" algn="l"/>
                <a:tab pos="1388732" algn="l"/>
                <a:tab pos="1800207" algn="l"/>
                <a:tab pos="2211683" algn="l"/>
                <a:tab pos="2623159" algn="l"/>
                <a:tab pos="3034634" algn="l"/>
                <a:tab pos="3446111" algn="l"/>
                <a:tab pos="3857586" algn="l"/>
                <a:tab pos="4269063" algn="l"/>
                <a:tab pos="4680538" algn="l"/>
                <a:tab pos="5092014" algn="l"/>
                <a:tab pos="5503490" algn="l"/>
                <a:tab pos="5914966" algn="l"/>
                <a:tab pos="6326442" algn="l"/>
                <a:tab pos="6737918" algn="l"/>
                <a:tab pos="7149394" algn="l"/>
                <a:tab pos="7560869" algn="l"/>
                <a:tab pos="7972345" algn="l"/>
                <a:tab pos="8383821" algn="l"/>
                <a:tab pos="8469545" algn="l"/>
              </a:tabLst>
            </a:pPr>
            <a:r>
              <a:rPr lang="en-US" sz="1700">
                <a:solidFill>
                  <a:srgbClr val="333333"/>
                </a:solidFill>
                <a:latin typeface="Arial" charset="0"/>
                <a:ea typeface="DejaVu Sans" charset="0"/>
                <a:cs typeface="DejaVu Sans" charset="0"/>
              </a:rPr>
              <a:t>AERO TGX-Series Work Table -42'' x 48'' Model 1TGX-4248 All tables shipped KD AEROSPEC- 1TGX Tables are Aerospec Designed. In addition to above specifications; - All four sides have a V countertop .. 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205772" y="3576844"/>
            <a:ext cx="8436658" cy="2224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42900" indent="-342900" eaLnBrk="0" hangingPunct="0"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indent="-342900" eaLnBrk="0" hangingPunct="0"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2pPr>
            <a:lvl3pPr marL="854075" indent="-284163" eaLnBrk="0" hangingPunct="0"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28650" algn="l"/>
                <a:tab pos="1085850" algn="l"/>
                <a:tab pos="1543050" algn="l"/>
                <a:tab pos="2000250" algn="l"/>
                <a:tab pos="2457450" algn="l"/>
                <a:tab pos="2914650" algn="l"/>
                <a:tab pos="3371850" algn="l"/>
                <a:tab pos="3829050" algn="l"/>
                <a:tab pos="4286250" algn="l"/>
                <a:tab pos="4743450" algn="l"/>
                <a:tab pos="5200650" algn="l"/>
                <a:tab pos="5657850" algn="l"/>
                <a:tab pos="6115050" algn="l"/>
                <a:tab pos="6572250" algn="l"/>
                <a:tab pos="7029450" algn="l"/>
                <a:tab pos="7486650" algn="l"/>
                <a:tab pos="7943850" algn="l"/>
                <a:tab pos="8401050" algn="l"/>
                <a:tab pos="8858250" algn="l"/>
                <a:tab pos="9315450" algn="l"/>
              </a:tabLst>
              <a:defRPr sz="2400">
                <a:solidFill>
                  <a:schemeClr val="bg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marL="411476" lvl="1" defTabSz="411476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>
                <a:solidFill>
                  <a:srgbClr val="333333"/>
                </a:solidFill>
                <a:cs typeface="ＭＳ Ｐゴシック" charset="0"/>
              </a:rPr>
              <a:t>Similarity can be </a:t>
            </a:r>
            <a:r>
              <a:rPr lang="en-US" b="1">
                <a:solidFill>
                  <a:srgbClr val="333333"/>
                </a:solidFill>
                <a:cs typeface="ＭＳ Ｐゴシック" charset="0"/>
              </a:rPr>
              <a:t>low</a:t>
            </a:r>
            <a:r>
              <a:rPr lang="en-US">
                <a:solidFill>
                  <a:srgbClr val="333333"/>
                </a:solidFill>
                <a:cs typeface="ＭＳ Ｐゴシック" charset="0"/>
              </a:rPr>
              <a:t> for descriptions of </a:t>
            </a:r>
            <a:r>
              <a:rPr lang="en-US" b="1">
                <a:solidFill>
                  <a:srgbClr val="333333"/>
                </a:solidFill>
                <a:cs typeface="ＭＳ Ｐゴシック" charset="0"/>
              </a:rPr>
              <a:t>identical</a:t>
            </a:r>
            <a:r>
              <a:rPr lang="en-US">
                <a:solidFill>
                  <a:srgbClr val="333333"/>
                </a:solidFill>
                <a:cs typeface="ＭＳ Ｐゴシック" charset="0"/>
              </a:rPr>
              <a:t> items:</a:t>
            </a:r>
          </a:p>
          <a:p>
            <a:pPr marL="411476" lvl="1" defTabSz="411476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Char char="•"/>
            </a:pPr>
            <a:endParaRPr lang="en-US" sz="1700">
              <a:solidFill>
                <a:srgbClr val="333333"/>
              </a:solidFill>
              <a:latin typeface="Arial" charset="0"/>
              <a:cs typeface="ＭＳ Ｐゴシック" charset="0"/>
            </a:endParaRPr>
          </a:p>
          <a:p>
            <a:pPr lvl="2" defTabSz="411476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Courier New" charset="0"/>
              <a:buChar char="o"/>
            </a:pPr>
            <a:r>
              <a:rPr lang="en-US" sz="1700">
                <a:solidFill>
                  <a:srgbClr val="333333"/>
                </a:solidFill>
                <a:latin typeface="Arial" charset="0"/>
                <a:cs typeface="ＭＳ Ｐゴシック" charset="0"/>
              </a:rPr>
              <a:t>Canon Angle Finder C 2882A002 Film Camera Angle Finders Right Angle Finder C (Includes ED-C &amp; ED-D Adapters for All SLR Cameras) Film Camera Angle Finders &amp; Magnifiers The Angle Finder C lets you adjust  ...</a:t>
            </a:r>
          </a:p>
          <a:p>
            <a:pPr lvl="2" defTabSz="411476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Courier New" charset="0"/>
              <a:buChar char="o"/>
            </a:pPr>
            <a:r>
              <a:rPr lang="en-US" sz="1700">
                <a:solidFill>
                  <a:srgbClr val="333333"/>
                </a:solidFill>
                <a:latin typeface="Arial" charset="0"/>
                <a:cs typeface="ＭＳ Ｐゴシック" charset="0"/>
              </a:rPr>
              <a:t> CANON 2882A002 ANGLE FINDER C FOR EOS REBEL® SERIES PROVIDES A FULL SCREEN IMAGE SHOWS EXPOSURE DATA BUILT-IN DIOPTRIC ADJUSTMENT COMPATIBLE WITH THE CANON® REBEL, EOS &amp; REBEL EOS SERIES.</a:t>
            </a: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617316" y="1921270"/>
            <a:ext cx="8230886" cy="822789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77" tIns="41138" rIns="82277" bIns="41138" anchor="ctr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617316" y="2744058"/>
            <a:ext cx="8230886" cy="822789"/>
          </a:xfrm>
          <a:prstGeom prst="rect">
            <a:avLst/>
          </a:prstGeom>
          <a:noFill/>
          <a:ln w="3672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77" tIns="41138" rIns="82277" bIns="41138" anchor="ctr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617316" y="4161082"/>
            <a:ext cx="8025114" cy="708512"/>
          </a:xfrm>
          <a:prstGeom prst="rect">
            <a:avLst/>
          </a:prstGeom>
          <a:noFill/>
          <a:ln w="3672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77" tIns="41138" rIns="82277" bIns="41138" anchor="ctr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617316" y="4869594"/>
            <a:ext cx="8025114" cy="1028486"/>
          </a:xfrm>
          <a:prstGeom prst="rect">
            <a:avLst/>
          </a:prstGeom>
          <a:noFill/>
          <a:ln w="36720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2277" tIns="41138" rIns="82277" bIns="41138" anchor="ctr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4571286" y="1715573"/>
            <a:ext cx="411544" cy="685657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4571286" y="2401230"/>
            <a:ext cx="411544" cy="685657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6286054" y="2538360"/>
            <a:ext cx="617316" cy="685657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6217463" y="1784137"/>
            <a:ext cx="617316" cy="685657"/>
          </a:xfrm>
          <a:prstGeom prst="ellipse">
            <a:avLst/>
          </a:prstGeom>
          <a:noFill/>
          <a:ln w="25400">
            <a:solidFill>
              <a:srgbClr val="C0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1690476" y="3978240"/>
            <a:ext cx="1508996" cy="479960"/>
          </a:xfrm>
          <a:prstGeom prst="ellipse">
            <a:avLst/>
          </a:prstGeom>
          <a:noFill/>
          <a:ln w="25400">
            <a:solidFill>
              <a:srgbClr val="00B05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3199473" y="3978240"/>
            <a:ext cx="1097451" cy="479960"/>
          </a:xfrm>
          <a:prstGeom prst="ellipse">
            <a:avLst/>
          </a:prstGeom>
          <a:noFill/>
          <a:ln w="25400">
            <a:solidFill>
              <a:srgbClr val="00B05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Oval 16"/>
          <p:cNvSpPr>
            <a:spLocks noChangeArrowheads="1"/>
          </p:cNvSpPr>
          <p:nvPr/>
        </p:nvSpPr>
        <p:spPr bwMode="auto">
          <a:xfrm>
            <a:off x="2925110" y="4732463"/>
            <a:ext cx="1851949" cy="479960"/>
          </a:xfrm>
          <a:prstGeom prst="ellipse">
            <a:avLst/>
          </a:prstGeom>
          <a:noFill/>
          <a:ln w="25400">
            <a:solidFill>
              <a:srgbClr val="00B05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Oval 17"/>
          <p:cNvSpPr>
            <a:spLocks noChangeArrowheads="1"/>
          </p:cNvSpPr>
          <p:nvPr/>
        </p:nvSpPr>
        <p:spPr bwMode="auto">
          <a:xfrm>
            <a:off x="1827657" y="4732463"/>
            <a:ext cx="1097451" cy="479960"/>
          </a:xfrm>
          <a:prstGeom prst="ellipse">
            <a:avLst/>
          </a:prstGeom>
          <a:noFill/>
          <a:ln w="25400">
            <a:solidFill>
              <a:srgbClr val="00B05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277" tIns="41138" rIns="82277" bIns="41138"/>
          <a:lstStyle/>
          <a:p>
            <a:pPr defTabSz="411476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US" sz="2200">
              <a:solidFill>
                <a:srgbClr val="FFFFFF"/>
              </a:solidFill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5355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0EE7-F909-E58C-489D-58889BA28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15B23F-D3A2-179D-BBBD-45D155053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1450" y="274638"/>
            <a:ext cx="9315450" cy="906462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 Scaling Laws = </a:t>
            </a:r>
            <a:r>
              <a:rPr lang="en-US" u="sng" dirty="0"/>
              <a:t>Data</a:t>
            </a:r>
            <a:r>
              <a:rPr lang="en-US" dirty="0"/>
              <a:t> Scaling Laws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9FD933-AA37-48C9-CD3D-FCA6F0322A90}"/>
              </a:ext>
            </a:extLst>
          </p:cNvPr>
          <p:cNvGrpSpPr/>
          <p:nvPr/>
        </p:nvGrpSpPr>
        <p:grpSpPr>
          <a:xfrm>
            <a:off x="4036984" y="4106064"/>
            <a:ext cx="4535516" cy="2761180"/>
            <a:chOff x="4036984" y="4106064"/>
            <a:chExt cx="4535516" cy="2761180"/>
          </a:xfrm>
        </p:grpSpPr>
        <p:pic>
          <p:nvPicPr>
            <p:cNvPr id="11" name="Picture 10" descr="A table with numbers and symbols&#10;&#10;Description automatically generated">
              <a:extLst>
                <a:ext uri="{FF2B5EF4-FFF2-40B4-BE49-F238E27FC236}">
                  <a16:creationId xmlns:a16="http://schemas.microsoft.com/office/drawing/2014/main" id="{58E12958-7196-2BA7-9A91-CC3A5730F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36984" y="4106064"/>
              <a:ext cx="4535516" cy="257651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D24F30-DBFD-5F7A-6D75-09FE05551E11}"/>
                </a:ext>
              </a:extLst>
            </p:cNvPr>
            <p:cNvSpPr txBox="1"/>
            <p:nvPr/>
          </p:nvSpPr>
          <p:spPr>
            <a:xfrm>
              <a:off x="5121304" y="6497912"/>
              <a:ext cx="31082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Llama 1 (2023) training mixture</a:t>
              </a:r>
            </a:p>
          </p:txBody>
        </p:sp>
      </p:grp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75A4003E-E1BF-1334-4E96-8060C9332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81100"/>
            <a:ext cx="4243388" cy="298130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13DA31B4-C424-A7E8-7F43-918CB3B80989}"/>
              </a:ext>
            </a:extLst>
          </p:cNvPr>
          <p:cNvSpPr/>
          <p:nvPr/>
        </p:nvSpPr>
        <p:spPr>
          <a:xfrm>
            <a:off x="3108297" y="5136740"/>
            <a:ext cx="928687" cy="28575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625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BAB9-2FB1-6F23-F8C8-D57570D8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A0140-E0A9-BF9A-2ABA-C7A65D7C8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Small-vocabulary word count: high level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29DEC-74A9-8BCF-7158-A608840E6A1B}"/>
              </a:ext>
            </a:extLst>
          </p:cNvPr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A3D6051E-7F36-33D3-F8BD-D3EB824305FD}"/>
              </a:ext>
            </a:extLst>
          </p:cNvPr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EB5094-5864-2939-577B-0EA4DDED3A91}"/>
              </a:ext>
            </a:extLst>
          </p:cNvPr>
          <p:cNvSpPr/>
          <p:nvPr/>
        </p:nvSpPr>
        <p:spPr>
          <a:xfrm>
            <a:off x="457200" y="3829050"/>
            <a:ext cx="1885950" cy="7810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200770-6CA2-A7A9-B45E-DEA54C8FBC90}"/>
              </a:ext>
            </a:extLst>
          </p:cNvPr>
          <p:cNvCxnSpPr>
            <a:cxnSpLocks/>
          </p:cNvCxnSpPr>
          <p:nvPr/>
        </p:nvCxnSpPr>
        <p:spPr>
          <a:xfrm>
            <a:off x="2609850" y="4210050"/>
            <a:ext cx="19621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B747A9A-A148-26D3-5D77-029664A331FD}"/>
              </a:ext>
            </a:extLst>
          </p:cNvPr>
          <p:cNvSpPr txBox="1"/>
          <p:nvPr/>
        </p:nvSpPr>
        <p:spPr>
          <a:xfrm>
            <a:off x="2673350" y="3036433"/>
            <a:ext cx="1701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“ctr[w1] +=1”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E7B955-4386-D4F5-7064-D3C0D437BEB1}"/>
              </a:ext>
            </a:extLst>
          </p:cNvPr>
          <p:cNvSpPr/>
          <p:nvPr/>
        </p:nvSpPr>
        <p:spPr>
          <a:xfrm>
            <a:off x="21907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C43702-679D-7392-C8C4-A13B1266CF2F}"/>
              </a:ext>
            </a:extLst>
          </p:cNvPr>
          <p:cNvSpPr txBox="1"/>
          <p:nvPr/>
        </p:nvSpPr>
        <p:spPr>
          <a:xfrm>
            <a:off x="384221" y="5526385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thru docs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437F46-1308-21E0-4387-B4F35656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5CADF-7B3C-0E57-500D-8D2BD779B75E}"/>
              </a:ext>
            </a:extLst>
          </p:cNvPr>
          <p:cNvSpPr txBox="1"/>
          <p:nvPr/>
        </p:nvSpPr>
        <p:spPr>
          <a:xfrm>
            <a:off x="2870200" y="3338512"/>
            <a:ext cx="16319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“ctr[w2] +=1”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A734D52-7294-74E5-C595-1B868CDB4379}"/>
              </a:ext>
            </a:extLst>
          </p:cNvPr>
          <p:cNvSpPr/>
          <p:nvPr/>
        </p:nvSpPr>
        <p:spPr>
          <a:xfrm>
            <a:off x="4732565" y="3763733"/>
            <a:ext cx="1885950" cy="1067871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 Data Structure</a:t>
            </a:r>
          </a:p>
          <a:p>
            <a:pPr algn="ctr"/>
            <a:r>
              <a:rPr lang="en-US" dirty="0"/>
              <a:t>(in memory)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E6F30F-1DF9-7013-C069-D0C7D7D14CD0}"/>
              </a:ext>
            </a:extLst>
          </p:cNvPr>
          <p:cNvSpPr txBox="1"/>
          <p:nvPr/>
        </p:nvSpPr>
        <p:spPr>
          <a:xfrm>
            <a:off x="2903768" y="4527591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“Messages”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2B77FE-940D-8ADE-097D-736C998B9FD2}"/>
              </a:ext>
            </a:extLst>
          </p:cNvPr>
          <p:cNvSpPr txBox="1"/>
          <p:nvPr/>
        </p:nvSpPr>
        <p:spPr>
          <a:xfrm>
            <a:off x="3108752" y="36560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3E3715-B094-8EDD-D737-7B12D5077F3D}"/>
              </a:ext>
            </a:extLst>
          </p:cNvPr>
          <p:cNvSpPr txBox="1"/>
          <p:nvPr/>
        </p:nvSpPr>
        <p:spPr>
          <a:xfrm>
            <a:off x="3316501" y="5109531"/>
            <a:ext cx="3574156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Aside: we’re moving to a parallel setting where “messages” makes more sense.</a:t>
            </a:r>
          </a:p>
        </p:txBody>
      </p:sp>
    </p:spTree>
    <p:extLst>
      <p:ext uri="{BB962C8B-B14F-4D97-AF65-F5344CB8AC3E}">
        <p14:creationId xmlns:p14="http://schemas.microsoft.com/office/powerpoint/2010/main" val="103364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B47D-943A-D9C7-EDBF-3915B880A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0B7E1-1F64-96CA-623D-0AC1139E9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Small-vocabulary word count: high level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88372-F829-0023-2FD9-326C51B41526}"/>
              </a:ext>
            </a:extLst>
          </p:cNvPr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491FF807-B1AE-DAD8-65EC-0DDCE7A8D05C}"/>
              </a:ext>
            </a:extLst>
          </p:cNvPr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08CF0F4-DFE0-97A8-AE2A-B6E5A16CB510}"/>
              </a:ext>
            </a:extLst>
          </p:cNvPr>
          <p:cNvSpPr/>
          <p:nvPr/>
        </p:nvSpPr>
        <p:spPr>
          <a:xfrm>
            <a:off x="457200" y="3829050"/>
            <a:ext cx="1885950" cy="7810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CBB716-D5A4-E08F-804B-A4F2CCF8D748}"/>
              </a:ext>
            </a:extLst>
          </p:cNvPr>
          <p:cNvCxnSpPr>
            <a:cxnSpLocks/>
          </p:cNvCxnSpPr>
          <p:nvPr/>
        </p:nvCxnSpPr>
        <p:spPr>
          <a:xfrm>
            <a:off x="2609850" y="4210050"/>
            <a:ext cx="19621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F2C5F4-4CFD-5BC1-2438-8C093C2847FE}"/>
              </a:ext>
            </a:extLst>
          </p:cNvPr>
          <p:cNvSpPr txBox="1"/>
          <p:nvPr/>
        </p:nvSpPr>
        <p:spPr>
          <a:xfrm>
            <a:off x="2673350" y="3036433"/>
            <a:ext cx="1701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“ctr[w1] +=1”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907FBD-4EE8-D79F-FA3B-097844BB3E79}"/>
              </a:ext>
            </a:extLst>
          </p:cNvPr>
          <p:cNvSpPr/>
          <p:nvPr/>
        </p:nvSpPr>
        <p:spPr>
          <a:xfrm>
            <a:off x="21907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B21029-5C9C-3EA8-D45A-D895BA753773}"/>
              </a:ext>
            </a:extLst>
          </p:cNvPr>
          <p:cNvSpPr txBox="1"/>
          <p:nvPr/>
        </p:nvSpPr>
        <p:spPr>
          <a:xfrm>
            <a:off x="384221" y="5526385"/>
            <a:ext cx="1927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 thru docs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FE05C8-1973-387F-DD7D-EF886DB9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FB1D5-A28E-7548-148B-1CFC0A346C42}"/>
              </a:ext>
            </a:extLst>
          </p:cNvPr>
          <p:cNvSpPr txBox="1"/>
          <p:nvPr/>
        </p:nvSpPr>
        <p:spPr>
          <a:xfrm>
            <a:off x="2870200" y="3338512"/>
            <a:ext cx="16319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“ctr[w2] +=1”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656181-37CC-F2E8-94FE-F78F4E44E4ED}"/>
              </a:ext>
            </a:extLst>
          </p:cNvPr>
          <p:cNvSpPr/>
          <p:nvPr/>
        </p:nvSpPr>
        <p:spPr>
          <a:xfrm>
            <a:off x="4732565" y="3763733"/>
            <a:ext cx="1885950" cy="1067871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 Data Structure</a:t>
            </a:r>
          </a:p>
          <a:p>
            <a:pPr algn="ctr"/>
            <a:r>
              <a:rPr lang="en-US" dirty="0"/>
              <a:t>(on disk)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E1682-9358-02D8-9B32-118A2C1D9A26}"/>
              </a:ext>
            </a:extLst>
          </p:cNvPr>
          <p:cNvSpPr txBox="1"/>
          <p:nvPr/>
        </p:nvSpPr>
        <p:spPr>
          <a:xfrm>
            <a:off x="2903768" y="4527591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“Messages”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C5A70-534C-B7BE-229A-CD11CEE87901}"/>
              </a:ext>
            </a:extLst>
          </p:cNvPr>
          <p:cNvSpPr txBox="1"/>
          <p:nvPr/>
        </p:nvSpPr>
        <p:spPr>
          <a:xfrm>
            <a:off x="3108752" y="36560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D254A7-3250-AA1B-C217-8087FD92ECCF}"/>
              </a:ext>
            </a:extLst>
          </p:cNvPr>
          <p:cNvSpPr txBox="1"/>
          <p:nvPr/>
        </p:nvSpPr>
        <p:spPr>
          <a:xfrm>
            <a:off x="4593771" y="5065902"/>
            <a:ext cx="2672443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Disk seeks will make this </a:t>
            </a:r>
            <a:r>
              <a:rPr lang="en-US" i="1" dirty="0"/>
              <a:t>very</a:t>
            </a:r>
            <a:r>
              <a:rPr lang="en-US" dirty="0"/>
              <a:t> slow!!</a:t>
            </a:r>
          </a:p>
        </p:txBody>
      </p:sp>
    </p:spTree>
    <p:extLst>
      <p:ext uri="{BB962C8B-B14F-4D97-AF65-F5344CB8AC3E}">
        <p14:creationId xmlns:p14="http://schemas.microsoft.com/office/powerpoint/2010/main" val="368212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7FEC-8CFD-FE4D-A0C3-C17F40D8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164AC-CFBE-9DA7-FE93-718ADED2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Large-vocabulary word count: distributed counters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A979F-DC69-85A3-9755-1E5087B2A337}"/>
              </a:ext>
            </a:extLst>
          </p:cNvPr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11245E3B-89A1-8202-051C-473863A00B36}"/>
              </a:ext>
            </a:extLst>
          </p:cNvPr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4A51FD-C597-E1B6-6F2E-A33360D85812}"/>
              </a:ext>
            </a:extLst>
          </p:cNvPr>
          <p:cNvSpPr/>
          <p:nvPr/>
        </p:nvSpPr>
        <p:spPr>
          <a:xfrm>
            <a:off x="457200" y="3829050"/>
            <a:ext cx="1885950" cy="7810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AAC745-5A57-78DE-82B7-EF671E806E12}"/>
              </a:ext>
            </a:extLst>
          </p:cNvPr>
          <p:cNvCxnSpPr>
            <a:cxnSpLocks/>
          </p:cNvCxnSpPr>
          <p:nvPr/>
        </p:nvCxnSpPr>
        <p:spPr>
          <a:xfrm>
            <a:off x="2609850" y="4210050"/>
            <a:ext cx="19621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1A6A57-3397-E009-CCC8-32740E3E5A6E}"/>
              </a:ext>
            </a:extLst>
          </p:cNvPr>
          <p:cNvSpPr txBox="1"/>
          <p:nvPr/>
        </p:nvSpPr>
        <p:spPr>
          <a:xfrm>
            <a:off x="2673350" y="3036433"/>
            <a:ext cx="1701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“ctr[w1] +=1”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D61E68-4004-0813-5E1B-223D04A9BC18}"/>
              </a:ext>
            </a:extLst>
          </p:cNvPr>
          <p:cNvSpPr/>
          <p:nvPr/>
        </p:nvSpPr>
        <p:spPr>
          <a:xfrm>
            <a:off x="21907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7A999D-9E9F-A5B7-F061-547C90CEB708}"/>
              </a:ext>
            </a:extLst>
          </p:cNvPr>
          <p:cNvSpPr txBox="1"/>
          <p:nvPr/>
        </p:nvSpPr>
        <p:spPr>
          <a:xfrm>
            <a:off x="285708" y="5552896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Streaming machine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F81126-B2EF-35BB-FA2C-FA86457C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BE96A-EBCC-65D8-4159-34FC72E0A274}"/>
              </a:ext>
            </a:extLst>
          </p:cNvPr>
          <p:cNvSpPr txBox="1"/>
          <p:nvPr/>
        </p:nvSpPr>
        <p:spPr>
          <a:xfrm>
            <a:off x="2870200" y="3338512"/>
            <a:ext cx="16319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“ctr[w2] +=1”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6021F9-B272-D0A6-656D-99082DC8BD93}"/>
              </a:ext>
            </a:extLst>
          </p:cNvPr>
          <p:cNvSpPr/>
          <p:nvPr/>
        </p:nvSpPr>
        <p:spPr>
          <a:xfrm>
            <a:off x="6583137" y="1752153"/>
            <a:ext cx="1885950" cy="1067871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 Data Structure 1</a:t>
            </a:r>
          </a:p>
          <a:p>
            <a:pPr algn="ctr"/>
            <a:r>
              <a:rPr lang="en-US" dirty="0"/>
              <a:t>(in memory 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48F129-F77D-1739-F20A-26C380606CC4}"/>
              </a:ext>
            </a:extLst>
          </p:cNvPr>
          <p:cNvSpPr txBox="1"/>
          <p:nvPr/>
        </p:nvSpPr>
        <p:spPr>
          <a:xfrm>
            <a:off x="2903768" y="4527591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“Messages”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E661ED-996E-7B50-EA8D-F082925389EA}"/>
              </a:ext>
            </a:extLst>
          </p:cNvPr>
          <p:cNvSpPr txBox="1"/>
          <p:nvPr/>
        </p:nvSpPr>
        <p:spPr>
          <a:xfrm>
            <a:off x="3108752" y="36560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A244FA-BA56-C2A2-43AA-431762DB6820}"/>
              </a:ext>
            </a:extLst>
          </p:cNvPr>
          <p:cNvSpPr/>
          <p:nvPr/>
        </p:nvSpPr>
        <p:spPr>
          <a:xfrm>
            <a:off x="6583137" y="4526910"/>
            <a:ext cx="1885950" cy="1067871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Counter Data Structure P</a:t>
            </a:r>
          </a:p>
          <a:p>
            <a:pPr algn="ctr"/>
            <a:r>
              <a:rPr lang="en-US" dirty="0"/>
              <a:t>(in memory P)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A69D82-A534-8012-A47B-5D867AD9FDEA}"/>
              </a:ext>
            </a:extLst>
          </p:cNvPr>
          <p:cNvSpPr/>
          <p:nvPr/>
        </p:nvSpPr>
        <p:spPr>
          <a:xfrm>
            <a:off x="6397399" y="1348025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F08ED0E-B07B-4FF3-72F1-0324A0FFFEE5}"/>
              </a:ext>
            </a:extLst>
          </p:cNvPr>
          <p:cNvSpPr/>
          <p:nvPr/>
        </p:nvSpPr>
        <p:spPr>
          <a:xfrm rot="16200000">
            <a:off x="3067120" y="3838059"/>
            <a:ext cx="3479800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Message Router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AFD474-CB43-67F0-F098-503C4471571A}"/>
              </a:ext>
            </a:extLst>
          </p:cNvPr>
          <p:cNvCxnSpPr>
            <a:cxnSpLocks/>
          </p:cNvCxnSpPr>
          <p:nvPr/>
        </p:nvCxnSpPr>
        <p:spPr>
          <a:xfrm flipV="1">
            <a:off x="5144086" y="2449286"/>
            <a:ext cx="1253313" cy="5796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CBB538-9572-7E26-EB3E-80E9936F1775}"/>
              </a:ext>
            </a:extLst>
          </p:cNvPr>
          <p:cNvCxnSpPr>
            <a:cxnSpLocks/>
          </p:cNvCxnSpPr>
          <p:nvPr/>
        </p:nvCxnSpPr>
        <p:spPr>
          <a:xfrm>
            <a:off x="5111890" y="5060845"/>
            <a:ext cx="1338985" cy="1479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701FDCA-E76D-37B0-33B1-BDE520002EFF}"/>
              </a:ext>
            </a:extLst>
          </p:cNvPr>
          <p:cNvCxnSpPr>
            <a:cxnSpLocks/>
          </p:cNvCxnSpPr>
          <p:nvPr/>
        </p:nvCxnSpPr>
        <p:spPr>
          <a:xfrm flipV="1">
            <a:off x="5118647" y="3429000"/>
            <a:ext cx="1411882" cy="1690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ECBAD8B-454F-1064-559F-8286312498E5}"/>
              </a:ext>
            </a:extLst>
          </p:cNvPr>
          <p:cNvSpPr txBox="1"/>
          <p:nvPr/>
        </p:nvSpPr>
        <p:spPr>
          <a:xfrm>
            <a:off x="7366143" y="320507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C36E97-9C6C-35E3-E0B4-4100AF8D13B6}"/>
              </a:ext>
            </a:extLst>
          </p:cNvPr>
          <p:cNvSpPr txBox="1"/>
          <p:nvPr/>
        </p:nvSpPr>
        <p:spPr>
          <a:xfrm>
            <a:off x="6659453" y="5737562"/>
            <a:ext cx="1824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Machines 1,…,P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8615AE-8BA2-98D3-7FC3-9CB8F5925566}"/>
              </a:ext>
            </a:extLst>
          </p:cNvPr>
          <p:cNvSpPr txBox="1"/>
          <p:nvPr/>
        </p:nvSpPr>
        <p:spPr>
          <a:xfrm>
            <a:off x="3713142" y="5932140"/>
            <a:ext cx="2672443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Workable but expensive</a:t>
            </a:r>
          </a:p>
        </p:txBody>
      </p:sp>
    </p:spTree>
    <p:extLst>
      <p:ext uri="{BB962C8B-B14F-4D97-AF65-F5344CB8AC3E}">
        <p14:creationId xmlns:p14="http://schemas.microsoft.com/office/powerpoint/2010/main" val="108491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5A177-C5E1-9D40-141D-650A644F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4D984-EB11-9C3F-6889-5E21032D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Large-vocabulary word count with sorting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908AA-0331-9F26-5788-6632DEFBC9BD}"/>
              </a:ext>
            </a:extLst>
          </p:cNvPr>
          <p:cNvSpPr txBox="1"/>
          <p:nvPr/>
        </p:nvSpPr>
        <p:spPr>
          <a:xfrm>
            <a:off x="457200" y="1685925"/>
            <a:ext cx="17145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doc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5C6895DF-6D9D-3F04-6CD1-AD013818669B}"/>
              </a:ext>
            </a:extLst>
          </p:cNvPr>
          <p:cNvSpPr/>
          <p:nvPr/>
        </p:nvSpPr>
        <p:spPr>
          <a:xfrm>
            <a:off x="1190625" y="302895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ED44DE-1A18-455C-3DE5-B0013F77AAC5}"/>
              </a:ext>
            </a:extLst>
          </p:cNvPr>
          <p:cNvSpPr/>
          <p:nvPr/>
        </p:nvSpPr>
        <p:spPr>
          <a:xfrm>
            <a:off x="457200" y="3829050"/>
            <a:ext cx="1885950" cy="7810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B564CE-B1F4-A676-B9D9-E0F866F0AF23}"/>
              </a:ext>
            </a:extLst>
          </p:cNvPr>
          <p:cNvCxnSpPr>
            <a:cxnSpLocks/>
          </p:cNvCxnSpPr>
          <p:nvPr/>
        </p:nvCxnSpPr>
        <p:spPr>
          <a:xfrm>
            <a:off x="2609850" y="4210050"/>
            <a:ext cx="180975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1AFB371-86BE-52D1-3810-7722871DCBAF}"/>
              </a:ext>
            </a:extLst>
          </p:cNvPr>
          <p:cNvSpPr/>
          <p:nvPr/>
        </p:nvSpPr>
        <p:spPr>
          <a:xfrm>
            <a:off x="21907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C05D1B-B830-F12A-A276-4A565B317A42}"/>
              </a:ext>
            </a:extLst>
          </p:cNvPr>
          <p:cNvSpPr txBox="1"/>
          <p:nvPr/>
        </p:nvSpPr>
        <p:spPr>
          <a:xfrm>
            <a:off x="864309" y="5494377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1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9E0E6C5-CC48-25A1-9D57-CC634446FBA2}"/>
              </a:ext>
            </a:extLst>
          </p:cNvPr>
          <p:cNvSpPr/>
          <p:nvPr/>
        </p:nvSpPr>
        <p:spPr>
          <a:xfrm rot="16200000">
            <a:off x="2854844" y="3838059"/>
            <a:ext cx="3479800" cy="3502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0AA253-30FE-44C9-A4CD-7C9EB0DA5A9B}"/>
              </a:ext>
            </a:extLst>
          </p:cNvPr>
          <p:cNvSpPr txBox="1"/>
          <p:nvPr/>
        </p:nvSpPr>
        <p:spPr>
          <a:xfrm>
            <a:off x="6076950" y="1685925"/>
            <a:ext cx="171450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ctr[w1] += 1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ctr[w1] += 1	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27" name="Down Arrow 26">
            <a:extLst>
              <a:ext uri="{FF2B5EF4-FFF2-40B4-BE49-F238E27FC236}">
                <a16:creationId xmlns:a16="http://schemas.microsoft.com/office/drawing/2014/main" id="{BB46B980-8BC8-9B22-7A9E-9A5193E97E00}"/>
              </a:ext>
            </a:extLst>
          </p:cNvPr>
          <p:cNvSpPr/>
          <p:nvPr/>
        </p:nvSpPr>
        <p:spPr>
          <a:xfrm>
            <a:off x="6810375" y="2748260"/>
            <a:ext cx="342900" cy="61912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5377B8E-969E-D084-A905-73C12A7F4A82}"/>
              </a:ext>
            </a:extLst>
          </p:cNvPr>
          <p:cNvSpPr/>
          <p:nvPr/>
        </p:nvSpPr>
        <p:spPr>
          <a:xfrm>
            <a:off x="6076950" y="3397250"/>
            <a:ext cx="1885950" cy="121285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Logic to process messages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DDFF74-D629-4FC7-E721-EAD34BE6BF90}"/>
              </a:ext>
            </a:extLst>
          </p:cNvPr>
          <p:cNvSpPr/>
          <p:nvPr/>
        </p:nvSpPr>
        <p:spPr>
          <a:xfrm>
            <a:off x="5838825" y="1238250"/>
            <a:ext cx="2257425" cy="471963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27E0A7-2B6A-4793-733C-B9CFB6A6C462}"/>
              </a:ext>
            </a:extLst>
          </p:cNvPr>
          <p:cNvSpPr txBox="1"/>
          <p:nvPr/>
        </p:nvSpPr>
        <p:spPr>
          <a:xfrm>
            <a:off x="6577707" y="5526385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 2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A62986B-3B69-3392-86D7-FBDA14AB5CA6}"/>
              </a:ext>
            </a:extLst>
          </p:cNvPr>
          <p:cNvCxnSpPr/>
          <p:nvPr/>
        </p:nvCxnSpPr>
        <p:spPr>
          <a:xfrm flipV="1">
            <a:off x="4817507" y="2106612"/>
            <a:ext cx="970518" cy="9223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4FAE372-60FF-186B-97D9-5AD7E0A6ED3D}"/>
              </a:ext>
            </a:extLst>
          </p:cNvPr>
          <p:cNvSpPr txBox="1"/>
          <p:nvPr/>
        </p:nvSpPr>
        <p:spPr>
          <a:xfrm>
            <a:off x="4015409" y="5863709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Sorting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B6AEB-4FEA-F8A3-6CE1-12A3BEE4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742B5-638E-5EC0-3F50-9B16315E0BC8}"/>
              </a:ext>
            </a:extLst>
          </p:cNvPr>
          <p:cNvSpPr txBox="1"/>
          <p:nvPr/>
        </p:nvSpPr>
        <p:spPr>
          <a:xfrm>
            <a:off x="2493732" y="3036433"/>
            <a:ext cx="17018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“ctr[w1] +=1”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BA7C7-DED5-0E93-95B6-909D15AAE813}"/>
              </a:ext>
            </a:extLst>
          </p:cNvPr>
          <p:cNvSpPr txBox="1"/>
          <p:nvPr/>
        </p:nvSpPr>
        <p:spPr>
          <a:xfrm>
            <a:off x="2690582" y="3338512"/>
            <a:ext cx="163195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“ctr[w2] +=1”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36EDD-1768-5088-0B58-0557B8423746}"/>
              </a:ext>
            </a:extLst>
          </p:cNvPr>
          <p:cNvSpPr txBox="1"/>
          <p:nvPr/>
        </p:nvSpPr>
        <p:spPr>
          <a:xfrm>
            <a:off x="2929134" y="365605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DB2AB-09B1-A5E1-ACB7-FE6E6F9CF2AC}"/>
              </a:ext>
            </a:extLst>
          </p:cNvPr>
          <p:cNvSpPr txBox="1"/>
          <p:nvPr/>
        </p:nvSpPr>
        <p:spPr>
          <a:xfrm>
            <a:off x="5169542" y="4960828"/>
            <a:ext cx="3517257" cy="163121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It’s easy to process messages without a big memory – because all the messages for a single word have been put </a:t>
            </a:r>
            <a:r>
              <a:rPr lang="en-US" sz="2000" b="1" dirty="0"/>
              <a:t>together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257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17595" y="3981269"/>
            <a:ext cx="2103489" cy="2684309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/>
          <p:cNvCxnSpPr>
            <a:endCxn id="67" idx="1"/>
          </p:cNvCxnSpPr>
          <p:nvPr/>
        </p:nvCxnSpPr>
        <p:spPr>
          <a:xfrm>
            <a:off x="428202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4111910" y="5022452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72" idx="3"/>
          </p:cNvCxnSpPr>
          <p:nvPr/>
        </p:nvCxnSpPr>
        <p:spPr>
          <a:xfrm>
            <a:off x="3882824" y="1984963"/>
            <a:ext cx="1358994" cy="24077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6833" y="1537466"/>
            <a:ext cx="156785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07527" y="2435110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36833" y="2969876"/>
            <a:ext cx="1388489" cy="6097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922694" y="3286539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9075" y="1103869"/>
            <a:ext cx="2103489" cy="277400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7929" y="1166960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1</a:t>
            </a:r>
          </a:p>
        </p:txBody>
      </p:sp>
      <p:sp>
        <p:nvSpPr>
          <p:cNvPr id="29" name="Rounded Rectangle 28"/>
          <p:cNvSpPr/>
          <p:nvPr/>
        </p:nvSpPr>
        <p:spPr>
          <a:xfrm rot="16200000">
            <a:off x="1836139" y="3223051"/>
            <a:ext cx="1719836" cy="3203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887114" y="2154596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966260" y="2523294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957223" y="2848917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960739" y="3346630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66260" y="3478005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003753" y="3662621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120826" y="1900815"/>
            <a:ext cx="700341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tmp</a:t>
            </a:r>
            <a:r>
              <a:rPr lang="en-US" sz="1400" dirty="0"/>
              <a:t>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7580" y="2314977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tmp</a:t>
            </a:r>
            <a:r>
              <a:rPr lang="en-US" sz="1400" dirty="0"/>
              <a:t>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2279" y="2744758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tmp</a:t>
            </a:r>
            <a:r>
              <a:rPr lang="en-US" sz="1400" dirty="0"/>
              <a:t>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864" y="3223204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4111910" y="2229559"/>
            <a:ext cx="1818127" cy="6193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094868" y="3162535"/>
            <a:ext cx="1750462" cy="2192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35353" y="4124809"/>
            <a:ext cx="1567857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1106047" y="5022453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435353" y="5557219"/>
            <a:ext cx="1388489" cy="6097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1921214" y="5873882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1222" y="6334379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2</a:t>
            </a:r>
          </a:p>
        </p:txBody>
      </p:sp>
      <p:sp>
        <p:nvSpPr>
          <p:cNvPr id="55" name="Rounded Rectangle 54"/>
          <p:cNvSpPr/>
          <p:nvPr/>
        </p:nvSpPr>
        <p:spPr>
          <a:xfrm rot="16200000">
            <a:off x="1790567" y="5766302"/>
            <a:ext cx="1808020" cy="320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2885634" y="4741939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2964780" y="5110637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2955743" y="5436260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2959259" y="5933973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2964780" y="6065348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002273" y="6249964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285138" y="4495924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tmp</a:t>
            </a:r>
            <a:r>
              <a:rPr lang="en-US" sz="1400" dirty="0"/>
              <a:t>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46100" y="4902320"/>
            <a:ext cx="700342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tmp</a:t>
            </a:r>
            <a:r>
              <a:rPr lang="en-US" sz="1400" dirty="0"/>
              <a:t> 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00799" y="5332101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tmp</a:t>
            </a:r>
            <a:r>
              <a:rPr lang="en-US" sz="1400" dirty="0"/>
              <a:t>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01384" y="5810547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240" y="1576344"/>
            <a:ext cx="1714500" cy="6244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C[x1] += D1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C[x1] += D2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819665" y="2262793"/>
            <a:ext cx="342900" cy="48312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069172" y="2770184"/>
            <a:ext cx="1714500" cy="56773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combine counter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88115" y="1227011"/>
            <a:ext cx="2338032" cy="2859182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347140" y="3604822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Reducer 1</a:t>
            </a:r>
          </a:p>
        </p:txBody>
      </p:sp>
      <p:sp>
        <p:nvSpPr>
          <p:cNvPr id="54" name="Rounded Rectangle 53"/>
          <p:cNvSpPr/>
          <p:nvPr/>
        </p:nvSpPr>
        <p:spPr>
          <a:xfrm rot="16200000">
            <a:off x="4295153" y="2673775"/>
            <a:ext cx="2104093" cy="35028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Merge </a:t>
            </a:r>
            <a:r>
              <a:rPr lang="en-US" dirty="0" err="1"/>
              <a:t>Tmp</a:t>
            </a:r>
            <a:r>
              <a:rPr lang="en-US" dirty="0"/>
              <a:t> Files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7230" y="4427463"/>
            <a:ext cx="1714500" cy="8002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C[x2] += D1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C[x2] += D2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6930655" y="5134911"/>
            <a:ext cx="342900" cy="41229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6197230" y="5567097"/>
            <a:ext cx="1714500" cy="48450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combine counter updates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20226" y="4243130"/>
            <a:ext cx="2321749" cy="2326248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6339799" y="6196858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Reducer 2</a:t>
            </a: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 rot="16200000">
            <a:off x="4270997" y="5188417"/>
            <a:ext cx="1941642" cy="35028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 </a:t>
            </a:r>
            <a:r>
              <a:rPr lang="en-US" dirty="0" err="1"/>
              <a:t>Tmp</a:t>
            </a:r>
            <a:r>
              <a:rPr lang="en-US" dirty="0"/>
              <a:t> Files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02560" y="3877876"/>
            <a:ext cx="821458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tmp</a:t>
            </a:r>
            <a:r>
              <a:rPr lang="en-US" sz="1400" dirty="0"/>
              <a:t> 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Map-Reduce is Distributed Stream-and-Sort: </a:t>
            </a:r>
            <a:br>
              <a:rPr lang="en-US" sz="2400" dirty="0">
                <a:solidFill>
                  <a:schemeClr val="accent1"/>
                </a:solidFill>
                <a:sym typeface="Wingdings" pitchFamily="2" charset="2"/>
              </a:rPr>
            </a:br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Map, Shuffle-Sort, Reduce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407849" y="1181099"/>
            <a:ext cx="3304635" cy="5649373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2894662" y="1244115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Distributed Shuffle-Sort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985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4CC9-3523-018D-DF3B-1F35C2607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80F1754-0BE6-98F7-8445-5FF2D04CBEE0}"/>
              </a:ext>
            </a:extLst>
          </p:cNvPr>
          <p:cNvCxnSpPr>
            <a:endCxn id="67" idx="1"/>
          </p:cNvCxnSpPr>
          <p:nvPr/>
        </p:nvCxnSpPr>
        <p:spPr>
          <a:xfrm>
            <a:off x="427273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8CB32F-B6C6-3C76-2C9E-EABCA6D1C12D}"/>
              </a:ext>
            </a:extLst>
          </p:cNvPr>
          <p:cNvCxnSpPr/>
          <p:nvPr/>
        </p:nvCxnSpPr>
        <p:spPr>
          <a:xfrm>
            <a:off x="4102620" y="5022453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6BB26EE-CC89-6919-08F6-B861A2CB3E04}"/>
              </a:ext>
            </a:extLst>
          </p:cNvPr>
          <p:cNvCxnSpPr/>
          <p:nvPr/>
        </p:nvCxnSpPr>
        <p:spPr>
          <a:xfrm>
            <a:off x="3882824" y="1984963"/>
            <a:ext cx="2347499" cy="2407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245D1E-B118-2DC2-1A7F-EF46363CCDC2}"/>
              </a:ext>
            </a:extLst>
          </p:cNvPr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8A87EF8-9B20-A30A-4519-9FEB7C2BCD54}"/>
              </a:ext>
            </a:extLst>
          </p:cNvPr>
          <p:cNvCxnSpPr>
            <a:cxnSpLocks/>
          </p:cNvCxnSpPr>
          <p:nvPr/>
        </p:nvCxnSpPr>
        <p:spPr>
          <a:xfrm flipV="1">
            <a:off x="4225498" y="2229557"/>
            <a:ext cx="1704539" cy="5111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B7485E4-176F-164F-311E-48CD0766228B}"/>
              </a:ext>
            </a:extLst>
          </p:cNvPr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6767A05-A45F-45B3-A131-C7B1D2F0F592}"/>
              </a:ext>
            </a:extLst>
          </p:cNvPr>
          <p:cNvCxnSpPr>
            <a:cxnSpLocks/>
          </p:cNvCxnSpPr>
          <p:nvPr/>
        </p:nvCxnSpPr>
        <p:spPr>
          <a:xfrm flipV="1">
            <a:off x="4224018" y="3194375"/>
            <a:ext cx="1627585" cy="23927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D1E973D-D660-94C2-B6AB-F34F55EFD92E}"/>
              </a:ext>
            </a:extLst>
          </p:cNvPr>
          <p:cNvGrpSpPr/>
          <p:nvPr/>
        </p:nvGrpSpPr>
        <p:grpSpPr>
          <a:xfrm>
            <a:off x="4835407" y="1187082"/>
            <a:ext cx="3371833" cy="5425777"/>
            <a:chOff x="4835407" y="1187082"/>
            <a:chExt cx="3371833" cy="542577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13AD143-4012-9551-E23C-79D54FB2CA1C}"/>
                </a:ext>
              </a:extLst>
            </p:cNvPr>
            <p:cNvGrpSpPr/>
            <p:nvPr/>
          </p:nvGrpSpPr>
          <p:grpSpPr>
            <a:xfrm>
              <a:off x="4835407" y="1187082"/>
              <a:ext cx="3260843" cy="2899111"/>
              <a:chOff x="4835407" y="1187082"/>
              <a:chExt cx="3260843" cy="3715239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40C4F54-BA11-7054-D971-ED5829325412}"/>
                  </a:ext>
                </a:extLst>
              </p:cNvPr>
              <p:cNvSpPr txBox="1"/>
              <p:nvPr/>
            </p:nvSpPr>
            <p:spPr>
              <a:xfrm>
                <a:off x="6076950" y="1685925"/>
                <a:ext cx="1714500" cy="1025488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buFont typeface="Arial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sz="1400" dirty="0"/>
                  <a:t>ctr[x1] += d1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ctr[x1] += d2</a:t>
                </a:r>
              </a:p>
              <a:p>
                <a:pPr>
                  <a:buFont typeface="Arial" pitchFamily="34" charset="0"/>
                  <a:buChar char="•"/>
                </a:pPr>
                <a:r>
                  <a:rPr lang="en-US" sz="1400" dirty="0"/>
                  <a:t> ….</a:t>
                </a:r>
              </a:p>
            </p:txBody>
          </p:sp>
          <p:sp>
            <p:nvSpPr>
              <p:cNvPr id="27" name="Down Arrow 26">
                <a:extLst>
                  <a:ext uri="{FF2B5EF4-FFF2-40B4-BE49-F238E27FC236}">
                    <a16:creationId xmlns:a16="http://schemas.microsoft.com/office/drawing/2014/main" id="{4019336B-E818-90AE-4F00-FB8934D51C5A}"/>
                  </a:ext>
                </a:extLst>
              </p:cNvPr>
              <p:cNvSpPr/>
              <p:nvPr/>
            </p:nvSpPr>
            <p:spPr>
              <a:xfrm>
                <a:off x="6810375" y="2565616"/>
                <a:ext cx="342900" cy="619125"/>
              </a:xfrm>
              <a:prstGeom prst="down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DA46C609-8394-33D7-39F8-CFC7339D3516}"/>
                  </a:ext>
                </a:extLst>
              </p:cNvPr>
              <p:cNvSpPr/>
              <p:nvPr/>
            </p:nvSpPr>
            <p:spPr>
              <a:xfrm>
                <a:off x="6059882" y="3215843"/>
                <a:ext cx="1714500" cy="727559"/>
              </a:xfrm>
              <a:prstGeom prst="round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Logic to combine counter updates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6B72AD2-15E1-8BE1-4364-98CD141771B4}"/>
                  </a:ext>
                </a:extLst>
              </p:cNvPr>
              <p:cNvSpPr/>
              <p:nvPr/>
            </p:nvSpPr>
            <p:spPr>
              <a:xfrm>
                <a:off x="4835407" y="1238251"/>
                <a:ext cx="3260843" cy="3664070"/>
              </a:xfrm>
              <a:prstGeom prst="rect">
                <a:avLst/>
              </a:prstGeom>
              <a:noFill/>
              <a:ln>
                <a:prstDash val="dashDot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8324997-EA50-1A43-9B92-1674B11D2118}"/>
                  </a:ext>
                </a:extLst>
              </p:cNvPr>
              <p:cNvSpPr txBox="1"/>
              <p:nvPr/>
            </p:nvSpPr>
            <p:spPr>
              <a:xfrm>
                <a:off x="5513050" y="1187082"/>
                <a:ext cx="2148345" cy="4733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Reducer Machine 1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8AAECA4-D0F0-D719-4AFF-8ADB39F414FA}"/>
                </a:ext>
              </a:extLst>
            </p:cNvPr>
            <p:cNvSpPr txBox="1"/>
            <p:nvPr/>
          </p:nvSpPr>
          <p:spPr>
            <a:xfrm>
              <a:off x="6187940" y="4427463"/>
              <a:ext cx="1714500" cy="800219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>
                <a:buFont typeface="Arial" pitchFamily="34" charset="0"/>
                <a:buChar char="•"/>
              </a:pPr>
              <a:r>
                <a:rPr lang="en-US" dirty="0"/>
                <a:t> </a:t>
              </a:r>
              <a:r>
                <a:rPr lang="en-US" sz="1400" dirty="0"/>
                <a:t>ctr[x2] += d1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ctr[x2] += d2</a:t>
              </a:r>
            </a:p>
            <a:p>
              <a:pPr>
                <a:buFont typeface="Arial" pitchFamily="34" charset="0"/>
                <a:buChar char="•"/>
              </a:pPr>
              <a:r>
                <a:rPr lang="en-US" sz="1400" dirty="0"/>
                <a:t> ….</a:t>
              </a:r>
            </a:p>
          </p:txBody>
        </p:sp>
        <p:sp>
          <p:nvSpPr>
            <p:cNvPr id="68" name="Down Arrow 67">
              <a:extLst>
                <a:ext uri="{FF2B5EF4-FFF2-40B4-BE49-F238E27FC236}">
                  <a16:creationId xmlns:a16="http://schemas.microsoft.com/office/drawing/2014/main" id="{049F74F8-8004-20F7-1531-C7D44C8A6372}"/>
                </a:ext>
              </a:extLst>
            </p:cNvPr>
            <p:cNvSpPr/>
            <p:nvPr/>
          </p:nvSpPr>
          <p:spPr>
            <a:xfrm>
              <a:off x="6921365" y="5134911"/>
              <a:ext cx="342900" cy="412298"/>
            </a:xfrm>
            <a:prstGeom prst="down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6C452A37-7781-E37F-7EDB-F6997029DBA9}"/>
                </a:ext>
              </a:extLst>
            </p:cNvPr>
            <p:cNvSpPr/>
            <p:nvPr/>
          </p:nvSpPr>
          <p:spPr>
            <a:xfrm>
              <a:off x="6187940" y="5567097"/>
              <a:ext cx="1714500" cy="484508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combine counter updates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3A371A7-FA2A-C537-95AF-D9CFEA2ABD78}"/>
                </a:ext>
              </a:extLst>
            </p:cNvPr>
            <p:cNvSpPr/>
            <p:nvPr/>
          </p:nvSpPr>
          <p:spPr>
            <a:xfrm>
              <a:off x="4946397" y="4243130"/>
              <a:ext cx="3260843" cy="2326248"/>
            </a:xfrm>
            <a:prstGeom prst="rect">
              <a:avLst/>
            </a:prstGeom>
            <a:noFill/>
            <a:ln>
              <a:prstDash val="dashDot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840AFC4-CB77-0C3E-9AB9-B8D53D74DC8F}"/>
                </a:ext>
              </a:extLst>
            </p:cNvPr>
            <p:cNvSpPr txBox="1"/>
            <p:nvPr/>
          </p:nvSpPr>
          <p:spPr>
            <a:xfrm>
              <a:off x="5407670" y="6243527"/>
              <a:ext cx="21483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Reducer Machine 2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AE4664-D442-E22B-49A8-486916C8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1F8E1-E8EC-4ECE-3245-3944BFB8C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Partitioning Messages for Word Count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4F832-0929-3D6D-3B6B-A13CEB58E830}"/>
              </a:ext>
            </a:extLst>
          </p:cNvPr>
          <p:cNvSpPr txBox="1"/>
          <p:nvPr/>
        </p:nvSpPr>
        <p:spPr>
          <a:xfrm>
            <a:off x="401675" y="1511554"/>
            <a:ext cx="3503356" cy="452431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shuffle/sort phrase:</a:t>
            </a:r>
          </a:p>
          <a:p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key,value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pairs from each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mapper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partitioned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sorted by key, and sent to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reducers.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 need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all the messages for the same word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be sent the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same reducer</a:t>
            </a:r>
            <a:r>
              <a:rPr lang="en-US" b="1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Partitioning by a hash of the key (the word) often works.</a:t>
            </a:r>
          </a:p>
          <a:p>
            <a:pPr marL="285750" indent="-285750">
              <a:buFont typeface="Arial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reduce phase: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Each reducer will scan through the sorted key-value pairs</a:t>
            </a:r>
            <a:r>
              <a:rPr lang="en-US" dirty="0"/>
              <a:t>.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9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Palatino" charset="0"/>
              <a:ea typeface="ヒラギノ明朝 ProN W3" charset="0"/>
              <a:cs typeface="ヒラギノ明朝 ProN W3" charset="0"/>
            </a:endParaRP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Palatino" charset="0"/>
              <a:ea typeface="ヒラギノ明朝 ProN W3" charset="0"/>
              <a:cs typeface="ヒラギノ明朝 ProN W3" charset="0"/>
            </a:endParaRPr>
          </a:p>
        </p:txBody>
      </p:sp>
      <p:pic>
        <p:nvPicPr>
          <p:cNvPr id="20483" name="Picture 3" descr="Screen shot 2013-02-04 at 6.26.5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4" y="321469"/>
            <a:ext cx="8126016" cy="5956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3997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Content Placeholder 4" descr="Screen shot 2013-02-04 at 6.27.09 P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95" t="990" r="-259"/>
          <a:stretch>
            <a:fillRect/>
          </a:stretch>
        </p:blipFill>
        <p:spPr>
          <a:xfrm>
            <a:off x="714376" y="375047"/>
            <a:ext cx="8191872" cy="5893594"/>
          </a:xfrm>
        </p:spPr>
      </p:pic>
    </p:spTree>
    <p:extLst>
      <p:ext uri="{BB962C8B-B14F-4D97-AF65-F5344CB8AC3E}">
        <p14:creationId xmlns:p14="http://schemas.microsoft.com/office/powerpoint/2010/main" val="23849572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Palatino" charset="0"/>
              <a:ea typeface="ヒラギノ明朝 ProN W3" charset="0"/>
              <a:cs typeface="ヒラギノ明朝 ProN W3" charset="0"/>
            </a:endParaRPr>
          </a:p>
        </p:txBody>
      </p:sp>
      <p:pic>
        <p:nvPicPr>
          <p:cNvPr id="22530" name="Picture 3" descr="Screen shot 2013-02-04 at 6.27.2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6" y="0"/>
            <a:ext cx="8867180" cy="6840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1632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Palatino" charset="0"/>
              <a:ea typeface="ヒラギノ明朝 ProN W3" charset="0"/>
              <a:cs typeface="ヒラギノ明朝 ProN W3" charset="0"/>
            </a:endParaRPr>
          </a:p>
        </p:txBody>
      </p:sp>
      <p:pic>
        <p:nvPicPr>
          <p:cNvPr id="23554" name="Picture 4" descr="Screen shot 2013-02-04 at 6.27.2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2207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7974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Map-Reduce</a:t>
            </a:r>
            <a:br>
              <a:rPr lang="en-US" dirty="0"/>
            </a:br>
            <a:r>
              <a:rPr lang="en-US" dirty="0"/>
              <a:t>FRAMEWORKS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09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D56EE-DCD4-8D2B-ADCF-EAB3E1F3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80492-E4EF-BFF6-9D75-8354CE4F6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Google’s Map-Reduce Framework</a:t>
            </a:r>
          </a:p>
          <a:p>
            <a:pPr lvl="1"/>
            <a:r>
              <a:rPr lang="en-US" dirty="0"/>
              <a:t>Published in 2008</a:t>
            </a:r>
          </a:p>
          <a:p>
            <a:r>
              <a:rPr lang="en-US" dirty="0"/>
              <a:t>Hadoop: Open source Java version</a:t>
            </a:r>
          </a:p>
          <a:p>
            <a:r>
              <a:rPr lang="en-US" dirty="0"/>
              <a:t>Apache Flume,  Apache Beam</a:t>
            </a:r>
          </a:p>
          <a:p>
            <a:r>
              <a:rPr lang="en-US" dirty="0"/>
              <a:t>FLINK</a:t>
            </a:r>
          </a:p>
          <a:p>
            <a:r>
              <a:rPr lang="en-US" dirty="0"/>
              <a:t>Spark</a:t>
            </a:r>
          </a:p>
          <a:p>
            <a:r>
              <a:rPr lang="en-US" dirty="0"/>
              <a:t>…</a:t>
            </a:r>
          </a:p>
          <a:p>
            <a:r>
              <a:rPr lang="en-US" dirty="0">
                <a:hlinkClick r:id="rId2"/>
              </a:rPr>
              <a:t>MRS</a:t>
            </a:r>
            <a:endParaRPr lang="en-US" dirty="0"/>
          </a:p>
          <a:p>
            <a:r>
              <a:rPr lang="en-US" dirty="0">
                <a:hlinkClick r:id="rId3"/>
              </a:rPr>
              <a:t>BashReduce</a:t>
            </a:r>
            <a:r>
              <a:rPr lang="en-US" dirty="0"/>
              <a:t> – 52 line implementation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1D166-5FA2-4884-B3A7-BBEF7E83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63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2E64B-BD77-0DA3-4BC3-5AE689DC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372A-4BA9-500D-58CD-C871F4D4C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5E60-7F3E-44E5-B194-63EEE6D7D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really needed in practice?</a:t>
            </a:r>
          </a:p>
          <a:p>
            <a:r>
              <a:rPr lang="en-US" dirty="0"/>
              <a:t>Robustness</a:t>
            </a:r>
          </a:p>
          <a:p>
            <a:pPr lvl="1"/>
            <a:r>
              <a:rPr lang="en-US" dirty="0"/>
              <a:t>If you run a job on thousands of cheap machines, hardware failures happen!</a:t>
            </a:r>
          </a:p>
          <a:p>
            <a:pPr lvl="2"/>
            <a:r>
              <a:rPr lang="en-US" dirty="0"/>
              <a:t>“Dead” versus “Slow” is hard to detect</a:t>
            </a:r>
          </a:p>
          <a:p>
            <a:pPr lvl="1"/>
            <a:r>
              <a:rPr lang="en-US" dirty="0"/>
              <a:t>Main way to get robustness is redundancy</a:t>
            </a:r>
          </a:p>
          <a:p>
            <a:pPr lvl="2"/>
            <a:r>
              <a:rPr lang="en-US" dirty="0"/>
              <a:t>Multiple copies of the data</a:t>
            </a:r>
          </a:p>
          <a:p>
            <a:pPr lvl="2"/>
            <a:r>
              <a:rPr lang="en-US" dirty="0"/>
              <a:t>Backup runs for slow-finishing processes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07463-BB18-64E3-EC80-F02E1280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57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46FC-FAD6-B015-0694-DC45EAEA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07B1-B4D3-A53A-33C1-08CF7839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BEE21-7B37-2F76-C02A-376B6E671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else is really needed in practice?</a:t>
            </a:r>
          </a:p>
          <a:p>
            <a:r>
              <a:rPr lang="en-US" dirty="0"/>
              <a:t>Distributing the data</a:t>
            </a:r>
          </a:p>
          <a:p>
            <a:r>
              <a:rPr lang="en-US" dirty="0"/>
              <a:t>Managing and inspecting processes</a:t>
            </a:r>
          </a:p>
          <a:p>
            <a:r>
              <a:rPr lang="en-US" dirty="0"/>
              <a:t>Inspecting process logs and other debugging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7947-7785-0340-8B6E-5700F3FC3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73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F0C9-23E3-338A-62BA-FA0C3AD87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86B6-B86F-BDF8-90AD-1045E49E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EB6F-6100-8EA0-DF8F-378FB9982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300" dirty="0"/>
              <a:t>More comments on debugging:</a:t>
            </a:r>
          </a:p>
          <a:p>
            <a:r>
              <a:rPr lang="en-US" sz="2300" dirty="0"/>
              <a:t>Debug your code by running it locally first</a:t>
            </a:r>
          </a:p>
          <a:p>
            <a:r>
              <a:rPr lang="en-US" sz="2300" dirty="0"/>
              <a:t>Be careful about how information is </a:t>
            </a:r>
            <a:r>
              <a:rPr lang="en-US" sz="2300" i="1" dirty="0"/>
              <a:t>shared</a:t>
            </a:r>
          </a:p>
          <a:p>
            <a:pPr lvl="1"/>
            <a:r>
              <a:rPr lang="en-US" sz="2300" dirty="0"/>
              <a:t>In local processes information can be shared </a:t>
            </a:r>
            <a:r>
              <a:rPr lang="en-US" sz="2300" i="1" dirty="0"/>
              <a:t>many</a:t>
            </a:r>
            <a:r>
              <a:rPr lang="en-US" sz="2300" dirty="0"/>
              <a:t> ways</a:t>
            </a:r>
          </a:p>
          <a:p>
            <a:pPr lvl="1"/>
            <a:r>
              <a:rPr lang="en-US" sz="2300" dirty="0"/>
              <a:t>In distributed systems sharing is constrained so that it’s </a:t>
            </a:r>
            <a:r>
              <a:rPr lang="en-US" sz="2300" i="1" dirty="0"/>
              <a:t>efficient</a:t>
            </a:r>
          </a:p>
          <a:p>
            <a:pPr lvl="2"/>
            <a:r>
              <a:rPr lang="en-US" sz="2300" dirty="0"/>
              <a:t>Beside the “messages” there are usually ways to “broadcast” files to every worker</a:t>
            </a:r>
          </a:p>
          <a:p>
            <a:pPr lvl="3"/>
            <a:r>
              <a:rPr lang="en-US" sz="2300" dirty="0"/>
              <a:t>For example the code the workers run </a:t>
            </a:r>
            <a:r>
              <a:rPr lang="en-US" sz="2300" dirty="0">
                <a:sym typeface="Wingdings" pitchFamily="2" charset="2"/>
              </a:rPr>
              <a:t></a:t>
            </a:r>
          </a:p>
          <a:p>
            <a:pPr lvl="2"/>
            <a:r>
              <a:rPr lang="en-US" sz="2300" dirty="0">
                <a:sym typeface="Wingdings" pitchFamily="2" charset="2"/>
              </a:rPr>
              <a:t>But </a:t>
            </a:r>
            <a:r>
              <a:rPr lang="en-US" sz="2300" i="1" dirty="0">
                <a:sym typeface="Wingdings" pitchFamily="2" charset="2"/>
              </a:rPr>
              <a:t>often something works locally but not in the cluster</a:t>
            </a:r>
          </a:p>
          <a:p>
            <a:r>
              <a:rPr lang="en-US" sz="2300" dirty="0">
                <a:sym typeface="Wingdings" pitchFamily="2" charset="2"/>
              </a:rPr>
              <a:t>Be careful about weird corner cases in the </a:t>
            </a:r>
            <a:r>
              <a:rPr lang="en-US" sz="2300" i="1" dirty="0">
                <a:sym typeface="Wingdings" pitchFamily="2" charset="2"/>
              </a:rPr>
              <a:t>data</a:t>
            </a:r>
          </a:p>
          <a:p>
            <a:pPr lvl="1"/>
            <a:r>
              <a:rPr lang="en-US" sz="2300" dirty="0">
                <a:sym typeface="Wingdings" pitchFamily="2" charset="2"/>
              </a:rPr>
              <a:t>Like that one line in a million that crashes your code</a:t>
            </a:r>
          </a:p>
          <a:p>
            <a:pPr lvl="2"/>
            <a:r>
              <a:rPr lang="en-US" sz="2300" dirty="0">
                <a:sym typeface="Wingdings" pitchFamily="2" charset="2"/>
              </a:rPr>
              <a:t>Because when you run it on 10 million lines it </a:t>
            </a:r>
            <a:r>
              <a:rPr lang="en-US" sz="2300" i="1" dirty="0">
                <a:sym typeface="Wingdings" pitchFamily="2" charset="2"/>
              </a:rPr>
              <a:t>will</a:t>
            </a:r>
            <a:r>
              <a:rPr lang="en-US" sz="2300" dirty="0">
                <a:sym typeface="Wingdings" pitchFamily="2" charset="2"/>
              </a:rPr>
              <a:t> crash</a:t>
            </a:r>
          </a:p>
          <a:p>
            <a:pPr lvl="1"/>
            <a:endParaRPr lang="en-US" sz="1800" dirty="0">
              <a:sym typeface="Wingdings" pitchFamily="2" charset="2"/>
            </a:endParaRPr>
          </a:p>
          <a:p>
            <a:pPr lvl="1"/>
            <a:endParaRPr lang="en-US" i="1" dirty="0">
              <a:sym typeface="Wingdings" pitchFamily="2" charset="2"/>
            </a:endParaRPr>
          </a:p>
          <a:p>
            <a:pPr lvl="1"/>
            <a:endParaRPr lang="en-US" i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52D13-02A8-6BE9-BE25-B2B0555B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706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Abstractions For </a:t>
            </a:r>
            <a:br>
              <a:rPr lang="en-US" dirty="0"/>
            </a:br>
            <a:r>
              <a:rPr lang="en-US" dirty="0"/>
              <a:t>Map-Reduce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296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Abstractions On Top Of Map-Reduce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1" y="1257300"/>
            <a:ext cx="4418598" cy="5187950"/>
          </a:xfrm>
        </p:spPr>
        <p:txBody>
          <a:bodyPr>
            <a:normAutofit/>
          </a:bodyPr>
          <a:lstStyle/>
          <a:p>
            <a:r>
              <a:rPr lang="en-US" sz="2400" dirty="0"/>
              <a:t>Some obvious streaming processes: </a:t>
            </a:r>
          </a:p>
          <a:p>
            <a:pPr lvl="1"/>
            <a:r>
              <a:rPr lang="en-US" sz="2400" dirty="0"/>
              <a:t>for each row in a table</a:t>
            </a:r>
          </a:p>
          <a:p>
            <a:pPr lvl="2"/>
            <a:r>
              <a:rPr lang="en-US" sz="2400" dirty="0"/>
              <a:t>Transform it and output the result</a:t>
            </a:r>
          </a:p>
          <a:p>
            <a:pPr lvl="2"/>
            <a:endParaRPr lang="en-US" sz="2400" dirty="0"/>
          </a:p>
          <a:p>
            <a:pPr lvl="2"/>
            <a:r>
              <a:rPr lang="en-US" sz="2400" dirty="0"/>
              <a:t>Decide if you want to keep it with some </a:t>
            </a:r>
            <a:r>
              <a:rPr lang="en-US" sz="2400" dirty="0" err="1"/>
              <a:t>boolean</a:t>
            </a:r>
            <a:r>
              <a:rPr lang="en-US" sz="2400" dirty="0"/>
              <a:t> test, and copy out only the ones that pass the test</a:t>
            </a:r>
          </a:p>
          <a:p>
            <a:pPr marL="914400" lvl="2" indent="0">
              <a:buNone/>
            </a:pPr>
            <a:endParaRPr lang="en-US" sz="2400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46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4518667" y="1548018"/>
            <a:ext cx="4526266" cy="2349278"/>
            <a:chOff x="4518667" y="1548018"/>
            <a:chExt cx="4526266" cy="2349278"/>
          </a:xfrm>
        </p:grpSpPr>
        <p:sp>
          <p:nvSpPr>
            <p:cNvPr id="6" name="TextBox 5"/>
            <p:cNvSpPr txBox="1"/>
            <p:nvPr/>
          </p:nvSpPr>
          <p:spPr>
            <a:xfrm>
              <a:off x="4941601" y="1548018"/>
              <a:ext cx="3986499" cy="132343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ambria Math"/>
                  <a:cs typeface="Cambria Math"/>
                </a:rPr>
                <a:t>Example</a:t>
              </a:r>
              <a:r>
                <a:rPr lang="en-US" sz="2000" dirty="0">
                  <a:latin typeface="Cambria Math"/>
                  <a:cs typeface="Cambria Math"/>
                </a:rPr>
                <a:t>: stem words in a stream of word-count pairs:</a:t>
              </a:r>
            </a:p>
            <a:p>
              <a:endParaRPr lang="en-US" sz="2000" dirty="0">
                <a:latin typeface="Cambria Math"/>
                <a:cs typeface="Cambria Math"/>
              </a:endParaRPr>
            </a:p>
            <a:p>
              <a:r>
                <a:rPr lang="en-US" sz="2000" dirty="0">
                  <a:latin typeface="Cambria Math"/>
                  <a:cs typeface="Cambria Math"/>
                </a:rPr>
                <a:t>(“aardvarks”,1) </a:t>
              </a:r>
              <a:r>
                <a:rPr lang="en-US" sz="2000" dirty="0">
                  <a:latin typeface="Cambria Math"/>
                  <a:cs typeface="Cambria Math"/>
                  <a:sym typeface="Wingdings"/>
                </a:rPr>
                <a:t> (“aardvark”,1) </a:t>
              </a:r>
              <a:endParaRPr lang="en-US" sz="2000" dirty="0">
                <a:latin typeface="Cambria Math"/>
                <a:cs typeface="Cambria Math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18667" y="2973966"/>
              <a:ext cx="4526266" cy="92333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Book Antiqua"/>
                </a:rPr>
                <a:t>Proposed syntax: </a:t>
              </a:r>
            </a:p>
            <a:p>
              <a:endParaRPr lang="en-US" b="1" dirty="0">
                <a:solidFill>
                  <a:srgbClr val="000000"/>
                </a:solidFill>
                <a:latin typeface="Book Antiqua"/>
              </a:endParaRPr>
            </a:p>
            <a:p>
              <a:r>
                <a:rPr lang="en-US" i="1" dirty="0">
                  <a:solidFill>
                    <a:srgbClr val="000000"/>
                  </a:solidFill>
                  <a:latin typeface="Cambria Math"/>
                  <a:cs typeface="Cambria Math"/>
                </a:rPr>
                <a:t>table2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= MAP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cs typeface="Cambria Math"/>
                </a:rPr>
                <a:t>table1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 TO </a:t>
              </a:r>
              <a:r>
                <a:rPr lang="en-US" dirty="0" err="1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λ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row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 :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f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(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row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)) 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718303" y="2973966"/>
              <a:ext cx="1326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f(row)</a:t>
              </a:r>
              <a:r>
                <a:rPr lang="en-US" i="1" dirty="0">
                  <a:sym typeface="Wingdings"/>
                </a:rPr>
                <a:t>row’</a:t>
              </a:r>
              <a:endParaRPr lang="en-US" i="1" dirty="0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518667" y="4064398"/>
            <a:ext cx="4602864" cy="2380852"/>
            <a:chOff x="4518667" y="4064398"/>
            <a:chExt cx="4602864" cy="2380852"/>
          </a:xfrm>
        </p:grpSpPr>
        <p:sp>
          <p:nvSpPr>
            <p:cNvPr id="7" name="TextBox 6"/>
            <p:cNvSpPr txBox="1"/>
            <p:nvPr/>
          </p:nvSpPr>
          <p:spPr>
            <a:xfrm>
              <a:off x="4954301" y="4064398"/>
              <a:ext cx="3973799" cy="1323439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b="1" dirty="0">
                  <a:latin typeface="Cambria Math"/>
                  <a:cs typeface="Cambria Math"/>
                </a:rPr>
                <a:t>Example</a:t>
              </a:r>
              <a:r>
                <a:rPr lang="en-US" sz="2000" dirty="0">
                  <a:latin typeface="Cambria Math"/>
                  <a:cs typeface="Cambria Math"/>
                </a:rPr>
                <a:t>: apply stop words</a:t>
              </a:r>
            </a:p>
            <a:p>
              <a:endParaRPr lang="en-US" sz="2000" dirty="0">
                <a:latin typeface="Cambria Math"/>
                <a:cs typeface="Cambria Math"/>
              </a:endParaRPr>
            </a:p>
            <a:p>
              <a:r>
                <a:rPr lang="en-US" sz="2000" dirty="0">
                  <a:latin typeface="Cambria Math"/>
                  <a:cs typeface="Cambria Math"/>
                </a:rPr>
                <a:t>(“aardvark”,1) </a:t>
              </a:r>
              <a:r>
                <a:rPr lang="en-US" sz="2000" dirty="0">
                  <a:latin typeface="Cambria Math"/>
                  <a:cs typeface="Cambria Math"/>
                  <a:sym typeface="Wingdings"/>
                </a:rPr>
                <a:t>  (“aardvark”,1)</a:t>
              </a:r>
            </a:p>
            <a:p>
              <a:r>
                <a:rPr lang="en-US" sz="2000" dirty="0">
                  <a:latin typeface="Cambria Math"/>
                  <a:cs typeface="Cambria Math"/>
                  <a:sym typeface="Wingdings"/>
                </a:rPr>
                <a:t>(“the”,1)  </a:t>
              </a:r>
              <a:r>
                <a:rPr lang="en-US" sz="2000" i="1" dirty="0">
                  <a:latin typeface="Cambria Math"/>
                  <a:cs typeface="Cambria Math"/>
                  <a:sym typeface="Wingdings"/>
                </a:rPr>
                <a:t>deleted</a:t>
              </a:r>
              <a:endParaRPr lang="en-US" sz="2000" dirty="0">
                <a:latin typeface="Cambria Math"/>
                <a:cs typeface="Cambria Math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518667" y="5521920"/>
              <a:ext cx="4526266" cy="92333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Book Antiqua"/>
                </a:rPr>
                <a:t>Proposed syntax: </a:t>
              </a:r>
            </a:p>
            <a:p>
              <a:endParaRPr lang="en-US" b="1" dirty="0">
                <a:solidFill>
                  <a:srgbClr val="000000"/>
                </a:solidFill>
                <a:latin typeface="Book Antiqua"/>
              </a:endParaRPr>
            </a:p>
            <a:p>
              <a:r>
                <a:rPr lang="en-US" i="1" dirty="0">
                  <a:solidFill>
                    <a:srgbClr val="000000"/>
                  </a:solidFill>
                  <a:latin typeface="Cambria Math"/>
                  <a:cs typeface="Cambria Math"/>
                </a:rPr>
                <a:t>table2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= FILTER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cs typeface="Cambria Math"/>
                </a:rPr>
                <a:t>table1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 BY </a:t>
              </a:r>
              <a:r>
                <a:rPr lang="en-US" dirty="0" err="1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λ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row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 :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f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(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row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)) 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136217" y="5560894"/>
              <a:ext cx="1985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f(row)</a:t>
              </a:r>
              <a:r>
                <a:rPr lang="en-US" i="1" dirty="0">
                  <a:sym typeface="Wingdings"/>
                </a:rPr>
                <a:t> {</a:t>
              </a:r>
              <a:r>
                <a:rPr lang="en-US" i="1" dirty="0" err="1">
                  <a:sym typeface="Wingdings"/>
                </a:rPr>
                <a:t>true,false</a:t>
              </a:r>
              <a:r>
                <a:rPr lang="en-US" i="1" dirty="0">
                  <a:sym typeface="Wingdings"/>
                </a:rPr>
                <a:t>}</a:t>
              </a:r>
              <a:endParaRPr lang="en-US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516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Abstractions On Top Of Map-Reduce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1" y="1257300"/>
            <a:ext cx="4418598" cy="5187950"/>
          </a:xfrm>
        </p:spPr>
        <p:txBody>
          <a:bodyPr>
            <a:normAutofit/>
          </a:bodyPr>
          <a:lstStyle/>
          <a:p>
            <a:r>
              <a:rPr lang="en-US" sz="2400" dirty="0"/>
              <a:t>A non-obvious? streaming processes: </a:t>
            </a:r>
          </a:p>
          <a:p>
            <a:pPr lvl="1"/>
            <a:r>
              <a:rPr lang="en-US" sz="2400" dirty="0"/>
              <a:t>for each row in a table</a:t>
            </a:r>
          </a:p>
          <a:p>
            <a:pPr lvl="2"/>
            <a:r>
              <a:rPr lang="en-US" sz="2400" dirty="0"/>
              <a:t>Transform it to a list of items</a:t>
            </a:r>
          </a:p>
          <a:p>
            <a:pPr lvl="2"/>
            <a:r>
              <a:rPr lang="en-US" sz="2400" dirty="0"/>
              <a:t>Splice all the lists together to get the output table (</a:t>
            </a:r>
            <a:r>
              <a:rPr lang="en-US" sz="2400" b="1" dirty="0"/>
              <a:t>flatten</a:t>
            </a:r>
            <a:r>
              <a:rPr lang="en-US" sz="2400" dirty="0"/>
              <a:t>)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79400" y="4565625"/>
            <a:ext cx="6283587" cy="193899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ambria Math"/>
                <a:cs typeface="Cambria Math"/>
              </a:rPr>
              <a:t>Example</a:t>
            </a:r>
            <a:r>
              <a:rPr lang="en-US" sz="2000" dirty="0">
                <a:latin typeface="Cambria Math"/>
                <a:cs typeface="Cambria Math"/>
              </a:rPr>
              <a:t>: tokenizing a line</a:t>
            </a:r>
          </a:p>
          <a:p>
            <a:endParaRPr lang="en-US" sz="2000" dirty="0">
              <a:latin typeface="Cambria Math"/>
              <a:cs typeface="Cambria Math"/>
            </a:endParaRPr>
          </a:p>
          <a:p>
            <a:r>
              <a:rPr lang="en-US" sz="2000" dirty="0">
                <a:latin typeface="Cambria Math"/>
                <a:cs typeface="Cambria Math"/>
              </a:rPr>
              <a:t>“I found an aardvark” </a:t>
            </a:r>
            <a:r>
              <a:rPr lang="en-US" sz="2000" dirty="0">
                <a:latin typeface="Cambria Math"/>
                <a:cs typeface="Cambria Math"/>
                <a:sym typeface="Wingdings"/>
              </a:rPr>
              <a:t> [“i”, “</a:t>
            </a:r>
            <a:r>
              <a:rPr lang="en-US" sz="2000" dirty="0" err="1">
                <a:latin typeface="Cambria Math"/>
                <a:cs typeface="Cambria Math"/>
                <a:sym typeface="Wingdings"/>
              </a:rPr>
              <a:t>found”,”an”,”aardvark</a:t>
            </a:r>
            <a:r>
              <a:rPr lang="en-US" sz="2000" dirty="0">
                <a:latin typeface="Cambria Math"/>
                <a:cs typeface="Cambria Math"/>
                <a:sym typeface="Wingdings"/>
              </a:rPr>
              <a:t>”]</a:t>
            </a:r>
          </a:p>
          <a:p>
            <a:r>
              <a:rPr lang="en-US" sz="2000" dirty="0">
                <a:latin typeface="Cambria Math"/>
                <a:cs typeface="Cambria Math"/>
                <a:sym typeface="Wingdings"/>
              </a:rPr>
              <a:t>“We love zymurgy”  [“</a:t>
            </a:r>
            <a:r>
              <a:rPr lang="en-US" sz="2000" dirty="0" err="1">
                <a:latin typeface="Cambria Math"/>
                <a:cs typeface="Cambria Math"/>
                <a:sym typeface="Wingdings"/>
              </a:rPr>
              <a:t>we”,”love”,”zymurgy</a:t>
            </a:r>
            <a:r>
              <a:rPr lang="en-US" sz="2000" dirty="0">
                <a:latin typeface="Cambria Math"/>
                <a:cs typeface="Cambria Math"/>
                <a:sym typeface="Wingdings"/>
              </a:rPr>
              <a:t>”]</a:t>
            </a:r>
          </a:p>
          <a:p>
            <a:endParaRPr lang="en-US" sz="2000" dirty="0">
              <a:latin typeface="Cambria Math"/>
              <a:cs typeface="Cambria Math"/>
              <a:sym typeface="Wingdings"/>
            </a:endParaRPr>
          </a:p>
          <a:p>
            <a:r>
              <a:rPr lang="en-US" sz="2000" dirty="0">
                <a:latin typeface="Cambria Math"/>
                <a:cs typeface="Cambria Math"/>
                <a:sym typeface="Wingdings"/>
              </a:rPr>
              <a:t>..but final table is one word per row</a:t>
            </a:r>
            <a:endParaRPr lang="en-US" sz="2000" dirty="0">
              <a:latin typeface="Cambria Math"/>
              <a:cs typeface="Cambria Math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81800" y="4479615"/>
            <a:ext cx="1539760" cy="2246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ambria Math"/>
                <a:cs typeface="Cambria Math"/>
              </a:rPr>
              <a:t>“</a:t>
            </a:r>
            <a:r>
              <a:rPr lang="en-US" sz="2000" b="1" dirty="0" err="1">
                <a:latin typeface="Cambria Math"/>
                <a:cs typeface="Cambria Math"/>
              </a:rPr>
              <a:t>i</a:t>
            </a:r>
            <a:r>
              <a:rPr lang="en-US" sz="2000" b="1" dirty="0">
                <a:latin typeface="Cambria Math"/>
                <a:cs typeface="Cambria Math"/>
              </a:rPr>
              <a:t>”</a:t>
            </a:r>
          </a:p>
          <a:p>
            <a:r>
              <a:rPr lang="en-US" sz="2000" b="1" dirty="0">
                <a:latin typeface="Cambria Math"/>
                <a:cs typeface="Cambria Math"/>
              </a:rPr>
              <a:t>“found”</a:t>
            </a:r>
          </a:p>
          <a:p>
            <a:r>
              <a:rPr lang="en-US" sz="2000" b="1" dirty="0">
                <a:latin typeface="Cambria Math"/>
                <a:cs typeface="Cambria Math"/>
              </a:rPr>
              <a:t>“an”</a:t>
            </a:r>
          </a:p>
          <a:p>
            <a:r>
              <a:rPr lang="en-US" sz="2000" b="1" dirty="0">
                <a:latin typeface="Cambria Math"/>
                <a:cs typeface="Cambria Math"/>
              </a:rPr>
              <a:t>“aardvark”</a:t>
            </a:r>
          </a:p>
          <a:p>
            <a:r>
              <a:rPr lang="en-US" sz="2000" b="1" dirty="0">
                <a:latin typeface="Cambria Math"/>
                <a:cs typeface="Cambria Math"/>
              </a:rPr>
              <a:t>“we”</a:t>
            </a:r>
          </a:p>
          <a:p>
            <a:r>
              <a:rPr lang="en-US" sz="2000" b="1" dirty="0">
                <a:latin typeface="Cambria Math"/>
                <a:cs typeface="Cambria Math"/>
              </a:rPr>
              <a:t>“love”</a:t>
            </a:r>
          </a:p>
          <a:p>
            <a:r>
              <a:rPr lang="en-US" sz="2000" b="1" dirty="0">
                <a:latin typeface="Cambria Math"/>
                <a:cs typeface="Cambria Math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358690" y="3195980"/>
            <a:ext cx="4764338" cy="923330"/>
            <a:chOff x="4358690" y="3195980"/>
            <a:chExt cx="4764338" cy="923330"/>
          </a:xfrm>
        </p:grpSpPr>
        <p:sp>
          <p:nvSpPr>
            <p:cNvPr id="8" name="TextBox 7"/>
            <p:cNvSpPr txBox="1"/>
            <p:nvPr/>
          </p:nvSpPr>
          <p:spPr>
            <a:xfrm>
              <a:off x="4358690" y="3195980"/>
              <a:ext cx="4764338" cy="92333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Book Antiqua"/>
                </a:rPr>
                <a:t>Proposed syntax: </a:t>
              </a:r>
            </a:p>
            <a:p>
              <a:endParaRPr lang="en-US" b="1" dirty="0">
                <a:solidFill>
                  <a:srgbClr val="000000"/>
                </a:solidFill>
                <a:latin typeface="Book Antiqua"/>
              </a:endParaRPr>
            </a:p>
            <a:p>
              <a:r>
                <a:rPr lang="en-US" i="1" dirty="0">
                  <a:solidFill>
                    <a:srgbClr val="000000"/>
                  </a:solidFill>
                  <a:latin typeface="Cambria Math"/>
                  <a:cs typeface="Cambria Math"/>
                </a:rPr>
                <a:t>table2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= FLATMAP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cs typeface="Cambria Math"/>
                </a:rPr>
                <a:t>table1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 TO </a:t>
              </a:r>
              <a:r>
                <a:rPr lang="en-US" dirty="0" err="1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λ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row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 : 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f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(</a:t>
              </a:r>
              <a:r>
                <a:rPr lang="en-US" i="1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row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ea typeface="Lucida Grande"/>
                  <a:cs typeface="Cambria Math"/>
                </a:rPr>
                <a:t>)) </a:t>
              </a:r>
              <a:r>
                <a:rPr lang="en-US" dirty="0">
                  <a:solidFill>
                    <a:srgbClr val="000000"/>
                  </a:solidFill>
                  <a:latin typeface="Cambria Math"/>
                  <a:cs typeface="Cambria Math"/>
                </a:rPr>
                <a:t>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230475" y="3212725"/>
              <a:ext cx="18925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f(row)</a:t>
              </a:r>
              <a:r>
                <a:rPr lang="en-US" i="1" dirty="0">
                  <a:sym typeface="Wingdings"/>
                </a:rPr>
                <a:t>list of rows</a:t>
              </a:r>
              <a:endParaRPr lang="en-US" i="1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6B3C723-B405-CBF2-8C82-574AE070FD9C}"/>
              </a:ext>
            </a:extLst>
          </p:cNvPr>
          <p:cNvSpPr txBox="1"/>
          <p:nvPr/>
        </p:nvSpPr>
        <p:spPr>
          <a:xfrm>
            <a:off x="5029200" y="1257300"/>
            <a:ext cx="329236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is closer to the low-level Mapper setting, since a Map process can send any number of messages downstream</a:t>
            </a:r>
          </a:p>
        </p:txBody>
      </p:sp>
    </p:spTree>
    <p:extLst>
      <p:ext uri="{BB962C8B-B14F-4D97-AF65-F5344CB8AC3E}">
        <p14:creationId xmlns:p14="http://schemas.microsoft.com/office/powerpoint/2010/main" val="353159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9E4C-9CE5-6D39-4B9F-FB2B7778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C5C56-49B0-9C53-1540-1363B2C0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flashback: Naïve Bayes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573A6-6573-259F-FBC7-C4C2EB1A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E45B1E-DCAB-7B55-AF1E-EFC5D230D777}"/>
                  </a:ext>
                </a:extLst>
              </p:cNvPr>
              <p:cNvSpPr txBox="1"/>
              <p:nvPr/>
            </p:nvSpPr>
            <p:spPr>
              <a:xfrm>
                <a:off x="857250" y="3429000"/>
                <a:ext cx="7285586" cy="9977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 smtClean="0"/>
                        <m:t>Pr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𝑤𝑜𝑟𝑑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𝑎𝑝𝑝𝑒𝑎𝑟𝑠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𝑑𝑜𝑐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𝑤𝑖𝑡h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𝑙𝑎𝑏𝑒𝑙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𝑤𝑜𝑟𝑑𝑠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𝑐𝑜𝑟𝑝𝑢𝑠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+1 </m:t>
                          </m:r>
                        </m:den>
                      </m:f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3E45B1E-DCAB-7B55-AF1E-EFC5D230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3429000"/>
                <a:ext cx="7285586" cy="997709"/>
              </a:xfrm>
              <a:prstGeom prst="rect">
                <a:avLst/>
              </a:prstGeom>
              <a:blipFill>
                <a:blip r:embed="rId2"/>
                <a:stretch>
                  <a:fillRect l="-1217" t="-1266" r="-1739" b="-15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784857-5D14-2D53-AE5B-213F08A1A770}"/>
                  </a:ext>
                </a:extLst>
              </p:cNvPr>
              <p:cNvSpPr txBox="1"/>
              <p:nvPr/>
            </p:nvSpPr>
            <p:spPr>
              <a:xfrm>
                <a:off x="2039177" y="2381612"/>
                <a:ext cx="4921732" cy="426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𝑃𝑟</m:t>
                        </m:r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func>
                          </m:e>
                        </m:nary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784857-5D14-2D53-AE5B-213F08A1A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77" y="2381612"/>
                <a:ext cx="4921732" cy="426848"/>
              </a:xfrm>
              <a:prstGeom prst="rect">
                <a:avLst/>
              </a:prstGeom>
              <a:blipFill>
                <a:blip r:embed="rId3"/>
                <a:stretch>
                  <a:fillRect l="-3856" t="-137143" r="-1799" b="-20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A25B261-DDC2-A3A2-26A4-0D0E0D1D263E}"/>
              </a:ext>
            </a:extLst>
          </p:cNvPr>
          <p:cNvSpPr txBox="1"/>
          <p:nvPr/>
        </p:nvSpPr>
        <p:spPr>
          <a:xfrm>
            <a:off x="607453" y="1877085"/>
            <a:ext cx="3964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Predicted </a:t>
            </a:r>
            <a:r>
              <a:rPr lang="en-US" sz="2400" i="1" dirty="0"/>
              <a:t>y </a:t>
            </a:r>
            <a:r>
              <a:rPr lang="en-US" sz="2400" dirty="0"/>
              <a:t>for doc </a:t>
            </a:r>
            <a:r>
              <a:rPr lang="en-US" sz="2400" i="1" dirty="0"/>
              <a:t>x</a:t>
            </a:r>
            <a:r>
              <a:rPr lang="en-US" sz="2400" i="1" baseline="-25000" dirty="0"/>
              <a:t>1</a:t>
            </a:r>
            <a:r>
              <a:rPr lang="en-US" sz="2400" i="1" dirty="0"/>
              <a:t>,…,x</a:t>
            </a:r>
            <a:r>
              <a:rPr lang="en-US" sz="2400" i="1" baseline="-25000" dirty="0"/>
              <a:t>d</a:t>
            </a:r>
            <a:r>
              <a:rPr lang="en-US" sz="2400" i="1" dirty="0"/>
              <a:t>  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3EDB9-5F06-AB6C-C5FD-DA6FBF94C2D0}"/>
              </a:ext>
            </a:extLst>
          </p:cNvPr>
          <p:cNvSpPr txBox="1"/>
          <p:nvPr/>
        </p:nvSpPr>
        <p:spPr>
          <a:xfrm>
            <a:off x="678893" y="3003931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where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DFF3AB-6F12-ACE0-70F2-0D8B4CD25818}"/>
              </a:ext>
            </a:extLst>
          </p:cNvPr>
          <p:cNvSpPr/>
          <p:nvPr/>
        </p:nvSpPr>
        <p:spPr>
          <a:xfrm>
            <a:off x="2171700" y="3465596"/>
            <a:ext cx="5257800" cy="53490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4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Bayes at test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00680" y="1672987"/>
            <a:ext cx="250952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X=w</a:t>
            </a:r>
            <a:r>
              <a:rPr lang="en-US" i="1" baseline="-25000" dirty="0">
                <a:solidFill>
                  <a:prstClr val="black"/>
                </a:solidFill>
                <a:latin typeface="Book Antiqua"/>
              </a:rPr>
              <a:t>1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Y=sports</a:t>
            </a:r>
          </a:p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X=w</a:t>
            </a:r>
            <a:r>
              <a:rPr lang="en-US" i="1" baseline="-25000" dirty="0">
                <a:solidFill>
                  <a:prstClr val="black"/>
                </a:solidFill>
                <a:latin typeface="Book Antiqua"/>
              </a:rPr>
              <a:t>1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Y=news</a:t>
            </a:r>
          </a:p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X=..</a:t>
            </a:r>
          </a:p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X=w</a:t>
            </a:r>
            <a:r>
              <a:rPr lang="en-US" i="1" baseline="-25000" dirty="0">
                <a:solidFill>
                  <a:prstClr val="black"/>
                </a:solidFill>
                <a:latin typeface="Book Antiqua"/>
              </a:rPr>
              <a:t>2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Y=…</a:t>
            </a:r>
          </a:p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X=…</a:t>
            </a:r>
          </a:p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…</a:t>
            </a:r>
          </a:p>
          <a:p>
            <a:endParaRPr lang="en-US" i="1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6080" y="1673775"/>
            <a:ext cx="80264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i="1" dirty="0">
                <a:solidFill>
                  <a:prstClr val="black"/>
                </a:solidFill>
                <a:latin typeface="Book Antiqua"/>
              </a:rPr>
              <a:t>5245</a:t>
            </a:r>
          </a:p>
          <a:p>
            <a:pPr algn="r"/>
            <a:r>
              <a:rPr lang="en-US" i="1" dirty="0">
                <a:solidFill>
                  <a:prstClr val="black"/>
                </a:solidFill>
                <a:latin typeface="Book Antiqua"/>
              </a:rPr>
              <a:t>1054</a:t>
            </a:r>
          </a:p>
          <a:p>
            <a:pPr algn="r"/>
            <a:r>
              <a:rPr lang="en-US" i="1" dirty="0">
                <a:solidFill>
                  <a:prstClr val="black"/>
                </a:solidFill>
                <a:latin typeface="Book Antiqua"/>
              </a:rPr>
              <a:t>2120</a:t>
            </a:r>
          </a:p>
          <a:p>
            <a:pPr algn="r"/>
            <a:r>
              <a:rPr lang="en-US" i="1" dirty="0">
                <a:solidFill>
                  <a:prstClr val="black"/>
                </a:solidFill>
                <a:latin typeface="Book Antiqua"/>
              </a:rPr>
              <a:t>37</a:t>
            </a:r>
          </a:p>
          <a:p>
            <a:pPr algn="r"/>
            <a:r>
              <a:rPr lang="en-US" i="1" dirty="0">
                <a:solidFill>
                  <a:prstClr val="black"/>
                </a:solidFill>
                <a:latin typeface="Book Antiqua"/>
              </a:rPr>
              <a:t>3</a:t>
            </a:r>
          </a:p>
          <a:p>
            <a:pPr algn="r"/>
            <a:r>
              <a:rPr lang="en-US" i="1" dirty="0">
                <a:solidFill>
                  <a:prstClr val="black"/>
                </a:solidFill>
                <a:latin typeface="Book Antiqua"/>
              </a:rPr>
              <a:t>…</a:t>
            </a:r>
          </a:p>
          <a:p>
            <a:endParaRPr lang="en-US" i="1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92184" y="1210769"/>
            <a:ext cx="217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keys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579304" y="3484324"/>
            <a:ext cx="365760" cy="71187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Book Antiqua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9148" y="4421363"/>
          <a:ext cx="64003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6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625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Counts</a:t>
                      </a:r>
                      <a:r>
                        <a:rPr lang="en-US" baseline="0" dirty="0"/>
                        <a:t> associated with 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625">
                <a:tc>
                  <a:txBody>
                    <a:bodyPr/>
                    <a:lstStyle/>
                    <a:p>
                      <a:r>
                        <a:rPr lang="en-US" sz="1600" dirty="0"/>
                        <a:t>aardvark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=sports]=2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625">
                <a:tc>
                  <a:txBody>
                    <a:bodyPr/>
                    <a:lstStyle/>
                    <a:p>
                      <a:r>
                        <a:rPr lang="en-US" sz="1600" dirty="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=sports]=1027, 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=news]=564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625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625">
                <a:tc>
                  <a:txBody>
                    <a:bodyPr/>
                    <a:lstStyle/>
                    <a:p>
                      <a:r>
                        <a:rPr lang="en-US" sz="1600" dirty="0" err="1"/>
                        <a:t>zynga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n[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w^Y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=sports]=21, n[</a:t>
                      </a:r>
                      <a:r>
                        <a:rPr kumimoji="0" lang="en-US" sz="16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w^Y</a:t>
                      </a: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=news]=4464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20C6148-32BD-D5C8-B5B6-5B5AF4814F4D}"/>
              </a:ext>
            </a:extLst>
          </p:cNvPr>
          <p:cNvSpPr txBox="1"/>
          <p:nvPr/>
        </p:nvSpPr>
        <p:spPr>
          <a:xfrm>
            <a:off x="5651817" y="1256852"/>
            <a:ext cx="2174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D84C9B-6D05-EFE7-E7DE-6B57D4913E11}"/>
              </a:ext>
            </a:extLst>
          </p:cNvPr>
          <p:cNvSpPr txBox="1"/>
          <p:nvPr/>
        </p:nvSpPr>
        <p:spPr>
          <a:xfrm>
            <a:off x="354965" y="1894050"/>
            <a:ext cx="1916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Extended wordcount that will count </a:t>
            </a:r>
            <a:r>
              <a:rPr lang="en-US" dirty="0" err="1">
                <a:solidFill>
                  <a:prstClr val="black"/>
                </a:solidFill>
                <a:latin typeface="Book Antiqua"/>
              </a:rPr>
              <a:t>word,label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pairs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451D0154-9050-F968-4854-3A8BA5FF79AF}"/>
              </a:ext>
            </a:extLst>
          </p:cNvPr>
          <p:cNvSpPr/>
          <p:nvPr/>
        </p:nvSpPr>
        <p:spPr>
          <a:xfrm rot="16200000">
            <a:off x="2333923" y="2181839"/>
            <a:ext cx="365760" cy="71187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8743266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" y="274638"/>
            <a:ext cx="8392160" cy="906462"/>
          </a:xfrm>
        </p:spPr>
        <p:txBody>
          <a:bodyPr>
            <a:normAutofit/>
          </a:bodyPr>
          <a:lstStyle/>
          <a:p>
            <a:r>
              <a:rPr lang="en-US" dirty="0"/>
              <a:t>naïve Bayes at test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878" y="1320919"/>
            <a:ext cx="4094480" cy="230832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prstClr val="black"/>
                </a:solidFill>
                <a:latin typeface="Book Antiqua"/>
              </a:rPr>
              <a:t>The general case:</a:t>
            </a:r>
          </a:p>
          <a:p>
            <a:r>
              <a:rPr lang="en-US" dirty="0">
                <a:solidFill>
                  <a:prstClr val="black"/>
                </a:solidFill>
                <a:latin typeface="Book Antiqua"/>
              </a:rPr>
              <a:t>We’re taking rows from a table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Book Antiqua"/>
              </a:rPr>
              <a:t>In a particular format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(</a:t>
            </a:r>
            <a:r>
              <a:rPr lang="en-US" i="1" dirty="0" err="1">
                <a:solidFill>
                  <a:prstClr val="black"/>
                </a:solidFill>
                <a:latin typeface="Book Antiqua"/>
              </a:rPr>
              <a:t>event,count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)</a:t>
            </a:r>
          </a:p>
          <a:p>
            <a:r>
              <a:rPr lang="en-US" dirty="0">
                <a:solidFill>
                  <a:prstClr val="black"/>
                </a:solidFill>
                <a:latin typeface="Book Antiqua"/>
              </a:rPr>
              <a:t>Applying a function to get a new value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solidFill>
                  <a:prstClr val="black"/>
                </a:solidFill>
                <a:latin typeface="Book Antiqua"/>
              </a:rPr>
              <a:t>The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word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for the event</a:t>
            </a:r>
          </a:p>
          <a:p>
            <a:r>
              <a:rPr lang="en-US" dirty="0">
                <a:solidFill>
                  <a:prstClr val="black"/>
                </a:solidFill>
                <a:latin typeface="Book Antiqua"/>
              </a:rPr>
              <a:t>And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grouping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the rows of the table by this new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494" y="4793875"/>
            <a:ext cx="3806912" cy="175432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Book Antiqua"/>
              </a:rPr>
              <a:t>Proposed syntax: </a:t>
            </a:r>
          </a:p>
          <a:p>
            <a:endParaRPr lang="en-US" b="1" dirty="0">
              <a:solidFill>
                <a:srgbClr val="000000"/>
              </a:solidFill>
              <a:latin typeface="Book Antiqua"/>
            </a:endParaRPr>
          </a:p>
          <a:p>
            <a:r>
              <a:rPr lang="en-US" dirty="0">
                <a:solidFill>
                  <a:srgbClr val="000000"/>
                </a:solidFill>
                <a:latin typeface="Cambria Math"/>
                <a:cs typeface="Cambria Math"/>
              </a:rPr>
              <a:t>GROUP </a:t>
            </a:r>
            <a:r>
              <a:rPr lang="en-US" i="1" dirty="0">
                <a:solidFill>
                  <a:srgbClr val="000000"/>
                </a:solidFill>
                <a:latin typeface="Cambria Math"/>
                <a:cs typeface="Cambria Math"/>
              </a:rPr>
              <a:t>table</a:t>
            </a:r>
            <a:r>
              <a:rPr lang="en-US" dirty="0">
                <a:solidFill>
                  <a:srgbClr val="000000"/>
                </a:solidFill>
                <a:latin typeface="Cambria Math"/>
                <a:cs typeface="Cambria Math"/>
              </a:rPr>
              <a:t>  BY  </a:t>
            </a:r>
            <a:r>
              <a:rPr lang="en-US" dirty="0" err="1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λ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row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: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f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(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row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) </a:t>
            </a:r>
          </a:p>
          <a:p>
            <a:endParaRPr lang="en-US" dirty="0">
              <a:solidFill>
                <a:srgbClr val="000000"/>
              </a:solidFill>
              <a:latin typeface="Cambria Math"/>
              <a:ea typeface="Lucida Grande"/>
              <a:cs typeface="Cambria Math"/>
            </a:endParaRPr>
          </a:p>
          <a:p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Could define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f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 via: a function, a field of a defined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record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structure, …</a:t>
            </a:r>
            <a:endParaRPr lang="en-US" dirty="0">
              <a:solidFill>
                <a:srgbClr val="000000"/>
              </a:solidFill>
              <a:latin typeface="Cambria Math"/>
              <a:cs typeface="Cambria Math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25285" y="4856641"/>
            <a:ext cx="1467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f(row)</a:t>
            </a:r>
            <a:r>
              <a:rPr lang="en-US" i="1" dirty="0">
                <a:sym typeface="Wingdings"/>
              </a:rPr>
              <a:t>field</a:t>
            </a:r>
            <a:endParaRPr lang="en-US" i="1" dirty="0"/>
          </a:p>
        </p:txBody>
      </p:sp>
      <p:sp>
        <p:nvSpPr>
          <p:cNvPr id="3" name="TextBox 2"/>
          <p:cNvSpPr txBox="1"/>
          <p:nvPr/>
        </p:nvSpPr>
        <p:spPr>
          <a:xfrm>
            <a:off x="4371358" y="1181100"/>
            <a:ext cx="4678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implement this with map-reduce?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0781" y="1716839"/>
            <a:ext cx="37388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Output pairs (f(row),row) with a mapper process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Shuffle-sort pairs by key – which is f(row)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Reduce and aggregate by </a:t>
            </a:r>
            <a:r>
              <a:rPr lang="en-US" i="1" dirty="0"/>
              <a:t>appending together </a:t>
            </a:r>
            <a:r>
              <a:rPr lang="en-US" dirty="0"/>
              <a:t>all the values associated with the same key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82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147596" y="2706689"/>
          <a:ext cx="3454836" cy="3026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393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488">
                <a:tc>
                  <a:txBody>
                    <a:bodyPr/>
                    <a:lstStyle/>
                    <a:p>
                      <a:r>
                        <a:rPr lang="en-US" sz="1600" dirty="0"/>
                        <a:t>aardvark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=sports]=2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22">
                <a:tc>
                  <a:txBody>
                    <a:bodyPr/>
                    <a:lstStyle/>
                    <a:p>
                      <a:r>
                        <a:rPr lang="en-US" sz="1600" dirty="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=sports]=…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4">
                <a:tc>
                  <a:txBody>
                    <a:bodyPr/>
                    <a:lstStyle/>
                    <a:p>
                      <a:r>
                        <a:rPr lang="en-US" sz="1600" dirty="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=sports]=…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4">
                <a:tc>
                  <a:txBody>
                    <a:bodyPr/>
                    <a:lstStyle/>
                    <a:p>
                      <a:r>
                        <a:rPr lang="en-US" sz="1600" dirty="0"/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=sports]=…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4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n[</a:t>
                      </a:r>
                      <a:r>
                        <a:rPr lang="en-US" sz="1600" dirty="0" err="1"/>
                        <a:t>w^Y</a:t>
                      </a:r>
                      <a:r>
                        <a:rPr lang="en-US" sz="1600" dirty="0"/>
                        <a:t>=sports]=…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5739">
                <a:tc>
                  <a:txBody>
                    <a:bodyPr/>
                    <a:lstStyle/>
                    <a:p>
                      <a:r>
                        <a:rPr lang="en-US" sz="1600" dirty="0" err="1"/>
                        <a:t>zynga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n[…]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5739">
                <a:tc>
                  <a:txBody>
                    <a:bodyPr/>
                    <a:lstStyle/>
                    <a:p>
                      <a:r>
                        <a:rPr lang="en-US" sz="1600" dirty="0" err="1"/>
                        <a:t>zynga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n[…]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50327" y="151486"/>
          <a:ext cx="315471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6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DocId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doc1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aardvark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doc1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zymurgy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doc2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9495" y="2376526"/>
            <a:ext cx="3806912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Book Antiqua"/>
              </a:rPr>
              <a:t>Proposed syntax: </a:t>
            </a:r>
          </a:p>
          <a:p>
            <a:endParaRPr lang="en-US" b="1" dirty="0">
              <a:solidFill>
                <a:srgbClr val="000000"/>
              </a:solidFill>
              <a:latin typeface="Book Antiqua"/>
            </a:endParaRPr>
          </a:p>
          <a:p>
            <a:r>
              <a:rPr lang="en-US" dirty="0">
                <a:solidFill>
                  <a:srgbClr val="000000"/>
                </a:solidFill>
                <a:latin typeface="Cambria Math"/>
                <a:cs typeface="Cambria Math"/>
              </a:rPr>
              <a:t>JOIN </a:t>
            </a:r>
            <a:r>
              <a:rPr lang="en-US" i="1" dirty="0">
                <a:solidFill>
                  <a:srgbClr val="000000"/>
                </a:solidFill>
                <a:latin typeface="Cambria Math"/>
                <a:cs typeface="Cambria Math"/>
              </a:rPr>
              <a:t>table1</a:t>
            </a:r>
            <a:r>
              <a:rPr lang="en-US" dirty="0">
                <a:solidFill>
                  <a:srgbClr val="000000"/>
                </a:solidFill>
                <a:latin typeface="Cambria Math"/>
                <a:cs typeface="Cambria Math"/>
              </a:rPr>
              <a:t>  BY  </a:t>
            </a:r>
            <a:r>
              <a:rPr lang="en-US" dirty="0" err="1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λ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row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: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f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(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row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),</a:t>
            </a:r>
          </a:p>
          <a:p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	</a:t>
            </a:r>
            <a:r>
              <a:rPr lang="en-US" u="sng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</a:t>
            </a:r>
            <a:r>
              <a:rPr lang="en-US" i="1" u="sng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table2 </a:t>
            </a:r>
            <a:r>
              <a:rPr lang="en-US" u="sng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BY </a:t>
            </a:r>
            <a:r>
              <a:rPr lang="en-US" dirty="0">
                <a:solidFill>
                  <a:srgbClr val="000000"/>
                </a:solidFill>
                <a:latin typeface="Cambria Math"/>
                <a:cs typeface="Cambria Math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λ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row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 : 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g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(</a:t>
            </a:r>
            <a:r>
              <a:rPr lang="en-US" i="1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row</a:t>
            </a:r>
            <a:r>
              <a:rPr lang="en-US" dirty="0">
                <a:solidFill>
                  <a:srgbClr val="000000"/>
                </a:solidFill>
                <a:latin typeface="Cambria Math"/>
                <a:ea typeface="Lucida Grande"/>
                <a:cs typeface="Cambria Math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ambria Math"/>
              <a:ea typeface="Lucida Grande"/>
              <a:cs typeface="Cambria Mat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FF059-5890-05D0-3842-9942251168CC}"/>
              </a:ext>
            </a:extLst>
          </p:cNvPr>
          <p:cNvSpPr txBox="1"/>
          <p:nvPr/>
        </p:nvSpPr>
        <p:spPr>
          <a:xfrm>
            <a:off x="189495" y="185231"/>
            <a:ext cx="3806912" cy="1323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Cambria Math"/>
                <a:cs typeface="Cambria Math"/>
              </a:rPr>
              <a:t>Doc1: “I found an aardvark” </a:t>
            </a:r>
          </a:p>
          <a:p>
            <a:r>
              <a:rPr lang="en-US" sz="2000" dirty="0">
                <a:latin typeface="Cambria Math"/>
                <a:cs typeface="Cambria Math"/>
                <a:sym typeface="Wingdings"/>
              </a:rPr>
              <a:t>Doc2: “We love zymurgy” </a:t>
            </a:r>
          </a:p>
          <a:p>
            <a:r>
              <a:rPr lang="en-US" sz="2000" dirty="0">
                <a:latin typeface="Cambria Math"/>
                <a:cs typeface="Cambria Math"/>
                <a:sym typeface="Wingdings"/>
              </a:rPr>
              <a:t>…</a:t>
            </a:r>
          </a:p>
          <a:p>
            <a:endParaRPr lang="en-US" sz="2000" dirty="0">
              <a:latin typeface="Cambria Math"/>
              <a:cs typeface="Cambria Math"/>
              <a:sym typeface="Wingdings"/>
            </a:endParaRP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6927B743-4C3E-F8EC-77D9-A39B3AB75651}"/>
              </a:ext>
            </a:extLst>
          </p:cNvPr>
          <p:cNvSpPr/>
          <p:nvPr/>
        </p:nvSpPr>
        <p:spPr>
          <a:xfrm rot="16200000">
            <a:off x="4389121" y="530582"/>
            <a:ext cx="365760" cy="71187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Book Antiqu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98AAF-7679-2EA4-A0C9-117F11AE1FCD}"/>
              </a:ext>
            </a:extLst>
          </p:cNvPr>
          <p:cNvSpPr txBox="1"/>
          <p:nvPr/>
        </p:nvSpPr>
        <p:spPr>
          <a:xfrm>
            <a:off x="205139" y="4537044"/>
            <a:ext cx="3806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implement this with map-reduce?  Similar to group-by</a:t>
            </a:r>
          </a:p>
        </p:txBody>
      </p:sp>
    </p:spTree>
    <p:extLst>
      <p:ext uri="{BB962C8B-B14F-4D97-AF65-F5344CB8AC3E}">
        <p14:creationId xmlns:p14="http://schemas.microsoft.com/office/powerpoint/2010/main" val="112477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Spark: A High-Level Dataflow Language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207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383125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2"/>
                </a:solidFill>
              </a:rPr>
              <a:t>Hadoop: Too low level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missing abstractions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hard to specify a workflow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latency is very high</a:t>
            </a:r>
          </a:p>
          <a:p>
            <a:r>
              <a:rPr lang="en-US" dirty="0">
                <a:solidFill>
                  <a:schemeClr val="tx2"/>
                </a:solidFill>
              </a:rPr>
              <a:t>Spark addresses these issues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Also: Spark is good for </a:t>
            </a:r>
            <a:r>
              <a:rPr lang="en-US" u="sng" dirty="0">
                <a:solidFill>
                  <a:schemeClr val="accent3">
                    <a:lumMod val="50000"/>
                  </a:schemeClr>
                </a:solidFill>
              </a:rPr>
              <a:t>iterative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operations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E.g., PageRank, E/M, k-means clustering, …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Spark lowers cost of </a:t>
            </a:r>
            <a:r>
              <a:rPr lang="en-US" u="sng" dirty="0">
                <a:solidFill>
                  <a:schemeClr val="accent3">
                    <a:lumMod val="50000"/>
                  </a:schemeClr>
                </a:solidFill>
              </a:rPr>
              <a:t>repeated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reads</a:t>
            </a:r>
          </a:p>
          <a:p>
            <a:pPr lvl="1"/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595358" y="292100"/>
            <a:ext cx="3320042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Set of concise dataflow operations (“transformation”)</a:t>
            </a:r>
          </a:p>
          <a:p>
            <a:endParaRPr lang="en-US" sz="2400" dirty="0"/>
          </a:p>
          <a:p>
            <a:r>
              <a:rPr lang="en-US" sz="2400" dirty="0"/>
              <a:t>Dataflow operations are embedded in an API together with “actions”</a:t>
            </a:r>
          </a:p>
        </p:txBody>
      </p:sp>
    </p:spTree>
    <p:extLst>
      <p:ext uri="{BB962C8B-B14F-4D97-AF65-F5344CB8AC3E}">
        <p14:creationId xmlns:p14="http://schemas.microsoft.com/office/powerpoint/2010/main" val="3380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7528A-74D8-F7B5-C4DC-AB6DDD7F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2C4E-E89F-EB8E-971F-7C3650B2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E0BF9A-BCCC-F4F8-4D8A-CFD170A2C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Data abstraction</a:t>
            </a:r>
          </a:p>
          <a:p>
            <a:pPr lvl="1"/>
            <a:r>
              <a:rPr lang="en-US" sz="2400" dirty="0"/>
              <a:t>Sharded files </a:t>
            </a:r>
            <a:r>
              <a:rPr lang="en-US" sz="2400" dirty="0">
                <a:sym typeface="Wingdings" pitchFamily="2" charset="2"/>
              </a:rPr>
              <a:t> Resilient Distributed Datasets</a:t>
            </a:r>
          </a:p>
          <a:p>
            <a:pPr lvl="2"/>
            <a:r>
              <a:rPr lang="en-US" sz="2000" dirty="0">
                <a:sym typeface="Wingdings" pitchFamily="2" charset="2"/>
              </a:rPr>
              <a:t>RDDs are immutable</a:t>
            </a:r>
          </a:p>
          <a:p>
            <a:pPr lvl="2"/>
            <a:r>
              <a:rPr lang="en-US" sz="2000" dirty="0">
                <a:sym typeface="Wingdings" pitchFamily="2" charset="2"/>
              </a:rPr>
              <a:t>They are partitioned and sharded</a:t>
            </a:r>
          </a:p>
          <a:p>
            <a:pPr lvl="2"/>
            <a:r>
              <a:rPr lang="en-US" sz="2000" dirty="0">
                <a:sym typeface="Wingdings" pitchFamily="2" charset="2"/>
              </a:rPr>
              <a:t>You access them with </a:t>
            </a:r>
            <a:r>
              <a:rPr lang="en-US" sz="2000" b="1" dirty="0">
                <a:sym typeface="Wingdings" pitchFamily="2" charset="2"/>
              </a:rPr>
              <a:t>high level </a:t>
            </a:r>
            <a:r>
              <a:rPr lang="en-US" sz="2000" dirty="0">
                <a:sym typeface="Wingdings" pitchFamily="2" charset="2"/>
              </a:rPr>
              <a:t>operations that can be implemented by short Map-Reduce pipelines</a:t>
            </a:r>
          </a:p>
          <a:p>
            <a:pPr lvl="2"/>
            <a:r>
              <a:rPr lang="en-US" sz="2000" dirty="0">
                <a:sym typeface="Wingdings" pitchFamily="2" charset="2"/>
              </a:rPr>
              <a:t>You can mark RDDs as ‘persistent’ (the data is saved for debugging, reuse, </a:t>
            </a:r>
            <a:r>
              <a:rPr lang="en-US" sz="2000" dirty="0" err="1">
                <a:sym typeface="Wingdings" pitchFamily="2" charset="2"/>
              </a:rPr>
              <a:t>etc</a:t>
            </a:r>
            <a:r>
              <a:rPr lang="en-US" sz="2000" dirty="0">
                <a:sym typeface="Wingdings" pitchFamily="2" charset="2"/>
              </a:rPr>
              <a:t>) and RDDs can persist </a:t>
            </a:r>
            <a:r>
              <a:rPr lang="en-US" sz="2000" b="1" dirty="0">
                <a:sym typeface="Wingdings" pitchFamily="2" charset="2"/>
              </a:rPr>
              <a:t>on disk or in memory</a:t>
            </a:r>
          </a:p>
          <a:p>
            <a:pPr lvl="3"/>
            <a:r>
              <a:rPr lang="en-US" sz="1600" dirty="0">
                <a:sym typeface="Wingdings" pitchFamily="2" charset="2"/>
              </a:rPr>
              <a:t>Memory-cached RDDs use a lot of cluster memory but are very useful</a:t>
            </a:r>
          </a:p>
          <a:p>
            <a:pPr lvl="1"/>
            <a:r>
              <a:rPr lang="en-US" sz="2400" dirty="0"/>
              <a:t>Two types of operations on RDDs</a:t>
            </a:r>
          </a:p>
          <a:p>
            <a:pPr lvl="2"/>
            <a:r>
              <a:rPr lang="en-US" sz="2000" b="1" dirty="0"/>
              <a:t>Transformations</a:t>
            </a:r>
            <a:r>
              <a:rPr lang="en-US" sz="2000" dirty="0"/>
              <a:t> – lazy, return a ‘plan’ to make some change</a:t>
            </a:r>
          </a:p>
          <a:p>
            <a:pPr lvl="2"/>
            <a:r>
              <a:rPr lang="en-US" sz="2000" b="1" dirty="0"/>
              <a:t>Actions</a:t>
            </a:r>
            <a:r>
              <a:rPr lang="en-US" sz="2000" dirty="0"/>
              <a:t> – eager, usually force execution of a map-reduce pipeline, and return some Python object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EE3CC-AEE4-80C3-D97F-180E74CB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97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3" name="Picture 2" descr="Screen Shot 2015-10-27 at 10.39.4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071"/>
            <a:ext cx="9144000" cy="3153523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4962970" y="762000"/>
            <a:ext cx="2509402" cy="1148463"/>
          </a:xfrm>
          <a:prstGeom prst="wedgeRectCallout">
            <a:avLst>
              <a:gd name="adj1" fmla="val -142047"/>
              <a:gd name="adj2" fmla="val 8186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spark</a:t>
            </a:r>
            <a:r>
              <a:rPr lang="en-US" sz="2000" dirty="0"/>
              <a:t> is a </a:t>
            </a:r>
            <a:r>
              <a:rPr lang="en-US" sz="2000" i="1" dirty="0"/>
              <a:t>spark context </a:t>
            </a:r>
            <a:r>
              <a:rPr lang="en-US" sz="2000" dirty="0"/>
              <a:t>object – sometimes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760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56</a:t>
            </a:fld>
            <a:endParaRPr lang="en-US"/>
          </a:p>
        </p:txBody>
      </p:sp>
      <p:pic>
        <p:nvPicPr>
          <p:cNvPr id="3" name="Picture 2" descr="Screen Shot 2015-10-27 at 10.39.4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071"/>
            <a:ext cx="9144000" cy="3153523"/>
          </a:xfrm>
          <a:prstGeom prst="rect">
            <a:avLst/>
          </a:prstGeom>
        </p:spPr>
      </p:pic>
      <p:sp>
        <p:nvSpPr>
          <p:cNvPr id="6" name="Rectangular Callout 5"/>
          <p:cNvSpPr/>
          <p:nvPr/>
        </p:nvSpPr>
        <p:spPr>
          <a:xfrm>
            <a:off x="4708970" y="0"/>
            <a:ext cx="2509402" cy="1910463"/>
          </a:xfrm>
          <a:prstGeom prst="wedgeRectCallout">
            <a:avLst>
              <a:gd name="adj1" fmla="val -181615"/>
              <a:gd name="adj2" fmla="val 9014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errors</a:t>
            </a:r>
            <a:r>
              <a:rPr lang="en-US" sz="2000" dirty="0"/>
              <a:t> is a </a:t>
            </a:r>
            <a:r>
              <a:rPr lang="en-US" sz="2000" i="1" dirty="0"/>
              <a:t>transformation</a:t>
            </a:r>
            <a:r>
              <a:rPr lang="en-US" sz="2000" dirty="0"/>
              <a:t>, and thus a data </a:t>
            </a:r>
            <a:r>
              <a:rPr lang="en-US" sz="2000" dirty="0" err="1"/>
              <a:t>strucure</a:t>
            </a:r>
            <a:r>
              <a:rPr lang="en-US" sz="2000" dirty="0"/>
              <a:t> that explains HOW to do something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5648071" y="837919"/>
            <a:ext cx="2509402" cy="1910463"/>
          </a:xfrm>
          <a:prstGeom prst="wedgeRectCallout">
            <a:avLst>
              <a:gd name="adj1" fmla="val -181615"/>
              <a:gd name="adj2" fmla="val 9014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count</a:t>
            </a:r>
            <a:r>
              <a:rPr lang="en-US" sz="2000" dirty="0"/>
              <a:t>() is an </a:t>
            </a:r>
            <a:r>
              <a:rPr lang="en-US" sz="2000" i="1" dirty="0"/>
              <a:t>action</a:t>
            </a:r>
            <a:r>
              <a:rPr lang="en-US" sz="2000" dirty="0"/>
              <a:t>: it will actually execute the plan for </a:t>
            </a:r>
            <a:r>
              <a:rPr lang="en-US" sz="2000" b="1" dirty="0"/>
              <a:t>errors</a:t>
            </a:r>
            <a:r>
              <a:rPr lang="en-US" sz="2000" dirty="0"/>
              <a:t> and return a value.</a:t>
            </a:r>
            <a:endParaRPr lang="en-US" sz="2000" b="1" dirty="0"/>
          </a:p>
        </p:txBody>
      </p:sp>
      <p:sp>
        <p:nvSpPr>
          <p:cNvPr id="8" name="Rectangular Callout 7"/>
          <p:cNvSpPr/>
          <p:nvPr/>
        </p:nvSpPr>
        <p:spPr>
          <a:xfrm>
            <a:off x="1781996" y="5482220"/>
            <a:ext cx="2509402" cy="1005116"/>
          </a:xfrm>
          <a:prstGeom prst="wedgeRectCallout">
            <a:avLst>
              <a:gd name="adj1" fmla="val -39403"/>
              <a:gd name="adj2" fmla="val -9129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errors.filter</a:t>
            </a:r>
            <a:r>
              <a:rPr lang="en-US" sz="2000" b="1" dirty="0"/>
              <a:t>()</a:t>
            </a:r>
            <a:r>
              <a:rPr lang="en-US" sz="2000" dirty="0"/>
              <a:t> is a </a:t>
            </a:r>
            <a:r>
              <a:rPr lang="en-US" sz="2000" i="1" dirty="0"/>
              <a:t>transformation</a:t>
            </a:r>
            <a:endParaRPr lang="en-US" sz="2000" dirty="0"/>
          </a:p>
        </p:txBody>
      </p:sp>
      <p:sp>
        <p:nvSpPr>
          <p:cNvPr id="9" name="Rectangular Callout 8"/>
          <p:cNvSpPr/>
          <p:nvPr/>
        </p:nvSpPr>
        <p:spPr>
          <a:xfrm>
            <a:off x="4805761" y="5440134"/>
            <a:ext cx="2509402" cy="1005116"/>
          </a:xfrm>
          <a:prstGeom prst="wedgeRectCallout">
            <a:avLst>
              <a:gd name="adj1" fmla="val 52910"/>
              <a:gd name="adj2" fmla="val -8927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collect()</a:t>
            </a:r>
            <a:r>
              <a:rPr lang="en-US" sz="2000" dirty="0"/>
              <a:t> is an </a:t>
            </a:r>
            <a:r>
              <a:rPr lang="en-US" sz="2000" i="1" dirty="0"/>
              <a:t>action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5260961" y="2992049"/>
            <a:ext cx="3654440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everything is </a:t>
            </a:r>
            <a:r>
              <a:rPr lang="en-US" sz="2400" b="1" dirty="0"/>
              <a:t>sharded</a:t>
            </a:r>
            <a:r>
              <a:rPr lang="en-US" sz="2400" dirty="0"/>
              <a:t> (i.e., partitioned)</a:t>
            </a:r>
          </a:p>
        </p:txBody>
      </p:sp>
    </p:spTree>
    <p:extLst>
      <p:ext uri="{BB962C8B-B14F-4D97-AF65-F5344CB8AC3E}">
        <p14:creationId xmlns:p14="http://schemas.microsoft.com/office/powerpoint/2010/main" val="75597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57</a:t>
            </a:fld>
            <a:endParaRPr lang="en-US"/>
          </a:p>
        </p:txBody>
      </p:sp>
      <p:pic>
        <p:nvPicPr>
          <p:cNvPr id="3" name="Picture 2" descr="Screen Shot 2015-10-27 at 10.39.4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071"/>
            <a:ext cx="9144000" cy="3153523"/>
          </a:xfrm>
          <a:prstGeom prst="rect">
            <a:avLst/>
          </a:prstGeom>
        </p:spPr>
      </p:pic>
      <p:pic>
        <p:nvPicPr>
          <p:cNvPr id="11" name="Picture 10" descr="Screen Shot 2015-10-27 at 10.46.19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3" t="20488" r="8259" b="21147"/>
          <a:stretch/>
        </p:blipFill>
        <p:spPr>
          <a:xfrm>
            <a:off x="78670" y="2933126"/>
            <a:ext cx="2382582" cy="348380"/>
          </a:xfrm>
          <a:prstGeom prst="rect">
            <a:avLst/>
          </a:prstGeom>
          <a:ln w="12700" cmpd="sng">
            <a:solidFill>
              <a:srgbClr val="FF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551159" y="2854465"/>
            <a:ext cx="64846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# modify </a:t>
            </a:r>
            <a:r>
              <a:rPr lang="en-US" sz="2400" b="1" dirty="0"/>
              <a:t>errors </a:t>
            </a:r>
            <a:r>
              <a:rPr lang="en-US" sz="2400" dirty="0"/>
              <a:t>to be stored in </a:t>
            </a:r>
            <a:r>
              <a:rPr lang="en-US" sz="2400" i="1" dirty="0"/>
              <a:t>cluster memory</a:t>
            </a:r>
          </a:p>
        </p:txBody>
      </p:sp>
      <p:sp>
        <p:nvSpPr>
          <p:cNvPr id="12" name="Rectangular Callout 11"/>
          <p:cNvSpPr/>
          <p:nvPr/>
        </p:nvSpPr>
        <p:spPr>
          <a:xfrm>
            <a:off x="6210001" y="4667217"/>
            <a:ext cx="2509402" cy="1910463"/>
          </a:xfrm>
          <a:prstGeom prst="wedgeRectCallout">
            <a:avLst>
              <a:gd name="adj1" fmla="val -210278"/>
              <a:gd name="adj2" fmla="val -10926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subsequent actions will be much faster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070" y="1145658"/>
            <a:ext cx="8361333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everything is </a:t>
            </a:r>
            <a:r>
              <a:rPr lang="en-US" sz="2400" b="1" dirty="0"/>
              <a:t>sharded</a:t>
            </a:r>
            <a:r>
              <a:rPr lang="en-US" sz="2400" dirty="0"/>
              <a:t> … and the shards are stored in </a:t>
            </a:r>
            <a:r>
              <a:rPr lang="en-US" sz="2400" i="1" dirty="0"/>
              <a:t>memory</a:t>
            </a:r>
            <a:r>
              <a:rPr lang="en-US" sz="2400" dirty="0"/>
              <a:t> of worker machines not local </a:t>
            </a:r>
            <a:r>
              <a:rPr lang="en-US" sz="2400" i="1" dirty="0"/>
              <a:t>disk</a:t>
            </a:r>
            <a:r>
              <a:rPr lang="en-US" sz="2400" dirty="0"/>
              <a:t> (if possible, and if you ask)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941" y="5278710"/>
            <a:ext cx="517236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You can also </a:t>
            </a:r>
            <a:r>
              <a:rPr lang="en-US" sz="2000" b="1" dirty="0"/>
              <a:t>persist()</a:t>
            </a:r>
            <a:r>
              <a:rPr lang="en-US" sz="2000" dirty="0"/>
              <a:t> an RDD on disk.</a:t>
            </a:r>
          </a:p>
        </p:txBody>
      </p:sp>
    </p:spTree>
    <p:extLst>
      <p:ext uri="{BB962C8B-B14F-4D97-AF65-F5344CB8AC3E}">
        <p14:creationId xmlns:p14="http://schemas.microsoft.com/office/powerpoint/2010/main" val="116934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3" grpId="0" animBg="1"/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58</a:t>
            </a:fld>
            <a:endParaRPr lang="en-US"/>
          </a:p>
        </p:txBody>
      </p:sp>
      <p:pic>
        <p:nvPicPr>
          <p:cNvPr id="3" name="Picture 2" descr="Screen Shot 2015-10-27 at 10.39.4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98071"/>
            <a:ext cx="9144000" cy="3153523"/>
          </a:xfrm>
          <a:prstGeom prst="rect">
            <a:avLst/>
          </a:prstGeom>
        </p:spPr>
      </p:pic>
      <p:pic>
        <p:nvPicPr>
          <p:cNvPr id="11" name="Picture 10" descr="Screen Shot 2015-10-27 at 10.46.19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3" t="20488" r="8259" b="21147"/>
          <a:stretch/>
        </p:blipFill>
        <p:spPr>
          <a:xfrm>
            <a:off x="78670" y="2933126"/>
            <a:ext cx="2382582" cy="348380"/>
          </a:xfrm>
          <a:prstGeom prst="rect">
            <a:avLst/>
          </a:prstGeom>
          <a:ln w="12700" cmpd="sng">
            <a:solidFill>
              <a:srgbClr val="FF000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2551159" y="2854465"/>
            <a:ext cx="64846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# modify </a:t>
            </a:r>
            <a:r>
              <a:rPr lang="en-US" sz="2400" b="1" dirty="0"/>
              <a:t>errors </a:t>
            </a:r>
            <a:r>
              <a:rPr lang="en-US" sz="2400" dirty="0"/>
              <a:t>to be stored in </a:t>
            </a:r>
            <a:r>
              <a:rPr lang="en-US" sz="2400" i="1" dirty="0"/>
              <a:t>cluster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070" y="1145658"/>
            <a:ext cx="8361333" cy="8309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everything is </a:t>
            </a:r>
            <a:r>
              <a:rPr lang="en-US" sz="2400" b="1" dirty="0" err="1"/>
              <a:t>sharded</a:t>
            </a:r>
            <a:r>
              <a:rPr lang="en-US" sz="2400" dirty="0"/>
              <a:t> … and the shards are stored in </a:t>
            </a:r>
            <a:r>
              <a:rPr lang="en-US" sz="2400" i="1" dirty="0"/>
              <a:t>memory</a:t>
            </a:r>
            <a:r>
              <a:rPr lang="en-US" sz="2400" dirty="0"/>
              <a:t> of worker machines not local </a:t>
            </a:r>
            <a:r>
              <a:rPr lang="en-US" sz="2400" i="1" dirty="0"/>
              <a:t>disk</a:t>
            </a:r>
            <a:r>
              <a:rPr lang="en-US" sz="2400" dirty="0"/>
              <a:t> (if possible)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941" y="5278710"/>
            <a:ext cx="5172364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You can also </a:t>
            </a:r>
            <a:r>
              <a:rPr lang="en-US" sz="2000" b="1" dirty="0"/>
              <a:t>persist()</a:t>
            </a:r>
            <a:r>
              <a:rPr lang="en-US" sz="2000" dirty="0"/>
              <a:t> an RDD on disk, which means it is stored somewhere for debugging purposes (or re-use).  </a:t>
            </a:r>
          </a:p>
        </p:txBody>
      </p:sp>
      <p:sp>
        <p:nvSpPr>
          <p:cNvPr id="14" name="Rectangular Callout 13"/>
          <p:cNvSpPr/>
          <p:nvPr/>
        </p:nvSpPr>
        <p:spPr>
          <a:xfrm>
            <a:off x="6242180" y="2483854"/>
            <a:ext cx="2673220" cy="1910463"/>
          </a:xfrm>
          <a:prstGeom prst="wedgeRectCallout">
            <a:avLst>
              <a:gd name="adj1" fmla="val -71314"/>
              <a:gd name="adj2" fmla="val 13297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persist-on-disk works because the RDD is </a:t>
            </a:r>
            <a:r>
              <a:rPr lang="en-US" sz="2400" i="1" dirty="0"/>
              <a:t>read-only </a:t>
            </a:r>
            <a:r>
              <a:rPr lang="en-US" sz="2400" dirty="0"/>
              <a:t>(immutable)</a:t>
            </a:r>
          </a:p>
        </p:txBody>
      </p:sp>
    </p:spTree>
    <p:extLst>
      <p:ext uri="{BB962C8B-B14F-4D97-AF65-F5344CB8AC3E}">
        <p14:creationId xmlns:p14="http://schemas.microsoft.com/office/powerpoint/2010/main" val="151881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examples: </a:t>
            </a:r>
            <a:r>
              <a:rPr lang="en-US" dirty="0" err="1"/>
              <a:t>wordcount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59</a:t>
            </a:fld>
            <a:endParaRPr lang="en-US"/>
          </a:p>
        </p:txBody>
      </p:sp>
      <p:pic>
        <p:nvPicPr>
          <p:cNvPr id="6" name="Picture 5" descr="Screen Shot 2015-10-27 at 10.53.5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15643"/>
            <a:ext cx="9144000" cy="2024332"/>
          </a:xfrm>
          <a:prstGeom prst="rect">
            <a:avLst/>
          </a:prstGeom>
        </p:spPr>
      </p:pic>
      <p:sp>
        <p:nvSpPr>
          <p:cNvPr id="10" name="Rectangular Callout 9"/>
          <p:cNvSpPr/>
          <p:nvPr/>
        </p:nvSpPr>
        <p:spPr>
          <a:xfrm>
            <a:off x="1422361" y="5184166"/>
            <a:ext cx="2509402" cy="861887"/>
          </a:xfrm>
          <a:prstGeom prst="wedgeRectCallout">
            <a:avLst>
              <a:gd name="adj1" fmla="val -7839"/>
              <a:gd name="adj2" fmla="val -25527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action</a:t>
            </a:r>
          </a:p>
        </p:txBody>
      </p:sp>
      <p:sp>
        <p:nvSpPr>
          <p:cNvPr id="14" name="Rectangular Callout 13"/>
          <p:cNvSpPr/>
          <p:nvPr/>
        </p:nvSpPr>
        <p:spPr>
          <a:xfrm>
            <a:off x="4991293" y="5205150"/>
            <a:ext cx="2509402" cy="1065664"/>
          </a:xfrm>
          <a:prstGeom prst="wedgeRectCallout">
            <a:avLst>
              <a:gd name="adj1" fmla="val -122939"/>
              <a:gd name="adj2" fmla="val -25873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transformation on (</a:t>
            </a:r>
            <a:r>
              <a:rPr lang="en-US" sz="2400" dirty="0" err="1"/>
              <a:t>key,value</a:t>
            </a:r>
            <a:r>
              <a:rPr lang="en-US" sz="2400" dirty="0"/>
              <a:t>) pairs , which are special</a:t>
            </a:r>
          </a:p>
        </p:txBody>
      </p:sp>
      <p:pic>
        <p:nvPicPr>
          <p:cNvPr id="5" name="Picture 4" descr="A close-up of a word&#10;&#10;Description automatically generated">
            <a:extLst>
              <a:ext uri="{FF2B5EF4-FFF2-40B4-BE49-F238E27FC236}">
                <a16:creationId xmlns:a16="http://schemas.microsoft.com/office/drawing/2014/main" id="{6598DA72-63DE-2567-4AE6-357376594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449979"/>
            <a:ext cx="8651747" cy="10656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522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217595" y="3981269"/>
            <a:ext cx="2103489" cy="2684309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/>
          <p:cNvCxnSpPr>
            <a:endCxn id="67" idx="1"/>
          </p:cNvCxnSpPr>
          <p:nvPr/>
        </p:nvCxnSpPr>
        <p:spPr>
          <a:xfrm>
            <a:off x="4282021" y="4057558"/>
            <a:ext cx="1915209" cy="7700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>
            <a:off x="4111910" y="5022452"/>
            <a:ext cx="2085320" cy="793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72" idx="3"/>
          </p:cNvCxnSpPr>
          <p:nvPr/>
        </p:nvCxnSpPr>
        <p:spPr>
          <a:xfrm>
            <a:off x="3882824" y="1984963"/>
            <a:ext cx="1358994" cy="24077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225498" y="1984963"/>
            <a:ext cx="1613327" cy="4513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6833" y="1537466"/>
            <a:ext cx="1567857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6" name="Down Arrow 5"/>
          <p:cNvSpPr/>
          <p:nvPr/>
        </p:nvSpPr>
        <p:spPr>
          <a:xfrm>
            <a:off x="1107527" y="2435110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36833" y="2969876"/>
            <a:ext cx="1388489" cy="6097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922694" y="3286539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19075" y="1103869"/>
            <a:ext cx="2103489" cy="2774007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237929" y="1166960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1</a:t>
            </a:r>
          </a:p>
        </p:txBody>
      </p:sp>
      <p:sp>
        <p:nvSpPr>
          <p:cNvPr id="29" name="Rounded Rectangle 28"/>
          <p:cNvSpPr/>
          <p:nvPr/>
        </p:nvSpPr>
        <p:spPr>
          <a:xfrm rot="16200000">
            <a:off x="1836139" y="3223051"/>
            <a:ext cx="1719836" cy="32032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V="1">
            <a:off x="2887114" y="2154596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2966260" y="2523294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957223" y="2848917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2960739" y="3346630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66260" y="3478005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003753" y="3662621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120826" y="1900815"/>
            <a:ext cx="700341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47580" y="2314977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2279" y="2744758"/>
            <a:ext cx="700341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864" y="3223204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4111910" y="2229559"/>
            <a:ext cx="1818127" cy="6193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4046442" y="2748260"/>
            <a:ext cx="1883595" cy="18425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4094868" y="3162535"/>
            <a:ext cx="1750462" cy="21928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35353" y="4124809"/>
            <a:ext cx="1567857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doc 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doc 3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 ….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1106047" y="5022453"/>
            <a:ext cx="313571" cy="41380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/>
          <p:cNvSpPr/>
          <p:nvPr/>
        </p:nvSpPr>
        <p:spPr>
          <a:xfrm>
            <a:off x="435353" y="5557219"/>
            <a:ext cx="1388489" cy="6097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Counting logic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1921214" y="5873882"/>
            <a:ext cx="586495" cy="10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1222" y="6334379"/>
            <a:ext cx="229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Map Process 2</a:t>
            </a:r>
          </a:p>
        </p:txBody>
      </p:sp>
      <p:sp>
        <p:nvSpPr>
          <p:cNvPr id="55" name="Rounded Rectangle 54"/>
          <p:cNvSpPr/>
          <p:nvPr/>
        </p:nvSpPr>
        <p:spPr>
          <a:xfrm rot="16200000">
            <a:off x="1790567" y="5766302"/>
            <a:ext cx="1808020" cy="32032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Partition/Sort</a:t>
            </a:r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2885634" y="4741939"/>
            <a:ext cx="460466" cy="5953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2964780" y="5110637"/>
            <a:ext cx="381321" cy="401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2955743" y="5436260"/>
            <a:ext cx="390358" cy="3166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2959259" y="5933973"/>
            <a:ext cx="38684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2964780" y="6065348"/>
            <a:ext cx="381321" cy="15820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3002273" y="6249964"/>
            <a:ext cx="343828" cy="3194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285138" y="4495924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1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46100" y="4902320"/>
            <a:ext cx="700342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400799" y="5332101"/>
            <a:ext cx="700342" cy="20831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01384" y="5810547"/>
            <a:ext cx="379960" cy="2468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6240" y="1576344"/>
            <a:ext cx="1714500" cy="62443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C[x1] += D1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C[x1] += D2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819665" y="2262793"/>
            <a:ext cx="342900" cy="48312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6069172" y="2770184"/>
            <a:ext cx="1714500" cy="56773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Logic to combine counter updates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88115" y="1227011"/>
            <a:ext cx="2338032" cy="2859182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219602" y="1235963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Reducer 1</a:t>
            </a:r>
          </a:p>
        </p:txBody>
      </p:sp>
      <p:sp>
        <p:nvSpPr>
          <p:cNvPr id="54" name="Rounded Rectangle 53"/>
          <p:cNvSpPr/>
          <p:nvPr/>
        </p:nvSpPr>
        <p:spPr>
          <a:xfrm rot="16200000">
            <a:off x="4295153" y="2673775"/>
            <a:ext cx="2104093" cy="35028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Merge Spill Files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7230" y="4427463"/>
            <a:ext cx="1714500" cy="80021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</a:t>
            </a:r>
            <a:r>
              <a:rPr lang="en-US" sz="1400" dirty="0"/>
              <a:t>C[x2] += D1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C[x2] += D2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 ….</a:t>
            </a:r>
          </a:p>
        </p:txBody>
      </p:sp>
      <p:sp>
        <p:nvSpPr>
          <p:cNvPr id="68" name="Down Arrow 67"/>
          <p:cNvSpPr/>
          <p:nvPr/>
        </p:nvSpPr>
        <p:spPr>
          <a:xfrm>
            <a:off x="6930655" y="5134911"/>
            <a:ext cx="342900" cy="41229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ounded Rectangle 68"/>
          <p:cNvSpPr/>
          <p:nvPr/>
        </p:nvSpPr>
        <p:spPr>
          <a:xfrm>
            <a:off x="6197230" y="5567097"/>
            <a:ext cx="1714500" cy="48450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combine counter updates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20226" y="4243130"/>
            <a:ext cx="2321749" cy="2326248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6339799" y="6196858"/>
            <a:ext cx="1207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Reducer 2</a:t>
            </a: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 rot="16200000">
            <a:off x="4270997" y="5188417"/>
            <a:ext cx="1941642" cy="350282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Merge Spill Files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402560" y="3877876"/>
            <a:ext cx="821458" cy="208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Spill 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Recap: Distributed Stream-and-Sort: </a:t>
            </a:r>
            <a:br>
              <a:rPr lang="en-US" sz="2400" dirty="0">
                <a:solidFill>
                  <a:schemeClr val="accent1"/>
                </a:solidFill>
                <a:sym typeface="Wingdings" pitchFamily="2" charset="2"/>
              </a:rPr>
            </a:br>
            <a:r>
              <a:rPr lang="en-US" sz="2400" dirty="0">
                <a:solidFill>
                  <a:schemeClr val="accent1"/>
                </a:solidFill>
                <a:sym typeface="Wingdings" pitchFamily="2" charset="2"/>
              </a:rPr>
              <a:t>Map, Shuffle-Sort, Reduce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2407849" y="1181099"/>
            <a:ext cx="3304635" cy="5649373"/>
          </a:xfrm>
          <a:prstGeom prst="rect">
            <a:avLst/>
          </a:prstGeom>
          <a:noFill/>
          <a:ln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2894662" y="1244115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Distributed Shuffle-Sort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545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B7C5-062A-68A0-EB19-2E403550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6E118-7FF9-2AE2-8355-DA232919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Classic </a:t>
            </a:r>
            <a:r>
              <a:rPr lang="en-US" dirty="0" err="1"/>
              <a:t>PySpark</a:t>
            </a:r>
            <a:r>
              <a:rPr lang="en-US" dirty="0"/>
              <a:t> examples: wordcount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442FA-B8D1-9B93-4D6E-74E02C01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61</a:t>
            </a:fld>
            <a:endParaRPr lang="en-US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A8DF045-4B79-FB7B-8EE7-5FC4E1E32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6" y="1096962"/>
            <a:ext cx="7048500" cy="5740400"/>
          </a:xfrm>
          <a:prstGeom prst="rect">
            <a:avLst/>
          </a:prstGeom>
        </p:spPr>
      </p:pic>
      <p:pic>
        <p:nvPicPr>
          <p:cNvPr id="8" name="Picture 7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EFDC698B-3761-8D1B-0B7B-01C956D8A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538" y="1034207"/>
            <a:ext cx="7772400" cy="173523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 descr="A black and white text&#10;&#10;Description automatically generated">
            <a:extLst>
              <a:ext uri="{FF2B5EF4-FFF2-40B4-BE49-F238E27FC236}">
                <a16:creationId xmlns:a16="http://schemas.microsoft.com/office/drawing/2014/main" id="{4ED4BA20-2A5D-952F-2067-DBF3CAE418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037"/>
          <a:stretch/>
        </p:blipFill>
        <p:spPr>
          <a:xfrm>
            <a:off x="6502400" y="1305018"/>
            <a:ext cx="2413000" cy="292884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450AD2C5-AD11-F9D4-69AD-57E613830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5051" y="1173294"/>
            <a:ext cx="2945273" cy="451877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6" name="Picture 15" descr="A computer cod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F3431742-C19A-CC07-9B1B-1125DEB9AF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068" y="3429000"/>
            <a:ext cx="2451100" cy="22352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23874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89D4-C4C5-7598-A1F0-14EE4D13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89B7-D674-1BF2-90D1-E7E3F4E9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examples: </a:t>
            </a:r>
            <a:r>
              <a:rPr lang="en-US" dirty="0" err="1"/>
              <a:t>wordcount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16C7A-6BD0-2740-DEC5-4E57D72C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62</a:t>
            </a:fld>
            <a:endParaRPr lang="en-US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9F94DB36-4B45-81AD-BF69-BDDDF73E2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6" y="1096962"/>
            <a:ext cx="7048500" cy="5740400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00E0EC7D-F61C-78AB-0604-6C487DAA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6" y="1169612"/>
            <a:ext cx="2945273" cy="451877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6" name="Picture 15" descr="A computer cod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F226EADE-2B75-B8D3-25E9-E0B7092B7E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754"/>
          <a:stretch/>
        </p:blipFill>
        <p:spPr>
          <a:xfrm>
            <a:off x="754296" y="3272589"/>
            <a:ext cx="2451100" cy="201716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4F73F02C-A50E-C7BB-3537-6643EE101874}"/>
              </a:ext>
            </a:extLst>
          </p:cNvPr>
          <p:cNvSpPr/>
          <p:nvPr/>
        </p:nvSpPr>
        <p:spPr>
          <a:xfrm>
            <a:off x="3318277" y="3523245"/>
            <a:ext cx="2059844" cy="61361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E922EC4-7AFE-AE20-B4A7-3A84848B30B1}"/>
              </a:ext>
            </a:extLst>
          </p:cNvPr>
          <p:cNvCxnSpPr/>
          <p:nvPr/>
        </p:nvCxnSpPr>
        <p:spPr>
          <a:xfrm>
            <a:off x="3978442" y="6063916"/>
            <a:ext cx="1090863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5809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9B6CE-B6A1-0D8A-1BF7-D3D89BD32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CF82-4A5F-4A0D-D837-E41707CE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examples: </a:t>
            </a:r>
            <a:r>
              <a:rPr lang="en-US" dirty="0" err="1"/>
              <a:t>wordcount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B2084-D90A-CBC8-4CE8-25957E7C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F3330EB5-DF0A-B223-8DFA-9E590C51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984"/>
          <a:stretch/>
        </p:blipFill>
        <p:spPr>
          <a:xfrm>
            <a:off x="390526" y="5688386"/>
            <a:ext cx="7048500" cy="1148975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273DFCD8-FE73-350D-47F8-FBFCE0F22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026" y="1169612"/>
            <a:ext cx="2945273" cy="451877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6" name="Picture 15" descr="A computer cod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E7827E72-B451-CA08-B3D2-624BBED92C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754"/>
          <a:stretch/>
        </p:blipFill>
        <p:spPr>
          <a:xfrm>
            <a:off x="754296" y="3272589"/>
            <a:ext cx="2451100" cy="201716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8E8C3991-C2B0-EA35-9B9B-7E3A0138D0CD}"/>
              </a:ext>
            </a:extLst>
          </p:cNvPr>
          <p:cNvSpPr/>
          <p:nvPr/>
        </p:nvSpPr>
        <p:spPr>
          <a:xfrm>
            <a:off x="3318277" y="3523245"/>
            <a:ext cx="2059844" cy="61361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5031F6C-0611-B947-FCEA-6BD0B02441DB}"/>
              </a:ext>
            </a:extLst>
          </p:cNvPr>
          <p:cNvCxnSpPr/>
          <p:nvPr/>
        </p:nvCxnSpPr>
        <p:spPr>
          <a:xfrm>
            <a:off x="3978442" y="6063916"/>
            <a:ext cx="1090863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8DDEE68-2C54-EE46-3018-E2BC4B6AB147}"/>
              </a:ext>
            </a:extLst>
          </p:cNvPr>
          <p:cNvSpPr txBox="1"/>
          <p:nvPr/>
        </p:nvSpPr>
        <p:spPr>
          <a:xfrm>
            <a:off x="123495" y="1145832"/>
            <a:ext cx="5254626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Tokenization and converting to messages is done in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parallel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over each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of the RDD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lines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reduceByKey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does a shuffle-sort, doing a pairwise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reduce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 each “run” of messages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2417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Classic park examples: batch logistic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64</a:t>
            </a:fld>
            <a:endParaRPr lang="en-US"/>
          </a:p>
        </p:txBody>
      </p:sp>
      <p:pic>
        <p:nvPicPr>
          <p:cNvPr id="3" name="Picture 2" descr="Screen Shot 2015-10-27 at 10.55.2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" y="1517232"/>
            <a:ext cx="9144000" cy="2584545"/>
          </a:xfrm>
          <a:prstGeom prst="rect">
            <a:avLst/>
          </a:prstGeom>
        </p:spPr>
      </p:pic>
      <p:sp>
        <p:nvSpPr>
          <p:cNvPr id="10" name="Rectangular Callout 9"/>
          <p:cNvSpPr/>
          <p:nvPr/>
        </p:nvSpPr>
        <p:spPr>
          <a:xfrm>
            <a:off x="2355165" y="5124538"/>
            <a:ext cx="2870781" cy="1168753"/>
          </a:xfrm>
          <a:prstGeom prst="wedgeRectCallout">
            <a:avLst>
              <a:gd name="adj1" fmla="val -76633"/>
              <a:gd name="adj2" fmla="val -20099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reduce </a:t>
            </a:r>
            <a:r>
              <a:rPr lang="en-US" sz="2400" dirty="0"/>
              <a:t>is an action – it produces a </a:t>
            </a:r>
            <a:r>
              <a:rPr lang="en-US" sz="2400" dirty="0" err="1"/>
              <a:t>numpy</a:t>
            </a:r>
            <a:r>
              <a:rPr lang="en-US" sz="2400" dirty="0"/>
              <a:t> vector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5787593" y="4703699"/>
            <a:ext cx="2870781" cy="1168753"/>
          </a:xfrm>
          <a:prstGeom prst="wedgeRectCallout">
            <a:avLst>
              <a:gd name="adj1" fmla="val -73893"/>
              <a:gd name="adj2" fmla="val -193305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p.x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/>
              <a:t>w</a:t>
            </a:r>
            <a:r>
              <a:rPr lang="en-US" sz="2400" dirty="0"/>
              <a:t> are vectors, from the </a:t>
            </a:r>
            <a:r>
              <a:rPr lang="en-US" sz="2400" dirty="0" err="1"/>
              <a:t>numpy</a:t>
            </a:r>
            <a:r>
              <a:rPr lang="en-US" sz="2400" dirty="0"/>
              <a:t> package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5360809" y="4726175"/>
            <a:ext cx="3315107" cy="2084200"/>
          </a:xfrm>
          <a:prstGeom prst="wedgeRectCallout">
            <a:avLst>
              <a:gd name="adj1" fmla="val 41859"/>
              <a:gd name="adj2" fmla="val -135168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p.x</a:t>
            </a:r>
            <a:r>
              <a:rPr lang="en-US" sz="2400" b="1" dirty="0"/>
              <a:t> </a:t>
            </a:r>
            <a:r>
              <a:rPr lang="en-US" sz="2400" dirty="0"/>
              <a:t>and </a:t>
            </a:r>
            <a:r>
              <a:rPr lang="en-US" sz="2400" b="1" dirty="0"/>
              <a:t>w</a:t>
            </a:r>
            <a:r>
              <a:rPr lang="en-US" sz="2400" dirty="0"/>
              <a:t> are </a:t>
            </a:r>
            <a:r>
              <a:rPr lang="en-US" sz="2400" i="1" dirty="0"/>
              <a:t>vectors</a:t>
            </a:r>
            <a:r>
              <a:rPr lang="en-US" sz="2400" dirty="0"/>
              <a:t>, from the </a:t>
            </a:r>
            <a:r>
              <a:rPr lang="en-US" sz="2400" dirty="0" err="1"/>
              <a:t>numpy</a:t>
            </a:r>
            <a:r>
              <a:rPr lang="en-US" sz="2400" dirty="0"/>
              <a:t> package.  Python overloads operations like * and + for vectors.</a:t>
            </a:r>
          </a:p>
        </p:txBody>
      </p:sp>
    </p:spTree>
    <p:extLst>
      <p:ext uri="{BB962C8B-B14F-4D97-AF65-F5344CB8AC3E}">
        <p14:creationId xmlns:p14="http://schemas.microsoft.com/office/powerpoint/2010/main" val="102126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 examples: batch logistic regression</a:t>
            </a:r>
          </a:p>
        </p:txBody>
      </p:sp>
      <p:pic>
        <p:nvPicPr>
          <p:cNvPr id="3" name="Picture 2" descr="Screen Shot 2015-10-27 at 10.55.2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" y="1517232"/>
            <a:ext cx="9144000" cy="25845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9400" y="4315399"/>
            <a:ext cx="8565372" cy="230832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Important note</a:t>
            </a:r>
            <a:r>
              <a:rPr lang="en-US" sz="2400" dirty="0"/>
              <a:t>: </a:t>
            </a:r>
            <a:r>
              <a:rPr lang="en-US" sz="2400" dirty="0" err="1"/>
              <a:t>numpy</a:t>
            </a:r>
            <a:r>
              <a:rPr lang="en-US" sz="2400" dirty="0"/>
              <a:t> vectors/matrices are not just “syntactic sugar”. 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They are </a:t>
            </a:r>
            <a:r>
              <a:rPr lang="en-US" sz="2400" i="1" dirty="0"/>
              <a:t>much more compact </a:t>
            </a:r>
            <a:r>
              <a:rPr lang="en-US" sz="2400" dirty="0"/>
              <a:t>than something like a list of python floats.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 err="1"/>
              <a:t>numpy</a:t>
            </a:r>
            <a:r>
              <a:rPr lang="en-US" sz="2400" dirty="0"/>
              <a:t> operations like </a:t>
            </a:r>
            <a:r>
              <a:rPr lang="en-US" sz="2400" b="1" dirty="0"/>
              <a:t>dot, *, + </a:t>
            </a:r>
            <a:r>
              <a:rPr lang="en-US" sz="2400" dirty="0"/>
              <a:t>are calls to </a:t>
            </a:r>
            <a:r>
              <a:rPr lang="en-US" sz="2400" i="1" dirty="0"/>
              <a:t>optimized C code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/>
              <a:t>a little python logic around a lot of </a:t>
            </a:r>
            <a:r>
              <a:rPr lang="en-US" sz="2400" dirty="0" err="1"/>
              <a:t>numpy</a:t>
            </a:r>
            <a:r>
              <a:rPr lang="en-US" sz="2400" dirty="0"/>
              <a:t> calls is pretty efficient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678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 examples: batch logistic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3" name="Picture 2" descr="Screen Shot 2015-10-27 at 10.55.2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" y="1517232"/>
            <a:ext cx="9144000" cy="2584545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5787593" y="4703699"/>
            <a:ext cx="2870781" cy="1168753"/>
          </a:xfrm>
          <a:prstGeom prst="wedgeRectCallout">
            <a:avLst>
              <a:gd name="adj1" fmla="val -75459"/>
              <a:gd name="adj2" fmla="val -18945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w</a:t>
            </a:r>
            <a:r>
              <a:rPr lang="en-US" sz="2400" dirty="0"/>
              <a:t> is defined </a:t>
            </a:r>
            <a:r>
              <a:rPr lang="en-US" sz="2400" i="1" dirty="0"/>
              <a:t>outside</a:t>
            </a:r>
            <a:r>
              <a:rPr lang="en-US" sz="2400" dirty="0"/>
              <a:t> the lambda function, but used </a:t>
            </a:r>
            <a:r>
              <a:rPr lang="en-US" sz="2400" i="1" dirty="0"/>
              <a:t>inside</a:t>
            </a:r>
            <a:r>
              <a:rPr lang="en-US" sz="2400" dirty="0"/>
              <a:t> it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651838" y="4957241"/>
            <a:ext cx="4810117" cy="1853134"/>
          </a:xfrm>
          <a:prstGeom prst="wedgeRectCallout">
            <a:avLst>
              <a:gd name="adj1" fmla="val 40251"/>
              <a:gd name="adj2" fmla="val -15176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So: python builds a </a:t>
            </a:r>
            <a:r>
              <a:rPr lang="en-US" sz="2400" i="1" dirty="0"/>
              <a:t>closure</a:t>
            </a:r>
            <a:r>
              <a:rPr lang="en-US" sz="2400" dirty="0"/>
              <a:t> – code including the </a:t>
            </a:r>
            <a:r>
              <a:rPr lang="en-US" sz="2400" i="1" dirty="0"/>
              <a:t>current value </a:t>
            </a:r>
            <a:r>
              <a:rPr lang="en-US" sz="2400" dirty="0"/>
              <a:t>of </a:t>
            </a:r>
            <a:r>
              <a:rPr lang="en-US" sz="2400" b="1" dirty="0"/>
              <a:t>w </a:t>
            </a:r>
            <a:r>
              <a:rPr lang="en-US" sz="2400" dirty="0"/>
              <a:t>– and Spark ships it off to each worker.  So </a:t>
            </a:r>
            <a:r>
              <a:rPr lang="en-US" sz="2400" b="1" dirty="0"/>
              <a:t>w </a:t>
            </a:r>
            <a:r>
              <a:rPr lang="en-US" sz="2400" dirty="0"/>
              <a:t>is </a:t>
            </a:r>
            <a:r>
              <a:rPr lang="en-US" sz="2400" i="1" dirty="0"/>
              <a:t>copied</a:t>
            </a:r>
            <a:r>
              <a:rPr lang="en-US" sz="2400" dirty="0"/>
              <a:t>, and must be </a:t>
            </a:r>
            <a:r>
              <a:rPr lang="en-US" sz="2400" i="1" dirty="0"/>
              <a:t>read-only.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941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 examples: batch logistic regression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3" name="Picture 2" descr="Screen Shot 2015-10-27 at 10.55.2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" y="1517232"/>
            <a:ext cx="9144000" cy="2584545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5787593" y="4703699"/>
            <a:ext cx="3140507" cy="1168753"/>
          </a:xfrm>
          <a:prstGeom prst="wedgeRectCallout">
            <a:avLst>
              <a:gd name="adj1" fmla="val -36851"/>
              <a:gd name="adj2" fmla="val -29021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dataset of points is cached in cluster memory to reduce i/o</a:t>
            </a:r>
          </a:p>
        </p:txBody>
      </p:sp>
    </p:spTree>
    <p:extLst>
      <p:ext uri="{BB962C8B-B14F-4D97-AF65-F5344CB8AC3E}">
        <p14:creationId xmlns:p14="http://schemas.microsoft.com/office/powerpoint/2010/main" val="192918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9D8C-1B29-9F96-C770-C633502DF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BE54-BB7E-A1D9-FF11-DDAA942C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Spark examples: batch 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AE88-B439-2749-ACCD-216EF22E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3" name="Picture 2" descr="Screen Shot 2015-10-27 at 10.55.25 AM.png">
            <a:extLst>
              <a:ext uri="{FF2B5EF4-FFF2-40B4-BE49-F238E27FC236}">
                <a16:creationId xmlns:a16="http://schemas.microsoft.com/office/drawing/2014/main" id="{096B912B-66BB-2326-3C8D-A1BA94D57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0" y="1517232"/>
            <a:ext cx="9144000" cy="2584545"/>
          </a:xfrm>
          <a:prstGeom prst="rect">
            <a:avLst/>
          </a:prstGeom>
        </p:spPr>
      </p:pic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7F2C54D2-01F8-1868-8695-600B175E4436}"/>
              </a:ext>
            </a:extLst>
          </p:cNvPr>
          <p:cNvSpPr/>
          <p:nvPr/>
        </p:nvSpPr>
        <p:spPr>
          <a:xfrm>
            <a:off x="5374105" y="896499"/>
            <a:ext cx="3092381" cy="1766490"/>
          </a:xfrm>
          <a:prstGeom prst="wedgeRectCallout">
            <a:avLst>
              <a:gd name="adj1" fmla="val -110457"/>
              <a:gd name="adj2" fmla="val 49102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gradient computation is done </a:t>
            </a:r>
            <a:r>
              <a:rPr lang="en-US" sz="2400" i="1" dirty="0"/>
              <a:t>in parallel, locally on each worker, </a:t>
            </a:r>
            <a:r>
              <a:rPr lang="en-US" sz="2400" dirty="0"/>
              <a:t>using data kept </a:t>
            </a:r>
            <a:r>
              <a:rPr lang="en-US" sz="2400" i="1" dirty="0"/>
              <a:t>in memory.  </a:t>
            </a:r>
            <a:endParaRPr lang="en-US" sz="2400" dirty="0"/>
          </a:p>
        </p:txBody>
      </p:sp>
      <p:sp>
        <p:nvSpPr>
          <p:cNvPr id="5" name="Rectangular Callout 4">
            <a:extLst>
              <a:ext uri="{FF2B5EF4-FFF2-40B4-BE49-F238E27FC236}">
                <a16:creationId xmlns:a16="http://schemas.microsoft.com/office/drawing/2014/main" id="{089F9FBC-1053-66F9-9846-D28E51D5C288}"/>
              </a:ext>
            </a:extLst>
          </p:cNvPr>
          <p:cNvSpPr/>
          <p:nvPr/>
        </p:nvSpPr>
        <p:spPr>
          <a:xfrm>
            <a:off x="592288" y="4668253"/>
            <a:ext cx="3539825" cy="1959559"/>
          </a:xfrm>
          <a:prstGeom prst="wedgeRectCallout">
            <a:avLst>
              <a:gd name="adj1" fmla="val 16858"/>
              <a:gd name="adj2" fmla="val -118421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summing the gradient vectors is done </a:t>
            </a:r>
            <a:r>
              <a:rPr lang="en-US" sz="2400" i="1" dirty="0"/>
              <a:t>in parallel</a:t>
            </a:r>
            <a:r>
              <a:rPr lang="en-US" sz="2400" dirty="0"/>
              <a:t>, and intermediate sums are set across the network</a:t>
            </a:r>
          </a:p>
        </p:txBody>
      </p:sp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40CB48AB-8116-FFC6-C3B5-69F686D42369}"/>
              </a:ext>
            </a:extLst>
          </p:cNvPr>
          <p:cNvSpPr/>
          <p:nvPr/>
        </p:nvSpPr>
        <p:spPr>
          <a:xfrm>
            <a:off x="5787593" y="5204971"/>
            <a:ext cx="3140507" cy="1533878"/>
          </a:xfrm>
          <a:prstGeom prst="wedgeRectCallout">
            <a:avLst>
              <a:gd name="adj1" fmla="val -158425"/>
              <a:gd name="adj2" fmla="val -15844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updating the weights is done on the local machine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92968271-3DE9-25B9-0846-D60667F1F9EF}"/>
              </a:ext>
            </a:extLst>
          </p:cNvPr>
          <p:cNvSpPr/>
          <p:nvPr/>
        </p:nvSpPr>
        <p:spPr>
          <a:xfrm>
            <a:off x="1458429" y="227006"/>
            <a:ext cx="3092381" cy="1533878"/>
          </a:xfrm>
          <a:prstGeom prst="wedgeRectCallout">
            <a:avLst>
              <a:gd name="adj1" fmla="val -23823"/>
              <a:gd name="adj2" fmla="val 117659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The lambda function, including the current value of w, is </a:t>
            </a:r>
            <a:r>
              <a:rPr lang="en-US" sz="2400" i="1" dirty="0"/>
              <a:t>broadcast</a:t>
            </a:r>
            <a:r>
              <a:rPr lang="en-US" sz="2400" dirty="0"/>
              <a:t> to the workers</a:t>
            </a:r>
          </a:p>
        </p:txBody>
      </p:sp>
    </p:spTree>
    <p:extLst>
      <p:ext uri="{BB962C8B-B14F-4D97-AF65-F5344CB8AC3E}">
        <p14:creationId xmlns:p14="http://schemas.microsoft.com/office/powerpoint/2010/main" val="337619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logistic regression example</a:t>
            </a:r>
          </a:p>
        </p:txBody>
      </p:sp>
      <p:pic>
        <p:nvPicPr>
          <p:cNvPr id="3" name="Picture 2" descr="Screen Shot 2012-02-15 at 11.39.5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3350"/>
            <a:ext cx="9080500" cy="5041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18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3310</TotalTime>
  <Words>4135</Words>
  <Application>Microsoft Macintosh PowerPoint</Application>
  <PresentationFormat>On-screen Show (4:3)</PresentationFormat>
  <Paragraphs>756</Paragraphs>
  <Slides>69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ＭＳ Ｐゴシック</vt:lpstr>
      <vt:lpstr>Arial</vt:lpstr>
      <vt:lpstr>Book Antiqua</vt:lpstr>
      <vt:lpstr>Calibri</vt:lpstr>
      <vt:lpstr>Cambria Math</vt:lpstr>
      <vt:lpstr>Courier New</vt:lpstr>
      <vt:lpstr>Gill Sans MT</vt:lpstr>
      <vt:lpstr>Palatino</vt:lpstr>
      <vt:lpstr>Times New Roman</vt:lpstr>
      <vt:lpstr>Wingdings</vt:lpstr>
      <vt:lpstr>Office Theme</vt:lpstr>
      <vt:lpstr>10-605 / 10-405 Map-Reduce and Spark</vt:lpstr>
      <vt:lpstr>Monday’s recap</vt:lpstr>
      <vt:lpstr>COST OF OPERATIONS</vt:lpstr>
      <vt:lpstr>What computers act like</vt:lpstr>
      <vt:lpstr>What computers act like</vt:lpstr>
      <vt:lpstr>Visualize the cost of operations</vt:lpstr>
      <vt:lpstr>Visualize the cost of operations</vt:lpstr>
      <vt:lpstr>Visualize the cost of operations</vt:lpstr>
      <vt:lpstr>Summary: What do we count?</vt:lpstr>
      <vt:lpstr>Density Estimates and NAÏVE BAYES</vt:lpstr>
      <vt:lpstr>The Joint Density</vt:lpstr>
      <vt:lpstr>The Joint Can Be Used To Implement A Classifier</vt:lpstr>
      <vt:lpstr>An experiment: how useful is that classifier?</vt:lpstr>
      <vt:lpstr>An experiment: how useful is that classifier?</vt:lpstr>
      <vt:lpstr>A “naïve” estimate of joint probability</vt:lpstr>
      <vt:lpstr>A “naïve” but useful estimate of joint probability</vt:lpstr>
      <vt:lpstr>Naïve Bayes refinement - 1</vt:lpstr>
      <vt:lpstr>Naïve Bayes refinement - 2</vt:lpstr>
      <vt:lpstr>Naïve Bayes refinements</vt:lpstr>
      <vt:lpstr>Classification vs Density Estimation</vt:lpstr>
      <vt:lpstr>Classification vs density estimation</vt:lpstr>
      <vt:lpstr>DISTRIBUTED PROCESSING FOR LARGE FILES</vt:lpstr>
      <vt:lpstr>Linear-time Tasks</vt:lpstr>
      <vt:lpstr>Embarassingly Parallel Tasks</vt:lpstr>
      <vt:lpstr>Embarrassingly parallel (or not) ?</vt:lpstr>
      <vt:lpstr>Another nearly-linear operation</vt:lpstr>
      <vt:lpstr>How does sorting help?</vt:lpstr>
      <vt:lpstr>Similarity and duplicate detection</vt:lpstr>
      <vt:lpstr>Compute Scaling Laws = Data Scaling Laws</vt:lpstr>
      <vt:lpstr>Small-vocabulary word count: high level view</vt:lpstr>
      <vt:lpstr>Small-vocabulary word count: high level view</vt:lpstr>
      <vt:lpstr>Large-vocabulary word count: distributed counters</vt:lpstr>
      <vt:lpstr>Large-vocabulary word count with sorting</vt:lpstr>
      <vt:lpstr>Map-Reduce is Distributed Stream-and-Sort:  Map, Shuffle-Sort, Reduce</vt:lpstr>
      <vt:lpstr>Partitioning Messages for Word Count</vt:lpstr>
      <vt:lpstr>PowerPoint Presentation</vt:lpstr>
      <vt:lpstr>PowerPoint Presentation</vt:lpstr>
      <vt:lpstr>PowerPoint Presentation</vt:lpstr>
      <vt:lpstr>PowerPoint Presentation</vt:lpstr>
      <vt:lpstr>Map-Reduce FRAMEWORKS</vt:lpstr>
      <vt:lpstr>Frameworks</vt:lpstr>
      <vt:lpstr>Frameworks</vt:lpstr>
      <vt:lpstr>Frameworks</vt:lpstr>
      <vt:lpstr>Frameworks</vt:lpstr>
      <vt:lpstr>Abstractions For  Map-Reduce </vt:lpstr>
      <vt:lpstr>Abstractions On Top Of Map-Reduce</vt:lpstr>
      <vt:lpstr>Abstractions On Top Of Map-Reduce</vt:lpstr>
      <vt:lpstr>flashback: Naïve Bayes</vt:lpstr>
      <vt:lpstr>naïve Bayes at test time</vt:lpstr>
      <vt:lpstr>naïve Bayes at test time</vt:lpstr>
      <vt:lpstr>PowerPoint Presentation</vt:lpstr>
      <vt:lpstr>Spark: A High-Level Dataflow Language</vt:lpstr>
      <vt:lpstr>Spark</vt:lpstr>
      <vt:lpstr>Spark</vt:lpstr>
      <vt:lpstr>Spark examples</vt:lpstr>
      <vt:lpstr>Spark examples</vt:lpstr>
      <vt:lpstr>Spark examples</vt:lpstr>
      <vt:lpstr>Spark examples</vt:lpstr>
      <vt:lpstr>Spark examples: wordcount</vt:lpstr>
      <vt:lpstr>Recap: Distributed Stream-and-Sort:  Map, Shuffle-Sort, Reduce</vt:lpstr>
      <vt:lpstr>Classic PySpark examples: wordcount</vt:lpstr>
      <vt:lpstr>Spark examples: wordcount</vt:lpstr>
      <vt:lpstr>Spark examples: wordcount</vt:lpstr>
      <vt:lpstr>Classic park examples: batch logistic regression</vt:lpstr>
      <vt:lpstr>Spark examples: batch logistic regression</vt:lpstr>
      <vt:lpstr>Spark examples: batch logistic regression</vt:lpstr>
      <vt:lpstr>Spark examples: batch logistic regression</vt:lpstr>
      <vt:lpstr>Spark examples: batch logistic regression</vt:lpstr>
      <vt:lpstr>Spark logistic regression example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from Big Datasets</dc:title>
  <dc:creator>William Cohen</dc:creator>
  <cp:lastModifiedBy>William W Cohen</cp:lastModifiedBy>
  <cp:revision>560</cp:revision>
  <dcterms:created xsi:type="dcterms:W3CDTF">2013-01-13T19:42:44Z</dcterms:created>
  <dcterms:modified xsi:type="dcterms:W3CDTF">2025-01-15T19:18:16Z</dcterms:modified>
</cp:coreProperties>
</file>