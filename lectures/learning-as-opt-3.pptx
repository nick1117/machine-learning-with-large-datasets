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0"/>
  </p:notesMasterIdLst>
  <p:handoutMasterIdLst>
    <p:handoutMasterId r:id="rId101"/>
  </p:handoutMasterIdLst>
  <p:sldIdLst>
    <p:sldId id="375" r:id="rId2"/>
    <p:sldId id="448" r:id="rId3"/>
    <p:sldId id="449" r:id="rId4"/>
    <p:sldId id="256" r:id="rId5"/>
    <p:sldId id="401" r:id="rId6"/>
    <p:sldId id="458" r:id="rId7"/>
    <p:sldId id="280" r:id="rId8"/>
    <p:sldId id="281" r:id="rId9"/>
    <p:sldId id="282" r:id="rId10"/>
    <p:sldId id="374" r:id="rId11"/>
    <p:sldId id="358" r:id="rId12"/>
    <p:sldId id="399" r:id="rId13"/>
    <p:sldId id="416" r:id="rId14"/>
    <p:sldId id="400" r:id="rId15"/>
    <p:sldId id="408" r:id="rId16"/>
    <p:sldId id="409" r:id="rId17"/>
    <p:sldId id="403" r:id="rId18"/>
    <p:sldId id="417" r:id="rId19"/>
    <p:sldId id="419" r:id="rId20"/>
    <p:sldId id="402" r:id="rId21"/>
    <p:sldId id="420" r:id="rId22"/>
    <p:sldId id="258" r:id="rId23"/>
    <p:sldId id="445" r:id="rId24"/>
    <p:sldId id="446" r:id="rId25"/>
    <p:sldId id="447" r:id="rId26"/>
    <p:sldId id="404" r:id="rId27"/>
    <p:sldId id="259" r:id="rId28"/>
    <p:sldId id="260" r:id="rId29"/>
    <p:sldId id="261" r:id="rId30"/>
    <p:sldId id="405" r:id="rId31"/>
    <p:sldId id="421" r:id="rId32"/>
    <p:sldId id="406" r:id="rId33"/>
    <p:sldId id="407" r:id="rId34"/>
    <p:sldId id="460" r:id="rId35"/>
    <p:sldId id="291" r:id="rId36"/>
    <p:sldId id="411" r:id="rId37"/>
    <p:sldId id="279" r:id="rId38"/>
    <p:sldId id="412" r:id="rId39"/>
    <p:sldId id="413" r:id="rId40"/>
    <p:sldId id="414" r:id="rId41"/>
    <p:sldId id="283" r:id="rId42"/>
    <p:sldId id="284" r:id="rId43"/>
    <p:sldId id="422" r:id="rId44"/>
    <p:sldId id="415" r:id="rId45"/>
    <p:sldId id="423" r:id="rId46"/>
    <p:sldId id="266" r:id="rId47"/>
    <p:sldId id="267" r:id="rId48"/>
    <p:sldId id="268" r:id="rId49"/>
    <p:sldId id="269" r:id="rId50"/>
    <p:sldId id="424" r:id="rId51"/>
    <p:sldId id="425" r:id="rId52"/>
    <p:sldId id="426" r:id="rId53"/>
    <p:sldId id="427" r:id="rId54"/>
    <p:sldId id="428" r:id="rId55"/>
    <p:sldId id="310" r:id="rId56"/>
    <p:sldId id="311" r:id="rId57"/>
    <p:sldId id="312" r:id="rId58"/>
    <p:sldId id="322" r:id="rId59"/>
    <p:sldId id="313" r:id="rId60"/>
    <p:sldId id="429" r:id="rId61"/>
    <p:sldId id="257" r:id="rId62"/>
    <p:sldId id="318" r:id="rId63"/>
    <p:sldId id="323" r:id="rId64"/>
    <p:sldId id="320" r:id="rId65"/>
    <p:sldId id="324" r:id="rId66"/>
    <p:sldId id="326" r:id="rId67"/>
    <p:sldId id="335" r:id="rId68"/>
    <p:sldId id="336" r:id="rId69"/>
    <p:sldId id="340" r:id="rId70"/>
    <p:sldId id="338" r:id="rId71"/>
    <p:sldId id="339" r:id="rId72"/>
    <p:sldId id="341" r:id="rId73"/>
    <p:sldId id="325" r:id="rId74"/>
    <p:sldId id="430" r:id="rId75"/>
    <p:sldId id="431" r:id="rId76"/>
    <p:sldId id="432" r:id="rId77"/>
    <p:sldId id="433" r:id="rId78"/>
    <p:sldId id="434" r:id="rId79"/>
    <p:sldId id="435" r:id="rId80"/>
    <p:sldId id="321" r:id="rId81"/>
    <p:sldId id="438" r:id="rId82"/>
    <p:sldId id="277" r:id="rId83"/>
    <p:sldId id="436" r:id="rId84"/>
    <p:sldId id="437" r:id="rId85"/>
    <p:sldId id="270" r:id="rId86"/>
    <p:sldId id="273" r:id="rId87"/>
    <p:sldId id="272" r:id="rId88"/>
    <p:sldId id="274" r:id="rId89"/>
    <p:sldId id="275" r:id="rId90"/>
    <p:sldId id="271" r:id="rId91"/>
    <p:sldId id="439" r:id="rId92"/>
    <p:sldId id="315" r:id="rId93"/>
    <p:sldId id="441" r:id="rId94"/>
    <p:sldId id="442" r:id="rId95"/>
    <p:sldId id="443" r:id="rId96"/>
    <p:sldId id="444" r:id="rId97"/>
    <p:sldId id="297" r:id="rId98"/>
    <p:sldId id="314" r:id="rId9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6469" autoAdjust="0"/>
  </p:normalViewPr>
  <p:slideViewPr>
    <p:cSldViewPr snapToGrid="0" snapToObjects="1">
      <p:cViewPr varScale="1">
        <p:scale>
          <a:sx n="68" d="100"/>
          <a:sy n="68" d="100"/>
        </p:scale>
        <p:origin x="19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09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F0505-553C-1844-8F1C-A35E447154FE}" type="datetimeFigureOut">
              <a:rPr lang="en-US" smtClean="0"/>
              <a:t>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98CC2-B458-894C-A0B1-87C03750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611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812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ingpipe-blog.com/2009/02/16/rennie-shih-teevan-and-karger-2003-tackling-poor-assumptions-naive-bayes-text-classifiers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google.com/url?sa=t&amp;rct=j&amp;q=&amp;esrc=s&amp;source=web&amp;cd=5&amp;ved=0CFYQFjAE&amp;url=http://www.aaai.org/Library/ICML/2003/icml03-081.php&amp;ei=aGcpT5qsOuOJ0QGB2L3DAQ&amp;usg=AFQjCNFZv_c7ZDr35L4DD2JBXsKj2ziLGQ&amp;sig2=QuE5HOr0SdhuY4KqIfNPew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0ACB-4FAC-E089-20EA-F1037B80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5A9A0-7C51-1BD6-B449-00D5527B4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8A1F9-7DDC-1104-8E2A-874458696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bounces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B0E58-E3BF-8B20-9E6E-CC339E17A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96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F203-6B0D-54E6-CF5F-91C86E60C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1342C-FFE2-15CD-797F-7FF3A0E4C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93C23-EC50-B521-31A2-9613B11FE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40F4E-7393-F821-1688-8A25E016B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76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DEF3-FF8D-26C1-854F-48841FF5E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C2BFF-74F9-94C7-235F-10FBD69AB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B3D2A-CF3A-20E1-920E-E5CBE765D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E1986-C3A0-7555-0603-D4097AE25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6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BD4CD-F80B-97E8-A365-CAFE91554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8FA5D-48B4-9030-D6E0-9B1ED7221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D5D1B-1A4A-9805-0075-7B9DC47ED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5E721-4EAC-3106-D202-EBCB61AF6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60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24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E677C-A0F9-5490-FED3-AB3514661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D5647-0999-796E-FFCD-A44844AD3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4176D-D38A-84E0-526A-EE716AC15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4BBF4-1B0F-68DF-6F72-995A7FC1E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36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EC722-4772-A65C-EBD4-5C4BB65A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D0BE8-A517-0827-B8B5-72CA72FCB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839B5-16B0-EC73-8932-567D746C7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3F2CA-585F-DDBF-E5AB-604DDA805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3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F57E3-D476-6E1E-3440-F0030757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2D407-13BD-ED3F-63F6-22259F428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C18E8-C148-18BD-5E57-0AD4D6249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E056C-C3B6-8EB7-8503-A169129E8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87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37767-1171-643D-BD41-FE79F79D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909E34-E22B-0A14-E2CB-63432A7A3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1B9E5-B60E-2214-F44D-1A713B3CD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C67FD-AD68-6578-D764-1182D0534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21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F5F3D-19C9-E90E-7298-ACB31A02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E95CE-DC4F-4AC8-0CD7-F4101CF5A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A1930-9D93-4C25-DC8B-55A5D6FD7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746BA-C77B-970D-0066-3581033E1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30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hlinkClick r:id="rId3"/>
              </a:rPr>
              <a:t>Rennie, Shih, Teevan, and Karger (2003) </a:t>
            </a:r>
            <a:r>
              <a:rPr lang="en-US" b="1" i="1" dirty="0">
                <a:hlinkClick r:id="rId3"/>
              </a:rPr>
              <a:t>Tackling </a:t>
            </a:r>
            <a:r>
              <a:rPr lang="en-US" b="1" i="1">
                <a:hlinkClick r:id="rId3"/>
              </a:rPr>
              <a:t>the Poor</a:t>
            </a:r>
            <a:r>
              <a:rPr lang="en-US" b="1" i="1">
                <a:hlinkClick r:id="rId4"/>
              </a:rPr>
              <a:t> </a:t>
            </a:r>
            <a:r>
              <a:rPr lang="en-US" b="1" i="1" dirty="0">
                <a:hlinkClick r:id="rId4"/>
              </a:rPr>
              <a:t>Assumptions of Naive Bayes Text Classifiers</a:t>
            </a:r>
            <a:r>
              <a:rPr lang="en-US" b="1" dirty="0">
                <a:hlinkClick r:id="rId3"/>
              </a:rPr>
              <a:t>.</a:t>
            </a:r>
            <a:endParaRPr lang="en-US" b="1" dirty="0"/>
          </a:p>
          <a:p>
            <a:r>
              <a:rPr lang="en-US" i="1" dirty="0" err="1"/>
              <a:t>lingpipe-blog.com</a:t>
            </a:r>
            <a:r>
              <a:rPr lang="en-US" i="1" dirty="0"/>
              <a:t>/.../rennie-shih-teevan-and-karger-2003-</a:t>
            </a:r>
            <a:r>
              <a:rPr lang="en-US" b="1" i="1" dirty="0"/>
              <a:t>tackling</a:t>
            </a:r>
            <a:r>
              <a:rPr lang="en-US" i="1" dirty="0"/>
              <a:t>-</a:t>
            </a:r>
            <a:r>
              <a:rPr lang="en-US" b="1" i="1" dirty="0"/>
              <a:t>p</a:t>
            </a:r>
            <a:r>
              <a:rPr lang="en-US" i="1" dirty="0"/>
              <a:t>...</a:t>
            </a:r>
            <a:endParaRPr lang="en-US" dirty="0"/>
          </a:p>
          <a:p>
            <a:r>
              <a:rPr lang="en-US" dirty="0"/>
              <a:t>Feb 16, 2009 – </a:t>
            </a:r>
            <a:r>
              <a:rPr lang="en-US" dirty="0" err="1"/>
              <a:t>Rennie</a:t>
            </a:r>
            <a:r>
              <a:rPr lang="en-US" dirty="0"/>
              <a:t>, Shih, </a:t>
            </a:r>
            <a:r>
              <a:rPr lang="en-US" dirty="0" err="1"/>
              <a:t>Teevan</a:t>
            </a:r>
            <a:r>
              <a:rPr lang="en-US" dirty="0"/>
              <a:t>, </a:t>
            </a:r>
            <a:r>
              <a:rPr lang="en-US" dirty="0" err="1"/>
              <a:t>Karger</a:t>
            </a:r>
            <a:r>
              <a:rPr lang="en-US" dirty="0"/>
              <a:t> (2003) </a:t>
            </a:r>
            <a:r>
              <a:rPr lang="en-US" i="1" dirty="0"/>
              <a:t>Tackling the Poor Assumptions of Naive Bayes Text Classifiers</a:t>
            </a:r>
            <a:r>
              <a:rPr lang="en-US" dirty="0"/>
              <a:t>. In ICML. </a:t>
            </a:r>
            <a:r>
              <a:rPr lang="en-US" dirty="0" err="1"/>
              <a:t>Rennie</a:t>
            </a:r>
            <a:r>
              <a:rPr lang="en-US" dirty="0"/>
              <a:t> et al. introduce four </a:t>
            </a:r>
            <a:r>
              <a:rPr lang="en-US" b="1" dirty="0"/>
              <a:t>...</a:t>
            </a:r>
            <a:br>
              <a:rPr lang="en-US" dirty="0"/>
            </a:br>
            <a:endParaRPr lang="en-US" dirty="0"/>
          </a:p>
          <a:p>
            <a:r>
              <a:rPr lang="en-US" b="1" i="1" dirty="0">
                <a:hlinkClick r:id="rId4"/>
              </a:rPr>
              <a:t>Tackling the </a:t>
            </a:r>
            <a:r>
              <a:rPr lang="en-US" b="1" dirty="0">
                <a:hlinkClick r:id="rId4"/>
              </a:rPr>
              <a:t>- AAAI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23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9" name="Shape 1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228600" indent="-228600" rtl="0">
              <a:spcBef>
                <a:spcPts val="0"/>
              </a:spcBef>
              <a:buAutoNum type="arabicPeriod"/>
            </a:pPr>
            <a:r>
              <a:rPr lang="en-US" dirty="0"/>
              <a:t>Data</a:t>
            </a:r>
            <a:r>
              <a:rPr lang="en-US" baseline="0" dirty="0"/>
              <a:t> parallelism naturally leads to the parameter server abstraction.</a:t>
            </a:r>
          </a:p>
          <a:p>
            <a:pPr marL="228600" indent="-228600" rtl="0">
              <a:spcBef>
                <a:spcPts val="0"/>
              </a:spcBef>
              <a:buAutoNum type="arabicPeriod"/>
            </a:pPr>
            <a:r>
              <a:rPr lang="en-US" baseline="0" dirty="0"/>
              <a:t>Data is distributed among worker machines.</a:t>
            </a:r>
          </a:p>
          <a:p>
            <a:pPr marL="228600" indent="-228600" rtl="0">
              <a:spcBef>
                <a:spcPts val="0"/>
              </a:spcBef>
              <a:buAutoNum type="arabicPeriod"/>
            </a:pPr>
            <a:r>
              <a:rPr lang="en-US" dirty="0"/>
              <a:t>Parameters are distributed on parameter server machines, served to</a:t>
            </a:r>
            <a:r>
              <a:rPr lang="en-US" baseline="0" dirty="0"/>
              <a:t> workers via a key-value interface.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514447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Different parts of the model can be stored on different parameter servers.</a:t>
            </a:r>
          </a:p>
          <a:p>
            <a:pPr marL="228600" indent="-228600">
              <a:buAutoNum type="arabicPeriod"/>
            </a:pPr>
            <a:r>
              <a:rPr lang="en-US" dirty="0"/>
              <a:t>Workers just retrieve the parts it needs from</a:t>
            </a:r>
            <a:r>
              <a:rPr lang="en-US" baseline="0" dirty="0"/>
              <a:t> the corresponding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EFFACE-8671-2E47-86B3-81A7F947771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04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Different parts of the model can be stored on different parameter servers.</a:t>
            </a:r>
          </a:p>
          <a:p>
            <a:pPr marL="228600" indent="-228600">
              <a:buAutoNum type="arabicPeriod"/>
            </a:pPr>
            <a:r>
              <a:rPr lang="en-US" dirty="0"/>
              <a:t>Workers just retrieve the parts it needs from</a:t>
            </a:r>
            <a:r>
              <a:rPr lang="en-US" baseline="0" dirty="0"/>
              <a:t> the corresponding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EFFACE-8671-2E47-86B3-81A7F947771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85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Parameter</a:t>
            </a:r>
            <a:r>
              <a:rPr lang="en-US" baseline="0" dirty="0"/>
              <a:t> servers use a simple key-value store API.</a:t>
            </a:r>
          </a:p>
          <a:p>
            <a:pPr marL="228600" indent="-228600">
              <a:buAutoNum type="arabicPeriod"/>
            </a:pPr>
            <a:r>
              <a:rPr lang="en-US" baseline="0" dirty="0"/>
              <a:t>Get: retrieve values from server, and generate delta.</a:t>
            </a:r>
          </a:p>
          <a:p>
            <a:pPr marL="228600" indent="-228600">
              <a:buAutoNum type="arabicPeriod"/>
            </a:pPr>
            <a:r>
              <a:rPr lang="en-US" baseline="0" dirty="0"/>
              <a:t>Add: send delta to servers and generate new model.</a:t>
            </a:r>
          </a:p>
          <a:p>
            <a:pPr marL="228600" indent="-228600">
              <a:buAutoNum type="arabicPeriod"/>
            </a:pPr>
            <a:r>
              <a:rPr lang="en-US" baseline="0" dirty="0"/>
              <a:t>Key advantage: algorithms look like single thread. No need to create complicated pipeline of joins, maps, etc. like in </a:t>
            </a:r>
            <a:r>
              <a:rPr lang="en-US" baseline="0" dirty="0" err="1"/>
              <a:t>MapReduce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15C1A-7619-F842-ADB3-2B982DE9A3B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126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https://technowiki.wordpress.com/2011/08/27/latent-semantic-analysis-lsa-tutorial/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183FE4A-C95C-FE4A-A4CB-BE1D1C95E637}" type="slidenum">
              <a:rPr lang="en-US" sz="1200"/>
              <a:pPr eaLnBrk="1" hangingPunct="1"/>
              <a:t>67</a:t>
            </a:fld>
            <a:endParaRPr 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https://technowiki.wordpress.com/2011/08/27/latent-semantic-analysis-lsa-tutorial/</a:t>
            </a: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B7DF812-14FD-A84A-8231-B514B655EFF5}" type="slidenum">
              <a:rPr lang="en-US" sz="1200"/>
              <a:pPr eaLnBrk="1" hangingPunct="1"/>
              <a:t>68</a:t>
            </a:fld>
            <a:endParaRPr 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37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328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86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A69-097D-544B-93AE-A55154BC5319}" type="datetime1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73801488-EA7D-3C44-9B9E-7061516FFEFC}" type="datetime1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FA7A-B573-EB4F-97EB-7E771ABBC408}" type="datetime1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D9FEE-6F1D-3648-8D87-00183A89083D}" type="datetime1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2745-96C1-2643-93BD-28D46AEB4671}" type="datetime1">
              <a:rPr lang="en-US" smtClean="0"/>
              <a:t>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C73-B16A-9642-8A87-C091FA74CB0D}" type="datetime1">
              <a:rPr lang="en-US" smtClean="0"/>
              <a:t>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5F027-174B-0D4B-A2A9-E2397B3EDE8D}" type="datetime1">
              <a:rPr lang="en-US" smtClean="0"/>
              <a:t>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CCF1C-CB40-E04B-A45B-E0994DD796C3}" type="datetime1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536E-D9A7-404A-B920-147BE5A1A229}" type="datetime1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F203-681B-F746-9CD6-F1A57AB603C2}" type="datetime1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8892-7880-7041-A5BD-669492E17F55}" type="datetime1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556791" y="6333134"/>
            <a:ext cx="548699" cy="5246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spcBef>
                <a:spcPts val="0"/>
              </a:spcBef>
              <a:buNone/>
              <a:defRPr/>
            </a:lvl1pPr>
          </a:lstStyle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6141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4EA5E-C51E-2E48-869C-DF8E7AB417DA}" type="datetime1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rxiv.org/abs/2003.06307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12.19437" TargetMode="External"/><Relationship Id="rId2" Type="http://schemas.openxmlformats.org/officeDocument/2006/relationships/hyperlink" Target="https://arxiv.org/abs/2003.06307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12.19437" TargetMode="Externa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0774" y="4677719"/>
            <a:ext cx="2496312" cy="1752600"/>
          </a:xfrm>
        </p:spPr>
        <p:txBody>
          <a:bodyPr/>
          <a:lstStyle/>
          <a:p>
            <a:r>
              <a:rPr lang="en-US" dirty="0"/>
              <a:t>10-605 / 10-405</a:t>
            </a:r>
          </a:p>
        </p:txBody>
      </p:sp>
      <p:pic>
        <p:nvPicPr>
          <p:cNvPr id="5" name="Picture 4" descr="A poster with text and a person in a suit&#10;&#10;AI-generated content may be incorrect.">
            <a:extLst>
              <a:ext uri="{FF2B5EF4-FFF2-40B4-BE49-F238E27FC236}">
                <a16:creationId xmlns:a16="http://schemas.microsoft.com/office/drawing/2014/main" id="{5CBBC392-C6FE-6C4C-6065-838EECFE9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395" y="0"/>
            <a:ext cx="4690379" cy="689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2AED-A54D-B099-B1F8-FA421BF39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course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D35BB-25F6-CF2B-3603-F4EC41F7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400481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Why bigdata is important in ML</a:t>
            </a:r>
          </a:p>
          <a:p>
            <a:r>
              <a:rPr lang="en-US" dirty="0"/>
              <a:t>History of bigdata in ML</a:t>
            </a:r>
          </a:p>
          <a:p>
            <a:r>
              <a:rPr lang="en-US" dirty="0"/>
              <a:t>Scalable computation on clusters</a:t>
            </a:r>
          </a:p>
          <a:p>
            <a:pPr lvl="1"/>
            <a:r>
              <a:rPr lang="en-US" dirty="0"/>
              <a:t>MapReduce</a:t>
            </a:r>
          </a:p>
          <a:p>
            <a:pPr lvl="1"/>
            <a:r>
              <a:rPr lang="en-US" dirty="0"/>
              <a:t>Spark and iteration</a:t>
            </a:r>
          </a:p>
          <a:p>
            <a:pPr lvl="1"/>
            <a:r>
              <a:rPr lang="en-US" dirty="0"/>
              <a:t>Sample Spark workflows</a:t>
            </a:r>
          </a:p>
          <a:p>
            <a:r>
              <a:rPr lang="en-US" dirty="0"/>
              <a:t>Learning as optimization</a:t>
            </a:r>
          </a:p>
          <a:p>
            <a:pPr lvl="1"/>
            <a:r>
              <a:rPr lang="en-US" dirty="0"/>
              <a:t>MLE for binomials, linear regression, logistic regression, k-means clustering</a:t>
            </a:r>
          </a:p>
          <a:p>
            <a:pPr lvl="1"/>
            <a:r>
              <a:rPr lang="en-US" dirty="0"/>
              <a:t>exact solutions, gradient descent (batch, parallel, stochastic), EM and EM-like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DDA85-B563-8727-8A37-8DAC5413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71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92126-AE34-2767-A5F1-5BCED1A72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F530-A48D-3778-DE5E-BEA34704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course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D1BCB-3C27-83C0-169F-C82008CFE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6926072" cy="267462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“Craft” of ML</a:t>
            </a:r>
          </a:p>
          <a:p>
            <a:pPr lvl="1"/>
            <a:r>
              <a:rPr lang="en-US" dirty="0"/>
              <a:t>feature extraction / augmentation</a:t>
            </a:r>
          </a:p>
          <a:p>
            <a:pPr lvl="2"/>
            <a:r>
              <a:rPr lang="en-US" dirty="0"/>
              <a:t>kernel methods – working a different feature space</a:t>
            </a:r>
          </a:p>
          <a:p>
            <a:pPr lvl="1"/>
            <a:r>
              <a:rPr lang="en-US" dirty="0"/>
              <a:t>regularization and </a:t>
            </a:r>
            <a:r>
              <a:rPr lang="en-US" b="1" dirty="0"/>
              <a:t>sparsity </a:t>
            </a:r>
            <a:r>
              <a:rPr lang="en-US" b="1" dirty="0">
                <a:sym typeface="Wingdings" pitchFamily="2" charset="2"/>
              </a:rPr>
              <a:t> more today</a:t>
            </a:r>
            <a:endParaRPr lang="en-US" b="1" dirty="0"/>
          </a:p>
          <a:p>
            <a:pPr lvl="1"/>
            <a:r>
              <a:rPr lang="en-US" dirty="0"/>
              <a:t>hyperparameter tuning</a:t>
            </a:r>
          </a:p>
          <a:p>
            <a:pPr lvl="1"/>
            <a:r>
              <a:rPr lang="en-US" dirty="0"/>
              <a:t>the hash trick and efficiency</a:t>
            </a:r>
          </a:p>
          <a:p>
            <a:pPr lvl="2"/>
            <a:r>
              <a:rPr lang="en-US" dirty="0"/>
              <a:t>discussing a paper and some formal results</a:t>
            </a:r>
          </a:p>
          <a:p>
            <a:pPr lvl="1"/>
            <a:r>
              <a:rPr lang="en-US" dirty="0"/>
              <a:t>distributed ML </a:t>
            </a:r>
            <a:r>
              <a:rPr lang="en-US" dirty="0">
                <a:sym typeface="Wingdings" pitchFamily="2" charset="2"/>
              </a:rPr>
              <a:t> </a:t>
            </a:r>
            <a:r>
              <a:rPr lang="en-US" b="1" dirty="0">
                <a:sym typeface="Wingdings" pitchFamily="2" charset="2"/>
              </a:rPr>
              <a:t>starting today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369F2-5C66-10AA-874B-DD579495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 descr="A diagram of a learning pipeline&#10;&#10;AI-generated content may be incorrect.">
            <a:extLst>
              <a:ext uri="{FF2B5EF4-FFF2-40B4-BE49-F238E27FC236}">
                <a16:creationId xmlns:a16="http://schemas.microsoft.com/office/drawing/2014/main" id="{3D6726A8-0E60-04CA-F4A2-2FC320957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680" y="4153286"/>
            <a:ext cx="5097272" cy="265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36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Sparse Gradients for Sparse Data for Linear/Logistic Regression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9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0D62D-A146-95C4-DE49-1C0612A23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0612121-10C9-ADEF-AA96-3FE2EADB63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10"/>
          <a:stretch/>
        </p:blipFill>
        <p:spPr>
          <a:xfrm>
            <a:off x="3631475" y="1461337"/>
            <a:ext cx="5268551" cy="47043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F93964-20A6-B017-2210-75F46481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Summary: SGD for least squares and Logistic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34802-475A-B79F-DBD4-4EEF6DA7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62EAED-F28D-5259-0577-D8847F176088}"/>
              </a:ext>
            </a:extLst>
          </p:cNvPr>
          <p:cNvSpPr txBox="1"/>
          <p:nvPr/>
        </p:nvSpPr>
        <p:spPr>
          <a:xfrm>
            <a:off x="1042397" y="5121811"/>
            <a:ext cx="3430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g = ▽ℓ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i-1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D18F12-6C60-42DA-99BB-55A8724D71F5}"/>
              </a:ext>
            </a:extLst>
          </p:cNvPr>
          <p:cNvSpPr txBox="1"/>
          <p:nvPr/>
        </p:nvSpPr>
        <p:spPr>
          <a:xfrm>
            <a:off x="279400" y="1713014"/>
            <a:ext cx="3174275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For text 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</a:t>
            </a:r>
            <a:r>
              <a:rPr lang="en-US" sz="2000" dirty="0"/>
              <a:t>is a sparse document vector (e.g., TFIDF weights)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 </a:t>
            </a:r>
            <a:r>
              <a:rPr lang="en-US" sz="2000" dirty="0"/>
              <a:t>is a dense vector of weights (one for each word in the vocabulary)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D17C56-571B-F8C0-FA31-6DBDDA8988B0}"/>
              </a:ext>
            </a:extLst>
          </p:cNvPr>
          <p:cNvSpPr txBox="1"/>
          <p:nvPr/>
        </p:nvSpPr>
        <p:spPr>
          <a:xfrm>
            <a:off x="623999" y="4385086"/>
            <a:ext cx="795950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The gradient is zero where </a:t>
            </a:r>
            <a:r>
              <a:rPr lang="en-US" sz="2400" b="1" dirty="0"/>
              <a:t>x </a:t>
            </a:r>
            <a:r>
              <a:rPr lang="en-US" sz="2400" dirty="0"/>
              <a:t>is zero </a:t>
            </a:r>
            <a:r>
              <a:rPr lang="en-US" sz="2400" dirty="0">
                <a:sym typeface="Wingdings" pitchFamily="2" charset="2"/>
              </a:rPr>
              <a:t> gradient is sparse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467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742DF-E222-ABEF-C7BC-5B5020BF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635C3B-84B2-B050-8976-FAB7A61C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Regularized</a:t>
            </a:r>
            <a:r>
              <a:rPr lang="en-US" dirty="0"/>
              <a:t> Logistic Regression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1A6201-1C09-CA51-8B89-E2DCDBD5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1" name="Picture 10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D823FB0A-5747-2839-6FDE-9BC465141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80" y="1403350"/>
            <a:ext cx="8780320" cy="4953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EB3B65-D46F-B2A8-79C3-A96FD51C11FE}"/>
              </a:ext>
            </a:extLst>
          </p:cNvPr>
          <p:cNvSpPr txBox="1"/>
          <p:nvPr/>
        </p:nvSpPr>
        <p:spPr>
          <a:xfrm>
            <a:off x="4286250" y="6259810"/>
            <a:ext cx="420832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This update is </a:t>
            </a:r>
            <a:r>
              <a:rPr lang="en-US" sz="2400" b="1" dirty="0"/>
              <a:t>not </a:t>
            </a:r>
            <a:r>
              <a:rPr lang="en-US" sz="2400" dirty="0"/>
              <a:t>sparse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AA5DE-91BB-24A5-1392-EE8977FCDB79}"/>
              </a:ext>
            </a:extLst>
          </p:cNvPr>
          <p:cNvSpPr txBox="1"/>
          <p:nvPr/>
        </p:nvSpPr>
        <p:spPr>
          <a:xfrm>
            <a:off x="181840" y="461228"/>
            <a:ext cx="878032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Question: Can you design a version of regularized SGD that is as efficient as the sparse unregularized version? (within constant factors)</a:t>
            </a:r>
          </a:p>
        </p:txBody>
      </p:sp>
    </p:spTree>
    <p:extLst>
      <p:ext uri="{BB962C8B-B14F-4D97-AF65-F5344CB8AC3E}">
        <p14:creationId xmlns:p14="http://schemas.microsoft.com/office/powerpoint/2010/main" val="385735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as optimization for regularized logistic regression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Final algorithm:</a:t>
            </a:r>
          </a:p>
          <a:p>
            <a:r>
              <a:rPr lang="en-US" sz="2800" dirty="0"/>
              <a:t>Initialize </a:t>
            </a:r>
            <a:r>
              <a:rPr lang="en-US" sz="2800" dirty="0" err="1"/>
              <a:t>hashtable</a:t>
            </a:r>
            <a:r>
              <a:rPr lang="en-US" sz="2800" dirty="0"/>
              <a:t> </a:t>
            </a:r>
            <a:r>
              <a:rPr lang="en-US" sz="2800" i="1" dirty="0"/>
              <a:t>W</a:t>
            </a:r>
          </a:p>
          <a:p>
            <a:r>
              <a:rPr lang="en-US" sz="2800" dirty="0"/>
              <a:t>For each iteration t=1,…T</a:t>
            </a:r>
          </a:p>
          <a:p>
            <a:pPr lvl="1"/>
            <a:r>
              <a:rPr lang="en-US" sz="2800" dirty="0"/>
              <a:t>For each example (</a:t>
            </a:r>
            <a:r>
              <a:rPr lang="en-US" sz="2800" b="1" dirty="0" err="1"/>
              <a:t>x</a:t>
            </a:r>
            <a:r>
              <a:rPr lang="en-US" sz="2800" baseline="-25000" dirty="0" err="1"/>
              <a:t>i</a:t>
            </a:r>
            <a:r>
              <a:rPr lang="en-US" sz="2800" dirty="0" err="1"/>
              <a:t>,</a:t>
            </a:r>
            <a:r>
              <a:rPr lang="en-US" sz="2800" i="1" dirty="0" err="1"/>
              <a:t>y</a:t>
            </a:r>
            <a:r>
              <a:rPr lang="en-US" sz="2800" i="1" baseline="-25000" dirty="0" err="1"/>
              <a:t>i</a:t>
            </a:r>
            <a:r>
              <a:rPr lang="en-US" sz="2800" dirty="0"/>
              <a:t>)</a:t>
            </a:r>
          </a:p>
          <a:p>
            <a:pPr lvl="2"/>
            <a:r>
              <a:rPr lang="en-US" i="1" dirty="0"/>
              <a:t>p</a:t>
            </a:r>
            <a:r>
              <a:rPr lang="en-US" i="1" baseline="-25000" dirty="0"/>
              <a:t>i</a:t>
            </a:r>
            <a:r>
              <a:rPr lang="en-US" dirty="0"/>
              <a:t> = …</a:t>
            </a:r>
          </a:p>
          <a:p>
            <a:pPr lvl="2"/>
            <a:r>
              <a:rPr lang="en-US" dirty="0"/>
              <a:t>For each feature </a:t>
            </a:r>
            <a:r>
              <a:rPr lang="en-US" i="1" dirty="0"/>
              <a:t>W[j]</a:t>
            </a:r>
            <a:endParaRPr lang="en-US" i="1" baseline="30000" dirty="0"/>
          </a:p>
          <a:p>
            <a:pPr lvl="3"/>
            <a:r>
              <a:rPr lang="en-US" sz="2800" i="1" dirty="0"/>
              <a:t>W[j]</a:t>
            </a:r>
            <a:r>
              <a:rPr lang="en-US" sz="2800" dirty="0"/>
              <a:t> =</a:t>
            </a:r>
            <a:r>
              <a:rPr lang="en-US" sz="2800" i="1" dirty="0"/>
              <a:t> W[j]</a:t>
            </a:r>
            <a:r>
              <a:rPr lang="en-US" sz="2800" dirty="0"/>
              <a:t>  - </a:t>
            </a:r>
            <a:r>
              <a:rPr lang="en-US" sz="2800" i="1" dirty="0"/>
              <a:t>⍺</a:t>
            </a:r>
            <a:r>
              <a:rPr lang="en-US" sz="2800" dirty="0"/>
              <a:t> </a:t>
            </a:r>
            <a:r>
              <a:rPr lang="en-US" sz="2800" i="1" dirty="0" err="1"/>
              <a:t>λW</a:t>
            </a:r>
            <a:r>
              <a:rPr lang="en-US" sz="2800" i="1" dirty="0"/>
              <a:t>[j]</a:t>
            </a:r>
          </a:p>
          <a:p>
            <a:pPr lvl="3"/>
            <a:r>
              <a:rPr lang="en-US" sz="2800" dirty="0"/>
              <a:t>If 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i</a:t>
            </a:r>
            <a:r>
              <a:rPr lang="en-US" sz="2800" i="1" baseline="30000" dirty="0" err="1"/>
              <a:t>j</a:t>
            </a:r>
            <a:r>
              <a:rPr lang="en-US" sz="2800" dirty="0"/>
              <a:t>&gt;0 then</a:t>
            </a:r>
          </a:p>
          <a:p>
            <a:pPr lvl="4"/>
            <a:r>
              <a:rPr lang="en-US" sz="2800" i="1" dirty="0"/>
              <a:t>W[j]</a:t>
            </a:r>
            <a:r>
              <a:rPr lang="en-US" sz="2800" dirty="0"/>
              <a:t> =</a:t>
            </a:r>
            <a:r>
              <a:rPr lang="en-US" sz="2800" i="1" dirty="0"/>
              <a:t> </a:t>
            </a:r>
            <a:r>
              <a:rPr lang="en-US" sz="2800" dirty="0"/>
              <a:t> </a:t>
            </a:r>
            <a:r>
              <a:rPr lang="en-US" sz="2800" i="1" dirty="0"/>
              <a:t>W[j]</a:t>
            </a:r>
            <a:r>
              <a:rPr lang="en-US" sz="2800" dirty="0"/>
              <a:t>  + </a:t>
            </a:r>
            <a:r>
              <a:rPr lang="en-US" sz="2800" i="1" dirty="0"/>
              <a:t>⍺ (p</a:t>
            </a:r>
            <a:r>
              <a:rPr lang="en-US" sz="2800" i="1" baseline="-25000" dirty="0"/>
              <a:t>i</a:t>
            </a:r>
            <a:r>
              <a:rPr lang="en-US" sz="2800" i="1" dirty="0"/>
              <a:t>  - </a:t>
            </a:r>
            <a:r>
              <a:rPr lang="en-US" sz="2800" i="1" dirty="0" err="1"/>
              <a:t>y</a:t>
            </a:r>
            <a:r>
              <a:rPr lang="en-US" sz="2800" i="1" baseline="-25000" dirty="0" err="1"/>
              <a:t>i</a:t>
            </a:r>
            <a:r>
              <a:rPr lang="en-US" sz="2800" i="1" dirty="0"/>
              <a:t> )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j</a:t>
            </a:r>
            <a:endParaRPr lang="en-US" sz="2800" i="1" baseline="-25000" dirty="0"/>
          </a:p>
          <a:p>
            <a:pPr lvl="4"/>
            <a:endParaRPr lang="en-US" sz="2800" i="1" baseline="-25000" dirty="0"/>
          </a:p>
          <a:p>
            <a:pPr lvl="1"/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1974485" y="4364788"/>
            <a:ext cx="3588115" cy="4548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A25756D-FA33-B625-F1B1-A8FDCC923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0" y="1456564"/>
            <a:ext cx="4292600" cy="103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9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as optimization for regularized logistic regression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Final algorithm:</a:t>
            </a:r>
          </a:p>
          <a:p>
            <a:r>
              <a:rPr lang="en-US" sz="2800" dirty="0"/>
              <a:t>Initialize </a:t>
            </a:r>
            <a:r>
              <a:rPr lang="en-US" sz="2800" dirty="0" err="1"/>
              <a:t>hashtable</a:t>
            </a:r>
            <a:r>
              <a:rPr lang="en-US" sz="2800" dirty="0"/>
              <a:t> </a:t>
            </a:r>
            <a:r>
              <a:rPr lang="en-US" sz="2800" i="1" dirty="0"/>
              <a:t>W</a:t>
            </a:r>
          </a:p>
          <a:p>
            <a:r>
              <a:rPr lang="en-US" sz="2800" dirty="0"/>
              <a:t>For each iteration t=1,…T</a:t>
            </a:r>
          </a:p>
          <a:p>
            <a:pPr lvl="1"/>
            <a:r>
              <a:rPr lang="en-US" sz="2800" dirty="0"/>
              <a:t>For each example (</a:t>
            </a:r>
            <a:r>
              <a:rPr lang="en-US" sz="2800" b="1" dirty="0" err="1"/>
              <a:t>x</a:t>
            </a:r>
            <a:r>
              <a:rPr lang="en-US" sz="2800" baseline="-25000" dirty="0" err="1"/>
              <a:t>i</a:t>
            </a:r>
            <a:r>
              <a:rPr lang="en-US" sz="2800" dirty="0" err="1"/>
              <a:t>,</a:t>
            </a:r>
            <a:r>
              <a:rPr lang="en-US" sz="2800" i="1" dirty="0" err="1"/>
              <a:t>y</a:t>
            </a:r>
            <a:r>
              <a:rPr lang="en-US" sz="2800" i="1" baseline="-25000" dirty="0" err="1"/>
              <a:t>i</a:t>
            </a:r>
            <a:r>
              <a:rPr lang="en-US" sz="2800" dirty="0"/>
              <a:t>)</a:t>
            </a:r>
          </a:p>
          <a:p>
            <a:pPr lvl="2"/>
            <a:r>
              <a:rPr lang="en-US" i="1" dirty="0"/>
              <a:t>p</a:t>
            </a:r>
            <a:r>
              <a:rPr lang="en-US" i="1" baseline="-25000" dirty="0"/>
              <a:t>i</a:t>
            </a:r>
            <a:r>
              <a:rPr lang="en-US" dirty="0"/>
              <a:t> = …</a:t>
            </a:r>
          </a:p>
          <a:p>
            <a:pPr lvl="2"/>
            <a:r>
              <a:rPr lang="en-US" dirty="0"/>
              <a:t>For each feature </a:t>
            </a:r>
            <a:r>
              <a:rPr lang="en-US" i="1" dirty="0"/>
              <a:t>W[j]</a:t>
            </a:r>
            <a:endParaRPr lang="en-US" i="1" baseline="30000" dirty="0"/>
          </a:p>
          <a:p>
            <a:pPr lvl="3"/>
            <a:r>
              <a:rPr lang="en-US" sz="2800" i="1" dirty="0"/>
              <a:t>W[j]</a:t>
            </a:r>
            <a:r>
              <a:rPr lang="en-US" sz="2800" dirty="0"/>
              <a:t>   *=</a:t>
            </a:r>
            <a:r>
              <a:rPr lang="en-US" sz="2800" i="1" dirty="0"/>
              <a:t> (1</a:t>
            </a:r>
            <a:r>
              <a:rPr lang="en-US" sz="2800" dirty="0"/>
              <a:t>  - </a:t>
            </a:r>
            <a:r>
              <a:rPr lang="en-US" sz="2800" i="1" dirty="0"/>
              <a:t>⍺ </a:t>
            </a:r>
            <a:r>
              <a:rPr lang="en-US" sz="2800" i="1" dirty="0" err="1"/>
              <a:t>λ</a:t>
            </a:r>
            <a:r>
              <a:rPr lang="en-US" sz="2800" i="1" dirty="0"/>
              <a:t> )</a:t>
            </a:r>
          </a:p>
          <a:p>
            <a:pPr lvl="3"/>
            <a:r>
              <a:rPr lang="en-US" sz="2800" dirty="0"/>
              <a:t>If 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i</a:t>
            </a:r>
            <a:r>
              <a:rPr lang="en-US" sz="2800" i="1" baseline="30000" dirty="0" err="1"/>
              <a:t>j</a:t>
            </a:r>
            <a:r>
              <a:rPr lang="en-US" sz="2800" dirty="0"/>
              <a:t>&gt;0 then</a:t>
            </a:r>
          </a:p>
          <a:p>
            <a:pPr lvl="4"/>
            <a:r>
              <a:rPr lang="en-US" sz="2800" i="1" dirty="0"/>
              <a:t>W[j]</a:t>
            </a:r>
            <a:r>
              <a:rPr lang="en-US" sz="2800" dirty="0"/>
              <a:t>  =</a:t>
            </a:r>
            <a:r>
              <a:rPr lang="en-US" sz="2800" i="1" dirty="0"/>
              <a:t> </a:t>
            </a:r>
            <a:r>
              <a:rPr lang="en-US" sz="2800" dirty="0"/>
              <a:t> </a:t>
            </a:r>
            <a:r>
              <a:rPr lang="en-US" sz="2800" i="1" dirty="0"/>
              <a:t>W[j]</a:t>
            </a:r>
            <a:r>
              <a:rPr lang="en-US" sz="2800" dirty="0"/>
              <a:t>  + </a:t>
            </a:r>
            <a:r>
              <a:rPr lang="en-US" sz="2800" i="1" dirty="0"/>
              <a:t>⍺ (p</a:t>
            </a:r>
            <a:r>
              <a:rPr lang="en-US" sz="2800" i="1" baseline="-25000" dirty="0"/>
              <a:t>i</a:t>
            </a:r>
            <a:r>
              <a:rPr lang="en-US" sz="2800" i="1" dirty="0"/>
              <a:t>  - </a:t>
            </a:r>
            <a:r>
              <a:rPr lang="en-US" sz="2800" i="1" dirty="0" err="1"/>
              <a:t>y</a:t>
            </a:r>
            <a:r>
              <a:rPr lang="en-US" sz="2800" i="1" baseline="-25000" dirty="0" err="1"/>
              <a:t>i</a:t>
            </a:r>
            <a:r>
              <a:rPr lang="en-US" sz="2800" i="1" dirty="0"/>
              <a:t> )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j</a:t>
            </a:r>
            <a:endParaRPr lang="en-US" sz="2800" i="1" baseline="-25000" dirty="0"/>
          </a:p>
          <a:p>
            <a:pPr lvl="4"/>
            <a:endParaRPr lang="en-US" sz="2800" i="1" baseline="-25000" dirty="0"/>
          </a:p>
          <a:p>
            <a:pPr lvl="4"/>
            <a:endParaRPr lang="en-US" sz="2800" i="1" baseline="-25000" dirty="0"/>
          </a:p>
          <a:p>
            <a:pPr lvl="1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995831" y="4229099"/>
            <a:ext cx="3332384" cy="5199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C1F2801-0C28-40FF-E98C-6D5508B76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0" y="1456564"/>
            <a:ext cx="4292600" cy="10366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DE2FDD-5742-190E-903C-75F8DF34971E}"/>
              </a:ext>
            </a:extLst>
          </p:cNvPr>
          <p:cNvSpPr txBox="1"/>
          <p:nvPr/>
        </p:nvSpPr>
        <p:spPr>
          <a:xfrm>
            <a:off x="6089904" y="4229099"/>
            <a:ext cx="2340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“weight decay”</a:t>
            </a:r>
          </a:p>
        </p:txBody>
      </p:sp>
    </p:spTree>
    <p:extLst>
      <p:ext uri="{BB962C8B-B14F-4D97-AF65-F5344CB8AC3E}">
        <p14:creationId xmlns:p14="http://schemas.microsoft.com/office/powerpoint/2010/main" val="241186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as optimization for regularized logistic regression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Final algorithm:</a:t>
            </a:r>
          </a:p>
          <a:p>
            <a:r>
              <a:rPr lang="en-US" sz="2800" dirty="0"/>
              <a:t>Initialize </a:t>
            </a:r>
            <a:r>
              <a:rPr lang="en-US" sz="2800" dirty="0" err="1"/>
              <a:t>hashtable</a:t>
            </a:r>
            <a:r>
              <a:rPr lang="en-US" sz="2800" dirty="0"/>
              <a:t> </a:t>
            </a:r>
            <a:r>
              <a:rPr lang="en-US" sz="2800" i="1" dirty="0"/>
              <a:t>W</a:t>
            </a:r>
          </a:p>
          <a:p>
            <a:r>
              <a:rPr lang="en-US" sz="2800" dirty="0"/>
              <a:t>For each iteration t=1,…T</a:t>
            </a:r>
          </a:p>
          <a:p>
            <a:pPr lvl="1"/>
            <a:r>
              <a:rPr lang="en-US" sz="2800" dirty="0"/>
              <a:t>For each example (</a:t>
            </a:r>
            <a:r>
              <a:rPr lang="en-US" sz="2800" b="1" dirty="0" err="1"/>
              <a:t>x</a:t>
            </a:r>
            <a:r>
              <a:rPr lang="en-US" sz="2800" baseline="-25000" dirty="0" err="1"/>
              <a:t>i</a:t>
            </a:r>
            <a:r>
              <a:rPr lang="en-US" sz="2800" dirty="0" err="1"/>
              <a:t>,</a:t>
            </a:r>
            <a:r>
              <a:rPr lang="en-US" sz="2800" i="1" dirty="0" err="1"/>
              <a:t>y</a:t>
            </a:r>
            <a:r>
              <a:rPr lang="en-US" sz="2800" i="1" baseline="-25000" dirty="0" err="1"/>
              <a:t>i</a:t>
            </a:r>
            <a:r>
              <a:rPr lang="en-US" sz="2800" dirty="0"/>
              <a:t>)</a:t>
            </a:r>
          </a:p>
          <a:p>
            <a:pPr lvl="2"/>
            <a:r>
              <a:rPr lang="en-US" i="1" dirty="0"/>
              <a:t>p</a:t>
            </a:r>
            <a:r>
              <a:rPr lang="en-US" i="1" baseline="-25000" dirty="0"/>
              <a:t>i</a:t>
            </a:r>
            <a:r>
              <a:rPr lang="en-US" dirty="0"/>
              <a:t> = …</a:t>
            </a:r>
          </a:p>
          <a:p>
            <a:pPr lvl="2"/>
            <a:r>
              <a:rPr lang="en-US" dirty="0"/>
              <a:t>For each feature </a:t>
            </a:r>
            <a:r>
              <a:rPr lang="en-US" i="1" dirty="0"/>
              <a:t>W[j]</a:t>
            </a:r>
            <a:endParaRPr lang="en-US" i="1" baseline="30000" dirty="0"/>
          </a:p>
          <a:p>
            <a:pPr lvl="3"/>
            <a:r>
              <a:rPr lang="en-US" sz="2800" dirty="0"/>
              <a:t>If 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i</a:t>
            </a:r>
            <a:r>
              <a:rPr lang="en-US" sz="2800" i="1" baseline="30000" dirty="0" err="1"/>
              <a:t>j</a:t>
            </a:r>
            <a:r>
              <a:rPr lang="en-US" sz="2800" dirty="0"/>
              <a:t>&gt;0 then</a:t>
            </a:r>
          </a:p>
          <a:p>
            <a:pPr lvl="4"/>
            <a:r>
              <a:rPr lang="en-US" sz="2800" i="1" dirty="0"/>
              <a:t>W[j]</a:t>
            </a:r>
            <a:r>
              <a:rPr lang="en-US" sz="2800" dirty="0"/>
              <a:t>   *=</a:t>
            </a:r>
            <a:r>
              <a:rPr lang="en-US" sz="2800" i="1" dirty="0"/>
              <a:t> (1</a:t>
            </a:r>
            <a:r>
              <a:rPr lang="en-US" sz="2800" dirty="0"/>
              <a:t>  - </a:t>
            </a:r>
            <a:r>
              <a:rPr lang="en-US" sz="2800" i="1" dirty="0"/>
              <a:t>⍺ </a:t>
            </a:r>
            <a:r>
              <a:rPr lang="en-US" sz="2800" i="1" dirty="0" err="1"/>
              <a:t>λ</a:t>
            </a:r>
            <a:r>
              <a:rPr lang="en-US" sz="2800" i="1" dirty="0"/>
              <a:t> )</a:t>
            </a:r>
            <a:r>
              <a:rPr lang="en-US" sz="2800" i="1" baseline="30000" dirty="0"/>
              <a:t>A</a:t>
            </a:r>
            <a:endParaRPr lang="en-US" sz="2800" i="1" dirty="0"/>
          </a:p>
          <a:p>
            <a:pPr lvl="4"/>
            <a:r>
              <a:rPr lang="en-US" sz="2800" i="1" dirty="0"/>
              <a:t>W[j]</a:t>
            </a:r>
            <a:r>
              <a:rPr lang="en-US" sz="2800" dirty="0"/>
              <a:t>  =</a:t>
            </a:r>
            <a:r>
              <a:rPr lang="en-US" sz="2800" i="1" dirty="0"/>
              <a:t> </a:t>
            </a:r>
            <a:r>
              <a:rPr lang="en-US" sz="2800" dirty="0"/>
              <a:t> </a:t>
            </a:r>
            <a:r>
              <a:rPr lang="en-US" sz="2800" i="1" dirty="0"/>
              <a:t>W[j]</a:t>
            </a:r>
            <a:r>
              <a:rPr lang="en-US" sz="2800" dirty="0"/>
              <a:t>  + </a:t>
            </a:r>
            <a:r>
              <a:rPr lang="en-US" sz="2800" i="1" dirty="0"/>
              <a:t>⍺ (p</a:t>
            </a:r>
            <a:r>
              <a:rPr lang="en-US" sz="2800" i="1" baseline="-25000" dirty="0"/>
              <a:t>i</a:t>
            </a:r>
            <a:r>
              <a:rPr lang="en-US" sz="2800" i="1" dirty="0"/>
              <a:t>  - </a:t>
            </a:r>
            <a:r>
              <a:rPr lang="en-US" sz="2800" i="1" dirty="0" err="1"/>
              <a:t>y</a:t>
            </a:r>
            <a:r>
              <a:rPr lang="en-US" sz="2800" i="1" baseline="-25000" dirty="0" err="1"/>
              <a:t>i</a:t>
            </a:r>
            <a:r>
              <a:rPr lang="en-US" sz="2800" i="1" dirty="0"/>
              <a:t> )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j</a:t>
            </a:r>
            <a:endParaRPr lang="en-US" sz="2800" i="1" baseline="-25000" dirty="0"/>
          </a:p>
          <a:p>
            <a:pPr lvl="4"/>
            <a:endParaRPr lang="en-US" sz="2800" i="1" baseline="-25000" dirty="0"/>
          </a:p>
          <a:p>
            <a:pPr lvl="4"/>
            <a:endParaRPr lang="en-US" sz="2800" i="1" baseline="-25000" dirty="0"/>
          </a:p>
          <a:p>
            <a:pPr lvl="1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430525" y="4787224"/>
            <a:ext cx="3076687" cy="60829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832962" y="3217564"/>
            <a:ext cx="3180521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A is number of examples seen since the </a:t>
            </a:r>
            <a:r>
              <a:rPr lang="en-US" sz="2400" b="1" dirty="0"/>
              <a:t>last</a:t>
            </a:r>
            <a:r>
              <a:rPr lang="en-US" sz="2400" dirty="0"/>
              <a:t> time we did an </a:t>
            </a:r>
            <a:r>
              <a:rPr lang="en-US" sz="2400" b="1" dirty="0"/>
              <a:t>x&gt;0 update </a:t>
            </a:r>
            <a:r>
              <a:rPr lang="en-US" sz="2400" dirty="0"/>
              <a:t>on W[j]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0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1F68D-6C77-8BCF-3739-572F376DD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5BE1B-A278-66F0-6693-8D148824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as optimization for regularized logistic regression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4F129-B1B1-C50E-E64E-F0045BADD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Final algorithm:</a:t>
            </a:r>
          </a:p>
          <a:p>
            <a:r>
              <a:rPr lang="en-US" sz="2800" dirty="0"/>
              <a:t>Initialize </a:t>
            </a:r>
            <a:r>
              <a:rPr lang="en-US" sz="2800" dirty="0" err="1"/>
              <a:t>hashtables</a:t>
            </a:r>
            <a:r>
              <a:rPr lang="en-US" sz="2800" dirty="0"/>
              <a:t> </a:t>
            </a:r>
            <a:r>
              <a:rPr lang="en-US" sz="2800" i="1" dirty="0"/>
              <a:t>W, A   </a:t>
            </a:r>
            <a:r>
              <a:rPr lang="en-US" sz="2800" dirty="0"/>
              <a:t>and</a:t>
            </a:r>
            <a:r>
              <a:rPr lang="en-US" sz="2800" i="1" dirty="0"/>
              <a:t> </a:t>
            </a:r>
            <a:r>
              <a:rPr lang="en-US" sz="2800" dirty="0"/>
              <a:t>set</a:t>
            </a:r>
            <a:r>
              <a:rPr lang="en-US" sz="2800" i="1" dirty="0"/>
              <a:t> k=0</a:t>
            </a:r>
          </a:p>
          <a:p>
            <a:r>
              <a:rPr lang="en-US" sz="2800" dirty="0"/>
              <a:t>For each iteration t=1,…T</a:t>
            </a:r>
          </a:p>
          <a:p>
            <a:pPr lvl="1"/>
            <a:r>
              <a:rPr lang="en-US" sz="2800" dirty="0"/>
              <a:t>For each example (</a:t>
            </a:r>
            <a:r>
              <a:rPr lang="en-US" sz="2800" b="1" dirty="0" err="1"/>
              <a:t>x</a:t>
            </a:r>
            <a:r>
              <a:rPr lang="en-US" sz="2800" baseline="-25000" dirty="0" err="1"/>
              <a:t>i</a:t>
            </a:r>
            <a:r>
              <a:rPr lang="en-US" sz="2800" dirty="0" err="1"/>
              <a:t>,</a:t>
            </a:r>
            <a:r>
              <a:rPr lang="en-US" sz="2800" i="1" dirty="0" err="1"/>
              <a:t>y</a:t>
            </a:r>
            <a:r>
              <a:rPr lang="en-US" sz="2800" i="1" baseline="-25000" dirty="0" err="1"/>
              <a:t>i</a:t>
            </a:r>
            <a:r>
              <a:rPr lang="en-US" sz="2800" dirty="0"/>
              <a:t>)</a:t>
            </a:r>
          </a:p>
          <a:p>
            <a:pPr lvl="2"/>
            <a:r>
              <a:rPr lang="en-US" i="1" dirty="0"/>
              <a:t>p</a:t>
            </a:r>
            <a:r>
              <a:rPr lang="en-US" i="1" baseline="-25000" dirty="0"/>
              <a:t>i</a:t>
            </a:r>
            <a:r>
              <a:rPr lang="en-US" dirty="0"/>
              <a:t> = …</a:t>
            </a:r>
          </a:p>
          <a:p>
            <a:pPr lvl="2"/>
            <a:r>
              <a:rPr lang="en-US" dirty="0"/>
              <a:t>For each feature </a:t>
            </a:r>
            <a:r>
              <a:rPr lang="en-US" i="1" dirty="0"/>
              <a:t>W[j]</a:t>
            </a:r>
            <a:endParaRPr lang="en-US" i="1" baseline="30000" dirty="0"/>
          </a:p>
          <a:p>
            <a:pPr lvl="3"/>
            <a:r>
              <a:rPr lang="en-US" sz="2800" dirty="0"/>
              <a:t>If 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i</a:t>
            </a:r>
            <a:r>
              <a:rPr lang="en-US" sz="2800" i="1" baseline="30000" dirty="0" err="1"/>
              <a:t>j</a:t>
            </a:r>
            <a:r>
              <a:rPr lang="en-US" sz="2800" dirty="0"/>
              <a:t>&gt;0 then</a:t>
            </a:r>
          </a:p>
          <a:p>
            <a:pPr lvl="4"/>
            <a:r>
              <a:rPr lang="en-US" sz="2800" i="1" dirty="0"/>
              <a:t>W[j]</a:t>
            </a:r>
            <a:r>
              <a:rPr lang="en-US" sz="2800" dirty="0"/>
              <a:t>   *=</a:t>
            </a:r>
            <a:r>
              <a:rPr lang="en-US" sz="2800" i="1" dirty="0"/>
              <a:t> (1</a:t>
            </a:r>
            <a:r>
              <a:rPr lang="en-US" sz="2800" dirty="0"/>
              <a:t>  - </a:t>
            </a:r>
            <a:r>
              <a:rPr lang="en-US" sz="2800" i="1" dirty="0"/>
              <a:t>⍺ </a:t>
            </a:r>
            <a:r>
              <a:rPr lang="en-US" sz="2800" i="1" dirty="0" err="1"/>
              <a:t>λ</a:t>
            </a:r>
            <a:r>
              <a:rPr lang="en-US" sz="2800" i="1" dirty="0"/>
              <a:t> )</a:t>
            </a:r>
            <a:r>
              <a:rPr lang="en-US" sz="2800" i="1" baseline="30000" dirty="0"/>
              <a:t>k-A[j]</a:t>
            </a:r>
            <a:endParaRPr lang="en-US" sz="2800" i="1" dirty="0"/>
          </a:p>
          <a:p>
            <a:pPr lvl="4"/>
            <a:r>
              <a:rPr lang="en-US" sz="2800" i="1" dirty="0"/>
              <a:t>W[j]</a:t>
            </a:r>
            <a:r>
              <a:rPr lang="en-US" sz="2800" dirty="0"/>
              <a:t>  =</a:t>
            </a:r>
            <a:r>
              <a:rPr lang="en-US" sz="2800" i="1" dirty="0"/>
              <a:t> </a:t>
            </a:r>
            <a:r>
              <a:rPr lang="en-US" sz="2800" dirty="0"/>
              <a:t> </a:t>
            </a:r>
            <a:r>
              <a:rPr lang="en-US" sz="2800" i="1" dirty="0"/>
              <a:t>W[j]</a:t>
            </a:r>
            <a:r>
              <a:rPr lang="en-US" sz="2800" dirty="0"/>
              <a:t>  + </a:t>
            </a:r>
            <a:r>
              <a:rPr lang="en-US" sz="2800" i="1" dirty="0"/>
              <a:t>⍺ (p</a:t>
            </a:r>
            <a:r>
              <a:rPr lang="en-US" sz="2800" i="1" baseline="-25000" dirty="0"/>
              <a:t>i</a:t>
            </a:r>
            <a:r>
              <a:rPr lang="en-US" sz="2800" i="1" dirty="0"/>
              <a:t>  - </a:t>
            </a:r>
            <a:r>
              <a:rPr lang="en-US" sz="2800" i="1" dirty="0" err="1"/>
              <a:t>y</a:t>
            </a:r>
            <a:r>
              <a:rPr lang="en-US" sz="2800" i="1" baseline="-25000" dirty="0" err="1"/>
              <a:t>i</a:t>
            </a:r>
            <a:r>
              <a:rPr lang="en-US" sz="2800" i="1" dirty="0"/>
              <a:t> )</a:t>
            </a:r>
            <a:r>
              <a:rPr lang="en-US" sz="2800" i="1" dirty="0" err="1"/>
              <a:t>x</a:t>
            </a:r>
            <a:r>
              <a:rPr lang="en-US" sz="2800" i="1" baseline="-25000" dirty="0" err="1"/>
              <a:t>j</a:t>
            </a:r>
            <a:endParaRPr lang="en-US" sz="2800" i="1" baseline="-25000" dirty="0"/>
          </a:p>
          <a:p>
            <a:pPr lvl="4"/>
            <a:r>
              <a:rPr lang="en-US" sz="2800" i="1" dirty="0"/>
              <a:t>A[j] = k</a:t>
            </a:r>
            <a:endParaRPr lang="en-US" sz="2800" i="1" baseline="-25000" dirty="0"/>
          </a:p>
          <a:p>
            <a:pPr lvl="1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90B9C1-B975-8E24-A465-565331F6A467}"/>
              </a:ext>
            </a:extLst>
          </p:cNvPr>
          <p:cNvSpPr/>
          <p:nvPr/>
        </p:nvSpPr>
        <p:spPr>
          <a:xfrm>
            <a:off x="2416238" y="4541049"/>
            <a:ext cx="3527362" cy="4923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CC748-ECC0-825C-3338-9E09D5C75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9060F8-FFAE-6D2C-3EAA-8B275B2A2E79}"/>
              </a:ext>
            </a:extLst>
          </p:cNvPr>
          <p:cNvSpPr/>
          <p:nvPr/>
        </p:nvSpPr>
        <p:spPr>
          <a:xfrm>
            <a:off x="5321808" y="1706874"/>
            <a:ext cx="1310064" cy="4923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9CD3A1-0D9C-25F2-6C4D-AE1F1277FF77}"/>
              </a:ext>
            </a:extLst>
          </p:cNvPr>
          <p:cNvSpPr/>
          <p:nvPr/>
        </p:nvSpPr>
        <p:spPr>
          <a:xfrm>
            <a:off x="4259443" y="1725924"/>
            <a:ext cx="298841" cy="4923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193CB-476B-3B61-9CFA-8919F6560FB3}"/>
              </a:ext>
            </a:extLst>
          </p:cNvPr>
          <p:cNvSpPr txBox="1"/>
          <p:nvPr/>
        </p:nvSpPr>
        <p:spPr>
          <a:xfrm>
            <a:off x="2798064" y="2307173"/>
            <a:ext cx="5907252" cy="163121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/>
              <a:t>k = “clock” reading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A[j] = clock reading last time feature j was “active”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we implement the “weight decay” update using a “lazy” strategy: weights are decayed in one shot when a feature is “active”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296B3-B4E9-7B6E-DCCD-0C3389DCC721}"/>
              </a:ext>
            </a:extLst>
          </p:cNvPr>
          <p:cNvSpPr txBox="1"/>
          <p:nvPr/>
        </p:nvSpPr>
        <p:spPr>
          <a:xfrm>
            <a:off x="1027177" y="6210270"/>
            <a:ext cx="590725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One more ”weight decay” step needed at end of SGD</a:t>
            </a:r>
          </a:p>
        </p:txBody>
      </p:sp>
    </p:spTree>
    <p:extLst>
      <p:ext uri="{BB962C8B-B14F-4D97-AF65-F5344CB8AC3E}">
        <p14:creationId xmlns:p14="http://schemas.microsoft.com/office/powerpoint/2010/main" val="357749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Machine Learning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08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BD58-6B1A-33A5-B7AA-DB6E22728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0DC2-625C-4290-6362-9FEAF588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Recap: Parallel SGD?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589CA-1B10-B80D-FB0C-61C768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FF4A0E-2A8E-585E-82AA-9368F00CC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2630394"/>
            <a:ext cx="8648700" cy="38148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Option 1: Make minibatch B larger and parallelize computation of B</a:t>
            </a:r>
          </a:p>
          <a:p>
            <a:pPr lvl="1"/>
            <a:r>
              <a:rPr lang="en-US" dirty="0"/>
              <a:t>E.g., vectorize the gradient computation and use a GPU</a:t>
            </a:r>
          </a:p>
          <a:p>
            <a:r>
              <a:rPr lang="en-US" dirty="0"/>
              <a:t>Option 2: Run multiple SGD processes in parallel, and synchronize them occasionally</a:t>
            </a:r>
          </a:p>
          <a:p>
            <a:pPr lvl="1"/>
            <a:r>
              <a:rPr lang="en-US" dirty="0"/>
              <a:t>More on this later</a:t>
            </a:r>
          </a:p>
          <a:p>
            <a:pPr lvl="1"/>
            <a:r>
              <a:rPr lang="en-US" dirty="0"/>
              <a:t>Better suited to cluster-level parallelism</a:t>
            </a:r>
          </a:p>
          <a:p>
            <a:pPr lvl="1"/>
            <a:r>
              <a:rPr lang="en-US" dirty="0"/>
              <a:t>Harder to analyze and few formal guarantees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0108D8-2986-3D38-DA8C-196CC5F83367}"/>
              </a:ext>
            </a:extLst>
          </p:cNvPr>
          <p:cNvSpPr txBox="1"/>
          <p:nvPr/>
        </p:nvSpPr>
        <p:spPr>
          <a:xfrm>
            <a:off x="4329932" y="805306"/>
            <a:ext cx="48140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t=1,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each example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E767A45-580A-EC2B-25FC-2412E8F77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8125"/>
            <a:ext cx="9050306" cy="309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02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AAF28-6A58-1430-AA4F-FBB75A03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EEB6-B748-0B69-DD99-DFF5225C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Today’s Focus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C45A8-6CD2-F217-6D97-BF800D77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CD741-3E48-9E69-94A7-9B30457EC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High-level view of the space of different options for how to parallelize ML</a:t>
            </a:r>
          </a:p>
          <a:p>
            <a:pPr lvl="1"/>
            <a:r>
              <a:rPr lang="en-US" dirty="0"/>
              <a:t>Today: mostly for cluster architectures</a:t>
            </a:r>
          </a:p>
          <a:p>
            <a:r>
              <a:rPr lang="en-US" dirty="0"/>
              <a:t>Data Parallel</a:t>
            </a:r>
          </a:p>
          <a:p>
            <a:r>
              <a:rPr lang="en-US" dirty="0"/>
              <a:t>Model Parallel</a:t>
            </a:r>
          </a:p>
          <a:p>
            <a:r>
              <a:rPr lang="en-US" dirty="0"/>
              <a:t>Tensor Parallel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875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D9541-E299-D550-33F5-597A02FE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FA4A2-E023-F89E-7A55-ECE0CF7A0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0"/>
            <a:ext cx="8947537" cy="352901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pPr lvl="1"/>
            <a:r>
              <a:rPr lang="en-US" dirty="0"/>
              <a:t>replicate the model and partition the data</a:t>
            </a:r>
          </a:p>
          <a:p>
            <a:pPr lvl="1"/>
            <a:r>
              <a:rPr lang="en-US" dirty="0"/>
              <a:t>our focus so far</a:t>
            </a:r>
          </a:p>
          <a:p>
            <a:r>
              <a:rPr lang="en-US" b="1" dirty="0"/>
              <a:t>Model parallelism </a:t>
            </a:r>
            <a:r>
              <a:rPr lang="en-US" sz="2400" dirty="0"/>
              <a:t>(related to “pipeline parallelism”)</a:t>
            </a:r>
          </a:p>
          <a:p>
            <a:pPr lvl="1"/>
            <a:r>
              <a:rPr lang="en-US" dirty="0"/>
              <a:t>partition the model</a:t>
            </a:r>
          </a:p>
          <a:p>
            <a:pPr lvl="2"/>
            <a:r>
              <a:rPr lang="en-US" dirty="0"/>
              <a:t>e.g., each worker has different parts of a huge LLM</a:t>
            </a:r>
          </a:p>
          <a:p>
            <a:r>
              <a:rPr lang="en-US" b="1" dirty="0"/>
              <a:t>Tensor parallelism </a:t>
            </a:r>
            <a:r>
              <a:rPr lang="en-US" sz="2400" dirty="0"/>
              <a:t>(related to “Zero Redundancy Optimizer, </a:t>
            </a:r>
            <a:r>
              <a:rPr lang="en-US" sz="2400" dirty="0" err="1"/>
              <a:t>ZeRO</a:t>
            </a:r>
            <a:r>
              <a:rPr lang="en-US" sz="2400" dirty="0"/>
              <a:t>”)</a:t>
            </a:r>
            <a:endParaRPr lang="en-US" dirty="0"/>
          </a:p>
          <a:p>
            <a:pPr lvl="1"/>
            <a:r>
              <a:rPr lang="en-US" dirty="0"/>
              <a:t>partition individual tensors/matrices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D41F0-5B80-75F4-2479-F298D7A5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D604B-B604-FC60-50F1-5FEBBA384BC4}"/>
              </a:ext>
            </a:extLst>
          </p:cNvPr>
          <p:cNvSpPr txBox="1"/>
          <p:nvPr/>
        </p:nvSpPr>
        <p:spPr>
          <a:xfrm>
            <a:off x="4329113" y="530225"/>
            <a:ext cx="560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https://arxiv.org/abs/2003.06307</a:t>
            </a:r>
            <a:r>
              <a:rPr lang="en-US" dirty="0"/>
              <a:t> 2023 survey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D47AC2-0AA4-8C6A-C8FC-1A96A87B2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3" y="4946651"/>
            <a:ext cx="8947537" cy="103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89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BB3DB-EB62-88D0-FAF0-52800BF3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B57D-6B60-DECE-14BA-1A278608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6AABC-C60A-1E32-0B81-C3691868A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1"/>
            <a:ext cx="8947537" cy="2300288"/>
          </a:xfrm>
        </p:spPr>
        <p:txBody>
          <a:bodyPr>
            <a:normAutofit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r>
              <a:rPr lang="en-US" b="1" dirty="0"/>
              <a:t>Model parallelism </a:t>
            </a:r>
            <a:r>
              <a:rPr lang="en-US" sz="2400" dirty="0"/>
              <a:t>(related to “pipeline parallelism”)</a:t>
            </a:r>
          </a:p>
          <a:p>
            <a:r>
              <a:rPr lang="en-US" b="1" dirty="0"/>
              <a:t>Tensor parallelism </a:t>
            </a:r>
            <a:r>
              <a:rPr lang="en-US" sz="2400" dirty="0"/>
              <a:t>(related to “Zero Redundancy Optimizer, </a:t>
            </a:r>
            <a:r>
              <a:rPr lang="en-US" sz="2400" dirty="0" err="1"/>
              <a:t>ZeRO</a:t>
            </a:r>
            <a:r>
              <a:rPr lang="en-US" sz="2400" dirty="0"/>
              <a:t>”)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68D5-5E40-8F36-150C-B0386F46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D212D-9FBC-36C6-3863-9DD5CED6B021}"/>
              </a:ext>
            </a:extLst>
          </p:cNvPr>
          <p:cNvSpPr txBox="1"/>
          <p:nvPr/>
        </p:nvSpPr>
        <p:spPr>
          <a:xfrm>
            <a:off x="4329113" y="530225"/>
            <a:ext cx="560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https://arxiv.org/abs/2003.06307</a:t>
            </a:r>
            <a:r>
              <a:rPr lang="en-US" dirty="0"/>
              <a:t> 2023 survey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4A61D7-2FCB-241E-B361-B1FF6592C3E3}"/>
              </a:ext>
            </a:extLst>
          </p:cNvPr>
          <p:cNvSpPr txBox="1"/>
          <p:nvPr/>
        </p:nvSpPr>
        <p:spPr>
          <a:xfrm>
            <a:off x="528638" y="3714750"/>
            <a:ext cx="7600950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Modern training systems often combine these:</a:t>
            </a:r>
          </a:p>
          <a:p>
            <a:endParaRPr lang="en-US" sz="2400" dirty="0"/>
          </a:p>
          <a:p>
            <a:r>
              <a:rPr lang="en-US" sz="2400" dirty="0">
                <a:hlinkClick r:id="rId3"/>
              </a:rPr>
              <a:t>DeepSeek-V3</a:t>
            </a:r>
            <a:r>
              <a:rPr lang="en-US" sz="2400" dirty="0"/>
              <a:t> used pipeline parallelism, data parallelism, and </a:t>
            </a:r>
            <a:r>
              <a:rPr lang="en-US" sz="2400" dirty="0" err="1"/>
              <a:t>ZeRO</a:t>
            </a:r>
            <a:r>
              <a:rPr lang="en-US" sz="2400" dirty="0"/>
              <a:t> + “expert parallelism” (another kind of model parallelism).</a:t>
            </a:r>
          </a:p>
          <a:p>
            <a:endParaRPr lang="en-US" sz="2400" dirty="0"/>
          </a:p>
          <a:p>
            <a:r>
              <a:rPr lang="en-US" sz="2400" dirty="0"/>
              <a:t>Also, compressed synchronization by communicating limited-precision updates, and …</a:t>
            </a:r>
          </a:p>
        </p:txBody>
      </p:sp>
    </p:spTree>
    <p:extLst>
      <p:ext uri="{BB962C8B-B14F-4D97-AF65-F5344CB8AC3E}">
        <p14:creationId xmlns:p14="http://schemas.microsoft.com/office/powerpoint/2010/main" val="1966337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0E15-0A6A-3011-4702-EB4F69E8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18C5-4185-E38E-7512-F8D0C76FB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32ED5-9B8C-7A54-3A9C-C78E3DAA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0"/>
            <a:ext cx="8947537" cy="518794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pPr lvl="1"/>
            <a:r>
              <a:rPr lang="en-US" dirty="0"/>
              <a:t>workers get </a:t>
            </a:r>
            <a:r>
              <a:rPr lang="en-US" b="1" dirty="0"/>
              <a:t>parts</a:t>
            </a:r>
            <a:r>
              <a:rPr lang="en-US" dirty="0"/>
              <a:t> (usually disjoint partitions) of the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copies</a:t>
            </a:r>
            <a:r>
              <a:rPr lang="en-US" dirty="0"/>
              <a:t> of the current </a:t>
            </a:r>
            <a:r>
              <a:rPr lang="en-US" b="1" dirty="0"/>
              <a:t>model</a:t>
            </a:r>
          </a:p>
          <a:p>
            <a:pPr lvl="1"/>
            <a:r>
              <a:rPr lang="en-US" dirty="0"/>
              <a:t>workers optimize </a:t>
            </a:r>
            <a:r>
              <a:rPr lang="en-US" b="1" dirty="0"/>
              <a:t>independently</a:t>
            </a:r>
            <a:r>
              <a:rPr lang="en-US" dirty="0"/>
              <a:t> for a while</a:t>
            </a:r>
          </a:p>
          <a:p>
            <a:pPr lvl="2"/>
            <a:r>
              <a:rPr lang="en-US" dirty="0"/>
              <a:t>without communication</a:t>
            </a:r>
          </a:p>
          <a:p>
            <a:pPr lvl="1"/>
            <a:r>
              <a:rPr lang="en-US" dirty="0"/>
              <a:t>workers </a:t>
            </a:r>
            <a:r>
              <a:rPr lang="en-US" b="1" dirty="0"/>
              <a:t>communicate</a:t>
            </a:r>
            <a:r>
              <a:rPr lang="en-US" dirty="0"/>
              <a:t> and </a:t>
            </a:r>
            <a:r>
              <a:rPr lang="en-US" b="1" dirty="0"/>
              <a:t>synchronize</a:t>
            </a:r>
            <a:r>
              <a:rPr lang="en-US" dirty="0"/>
              <a:t> models</a:t>
            </a:r>
          </a:p>
          <a:p>
            <a:r>
              <a:rPr lang="en-US" dirty="0"/>
              <a:t>Decisions to consider:</a:t>
            </a:r>
          </a:p>
          <a:p>
            <a:pPr lvl="1"/>
            <a:r>
              <a:rPr lang="en-US" b="1" dirty="0"/>
              <a:t>when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when is it ok to optimize a “stale” set of weights?</a:t>
            </a:r>
          </a:p>
          <a:p>
            <a:pPr lvl="1"/>
            <a:r>
              <a:rPr lang="en-US" b="1" dirty="0"/>
              <a:t>how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send</a:t>
            </a:r>
            <a:r>
              <a:rPr lang="en-US" dirty="0"/>
              <a:t> information?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compress</a:t>
            </a:r>
            <a:r>
              <a:rPr lang="en-US" dirty="0"/>
              <a:t> or </a:t>
            </a:r>
            <a:r>
              <a:rPr lang="en-US" b="1" dirty="0" err="1"/>
              <a:t>sparsify</a:t>
            </a:r>
            <a:r>
              <a:rPr lang="en-US" b="1" dirty="0"/>
              <a:t> </a:t>
            </a:r>
            <a:r>
              <a:rPr lang="en-US" dirty="0"/>
              <a:t>gradients?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1F399-7183-4559-4761-788C043F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86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440FB-6E37-87E6-44DD-CDF8AB46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62614-15E6-80CA-D690-C30A84B8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Parallel ML:  Maximal synchronization: batch gradient (recap)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242DE-6C9B-CF55-D65E-58C56432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ADA87D7-0947-DC44-6E66-38B2ADD3B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3975"/>
            <a:ext cx="9138199" cy="5121275"/>
          </a:xfrm>
          <a:prstGeom prst="rect">
            <a:avLst/>
          </a:prstGeom>
        </p:spPr>
      </p:pic>
      <p:pic>
        <p:nvPicPr>
          <p:cNvPr id="6" name="Picture 5" descr="A computer code with text&#10;&#10;AI-generated content may be incorrect.">
            <a:extLst>
              <a:ext uri="{FF2B5EF4-FFF2-40B4-BE49-F238E27FC236}">
                <a16:creationId xmlns:a16="http://schemas.microsoft.com/office/drawing/2014/main" id="{315CEDF2-94A4-6597-E3B1-0A0A1BC66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4" y="1452562"/>
            <a:ext cx="9061557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8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75833-EB1B-6BF4-D577-460140A69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E0E5-D8EA-DE2A-8C23-7104E6A58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Parallel ML:  Minimal synchronization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8BBBC-A93B-FCC1-2F7E-E079EE310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Picture 5" descr="A close-up of a business card&#10;&#10;AI-generated content may be incorrect.">
            <a:extLst>
              <a:ext uri="{FF2B5EF4-FFF2-40B4-BE49-F238E27FC236}">
                <a16:creationId xmlns:a16="http://schemas.microsoft.com/office/drawing/2014/main" id="{D76CAEF8-12E7-87DA-0441-BE25786BC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66935"/>
            <a:ext cx="7772400" cy="41241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EAB7B1-ADF6-5F44-9647-D1832C5FEF7B}"/>
              </a:ext>
            </a:extLst>
          </p:cNvPr>
          <p:cNvSpPr txBox="1"/>
          <p:nvPr/>
        </p:nvSpPr>
        <p:spPr>
          <a:xfrm>
            <a:off x="6043613" y="1400175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NeurIPS</a:t>
            </a:r>
            <a:r>
              <a:rPr lang="en-US" dirty="0"/>
              <a:t> 2009</a:t>
            </a:r>
          </a:p>
        </p:txBody>
      </p:sp>
    </p:spTree>
    <p:extLst>
      <p:ext uri="{BB962C8B-B14F-4D97-AF65-F5344CB8AC3E}">
        <p14:creationId xmlns:p14="http://schemas.microsoft.com/office/powerpoint/2010/main" val="182839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2068-37F0-B0B3-7682-F2BB46D89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A079-0C48-B11B-109C-9EA76AFA7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Parallel ML:  Minimal synchronization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CAF9D-6C84-DD2B-8989-EFD8775B0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660528"/>
            <a:ext cx="8250238" cy="490537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ML models they compared:</a:t>
            </a:r>
          </a:p>
          <a:p>
            <a:pPr lvl="1"/>
            <a:r>
              <a:rPr lang="en-US" dirty="0"/>
              <a:t>Distributed batch gradient</a:t>
            </a:r>
          </a:p>
          <a:p>
            <a:pPr lvl="1"/>
            <a:r>
              <a:rPr lang="en-US" dirty="0"/>
              <a:t>Two minimal-synchronization methods</a:t>
            </a:r>
          </a:p>
          <a:p>
            <a:pPr lvl="2"/>
            <a:r>
              <a:rPr lang="en-US" dirty="0"/>
              <a:t>Learn P different logistic regression classifiers from P different shards with batch gradient descent for each shard</a:t>
            </a:r>
          </a:p>
          <a:p>
            <a:pPr lvl="3"/>
            <a:r>
              <a:rPr lang="en-US" dirty="0"/>
              <a:t>Combine predictions by </a:t>
            </a:r>
            <a:r>
              <a:rPr lang="en-US" b="1" dirty="0"/>
              <a:t>majority vote</a:t>
            </a:r>
          </a:p>
          <a:p>
            <a:pPr lvl="3"/>
            <a:r>
              <a:rPr lang="en-US" dirty="0"/>
              <a:t>Combine weight vectors by </a:t>
            </a:r>
            <a:r>
              <a:rPr lang="en-US" b="1" dirty="0"/>
              <a:t>averaging</a:t>
            </a:r>
          </a:p>
          <a:p>
            <a:r>
              <a:rPr lang="en-US" dirty="0"/>
              <a:t>All methods are comparable in CPU time and accuracy but minimal-synchronization methods use 1000x less network bandwidth</a:t>
            </a:r>
          </a:p>
          <a:p>
            <a:r>
              <a:rPr lang="en-US" dirty="0"/>
              <a:t>Can prove lower variance than one shard but not lower bias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75B6D-DCC1-5A22-1E28-9A7BFAA4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63AC3F-9DB9-B2EE-E733-FCDCC56185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21" r="14048"/>
          <a:stretch/>
        </p:blipFill>
        <p:spPr>
          <a:xfrm>
            <a:off x="6376791" y="3836195"/>
            <a:ext cx="1563819" cy="55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2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5975-FA85-CB7C-2E89-6A25CB8EF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827-42A0-41ED-37DD-75181F6B4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Parallel ML:  Minimal synchronization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C2C77-E90E-90EF-80EF-A5B60508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EBC1E-4771-2ED8-A8AF-142B4635D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1069"/>
            <a:ext cx="9144000" cy="46800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505EFB-26E5-A7B4-A6F2-2A9B53CBB4D8}"/>
              </a:ext>
            </a:extLst>
          </p:cNvPr>
          <p:cNvSpPr txBox="1"/>
          <p:nvPr/>
        </p:nvSpPr>
        <p:spPr>
          <a:xfrm>
            <a:off x="6100763" y="1096962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NeurIPS</a:t>
            </a:r>
            <a:r>
              <a:rPr lang="en-US" dirty="0"/>
              <a:t> 2010</a:t>
            </a:r>
          </a:p>
        </p:txBody>
      </p:sp>
    </p:spTree>
    <p:extLst>
      <p:ext uri="{BB962C8B-B14F-4D97-AF65-F5344CB8AC3E}">
        <p14:creationId xmlns:p14="http://schemas.microsoft.com/office/powerpoint/2010/main" val="2649701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C9B3-0F14-EC30-BD2C-0B8B7C99D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E42C-556B-B123-01E9-4DDE44DC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Parallel ML:  Minimal synchronization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5733C-BB24-81E6-E926-50C0636F5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660528"/>
            <a:ext cx="8250238" cy="4905371"/>
          </a:xfrm>
        </p:spPr>
        <p:txBody>
          <a:bodyPr>
            <a:normAutofit fontScale="92500"/>
          </a:bodyPr>
          <a:lstStyle/>
          <a:p>
            <a:r>
              <a:rPr lang="en-US" dirty="0"/>
              <a:t>Comparisons</a:t>
            </a:r>
          </a:p>
          <a:p>
            <a:pPr lvl="1"/>
            <a:r>
              <a:rPr lang="en-US" dirty="0"/>
              <a:t>The minimal-synchronization method</a:t>
            </a:r>
          </a:p>
          <a:p>
            <a:pPr lvl="2"/>
            <a:r>
              <a:rPr lang="en-US" dirty="0"/>
              <a:t>Learn P different logistic regression classifiers from T examples each with </a:t>
            </a:r>
            <a:r>
              <a:rPr lang="en-US" b="1" dirty="0"/>
              <a:t>stochastic</a:t>
            </a:r>
            <a:r>
              <a:rPr lang="en-US" dirty="0"/>
              <a:t> gradient descent in a shard</a:t>
            </a:r>
          </a:p>
          <a:p>
            <a:pPr lvl="2"/>
            <a:r>
              <a:rPr lang="en-US" dirty="0"/>
              <a:t>Combine weight vectors by </a:t>
            </a:r>
            <a:r>
              <a:rPr lang="en-US" b="1" dirty="0"/>
              <a:t>averaging</a:t>
            </a:r>
          </a:p>
          <a:p>
            <a:r>
              <a:rPr lang="en-US" dirty="0"/>
              <a:t>Can make formal bounds on the variance and expectation of the averaged parameter vector</a:t>
            </a:r>
          </a:p>
          <a:p>
            <a:pPr lvl="1"/>
            <a:r>
              <a:rPr lang="en-US" dirty="0"/>
              <a:t>relative to a single SGD run over T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27425-BDF9-1808-1989-41E2725E2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3E60A0-0296-D04C-555E-BE31B98CF4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21" r="14048"/>
          <a:stretch/>
        </p:blipFill>
        <p:spPr>
          <a:xfrm>
            <a:off x="7158700" y="3836195"/>
            <a:ext cx="1563819" cy="55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42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7"/>
            <a:ext cx="4813520" cy="35711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573" y="-86499"/>
            <a:ext cx="4700254" cy="3571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2875" y="3855308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30312" y="3829223"/>
            <a:ext cx="983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loss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25F10-F1E7-010A-3A03-B570A8BACF95}"/>
              </a:ext>
            </a:extLst>
          </p:cNvPr>
          <p:cNvSpPr txBox="1"/>
          <p:nvPr/>
        </p:nvSpPr>
        <p:spPr>
          <a:xfrm>
            <a:off x="742951" y="5593921"/>
            <a:ext cx="73152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Note: This is a </a:t>
            </a:r>
            <a:r>
              <a:rPr lang="en-US" sz="2800" i="1" dirty="0"/>
              <a:t>convex</a:t>
            </a:r>
            <a:r>
              <a:rPr lang="en-US" sz="2800" dirty="0"/>
              <a:t> optimization problem!</a:t>
            </a:r>
          </a:p>
        </p:txBody>
      </p:sp>
    </p:spTree>
    <p:extLst>
      <p:ext uri="{BB962C8B-B14F-4D97-AF65-F5344CB8AC3E}">
        <p14:creationId xmlns:p14="http://schemas.microsoft.com/office/powerpoint/2010/main" val="119336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A46D-0E53-6160-97E7-C1184C45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B05D8-49E9-6245-2777-DE7EE5594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Parallel ML:  Minimal synchronization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7B4CF-9C26-E888-726B-F30691B31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54B128-1FF8-27F3-A894-76B26AC0A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8995"/>
            <a:ext cx="7772400" cy="3700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8AEB3E-C5C9-C48C-3826-2BB0FD052613}"/>
              </a:ext>
            </a:extLst>
          </p:cNvPr>
          <p:cNvSpPr txBox="1"/>
          <p:nvPr/>
        </p:nvSpPr>
        <p:spPr>
          <a:xfrm>
            <a:off x="6021239" y="1209663"/>
            <a:ext cx="226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NeurIPS</a:t>
            </a:r>
            <a:r>
              <a:rPr lang="en-US" dirty="0"/>
              <a:t> 2011</a:t>
            </a:r>
          </a:p>
        </p:txBody>
      </p:sp>
    </p:spTree>
    <p:extLst>
      <p:ext uri="{BB962C8B-B14F-4D97-AF65-F5344CB8AC3E}">
        <p14:creationId xmlns:p14="http://schemas.microsoft.com/office/powerpoint/2010/main" val="3464450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B7747-C2F6-FCD1-1FBF-E16C3B34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09F3-2B88-04C3-6D69-1E50A24F9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Parallel ML:  Minimal synchronization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F0738-2BF3-B8DE-5518-FD1F1ED81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207375" cy="238601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Setting:</a:t>
            </a:r>
          </a:p>
          <a:p>
            <a:pPr lvl="1"/>
            <a:r>
              <a:rPr lang="en-US" dirty="0"/>
              <a:t>Multiple SGD processes on a multicore CPU with shared memory</a:t>
            </a:r>
          </a:p>
          <a:p>
            <a:pPr lvl="1"/>
            <a:r>
              <a:rPr lang="en-US" dirty="0"/>
              <a:t>Sparse gradient updates</a:t>
            </a:r>
          </a:p>
          <a:p>
            <a:pPr lvl="2"/>
            <a:r>
              <a:rPr lang="en-US" dirty="0"/>
              <a:t>Matrix factorization</a:t>
            </a:r>
          </a:p>
          <a:p>
            <a:pPr lvl="2"/>
            <a:r>
              <a:rPr lang="en-US" dirty="0"/>
              <a:t>SVM with sparse features</a:t>
            </a:r>
          </a:p>
          <a:p>
            <a:pPr lvl="1"/>
            <a:r>
              <a:rPr lang="en-US" u="sng" dirty="0"/>
              <a:t>No locking </a:t>
            </a:r>
            <a:r>
              <a:rPr lang="en-US" dirty="0"/>
              <a:t>when you update gradients!  </a:t>
            </a:r>
          </a:p>
          <a:p>
            <a:pPr lvl="2"/>
            <a:r>
              <a:rPr lang="en-US" dirty="0"/>
              <a:t>One process’s update might overwrite another</a:t>
            </a:r>
          </a:p>
          <a:p>
            <a:pPr lvl="2"/>
            <a:r>
              <a:rPr lang="en-US" dirty="0"/>
              <a:t>But that’s just making GD more stochastic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BF012-5B13-B0D3-467F-B1E3A4F4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DD2599BE-BFE5-7471-DFE4-AD5F334C33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21"/>
          <a:stretch/>
        </p:blipFill>
        <p:spPr>
          <a:xfrm>
            <a:off x="79796" y="3803651"/>
            <a:ext cx="8848304" cy="276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95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80535-BF89-2EA6-2F65-523E0E13A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08B5-9ADC-FE82-360B-4246D4EB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Parallel ML:  Minimal synchronization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A0B45-5A45-F1BB-8B2C-C4F9CDC71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2883379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HogWild</a:t>
            </a:r>
            <a:r>
              <a:rPr lang="en-US" dirty="0"/>
              <a:t>! optimization still in use</a:t>
            </a:r>
          </a:p>
          <a:p>
            <a:pPr lvl="1"/>
            <a:r>
              <a:rPr lang="en-US" dirty="0"/>
              <a:t>e.g. </a:t>
            </a:r>
            <a:r>
              <a:rPr lang="en-US" dirty="0" err="1"/>
              <a:t>FastText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hash trick, n-grams, learned word representations, hierarchical </a:t>
            </a:r>
            <a:r>
              <a:rPr lang="en-US" dirty="0" err="1"/>
              <a:t>softmax</a:t>
            </a:r>
            <a:r>
              <a:rPr lang="en-US" dirty="0"/>
              <a:t>, and </a:t>
            </a:r>
            <a:r>
              <a:rPr lang="en-US" dirty="0" err="1"/>
              <a:t>HogWild</a:t>
            </a:r>
            <a:r>
              <a:rPr lang="en-US" dirty="0"/>
              <a:t>! optimization</a:t>
            </a:r>
          </a:p>
          <a:p>
            <a:pPr lvl="2"/>
            <a:r>
              <a:rPr lang="en-US" dirty="0"/>
              <a:t>very fast learner/classifier with ~ 20 threads on CPUs with fast RAID disks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734FD-4AF6-1058-C028-CC6EB4BF6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83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E7E3C-1356-1A07-D15C-EE1C3D28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5019-477E-10FA-D081-D2FF6516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Parallel ML:  Intermediate Synchronization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311E2-5C12-AAD3-A8F0-E0FB0B2E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3" name="Picture 2" descr="Screen shot 2012-02-06 at 10.28.38 AM.png">
            <a:extLst>
              <a:ext uri="{FF2B5EF4-FFF2-40B4-BE49-F238E27FC236}">
                <a16:creationId xmlns:a16="http://schemas.microsoft.com/office/drawing/2014/main" id="{CD9CD99B-BDD3-5160-2970-EF9C15A1A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744358"/>
            <a:ext cx="8255000" cy="2169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8DB92D-1565-6C98-9B3A-A1F271271B03}"/>
              </a:ext>
            </a:extLst>
          </p:cNvPr>
          <p:cNvSpPr txBox="1"/>
          <p:nvPr/>
        </p:nvSpPr>
        <p:spPr>
          <a:xfrm>
            <a:off x="1809750" y="3913491"/>
            <a:ext cx="469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NAACL 2010</a:t>
            </a:r>
          </a:p>
        </p:txBody>
      </p:sp>
    </p:spTree>
    <p:extLst>
      <p:ext uri="{BB962C8B-B14F-4D97-AF65-F5344CB8AC3E}">
        <p14:creationId xmlns:p14="http://schemas.microsoft.com/office/powerpoint/2010/main" val="1320337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</a:t>
            </a:r>
            <a:r>
              <a:rPr lang="en-US" dirty="0" err="1"/>
              <a:t>Perceptrons</a:t>
            </a:r>
            <a:r>
              <a:rPr lang="en-US" dirty="0"/>
              <a:t>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399" y="1257299"/>
            <a:ext cx="8494184" cy="2870201"/>
          </a:xfrm>
        </p:spPr>
        <p:txBody>
          <a:bodyPr>
            <a:noAutofit/>
          </a:bodyPr>
          <a:lstStyle/>
          <a:p>
            <a:r>
              <a:rPr lang="en-US" sz="2000" dirty="0"/>
              <a:t>Simplest idea (minimal synchronization):</a:t>
            </a:r>
          </a:p>
          <a:p>
            <a:pPr lvl="1"/>
            <a:r>
              <a:rPr lang="en-US" sz="2000" dirty="0"/>
              <a:t>Split data into S “shards”</a:t>
            </a:r>
          </a:p>
          <a:p>
            <a:pPr lvl="1"/>
            <a:r>
              <a:rPr lang="en-US" sz="2000" dirty="0"/>
              <a:t>Train a perceptron on each shard independently</a:t>
            </a:r>
          </a:p>
          <a:p>
            <a:pPr lvl="2"/>
            <a:r>
              <a:rPr lang="en-US" sz="2000" dirty="0"/>
              <a:t>weight vectors are </a:t>
            </a:r>
            <a:r>
              <a:rPr lang="en-US" sz="2000" b="1" dirty="0"/>
              <a:t>w</a:t>
            </a:r>
            <a:r>
              <a:rPr lang="en-US" sz="2000" baseline="30000" dirty="0"/>
              <a:t>(1)</a:t>
            </a:r>
            <a:r>
              <a:rPr lang="en-US" sz="2000" dirty="0"/>
              <a:t> ,</a:t>
            </a:r>
            <a:r>
              <a:rPr lang="en-US" sz="2000" b="1" dirty="0"/>
              <a:t> w</a:t>
            </a:r>
            <a:r>
              <a:rPr lang="en-US" sz="2000" baseline="30000" dirty="0"/>
              <a:t>(2)</a:t>
            </a:r>
            <a:r>
              <a:rPr lang="en-US" sz="2000" dirty="0"/>
              <a:t> , …</a:t>
            </a:r>
            <a:endParaRPr lang="en-US" sz="2000" baseline="30000" dirty="0"/>
          </a:p>
          <a:p>
            <a:pPr lvl="1"/>
            <a:r>
              <a:rPr lang="en-US" sz="2000" dirty="0"/>
              <a:t>Produce some weighted average of the </a:t>
            </a:r>
            <a:r>
              <a:rPr lang="en-US" sz="2000" b="1" dirty="0"/>
              <a:t>w</a:t>
            </a:r>
            <a:r>
              <a:rPr lang="en-US" sz="2000" baseline="30000" dirty="0"/>
              <a:t>(</a:t>
            </a:r>
            <a:r>
              <a:rPr lang="en-US" sz="2000" baseline="30000" dirty="0" err="1"/>
              <a:t>i</a:t>
            </a:r>
            <a:r>
              <a:rPr lang="en-US" sz="2000" baseline="30000" dirty="0"/>
              <a:t>)</a:t>
            </a:r>
            <a:r>
              <a:rPr lang="en-US" sz="2000" dirty="0"/>
              <a:t>‘s  as the final result</a:t>
            </a:r>
          </a:p>
          <a:p>
            <a:pPr lvl="1"/>
            <a:endParaRPr lang="en-US" sz="2000" dirty="0"/>
          </a:p>
          <a:p>
            <a:r>
              <a:rPr lang="en-US" sz="2000" dirty="0"/>
              <a:t>Theorem: this doesn’t always work (for </a:t>
            </a:r>
            <a:r>
              <a:rPr lang="en-US" sz="2000" dirty="0" err="1"/>
              <a:t>perceptrons</a:t>
            </a:r>
            <a:r>
              <a:rPr lang="en-US" sz="2000" dirty="0"/>
              <a:t>).</a:t>
            </a:r>
          </a:p>
          <a:p>
            <a:r>
              <a:rPr lang="en-US" sz="2000" dirty="0"/>
              <a:t>Proof:  by constructing an example  where you can converge on every shard, and still have the averaged vector </a:t>
            </a:r>
            <a:r>
              <a:rPr lang="en-US" sz="2000" i="1" dirty="0"/>
              <a:t>not </a:t>
            </a:r>
            <a:r>
              <a:rPr lang="en-US" sz="2000" dirty="0"/>
              <a:t>separate the full training set – no matter </a:t>
            </a:r>
            <a:r>
              <a:rPr lang="en-US" sz="2000" i="1" dirty="0"/>
              <a:t>how</a:t>
            </a:r>
            <a:r>
              <a:rPr lang="en-US" sz="2000" dirty="0"/>
              <a:t>  you average the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7AA7C-B6B4-8F1D-057A-3EF92575437C}"/>
              </a:ext>
            </a:extLst>
          </p:cNvPr>
          <p:cNvSpPr txBox="1"/>
          <p:nvPr/>
        </p:nvSpPr>
        <p:spPr>
          <a:xfrm>
            <a:off x="6059488" y="450631"/>
            <a:ext cx="2855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*similar to logistic regression with SGD</a:t>
            </a:r>
          </a:p>
        </p:txBody>
      </p:sp>
    </p:spTree>
    <p:extLst>
      <p:ext uri="{BB962C8B-B14F-4D97-AF65-F5344CB8AC3E}">
        <p14:creationId xmlns:p14="http://schemas.microsoft.com/office/powerpoint/2010/main" val="12674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Perceptrons – take 2</a:t>
            </a:r>
          </a:p>
        </p:txBody>
      </p:sp>
      <p:pic>
        <p:nvPicPr>
          <p:cNvPr id="7" name="Content Placeholder 6" descr="Screen shot 2012-02-06 at 10.37.11 AM.png"/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-3298" b="-3298"/>
          <a:stretch>
            <a:fillRect/>
          </a:stretch>
        </p:blipFill>
        <p:spPr>
          <a:xfrm>
            <a:off x="4773168" y="1830387"/>
            <a:ext cx="4038600" cy="4525963"/>
          </a:xfrm>
        </p:spPr>
      </p:pic>
      <p:sp>
        <p:nvSpPr>
          <p:cNvPr id="8" name="TextBox 7"/>
          <p:cNvSpPr txBox="1"/>
          <p:nvPr/>
        </p:nvSpPr>
        <p:spPr>
          <a:xfrm>
            <a:off x="648759" y="1779687"/>
            <a:ext cx="388408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Idea: do the simplest possible thing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iteratively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Split the data into shards</a:t>
            </a:r>
          </a:p>
          <a:p>
            <a:pPr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Let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= 0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=1,…</a:t>
            </a:r>
          </a:p>
          <a:p>
            <a:pPr lvl="1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Train a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perceptron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on each shard with one pass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starting with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Average the weight vectors and let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 that average </a:t>
            </a:r>
          </a:p>
          <a:p>
            <a:pPr lvl="1">
              <a:buFont typeface="Arial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Extra communication cost: </a:t>
            </a:r>
          </a:p>
          <a:p>
            <a:pPr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redistributing the weight vectors</a:t>
            </a:r>
          </a:p>
          <a:p>
            <a:pPr>
              <a:buFont typeface="Arial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done less frequently than if fully synchronized, more frequently than if fully parallelized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2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Parallelizing perceptrons – take 2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87401" y="2188085"/>
            <a:ext cx="7308849" cy="3449059"/>
            <a:chOff x="586318" y="1703869"/>
            <a:chExt cx="8324848" cy="4204074"/>
          </a:xfrm>
        </p:grpSpPr>
        <p:sp>
          <p:nvSpPr>
            <p:cNvPr id="5" name="Can 4"/>
            <p:cNvSpPr/>
            <p:nvPr/>
          </p:nvSpPr>
          <p:spPr>
            <a:xfrm>
              <a:off x="3334809" y="1703869"/>
              <a:ext cx="2741083" cy="893233"/>
            </a:xfrm>
            <a:prstGeom prst="can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Instances/labels</a:t>
              </a:r>
            </a:p>
          </p:txBody>
        </p:sp>
        <p:sp>
          <p:nvSpPr>
            <p:cNvPr id="8" name="Can 7"/>
            <p:cNvSpPr/>
            <p:nvPr/>
          </p:nvSpPr>
          <p:spPr>
            <a:xfrm>
              <a:off x="586318" y="2872269"/>
              <a:ext cx="2451100" cy="893233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Instances/labels – 1</a:t>
              </a:r>
            </a:p>
          </p:txBody>
        </p:sp>
        <p:sp>
          <p:nvSpPr>
            <p:cNvPr id="10" name="Can 9"/>
            <p:cNvSpPr/>
            <p:nvPr/>
          </p:nvSpPr>
          <p:spPr>
            <a:xfrm>
              <a:off x="3479801" y="2872269"/>
              <a:ext cx="2451100" cy="893233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Instances/labels – 2</a:t>
              </a:r>
            </a:p>
          </p:txBody>
        </p:sp>
        <p:sp>
          <p:nvSpPr>
            <p:cNvPr id="11" name="Can 10"/>
            <p:cNvSpPr/>
            <p:nvPr/>
          </p:nvSpPr>
          <p:spPr>
            <a:xfrm>
              <a:off x="6278033" y="2872269"/>
              <a:ext cx="2451100" cy="893233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Instances/labels – 3</a:t>
              </a:r>
            </a:p>
          </p:txBody>
        </p:sp>
        <p:cxnSp>
          <p:nvCxnSpPr>
            <p:cNvPr id="12" name="Straight Connector 11"/>
            <p:cNvCxnSpPr>
              <a:stCxn id="5" idx="3"/>
              <a:endCxn id="10" idx="1"/>
            </p:cNvCxnSpPr>
            <p:nvPr/>
          </p:nvCxnSpPr>
          <p:spPr>
            <a:xfrm>
              <a:off x="4705351" y="2597102"/>
              <a:ext cx="0" cy="2751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5" idx="3"/>
              <a:endCxn id="11" idx="1"/>
            </p:cNvCxnSpPr>
            <p:nvPr/>
          </p:nvCxnSpPr>
          <p:spPr>
            <a:xfrm>
              <a:off x="4705351" y="2597102"/>
              <a:ext cx="2798232" cy="2751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5" idx="3"/>
              <a:endCxn id="8" idx="1"/>
            </p:cNvCxnSpPr>
            <p:nvPr/>
          </p:nvCxnSpPr>
          <p:spPr>
            <a:xfrm flipH="1">
              <a:off x="1811868" y="2597102"/>
              <a:ext cx="2893483" cy="2751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an 21"/>
            <p:cNvSpPr/>
            <p:nvPr/>
          </p:nvSpPr>
          <p:spPr>
            <a:xfrm>
              <a:off x="586318" y="4398386"/>
              <a:ext cx="2451100" cy="569384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 -1 </a:t>
              </a:r>
            </a:p>
          </p:txBody>
        </p:sp>
        <p:sp>
          <p:nvSpPr>
            <p:cNvPr id="23" name="Can 22"/>
            <p:cNvSpPr/>
            <p:nvPr/>
          </p:nvSpPr>
          <p:spPr>
            <a:xfrm>
              <a:off x="3479801" y="4398386"/>
              <a:ext cx="2451100" cy="569384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w- 2</a:t>
              </a:r>
            </a:p>
          </p:txBody>
        </p:sp>
        <p:sp>
          <p:nvSpPr>
            <p:cNvPr id="24" name="Can 23"/>
            <p:cNvSpPr/>
            <p:nvPr/>
          </p:nvSpPr>
          <p:spPr>
            <a:xfrm>
              <a:off x="6278033" y="4398386"/>
              <a:ext cx="2451100" cy="569384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w-3</a:t>
              </a:r>
            </a:p>
          </p:txBody>
        </p:sp>
        <p:sp>
          <p:nvSpPr>
            <p:cNvPr id="26" name="Down Arrow 25"/>
            <p:cNvSpPr/>
            <p:nvPr/>
          </p:nvSpPr>
          <p:spPr>
            <a:xfrm>
              <a:off x="1647826" y="3845935"/>
              <a:ext cx="328083" cy="55245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Down Arrow 26"/>
            <p:cNvSpPr/>
            <p:nvPr/>
          </p:nvSpPr>
          <p:spPr>
            <a:xfrm>
              <a:off x="4541309" y="3845935"/>
              <a:ext cx="328083" cy="55245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Down Arrow 27"/>
            <p:cNvSpPr/>
            <p:nvPr/>
          </p:nvSpPr>
          <p:spPr>
            <a:xfrm>
              <a:off x="7339541" y="3845935"/>
              <a:ext cx="328083" cy="55245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/>
            <p:cNvGrpSpPr/>
            <p:nvPr/>
          </p:nvGrpSpPr>
          <p:grpSpPr>
            <a:xfrm rot="10800000">
              <a:off x="1964268" y="4988937"/>
              <a:ext cx="5691715" cy="275167"/>
              <a:chOff x="1964268" y="4423835"/>
              <a:chExt cx="5691715" cy="275167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4857751" y="4423835"/>
                <a:ext cx="0" cy="2751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4857751" y="4423835"/>
                <a:ext cx="2798232" cy="2751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H="1">
                <a:off x="1964268" y="4423835"/>
                <a:ext cx="2893483" cy="2751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Can 20"/>
            <p:cNvSpPr/>
            <p:nvPr/>
          </p:nvSpPr>
          <p:spPr>
            <a:xfrm>
              <a:off x="3536949" y="5297975"/>
              <a:ext cx="2451100" cy="569384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604061" y="1957352"/>
              <a:ext cx="23071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Split into example subsets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508811" y="5120127"/>
              <a:ext cx="2220322" cy="787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Combine by averaging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62500" y="3883988"/>
              <a:ext cx="2456071" cy="4501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Compute local </a:t>
              </a:r>
              <a:r>
                <a:rPr lang="en-US" dirty="0" err="1"/>
                <a:t>vk’s</a:t>
              </a:r>
              <a:r>
                <a:rPr lang="en-US" dirty="0"/>
                <a:t> </a:t>
              </a:r>
            </a:p>
          </p:txBody>
        </p:sp>
      </p:grpSp>
      <p:sp>
        <p:nvSpPr>
          <p:cNvPr id="30" name="Bent Arrow 29"/>
          <p:cNvSpPr/>
          <p:nvPr/>
        </p:nvSpPr>
        <p:spPr>
          <a:xfrm rot="10800000">
            <a:off x="1058332" y="5858930"/>
            <a:ext cx="3495765" cy="829737"/>
          </a:xfrm>
          <a:prstGeom prst="ben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Bent Arrow 31"/>
          <p:cNvSpPr/>
          <p:nvPr/>
        </p:nvSpPr>
        <p:spPr>
          <a:xfrm rot="16200000">
            <a:off x="-1320315" y="4273001"/>
            <a:ext cx="3766698" cy="829736"/>
          </a:xfrm>
          <a:prstGeom prst="ben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an 32"/>
          <p:cNvSpPr/>
          <p:nvPr/>
        </p:nvSpPr>
        <p:spPr>
          <a:xfrm>
            <a:off x="370417" y="2053167"/>
            <a:ext cx="1714500" cy="751353"/>
          </a:xfrm>
          <a:prstGeom prst="ca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 (previous)</a:t>
            </a:r>
          </a:p>
        </p:txBody>
      </p:sp>
      <p:cxnSp>
        <p:nvCxnSpPr>
          <p:cNvPr id="35" name="Straight Arrow Connector 34"/>
          <p:cNvCxnSpPr>
            <a:stCxn id="33" idx="3"/>
          </p:cNvCxnSpPr>
          <p:nvPr/>
        </p:nvCxnSpPr>
        <p:spPr>
          <a:xfrm>
            <a:off x="1227667" y="2804520"/>
            <a:ext cx="391583" cy="24348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1667588" y="2804561"/>
            <a:ext cx="1710337" cy="34209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084917" y="2777044"/>
            <a:ext cx="3699558" cy="45087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CCBE62D-0A30-A2F4-C589-FD7B3274EA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534"/>
          <a:stretch/>
        </p:blipFill>
        <p:spPr>
          <a:xfrm>
            <a:off x="3400534" y="1124168"/>
            <a:ext cx="5743466" cy="100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E9167-0F78-F656-AC8D-EA7CA83F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2D78C-77CE-ECEA-8B43-D95027061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Background: </a:t>
            </a:r>
            <a:r>
              <a:rPr lang="en-US" dirty="0" err="1"/>
              <a:t>Perceptrons</a:t>
            </a:r>
            <a:r>
              <a:rPr lang="en-US" dirty="0"/>
              <a:t> are guaranteed to converge</a:t>
            </a:r>
          </a:p>
          <a:p>
            <a:pPr lvl="1"/>
            <a:r>
              <a:rPr lang="en-US" dirty="0"/>
              <a:t>Given the data has a compact “radius” and there is a classifier with “large margin”</a:t>
            </a:r>
          </a:p>
          <a:p>
            <a:r>
              <a:rPr lang="en-US" dirty="0"/>
              <a:t>The parallel “iterative parameter mixing” method is also guaranteed to converge in the same conditions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  <a:p>
            <a:pPr lvl="1"/>
            <a:r>
              <a:rPr lang="en-US" dirty="0"/>
              <a:t>But not to converge faster </a:t>
            </a:r>
            <a:r>
              <a:rPr lang="en-US" dirty="0">
                <a:sym typeface="Wingdings" pitchFamily="2" charset="2"/>
              </a:rPr>
              <a:t>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F7E72-9178-4C09-97FD-4064CD2D8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1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B76FD-B927-E8A3-1DF5-14F25C6D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B2DC-0951-3957-7262-651E1FC26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9DC2F-75E7-75C0-5EAE-A36C33CA9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7" name="Picture 6" descr="Screen Shot 2012-02-06 at 2.22.28 PM.png">
            <a:extLst>
              <a:ext uri="{FF2B5EF4-FFF2-40B4-BE49-F238E27FC236}">
                <a16:creationId xmlns:a16="http://schemas.microsoft.com/office/drawing/2014/main" id="{C148D98C-BC8F-FC20-9300-1F4309174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" r="49308" b="34830"/>
          <a:stretch/>
        </p:blipFill>
        <p:spPr>
          <a:xfrm>
            <a:off x="414337" y="47625"/>
            <a:ext cx="7043738" cy="4429125"/>
          </a:xfrm>
          <a:prstGeom prst="rect">
            <a:avLst/>
          </a:prstGeom>
        </p:spPr>
      </p:pic>
      <p:pic>
        <p:nvPicPr>
          <p:cNvPr id="3" name="Picture 2" descr="Screen Shot 2012-02-06 at 2.22.28 PM.png">
            <a:extLst>
              <a:ext uri="{FF2B5EF4-FFF2-40B4-BE49-F238E27FC236}">
                <a16:creationId xmlns:a16="http://schemas.microsoft.com/office/drawing/2014/main" id="{C704B5BF-BF47-B298-E36C-8BD898D77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t="63908" r="15469" b="726"/>
          <a:stretch/>
        </p:blipFill>
        <p:spPr>
          <a:xfrm>
            <a:off x="1228725" y="4800599"/>
            <a:ext cx="6015038" cy="162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96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68E35FE-2755-D5B3-0993-8E6E7B60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6DA6C-5B26-3B12-3837-A78EA640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7" name="Picture 6" descr="Screen Shot 2012-02-06 at 2.22.28 PM.png">
            <a:extLst>
              <a:ext uri="{FF2B5EF4-FFF2-40B4-BE49-F238E27FC236}">
                <a16:creationId xmlns:a16="http://schemas.microsoft.com/office/drawing/2014/main" id="{4F2E1F9A-E363-8FE0-B7C3-CCEF84213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1"/>
          <a:stretch/>
        </p:blipFill>
        <p:spPr>
          <a:xfrm>
            <a:off x="50800" y="828675"/>
            <a:ext cx="9529639" cy="602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69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2F417-F1C2-5537-7F63-F286D0194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14A5-4600-8519-B134-BB2C9345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306C8-49F7-5C17-BD50-F382B32C1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0"/>
            <a:ext cx="8947537" cy="518794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pPr lvl="1"/>
            <a:r>
              <a:rPr lang="en-US" dirty="0"/>
              <a:t>workers get </a:t>
            </a:r>
            <a:r>
              <a:rPr lang="en-US" b="1" dirty="0"/>
              <a:t>parts</a:t>
            </a:r>
            <a:r>
              <a:rPr lang="en-US" dirty="0"/>
              <a:t> (usually disjoint partitions) of the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copies</a:t>
            </a:r>
            <a:r>
              <a:rPr lang="en-US" dirty="0"/>
              <a:t> of the current </a:t>
            </a:r>
            <a:r>
              <a:rPr lang="en-US" b="1" dirty="0"/>
              <a:t>model</a:t>
            </a:r>
          </a:p>
          <a:p>
            <a:pPr lvl="1"/>
            <a:r>
              <a:rPr lang="en-US" dirty="0"/>
              <a:t>workers optimize </a:t>
            </a:r>
            <a:r>
              <a:rPr lang="en-US" b="1" dirty="0"/>
              <a:t>independently</a:t>
            </a:r>
            <a:r>
              <a:rPr lang="en-US" dirty="0"/>
              <a:t> for a while</a:t>
            </a:r>
          </a:p>
          <a:p>
            <a:pPr lvl="2"/>
            <a:r>
              <a:rPr lang="en-US" dirty="0"/>
              <a:t>without communication</a:t>
            </a:r>
          </a:p>
          <a:p>
            <a:pPr lvl="1"/>
            <a:r>
              <a:rPr lang="en-US" dirty="0"/>
              <a:t>workers </a:t>
            </a:r>
            <a:r>
              <a:rPr lang="en-US" b="1" dirty="0"/>
              <a:t>communicate</a:t>
            </a:r>
            <a:r>
              <a:rPr lang="en-US" dirty="0"/>
              <a:t> and </a:t>
            </a:r>
            <a:r>
              <a:rPr lang="en-US" b="1" dirty="0"/>
              <a:t>synchronize</a:t>
            </a:r>
            <a:r>
              <a:rPr lang="en-US" dirty="0"/>
              <a:t> models</a:t>
            </a:r>
          </a:p>
          <a:p>
            <a:r>
              <a:rPr lang="en-US" dirty="0"/>
              <a:t>Decisions to consider:</a:t>
            </a:r>
          </a:p>
          <a:p>
            <a:pPr lvl="1"/>
            <a:r>
              <a:rPr lang="en-US" b="1" dirty="0"/>
              <a:t>when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this is a </a:t>
            </a:r>
            <a:r>
              <a:rPr lang="en-US" b="1" dirty="0"/>
              <a:t>hyperparameter</a:t>
            </a:r>
            <a:r>
              <a:rPr lang="en-US" dirty="0"/>
              <a:t> you must tune</a:t>
            </a:r>
          </a:p>
          <a:p>
            <a:pPr lvl="1"/>
            <a:r>
              <a:rPr lang="en-US" b="1" dirty="0"/>
              <a:t>how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send</a:t>
            </a:r>
            <a:r>
              <a:rPr lang="en-US" dirty="0"/>
              <a:t> information?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compress</a:t>
            </a:r>
            <a:r>
              <a:rPr lang="en-US" dirty="0"/>
              <a:t> or </a:t>
            </a:r>
            <a:r>
              <a:rPr lang="en-US" b="1" dirty="0" err="1"/>
              <a:t>sparsify</a:t>
            </a:r>
            <a:r>
              <a:rPr lang="en-US" b="1" dirty="0"/>
              <a:t> </a:t>
            </a:r>
            <a:r>
              <a:rPr lang="en-US" dirty="0"/>
              <a:t>information?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44A28-6F28-FB49-A02C-02F570C9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565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DD9E4-0FD5-5628-0808-A4F41D97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9B55-97A4-9C25-18B6-BB5C9698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1FBD7-D669-D624-F2E1-4C50999D5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0"/>
            <a:ext cx="8947537" cy="518794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pPr lvl="1"/>
            <a:r>
              <a:rPr lang="en-US" dirty="0"/>
              <a:t>workers get </a:t>
            </a:r>
            <a:r>
              <a:rPr lang="en-US" b="1" dirty="0"/>
              <a:t>parts</a:t>
            </a:r>
            <a:r>
              <a:rPr lang="en-US" dirty="0"/>
              <a:t> (usually disjoint partitions) of the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copies</a:t>
            </a:r>
            <a:r>
              <a:rPr lang="en-US" dirty="0"/>
              <a:t> of the current </a:t>
            </a:r>
            <a:r>
              <a:rPr lang="en-US" b="1" dirty="0"/>
              <a:t>model</a:t>
            </a:r>
          </a:p>
          <a:p>
            <a:pPr lvl="1"/>
            <a:r>
              <a:rPr lang="en-US" dirty="0"/>
              <a:t>workers optimize </a:t>
            </a:r>
            <a:r>
              <a:rPr lang="en-US" b="1" dirty="0"/>
              <a:t>independently</a:t>
            </a:r>
            <a:r>
              <a:rPr lang="en-US" dirty="0"/>
              <a:t> for a while</a:t>
            </a:r>
          </a:p>
          <a:p>
            <a:pPr lvl="2"/>
            <a:r>
              <a:rPr lang="en-US" dirty="0"/>
              <a:t>without communication</a:t>
            </a:r>
          </a:p>
          <a:p>
            <a:pPr lvl="1"/>
            <a:r>
              <a:rPr lang="en-US" dirty="0"/>
              <a:t>workers </a:t>
            </a:r>
            <a:r>
              <a:rPr lang="en-US" b="1" dirty="0"/>
              <a:t>communicate</a:t>
            </a:r>
            <a:r>
              <a:rPr lang="en-US" dirty="0"/>
              <a:t> and </a:t>
            </a:r>
            <a:r>
              <a:rPr lang="en-US" b="1" dirty="0"/>
              <a:t>synchronize</a:t>
            </a:r>
            <a:r>
              <a:rPr lang="en-US" dirty="0"/>
              <a:t> models</a:t>
            </a:r>
          </a:p>
          <a:p>
            <a:r>
              <a:rPr lang="en-US" dirty="0"/>
              <a:t>Decisions to consider:</a:t>
            </a:r>
          </a:p>
          <a:p>
            <a:pPr lvl="1"/>
            <a:r>
              <a:rPr lang="en-US" b="1" dirty="0"/>
              <a:t>when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this is a </a:t>
            </a:r>
            <a:r>
              <a:rPr lang="en-US" b="1" dirty="0"/>
              <a:t>hyperparameter</a:t>
            </a:r>
            <a:r>
              <a:rPr lang="en-US" dirty="0"/>
              <a:t> you must tune</a:t>
            </a:r>
          </a:p>
          <a:p>
            <a:pPr lvl="1"/>
            <a:r>
              <a:rPr lang="en-US" b="1" dirty="0"/>
              <a:t>how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send</a:t>
            </a:r>
            <a:r>
              <a:rPr lang="en-US" dirty="0"/>
              <a:t> information?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compress</a:t>
            </a:r>
            <a:r>
              <a:rPr lang="en-US" dirty="0"/>
              <a:t> or </a:t>
            </a:r>
            <a:r>
              <a:rPr lang="en-US" b="1" dirty="0" err="1"/>
              <a:t>sparsify</a:t>
            </a:r>
            <a:r>
              <a:rPr lang="en-US" b="1" dirty="0"/>
              <a:t> </a:t>
            </a:r>
            <a:r>
              <a:rPr lang="en-US" dirty="0"/>
              <a:t>information?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B2634-D24E-1EF1-F0B4-F53C6D9A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666C95-F53B-359E-89D2-22214EE3AB46}"/>
              </a:ext>
            </a:extLst>
          </p:cNvPr>
          <p:cNvSpPr/>
          <p:nvPr/>
        </p:nvSpPr>
        <p:spPr>
          <a:xfrm>
            <a:off x="279400" y="4972050"/>
            <a:ext cx="6172200" cy="1257300"/>
          </a:xfrm>
          <a:prstGeom prst="ellipse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82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All-reduce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22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12947-E443-4721-FF47-18B9F659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68595-573D-C7B0-4ADC-D5F40C0D8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Recap Parallel SGD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54487-36A0-BD0E-F649-4C848CA3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223B75-B558-6CFE-40F0-703FEBDD9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94" y="4208939"/>
            <a:ext cx="9050306" cy="216782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Common pattern in ML:</a:t>
            </a:r>
          </a:p>
          <a:p>
            <a:pPr lvl="1"/>
            <a:r>
              <a:rPr lang="en-US" b="1" dirty="0"/>
              <a:t>Reduce</a:t>
            </a:r>
            <a:r>
              <a:rPr lang="en-US" dirty="0"/>
              <a:t> (e.g., aggregate gradients) information from many workers</a:t>
            </a:r>
          </a:p>
          <a:p>
            <a:pPr lvl="1"/>
            <a:r>
              <a:rPr lang="en-US" b="1" dirty="0"/>
              <a:t>Distribute</a:t>
            </a:r>
            <a:r>
              <a:rPr lang="en-US" dirty="0"/>
              <a:t> aggregation to </a:t>
            </a:r>
            <a:r>
              <a:rPr lang="en-US" b="1" dirty="0"/>
              <a:t>all workers</a:t>
            </a:r>
          </a:p>
          <a:p>
            <a:pPr lvl="1"/>
            <a:r>
              <a:rPr lang="en-US" b="1" dirty="0" err="1"/>
              <a:t>Allreduce</a:t>
            </a:r>
            <a:r>
              <a:rPr lang="en-US" b="1" dirty="0"/>
              <a:t> </a:t>
            </a:r>
            <a:r>
              <a:rPr lang="en-US" dirty="0"/>
              <a:t>combines reduce and distribution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91D77B-5854-E858-B1B8-2A70DDFF1C6C}"/>
              </a:ext>
            </a:extLst>
          </p:cNvPr>
          <p:cNvSpPr txBox="1"/>
          <p:nvPr/>
        </p:nvSpPr>
        <p:spPr>
          <a:xfrm>
            <a:off x="4329932" y="805306"/>
            <a:ext cx="48140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t=1,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each example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01B869F-5C26-0EBB-CC9B-DD29051A9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7" y="905482"/>
            <a:ext cx="9050306" cy="309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68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3-04-02 at 1.13.4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939" y="220960"/>
            <a:ext cx="4552122" cy="26273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Screen Shot 2013-04-02 at 1.13.4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455" y="3828597"/>
            <a:ext cx="5092450" cy="28645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ight Arrow 5"/>
          <p:cNvSpPr/>
          <p:nvPr/>
        </p:nvSpPr>
        <p:spPr>
          <a:xfrm rot="5400000">
            <a:off x="4062892" y="3018006"/>
            <a:ext cx="905568" cy="715614"/>
          </a:xfrm>
          <a:prstGeom prst="rightArrow">
            <a:avLst>
              <a:gd name="adj1" fmla="val 33303"/>
              <a:gd name="adj2" fmla="val 4629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883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3-04-02 at 1.15.1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38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0655D9-F8FE-4CD9-34A9-A77D79720CDC}"/>
              </a:ext>
            </a:extLst>
          </p:cNvPr>
          <p:cNvSpPr txBox="1"/>
          <p:nvPr/>
        </p:nvSpPr>
        <p:spPr>
          <a:xfrm>
            <a:off x="901148" y="5234609"/>
            <a:ext cx="71959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Separate process constructs a spanning tree of the </a:t>
            </a:r>
            <a:r>
              <a:rPr lang="en-US" sz="2400" i="1" dirty="0"/>
              <a:t>compute</a:t>
            </a:r>
            <a:r>
              <a:rPr lang="en-US" sz="2400" dirty="0"/>
              <a:t> </a:t>
            </a:r>
            <a:r>
              <a:rPr lang="en-US" sz="2400" i="1" dirty="0"/>
              <a:t>nodes in the cluster</a:t>
            </a:r>
            <a:r>
              <a:rPr lang="en-US" sz="2400" dirty="0"/>
              <a:t> and then acts as a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9467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3-04-02 at 1.15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609247"/>
          </a:xfrm>
          <a:prstGeom prst="rect">
            <a:avLst/>
          </a:prstGeom>
        </p:spPr>
      </p:pic>
      <p:sp>
        <p:nvSpPr>
          <p:cNvPr id="4" name="Up Arrow 3"/>
          <p:cNvSpPr/>
          <p:nvPr/>
        </p:nvSpPr>
        <p:spPr>
          <a:xfrm>
            <a:off x="0" y="3309180"/>
            <a:ext cx="427432" cy="1404264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756A43-76CB-F20B-2564-43C95BFE4524}"/>
              </a:ext>
            </a:extLst>
          </p:cNvPr>
          <p:cNvSpPr txBox="1"/>
          <p:nvPr/>
        </p:nvSpPr>
        <p:spPr>
          <a:xfrm>
            <a:off x="-152400" y="5338972"/>
            <a:ext cx="944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Workers all execute the same code, contains </a:t>
            </a:r>
            <a:r>
              <a:rPr lang="en-US" sz="2400" dirty="0" err="1"/>
              <a:t>AllReduce</a:t>
            </a:r>
            <a:r>
              <a:rPr lang="en-US" sz="2400" dirty="0"/>
              <a:t> calls.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Workers block and </a:t>
            </a:r>
            <a:r>
              <a:rPr lang="en-US" sz="2400" b="1" dirty="0"/>
              <a:t>synchronize</a:t>
            </a:r>
            <a:r>
              <a:rPr lang="en-US" sz="2400" dirty="0"/>
              <a:t> when they </a:t>
            </a:r>
            <a:r>
              <a:rPr lang="en-US" sz="2400" dirty="0" err="1"/>
              <a:t>AllReduce</a:t>
            </a:r>
            <a:r>
              <a:rPr lang="en-U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Server tells them </a:t>
            </a:r>
            <a:r>
              <a:rPr lang="en-US" sz="2400" b="1" dirty="0"/>
              <a:t>where</a:t>
            </a:r>
            <a:r>
              <a:rPr lang="en-US" sz="2400" dirty="0"/>
              <a:t> to transmit information.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37A02-B075-9264-00C3-680BE97BC055}"/>
              </a:ext>
            </a:extLst>
          </p:cNvPr>
          <p:cNvSpPr txBox="1"/>
          <p:nvPr/>
        </p:nvSpPr>
        <p:spPr>
          <a:xfrm>
            <a:off x="950976" y="3072384"/>
            <a:ext cx="512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trike="sngStrike" dirty="0"/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2919B-0588-C112-4F44-10BC8E31E83B}"/>
              </a:ext>
            </a:extLst>
          </p:cNvPr>
          <p:cNvSpPr txBox="1"/>
          <p:nvPr/>
        </p:nvSpPr>
        <p:spPr>
          <a:xfrm>
            <a:off x="4998720" y="3023616"/>
            <a:ext cx="512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trike="sngStrike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372095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3-04-02 at 1.16.2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93704"/>
          </a:xfrm>
          <a:prstGeom prst="rect">
            <a:avLst/>
          </a:prstGeom>
        </p:spPr>
      </p:pic>
      <p:sp>
        <p:nvSpPr>
          <p:cNvPr id="4" name="Up Arrow 3"/>
          <p:cNvSpPr/>
          <p:nvPr/>
        </p:nvSpPr>
        <p:spPr>
          <a:xfrm>
            <a:off x="152400" y="1593298"/>
            <a:ext cx="427432" cy="1404264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30CC68-70DA-52A0-7305-7F72EC0C0641}"/>
              </a:ext>
            </a:extLst>
          </p:cNvPr>
          <p:cNvSpPr txBox="1"/>
          <p:nvPr/>
        </p:nvSpPr>
        <p:spPr>
          <a:xfrm flipH="1">
            <a:off x="2981656" y="1433463"/>
            <a:ext cx="602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trike="sngStrike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05365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3-04-02 at 1.16.4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679281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>
            <a:off x="293096" y="1941548"/>
            <a:ext cx="476282" cy="147753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344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3-04-02 at 1.17.0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83"/>
          <a:stretch/>
        </p:blipFill>
        <p:spPr>
          <a:xfrm>
            <a:off x="0" y="0"/>
            <a:ext cx="9144000" cy="5115339"/>
          </a:xfrm>
          <a:prstGeom prst="rect">
            <a:avLst/>
          </a:prstGeom>
        </p:spPr>
      </p:pic>
      <p:sp>
        <p:nvSpPr>
          <p:cNvPr id="4" name="Down Arrow 3"/>
          <p:cNvSpPr/>
          <p:nvPr/>
        </p:nvSpPr>
        <p:spPr>
          <a:xfrm>
            <a:off x="0" y="3248124"/>
            <a:ext cx="476282" cy="147753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CD0562-4472-754F-A874-0467879DDAE6}"/>
              </a:ext>
            </a:extLst>
          </p:cNvPr>
          <p:cNvSpPr txBox="1"/>
          <p:nvPr/>
        </p:nvSpPr>
        <p:spPr>
          <a:xfrm>
            <a:off x="476282" y="5912482"/>
            <a:ext cx="83621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AllReduce</a:t>
            </a:r>
            <a:r>
              <a:rPr lang="en-US" sz="2400" dirty="0"/>
              <a:t> process ends and workers go “back to work”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765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9D3F-1FC8-01CA-85AF-0BD75E47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SGD with </a:t>
            </a:r>
            <a:r>
              <a:rPr lang="en-US" dirty="0" err="1"/>
              <a:t>AllReduce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C6F0A-DE23-385F-4BB2-911FCB294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 parallel, on each of </a:t>
            </a:r>
            <a:r>
              <a:rPr lang="en-US" sz="2400" i="1" dirty="0"/>
              <a:t>k</a:t>
            </a:r>
            <a:r>
              <a:rPr lang="en-US" sz="2400" dirty="0"/>
              <a:t>  workers with </a:t>
            </a:r>
            <a:r>
              <a:rPr lang="en-US" sz="2400" i="1" dirty="0"/>
              <a:t>N/k</a:t>
            </a:r>
            <a:r>
              <a:rPr lang="en-US" sz="2400" dirty="0"/>
              <a:t> examples each:</a:t>
            </a:r>
          </a:p>
          <a:p>
            <a:pPr marL="457200" lvl="1" indent="0">
              <a:buNone/>
            </a:pPr>
            <a:r>
              <a:rPr lang="en-US" sz="2400" b="1" dirty="0"/>
              <a:t>w = [</a:t>
            </a:r>
            <a:r>
              <a:rPr lang="en-US" sz="2400" dirty="0"/>
              <a:t>initial weight vector]</a:t>
            </a:r>
            <a:endParaRPr lang="en-US" sz="2400" b="1" dirty="0"/>
          </a:p>
          <a:p>
            <a:pPr marL="457200" lvl="1" indent="0">
              <a:buNone/>
            </a:pPr>
            <a:r>
              <a:rPr lang="en-US" sz="2400" dirty="0"/>
              <a:t>For e = 1, …, </a:t>
            </a:r>
            <a:r>
              <a:rPr lang="en-US" sz="2400" dirty="0" err="1"/>
              <a:t>num_epochs</a:t>
            </a:r>
            <a:r>
              <a:rPr lang="en-US" sz="2400" dirty="0"/>
              <a:t>:</a:t>
            </a:r>
          </a:p>
          <a:p>
            <a:pPr marL="914400" lvl="2" indent="0">
              <a:buNone/>
            </a:pPr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dirty="0"/>
              <a:t> = 1, …, </a:t>
            </a:r>
            <a:r>
              <a:rPr lang="en-US" sz="2400" dirty="0" err="1"/>
              <a:t>num_local_examples</a:t>
            </a:r>
            <a:r>
              <a:rPr lang="en-US" sz="2400" dirty="0"/>
              <a:t>:</a:t>
            </a:r>
          </a:p>
          <a:p>
            <a:pPr marL="1371600" lvl="3" indent="0">
              <a:buNone/>
            </a:pPr>
            <a:r>
              <a:rPr lang="en-US" b="1" dirty="0"/>
              <a:t>w </a:t>
            </a:r>
            <a:r>
              <a:rPr lang="en-US" dirty="0"/>
              <a:t>+=</a:t>
            </a:r>
            <a:r>
              <a:rPr lang="en-US" b="1" dirty="0"/>
              <a:t> </a:t>
            </a:r>
            <a:r>
              <a:rPr lang="en-US" dirty="0" err="1"/>
              <a:t>SGD_update</a:t>
            </a:r>
            <a:r>
              <a:rPr lang="en-US" b="1" dirty="0"/>
              <a:t>(w, x</a:t>
            </a:r>
            <a:r>
              <a:rPr lang="en-US" b="1" baseline="-25000" dirty="0"/>
              <a:t>i</a:t>
            </a:r>
            <a:r>
              <a:rPr lang="en-US" b="1" dirty="0"/>
              <a:t>, </a:t>
            </a:r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sz="2400" b="1" dirty="0"/>
              <a:t>w </a:t>
            </a:r>
            <a:r>
              <a:rPr lang="en-US" sz="2400" dirty="0"/>
              <a:t>= </a:t>
            </a:r>
            <a:r>
              <a:rPr lang="en-US" sz="2400" dirty="0" err="1"/>
              <a:t>AllReduce</a:t>
            </a:r>
            <a:r>
              <a:rPr lang="en-US" sz="2400" dirty="0"/>
              <a:t>(</a:t>
            </a:r>
            <a:r>
              <a:rPr lang="en-US" sz="2400" b="1" dirty="0"/>
              <a:t>w)</a:t>
            </a:r>
          </a:p>
          <a:p>
            <a:pPr marL="457200" lvl="1" indent="0">
              <a:buNone/>
            </a:pPr>
            <a:r>
              <a:rPr lang="en-US" sz="2400" dirty="0"/>
              <a:t>return </a:t>
            </a:r>
            <a:r>
              <a:rPr lang="en-US" sz="2400" b="1" dirty="0"/>
              <a:t>w</a:t>
            </a:r>
          </a:p>
          <a:p>
            <a:endParaRPr lang="en-US" sz="2400" b="1" dirty="0"/>
          </a:p>
          <a:p>
            <a:r>
              <a:rPr lang="en-US" sz="2400" dirty="0"/>
              <a:t>Final weight vector is average: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F2ACD-CBE3-560E-7993-6B8BBD3A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08159-9337-33B3-8D13-7BC7F9302217}"/>
              </a:ext>
            </a:extLst>
          </p:cNvPr>
          <p:cNvSpPr/>
          <p:nvPr/>
        </p:nvSpPr>
        <p:spPr>
          <a:xfrm>
            <a:off x="645253" y="1728788"/>
            <a:ext cx="8140700" cy="2728912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A9D8BE-B5A3-DC97-A954-FBA6F7087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21" r="14048"/>
          <a:stretch/>
        </p:blipFill>
        <p:spPr>
          <a:xfrm>
            <a:off x="4784659" y="4646611"/>
            <a:ext cx="1563819" cy="554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5840EA-2514-0351-1FDA-7C50239BA35A}"/>
              </a:ext>
            </a:extLst>
          </p:cNvPr>
          <p:cNvSpPr txBox="1"/>
          <p:nvPr/>
        </p:nvSpPr>
        <p:spPr>
          <a:xfrm>
            <a:off x="4322034" y="3517910"/>
            <a:ext cx="425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# blocks until the operation completes</a:t>
            </a:r>
          </a:p>
        </p:txBody>
      </p:sp>
    </p:spTree>
    <p:extLst>
      <p:ext uri="{BB962C8B-B14F-4D97-AF65-F5344CB8AC3E}">
        <p14:creationId xmlns:p14="http://schemas.microsoft.com/office/powerpoint/2010/main" val="35727372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F7A1-5395-ACF6-C1A0-6D229379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</a:t>
            </a:r>
            <a:r>
              <a:rPr lang="en-US" dirty="0" err="1"/>
              <a:t>AllReduce</a:t>
            </a:r>
            <a:r>
              <a:rPr lang="en-US" dirty="0"/>
              <a:t>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CF776-3322-489D-155D-C4321C4FB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Minimizes the number of links and hence amount of data transmitted</a:t>
            </a:r>
          </a:p>
          <a:p>
            <a:pPr lvl="1"/>
            <a:r>
              <a:rPr lang="en-US" dirty="0"/>
              <a:t>Leads to a convenient architecture</a:t>
            </a:r>
          </a:p>
          <a:p>
            <a:pPr lvl="2"/>
            <a:r>
              <a:rPr lang="en-US" dirty="0"/>
              <a:t>A bunch of independent learning processes with occasional synchronization</a:t>
            </a:r>
          </a:p>
          <a:p>
            <a:pPr lvl="2"/>
            <a:r>
              <a:rPr lang="en-US" dirty="0"/>
              <a:t>For Hadoop this reduces overhead for medium-scale jobs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No redundancy so potentially fragile</a:t>
            </a:r>
          </a:p>
          <a:p>
            <a:r>
              <a:rPr lang="en-US" dirty="0"/>
              <a:t>Important point!</a:t>
            </a:r>
          </a:p>
          <a:p>
            <a:pPr lvl="1"/>
            <a:r>
              <a:rPr lang="en-US" dirty="0"/>
              <a:t>GPU clusters have different bandwidth constraints and tend to use different flavors of </a:t>
            </a:r>
            <a:r>
              <a:rPr lang="en-US" dirty="0" err="1"/>
              <a:t>AllReduce</a:t>
            </a:r>
            <a:r>
              <a:rPr lang="en-US" dirty="0"/>
              <a:t> (e.g., ring </a:t>
            </a:r>
            <a:r>
              <a:rPr lang="en-US" dirty="0" err="1"/>
              <a:t>AllReduce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43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A623-2071-4CC9-60FC-3C21B627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88CB52-9C1B-C4E3-514A-EE3E5279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Servers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A4C73F-D3B1-1BF4-095D-456F89C6C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631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/>
        </p:nvSpPr>
        <p:spPr>
          <a:xfrm>
            <a:off x="2788175" y="1519176"/>
            <a:ext cx="1137299" cy="3111599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48" name="Shape 148"/>
          <p:cNvSpPr/>
          <p:nvPr/>
        </p:nvSpPr>
        <p:spPr>
          <a:xfrm>
            <a:off x="4971951" y="1927266"/>
            <a:ext cx="1290299" cy="24573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49" name="Shape 14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4400" b="0"/>
              <a:t>Parameter Server (PS)</a:t>
            </a:r>
          </a:p>
        </p:txBody>
      </p:sp>
      <p:sp>
        <p:nvSpPr>
          <p:cNvPr id="151" name="Shape 151"/>
          <p:cNvSpPr txBox="1"/>
          <p:nvPr/>
        </p:nvSpPr>
        <p:spPr>
          <a:xfrm>
            <a:off x="71400" y="4553012"/>
            <a:ext cx="9001200" cy="141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810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➢"/>
            </a:pPr>
            <a:r>
              <a:rPr lang="en-US" sz="2400" b="1" dirty="0">
                <a:solidFill>
                  <a:schemeClr val="dk1"/>
                </a:solidFill>
              </a:rPr>
              <a:t>Extensions: </a:t>
            </a:r>
            <a:r>
              <a:rPr lang="en-US" sz="2400" dirty="0">
                <a:solidFill>
                  <a:schemeClr val="dk1"/>
                </a:solidFill>
              </a:rPr>
              <a:t>push/pull interface to send/receive most recent copy of (subset of) parameters, blocking is </a:t>
            </a:r>
            <a:r>
              <a:rPr lang="en-US" sz="2400" b="1" dirty="0">
                <a:solidFill>
                  <a:schemeClr val="dk1"/>
                </a:solidFill>
              </a:rPr>
              <a:t>optional</a:t>
            </a:r>
          </a:p>
          <a:p>
            <a:pPr marL="457200" lvl="0" indent="-3810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➢"/>
            </a:pPr>
            <a:r>
              <a:rPr lang="en-US" sz="2400" b="1" dirty="0">
                <a:solidFill>
                  <a:schemeClr val="dk1"/>
                </a:solidFill>
              </a:rPr>
              <a:t>Extension: </a:t>
            </a:r>
            <a:r>
              <a:rPr lang="en-US" sz="2400" dirty="0">
                <a:solidFill>
                  <a:schemeClr val="dk1"/>
                </a:solidFill>
              </a:rPr>
              <a:t> can block until push/pulls with clock &lt; </a:t>
            </a:r>
            <a:r>
              <a:rPr lang="en-US" sz="2400" i="1" dirty="0">
                <a:solidFill>
                  <a:schemeClr val="dk1"/>
                </a:solidFill>
              </a:rPr>
              <a:t>(t – </a:t>
            </a:r>
            <a:r>
              <a:rPr lang="en-US" sz="2400" i="1" dirty="0" err="1">
                <a:solidFill>
                  <a:schemeClr val="dk1"/>
                </a:solidFill>
              </a:rPr>
              <a:t>τ</a:t>
            </a:r>
            <a:r>
              <a:rPr lang="en-US" sz="2400" i="1" dirty="0">
                <a:solidFill>
                  <a:schemeClr val="dk1"/>
                </a:solidFill>
              </a:rPr>
              <a:t> ) </a:t>
            </a:r>
            <a:r>
              <a:rPr lang="en-US" sz="2400" dirty="0">
                <a:solidFill>
                  <a:schemeClr val="dk1"/>
                </a:solidFill>
              </a:rPr>
              <a:t>complete</a:t>
            </a:r>
            <a:endParaRPr lang="en-US" sz="2400" b="1" dirty="0">
              <a:solidFill>
                <a:schemeClr val="dk1"/>
              </a:solidFill>
            </a:endParaRPr>
          </a:p>
          <a:p>
            <a:pPr marL="457200" lvl="0" indent="-3810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➢"/>
            </a:pPr>
            <a:endParaRPr lang="en" sz="2400" dirty="0">
              <a:solidFill>
                <a:schemeClr val="dk1"/>
              </a:solidFill>
            </a:endParaRPr>
          </a:p>
        </p:txBody>
      </p:sp>
      <p:sp>
        <p:nvSpPr>
          <p:cNvPr id="152" name="Shape 152"/>
          <p:cNvSpPr txBox="1"/>
          <p:nvPr/>
        </p:nvSpPr>
        <p:spPr>
          <a:xfrm>
            <a:off x="6262250" y="2798362"/>
            <a:ext cx="1760100" cy="400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200" b="1"/>
              <a:t>Server Machines</a:t>
            </a:r>
          </a:p>
        </p:txBody>
      </p:sp>
      <p:sp>
        <p:nvSpPr>
          <p:cNvPr id="153" name="Shape 153"/>
          <p:cNvSpPr txBox="1">
            <a:spLocks noGrp="1"/>
          </p:cNvSpPr>
          <p:nvPr>
            <p:ph type="sldNum" idx="12"/>
          </p:nvPr>
        </p:nvSpPr>
        <p:spPr>
          <a:xfrm>
            <a:off x="8556791" y="6333134"/>
            <a:ext cx="548699" cy="5246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46</a:t>
            </a:fld>
            <a:endParaRPr lang="en"/>
          </a:p>
        </p:txBody>
      </p:sp>
      <p:pic>
        <p:nvPicPr>
          <p:cNvPr id="154" name="Shape 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9350" y="1617025"/>
            <a:ext cx="614962" cy="950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Shape 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9350" y="2606767"/>
            <a:ext cx="614962" cy="950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Shape 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9350" y="3608832"/>
            <a:ext cx="614962" cy="950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Shape 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721" y="2148819"/>
            <a:ext cx="614962" cy="950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Shape 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721" y="3212421"/>
            <a:ext cx="614962" cy="9506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Shape 159"/>
          <p:cNvCxnSpPr>
            <a:stCxn id="154" idx="3"/>
            <a:endCxn id="157" idx="1"/>
          </p:cNvCxnSpPr>
          <p:nvPr/>
        </p:nvCxnSpPr>
        <p:spPr>
          <a:xfrm>
            <a:off x="3664312" y="2092370"/>
            <a:ext cx="1645500" cy="531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stealth" w="lg" len="lg"/>
            <a:tailEnd type="stealth" w="lg" len="lg"/>
          </a:ln>
        </p:spPr>
      </p:cxnSp>
      <p:cxnSp>
        <p:nvCxnSpPr>
          <p:cNvPr id="160" name="Shape 160"/>
          <p:cNvCxnSpPr>
            <a:stCxn id="155" idx="3"/>
            <a:endCxn id="157" idx="1"/>
          </p:cNvCxnSpPr>
          <p:nvPr/>
        </p:nvCxnSpPr>
        <p:spPr>
          <a:xfrm rot="10800000" flipH="1">
            <a:off x="3664312" y="2624313"/>
            <a:ext cx="1645500" cy="4578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stealth" w="lg" len="lg"/>
            <a:tailEnd type="stealth" w="lg" len="lg"/>
          </a:ln>
        </p:spPr>
      </p:cxnSp>
      <p:cxnSp>
        <p:nvCxnSpPr>
          <p:cNvPr id="161" name="Shape 161"/>
          <p:cNvCxnSpPr>
            <a:stCxn id="155" idx="3"/>
            <a:endCxn id="158" idx="1"/>
          </p:cNvCxnSpPr>
          <p:nvPr/>
        </p:nvCxnSpPr>
        <p:spPr>
          <a:xfrm>
            <a:off x="3664312" y="3082113"/>
            <a:ext cx="1645500" cy="605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stealth" w="lg" len="lg"/>
            <a:tailEnd type="stealth" w="lg" len="lg"/>
          </a:ln>
        </p:spPr>
      </p:cxnSp>
      <p:cxnSp>
        <p:nvCxnSpPr>
          <p:cNvPr id="162" name="Shape 162"/>
          <p:cNvCxnSpPr>
            <a:stCxn id="156" idx="3"/>
            <a:endCxn id="158" idx="1"/>
          </p:cNvCxnSpPr>
          <p:nvPr/>
        </p:nvCxnSpPr>
        <p:spPr>
          <a:xfrm rot="10800000" flipH="1">
            <a:off x="3664312" y="3687878"/>
            <a:ext cx="1645500" cy="3963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stealth" w="lg" len="lg"/>
            <a:tailEnd type="stealth" w="lg" len="lg"/>
          </a:ln>
        </p:spPr>
      </p:cxnSp>
      <p:cxnSp>
        <p:nvCxnSpPr>
          <p:cNvPr id="163" name="Shape 163"/>
          <p:cNvCxnSpPr>
            <a:stCxn id="154" idx="3"/>
            <a:endCxn id="158" idx="1"/>
          </p:cNvCxnSpPr>
          <p:nvPr/>
        </p:nvCxnSpPr>
        <p:spPr>
          <a:xfrm>
            <a:off x="3664312" y="2092370"/>
            <a:ext cx="1645500" cy="1595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stealth" w="lg" len="lg"/>
            <a:tailEnd type="stealth" w="lg" len="lg"/>
          </a:ln>
        </p:spPr>
      </p:cxnSp>
      <p:cxnSp>
        <p:nvCxnSpPr>
          <p:cNvPr id="164" name="Shape 164"/>
          <p:cNvCxnSpPr>
            <a:stCxn id="156" idx="3"/>
            <a:endCxn id="157" idx="1"/>
          </p:cNvCxnSpPr>
          <p:nvPr/>
        </p:nvCxnSpPr>
        <p:spPr>
          <a:xfrm rot="10800000" flipH="1">
            <a:off x="3664312" y="2624078"/>
            <a:ext cx="1645500" cy="14601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stealth" w="lg" len="lg"/>
            <a:tailEnd type="stealth" w="lg" len="lg"/>
          </a:ln>
        </p:spPr>
      </p:cxnSp>
      <p:sp>
        <p:nvSpPr>
          <p:cNvPr id="165" name="Shape 165"/>
          <p:cNvSpPr txBox="1"/>
          <p:nvPr/>
        </p:nvSpPr>
        <p:spPr>
          <a:xfrm>
            <a:off x="1144675" y="2813150"/>
            <a:ext cx="1760100" cy="400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200" b="1"/>
              <a:t>Worker Machines</a:t>
            </a:r>
          </a:p>
        </p:txBody>
      </p:sp>
      <p:sp>
        <p:nvSpPr>
          <p:cNvPr id="166" name="Shape 166"/>
          <p:cNvSpPr txBox="1"/>
          <p:nvPr/>
        </p:nvSpPr>
        <p:spPr>
          <a:xfrm>
            <a:off x="4413239" y="6333134"/>
            <a:ext cx="5302861" cy="4735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 dirty="0"/>
              <a:t>[Smola et al 2010, Ho et al 2013, Li et al 2014]</a:t>
            </a:r>
          </a:p>
        </p:txBody>
      </p:sp>
    </p:spTree>
    <p:extLst>
      <p:ext uri="{BB962C8B-B14F-4D97-AF65-F5344CB8AC3E}">
        <p14:creationId xmlns:p14="http://schemas.microsoft.com/office/powerpoint/2010/main" val="86620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>
                <a:latin typeface="Cambria Math"/>
                <a:cs typeface="Cambria Math"/>
              </a:rPr>
              <a:t>Data parallel learning with PS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85800" y="1524000"/>
            <a:ext cx="2484663" cy="1447800"/>
            <a:chOff x="845796" y="1524000"/>
            <a:chExt cx="2484663" cy="1447800"/>
          </a:xfrm>
        </p:grpSpPr>
        <p:sp>
          <p:nvSpPr>
            <p:cNvPr id="3" name="Rectangle 2"/>
            <p:cNvSpPr/>
            <p:nvPr/>
          </p:nvSpPr>
          <p:spPr>
            <a:xfrm>
              <a:off x="845796" y="1524000"/>
              <a:ext cx="2484663" cy="1447800"/>
            </a:xfrm>
            <a:prstGeom prst="rect">
              <a:avLst/>
            </a:prstGeom>
            <a:solidFill>
              <a:srgbClr val="FFFF00"/>
            </a:solidFill>
            <a:ln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400" dirty="0">
                  <a:latin typeface="Gill Sans Light"/>
                  <a:cs typeface="Gill Sans Light"/>
                </a:rPr>
                <a:t>Parameter Server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920637" y="2133600"/>
              <a:ext cx="685800" cy="685800"/>
            </a:xfrm>
            <a:prstGeom prst="roundRect">
              <a:avLst/>
            </a:prstGeom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1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1751699" y="2133600"/>
              <a:ext cx="685800" cy="685800"/>
            </a:xfrm>
            <a:prstGeom prst="roundRect">
              <a:avLst/>
            </a:prstGeom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2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582761" y="2133600"/>
              <a:ext cx="685800" cy="685800"/>
            </a:xfrm>
            <a:prstGeom prst="roundRect">
              <a:avLst/>
            </a:prstGeom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3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1524000"/>
            <a:ext cx="2484663" cy="1447800"/>
            <a:chOff x="3429000" y="1524000"/>
            <a:chExt cx="2484663" cy="1447800"/>
          </a:xfrm>
          <a:solidFill>
            <a:srgbClr val="FFFF00"/>
          </a:solidFill>
        </p:grpSpPr>
        <p:sp>
          <p:nvSpPr>
            <p:cNvPr id="75" name="Rectangle 74"/>
            <p:cNvSpPr/>
            <p:nvPr/>
          </p:nvSpPr>
          <p:spPr>
            <a:xfrm>
              <a:off x="3429000" y="1524000"/>
              <a:ext cx="2484663" cy="1447800"/>
            </a:xfrm>
            <a:prstGeom prst="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400" dirty="0">
                  <a:latin typeface="Gill Sans Light"/>
                  <a:cs typeface="Gill Sans Light"/>
                </a:rPr>
                <a:t>Parameter Server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3502792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4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4333854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5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5164916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6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202137" y="1523510"/>
            <a:ext cx="2484663" cy="1447800"/>
            <a:chOff x="6049737" y="1523510"/>
            <a:chExt cx="2484663" cy="1447800"/>
          </a:xfrm>
          <a:solidFill>
            <a:srgbClr val="FFFF00"/>
          </a:solidFill>
        </p:grpSpPr>
        <p:sp>
          <p:nvSpPr>
            <p:cNvPr id="84" name="Rectangle 83"/>
            <p:cNvSpPr/>
            <p:nvPr/>
          </p:nvSpPr>
          <p:spPr>
            <a:xfrm>
              <a:off x="6049737" y="1523510"/>
              <a:ext cx="2484663" cy="1447800"/>
            </a:xfrm>
            <a:prstGeom prst="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400" dirty="0">
                  <a:latin typeface="Gill Sans Light"/>
                  <a:cs typeface="Gill Sans Light"/>
                </a:rPr>
                <a:t>Parameter Server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6119883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7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6950945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8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7782004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9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66800" y="5027403"/>
            <a:ext cx="902326" cy="839997"/>
            <a:chOff x="685800" y="4572000"/>
            <a:chExt cx="902326" cy="839997"/>
          </a:xfrm>
        </p:grpSpPr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85800" y="4572000"/>
              <a:ext cx="875577" cy="839996"/>
            </a:xfrm>
            <a:prstGeom prst="rect">
              <a:avLst/>
            </a:prstGeom>
          </p:spPr>
        </p:pic>
        <p:sp>
          <p:nvSpPr>
            <p:cNvPr id="57" name="Can 56"/>
            <p:cNvSpPr/>
            <p:nvPr/>
          </p:nvSpPr>
          <p:spPr>
            <a:xfrm>
              <a:off x="1052886" y="4995974"/>
              <a:ext cx="535240" cy="416023"/>
            </a:xfrm>
            <a:prstGeom prst="can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Gill Sans Light"/>
                  <a:cs typeface="Gill Sans Light"/>
                </a:rPr>
                <a:t>Data</a:t>
              </a:r>
            </a:p>
          </p:txBody>
        </p:sp>
      </p:grpSp>
      <p:pic>
        <p:nvPicPr>
          <p:cNvPr id="66" name="Picture 65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91551" y="2971800"/>
            <a:ext cx="875577" cy="839996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32014" y="2991456"/>
            <a:ext cx="875577" cy="839996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93167" y="2971310"/>
            <a:ext cx="875577" cy="839996"/>
          </a:xfrm>
          <a:prstGeom prst="rect">
            <a:avLst/>
          </a:prstGeom>
        </p:spPr>
      </p:pic>
      <p:grpSp>
        <p:nvGrpSpPr>
          <p:cNvPr id="69" name="Group 68"/>
          <p:cNvGrpSpPr/>
          <p:nvPr/>
        </p:nvGrpSpPr>
        <p:grpSpPr>
          <a:xfrm>
            <a:off x="3189638" y="5027403"/>
            <a:ext cx="902326" cy="839997"/>
            <a:chOff x="685800" y="4572000"/>
            <a:chExt cx="902326" cy="839997"/>
          </a:xfrm>
        </p:grpSpPr>
        <p:pic>
          <p:nvPicPr>
            <p:cNvPr id="70" name="Picture 69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85800" y="4572000"/>
              <a:ext cx="875577" cy="839996"/>
            </a:xfrm>
            <a:prstGeom prst="rect">
              <a:avLst/>
            </a:prstGeom>
          </p:spPr>
        </p:pic>
        <p:sp>
          <p:nvSpPr>
            <p:cNvPr id="71" name="Can 70"/>
            <p:cNvSpPr/>
            <p:nvPr/>
          </p:nvSpPr>
          <p:spPr>
            <a:xfrm>
              <a:off x="1052886" y="4995974"/>
              <a:ext cx="535240" cy="416023"/>
            </a:xfrm>
            <a:prstGeom prst="can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Gill Sans Light"/>
                  <a:cs typeface="Gill Sans Light"/>
                </a:rPr>
                <a:t>Data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5312476" y="5027403"/>
            <a:ext cx="902326" cy="839997"/>
            <a:chOff x="685800" y="4572000"/>
            <a:chExt cx="902326" cy="839997"/>
          </a:xfrm>
        </p:grpSpPr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85800" y="4572000"/>
              <a:ext cx="875577" cy="839996"/>
            </a:xfrm>
            <a:prstGeom prst="rect">
              <a:avLst/>
            </a:prstGeom>
          </p:spPr>
        </p:pic>
        <p:sp>
          <p:nvSpPr>
            <p:cNvPr id="74" name="Can 73"/>
            <p:cNvSpPr/>
            <p:nvPr/>
          </p:nvSpPr>
          <p:spPr>
            <a:xfrm>
              <a:off x="1052886" y="4995974"/>
              <a:ext cx="535240" cy="416023"/>
            </a:xfrm>
            <a:prstGeom prst="can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Gill Sans Light"/>
                  <a:cs typeface="Gill Sans Light"/>
                </a:rPr>
                <a:t>Data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7435314" y="5027403"/>
            <a:ext cx="902326" cy="839997"/>
            <a:chOff x="685800" y="4572000"/>
            <a:chExt cx="902326" cy="839997"/>
          </a:xfrm>
        </p:grpSpPr>
        <p:pic>
          <p:nvPicPr>
            <p:cNvPr id="77" name="Picture 76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85800" y="4572000"/>
              <a:ext cx="875577" cy="839996"/>
            </a:xfrm>
            <a:prstGeom prst="rect">
              <a:avLst/>
            </a:prstGeom>
          </p:spPr>
        </p:pic>
        <p:sp>
          <p:nvSpPr>
            <p:cNvPr id="78" name="Can 77"/>
            <p:cNvSpPr/>
            <p:nvPr/>
          </p:nvSpPr>
          <p:spPr>
            <a:xfrm>
              <a:off x="1052886" y="4995974"/>
              <a:ext cx="535240" cy="416023"/>
            </a:xfrm>
            <a:prstGeom prst="can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Gill Sans Light"/>
                  <a:cs typeface="Gill Sans Light"/>
                </a:rPr>
                <a:t>Data</a:t>
              </a:r>
            </a:p>
          </p:txBody>
        </p:sp>
      </p:grpSp>
      <p:sp>
        <p:nvSpPr>
          <p:cNvPr id="79" name="Rounded Rectangle 78"/>
          <p:cNvSpPr/>
          <p:nvPr/>
        </p:nvSpPr>
        <p:spPr>
          <a:xfrm>
            <a:off x="760641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599477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422765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3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502792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4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343400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5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164916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6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72283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7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03345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8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934404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9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219200" y="4782919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1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459500" y="4866402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2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428661" y="4733321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3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276600" y="4684503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4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219200" y="4775174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5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276600" y="4684503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6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446245" y="4866402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7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428661" y="4733321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8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226517" y="4775174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9400" y="6091535"/>
            <a:ext cx="3452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Light"/>
                <a:cs typeface="Gill Sans Light"/>
              </a:rPr>
              <a:t>Split Data Across Machines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E1F212-E36A-6C44-B33E-31147482829D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4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1.22201E-6 -4.0074E-6 L 0.05433 0.4498 " pathEditMode="relative" rAng="0" ptsTypes="AA">
                                      <p:cBhvr>
                                        <p:cTn id="6" dur="28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8" y="2249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1404E-6 -4.0074E-6 L 0.65406 0.43869 " pathEditMode="relative" rAng="0" ptsTypes="AA">
                                      <p:cBhvr>
                                        <p:cTn id="8" dur="18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703" y="2193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94064E-6 -4.0074E-6 L 0.10588 0.43869 " pathEditMode="relative" rAng="0" ptsTypes="AA">
                                      <p:cBhvr>
                                        <p:cTn id="10" dur="18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94" y="2193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272E-6 -4.0074E-6 L -0.23711 0.43869 " pathEditMode="relative" rAng="0" ptsTypes="AA">
                                      <p:cBhvr>
                                        <p:cTn id="12" dur="38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56" y="2193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03975E-6 -4.0074E-6 L 0.11248 0.43869 " pathEditMode="relative" rAng="0" ptsTypes="AA">
                                      <p:cBhvr>
                                        <p:cTn id="14" dur="18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4" y="2193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4041E-6 -4.0074E-6 L 0.2727 0.43869 " pathEditMode="relative" rAng="0" ptsTypes="AA">
                                      <p:cBhvr>
                                        <p:cTn id="16" dur="18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26" y="2193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2501E-6 -4.0074E-6 L -0.30672 0.42758 " pathEditMode="relative" rAng="0" ptsTypes="AA">
                                      <p:cBhvr>
                                        <p:cTn id="18" dur="18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45" y="2137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64381E-6 -4.0074E-6 L -0.18938 0.41648 " pathEditMode="relative" rAng="0" ptsTypes="AA">
                                      <p:cBhvr>
                                        <p:cTn id="20" dur="18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78" y="2082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20639E-6 -4.0074E-6 L -0.27183 0.41648 " pathEditMode="relative" rAng="0" ptsTypes="AA">
                                      <p:cBhvr>
                                        <p:cTn id="22" dur="18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91" y="2082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53" presetClass="exit" presetSubtype="32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3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3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2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xit" presetSubtype="32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2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4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4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32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2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xit" presetSubtype="32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2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2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32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2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2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8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8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8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8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8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8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8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8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8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8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8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8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0" presetClass="path" presetSubtype="0" accel="50000" decel="5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3.67992E-6 2.17955E-6 L -0.05016 -0.38617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7" y="-1932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0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4.94706E-7 7.12633E-7 L -0.64069 -0.3982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43" y="-19921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0" presetClass="path" presetSubtype="0" accel="5000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4.27009E-7 4.78482E-6 L -0.32876 -0.379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38" y="-18950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0" presetClass="path" presetSubtype="0" accel="50000" decel="5000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0.00018 -0.01666 L 0.02465 -0.37182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2" y="-1777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8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8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8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-3.67992E-6 -9.48635E-7 L 0.34161 -0.38501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80" y="-1925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8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8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8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0" presetClass="path" presetSubtype="0" accel="50000" decel="50000" fill="hold" grpId="1" nodeType="with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-4.6242E-6 -2.6099E-6 L 0.20639 -0.37182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11" y="-18602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8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8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0" presetClass="path" presetSubtype="0" accel="50000" decel="50000" fill="hold" grpId="1" nodeType="withEffect">
                                  <p:stCondLst>
                                    <p:cond delay="7000"/>
                                  </p:stCondLst>
                                  <p:childTnLst>
                                    <p:animMotion origin="layout" path="M -0.00018 7.12633E-7 L -0.12845 -0.3982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22" y="-19921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8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8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18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0" presetClass="path" presetSubtype="0" accel="50000" decel="5000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00017 4.78482E-6 L 0.18313 -0.379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5" y="-18950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18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8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8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0" presetClass="path" presetSubtype="0" accel="50000" decel="5000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animMotion origin="layout" path="M -0.00018 -9.48635E-7 L 0.73337 -0.38501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678" y="-19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79" grpId="1" animBg="1"/>
      <p:bldP spid="80" grpId="0" animBg="1"/>
      <p:bldP spid="80" grpId="1" animBg="1"/>
      <p:bldP spid="82" grpId="0" animBg="1"/>
      <p:bldP spid="82" grpId="1" animBg="1"/>
      <p:bldP spid="83" grpId="0" animBg="1"/>
      <p:bldP spid="83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108" grpId="0" animBg="1"/>
      <p:bldP spid="108" grpId="1" animBg="1"/>
      <p:bldP spid="109" grpId="0" animBg="1"/>
      <p:bldP spid="109" grpId="1" animBg="1"/>
      <p:bldP spid="110" grpId="0" animBg="1"/>
      <p:bldP spid="110" grpId="1" animBg="1"/>
      <p:bldP spid="111" grpId="0" animBg="1"/>
      <p:bldP spid="111" grpId="1" animBg="1"/>
      <p:bldP spid="112" grpId="0" animBg="1"/>
      <p:bldP spid="112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>
                <a:latin typeface="Cambria Math"/>
                <a:cs typeface="Cambria Math"/>
              </a:rPr>
              <a:t>Data parallel learning with PS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85800" y="1524000"/>
            <a:ext cx="2484663" cy="1447800"/>
            <a:chOff x="845796" y="1524000"/>
            <a:chExt cx="2484663" cy="1447800"/>
          </a:xfrm>
        </p:grpSpPr>
        <p:sp>
          <p:nvSpPr>
            <p:cNvPr id="3" name="Rectangle 2"/>
            <p:cNvSpPr/>
            <p:nvPr/>
          </p:nvSpPr>
          <p:spPr>
            <a:xfrm>
              <a:off x="845796" y="1524000"/>
              <a:ext cx="2484663" cy="1447800"/>
            </a:xfrm>
            <a:prstGeom prst="rect">
              <a:avLst/>
            </a:prstGeom>
            <a:solidFill>
              <a:srgbClr val="FFFF00"/>
            </a:solidFill>
            <a:ln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400" dirty="0">
                  <a:latin typeface="Gill Sans Light"/>
                  <a:cs typeface="Gill Sans Light"/>
                </a:rPr>
                <a:t>Parameter Server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920637" y="2133600"/>
              <a:ext cx="685800" cy="685800"/>
            </a:xfrm>
            <a:prstGeom prst="roundRect">
              <a:avLst/>
            </a:prstGeom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1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1751699" y="2133600"/>
              <a:ext cx="685800" cy="685800"/>
            </a:xfrm>
            <a:prstGeom prst="roundRect">
              <a:avLst/>
            </a:prstGeom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2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582761" y="2133600"/>
              <a:ext cx="685800" cy="685800"/>
            </a:xfrm>
            <a:prstGeom prst="roundRect">
              <a:avLst/>
            </a:prstGeom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3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29000" y="1524000"/>
            <a:ext cx="2484663" cy="1447800"/>
            <a:chOff x="3429000" y="1524000"/>
            <a:chExt cx="2484663" cy="1447800"/>
          </a:xfrm>
          <a:solidFill>
            <a:srgbClr val="FFFF00"/>
          </a:solidFill>
        </p:grpSpPr>
        <p:sp>
          <p:nvSpPr>
            <p:cNvPr id="75" name="Rectangle 74"/>
            <p:cNvSpPr/>
            <p:nvPr/>
          </p:nvSpPr>
          <p:spPr>
            <a:xfrm>
              <a:off x="3429000" y="1524000"/>
              <a:ext cx="2484663" cy="1447800"/>
            </a:xfrm>
            <a:prstGeom prst="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400" dirty="0">
                  <a:latin typeface="Gill Sans Light"/>
                  <a:cs typeface="Gill Sans Light"/>
                </a:rPr>
                <a:t>Parameter Server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3502792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4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4333854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5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5164916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6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202137" y="1523510"/>
            <a:ext cx="2484663" cy="1447800"/>
            <a:chOff x="6049737" y="1523510"/>
            <a:chExt cx="2484663" cy="1447800"/>
          </a:xfrm>
          <a:solidFill>
            <a:srgbClr val="FFFF00"/>
          </a:solidFill>
        </p:grpSpPr>
        <p:sp>
          <p:nvSpPr>
            <p:cNvPr id="84" name="Rectangle 83"/>
            <p:cNvSpPr/>
            <p:nvPr/>
          </p:nvSpPr>
          <p:spPr>
            <a:xfrm>
              <a:off x="6049737" y="1523510"/>
              <a:ext cx="2484663" cy="1447800"/>
            </a:xfrm>
            <a:prstGeom prst="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400" dirty="0">
                  <a:latin typeface="Gill Sans Light"/>
                  <a:cs typeface="Gill Sans Light"/>
                </a:rPr>
                <a:t>Parameter Server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6119883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7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6950945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8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7782004" y="2133600"/>
              <a:ext cx="685800" cy="685800"/>
            </a:xfrm>
            <a:prstGeom prst="roundRect">
              <a:avLst/>
            </a:prstGeom>
            <a:grpFill/>
            <a:ln>
              <a:headEnd type="none" w="med" len="med"/>
              <a:tailEnd type="none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182880" rtlCol="0" anchor="ctr"/>
            <a:lstStyle/>
            <a:p>
              <a:pPr algn="ctr"/>
              <a:r>
                <a:rPr lang="en-US" sz="3600" dirty="0">
                  <a:latin typeface="Gill Sans Light"/>
                  <a:cs typeface="Gill Sans Light"/>
                </a:rPr>
                <a:t>w</a:t>
              </a:r>
              <a:r>
                <a:rPr lang="en-US" sz="3600" baseline="-25000" dirty="0">
                  <a:latin typeface="Gill Sans Light"/>
                  <a:cs typeface="Gill Sans Light"/>
                </a:rPr>
                <a:t>9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66800" y="5027403"/>
            <a:ext cx="902326" cy="839997"/>
            <a:chOff x="685800" y="4572000"/>
            <a:chExt cx="902326" cy="839997"/>
          </a:xfrm>
        </p:grpSpPr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85800" y="4572000"/>
              <a:ext cx="875577" cy="839996"/>
            </a:xfrm>
            <a:prstGeom prst="rect">
              <a:avLst/>
            </a:prstGeom>
          </p:spPr>
        </p:pic>
        <p:sp>
          <p:nvSpPr>
            <p:cNvPr id="57" name="Can 56"/>
            <p:cNvSpPr/>
            <p:nvPr/>
          </p:nvSpPr>
          <p:spPr>
            <a:xfrm>
              <a:off x="1052886" y="4995974"/>
              <a:ext cx="535240" cy="416023"/>
            </a:xfrm>
            <a:prstGeom prst="can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Gill Sans Light"/>
                  <a:cs typeface="Gill Sans Light"/>
                </a:rPr>
                <a:t>Data</a:t>
              </a:r>
            </a:p>
          </p:txBody>
        </p:sp>
      </p:grpSp>
      <p:pic>
        <p:nvPicPr>
          <p:cNvPr id="66" name="Picture 65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91551" y="2971800"/>
            <a:ext cx="875577" cy="839996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32014" y="2991456"/>
            <a:ext cx="875577" cy="839996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93167" y="2971310"/>
            <a:ext cx="875577" cy="839996"/>
          </a:xfrm>
          <a:prstGeom prst="rect">
            <a:avLst/>
          </a:prstGeom>
        </p:spPr>
      </p:pic>
      <p:grpSp>
        <p:nvGrpSpPr>
          <p:cNvPr id="69" name="Group 68"/>
          <p:cNvGrpSpPr/>
          <p:nvPr/>
        </p:nvGrpSpPr>
        <p:grpSpPr>
          <a:xfrm>
            <a:off x="3189638" y="5027403"/>
            <a:ext cx="902326" cy="839997"/>
            <a:chOff x="685800" y="4572000"/>
            <a:chExt cx="902326" cy="839997"/>
          </a:xfrm>
        </p:grpSpPr>
        <p:pic>
          <p:nvPicPr>
            <p:cNvPr id="70" name="Picture 69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85800" y="4572000"/>
              <a:ext cx="875577" cy="839996"/>
            </a:xfrm>
            <a:prstGeom prst="rect">
              <a:avLst/>
            </a:prstGeom>
          </p:spPr>
        </p:pic>
        <p:sp>
          <p:nvSpPr>
            <p:cNvPr id="71" name="Can 70"/>
            <p:cNvSpPr/>
            <p:nvPr/>
          </p:nvSpPr>
          <p:spPr>
            <a:xfrm>
              <a:off x="1052886" y="4995974"/>
              <a:ext cx="535240" cy="416023"/>
            </a:xfrm>
            <a:prstGeom prst="can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Gill Sans Light"/>
                  <a:cs typeface="Gill Sans Light"/>
                </a:rPr>
                <a:t>Data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5312476" y="5027403"/>
            <a:ext cx="902326" cy="839997"/>
            <a:chOff x="685800" y="4572000"/>
            <a:chExt cx="902326" cy="839997"/>
          </a:xfrm>
        </p:grpSpPr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85800" y="4572000"/>
              <a:ext cx="875577" cy="839996"/>
            </a:xfrm>
            <a:prstGeom prst="rect">
              <a:avLst/>
            </a:prstGeom>
          </p:spPr>
        </p:pic>
        <p:sp>
          <p:nvSpPr>
            <p:cNvPr id="74" name="Can 73"/>
            <p:cNvSpPr/>
            <p:nvPr/>
          </p:nvSpPr>
          <p:spPr>
            <a:xfrm>
              <a:off x="1052886" y="4995974"/>
              <a:ext cx="535240" cy="416023"/>
            </a:xfrm>
            <a:prstGeom prst="can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Gill Sans Light"/>
                  <a:cs typeface="Gill Sans Light"/>
                </a:rPr>
                <a:t>Data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7435314" y="5027403"/>
            <a:ext cx="902326" cy="839997"/>
            <a:chOff x="685800" y="4572000"/>
            <a:chExt cx="902326" cy="839997"/>
          </a:xfrm>
        </p:grpSpPr>
        <p:pic>
          <p:nvPicPr>
            <p:cNvPr id="77" name="Picture 76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85800" y="4572000"/>
              <a:ext cx="875577" cy="839996"/>
            </a:xfrm>
            <a:prstGeom prst="rect">
              <a:avLst/>
            </a:prstGeom>
          </p:spPr>
        </p:pic>
        <p:sp>
          <p:nvSpPr>
            <p:cNvPr id="78" name="Can 77"/>
            <p:cNvSpPr/>
            <p:nvPr/>
          </p:nvSpPr>
          <p:spPr>
            <a:xfrm>
              <a:off x="1052886" y="4995974"/>
              <a:ext cx="535240" cy="416023"/>
            </a:xfrm>
            <a:prstGeom prst="can">
              <a:avLst/>
            </a:prstGeom>
            <a:ln>
              <a:headEnd type="none" w="med" len="med"/>
              <a:tailEnd type="none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Gill Sans Light"/>
                  <a:cs typeface="Gill Sans Light"/>
                </a:rPr>
                <a:t>Data</a:t>
              </a:r>
            </a:p>
          </p:txBody>
        </p:sp>
      </p:grpSp>
      <p:sp>
        <p:nvSpPr>
          <p:cNvPr id="79" name="Rounded Rectangle 78"/>
          <p:cNvSpPr/>
          <p:nvPr/>
        </p:nvSpPr>
        <p:spPr>
          <a:xfrm>
            <a:off x="760641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599477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422765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3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502792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4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343400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5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164916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6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72283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7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03345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8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934404" y="2133600"/>
            <a:ext cx="685800" cy="685800"/>
          </a:xfrm>
          <a:prstGeom prst="round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algn="ctr"/>
            <a:r>
              <a:rPr lang="en-US" sz="3600" dirty="0">
                <a:latin typeface="Gill Sans Light"/>
                <a:cs typeface="Gill Sans Light"/>
              </a:rPr>
              <a:t>w</a:t>
            </a:r>
            <a:r>
              <a:rPr lang="en-US" sz="3600" baseline="-25000" dirty="0">
                <a:latin typeface="Gill Sans Light"/>
                <a:cs typeface="Gill Sans Light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9400" y="6091535"/>
            <a:ext cx="3452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Light"/>
                <a:cs typeface="Gill Sans Light"/>
              </a:rPr>
              <a:t>Split Data Across Machines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E1F212-E36A-6C44-B33E-31147482829D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4131733"/>
            <a:ext cx="755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>
              <a:latin typeface="Gill Sans Light"/>
              <a:cs typeface="Gill Sans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3839050"/>
            <a:ext cx="8153399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2800" dirty="0"/>
              <a:t>Different parts of the </a:t>
            </a:r>
            <a:r>
              <a:rPr lang="en-US" sz="2800" b="1" dirty="0"/>
              <a:t>model</a:t>
            </a:r>
            <a:r>
              <a:rPr lang="en-US" sz="2800" dirty="0"/>
              <a:t> on different servers.</a:t>
            </a:r>
          </a:p>
          <a:p>
            <a:pPr marL="228600" indent="-228600">
              <a:buAutoNum type="arabicPeriod"/>
            </a:pPr>
            <a:r>
              <a:rPr lang="en-US" sz="2800" dirty="0"/>
              <a:t>Workers retrieve the part needed </a:t>
            </a:r>
            <a:r>
              <a:rPr lang="en-US" sz="2800" b="1"/>
              <a:t>as needed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00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148"/>
          <p:cNvSpPr/>
          <p:nvPr/>
        </p:nvSpPr>
        <p:spPr>
          <a:xfrm rot="16200000">
            <a:off x="3290096" y="2258011"/>
            <a:ext cx="536311" cy="1011288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02270" y="1809726"/>
            <a:ext cx="2355593" cy="558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headEnd type="none" w="med" len="me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09726"/>
            <a:ext cx="8229600" cy="4191000"/>
          </a:xfrm>
        </p:spPr>
        <p:txBody>
          <a:bodyPr/>
          <a:lstStyle/>
          <a:p>
            <a:r>
              <a:rPr lang="en-US" dirty="0"/>
              <a:t>Key-Value API for workers: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3366FF"/>
                </a:solidFill>
                <a:sym typeface="Wingdings"/>
              </a:rPr>
              <a:t>get</a:t>
            </a:r>
            <a:r>
              <a:rPr lang="en-US" dirty="0">
                <a:sym typeface="Wingdings"/>
              </a:rPr>
              <a:t>(key)  value</a:t>
            </a:r>
            <a:br>
              <a:rPr lang="en-US" dirty="0">
                <a:sym typeface="Wingdings"/>
              </a:rPr>
            </a:br>
            <a:endParaRPr lang="en-US" dirty="0">
              <a:sym typeface="Wingdings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ym typeface="Wingdings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rgbClr val="3366FF"/>
              </a:solidFill>
              <a:sym typeface="Wingdings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3366FF"/>
                </a:solidFill>
                <a:sym typeface="Wingdings"/>
              </a:rPr>
              <a:t>add</a:t>
            </a:r>
            <a:r>
              <a:rPr lang="en-US" dirty="0">
                <a:sym typeface="Wingdings"/>
              </a:rPr>
              <a:t>(key, delta)</a:t>
            </a:r>
            <a:endParaRPr lang="en-US" dirty="0"/>
          </a:p>
        </p:txBody>
      </p:sp>
      <p:sp>
        <p:nvSpPr>
          <p:cNvPr id="65" name="Shape 148"/>
          <p:cNvSpPr/>
          <p:nvPr/>
        </p:nvSpPr>
        <p:spPr>
          <a:xfrm rot="16200000">
            <a:off x="2619418" y="3326166"/>
            <a:ext cx="723747" cy="1011286"/>
          </a:xfrm>
          <a:prstGeom prst="roundRect">
            <a:avLst>
              <a:gd name="adj" fmla="val 16667"/>
            </a:avLst>
          </a:prstGeom>
          <a:solidFill>
            <a:srgbClr val="FF6600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4" name="Shape 148"/>
          <p:cNvSpPr/>
          <p:nvPr/>
        </p:nvSpPr>
        <p:spPr>
          <a:xfrm rot="16200000">
            <a:off x="7035261" y="5331190"/>
            <a:ext cx="723747" cy="1011286"/>
          </a:xfrm>
          <a:prstGeom prst="roundRect">
            <a:avLst>
              <a:gd name="adj" fmla="val 16667"/>
            </a:avLst>
          </a:prstGeom>
          <a:solidFill>
            <a:srgbClr val="FF6600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1" name="Shape 148"/>
          <p:cNvSpPr/>
          <p:nvPr/>
        </p:nvSpPr>
        <p:spPr>
          <a:xfrm rot="16200000">
            <a:off x="4299635" y="5203879"/>
            <a:ext cx="685039" cy="1304617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6" name="Shape 148"/>
          <p:cNvSpPr/>
          <p:nvPr/>
        </p:nvSpPr>
        <p:spPr>
          <a:xfrm rot="16200000">
            <a:off x="6278216" y="3151483"/>
            <a:ext cx="685039" cy="1304617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Cambria Math"/>
                <a:cs typeface="Cambria Math"/>
              </a:rPr>
              <a:t>Abstraction used for </a:t>
            </a:r>
            <a:br>
              <a:rPr lang="en-US" sz="4400" dirty="0">
                <a:latin typeface="Cambria Math"/>
                <a:cs typeface="Cambria Math"/>
              </a:rPr>
            </a:br>
            <a:r>
              <a:rPr lang="en-US" sz="4400" dirty="0">
                <a:latin typeface="Cambria Math"/>
                <a:cs typeface="Cambria Math"/>
              </a:rPr>
              <a:t>Data parallel learning with PS</a:t>
            </a:r>
            <a:endParaRPr lang="en-US" sz="4400" dirty="0"/>
          </a:p>
        </p:txBody>
      </p:sp>
      <p:sp>
        <p:nvSpPr>
          <p:cNvPr id="50" name="Slide Number Placeholder 4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E1F212-E36A-6C44-B33E-31147482829D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pic>
        <p:nvPicPr>
          <p:cNvPr id="51" name="Picture 50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8600" y="3499981"/>
            <a:ext cx="4775200" cy="660400"/>
          </a:xfrm>
          <a:prstGeom prst="rect">
            <a:avLst/>
          </a:prstGeom>
        </p:spPr>
      </p:pic>
      <p:pic>
        <p:nvPicPr>
          <p:cNvPr id="52" name="Picture 51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2799" y="5575799"/>
            <a:ext cx="444500" cy="584200"/>
          </a:xfrm>
          <a:prstGeom prst="rect">
            <a:avLst/>
          </a:prstGeom>
        </p:spPr>
      </p:pic>
      <p:pic>
        <p:nvPicPr>
          <p:cNvPr id="53" name="Picture 52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8617" y="5633974"/>
            <a:ext cx="457200" cy="457200"/>
          </a:xfrm>
          <a:prstGeom prst="rect">
            <a:avLst/>
          </a:prstGeom>
        </p:spPr>
      </p:pic>
      <p:pic>
        <p:nvPicPr>
          <p:cNvPr id="54" name="Picture 53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1290" y="5677346"/>
            <a:ext cx="596900" cy="3556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925739" y="3499981"/>
            <a:ext cx="1347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ill Sans Light"/>
                <a:cs typeface="Gill Sans Light"/>
              </a:rPr>
              <a:t>Model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77048" y="5513668"/>
            <a:ext cx="1347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ill Sans Light"/>
                <a:cs typeface="Gill Sans Light"/>
              </a:rPr>
              <a:t>Model</a:t>
            </a:r>
          </a:p>
        </p:txBody>
      </p:sp>
      <p:sp>
        <p:nvSpPr>
          <p:cNvPr id="62" name="Shape 148"/>
          <p:cNvSpPr/>
          <p:nvPr/>
        </p:nvSpPr>
        <p:spPr>
          <a:xfrm rot="16200000">
            <a:off x="1743882" y="5242587"/>
            <a:ext cx="685039" cy="1304617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421295" y="5552376"/>
            <a:ext cx="1347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ill Sans Light"/>
                <a:cs typeface="Gill Sans Light"/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102346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0B53A-B387-9BD8-C804-E9E5F865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727E-E722-08CA-CC43-6078D9BA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SGD with 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6BEF9-9E69-821D-748D-C7D799AEE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w = [</a:t>
            </a:r>
            <a:r>
              <a:rPr lang="en-US" sz="2400" dirty="0"/>
              <a:t>initial weight vector]</a:t>
            </a:r>
            <a:r>
              <a:rPr lang="en-US" sz="2400" b="1" dirty="0"/>
              <a:t> </a:t>
            </a:r>
            <a:endParaRPr lang="en-US" sz="2400" dirty="0"/>
          </a:p>
          <a:p>
            <a:r>
              <a:rPr lang="en-US" sz="2400" dirty="0"/>
              <a:t>In parallel, on each of </a:t>
            </a:r>
            <a:r>
              <a:rPr lang="en-US" sz="2400" i="1" dirty="0"/>
              <a:t>k</a:t>
            </a:r>
            <a:r>
              <a:rPr lang="en-US" sz="2400" dirty="0"/>
              <a:t>  workers with </a:t>
            </a:r>
            <a:r>
              <a:rPr lang="en-US" sz="2400" i="1" dirty="0"/>
              <a:t>N/k</a:t>
            </a:r>
            <a:r>
              <a:rPr lang="en-US" sz="2400" dirty="0"/>
              <a:t> examples each:</a:t>
            </a:r>
          </a:p>
          <a:p>
            <a:pPr marL="457200" lvl="1" indent="0">
              <a:buNone/>
            </a:pPr>
            <a:r>
              <a:rPr lang="en-US" sz="2400" dirty="0"/>
              <a:t>For e = 1, …, </a:t>
            </a:r>
            <a:r>
              <a:rPr lang="en-US" sz="2400" dirty="0" err="1"/>
              <a:t>num_epochs</a:t>
            </a:r>
            <a:r>
              <a:rPr lang="en-US" sz="2400" dirty="0"/>
              <a:t>:</a:t>
            </a:r>
          </a:p>
          <a:p>
            <a:pPr marL="914400" lvl="2" indent="0">
              <a:buNone/>
            </a:pPr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dirty="0"/>
              <a:t> = 1, …, </a:t>
            </a:r>
            <a:r>
              <a:rPr lang="en-US" sz="2400" dirty="0" err="1"/>
              <a:t>num_local_examples</a:t>
            </a:r>
            <a:r>
              <a:rPr lang="en-US" sz="2400" dirty="0"/>
              <a:t>:</a:t>
            </a:r>
          </a:p>
          <a:p>
            <a:pPr marL="914400" lvl="2" indent="0">
              <a:buNone/>
            </a:pPr>
            <a:r>
              <a:rPr lang="en-US" sz="2400" dirty="0"/>
              <a:t>	For each non-zero update 𝛿</a:t>
            </a:r>
            <a:r>
              <a:rPr lang="en-US" sz="2400" baseline="-25000" dirty="0"/>
              <a:t>j  </a:t>
            </a:r>
            <a:r>
              <a:rPr lang="en-US" sz="2400" dirty="0"/>
              <a:t>to param j</a:t>
            </a:r>
          </a:p>
          <a:p>
            <a:pPr marL="1828800" lvl="4" indent="0">
              <a:buNone/>
            </a:pPr>
            <a:r>
              <a:rPr lang="en-US" dirty="0" err="1"/>
              <a:t>ps.add</a:t>
            </a:r>
            <a:r>
              <a:rPr lang="en-US" dirty="0"/>
              <a:t>(j, </a:t>
            </a:r>
            <a:r>
              <a:rPr lang="en-US" sz="2400" dirty="0"/>
              <a:t>𝛿</a:t>
            </a:r>
            <a:r>
              <a:rPr lang="en-US" sz="2400" baseline="-25000" dirty="0"/>
              <a:t>j </a:t>
            </a:r>
            <a:r>
              <a:rPr lang="en-US" sz="2400" dirty="0"/>
              <a:t>)</a:t>
            </a:r>
            <a:endParaRPr lang="en-US" dirty="0"/>
          </a:p>
          <a:p>
            <a:endParaRPr lang="en-US" sz="2400" b="1" dirty="0"/>
          </a:p>
          <a:p>
            <a:r>
              <a:rPr lang="en-US" sz="2400" dirty="0"/>
              <a:t>Final weight vector is on param server!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51758-8AF9-0700-BC30-3F665C4C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5A054D-DD8C-CF2C-8BA2-20087429248F}"/>
              </a:ext>
            </a:extLst>
          </p:cNvPr>
          <p:cNvSpPr/>
          <p:nvPr/>
        </p:nvSpPr>
        <p:spPr>
          <a:xfrm>
            <a:off x="645253" y="2171700"/>
            <a:ext cx="8140700" cy="181073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F6688-CC00-3EC9-FDA5-5818A0B3E85B}"/>
              </a:ext>
            </a:extLst>
          </p:cNvPr>
          <p:cNvSpPr txBox="1"/>
          <p:nvPr/>
        </p:nvSpPr>
        <p:spPr>
          <a:xfrm>
            <a:off x="4572000" y="1265789"/>
            <a:ext cx="4257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# stored on param server</a:t>
            </a:r>
          </a:p>
        </p:txBody>
      </p:sp>
    </p:spTree>
    <p:extLst>
      <p:ext uri="{BB962C8B-B14F-4D97-AF65-F5344CB8AC3E}">
        <p14:creationId xmlns:p14="http://schemas.microsoft.com/office/powerpoint/2010/main" val="30864172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30C2C-F6EA-6333-3C81-5D18AF653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5274D-C01D-709C-DF40-47272F86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 Server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C9B12-D114-87C7-2B18-98C24FB24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4343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Convenient programming model</a:t>
            </a:r>
          </a:p>
          <a:p>
            <a:pPr lvl="1"/>
            <a:r>
              <a:rPr lang="en-US" dirty="0"/>
              <a:t>Very powerful when parameters are sparse and vectors can be “sharded” across difference PS machines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Prone to bottlenecks</a:t>
            </a:r>
          </a:p>
          <a:p>
            <a:pPr lvl="1"/>
            <a:r>
              <a:rPr lang="en-US" dirty="0"/>
              <a:t>Avoiding bottlenecks often involves tricks (e.g., SSP, limited synchronization when you access/updated parameters) that can delay convergence unpredictably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9539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31839-51D1-6F56-8D08-DACD8CF59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FC0F2-57F6-78C2-1EED-EFE40898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D9690-A8B3-1DA2-6D37-54F70B24B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0"/>
            <a:ext cx="8947537" cy="518794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pPr lvl="1"/>
            <a:r>
              <a:rPr lang="en-US" dirty="0"/>
              <a:t>workers get </a:t>
            </a:r>
            <a:r>
              <a:rPr lang="en-US" b="1" dirty="0"/>
              <a:t>parts</a:t>
            </a:r>
            <a:r>
              <a:rPr lang="en-US" dirty="0"/>
              <a:t> (usually disjoint partitions) of the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copies</a:t>
            </a:r>
            <a:r>
              <a:rPr lang="en-US" dirty="0"/>
              <a:t> of the current </a:t>
            </a:r>
            <a:r>
              <a:rPr lang="en-US" b="1" dirty="0"/>
              <a:t>model</a:t>
            </a:r>
          </a:p>
          <a:p>
            <a:pPr lvl="1"/>
            <a:r>
              <a:rPr lang="en-US" dirty="0"/>
              <a:t>workers optimize </a:t>
            </a:r>
            <a:r>
              <a:rPr lang="en-US" b="1" dirty="0"/>
              <a:t>independently</a:t>
            </a:r>
            <a:r>
              <a:rPr lang="en-US" dirty="0"/>
              <a:t> for a while</a:t>
            </a:r>
          </a:p>
          <a:p>
            <a:pPr lvl="2"/>
            <a:r>
              <a:rPr lang="en-US" dirty="0"/>
              <a:t>without communication</a:t>
            </a:r>
          </a:p>
          <a:p>
            <a:pPr lvl="1"/>
            <a:r>
              <a:rPr lang="en-US" dirty="0"/>
              <a:t>workers </a:t>
            </a:r>
            <a:r>
              <a:rPr lang="en-US" b="1" dirty="0"/>
              <a:t>communicate</a:t>
            </a:r>
            <a:r>
              <a:rPr lang="en-US" dirty="0"/>
              <a:t> and </a:t>
            </a:r>
            <a:r>
              <a:rPr lang="en-US" b="1" dirty="0"/>
              <a:t>synchronize</a:t>
            </a:r>
            <a:r>
              <a:rPr lang="en-US" dirty="0"/>
              <a:t> models</a:t>
            </a:r>
          </a:p>
          <a:p>
            <a:r>
              <a:rPr lang="en-US" dirty="0"/>
              <a:t>Decisions to consider:</a:t>
            </a:r>
          </a:p>
          <a:p>
            <a:pPr lvl="1"/>
            <a:r>
              <a:rPr lang="en-US" b="1" dirty="0"/>
              <a:t>when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when is it ok to optimize a “stale” set of weights?</a:t>
            </a:r>
          </a:p>
          <a:p>
            <a:pPr lvl="1"/>
            <a:r>
              <a:rPr lang="en-US" b="1" dirty="0"/>
              <a:t>how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send</a:t>
            </a:r>
            <a:r>
              <a:rPr lang="en-US" dirty="0"/>
              <a:t> information?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compress</a:t>
            </a:r>
            <a:r>
              <a:rPr lang="en-US" dirty="0"/>
              <a:t> or </a:t>
            </a:r>
            <a:r>
              <a:rPr lang="en-US" b="1" dirty="0" err="1"/>
              <a:t>sparsify</a:t>
            </a:r>
            <a:r>
              <a:rPr lang="en-US" b="1" dirty="0"/>
              <a:t> </a:t>
            </a:r>
            <a:r>
              <a:rPr lang="en-US" dirty="0"/>
              <a:t>information?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C8FEF-1033-81C0-F5B2-52C53E05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566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084B3-2922-42A4-850F-5200E3C0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60D68-CD8E-4C4A-7296-70F722E2D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distributed ML is a carefully-chosen combination of standard tricks</a:t>
            </a:r>
          </a:p>
          <a:p>
            <a:r>
              <a:rPr lang="en-US" dirty="0"/>
              <a:t>Sometimes if you know something about the problem you are optimizing you can do something special…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6B5FD-9C5E-2C1F-5145-04F5ED8CEB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53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52810-77BD-7DC4-9A99-5A959E45A922}"/>
              </a:ext>
            </a:extLst>
          </p:cNvPr>
          <p:cNvSpPr txBox="1"/>
          <p:nvPr/>
        </p:nvSpPr>
        <p:spPr>
          <a:xfrm>
            <a:off x="771525" y="4103638"/>
            <a:ext cx="7600950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hlinkClick r:id="rId2"/>
              </a:rPr>
              <a:t>DeepSeek-V3</a:t>
            </a:r>
            <a:r>
              <a:rPr lang="en-US" sz="2400" dirty="0"/>
              <a:t> used pipeline parallelism, data parallelism, and </a:t>
            </a:r>
            <a:r>
              <a:rPr lang="en-US" sz="2400" dirty="0" err="1"/>
              <a:t>ZeRO</a:t>
            </a:r>
            <a:r>
              <a:rPr lang="en-US" sz="2400" dirty="0"/>
              <a:t> + “expert parallelism” (another kind of model parallelism).</a:t>
            </a:r>
          </a:p>
          <a:p>
            <a:endParaRPr lang="en-US" sz="2400" dirty="0"/>
          </a:p>
          <a:p>
            <a:r>
              <a:rPr lang="en-US" sz="2400" dirty="0"/>
              <a:t>Also, compressed synchronization by communicating limited-precision updates</a:t>
            </a:r>
          </a:p>
        </p:txBody>
      </p:sp>
    </p:spTree>
    <p:extLst>
      <p:ext uri="{BB962C8B-B14F-4D97-AF65-F5344CB8AC3E}">
        <p14:creationId xmlns:p14="http://schemas.microsoft.com/office/powerpoint/2010/main" val="2155470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Matrix Factorization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825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Recovering latent factors in a matrix</a:t>
            </a:r>
          </a:p>
        </p:txBody>
      </p:sp>
      <p:sp>
        <p:nvSpPr>
          <p:cNvPr id="9" name="Double Bracket 8"/>
          <p:cNvSpPr/>
          <p:nvPr/>
        </p:nvSpPr>
        <p:spPr>
          <a:xfrm>
            <a:off x="6015666" y="2415291"/>
            <a:ext cx="2544802" cy="288077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/>
          <p:cNvSpPr/>
          <p:nvPr/>
        </p:nvSpPr>
        <p:spPr>
          <a:xfrm rot="16200000">
            <a:off x="7172711" y="938351"/>
            <a:ext cx="352767" cy="2422747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 rot="10800000">
            <a:off x="5576900" y="2462083"/>
            <a:ext cx="324382" cy="289253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901998" y="1543358"/>
            <a:ext cx="120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dirty="0"/>
              <a:t> columns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55310" y="256600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55310" y="3341807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vij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55310" y="4654902"/>
          <a:ext cx="217581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vnm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 rot="16200000">
            <a:off x="4893558" y="3699760"/>
            <a:ext cx="82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</a:t>
            </a:r>
            <a:r>
              <a:rPr lang="en-US" dirty="0"/>
              <a:t>rows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981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Recovering latent factors in a matrix</a:t>
            </a:r>
          </a:p>
        </p:txBody>
      </p:sp>
      <p:sp>
        <p:nvSpPr>
          <p:cNvPr id="5" name="Double Bracket 4"/>
          <p:cNvSpPr/>
          <p:nvPr/>
        </p:nvSpPr>
        <p:spPr>
          <a:xfrm>
            <a:off x="1102322" y="2415292"/>
            <a:ext cx="1093576" cy="2880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/>
          <p:cNvSpPr/>
          <p:nvPr/>
        </p:nvSpPr>
        <p:spPr>
          <a:xfrm>
            <a:off x="2819117" y="2403533"/>
            <a:ext cx="2304742" cy="72901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y 6"/>
          <p:cNvSpPr/>
          <p:nvPr/>
        </p:nvSpPr>
        <p:spPr>
          <a:xfrm>
            <a:off x="2307604" y="2650462"/>
            <a:ext cx="223418" cy="282198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qual 7"/>
          <p:cNvSpPr/>
          <p:nvPr/>
        </p:nvSpPr>
        <p:spPr>
          <a:xfrm>
            <a:off x="5325152" y="2509361"/>
            <a:ext cx="280822" cy="282202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6015666" y="2415291"/>
            <a:ext cx="2544802" cy="288077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04146" y="1575624"/>
            <a:ext cx="738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* m</a:t>
            </a:r>
          </a:p>
        </p:txBody>
      </p:sp>
      <p:sp>
        <p:nvSpPr>
          <p:cNvPr id="11" name="Right Brace 10"/>
          <p:cNvSpPr/>
          <p:nvPr/>
        </p:nvSpPr>
        <p:spPr>
          <a:xfrm rot="16200000">
            <a:off x="3809297" y="983161"/>
            <a:ext cx="324381" cy="230474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-150769" y="3652969"/>
            <a:ext cx="679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* K</a:t>
            </a:r>
            <a:endParaRPr lang="en-US" dirty="0"/>
          </a:p>
        </p:txBody>
      </p:sp>
      <p:sp>
        <p:nvSpPr>
          <p:cNvPr id="14" name="Right Brace 13"/>
          <p:cNvSpPr/>
          <p:nvPr/>
        </p:nvSpPr>
        <p:spPr>
          <a:xfrm rot="10800000">
            <a:off x="457200" y="2415292"/>
            <a:ext cx="324382" cy="289253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22924" y="2509361"/>
          <a:ext cx="972974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xn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yn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902118" y="246708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bm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55310" y="256600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55310" y="3341807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vij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55310" y="4654902"/>
          <a:ext cx="217581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vnm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261222" y="2111144"/>
            <a:ext cx="4283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~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363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for?</a:t>
            </a:r>
          </a:p>
        </p:txBody>
      </p:sp>
      <p:sp>
        <p:nvSpPr>
          <p:cNvPr id="5" name="Double Bracket 4"/>
          <p:cNvSpPr/>
          <p:nvPr/>
        </p:nvSpPr>
        <p:spPr>
          <a:xfrm>
            <a:off x="1102322" y="2415292"/>
            <a:ext cx="1093576" cy="2880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/>
          <p:cNvSpPr/>
          <p:nvPr/>
        </p:nvSpPr>
        <p:spPr>
          <a:xfrm>
            <a:off x="2819117" y="2403533"/>
            <a:ext cx="2304742" cy="72901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y 6"/>
          <p:cNvSpPr/>
          <p:nvPr/>
        </p:nvSpPr>
        <p:spPr>
          <a:xfrm>
            <a:off x="2307604" y="2650462"/>
            <a:ext cx="223418" cy="282198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qual 7"/>
          <p:cNvSpPr/>
          <p:nvPr/>
        </p:nvSpPr>
        <p:spPr>
          <a:xfrm>
            <a:off x="5325152" y="2509361"/>
            <a:ext cx="280822" cy="282202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6015666" y="2415291"/>
            <a:ext cx="2544802" cy="288077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04146" y="1575624"/>
            <a:ext cx="738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* m</a:t>
            </a:r>
          </a:p>
        </p:txBody>
      </p:sp>
      <p:sp>
        <p:nvSpPr>
          <p:cNvPr id="11" name="Right Brace 10"/>
          <p:cNvSpPr/>
          <p:nvPr/>
        </p:nvSpPr>
        <p:spPr>
          <a:xfrm rot="16200000">
            <a:off x="3809297" y="983161"/>
            <a:ext cx="324381" cy="230474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-150769" y="3652969"/>
            <a:ext cx="679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* K</a:t>
            </a:r>
            <a:endParaRPr lang="en-US" dirty="0"/>
          </a:p>
        </p:txBody>
      </p:sp>
      <p:sp>
        <p:nvSpPr>
          <p:cNvPr id="14" name="Right Brace 13"/>
          <p:cNvSpPr/>
          <p:nvPr/>
        </p:nvSpPr>
        <p:spPr>
          <a:xfrm rot="10800000">
            <a:off x="457200" y="2415292"/>
            <a:ext cx="324382" cy="289253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22924" y="2509361"/>
          <a:ext cx="972974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xn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yn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902118" y="246708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bm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55310" y="256600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55310" y="3341807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vij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55310" y="4654902"/>
          <a:ext cx="217581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vnm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261222" y="2111144"/>
            <a:ext cx="4283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~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014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MF for collaborative filtering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995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collaborative filtering?</a:t>
            </a:r>
          </a:p>
        </p:txBody>
      </p:sp>
      <p:pic>
        <p:nvPicPr>
          <p:cNvPr id="4" name="Picture 3" descr="Screen Shot 2013-10-22 at 4.54.5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2443"/>
            <a:ext cx="9144000" cy="563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702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Recovering latent factors in a matrix</a:t>
            </a:r>
          </a:p>
        </p:txBody>
      </p:sp>
      <p:sp>
        <p:nvSpPr>
          <p:cNvPr id="9" name="Double Bracket 8"/>
          <p:cNvSpPr/>
          <p:nvPr/>
        </p:nvSpPr>
        <p:spPr>
          <a:xfrm>
            <a:off x="6015666" y="2415291"/>
            <a:ext cx="2544802" cy="288077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/>
          <p:cNvSpPr/>
          <p:nvPr/>
        </p:nvSpPr>
        <p:spPr>
          <a:xfrm rot="16200000">
            <a:off x="7172711" y="938351"/>
            <a:ext cx="352767" cy="2422747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 rot="10800000">
            <a:off x="5576900" y="2462083"/>
            <a:ext cx="324382" cy="289253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901998" y="1543358"/>
            <a:ext cx="1080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dirty="0"/>
              <a:t> movies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55310" y="256600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55310" y="3341807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vij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55310" y="4654902"/>
          <a:ext cx="217581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vnm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325153" y="5506328"/>
            <a:ext cx="352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V[</a:t>
            </a:r>
            <a:r>
              <a:rPr lang="en-US" dirty="0" err="1"/>
              <a:t>i,j</a:t>
            </a:r>
            <a:r>
              <a:rPr lang="en-US" dirty="0"/>
              <a:t>] = user i’s rating of movie j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4878849" y="3699760"/>
            <a:ext cx="85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</a:t>
            </a:r>
            <a:r>
              <a:rPr lang="en-US" dirty="0"/>
              <a:t>users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11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Recovering latent factors in a matrix</a:t>
            </a:r>
          </a:p>
        </p:txBody>
      </p:sp>
      <p:sp>
        <p:nvSpPr>
          <p:cNvPr id="5" name="Double Bracket 4"/>
          <p:cNvSpPr/>
          <p:nvPr/>
        </p:nvSpPr>
        <p:spPr>
          <a:xfrm>
            <a:off x="1102322" y="2415292"/>
            <a:ext cx="1093576" cy="2880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/>
          <p:cNvSpPr/>
          <p:nvPr/>
        </p:nvSpPr>
        <p:spPr>
          <a:xfrm>
            <a:off x="2819117" y="2403533"/>
            <a:ext cx="2304742" cy="72901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y 6"/>
          <p:cNvSpPr/>
          <p:nvPr/>
        </p:nvSpPr>
        <p:spPr>
          <a:xfrm>
            <a:off x="2307604" y="2650462"/>
            <a:ext cx="223418" cy="282198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qual 7"/>
          <p:cNvSpPr/>
          <p:nvPr/>
        </p:nvSpPr>
        <p:spPr>
          <a:xfrm>
            <a:off x="5325152" y="2509361"/>
            <a:ext cx="280822" cy="282202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6015666" y="2415291"/>
            <a:ext cx="2544802" cy="288077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04146" y="1575624"/>
            <a:ext cx="1080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dirty="0"/>
              <a:t> movies</a:t>
            </a:r>
          </a:p>
        </p:txBody>
      </p:sp>
      <p:sp>
        <p:nvSpPr>
          <p:cNvPr id="11" name="Right Brace 10"/>
          <p:cNvSpPr/>
          <p:nvPr/>
        </p:nvSpPr>
        <p:spPr>
          <a:xfrm rot="16200000">
            <a:off x="3809297" y="983161"/>
            <a:ext cx="324381" cy="230474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-240851" y="3652969"/>
            <a:ext cx="85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</a:t>
            </a:r>
            <a:r>
              <a:rPr lang="en-US" dirty="0"/>
              <a:t>users</a:t>
            </a:r>
          </a:p>
        </p:txBody>
      </p:sp>
      <p:sp>
        <p:nvSpPr>
          <p:cNvPr id="13" name="Right Brace 12"/>
          <p:cNvSpPr/>
          <p:nvPr/>
        </p:nvSpPr>
        <p:spPr>
          <a:xfrm rot="16200000">
            <a:off x="7172711" y="938351"/>
            <a:ext cx="352767" cy="2422747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 rot="10800000">
            <a:off x="457200" y="2415292"/>
            <a:ext cx="324382" cy="289253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901998" y="1543358"/>
            <a:ext cx="1080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dirty="0"/>
              <a:t> movies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22924" y="2509361"/>
          <a:ext cx="972974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xn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yn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902118" y="246708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bm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55310" y="256600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55310" y="3341807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vij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55310" y="4654902"/>
          <a:ext cx="217581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vnm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261222" y="2111144"/>
            <a:ext cx="4283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~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25153" y="5506328"/>
            <a:ext cx="352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V[</a:t>
            </a:r>
            <a:r>
              <a:rPr lang="en-US" dirty="0" err="1"/>
              <a:t>i,j</a:t>
            </a:r>
            <a:r>
              <a:rPr lang="en-US" dirty="0"/>
              <a:t>] = user i’s rating of movie j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349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2-04-19 at 11.31.2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16"/>
            <a:ext cx="9144000" cy="6737684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927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MF for image modeling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616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2133600" y="228600"/>
            <a:ext cx="70104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Cambria Math" charset="0"/>
              </a:rPr>
              <a:t>MF for images</a:t>
            </a:r>
          </a:p>
        </p:txBody>
      </p:sp>
      <p:sp>
        <p:nvSpPr>
          <p:cNvPr id="5" name="Double Bracket 4"/>
          <p:cNvSpPr/>
          <p:nvPr/>
        </p:nvSpPr>
        <p:spPr>
          <a:xfrm>
            <a:off x="1066800" y="2414588"/>
            <a:ext cx="1093788" cy="2881312"/>
          </a:xfrm>
          <a:prstGeom prst="bracketPair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6" name="Double Bracket 5"/>
          <p:cNvSpPr/>
          <p:nvPr/>
        </p:nvSpPr>
        <p:spPr>
          <a:xfrm>
            <a:off x="2819400" y="2403475"/>
            <a:ext cx="2305050" cy="728663"/>
          </a:xfrm>
          <a:prstGeom prst="bracketPair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7" name="Multiply 6"/>
          <p:cNvSpPr/>
          <p:nvPr/>
        </p:nvSpPr>
        <p:spPr>
          <a:xfrm>
            <a:off x="2308225" y="2651125"/>
            <a:ext cx="222250" cy="280988"/>
          </a:xfrm>
          <a:prstGeom prst="mathMultiply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  <a:latin typeface="Gill Sans MT"/>
            </a:endParaRPr>
          </a:p>
        </p:txBody>
      </p:sp>
      <p:sp>
        <p:nvSpPr>
          <p:cNvPr id="8" name="Equal 7"/>
          <p:cNvSpPr/>
          <p:nvPr/>
        </p:nvSpPr>
        <p:spPr>
          <a:xfrm>
            <a:off x="5324475" y="2509838"/>
            <a:ext cx="280988" cy="280987"/>
          </a:xfrm>
          <a:prstGeom prst="mathEqual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6015038" y="2414588"/>
            <a:ext cx="2544762" cy="2881312"/>
          </a:xfrm>
          <a:prstGeom prst="bracketPair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9463" name="TextBox 9"/>
          <p:cNvSpPr txBox="1">
            <a:spLocks noChangeArrowheads="1"/>
          </p:cNvSpPr>
          <p:nvPr/>
        </p:nvSpPr>
        <p:spPr bwMode="auto">
          <a:xfrm>
            <a:off x="3503613" y="1576388"/>
            <a:ext cx="13747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>
                <a:solidFill>
                  <a:srgbClr val="000000"/>
                </a:solidFill>
                <a:latin typeface="Gill Sans MT" charset="0"/>
              </a:rPr>
              <a:t>10,000 pixels</a:t>
            </a:r>
            <a:endParaRPr lang="en-US" sz="1800">
              <a:solidFill>
                <a:srgbClr val="000000"/>
              </a:solidFill>
              <a:latin typeface="Gill Sans MT" charset="0"/>
            </a:endParaRPr>
          </a:p>
        </p:txBody>
      </p:sp>
      <p:sp>
        <p:nvSpPr>
          <p:cNvPr id="11" name="Right Brace 10"/>
          <p:cNvSpPr/>
          <p:nvPr/>
        </p:nvSpPr>
        <p:spPr>
          <a:xfrm rot="16200000">
            <a:off x="3810000" y="982663"/>
            <a:ext cx="323850" cy="2305050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491331" y="3653632"/>
            <a:ext cx="1360487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dirty="0"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1000 </a:t>
            </a:r>
            <a:r>
              <a:rPr lang="en-US" sz="1800" dirty="0"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images</a:t>
            </a:r>
          </a:p>
        </p:txBody>
      </p:sp>
      <p:sp>
        <p:nvSpPr>
          <p:cNvPr id="13" name="Right Brace 12"/>
          <p:cNvSpPr/>
          <p:nvPr/>
        </p:nvSpPr>
        <p:spPr>
          <a:xfrm rot="16200000">
            <a:off x="7172325" y="938213"/>
            <a:ext cx="352425" cy="2422525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4" name="Right Brace 13"/>
          <p:cNvSpPr/>
          <p:nvPr/>
        </p:nvSpPr>
        <p:spPr>
          <a:xfrm rot="10800000">
            <a:off x="457200" y="2414588"/>
            <a:ext cx="323850" cy="2894012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9468" name="TextBox 14"/>
          <p:cNvSpPr txBox="1">
            <a:spLocks noChangeArrowheads="1"/>
          </p:cNvSpPr>
          <p:nvPr/>
        </p:nvSpPr>
        <p:spPr bwMode="auto">
          <a:xfrm>
            <a:off x="6553200" y="1524000"/>
            <a:ext cx="1838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>
                <a:solidFill>
                  <a:srgbClr val="000000"/>
                </a:solidFill>
                <a:latin typeface="Gill Sans MT" charset="0"/>
              </a:rPr>
              <a:t>1000 * 10,000,00</a:t>
            </a:r>
            <a:endParaRPr lang="en-US" sz="1800">
              <a:solidFill>
                <a:srgbClr val="000000"/>
              </a:solidFill>
              <a:latin typeface="Gill Sans MT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22375" y="2509838"/>
          <a:ext cx="973138" cy="2743200"/>
        </p:xfrm>
        <a:graphic>
          <a:graphicData uri="http://schemas.openxmlformats.org/drawingml/2006/table">
            <a:tbl>
              <a:tblPr/>
              <a:tblGrid>
                <a:gridCol w="487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x1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y1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x2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y2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xn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yn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901950" y="2466975"/>
          <a:ext cx="2071688" cy="568326"/>
        </p:xfrm>
        <a:graphic>
          <a:graphicData uri="http://schemas.openxmlformats.org/drawingml/2006/table">
            <a:tbl>
              <a:tblPr/>
              <a:tblGrid>
                <a:gridCol w="41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a1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a2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am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b1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b2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bm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54750" y="2565400"/>
          <a:ext cx="2071688" cy="568326"/>
        </p:xfrm>
        <a:graphic>
          <a:graphicData uri="http://schemas.openxmlformats.org/drawingml/2006/table">
            <a:tbl>
              <a:tblPr/>
              <a:tblGrid>
                <a:gridCol w="41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v11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54750" y="3341688"/>
          <a:ext cx="2071688" cy="568326"/>
        </p:xfrm>
        <a:graphic>
          <a:graphicData uri="http://schemas.openxmlformats.org/drawingml/2006/table">
            <a:tbl>
              <a:tblPr/>
              <a:tblGrid>
                <a:gridCol w="41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vij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54750" y="4654550"/>
          <a:ext cx="2176463" cy="568326"/>
        </p:xfrm>
        <a:graphic>
          <a:graphicData uri="http://schemas.openxmlformats.org/drawingml/2006/table">
            <a:tbl>
              <a:tblPr/>
              <a:tblGrid>
                <a:gridCol w="43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vnm</a:t>
                      </a: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534" name="TextBox 22"/>
          <p:cNvSpPr txBox="1">
            <a:spLocks noChangeArrowheads="1"/>
          </p:cNvSpPr>
          <p:nvPr/>
        </p:nvSpPr>
        <p:spPr bwMode="auto">
          <a:xfrm>
            <a:off x="5260975" y="2111375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b="1">
                <a:solidFill>
                  <a:srgbClr val="4F81BD"/>
                </a:solidFill>
                <a:latin typeface="Gill Sans MT" charset="0"/>
              </a:rPr>
              <a:t>~</a:t>
            </a:r>
            <a:endParaRPr lang="en-US" sz="1800" b="1">
              <a:solidFill>
                <a:srgbClr val="4F81BD"/>
              </a:solidFill>
              <a:latin typeface="Gill Sans MT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24475" y="5507038"/>
            <a:ext cx="35306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V[</a:t>
            </a:r>
            <a:r>
              <a:rPr lang="en-US" sz="1800" dirty="0" err="1"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i,j</a:t>
            </a:r>
            <a:r>
              <a:rPr lang="en-US" sz="1800" dirty="0"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] = pixel j in image </a:t>
            </a:r>
            <a:r>
              <a:rPr lang="en-US" sz="1800" dirty="0" err="1"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i</a:t>
            </a:r>
            <a:endParaRPr lang="en-US" sz="1800" dirty="0">
              <a:solidFill>
                <a:prstClr val="black"/>
              </a:solidFill>
              <a:latin typeface="Gill Sans MT"/>
              <a:ea typeface="+mn-ea"/>
              <a:cs typeface="+mn-cs"/>
            </a:endParaRPr>
          </a:p>
        </p:txBody>
      </p:sp>
      <p:sp>
        <p:nvSpPr>
          <p:cNvPr id="19536" name="TextBox 24"/>
          <p:cNvSpPr txBox="1">
            <a:spLocks noChangeArrowheads="1"/>
          </p:cNvSpPr>
          <p:nvPr/>
        </p:nvSpPr>
        <p:spPr bwMode="auto">
          <a:xfrm>
            <a:off x="990600" y="1380744"/>
            <a:ext cx="127009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 dirty="0">
                <a:solidFill>
                  <a:srgbClr val="000000"/>
                </a:solidFill>
                <a:latin typeface="Gill Sans MT" charset="0"/>
              </a:rPr>
              <a:t>weights for </a:t>
            </a:r>
          </a:p>
          <a:p>
            <a:pPr eaLnBrk="1" hangingPunct="1"/>
            <a:r>
              <a:rPr lang="en-US" sz="1800" i="1" dirty="0">
                <a:solidFill>
                  <a:srgbClr val="000000"/>
                </a:solidFill>
                <a:latin typeface="Gill Sans MT" charset="0"/>
              </a:rPr>
              <a:t>2 prototypes</a:t>
            </a:r>
            <a:endParaRPr lang="en-US" sz="1800" dirty="0">
              <a:solidFill>
                <a:srgbClr val="000000"/>
              </a:solidFill>
              <a:latin typeface="Gill Sans MT" charset="0"/>
            </a:endParaRPr>
          </a:p>
        </p:txBody>
      </p:sp>
      <p:pic>
        <p:nvPicPr>
          <p:cNvPr id="27" name="Picture 5" descr="Screen Shot 2014-11-10 at 2.32.1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5" r="81100"/>
          <a:stretch>
            <a:fillRect/>
          </a:stretch>
        </p:blipFill>
        <p:spPr bwMode="auto">
          <a:xfrm>
            <a:off x="2209800" y="762000"/>
            <a:ext cx="104140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5" descr="Screen Shot 2014-11-10 at 2.32.1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88" t="2415" r="60481"/>
          <a:stretch>
            <a:fillRect/>
          </a:stretch>
        </p:blipFill>
        <p:spPr bwMode="auto">
          <a:xfrm>
            <a:off x="2819400" y="3886200"/>
            <a:ext cx="116840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own Arrow 1"/>
          <p:cNvSpPr/>
          <p:nvPr/>
        </p:nvSpPr>
        <p:spPr>
          <a:xfrm rot="18941429">
            <a:off x="2932113" y="1527175"/>
            <a:ext cx="228600" cy="1071563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Down Arrow 28"/>
          <p:cNvSpPr/>
          <p:nvPr/>
        </p:nvSpPr>
        <p:spPr>
          <a:xfrm rot="13254335">
            <a:off x="3827463" y="3068638"/>
            <a:ext cx="228600" cy="106997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9542" name="Picture 3" descr="Screen Shot 2014-11-10 at 2.34.3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429"/>
          <a:stretch>
            <a:fillRect/>
          </a:stretch>
        </p:blipFill>
        <p:spPr bwMode="auto">
          <a:xfrm>
            <a:off x="7947025" y="152400"/>
            <a:ext cx="1219200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Down Arrow 30"/>
          <p:cNvSpPr/>
          <p:nvPr/>
        </p:nvSpPr>
        <p:spPr>
          <a:xfrm rot="1534618">
            <a:off x="8081963" y="1612900"/>
            <a:ext cx="228600" cy="1135063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544" name="TextBox 31"/>
          <p:cNvSpPr txBox="1">
            <a:spLocks noChangeArrowheads="1"/>
          </p:cNvSpPr>
          <p:nvPr/>
        </p:nvSpPr>
        <p:spPr bwMode="auto">
          <a:xfrm>
            <a:off x="2362200" y="457200"/>
            <a:ext cx="4347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P1</a:t>
            </a:r>
          </a:p>
        </p:txBody>
      </p:sp>
      <p:sp>
        <p:nvSpPr>
          <p:cNvPr id="19545" name="TextBox 32"/>
          <p:cNvSpPr txBox="1">
            <a:spLocks noChangeArrowheads="1"/>
          </p:cNvSpPr>
          <p:nvPr/>
        </p:nvSpPr>
        <p:spPr bwMode="auto">
          <a:xfrm>
            <a:off x="3137408" y="4769436"/>
            <a:ext cx="4347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P2</a:t>
            </a:r>
          </a:p>
        </p:txBody>
      </p:sp>
      <p:sp>
        <p:nvSpPr>
          <p:cNvPr id="32" name="Right Brace 31"/>
          <p:cNvSpPr/>
          <p:nvPr/>
        </p:nvSpPr>
        <p:spPr>
          <a:xfrm rot="16200000">
            <a:off x="1476375" y="1647825"/>
            <a:ext cx="247650" cy="1066800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44073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9" grpId="0" animBg="1"/>
      <p:bldP spid="31" grpId="0" animBg="1"/>
      <p:bldP spid="1954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740"/>
            <a:ext cx="9144000" cy="16489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72414"/>
            <a:ext cx="9144000" cy="20839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4" y="2327867"/>
            <a:ext cx="9144000" cy="20839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999010" y="2445716"/>
            <a:ext cx="6914222" cy="376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92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MF for </a:t>
            </a:r>
            <a:r>
              <a:rPr lang="en-US"/>
              <a:t>modeling text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69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Box 3"/>
          <p:cNvSpPr txBox="1">
            <a:spLocks noChangeArrowheads="1"/>
          </p:cNvSpPr>
          <p:nvPr/>
        </p:nvSpPr>
        <p:spPr bwMode="auto">
          <a:xfrm>
            <a:off x="457200" y="304800"/>
            <a:ext cx="80772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2400"/>
              <a:t>The Neatest Little Guide to Stock Market Investing</a:t>
            </a:r>
          </a:p>
          <a:p>
            <a:pPr eaLnBrk="1" hangingPunct="1">
              <a:buFont typeface="Arial" charset="0"/>
              <a:buChar char="•"/>
            </a:pPr>
            <a:r>
              <a:rPr lang="en-US" sz="2400"/>
              <a:t>Investing For Dummies, 4th Edition</a:t>
            </a:r>
          </a:p>
          <a:p>
            <a:pPr eaLnBrk="1" hangingPunct="1">
              <a:buFont typeface="Arial" charset="0"/>
              <a:buChar char="•"/>
            </a:pPr>
            <a:r>
              <a:rPr lang="en-US" sz="2400"/>
              <a:t>The Little Book of Common Sense Investing: The Only Way to Guarantee Your Fair Share of Stock Market Returns</a:t>
            </a:r>
          </a:p>
          <a:p>
            <a:pPr eaLnBrk="1" hangingPunct="1">
              <a:buFont typeface="Arial" charset="0"/>
              <a:buChar char="•"/>
            </a:pPr>
            <a:r>
              <a:rPr lang="en-US" sz="2400"/>
              <a:t>The Little Book of Value Investing</a:t>
            </a:r>
          </a:p>
          <a:p>
            <a:pPr eaLnBrk="1" hangingPunct="1">
              <a:buFont typeface="Arial" charset="0"/>
              <a:buChar char="•"/>
            </a:pPr>
            <a:r>
              <a:rPr lang="en-US" sz="2400"/>
              <a:t>Value Investing: From Graham to Buffett and Beyond</a:t>
            </a:r>
          </a:p>
          <a:p>
            <a:pPr eaLnBrk="1" hangingPunct="1">
              <a:buFont typeface="Arial" charset="0"/>
              <a:buChar char="•"/>
            </a:pPr>
            <a:r>
              <a:rPr lang="en-US" sz="2400"/>
              <a:t>Rich Dad’s Guide to Investing: What the Rich Invest in, That the Poor and the Middle Class Do Not!</a:t>
            </a:r>
          </a:p>
          <a:p>
            <a:pPr eaLnBrk="1" hangingPunct="1">
              <a:buFont typeface="Arial" charset="0"/>
              <a:buChar char="•"/>
            </a:pPr>
            <a:r>
              <a:rPr lang="en-US" sz="2400"/>
              <a:t>Investing in Real Estate, 5th Edition</a:t>
            </a:r>
          </a:p>
          <a:p>
            <a:pPr eaLnBrk="1" hangingPunct="1">
              <a:buFont typeface="Arial" charset="0"/>
              <a:buChar char="•"/>
            </a:pPr>
            <a:r>
              <a:rPr lang="en-US" sz="2400"/>
              <a:t>Stock Investing For Dummies</a:t>
            </a:r>
          </a:p>
          <a:p>
            <a:pPr eaLnBrk="1" hangingPunct="1">
              <a:buFont typeface="Arial" charset="0"/>
              <a:buChar char="•"/>
            </a:pPr>
            <a:r>
              <a:rPr lang="en-US" sz="2400"/>
              <a:t>Rich Dad’s Advisors: The ABC’s of Real Estate Investing: The Secrets of Finding Hidden Profits Most Investors Miss</a:t>
            </a:r>
          </a:p>
        </p:txBody>
      </p:sp>
      <p:sp>
        <p:nvSpPr>
          <p:cNvPr id="25602" name="TextBox 4"/>
          <p:cNvSpPr txBox="1">
            <a:spLocks noChangeArrowheads="1"/>
          </p:cNvSpPr>
          <p:nvPr/>
        </p:nvSpPr>
        <p:spPr bwMode="auto">
          <a:xfrm>
            <a:off x="1538288" y="6261100"/>
            <a:ext cx="760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https://technowiki.wordpress.com/2011/08/27/latent-semantic-analysis-lsa-tutorial/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63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Box 4"/>
          <p:cNvSpPr txBox="1">
            <a:spLocks noChangeArrowheads="1"/>
          </p:cNvSpPr>
          <p:nvPr/>
        </p:nvSpPr>
        <p:spPr bwMode="auto">
          <a:xfrm>
            <a:off x="1538288" y="6261100"/>
            <a:ext cx="76057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https://technowiki.wordpress.com/2011/08/27/latent-semantic-analysis-lsa-tutorial/</a:t>
            </a:r>
          </a:p>
          <a:p>
            <a:pPr eaLnBrk="1" hangingPunct="1"/>
            <a:endParaRPr lang="en-US"/>
          </a:p>
        </p:txBody>
      </p:sp>
      <p:pic>
        <p:nvPicPr>
          <p:cNvPr id="2765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98488"/>
            <a:ext cx="68580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316004" y="85774"/>
            <a:ext cx="303321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TFIDF counts would be better</a:t>
            </a:r>
          </a:p>
        </p:txBody>
      </p:sp>
    </p:spTree>
    <p:extLst>
      <p:ext uri="{BB962C8B-B14F-4D97-AF65-F5344CB8AC3E}">
        <p14:creationId xmlns:p14="http://schemas.microsoft.com/office/powerpoint/2010/main" val="29402684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Recovering latent factors in a matrix</a:t>
            </a:r>
          </a:p>
        </p:txBody>
      </p:sp>
      <p:sp>
        <p:nvSpPr>
          <p:cNvPr id="5" name="Double Bracket 4"/>
          <p:cNvSpPr/>
          <p:nvPr/>
        </p:nvSpPr>
        <p:spPr>
          <a:xfrm>
            <a:off x="1102322" y="2415292"/>
            <a:ext cx="1093576" cy="2880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/>
          <p:cNvSpPr/>
          <p:nvPr/>
        </p:nvSpPr>
        <p:spPr>
          <a:xfrm>
            <a:off x="2819117" y="2403533"/>
            <a:ext cx="2304742" cy="72901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y 6"/>
          <p:cNvSpPr/>
          <p:nvPr/>
        </p:nvSpPr>
        <p:spPr>
          <a:xfrm>
            <a:off x="2307604" y="2650462"/>
            <a:ext cx="223418" cy="282198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qual 7"/>
          <p:cNvSpPr/>
          <p:nvPr/>
        </p:nvSpPr>
        <p:spPr>
          <a:xfrm>
            <a:off x="5325152" y="2509361"/>
            <a:ext cx="280822" cy="282202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6015666" y="2415291"/>
            <a:ext cx="2544802" cy="288077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04146" y="1575624"/>
            <a:ext cx="972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dirty="0"/>
              <a:t> terms</a:t>
            </a:r>
          </a:p>
        </p:txBody>
      </p:sp>
      <p:sp>
        <p:nvSpPr>
          <p:cNvPr id="11" name="Right Brace 10"/>
          <p:cNvSpPr/>
          <p:nvPr/>
        </p:nvSpPr>
        <p:spPr>
          <a:xfrm rot="16200000">
            <a:off x="3809297" y="983161"/>
            <a:ext cx="324381" cy="230474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-508933" y="3652969"/>
            <a:ext cx="1395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</a:t>
            </a:r>
            <a:r>
              <a:rPr lang="en-US" dirty="0"/>
              <a:t>documents</a:t>
            </a:r>
          </a:p>
        </p:txBody>
      </p:sp>
      <p:sp>
        <p:nvSpPr>
          <p:cNvPr id="13" name="Right Brace 12"/>
          <p:cNvSpPr/>
          <p:nvPr/>
        </p:nvSpPr>
        <p:spPr>
          <a:xfrm rot="16200000">
            <a:off x="7172711" y="938351"/>
            <a:ext cx="352767" cy="2422747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 rot="10800000">
            <a:off x="457200" y="2415292"/>
            <a:ext cx="324382" cy="289253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901998" y="1543358"/>
            <a:ext cx="1615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doc term matrix</a:t>
            </a:r>
            <a:endParaRPr lang="en-US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22924" y="2509361"/>
          <a:ext cx="972974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xn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yn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902118" y="246708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bm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55310" y="256600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55310" y="3341807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vij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55310" y="4654902"/>
          <a:ext cx="217581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vnm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261222" y="2111144"/>
            <a:ext cx="4283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~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23859" y="5506328"/>
            <a:ext cx="373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V[</a:t>
            </a:r>
            <a:r>
              <a:rPr lang="en-US" dirty="0" err="1"/>
              <a:t>i,j</a:t>
            </a:r>
            <a:r>
              <a:rPr lang="en-US" dirty="0"/>
              <a:t>] = TFIDF score of term j in doc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208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80"/>
          <a:stretch/>
        </p:blipFill>
        <p:spPr bwMode="auto">
          <a:xfrm>
            <a:off x="5597227" y="2283174"/>
            <a:ext cx="2681025" cy="234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0" r="-29320" b="32871"/>
          <a:stretch/>
        </p:blipFill>
        <p:spPr bwMode="auto">
          <a:xfrm>
            <a:off x="482114" y="401397"/>
            <a:ext cx="9144000" cy="1573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84577" y="1434507"/>
            <a:ext cx="3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62635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0"/>
            <a:ext cx="908843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ular Callout 1"/>
          <p:cNvSpPr/>
          <p:nvPr/>
        </p:nvSpPr>
        <p:spPr>
          <a:xfrm>
            <a:off x="1610968" y="846595"/>
            <a:ext cx="1681520" cy="1058243"/>
          </a:xfrm>
          <a:prstGeom prst="wedgeRectCallout">
            <a:avLst>
              <a:gd name="adj1" fmla="val 148397"/>
              <a:gd name="adj2" fmla="val -4305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Investing for real estate</a:t>
            </a:r>
          </a:p>
        </p:txBody>
      </p:sp>
      <p:sp>
        <p:nvSpPr>
          <p:cNvPr id="4" name="Rectangular Callout 3"/>
          <p:cNvSpPr/>
          <p:nvPr/>
        </p:nvSpPr>
        <p:spPr>
          <a:xfrm>
            <a:off x="4056350" y="2574600"/>
            <a:ext cx="1681520" cy="1493755"/>
          </a:xfrm>
          <a:prstGeom prst="wedgeRectCallout">
            <a:avLst>
              <a:gd name="adj1" fmla="val 133712"/>
              <a:gd name="adj2" fmla="val -9194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Rich Dad’s Advisor’s:  The ABCs of Real Estate Investment …</a:t>
            </a:r>
          </a:p>
        </p:txBody>
      </p:sp>
    </p:spTree>
    <p:extLst>
      <p:ext uri="{BB962C8B-B14F-4D97-AF65-F5344CB8AC3E}">
        <p14:creationId xmlns:p14="http://schemas.microsoft.com/office/powerpoint/2010/main" val="110623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0"/>
            <a:ext cx="908843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ular Callout 1"/>
          <p:cNvSpPr/>
          <p:nvPr/>
        </p:nvSpPr>
        <p:spPr>
          <a:xfrm>
            <a:off x="1610968" y="846595"/>
            <a:ext cx="1681520" cy="1058243"/>
          </a:xfrm>
          <a:prstGeom prst="wedgeRectCallout">
            <a:avLst>
              <a:gd name="adj1" fmla="val -27827"/>
              <a:gd name="adj2" fmla="val 2491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little book of common sense investing: …</a:t>
            </a:r>
          </a:p>
        </p:txBody>
      </p:sp>
      <p:sp>
        <p:nvSpPr>
          <p:cNvPr id="4" name="Rectangular Callout 3"/>
          <p:cNvSpPr/>
          <p:nvPr/>
        </p:nvSpPr>
        <p:spPr>
          <a:xfrm>
            <a:off x="4162180" y="3079290"/>
            <a:ext cx="1681520" cy="1493755"/>
          </a:xfrm>
          <a:prstGeom prst="wedgeRectCallout">
            <a:avLst>
              <a:gd name="adj1" fmla="val -112442"/>
              <a:gd name="adj2" fmla="val 8044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Neatest Little Guide to Stock Market Investing</a:t>
            </a:r>
          </a:p>
        </p:txBody>
      </p:sp>
    </p:spTree>
    <p:extLst>
      <p:ext uri="{BB962C8B-B14F-4D97-AF65-F5344CB8AC3E}">
        <p14:creationId xmlns:p14="http://schemas.microsoft.com/office/powerpoint/2010/main" val="220003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MF is like clustering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423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i="1" dirty="0"/>
              <a:t>k</a:t>
            </a:r>
            <a:r>
              <a:rPr lang="en-US" dirty="0"/>
              <a:t>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 EM-like algorithm:</a:t>
            </a:r>
          </a:p>
          <a:p>
            <a:r>
              <a:rPr lang="en-US" dirty="0"/>
              <a:t>Initialize </a:t>
            </a:r>
            <a:r>
              <a:rPr lang="en-US" i="1" dirty="0">
                <a:latin typeface="Times New Roman" pitchFamily="18" charset="0"/>
              </a:rPr>
              <a:t>k</a:t>
            </a:r>
            <a:r>
              <a:rPr lang="en-US" dirty="0"/>
              <a:t> cluster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E-step: associate each data instance with the closest </a:t>
            </a:r>
            <a:r>
              <a:rPr lang="en-US" dirty="0" err="1"/>
              <a:t>centroid</a:t>
            </a:r>
            <a:endParaRPr lang="en-US" dirty="0"/>
          </a:p>
          <a:p>
            <a:pPr lvl="1"/>
            <a:r>
              <a:rPr lang="en-US" dirty="0"/>
              <a:t>Find expected values of cluster assignments given the data and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M-step: recalculate </a:t>
            </a:r>
            <a:r>
              <a:rPr lang="en-US" dirty="0" err="1"/>
              <a:t>centroids</a:t>
            </a:r>
            <a:r>
              <a:rPr lang="en-US" dirty="0"/>
              <a:t> as an average of the associated data instances</a:t>
            </a:r>
          </a:p>
          <a:p>
            <a:pPr lvl="1"/>
            <a:r>
              <a:rPr lang="en-US" dirty="0"/>
              <a:t>Find new </a:t>
            </a:r>
            <a:r>
              <a:rPr lang="en-US" dirty="0" err="1"/>
              <a:t>centroids</a:t>
            </a:r>
            <a:r>
              <a:rPr lang="en-US" dirty="0"/>
              <a:t> that maximize that expectation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674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Clustering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23622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3429000" y="175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2590800" y="1676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35814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6248400" y="2971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5638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41148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2209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3124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34290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2819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38100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5867400" y="2895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57912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4343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2438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36576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31242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28194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3733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5943600" y="236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5181600" y="3048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4114800" y="2438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22098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3429000" y="4191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289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2590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37338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670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5791200" y="3810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4191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/>
          <p:nvPr/>
        </p:nvSpPr>
        <p:spPr>
          <a:xfrm>
            <a:off x="24384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3429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31242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38862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/>
          <p:nvPr/>
        </p:nvSpPr>
        <p:spPr>
          <a:xfrm>
            <a:off x="6400800" y="213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/>
          <p:nvPr/>
        </p:nvSpPr>
        <p:spPr>
          <a:xfrm>
            <a:off x="58674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/>
          <p:nvPr/>
        </p:nvSpPr>
        <p:spPr>
          <a:xfrm>
            <a:off x="5943600" y="3352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2438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32766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3200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28194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37338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61722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65532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>
            <a:off x="3276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>
            <a:off x="4800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>
            <a:off x="38862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58674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>
            <a:off x="44196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5181600" y="4724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51054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4724400" y="617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5181600" y="533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5486400" y="594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42672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49530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5410200" y="556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5638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4876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5943600" y="4876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2743200" y="3886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5029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 rot="21407003">
            <a:off x="1978867" y="1140656"/>
            <a:ext cx="2768645" cy="3196723"/>
          </a:xfrm>
          <a:prstGeom prst="ellipse">
            <a:avLst/>
          </a:prstGeom>
          <a:noFill/>
          <a:ln w="38100">
            <a:solidFill>
              <a:srgbClr val="CC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 rot="223987">
            <a:off x="5102132" y="1776204"/>
            <a:ext cx="1785562" cy="2244747"/>
          </a:xfrm>
          <a:prstGeom prst="ellipse">
            <a:avLst/>
          </a:prstGeom>
          <a:noFill/>
          <a:ln w="38100">
            <a:solidFill>
              <a:srgbClr val="CC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 rot="5400000">
            <a:off x="3787430" y="4061170"/>
            <a:ext cx="1797737" cy="2819401"/>
          </a:xfrm>
          <a:prstGeom prst="ellipse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5867400" y="4267200"/>
            <a:ext cx="1219200" cy="306467"/>
          </a:xfrm>
          <a:prstGeom prst="wedgeRoundRectCallout">
            <a:avLst>
              <a:gd name="adj1" fmla="val -35126"/>
              <a:gd name="adj2" fmla="val 151355"/>
              <a:gd name="adj3" fmla="val 16667"/>
            </a:avLst>
          </a:prstGeom>
          <a:noFill/>
          <a:ln w="38100">
            <a:solidFill>
              <a:schemeClr val="accent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841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3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1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500" fill="hold"/>
                                        <p:tgtEl>
                                          <p:spTgt spid="13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1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5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6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7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29325E-6 L 0.03334 -0.12211 " pathEditMode="relative" rAng="0" ptsTypes="AA">
                                      <p:cBhvr>
                                        <p:cTn id="27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" y="-6100"/>
                                    </p:animMotion>
                                  </p:childTnLst>
                                </p:cTn>
                              </p:par>
                              <p:par>
                                <p:cTn id="27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03334 0.02223 " pathEditMode="relative" rAng="0" ptsTypes="AA">
                                      <p:cBhvr>
                                        <p:cTn id="27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" y="1100"/>
                                    </p:animMotion>
                                  </p:childTnLst>
                                </p:cTn>
                              </p:par>
                              <p:par>
                                <p:cTn id="27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0.08333 0.06667 " pathEditMode="relative" rAng="0" ptsTypes="AA">
                                      <p:cBhvr>
                                        <p:cTn id="27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00" y="3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8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8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1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  <p:set>
                                      <p:cBhvr>
                                        <p:cTn id="31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32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333 0.06667 L -0.125 0.07778 " pathEditMode="relative" rAng="0" ptsTypes="AA">
                                      <p:cBhvr>
                                        <p:cTn id="32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0" y="600"/>
                                    </p:animMotion>
                                  </p:childTnLst>
                                </p:cTn>
                              </p:par>
                              <p:par>
                                <p:cTn id="330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34 0.02223 L 0.09167 0.06667 " pathEditMode="relative" rAng="0" ptsTypes="AA">
                                      <p:cBhvr>
                                        <p:cTn id="33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0" y="2200"/>
                                    </p:animMotion>
                                  </p:childTnLst>
                                </p:cTn>
                              </p:par>
                              <p:par>
                                <p:cTn id="332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34 -0.12222 L 0.05834 -0.17778 " pathEditMode="relative" rAng="0" ptsTypes="AA">
                                      <p:cBhvr>
                                        <p:cTn id="33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" y="-2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3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34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7" grpId="1" animBg="1"/>
      <p:bldP spid="137" grpId="2" animBg="1"/>
      <p:bldP spid="118" grpId="0" animBg="1"/>
      <p:bldP spid="118" grpId="1" animBg="1"/>
      <p:bldP spid="118" grpId="2" animBg="1"/>
      <p:bldP spid="130" grpId="0" animBg="1"/>
      <p:bldP spid="130" grpId="1" animBg="1"/>
      <p:bldP spid="130" grpId="2" animBg="1"/>
      <p:bldP spid="147" grpId="0" animBg="1"/>
      <p:bldP spid="148" grpId="0" animBg="1"/>
      <p:bldP spid="149" grpId="0" animBg="1"/>
      <p:bldP spid="70" grpId="0" animBg="1"/>
      <p:bldP spid="70" grpId="1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Parallelizing </a:t>
            </a:r>
            <a:r>
              <a:rPr lang="en-US" i="1" dirty="0"/>
              <a:t>k</a:t>
            </a:r>
            <a:r>
              <a:rPr lang="en-US" dirty="0"/>
              <a:t>-means</a:t>
            </a:r>
          </a:p>
        </p:txBody>
      </p:sp>
      <p:sp>
        <p:nvSpPr>
          <p:cNvPr id="50" name="Oval 49"/>
          <p:cNvSpPr/>
          <p:nvPr/>
        </p:nvSpPr>
        <p:spPr>
          <a:xfrm>
            <a:off x="23622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3429000" y="175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30480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28194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/>
          <p:cNvSpPr/>
          <p:nvPr/>
        </p:nvSpPr>
        <p:spPr>
          <a:xfrm>
            <a:off x="35814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/>
          <p:cNvSpPr/>
          <p:nvPr/>
        </p:nvSpPr>
        <p:spPr>
          <a:xfrm>
            <a:off x="6248400" y="2971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/>
          <p:cNvSpPr/>
          <p:nvPr/>
        </p:nvSpPr>
        <p:spPr>
          <a:xfrm>
            <a:off x="5638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/>
          <p:cNvSpPr/>
          <p:nvPr/>
        </p:nvSpPr>
        <p:spPr>
          <a:xfrm>
            <a:off x="41148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/>
          <p:cNvSpPr/>
          <p:nvPr/>
        </p:nvSpPr>
        <p:spPr>
          <a:xfrm>
            <a:off x="2209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/>
          <p:cNvSpPr/>
          <p:nvPr/>
        </p:nvSpPr>
        <p:spPr>
          <a:xfrm>
            <a:off x="3124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/>
          <p:cNvSpPr/>
          <p:nvPr/>
        </p:nvSpPr>
        <p:spPr>
          <a:xfrm>
            <a:off x="34290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/>
          <p:cNvSpPr/>
          <p:nvPr/>
        </p:nvSpPr>
        <p:spPr>
          <a:xfrm>
            <a:off x="2819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/>
          <p:cNvSpPr/>
          <p:nvPr/>
        </p:nvSpPr>
        <p:spPr>
          <a:xfrm>
            <a:off x="38100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/>
          <p:cNvSpPr/>
          <p:nvPr/>
        </p:nvSpPr>
        <p:spPr>
          <a:xfrm>
            <a:off x="5867400" y="2895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/>
          <p:cNvSpPr/>
          <p:nvPr/>
        </p:nvSpPr>
        <p:spPr>
          <a:xfrm>
            <a:off x="57912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/>
          <p:cNvSpPr/>
          <p:nvPr/>
        </p:nvSpPr>
        <p:spPr>
          <a:xfrm>
            <a:off x="4343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/>
          <p:cNvSpPr/>
          <p:nvPr/>
        </p:nvSpPr>
        <p:spPr>
          <a:xfrm>
            <a:off x="2438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/>
          <p:cNvSpPr/>
          <p:nvPr/>
        </p:nvSpPr>
        <p:spPr>
          <a:xfrm>
            <a:off x="36576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/>
          <p:cNvSpPr/>
          <p:nvPr/>
        </p:nvSpPr>
        <p:spPr>
          <a:xfrm>
            <a:off x="31242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/>
          <p:cNvSpPr/>
          <p:nvPr/>
        </p:nvSpPr>
        <p:spPr>
          <a:xfrm>
            <a:off x="28194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/>
          <p:cNvSpPr/>
          <p:nvPr/>
        </p:nvSpPr>
        <p:spPr>
          <a:xfrm>
            <a:off x="3733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/>
          <p:cNvSpPr/>
          <p:nvPr/>
        </p:nvSpPr>
        <p:spPr>
          <a:xfrm>
            <a:off x="5943600" y="236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/>
          <p:cNvSpPr/>
          <p:nvPr/>
        </p:nvSpPr>
        <p:spPr>
          <a:xfrm>
            <a:off x="5181600" y="3048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/>
          <p:cNvSpPr/>
          <p:nvPr/>
        </p:nvSpPr>
        <p:spPr>
          <a:xfrm>
            <a:off x="4114800" y="2438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/>
          <p:cNvSpPr/>
          <p:nvPr/>
        </p:nvSpPr>
        <p:spPr>
          <a:xfrm>
            <a:off x="22098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/>
          <p:cNvSpPr/>
          <p:nvPr/>
        </p:nvSpPr>
        <p:spPr>
          <a:xfrm>
            <a:off x="3429000" y="4191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/>
          <p:cNvSpPr/>
          <p:nvPr/>
        </p:nvSpPr>
        <p:spPr>
          <a:xfrm>
            <a:off x="289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/>
          <p:cNvSpPr/>
          <p:nvPr/>
        </p:nvSpPr>
        <p:spPr>
          <a:xfrm>
            <a:off x="2590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/>
          <p:cNvSpPr/>
          <p:nvPr/>
        </p:nvSpPr>
        <p:spPr>
          <a:xfrm>
            <a:off x="37338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/>
          <p:cNvSpPr/>
          <p:nvPr/>
        </p:nvSpPr>
        <p:spPr>
          <a:xfrm>
            <a:off x="670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/>
          <p:cNvSpPr/>
          <p:nvPr/>
        </p:nvSpPr>
        <p:spPr>
          <a:xfrm>
            <a:off x="57150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/>
          <p:cNvSpPr/>
          <p:nvPr/>
        </p:nvSpPr>
        <p:spPr>
          <a:xfrm>
            <a:off x="4191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/>
          <p:cNvSpPr/>
          <p:nvPr/>
        </p:nvSpPr>
        <p:spPr>
          <a:xfrm>
            <a:off x="24384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/>
          <p:cNvSpPr/>
          <p:nvPr/>
        </p:nvSpPr>
        <p:spPr>
          <a:xfrm>
            <a:off x="3429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/>
          <p:cNvSpPr/>
          <p:nvPr/>
        </p:nvSpPr>
        <p:spPr>
          <a:xfrm>
            <a:off x="31242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/>
          <p:cNvSpPr/>
          <p:nvPr/>
        </p:nvSpPr>
        <p:spPr>
          <a:xfrm>
            <a:off x="2743200" y="3886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/>
          <p:cNvSpPr/>
          <p:nvPr/>
        </p:nvSpPr>
        <p:spPr>
          <a:xfrm>
            <a:off x="38862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/>
          <p:cNvSpPr/>
          <p:nvPr/>
        </p:nvSpPr>
        <p:spPr>
          <a:xfrm>
            <a:off x="6400800" y="213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/>
          <p:cNvSpPr/>
          <p:nvPr/>
        </p:nvSpPr>
        <p:spPr>
          <a:xfrm>
            <a:off x="58674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/>
          <p:cNvSpPr/>
          <p:nvPr/>
        </p:nvSpPr>
        <p:spPr>
          <a:xfrm>
            <a:off x="5943600" y="3352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/>
          <p:cNvSpPr/>
          <p:nvPr/>
        </p:nvSpPr>
        <p:spPr>
          <a:xfrm>
            <a:off x="2438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/>
          <p:cNvSpPr/>
          <p:nvPr/>
        </p:nvSpPr>
        <p:spPr>
          <a:xfrm>
            <a:off x="32766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/>
          <p:cNvSpPr/>
          <p:nvPr/>
        </p:nvSpPr>
        <p:spPr>
          <a:xfrm>
            <a:off x="3200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/>
          <p:cNvSpPr/>
          <p:nvPr/>
        </p:nvSpPr>
        <p:spPr>
          <a:xfrm>
            <a:off x="28194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/>
          <p:cNvSpPr/>
          <p:nvPr/>
        </p:nvSpPr>
        <p:spPr>
          <a:xfrm>
            <a:off x="37338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/>
          <p:cNvSpPr/>
          <p:nvPr/>
        </p:nvSpPr>
        <p:spPr>
          <a:xfrm>
            <a:off x="61722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/>
          <p:cNvSpPr/>
          <p:nvPr/>
        </p:nvSpPr>
        <p:spPr>
          <a:xfrm>
            <a:off x="6553200" y="3276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/>
          <p:cNvSpPr/>
          <p:nvPr/>
        </p:nvSpPr>
        <p:spPr>
          <a:xfrm>
            <a:off x="5029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/>
          <p:cNvSpPr/>
          <p:nvPr/>
        </p:nvSpPr>
        <p:spPr>
          <a:xfrm>
            <a:off x="3276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/>
          <p:cNvSpPr/>
          <p:nvPr/>
        </p:nvSpPr>
        <p:spPr>
          <a:xfrm>
            <a:off x="4800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/>
          <p:cNvSpPr/>
          <p:nvPr/>
        </p:nvSpPr>
        <p:spPr>
          <a:xfrm>
            <a:off x="38862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/>
          <p:cNvSpPr/>
          <p:nvPr/>
        </p:nvSpPr>
        <p:spPr>
          <a:xfrm>
            <a:off x="58674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/>
          <p:cNvSpPr/>
          <p:nvPr/>
        </p:nvSpPr>
        <p:spPr>
          <a:xfrm>
            <a:off x="44196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/>
          <p:cNvSpPr/>
          <p:nvPr/>
        </p:nvSpPr>
        <p:spPr>
          <a:xfrm>
            <a:off x="5181600" y="4724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/>
          <p:cNvSpPr/>
          <p:nvPr/>
        </p:nvSpPr>
        <p:spPr>
          <a:xfrm>
            <a:off x="5943600" y="4876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/>
          <p:cNvSpPr/>
          <p:nvPr/>
        </p:nvSpPr>
        <p:spPr>
          <a:xfrm>
            <a:off x="51054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/>
          <p:cNvSpPr/>
          <p:nvPr/>
        </p:nvSpPr>
        <p:spPr>
          <a:xfrm>
            <a:off x="4724400" y="617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/>
          <p:cNvSpPr/>
          <p:nvPr/>
        </p:nvSpPr>
        <p:spPr>
          <a:xfrm>
            <a:off x="5181600" y="533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/>
          <p:cNvSpPr/>
          <p:nvPr/>
        </p:nvSpPr>
        <p:spPr>
          <a:xfrm>
            <a:off x="5486400" y="594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/>
          <p:cNvSpPr/>
          <p:nvPr/>
        </p:nvSpPr>
        <p:spPr>
          <a:xfrm>
            <a:off x="42672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/>
          <p:cNvSpPr/>
          <p:nvPr/>
        </p:nvSpPr>
        <p:spPr>
          <a:xfrm>
            <a:off x="49530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/>
          <p:cNvSpPr/>
          <p:nvPr/>
        </p:nvSpPr>
        <p:spPr>
          <a:xfrm>
            <a:off x="5410200" y="556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/>
          <p:cNvSpPr/>
          <p:nvPr/>
        </p:nvSpPr>
        <p:spPr>
          <a:xfrm>
            <a:off x="5638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/>
          <p:cNvSpPr/>
          <p:nvPr/>
        </p:nvSpPr>
        <p:spPr>
          <a:xfrm>
            <a:off x="4876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536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33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3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500" fill="hold"/>
                                        <p:tgtEl>
                                          <p:spTgt spid="34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" grpId="0" animBg="1"/>
      <p:bldP spid="339" grpId="0" animBg="1"/>
      <p:bldP spid="34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1828800" y="1143000"/>
            <a:ext cx="5486400" cy="5486400"/>
            <a:chOff x="1828800" y="1143000"/>
            <a:chExt cx="5486400" cy="5486400"/>
          </a:xfrm>
        </p:grpSpPr>
        <p:sp>
          <p:nvSpPr>
            <p:cNvPr id="91" name="Oval 90"/>
            <p:cNvSpPr/>
            <p:nvPr/>
          </p:nvSpPr>
          <p:spPr>
            <a:xfrm>
              <a:off x="3429000" y="1752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3048000" y="182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/>
            <p:cNvSpPr/>
            <p:nvPr/>
          </p:nvSpPr>
          <p:spPr>
            <a:xfrm>
              <a:off x="4114800" y="152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Oval 302"/>
            <p:cNvSpPr/>
            <p:nvPr/>
          </p:nvSpPr>
          <p:spPr>
            <a:xfrm>
              <a:off x="2819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/>
            <p:cNvSpPr/>
            <p:nvPr/>
          </p:nvSpPr>
          <p:spPr>
            <a:xfrm>
              <a:off x="38100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/>
            <p:cNvSpPr/>
            <p:nvPr/>
          </p:nvSpPr>
          <p:spPr>
            <a:xfrm>
              <a:off x="5867400" y="2895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/>
            <p:cNvSpPr/>
            <p:nvPr/>
          </p:nvSpPr>
          <p:spPr>
            <a:xfrm>
              <a:off x="2438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/>
            <p:cNvSpPr/>
            <p:nvPr/>
          </p:nvSpPr>
          <p:spPr>
            <a:xfrm>
              <a:off x="31242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Oval 311"/>
            <p:cNvSpPr/>
            <p:nvPr/>
          </p:nvSpPr>
          <p:spPr>
            <a:xfrm>
              <a:off x="37338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Oval 312"/>
            <p:cNvSpPr/>
            <p:nvPr/>
          </p:nvSpPr>
          <p:spPr>
            <a:xfrm>
              <a:off x="5943600" y="2362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Oval 313"/>
            <p:cNvSpPr/>
            <p:nvPr/>
          </p:nvSpPr>
          <p:spPr>
            <a:xfrm>
              <a:off x="5181600" y="3048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Oval 318"/>
            <p:cNvSpPr/>
            <p:nvPr/>
          </p:nvSpPr>
          <p:spPr>
            <a:xfrm>
              <a:off x="25908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/>
            <p:cNvSpPr/>
            <p:nvPr/>
          </p:nvSpPr>
          <p:spPr>
            <a:xfrm>
              <a:off x="37338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/>
            <p:cNvSpPr/>
            <p:nvPr/>
          </p:nvSpPr>
          <p:spPr>
            <a:xfrm>
              <a:off x="67056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/>
            <p:cNvSpPr/>
            <p:nvPr/>
          </p:nvSpPr>
          <p:spPr>
            <a:xfrm>
              <a:off x="41910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Oval 323"/>
            <p:cNvSpPr/>
            <p:nvPr/>
          </p:nvSpPr>
          <p:spPr>
            <a:xfrm>
              <a:off x="24384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/>
            <p:cNvSpPr/>
            <p:nvPr/>
          </p:nvSpPr>
          <p:spPr>
            <a:xfrm>
              <a:off x="31242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/>
            <p:cNvSpPr/>
            <p:nvPr/>
          </p:nvSpPr>
          <p:spPr>
            <a:xfrm>
              <a:off x="5943600" y="3352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/>
            <p:cNvSpPr/>
            <p:nvPr/>
          </p:nvSpPr>
          <p:spPr>
            <a:xfrm>
              <a:off x="2438400" y="3429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/>
            <p:cNvSpPr/>
            <p:nvPr/>
          </p:nvSpPr>
          <p:spPr>
            <a:xfrm>
              <a:off x="3200400" y="3429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/>
            <p:cNvSpPr/>
            <p:nvPr/>
          </p:nvSpPr>
          <p:spPr>
            <a:xfrm>
              <a:off x="3733800" y="3505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/>
            <p:cNvSpPr/>
            <p:nvPr/>
          </p:nvSpPr>
          <p:spPr>
            <a:xfrm>
              <a:off x="61722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/>
            <p:cNvSpPr/>
            <p:nvPr/>
          </p:nvSpPr>
          <p:spPr>
            <a:xfrm>
              <a:off x="3276600" y="541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/>
            <p:cNvSpPr/>
            <p:nvPr/>
          </p:nvSpPr>
          <p:spPr>
            <a:xfrm>
              <a:off x="4800600" y="541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Oval 342"/>
            <p:cNvSpPr/>
            <p:nvPr/>
          </p:nvSpPr>
          <p:spPr>
            <a:xfrm>
              <a:off x="58674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/>
            <p:cNvSpPr/>
            <p:nvPr/>
          </p:nvSpPr>
          <p:spPr>
            <a:xfrm>
              <a:off x="4419600" y="5105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/>
            <p:cNvSpPr/>
            <p:nvPr/>
          </p:nvSpPr>
          <p:spPr>
            <a:xfrm>
              <a:off x="5181600" y="4724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/>
            <p:cNvSpPr/>
            <p:nvPr/>
          </p:nvSpPr>
          <p:spPr>
            <a:xfrm>
              <a:off x="5181600" y="533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/>
            <p:cNvSpPr/>
            <p:nvPr/>
          </p:nvSpPr>
          <p:spPr>
            <a:xfrm>
              <a:off x="5486400" y="5943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/>
            <p:cNvSpPr/>
            <p:nvPr/>
          </p:nvSpPr>
          <p:spPr>
            <a:xfrm>
              <a:off x="42672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828800" y="1143000"/>
              <a:ext cx="5486400" cy="5486400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2703489" y="384904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4992392" y="2185491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5906792" y="486978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Parallelizing </a:t>
            </a:r>
            <a:r>
              <a:rPr lang="en-US" i="1" dirty="0"/>
              <a:t>k</a:t>
            </a:r>
            <a:r>
              <a:rPr lang="en-US" dirty="0"/>
              <a:t>-means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1828800" y="1143000"/>
            <a:ext cx="5486400" cy="5486400"/>
            <a:chOff x="1828800" y="1143000"/>
            <a:chExt cx="5486400" cy="5486400"/>
          </a:xfrm>
        </p:grpSpPr>
        <p:sp>
          <p:nvSpPr>
            <p:cNvPr id="293" name="Rectangle 292"/>
            <p:cNvSpPr/>
            <p:nvPr/>
          </p:nvSpPr>
          <p:spPr>
            <a:xfrm>
              <a:off x="1828800" y="1143000"/>
              <a:ext cx="5486400" cy="5486400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2362200" y="160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2819400" y="152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/>
            <p:cNvSpPr/>
            <p:nvPr/>
          </p:nvSpPr>
          <p:spPr>
            <a:xfrm>
              <a:off x="3581400" y="160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/>
            <p:cNvSpPr/>
            <p:nvPr/>
          </p:nvSpPr>
          <p:spPr>
            <a:xfrm>
              <a:off x="6248400" y="2971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/>
            <p:cNvSpPr/>
            <p:nvPr/>
          </p:nvSpPr>
          <p:spPr>
            <a:xfrm>
              <a:off x="56388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/>
            <p:cNvSpPr/>
            <p:nvPr/>
          </p:nvSpPr>
          <p:spPr>
            <a:xfrm>
              <a:off x="22098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/>
            <p:cNvSpPr/>
            <p:nvPr/>
          </p:nvSpPr>
          <p:spPr>
            <a:xfrm>
              <a:off x="3124200" y="2209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/>
            <p:cNvSpPr/>
            <p:nvPr/>
          </p:nvSpPr>
          <p:spPr>
            <a:xfrm>
              <a:off x="34290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/>
            <p:cNvSpPr/>
            <p:nvPr/>
          </p:nvSpPr>
          <p:spPr>
            <a:xfrm>
              <a:off x="5791200" y="182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/>
            <p:cNvSpPr/>
            <p:nvPr/>
          </p:nvSpPr>
          <p:spPr>
            <a:xfrm>
              <a:off x="4343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Oval 308"/>
            <p:cNvSpPr/>
            <p:nvPr/>
          </p:nvSpPr>
          <p:spPr>
            <a:xfrm>
              <a:off x="36576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/>
            <p:cNvSpPr/>
            <p:nvPr/>
          </p:nvSpPr>
          <p:spPr>
            <a:xfrm>
              <a:off x="28194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Oval 314"/>
            <p:cNvSpPr/>
            <p:nvPr/>
          </p:nvSpPr>
          <p:spPr>
            <a:xfrm>
              <a:off x="4114800" y="2438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/>
            <p:cNvSpPr/>
            <p:nvPr/>
          </p:nvSpPr>
          <p:spPr>
            <a:xfrm>
              <a:off x="22098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/>
            <p:cNvSpPr/>
            <p:nvPr/>
          </p:nvSpPr>
          <p:spPr>
            <a:xfrm>
              <a:off x="3429000" y="4191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Oval 317"/>
            <p:cNvSpPr/>
            <p:nvPr/>
          </p:nvSpPr>
          <p:spPr>
            <a:xfrm>
              <a:off x="28956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/>
            <p:cNvSpPr/>
            <p:nvPr/>
          </p:nvSpPr>
          <p:spPr>
            <a:xfrm>
              <a:off x="5715000" y="3505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/>
            <p:cNvSpPr/>
            <p:nvPr/>
          </p:nvSpPr>
          <p:spPr>
            <a:xfrm>
              <a:off x="34290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/>
            <p:cNvSpPr/>
            <p:nvPr/>
          </p:nvSpPr>
          <p:spPr>
            <a:xfrm>
              <a:off x="2705461" y="3845558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Oval 327"/>
            <p:cNvSpPr/>
            <p:nvPr/>
          </p:nvSpPr>
          <p:spPr>
            <a:xfrm>
              <a:off x="3886200" y="3124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/>
            <p:cNvSpPr/>
            <p:nvPr/>
          </p:nvSpPr>
          <p:spPr>
            <a:xfrm>
              <a:off x="6400800" y="2133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/>
            <p:cNvSpPr/>
            <p:nvPr/>
          </p:nvSpPr>
          <p:spPr>
            <a:xfrm>
              <a:off x="58674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/>
            <p:cNvSpPr/>
            <p:nvPr/>
          </p:nvSpPr>
          <p:spPr>
            <a:xfrm>
              <a:off x="3276600" y="3124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/>
            <p:cNvSpPr/>
            <p:nvPr/>
          </p:nvSpPr>
          <p:spPr>
            <a:xfrm>
              <a:off x="2819400" y="3200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/>
            <p:cNvSpPr/>
            <p:nvPr/>
          </p:nvSpPr>
          <p:spPr>
            <a:xfrm>
              <a:off x="6553200" y="3276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/>
            <p:cNvSpPr/>
            <p:nvPr/>
          </p:nvSpPr>
          <p:spPr>
            <a:xfrm>
              <a:off x="4994364" y="2182009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/>
            <p:cNvSpPr/>
            <p:nvPr/>
          </p:nvSpPr>
          <p:spPr>
            <a:xfrm>
              <a:off x="3886200" y="5029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/>
            <p:cNvSpPr/>
            <p:nvPr/>
          </p:nvSpPr>
          <p:spPr>
            <a:xfrm>
              <a:off x="5908764" y="4854871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/>
            <p:cNvSpPr/>
            <p:nvPr/>
          </p:nvSpPr>
          <p:spPr>
            <a:xfrm>
              <a:off x="5105400" y="5105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/>
            <p:cNvSpPr/>
            <p:nvPr/>
          </p:nvSpPr>
          <p:spPr>
            <a:xfrm>
              <a:off x="4724400" y="6172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/>
            <p:cNvSpPr/>
            <p:nvPr/>
          </p:nvSpPr>
          <p:spPr>
            <a:xfrm>
              <a:off x="49530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/>
            <p:cNvSpPr/>
            <p:nvPr/>
          </p:nvSpPr>
          <p:spPr>
            <a:xfrm>
              <a:off x="5410200" y="5562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Oval 353"/>
            <p:cNvSpPr/>
            <p:nvPr/>
          </p:nvSpPr>
          <p:spPr>
            <a:xfrm>
              <a:off x="5638800" y="5181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Oval 354"/>
            <p:cNvSpPr/>
            <p:nvPr/>
          </p:nvSpPr>
          <p:spPr>
            <a:xfrm>
              <a:off x="4876800" y="5181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249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76"/>
                                        </p:tgtEl>
                                      </p:cBhvr>
                                      <p:by x="66000" y="66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</p:cBhvr>
                                      <p:by x="66000" y="66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val 90"/>
          <p:cNvSpPr/>
          <p:nvPr/>
        </p:nvSpPr>
        <p:spPr>
          <a:xfrm>
            <a:off x="1526211" y="247261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1274751" y="25229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/>
          <p:cNvSpPr/>
          <p:nvPr/>
        </p:nvSpPr>
        <p:spPr>
          <a:xfrm>
            <a:off x="1978839" y="23217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/>
          <p:cNvSpPr/>
          <p:nvPr/>
        </p:nvSpPr>
        <p:spPr>
          <a:xfrm>
            <a:off x="1123875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/>
          <p:cNvSpPr/>
          <p:nvPr/>
        </p:nvSpPr>
        <p:spPr>
          <a:xfrm>
            <a:off x="1777671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/>
          <p:cNvSpPr/>
          <p:nvPr/>
        </p:nvSpPr>
        <p:spPr>
          <a:xfrm>
            <a:off x="3135555" y="322699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/>
          <p:cNvSpPr/>
          <p:nvPr/>
        </p:nvSpPr>
        <p:spPr>
          <a:xfrm>
            <a:off x="872415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/>
          <p:cNvSpPr/>
          <p:nvPr/>
        </p:nvSpPr>
        <p:spPr>
          <a:xfrm>
            <a:off x="1325043" y="297553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/>
          <p:cNvSpPr/>
          <p:nvPr/>
        </p:nvSpPr>
        <p:spPr>
          <a:xfrm>
            <a:off x="1727379" y="282465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/>
          <p:cNvSpPr/>
          <p:nvPr/>
        </p:nvSpPr>
        <p:spPr>
          <a:xfrm>
            <a:off x="3185847" y="287495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/>
          <p:cNvSpPr/>
          <p:nvPr/>
        </p:nvSpPr>
        <p:spPr>
          <a:xfrm>
            <a:off x="2682927" y="332757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/>
          <p:cNvSpPr/>
          <p:nvPr/>
        </p:nvSpPr>
        <p:spPr>
          <a:xfrm>
            <a:off x="972999" y="297553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/>
          <p:cNvSpPr/>
          <p:nvPr/>
        </p:nvSpPr>
        <p:spPr>
          <a:xfrm>
            <a:off x="1727379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/>
          <p:cNvSpPr/>
          <p:nvPr/>
        </p:nvSpPr>
        <p:spPr>
          <a:xfrm>
            <a:off x="3688767" y="307611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/>
          <p:cNvSpPr/>
          <p:nvPr/>
        </p:nvSpPr>
        <p:spPr>
          <a:xfrm>
            <a:off x="2029131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/>
          <p:cNvSpPr/>
          <p:nvPr/>
        </p:nvSpPr>
        <p:spPr>
          <a:xfrm>
            <a:off x="872415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/>
          <p:cNvSpPr/>
          <p:nvPr/>
        </p:nvSpPr>
        <p:spPr>
          <a:xfrm>
            <a:off x="1325043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/>
          <p:cNvSpPr/>
          <p:nvPr/>
        </p:nvSpPr>
        <p:spPr>
          <a:xfrm>
            <a:off x="3185847" y="352874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/>
          <p:cNvSpPr/>
          <p:nvPr/>
        </p:nvSpPr>
        <p:spPr>
          <a:xfrm>
            <a:off x="872415" y="35790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/>
          <p:cNvSpPr/>
          <p:nvPr/>
        </p:nvSpPr>
        <p:spPr>
          <a:xfrm>
            <a:off x="1375335" y="35790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/>
          <p:cNvSpPr/>
          <p:nvPr/>
        </p:nvSpPr>
        <p:spPr>
          <a:xfrm>
            <a:off x="1727379" y="36293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/>
          <p:cNvSpPr/>
          <p:nvPr/>
        </p:nvSpPr>
        <p:spPr>
          <a:xfrm>
            <a:off x="3336723" y="307611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/>
          <p:cNvSpPr/>
          <p:nvPr/>
        </p:nvSpPr>
        <p:spPr>
          <a:xfrm>
            <a:off x="1425627" y="48866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/>
          <p:cNvSpPr/>
          <p:nvPr/>
        </p:nvSpPr>
        <p:spPr>
          <a:xfrm>
            <a:off x="2431467" y="48866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/>
          <p:cNvSpPr/>
          <p:nvPr/>
        </p:nvSpPr>
        <p:spPr>
          <a:xfrm>
            <a:off x="3135555" y="50375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/>
          <p:cNvSpPr/>
          <p:nvPr/>
        </p:nvSpPr>
        <p:spPr>
          <a:xfrm>
            <a:off x="2180007" y="468546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/>
          <p:cNvSpPr/>
          <p:nvPr/>
        </p:nvSpPr>
        <p:spPr>
          <a:xfrm>
            <a:off x="2682927" y="44340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/>
          <p:cNvSpPr/>
          <p:nvPr/>
        </p:nvSpPr>
        <p:spPr>
          <a:xfrm>
            <a:off x="2682927" y="48363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/>
          <p:cNvSpPr/>
          <p:nvPr/>
        </p:nvSpPr>
        <p:spPr>
          <a:xfrm>
            <a:off x="2884095" y="523867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/>
          <p:cNvSpPr/>
          <p:nvPr/>
        </p:nvSpPr>
        <p:spPr>
          <a:xfrm>
            <a:off x="2079423" y="50375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70079" y="2070279"/>
            <a:ext cx="3621024" cy="3621024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1047374" y="3856265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2558050" y="2758323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3161554" y="4529956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Parallelizing </a:t>
            </a:r>
            <a:r>
              <a:rPr lang="en-US" i="1" dirty="0"/>
              <a:t>k</a:t>
            </a:r>
            <a:r>
              <a:rPr lang="en-US" dirty="0"/>
              <a:t>-means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5041005" y="2066544"/>
            <a:ext cx="3621024" cy="3621024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5393049" y="23682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5694801" y="231800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/>
          <p:cNvSpPr/>
          <p:nvPr/>
        </p:nvSpPr>
        <p:spPr>
          <a:xfrm>
            <a:off x="6197721" y="23682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/>
          <p:cNvSpPr/>
          <p:nvPr/>
        </p:nvSpPr>
        <p:spPr>
          <a:xfrm>
            <a:off x="7957941" y="327355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/>
          <p:cNvSpPr/>
          <p:nvPr/>
        </p:nvSpPr>
        <p:spPr>
          <a:xfrm>
            <a:off x="7555605" y="297180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/>
          <p:cNvSpPr/>
          <p:nvPr/>
        </p:nvSpPr>
        <p:spPr>
          <a:xfrm>
            <a:off x="5292465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/>
          <p:cNvSpPr/>
          <p:nvPr/>
        </p:nvSpPr>
        <p:spPr>
          <a:xfrm>
            <a:off x="5895969" y="277063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/>
          <p:cNvSpPr/>
          <p:nvPr/>
        </p:nvSpPr>
        <p:spPr>
          <a:xfrm>
            <a:off x="6097137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/>
          <p:cNvSpPr/>
          <p:nvPr/>
        </p:nvSpPr>
        <p:spPr>
          <a:xfrm>
            <a:off x="7656189" y="251917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/>
          <p:cNvSpPr/>
          <p:nvPr/>
        </p:nvSpPr>
        <p:spPr>
          <a:xfrm>
            <a:off x="6700641" y="261975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/>
          <p:cNvSpPr/>
          <p:nvPr/>
        </p:nvSpPr>
        <p:spPr>
          <a:xfrm>
            <a:off x="6248013" y="297180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/>
          <p:cNvSpPr/>
          <p:nvPr/>
        </p:nvSpPr>
        <p:spPr>
          <a:xfrm>
            <a:off x="5694801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/>
          <p:cNvSpPr/>
          <p:nvPr/>
        </p:nvSpPr>
        <p:spPr>
          <a:xfrm>
            <a:off x="6549765" y="292150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/>
          <p:cNvSpPr/>
          <p:nvPr/>
        </p:nvSpPr>
        <p:spPr>
          <a:xfrm>
            <a:off x="5292465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/>
          <p:cNvSpPr/>
          <p:nvPr/>
        </p:nvSpPr>
        <p:spPr>
          <a:xfrm>
            <a:off x="6097137" y="40782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/>
          <p:cNvSpPr/>
          <p:nvPr/>
        </p:nvSpPr>
        <p:spPr>
          <a:xfrm>
            <a:off x="5745093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/>
          <p:cNvSpPr/>
          <p:nvPr/>
        </p:nvSpPr>
        <p:spPr>
          <a:xfrm>
            <a:off x="7605897" y="36255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/>
          <p:cNvSpPr/>
          <p:nvPr/>
        </p:nvSpPr>
        <p:spPr>
          <a:xfrm>
            <a:off x="6097137" y="317296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/>
          <p:cNvSpPr/>
          <p:nvPr/>
        </p:nvSpPr>
        <p:spPr>
          <a:xfrm>
            <a:off x="5619601" y="3850232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/>
          <p:cNvSpPr/>
          <p:nvPr/>
        </p:nvSpPr>
        <p:spPr>
          <a:xfrm>
            <a:off x="6398889" y="33741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/>
          <p:cNvSpPr/>
          <p:nvPr/>
        </p:nvSpPr>
        <p:spPr>
          <a:xfrm>
            <a:off x="8058525" y="272034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/>
          <p:cNvSpPr/>
          <p:nvPr/>
        </p:nvSpPr>
        <p:spPr>
          <a:xfrm>
            <a:off x="7706481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/>
          <p:cNvSpPr/>
          <p:nvPr/>
        </p:nvSpPr>
        <p:spPr>
          <a:xfrm>
            <a:off x="5996553" y="33741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/>
          <p:cNvSpPr/>
          <p:nvPr/>
        </p:nvSpPr>
        <p:spPr>
          <a:xfrm>
            <a:off x="5694801" y="342442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/>
          <p:cNvSpPr/>
          <p:nvPr/>
        </p:nvSpPr>
        <p:spPr>
          <a:xfrm>
            <a:off x="8159109" y="34747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/>
          <p:cNvSpPr/>
          <p:nvPr/>
        </p:nvSpPr>
        <p:spPr>
          <a:xfrm>
            <a:off x="7130277" y="2752290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/>
          <p:cNvSpPr/>
          <p:nvPr/>
        </p:nvSpPr>
        <p:spPr>
          <a:xfrm>
            <a:off x="6398889" y="46314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/>
          <p:cNvSpPr/>
          <p:nvPr/>
        </p:nvSpPr>
        <p:spPr>
          <a:xfrm>
            <a:off x="7733781" y="4516379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/>
          <p:cNvSpPr/>
          <p:nvPr/>
        </p:nvSpPr>
        <p:spPr>
          <a:xfrm>
            <a:off x="7203561" y="468172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/>
          <p:cNvSpPr/>
          <p:nvPr/>
        </p:nvSpPr>
        <p:spPr>
          <a:xfrm>
            <a:off x="6952101" y="538581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/>
          <p:cNvSpPr/>
          <p:nvPr/>
        </p:nvSpPr>
        <p:spPr>
          <a:xfrm>
            <a:off x="7102977" y="503377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/>
          <p:cNvSpPr/>
          <p:nvPr/>
        </p:nvSpPr>
        <p:spPr>
          <a:xfrm>
            <a:off x="7404729" y="498348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/>
          <p:cNvSpPr/>
          <p:nvPr/>
        </p:nvSpPr>
        <p:spPr>
          <a:xfrm>
            <a:off x="7555605" y="47320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/>
          <p:cNvSpPr/>
          <p:nvPr/>
        </p:nvSpPr>
        <p:spPr>
          <a:xfrm>
            <a:off x="7052685" y="47320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/>
          <p:cNvGrpSpPr/>
          <p:nvPr/>
        </p:nvGrpSpPr>
        <p:grpSpPr>
          <a:xfrm>
            <a:off x="5039949" y="2065488"/>
            <a:ext cx="3621024" cy="3621024"/>
            <a:chOff x="5039949" y="2065488"/>
            <a:chExt cx="3621024" cy="3621024"/>
          </a:xfrm>
        </p:grpSpPr>
        <p:sp>
          <p:nvSpPr>
            <p:cNvPr id="83" name="Oval 82"/>
            <p:cNvSpPr/>
            <p:nvPr/>
          </p:nvSpPr>
          <p:spPr>
            <a:xfrm>
              <a:off x="5826126" y="3218956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7222238" y="4854857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7310694" y="2967442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5039949" y="2065488"/>
              <a:ext cx="3621024" cy="3621024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472220" y="2069223"/>
            <a:ext cx="3621024" cy="3621024"/>
            <a:chOff x="472220" y="2069223"/>
            <a:chExt cx="3621024" cy="3621024"/>
          </a:xfrm>
        </p:grpSpPr>
        <p:sp>
          <p:nvSpPr>
            <p:cNvPr id="79" name="Oval 78"/>
            <p:cNvSpPr/>
            <p:nvPr/>
          </p:nvSpPr>
          <p:spPr>
            <a:xfrm>
              <a:off x="1231746" y="3340449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2477589" y="2968508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2556454" y="4904947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472220" y="2069223"/>
              <a:ext cx="3621024" cy="3621024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Oval 93"/>
          <p:cNvSpPr/>
          <p:nvPr/>
        </p:nvSpPr>
        <p:spPr>
          <a:xfrm>
            <a:off x="3001677" y="2969794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5058759" y="2503984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5058757" y="5370025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453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0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0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2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22222E-6 L 0.02309 -0.0919 " pathEditMode="relative" rAng="0" ptsTypes="AA">
                                      <p:cBhvr>
                                        <p:cTn id="252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0" y="-460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48148E-6 L 0.02049 0.0331 " pathEditMode="relative" rAng="0" ptsTypes="AA">
                                      <p:cBhvr>
                                        <p:cTn id="254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0" y="1600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4.44444E-6 L -0.05677 0.05139 " pathEditMode="relative" rAng="0" ptsTypes="AA">
                                      <p:cBhvr>
                                        <p:cTn id="256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00" y="260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85185E-6 L 0.02101 -0.07593 " pathEditMode="relative" rAng="0" ptsTypes="AA">
                                      <p:cBhvr>
                                        <p:cTn id="25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0" y="-3800"/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4.44444E-6 L -0.00851 0.03195 " pathEditMode="relative" rAng="0" ptsTypes="AA">
                                      <p:cBhvr>
                                        <p:cTn id="2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0" y="1600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22222E-6 L -0.06684 0.05555 " pathEditMode="relative" rAng="0" ptsTypes="AA">
                                      <p:cBhvr>
                                        <p:cTn id="2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00" y="2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7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27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4" dur="500" fill="hold"/>
                                        <p:tgtEl>
                                          <p:spTgt spid="9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7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6" dur="500" fill="hold"/>
                                        <p:tgtEl>
                                          <p:spTgt spid="9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327" grpId="0" animBg="1"/>
      <p:bldP spid="339" grpId="0" animBg="1"/>
      <p:bldP spid="346" grpId="0" animBg="1"/>
      <p:bldP spid="93" grpId="0" animBg="1"/>
      <p:bldP spid="94" grpId="0" animBg="1"/>
      <p:bldP spid="95" grpId="0" animBg="1"/>
      <p:bldP spid="9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-means on </a:t>
            </a:r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9000"/>
            <a:ext cx="8229600" cy="4525963"/>
          </a:xfrm>
        </p:spPr>
        <p:txBody>
          <a:bodyPr/>
          <a:lstStyle/>
          <a:p>
            <a:r>
              <a:rPr lang="en-US" dirty="0" err="1"/>
              <a:t>Mappers</a:t>
            </a:r>
            <a:r>
              <a:rPr lang="en-US" dirty="0"/>
              <a:t> read data portions and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assign data instances </a:t>
            </a:r>
            <a:r>
              <a:rPr lang="en-US" dirty="0"/>
              <a:t>to clusters</a:t>
            </a:r>
          </a:p>
          <a:p>
            <a:r>
              <a:rPr lang="en-US" dirty="0" err="1"/>
              <a:t>Mappers</a:t>
            </a:r>
            <a:r>
              <a:rPr lang="en-US" dirty="0"/>
              <a:t> </a:t>
            </a:r>
            <a:r>
              <a:rPr lang="en-US" b="1" dirty="0"/>
              <a:t>compute new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and local cluster sizes</a:t>
            </a:r>
          </a:p>
          <a:p>
            <a:r>
              <a:rPr lang="en-US" dirty="0"/>
              <a:t>Reducers </a:t>
            </a:r>
            <a:r>
              <a:rPr lang="en-US" b="1" dirty="0"/>
              <a:t>aggregate local </a:t>
            </a:r>
            <a:r>
              <a:rPr lang="en-US" b="1" dirty="0" err="1"/>
              <a:t>centroids</a:t>
            </a:r>
            <a:r>
              <a:rPr lang="en-US" b="1" dirty="0"/>
              <a:t> </a:t>
            </a:r>
            <a:r>
              <a:rPr lang="en-US" dirty="0"/>
              <a:t>(weighted by local cluster sizes) into new global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Reducers </a:t>
            </a:r>
            <a:r>
              <a:rPr lang="en-US" b="1" dirty="0"/>
              <a:t>write the new </a:t>
            </a:r>
            <a:r>
              <a:rPr lang="en-US" b="1" dirty="0" err="1"/>
              <a:t>centroids</a:t>
            </a:r>
            <a:endParaRPr lang="en-US" b="1" dirty="0"/>
          </a:p>
        </p:txBody>
      </p:sp>
      <p:sp>
        <p:nvSpPr>
          <p:cNvPr id="5" name="Circular Arrow 4"/>
          <p:cNvSpPr/>
          <p:nvPr/>
        </p:nvSpPr>
        <p:spPr>
          <a:xfrm rot="3925217" flipH="1">
            <a:off x="5240918" y="2424358"/>
            <a:ext cx="4431004" cy="3872169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8037137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219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mbria Math" charset="0"/>
              </a:rPr>
              <a:t>k-means as MF</a:t>
            </a:r>
            <a:endParaRPr lang="en-US" dirty="0">
              <a:latin typeface="Cambria Math" charset="0"/>
            </a:endParaRPr>
          </a:p>
        </p:txBody>
      </p:sp>
      <p:sp>
        <p:nvSpPr>
          <p:cNvPr id="5" name="Double Bracket 4"/>
          <p:cNvSpPr/>
          <p:nvPr/>
        </p:nvSpPr>
        <p:spPr>
          <a:xfrm>
            <a:off x="1101725" y="2414588"/>
            <a:ext cx="1093788" cy="288131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Double Bracket 5"/>
          <p:cNvSpPr/>
          <p:nvPr/>
        </p:nvSpPr>
        <p:spPr>
          <a:xfrm>
            <a:off x="2819400" y="2403475"/>
            <a:ext cx="2305050" cy="72866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7" name="Multiply 6"/>
          <p:cNvSpPr/>
          <p:nvPr/>
        </p:nvSpPr>
        <p:spPr>
          <a:xfrm>
            <a:off x="2308225" y="2651125"/>
            <a:ext cx="222250" cy="280988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Equal 7"/>
          <p:cNvSpPr/>
          <p:nvPr/>
        </p:nvSpPr>
        <p:spPr>
          <a:xfrm>
            <a:off x="5324475" y="2509838"/>
            <a:ext cx="280988" cy="280987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6015038" y="2414588"/>
            <a:ext cx="2544762" cy="288131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2776" name="TextBox 9"/>
          <p:cNvSpPr txBox="1">
            <a:spLocks noChangeArrowheads="1"/>
          </p:cNvSpPr>
          <p:nvPr/>
        </p:nvSpPr>
        <p:spPr bwMode="auto">
          <a:xfrm>
            <a:off x="3392488" y="1576388"/>
            <a:ext cx="1392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>
                <a:solidFill>
                  <a:srgbClr val="000000"/>
                </a:solidFill>
                <a:latin typeface="Gill Sans MT" charset="0"/>
              </a:rPr>
              <a:t>cluster means</a:t>
            </a:r>
            <a:endParaRPr lang="en-US" sz="1800">
              <a:solidFill>
                <a:srgbClr val="000000"/>
              </a:solidFill>
              <a:latin typeface="Gill Sans MT" charset="0"/>
            </a:endParaRPr>
          </a:p>
        </p:txBody>
      </p:sp>
      <p:sp>
        <p:nvSpPr>
          <p:cNvPr id="11" name="Right Brace 10"/>
          <p:cNvSpPr/>
          <p:nvPr/>
        </p:nvSpPr>
        <p:spPr>
          <a:xfrm rot="16200000">
            <a:off x="3810000" y="982663"/>
            <a:ext cx="323850" cy="2305050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427831" y="3653632"/>
            <a:ext cx="1233487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dirty="0"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n </a:t>
            </a:r>
            <a:r>
              <a:rPr lang="en-US" sz="1800" dirty="0"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examples</a:t>
            </a:r>
          </a:p>
        </p:txBody>
      </p:sp>
      <p:sp>
        <p:nvSpPr>
          <p:cNvPr id="13" name="Right Brace 12"/>
          <p:cNvSpPr/>
          <p:nvPr/>
        </p:nvSpPr>
        <p:spPr>
          <a:xfrm rot="16200000">
            <a:off x="7172325" y="938213"/>
            <a:ext cx="352425" cy="2422525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Right Brace 13"/>
          <p:cNvSpPr/>
          <p:nvPr/>
        </p:nvSpPr>
        <p:spPr>
          <a:xfrm rot="10800000">
            <a:off x="457200" y="2414588"/>
            <a:ext cx="323850" cy="2894012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22375" y="2509838"/>
          <a:ext cx="973138" cy="2743200"/>
        </p:xfrm>
        <a:graphic>
          <a:graphicData uri="http://schemas.openxmlformats.org/drawingml/2006/table">
            <a:tbl>
              <a:tblPr/>
              <a:tblGrid>
                <a:gridCol w="487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0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1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1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0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xn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yn</a:t>
                      </a:r>
                    </a:p>
                  </a:txBody>
                  <a:tcPr marL="91455" marR="9145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901950" y="2466975"/>
          <a:ext cx="2071688" cy="568326"/>
        </p:xfrm>
        <a:graphic>
          <a:graphicData uri="http://schemas.openxmlformats.org/drawingml/2006/table">
            <a:tbl>
              <a:tblPr/>
              <a:tblGrid>
                <a:gridCol w="41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a1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a2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..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am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b1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b2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bm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54750" y="2565400"/>
          <a:ext cx="2071688" cy="568326"/>
        </p:xfrm>
        <a:graphic>
          <a:graphicData uri="http://schemas.openxmlformats.org/drawingml/2006/table">
            <a:tbl>
              <a:tblPr/>
              <a:tblGrid>
                <a:gridCol w="41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v11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charset="0"/>
                          <a:ea typeface="ＭＳ Ｐゴシック" charset="0"/>
                          <a:cs typeface="ＭＳ Ｐゴシック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54750" y="3341688"/>
          <a:ext cx="2071688" cy="568326"/>
        </p:xfrm>
        <a:graphic>
          <a:graphicData uri="http://schemas.openxmlformats.org/drawingml/2006/table">
            <a:tbl>
              <a:tblPr/>
              <a:tblGrid>
                <a:gridCol w="41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vij</a:t>
                      </a: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31" marR="91431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54750" y="4654550"/>
          <a:ext cx="2176463" cy="568326"/>
        </p:xfrm>
        <a:graphic>
          <a:graphicData uri="http://schemas.openxmlformats.org/drawingml/2006/table">
            <a:tbl>
              <a:tblPr/>
              <a:tblGrid>
                <a:gridCol w="43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…</a:t>
                      </a: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charset="0"/>
                        <a:ea typeface="ＭＳ Ｐゴシック" charset="0"/>
                        <a:cs typeface="Cambria Math" charset="0"/>
                      </a:endParaRP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charset="0"/>
                          <a:ea typeface="ＭＳ Ｐゴシック" charset="0"/>
                          <a:cs typeface="Cambria Math" charset="0"/>
                        </a:rPr>
                        <a:t>vnm</a:t>
                      </a:r>
                    </a:p>
                  </a:txBody>
                  <a:tcPr marL="91467" marR="91467" marT="45736" marB="457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846" name="TextBox 22"/>
          <p:cNvSpPr txBox="1">
            <a:spLocks noChangeArrowheads="1"/>
          </p:cNvSpPr>
          <p:nvPr/>
        </p:nvSpPr>
        <p:spPr bwMode="auto">
          <a:xfrm>
            <a:off x="5260975" y="2111375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b="1">
                <a:solidFill>
                  <a:srgbClr val="4F81BD"/>
                </a:solidFill>
                <a:latin typeface="Gill Sans MT" charset="0"/>
              </a:rPr>
              <a:t>~</a:t>
            </a:r>
            <a:endParaRPr lang="en-US" sz="1800" b="1">
              <a:solidFill>
                <a:srgbClr val="4F81BD"/>
              </a:solidFill>
              <a:latin typeface="Gill Sans MT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14988" y="1565275"/>
            <a:ext cx="35290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Gill Sans MT"/>
                <a:ea typeface="+mn-ea"/>
                <a:cs typeface="+mn-cs"/>
              </a:rPr>
              <a:t>original data set</a:t>
            </a:r>
          </a:p>
        </p:txBody>
      </p:sp>
      <p:sp>
        <p:nvSpPr>
          <p:cNvPr id="32848" name="TextBox 24"/>
          <p:cNvSpPr txBox="1">
            <a:spLocks noChangeArrowheads="1"/>
          </p:cNvSpPr>
          <p:nvPr/>
        </p:nvSpPr>
        <p:spPr bwMode="auto">
          <a:xfrm>
            <a:off x="585788" y="1160463"/>
            <a:ext cx="22336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008000"/>
                </a:solidFill>
                <a:latin typeface="Gill Sans MT" charset="0"/>
              </a:rPr>
              <a:t>indicators for r clusters</a:t>
            </a:r>
            <a:endParaRPr lang="en-US" sz="2400" b="1">
              <a:solidFill>
                <a:srgbClr val="008000"/>
              </a:solidFill>
              <a:latin typeface="Gill Sans MT" charset="0"/>
            </a:endParaRPr>
          </a:p>
        </p:txBody>
      </p:sp>
      <p:sp>
        <p:nvSpPr>
          <p:cNvPr id="26" name="Right Brace 25"/>
          <p:cNvSpPr/>
          <p:nvPr/>
        </p:nvSpPr>
        <p:spPr>
          <a:xfrm rot="16200000">
            <a:off x="1506538" y="1625600"/>
            <a:ext cx="323850" cy="942975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2850" name="TextBox 26"/>
          <p:cNvSpPr txBox="1">
            <a:spLocks noChangeArrowheads="1"/>
          </p:cNvSpPr>
          <p:nvPr/>
        </p:nvSpPr>
        <p:spPr bwMode="auto">
          <a:xfrm>
            <a:off x="1463675" y="3541713"/>
            <a:ext cx="442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 i="1">
                <a:solidFill>
                  <a:srgbClr val="008000"/>
                </a:solidFill>
                <a:latin typeface="Gill Sans MT" charset="0"/>
              </a:rPr>
              <a:t>Z</a:t>
            </a:r>
            <a:endParaRPr lang="en-US" sz="2400" b="1">
              <a:solidFill>
                <a:srgbClr val="008000"/>
              </a:solidFill>
              <a:latin typeface="Gill Sans MT" charset="0"/>
            </a:endParaRPr>
          </a:p>
        </p:txBody>
      </p:sp>
      <p:sp>
        <p:nvSpPr>
          <p:cNvPr id="32851" name="TextBox 27"/>
          <p:cNvSpPr txBox="1">
            <a:spLocks noChangeArrowheads="1"/>
          </p:cNvSpPr>
          <p:nvPr/>
        </p:nvSpPr>
        <p:spPr bwMode="auto">
          <a:xfrm>
            <a:off x="3703638" y="2403475"/>
            <a:ext cx="730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 i="1">
                <a:solidFill>
                  <a:srgbClr val="008000"/>
                </a:solidFill>
                <a:latin typeface="Gill Sans MT" charset="0"/>
              </a:rPr>
              <a:t>M</a:t>
            </a:r>
            <a:endParaRPr lang="en-US" sz="2400" b="1">
              <a:solidFill>
                <a:srgbClr val="008000"/>
              </a:solidFill>
              <a:latin typeface="Gill Sans MT" charset="0"/>
            </a:endParaRPr>
          </a:p>
        </p:txBody>
      </p:sp>
      <p:sp>
        <p:nvSpPr>
          <p:cNvPr id="32852" name="TextBox 28"/>
          <p:cNvSpPr txBox="1">
            <a:spLocks noChangeArrowheads="1"/>
          </p:cNvSpPr>
          <p:nvPr/>
        </p:nvSpPr>
        <p:spPr bwMode="auto">
          <a:xfrm>
            <a:off x="7113588" y="3541713"/>
            <a:ext cx="728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457200"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 i="1">
                <a:solidFill>
                  <a:srgbClr val="008000"/>
                </a:solidFill>
                <a:latin typeface="Gill Sans MT" charset="0"/>
              </a:rPr>
              <a:t>X</a:t>
            </a:r>
            <a:endParaRPr lang="en-US" sz="2400" b="1">
              <a:solidFill>
                <a:srgbClr val="008000"/>
              </a:solidFill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892433"/>
      </p:ext>
    </p:extLst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BAF45-FF25-CA1B-96B6-C6DF1B7E4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Matrix Factorization as Optimization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98B68A-DF5B-6A11-E839-D70CEE9D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247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2-04-19 at 11.28.1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8" y="0"/>
            <a:ext cx="9113682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030" y="2281101"/>
            <a:ext cx="1399619" cy="17829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78649" y="258682"/>
            <a:ext cx="1549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KDD 2011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2833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Recovering latent factors in a matrix as optimization</a:t>
            </a:r>
          </a:p>
        </p:txBody>
      </p:sp>
      <p:sp>
        <p:nvSpPr>
          <p:cNvPr id="5" name="Double Bracket 4"/>
          <p:cNvSpPr/>
          <p:nvPr/>
        </p:nvSpPr>
        <p:spPr>
          <a:xfrm>
            <a:off x="1102322" y="2415292"/>
            <a:ext cx="1093576" cy="2880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/>
          <p:cNvSpPr/>
          <p:nvPr/>
        </p:nvSpPr>
        <p:spPr>
          <a:xfrm>
            <a:off x="2819117" y="2403533"/>
            <a:ext cx="2304742" cy="72901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y 6"/>
          <p:cNvSpPr/>
          <p:nvPr/>
        </p:nvSpPr>
        <p:spPr>
          <a:xfrm>
            <a:off x="2307604" y="2650462"/>
            <a:ext cx="223418" cy="282198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qual 7"/>
          <p:cNvSpPr/>
          <p:nvPr/>
        </p:nvSpPr>
        <p:spPr>
          <a:xfrm>
            <a:off x="5325152" y="2509361"/>
            <a:ext cx="280822" cy="282202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6015666" y="2415291"/>
            <a:ext cx="2544802" cy="288077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04146" y="1575624"/>
            <a:ext cx="1080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dirty="0"/>
              <a:t> movies</a:t>
            </a:r>
          </a:p>
        </p:txBody>
      </p:sp>
      <p:sp>
        <p:nvSpPr>
          <p:cNvPr id="11" name="Right Brace 10"/>
          <p:cNvSpPr/>
          <p:nvPr/>
        </p:nvSpPr>
        <p:spPr>
          <a:xfrm rot="16200000">
            <a:off x="3809297" y="983161"/>
            <a:ext cx="324381" cy="230474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-240851" y="3652969"/>
            <a:ext cx="85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</a:t>
            </a:r>
            <a:r>
              <a:rPr lang="en-US" dirty="0"/>
              <a:t>users</a:t>
            </a:r>
          </a:p>
        </p:txBody>
      </p:sp>
      <p:sp>
        <p:nvSpPr>
          <p:cNvPr id="13" name="Right Brace 12"/>
          <p:cNvSpPr/>
          <p:nvPr/>
        </p:nvSpPr>
        <p:spPr>
          <a:xfrm rot="16200000">
            <a:off x="7172711" y="938351"/>
            <a:ext cx="352767" cy="2422747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 rot="10800000">
            <a:off x="457200" y="2415292"/>
            <a:ext cx="324382" cy="289253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901998" y="1543358"/>
            <a:ext cx="1080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dirty="0"/>
              <a:t> movies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22924" y="2509361"/>
          <a:ext cx="972974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xn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yn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902118" y="246708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bm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55310" y="256600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55310" y="3341807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vij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55310" y="4654902"/>
          <a:ext cx="217581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vnm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261222" y="2111144"/>
            <a:ext cx="4283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~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25153" y="5506328"/>
            <a:ext cx="352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V[</a:t>
            </a:r>
            <a:r>
              <a:rPr lang="en-US" dirty="0" err="1"/>
              <a:t>i,j</a:t>
            </a:r>
            <a:r>
              <a:rPr lang="en-US" dirty="0"/>
              <a:t>] = user i’s rating of movie 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2879" y="1473499"/>
            <a:ext cx="44261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8000"/>
                </a:solidFill>
              </a:rPr>
              <a:t>r</a:t>
            </a:r>
            <a:endParaRPr lang="en-US" sz="2400" b="1" dirty="0">
              <a:solidFill>
                <a:srgbClr val="008000"/>
              </a:solidFill>
            </a:endParaRPr>
          </a:p>
        </p:txBody>
      </p:sp>
      <p:sp>
        <p:nvSpPr>
          <p:cNvPr id="26" name="Right Brace 25"/>
          <p:cNvSpPr/>
          <p:nvPr/>
        </p:nvSpPr>
        <p:spPr>
          <a:xfrm rot="16200000">
            <a:off x="1506066" y="1625493"/>
            <a:ext cx="324381" cy="943724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463971" y="3542494"/>
            <a:ext cx="44261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8000"/>
                </a:solidFill>
              </a:rPr>
              <a:t>H</a:t>
            </a:r>
            <a:endParaRPr lang="en-US" sz="2400" b="1" dirty="0">
              <a:solidFill>
                <a:srgbClr val="008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4048" y="2403533"/>
            <a:ext cx="72905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8000"/>
                </a:solidFill>
              </a:rPr>
              <a:t>W</a:t>
            </a:r>
            <a:endParaRPr lang="en-US" sz="2400" b="1" dirty="0">
              <a:solidFill>
                <a:srgbClr val="008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13658" y="3542494"/>
            <a:ext cx="72905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8000"/>
                </a:solidFill>
              </a:rPr>
              <a:t>V</a:t>
            </a:r>
            <a:endParaRPr lang="en-US" sz="2400" b="1" dirty="0">
              <a:solidFill>
                <a:srgbClr val="008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83</a:t>
            </a:fld>
            <a:endParaRPr lang="en-US"/>
          </a:p>
        </p:txBody>
      </p:sp>
      <p:pic>
        <p:nvPicPr>
          <p:cNvPr id="4" name="Picture 3" descr="A black and white text&#10;&#10;AI-generated content may be incorrect.">
            <a:extLst>
              <a:ext uri="{FF2B5EF4-FFF2-40B4-BE49-F238E27FC236}">
                <a16:creationId xmlns:a16="http://schemas.microsoft.com/office/drawing/2014/main" id="{1308B8FB-620F-4639-DDE2-D7F60AF33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33" y="5614642"/>
            <a:ext cx="4533900" cy="1181100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6" name="Picture 15" descr="Screen Shot 2012-04-19 at 11.36.36 AM.png">
            <a:extLst>
              <a:ext uri="{FF2B5EF4-FFF2-40B4-BE49-F238E27FC236}">
                <a16:creationId xmlns:a16="http://schemas.microsoft.com/office/drawing/2014/main" id="{0458ED91-2937-0317-E1BA-B667647C6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08" y="4484381"/>
            <a:ext cx="6984775" cy="2284040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5C51EAD-466C-D80A-0D0E-A29447387E82}"/>
              </a:ext>
            </a:extLst>
          </p:cNvPr>
          <p:cNvSpPr txBox="1"/>
          <p:nvPr/>
        </p:nvSpPr>
        <p:spPr>
          <a:xfrm>
            <a:off x="2902118" y="3675888"/>
            <a:ext cx="278742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Z is </a:t>
            </a:r>
            <a:r>
              <a:rPr lang="en-US" b="1" dirty="0"/>
              <a:t>non-zero</a:t>
            </a:r>
            <a:r>
              <a:rPr lang="en-US" dirty="0"/>
              <a:t> entries</a:t>
            </a:r>
          </a:p>
          <a:p>
            <a:r>
              <a:rPr lang="en-US" dirty="0"/>
              <a:t>(matrix </a:t>
            </a:r>
            <a:r>
              <a:rPr lang="en-US" b="1" dirty="0"/>
              <a:t>completion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81196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factorization as SGD</a:t>
            </a:r>
          </a:p>
        </p:txBody>
      </p:sp>
      <p:pic>
        <p:nvPicPr>
          <p:cNvPr id="3" name="Picture 2" descr="Screen Shot 2012-04-19 at 11.42.43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3"/>
          <a:stretch/>
        </p:blipFill>
        <p:spPr>
          <a:xfrm>
            <a:off x="1799109" y="1386451"/>
            <a:ext cx="5972910" cy="1930400"/>
          </a:xfrm>
          <a:prstGeom prst="rect">
            <a:avLst/>
          </a:prstGeom>
        </p:spPr>
      </p:pic>
      <p:pic>
        <p:nvPicPr>
          <p:cNvPr id="4" name="Picture 3" descr="Screen Shot 2012-04-19 at 11.43.11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531"/>
          <a:stretch/>
        </p:blipFill>
        <p:spPr>
          <a:xfrm>
            <a:off x="834880" y="2988042"/>
            <a:ext cx="7490407" cy="3662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15410" y="5803750"/>
            <a:ext cx="97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step size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833395" y="5479345"/>
            <a:ext cx="682016" cy="4820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60467" y="5776768"/>
            <a:ext cx="273208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why does this work?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7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Matrix factorization as SGD - why does this work?  Here’s the key claim:</a:t>
            </a:r>
          </a:p>
        </p:txBody>
      </p:sp>
      <p:pic>
        <p:nvPicPr>
          <p:cNvPr id="3" name="Picture 2" descr="Screen Shot 2012-04-19 at 11.42.43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3" b="19544"/>
          <a:stretch/>
        </p:blipFill>
        <p:spPr>
          <a:xfrm>
            <a:off x="1434583" y="1504033"/>
            <a:ext cx="5972910" cy="1553112"/>
          </a:xfrm>
          <a:prstGeom prst="rect">
            <a:avLst/>
          </a:prstGeom>
        </p:spPr>
      </p:pic>
      <p:pic>
        <p:nvPicPr>
          <p:cNvPr id="6" name="Picture 5" descr="Screen Shot 2012-04-19 at 11.47.23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2"/>
          <a:stretch/>
        </p:blipFill>
        <p:spPr>
          <a:xfrm>
            <a:off x="0" y="2927805"/>
            <a:ext cx="3394468" cy="3930195"/>
          </a:xfrm>
          <a:prstGeom prst="rect">
            <a:avLst/>
          </a:prstGeom>
        </p:spPr>
      </p:pic>
      <p:pic>
        <p:nvPicPr>
          <p:cNvPr id="9" name="Picture 8" descr="Screen Shot 2012-04-19 at 11.53.31 A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2" r="5355"/>
          <a:stretch/>
        </p:blipFill>
        <p:spPr>
          <a:xfrm>
            <a:off x="3640843" y="4175933"/>
            <a:ext cx="5503157" cy="2057400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3186657" y="4879674"/>
            <a:ext cx="454186" cy="51736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6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the claim</a:t>
            </a:r>
          </a:p>
        </p:txBody>
      </p:sp>
      <p:pic>
        <p:nvPicPr>
          <p:cNvPr id="3" name="Picture 2" descr="Screen Shot 2012-04-19 at 12.08.0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5078"/>
            <a:ext cx="9144000" cy="1128748"/>
          </a:xfrm>
          <a:prstGeom prst="rect">
            <a:avLst/>
          </a:prstGeom>
        </p:spPr>
      </p:pic>
      <p:pic>
        <p:nvPicPr>
          <p:cNvPr id="4" name="Picture 3" descr="Screen Shot 2012-04-19 at 12.08.4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2555468"/>
            <a:ext cx="3543300" cy="546100"/>
          </a:xfrm>
          <a:prstGeom prst="rect">
            <a:avLst/>
          </a:prstGeom>
        </p:spPr>
      </p:pic>
      <p:pic>
        <p:nvPicPr>
          <p:cNvPr id="5" name="Picture 4" descr="Screen Shot 2012-04-19 at 12.10.20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0" y="3477535"/>
            <a:ext cx="6451600" cy="1041400"/>
          </a:xfrm>
          <a:prstGeom prst="rect">
            <a:avLst/>
          </a:prstGeom>
        </p:spPr>
      </p:pic>
      <p:pic>
        <p:nvPicPr>
          <p:cNvPr id="7" name="Picture 6" descr="Screen Shot 2012-04-19 at 12.10.47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688" y="4339870"/>
            <a:ext cx="3606800" cy="469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220664"/>
            <a:ext cx="8503067" cy="1200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Think for SGD for logistic regression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LR loss = compare </a:t>
            </a:r>
            <a:r>
              <a:rPr lang="en-US" sz="2400" i="1" dirty="0"/>
              <a:t>y</a:t>
            </a:r>
            <a:r>
              <a:rPr lang="en-US" sz="2400" dirty="0"/>
              <a:t> and </a:t>
            </a:r>
            <a:r>
              <a:rPr lang="en-US" sz="2400" i="1" dirty="0" err="1"/>
              <a:t>ŷ</a:t>
            </a:r>
            <a:r>
              <a:rPr lang="en-US" sz="2400" dirty="0"/>
              <a:t> = dot(</a:t>
            </a:r>
            <a:r>
              <a:rPr lang="en-US" sz="2400" dirty="0" err="1"/>
              <a:t>w,x</a:t>
            </a:r>
            <a:r>
              <a:rPr lang="en-US" sz="2400" dirty="0"/>
              <a:t>)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similar but now update w (user weights) and x (movie weight)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5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loss functions are possible?</a:t>
            </a:r>
          </a:p>
        </p:txBody>
      </p:sp>
      <p:pic>
        <p:nvPicPr>
          <p:cNvPr id="6" name="Picture 5" descr="Screen Shot 2012-04-19 at 12.02.0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71" y="2171158"/>
            <a:ext cx="8318500" cy="280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26476" y="1352200"/>
            <a:ext cx="3080827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mbria Math"/>
                <a:cs typeface="Cambria Math"/>
              </a:rPr>
              <a:t>N1, N2 - diagonal matrixes, sort of like IDF factors for the users/movies 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032306" y="2675639"/>
            <a:ext cx="1222924" cy="910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74403" y="4972158"/>
            <a:ext cx="3798118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mbria Math"/>
                <a:cs typeface="Cambria Math"/>
              </a:rPr>
              <a:t>“generalized” KL-divergence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3386558" y="4585718"/>
            <a:ext cx="1222924" cy="3864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4091871"/>
            <a:ext cx="7955371" cy="18930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9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loss functions are possible?</a:t>
            </a:r>
          </a:p>
        </p:txBody>
      </p:sp>
      <p:pic>
        <p:nvPicPr>
          <p:cNvPr id="3" name="Picture 2" descr="Screen Shot 2012-04-19 at 12.19.1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555" y="1322654"/>
            <a:ext cx="7683500" cy="3492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934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loss functions are possible?</a:t>
            </a:r>
          </a:p>
        </p:txBody>
      </p:sp>
      <p:pic>
        <p:nvPicPr>
          <p:cNvPr id="3" name="Picture 2" descr="Screen Shot 2012-04-19 at 12.19.48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5"/>
          <a:stretch/>
        </p:blipFill>
        <p:spPr>
          <a:xfrm>
            <a:off x="0" y="1405911"/>
            <a:ext cx="9144000" cy="354431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507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2-04-19 at 11.49.4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883"/>
            <a:ext cx="9144000" cy="6740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15310" y="2269342"/>
            <a:ext cx="316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ALS = alternating least squares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818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2-04-19 at 11.28.1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8" y="0"/>
            <a:ext cx="9113682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030" y="2281101"/>
            <a:ext cx="1399619" cy="17829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39621" y="3398135"/>
            <a:ext cx="2692784" cy="66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4F81BD"/>
                </a:solidFill>
              </a:rPr>
              <a:t>talk pilfered from </a:t>
            </a:r>
            <a:r>
              <a:rPr lang="en-US" sz="2400" dirty="0">
                <a:solidFill>
                  <a:srgbClr val="4F81BD"/>
                </a:solidFill>
                <a:sym typeface="Wingdings"/>
              </a:rPr>
              <a:t> </a:t>
            </a:r>
            <a:r>
              <a:rPr lang="en-US" dirty="0"/>
              <a:t>…..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8649" y="258682"/>
            <a:ext cx="1549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KDD 2011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799109" y="1869562"/>
            <a:ext cx="18579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5232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2-04-19 at 12.53.0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88" y="0"/>
            <a:ext cx="8603158" cy="6858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44758" y="1967094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iterative SGD, no mixing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3798" y="3718616"/>
            <a:ext cx="3057448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limited memory quasi-Newton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5179" y="4388379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param</a:t>
            </a:r>
            <a:r>
              <a:rPr lang="en-US" dirty="0"/>
              <a:t>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349" y="5123854"/>
            <a:ext cx="2425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alternating least squares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65" y="5493186"/>
            <a:ext cx="54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IPM</a:t>
            </a:r>
          </a:p>
        </p:txBody>
      </p:sp>
    </p:spTree>
    <p:extLst>
      <p:ext uri="{BB962C8B-B14F-4D97-AF65-F5344CB8AC3E}">
        <p14:creationId xmlns:p14="http://schemas.microsoft.com/office/powerpoint/2010/main" val="112259478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Matrix factorization as SGD - why does this work?  Here’s the key claim:</a:t>
            </a:r>
          </a:p>
        </p:txBody>
      </p:sp>
      <p:pic>
        <p:nvPicPr>
          <p:cNvPr id="3" name="Picture 2" descr="Screen Shot 2012-04-19 at 11.42.43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3" b="19544"/>
          <a:stretch/>
        </p:blipFill>
        <p:spPr>
          <a:xfrm>
            <a:off x="1434583" y="1504033"/>
            <a:ext cx="5972910" cy="1553112"/>
          </a:xfrm>
          <a:prstGeom prst="rect">
            <a:avLst/>
          </a:prstGeom>
        </p:spPr>
      </p:pic>
      <p:pic>
        <p:nvPicPr>
          <p:cNvPr id="6" name="Picture 5" descr="Screen Shot 2012-04-19 at 11.47.23 A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2"/>
          <a:stretch/>
        </p:blipFill>
        <p:spPr>
          <a:xfrm>
            <a:off x="0" y="2927805"/>
            <a:ext cx="3394468" cy="3930195"/>
          </a:xfrm>
          <a:prstGeom prst="rect">
            <a:avLst/>
          </a:prstGeom>
        </p:spPr>
      </p:pic>
      <p:pic>
        <p:nvPicPr>
          <p:cNvPr id="9" name="Picture 8" descr="Screen Shot 2012-04-19 at 11.53.31 AM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2" r="5355"/>
          <a:stretch/>
        </p:blipFill>
        <p:spPr>
          <a:xfrm>
            <a:off x="3640843" y="4175933"/>
            <a:ext cx="5503157" cy="2057400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3186657" y="4879674"/>
            <a:ext cx="454186" cy="51736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7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2-04-19 at 12.54.1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98914"/>
          </a:xfrm>
          <a:prstGeom prst="rect">
            <a:avLst/>
          </a:prstGeom>
        </p:spPr>
      </p:pic>
      <p:pic>
        <p:nvPicPr>
          <p:cNvPr id="3" name="Picture 2" descr="Screen Shot 2012-04-19 at 12.54.3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2" y="3732634"/>
            <a:ext cx="2666979" cy="3125366"/>
          </a:xfrm>
          <a:prstGeom prst="rect">
            <a:avLst/>
          </a:prstGeom>
        </p:spPr>
      </p:pic>
      <p:pic>
        <p:nvPicPr>
          <p:cNvPr id="4" name="Picture 3" descr="Screen Shot 2012-04-19 at 12.54.55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948" y="3898914"/>
            <a:ext cx="2785948" cy="2959086"/>
          </a:xfrm>
          <a:prstGeom prst="rect">
            <a:avLst/>
          </a:prstGeom>
        </p:spPr>
      </p:pic>
      <p:pic>
        <p:nvPicPr>
          <p:cNvPr id="5" name="Picture 4" descr="Screen Shot 2012-04-19 at 12.55.16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404" y="3730382"/>
            <a:ext cx="3311595" cy="312761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2-04-19 at 1.00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3267"/>
            <a:ext cx="9144000" cy="654473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9314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96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9218" y="2384693"/>
          <a:ext cx="2144772" cy="2016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H3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V </a:t>
                      </a:r>
                      <a:r>
                        <a:rPr lang="en-US" baseline="-25000" dirty="0">
                          <a:latin typeface="Cambria Math"/>
                          <a:cs typeface="Cambria Math"/>
                        </a:rPr>
                        <a:t>11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/>
                          <a:cs typeface="Cambria Math"/>
                        </a:rPr>
                        <a:t>V </a:t>
                      </a:r>
                      <a:r>
                        <a:rPr lang="en-US" baseline="-25000" dirty="0">
                          <a:latin typeface="Cambria Math"/>
                          <a:cs typeface="Cambria Math"/>
                        </a:rPr>
                        <a:t>22</a:t>
                      </a:r>
                    </a:p>
                  </a:txBody>
                  <a:tcP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W3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/>
                          <a:cs typeface="Cambria Math"/>
                        </a:rPr>
                        <a:t>V </a:t>
                      </a:r>
                      <a:r>
                        <a:rPr lang="en-US" baseline="-25000" dirty="0">
                          <a:latin typeface="Cambria Math"/>
                          <a:cs typeface="Cambria Math"/>
                        </a:rPr>
                        <a:t>33</a:t>
                      </a:r>
                    </a:p>
                  </a:txBody>
                  <a:tcP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75607" y="2384693"/>
          <a:ext cx="2144772" cy="2016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H3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aseline="-25000" dirty="0">
                        <a:latin typeface="Cambria Math"/>
                        <a:cs typeface="Cambria Math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V </a:t>
                      </a:r>
                      <a:r>
                        <a:rPr lang="en-US" baseline="-25000" dirty="0">
                          <a:latin typeface="Cambria Math"/>
                          <a:cs typeface="Cambria Math"/>
                        </a:rPr>
                        <a:t>12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/>
                          <a:cs typeface="Cambria Math"/>
                        </a:rPr>
                        <a:t>V </a:t>
                      </a:r>
                      <a:r>
                        <a:rPr lang="en-US" baseline="-25000" dirty="0">
                          <a:latin typeface="Cambria Math"/>
                          <a:cs typeface="Cambria Math"/>
                        </a:rPr>
                        <a:t>23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W3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/>
                          <a:cs typeface="Cambria Math"/>
                        </a:rPr>
                        <a:t>V </a:t>
                      </a:r>
                      <a:r>
                        <a:rPr lang="en-US" baseline="-25000" dirty="0">
                          <a:latin typeface="Cambria Math"/>
                          <a:cs typeface="Cambria Math"/>
                        </a:rPr>
                        <a:t>31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aseline="-25000" dirty="0">
                        <a:latin typeface="Cambria Math"/>
                        <a:cs typeface="Cambria Math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4407" y="2384693"/>
          <a:ext cx="2144772" cy="2016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H3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aseline="-25000" dirty="0">
                        <a:latin typeface="Cambria Math"/>
                        <a:cs typeface="Cambria Math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/>
                          <a:cs typeface="Cambria Math"/>
                        </a:rPr>
                        <a:t>V </a:t>
                      </a:r>
                      <a:r>
                        <a:rPr lang="en-US" baseline="-25000" dirty="0">
                          <a:latin typeface="Cambria Math"/>
                          <a:cs typeface="Cambria Math"/>
                        </a:rPr>
                        <a:t>13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/>
                          <a:cs typeface="Cambria Math"/>
                        </a:rPr>
                        <a:t>V </a:t>
                      </a:r>
                      <a:r>
                        <a:rPr lang="en-US" baseline="-25000" dirty="0">
                          <a:latin typeface="Cambria Math"/>
                          <a:cs typeface="Cambria Math"/>
                        </a:rPr>
                        <a:t>21</a:t>
                      </a:r>
                    </a:p>
                  </a:txBody>
                  <a:tcP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aseline="-25000" dirty="0">
                        <a:latin typeface="Cambria Math"/>
                        <a:cs typeface="Cambria Math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/>
                          <a:cs typeface="Cambria Math"/>
                        </a:rPr>
                        <a:t>W3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/>
                          <a:cs typeface="Cambria Math"/>
                        </a:rPr>
                        <a:t>V </a:t>
                      </a:r>
                      <a:r>
                        <a:rPr lang="en-US" baseline="-25000" dirty="0">
                          <a:latin typeface="Cambria Math"/>
                          <a:cs typeface="Cambria Math"/>
                        </a:rPr>
                        <a:t>32</a:t>
                      </a:r>
                    </a:p>
                  </a:txBody>
                  <a:tcP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aseline="-25000" dirty="0">
                        <a:latin typeface="Cambria Math"/>
                        <a:cs typeface="Cambria Math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Screen Shot 2018-02-25 at 11.42.5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38" y="592082"/>
            <a:ext cx="5130800" cy="147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3739" y="1281649"/>
            <a:ext cx="1693279" cy="8701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22664" y="2775979"/>
            <a:ext cx="728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 Math"/>
                <a:cs typeface="Cambria Math"/>
              </a:rPr>
              <a:t>Node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2664" y="3163539"/>
            <a:ext cx="728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 Math"/>
                <a:cs typeface="Cambria Math"/>
              </a:rPr>
              <a:t>Node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2664" y="3560276"/>
            <a:ext cx="728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mbria Math"/>
                <a:cs typeface="Cambria Math"/>
              </a:rPr>
              <a:t>Node 3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258200" y="4165887"/>
            <a:ext cx="6407888" cy="388925"/>
            <a:chOff x="1258200" y="4165887"/>
            <a:chExt cx="6407888" cy="388925"/>
          </a:xfrm>
        </p:grpSpPr>
        <p:sp>
          <p:nvSpPr>
            <p:cNvPr id="12" name="TextBox 11"/>
            <p:cNvSpPr txBox="1"/>
            <p:nvPr/>
          </p:nvSpPr>
          <p:spPr>
            <a:xfrm>
              <a:off x="1258200" y="4165887"/>
              <a:ext cx="806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ambria Math"/>
                  <a:cs typeface="Cambria Math"/>
                </a:rPr>
                <a:t>Diag</a:t>
              </a:r>
              <a:r>
                <a:rPr lang="en-US" dirty="0">
                  <a:latin typeface="Cambria Math"/>
                  <a:cs typeface="Cambria Math"/>
                </a:rPr>
                <a:t> 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096272" y="4165887"/>
              <a:ext cx="806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ambria Math"/>
                  <a:cs typeface="Cambria Math"/>
                </a:rPr>
                <a:t>Diag</a:t>
              </a:r>
              <a:r>
                <a:rPr lang="en-US" dirty="0">
                  <a:latin typeface="Cambria Math"/>
                  <a:cs typeface="Cambria Math"/>
                </a:rPr>
                <a:t> 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59144" y="4185480"/>
              <a:ext cx="806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ambria Math"/>
                  <a:cs typeface="Cambria Math"/>
                </a:rPr>
                <a:t>Diag</a:t>
              </a:r>
              <a:r>
                <a:rPr lang="en-US" dirty="0">
                  <a:latin typeface="Cambria Math"/>
                  <a:cs typeface="Cambria Math"/>
                </a:rPr>
                <a:t> 3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211660" y="2151760"/>
            <a:ext cx="8111004" cy="2645606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49227" y="4858661"/>
            <a:ext cx="976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/>
                <a:cs typeface="Cambria Math"/>
              </a:rPr>
              <a:t>Epoch 1</a:t>
            </a:r>
          </a:p>
        </p:txBody>
      </p:sp>
    </p:spTree>
    <p:extLst>
      <p:ext uri="{BB962C8B-B14F-4D97-AF65-F5344CB8AC3E}">
        <p14:creationId xmlns:p14="http://schemas.microsoft.com/office/powerpoint/2010/main" val="194154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7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2-04-19 at 1.47.1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96" y="0"/>
            <a:ext cx="6692900" cy="58547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920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2-04-19 at 12.53.0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88" y="0"/>
            <a:ext cx="8603158" cy="6858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44758" y="1967094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iterative SGD, no mixing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3798" y="3718616"/>
            <a:ext cx="3057448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limited memory quasi-Newton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5179" y="4388379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param</a:t>
            </a:r>
            <a:r>
              <a:rPr lang="en-US" dirty="0"/>
              <a:t>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349" y="5123854"/>
            <a:ext cx="2425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alternating least squares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65" y="5493186"/>
            <a:ext cx="54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IPM</a:t>
            </a:r>
          </a:p>
        </p:txBody>
      </p:sp>
    </p:spTree>
    <p:extLst>
      <p:ext uri="{BB962C8B-B14F-4D97-AF65-F5344CB8AC3E}">
        <p14:creationId xmlns:p14="http://schemas.microsoft.com/office/powerpoint/2010/main" val="556145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3108</TotalTime>
  <Words>3640</Words>
  <Application>Microsoft Macintosh PowerPoint</Application>
  <PresentationFormat>On-screen Show (4:3)</PresentationFormat>
  <Paragraphs>878</Paragraphs>
  <Slides>98</Slides>
  <Notes>20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6" baseType="lpstr">
      <vt:lpstr>Arial</vt:lpstr>
      <vt:lpstr>Calibri</vt:lpstr>
      <vt:lpstr>Cambria Math</vt:lpstr>
      <vt:lpstr>Gill Sans Light</vt:lpstr>
      <vt:lpstr>Gill Sans MT</vt:lpstr>
      <vt:lpstr>Times New Roman</vt:lpstr>
      <vt:lpstr>Wingdings</vt:lpstr>
      <vt:lpstr>Office Theme</vt:lpstr>
      <vt:lpstr>10-605 / 10-405</vt:lpstr>
      <vt:lpstr>Recap: the course so far</vt:lpstr>
      <vt:lpstr>Recap: the course so far</vt:lpstr>
      <vt:lpstr>Sparse Gradients for Sparse Data for Linear/Logistic Regression</vt:lpstr>
      <vt:lpstr>Summary: SGD for least squares and Logistic Regression</vt:lpstr>
      <vt:lpstr>Regularized Logistic Regression</vt:lpstr>
      <vt:lpstr>Learning as optimization for regularized logistic regression</vt:lpstr>
      <vt:lpstr>Learning as optimization for regularized logistic regression</vt:lpstr>
      <vt:lpstr>Learning as optimization for regularized logistic regression</vt:lpstr>
      <vt:lpstr>Learning as optimization for regularized logistic regression</vt:lpstr>
      <vt:lpstr>Distributed Machine Learning</vt:lpstr>
      <vt:lpstr>Recap: Parallel SGD?</vt:lpstr>
      <vt:lpstr>Today’s Focus</vt:lpstr>
      <vt:lpstr>Distributed ML</vt:lpstr>
      <vt:lpstr>Distributed ML</vt:lpstr>
      <vt:lpstr>Distributed ML</vt:lpstr>
      <vt:lpstr>Data Parallel ML:  Maximal synchronization: batch gradient (recap)</vt:lpstr>
      <vt:lpstr>Data Parallel ML:  Minimal synchronization 1</vt:lpstr>
      <vt:lpstr>Data Parallel ML:  Minimal synchronization 1</vt:lpstr>
      <vt:lpstr>Data Parallel ML:  Minimal synchronization 2</vt:lpstr>
      <vt:lpstr>Data Parallel ML:  Minimal synchronization 2</vt:lpstr>
      <vt:lpstr>PowerPoint Presentation</vt:lpstr>
      <vt:lpstr>Data Parallel ML:  Minimal synchronization 3</vt:lpstr>
      <vt:lpstr>Data Parallel ML:  Minimal synchronization 3</vt:lpstr>
      <vt:lpstr>Data Parallel ML:  Minimal synchronization 3</vt:lpstr>
      <vt:lpstr>Data Parallel ML:  Intermediate Synchronization</vt:lpstr>
      <vt:lpstr>Parallel Perceptrons*</vt:lpstr>
      <vt:lpstr>Parallel Perceptrons – take 2</vt:lpstr>
      <vt:lpstr>Parallelizing perceptrons – take 2</vt:lpstr>
      <vt:lpstr>Results</vt:lpstr>
      <vt:lpstr>Results</vt:lpstr>
      <vt:lpstr>PowerPoint Presentation</vt:lpstr>
      <vt:lpstr>Distributed ML</vt:lpstr>
      <vt:lpstr>Distributed ML</vt:lpstr>
      <vt:lpstr>All-reduce</vt:lpstr>
      <vt:lpstr>Recap Parallel SGD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Parallel SGD with AllReduce</vt:lpstr>
      <vt:lpstr>Tree AllReduce Discussion</vt:lpstr>
      <vt:lpstr>Parameter Servers</vt:lpstr>
      <vt:lpstr>Parameter Server (PS)</vt:lpstr>
      <vt:lpstr>Data parallel learning with PS</vt:lpstr>
      <vt:lpstr>Data parallel learning with PS</vt:lpstr>
      <vt:lpstr>Abstraction used for  Data parallel learning with PS</vt:lpstr>
      <vt:lpstr>Parallel SGD with PS</vt:lpstr>
      <vt:lpstr>Param Server Discussion</vt:lpstr>
      <vt:lpstr>Distributed ML</vt:lpstr>
      <vt:lpstr>Distributed ML</vt:lpstr>
      <vt:lpstr>Matrix Factorization</vt:lpstr>
      <vt:lpstr>Recovering latent factors in a matrix</vt:lpstr>
      <vt:lpstr>Recovering latent factors in a matrix</vt:lpstr>
      <vt:lpstr>What is this for?</vt:lpstr>
      <vt:lpstr>MF for collaborative filtering</vt:lpstr>
      <vt:lpstr>What is collaborative filtering?</vt:lpstr>
      <vt:lpstr>Recovering latent factors in a matrix</vt:lpstr>
      <vt:lpstr>Recovering latent factors in a matrix</vt:lpstr>
      <vt:lpstr>PowerPoint Presentation</vt:lpstr>
      <vt:lpstr>MF for image modeling</vt:lpstr>
      <vt:lpstr>MF for images</vt:lpstr>
      <vt:lpstr>PowerPoint Presentation</vt:lpstr>
      <vt:lpstr>MF for modeling text</vt:lpstr>
      <vt:lpstr>PowerPoint Presentation</vt:lpstr>
      <vt:lpstr>PowerPoint Presentation</vt:lpstr>
      <vt:lpstr>Recovering latent factors in a matrix</vt:lpstr>
      <vt:lpstr>PowerPoint Presentation</vt:lpstr>
      <vt:lpstr>PowerPoint Presentation</vt:lpstr>
      <vt:lpstr>PowerPoint Presentation</vt:lpstr>
      <vt:lpstr>MF is like clustering</vt:lpstr>
      <vt:lpstr>Recap: k-means clustering</vt:lpstr>
      <vt:lpstr>k-means Clustering</vt:lpstr>
      <vt:lpstr>Parallelizing k-means</vt:lpstr>
      <vt:lpstr>Parallelizing k-means</vt:lpstr>
      <vt:lpstr>Parallelizing k-means</vt:lpstr>
      <vt:lpstr>k-means on MapReduce</vt:lpstr>
      <vt:lpstr>k-means as MF</vt:lpstr>
      <vt:lpstr>Matrix Factorization as Optimization</vt:lpstr>
      <vt:lpstr>PowerPoint Presentation</vt:lpstr>
      <vt:lpstr>Recovering latent factors in a matrix as optimization</vt:lpstr>
      <vt:lpstr>Matrix factorization as SGD</vt:lpstr>
      <vt:lpstr>Matrix factorization as SGD - why does this work?  Here’s the key claim:</vt:lpstr>
      <vt:lpstr>Checking the claim</vt:lpstr>
      <vt:lpstr>What loss functions are possible?</vt:lpstr>
      <vt:lpstr>What loss functions are possible?</vt:lpstr>
      <vt:lpstr>What loss functions are possible?</vt:lpstr>
      <vt:lpstr>PowerPoint Presentation</vt:lpstr>
      <vt:lpstr>PowerPoint Presentation</vt:lpstr>
      <vt:lpstr>PowerPoint Presentation</vt:lpstr>
      <vt:lpstr>Matrix factorization as SGD - why does this work?  Here’s the key claim: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334</cp:revision>
  <dcterms:created xsi:type="dcterms:W3CDTF">2012-01-03T16:05:59Z</dcterms:created>
  <dcterms:modified xsi:type="dcterms:W3CDTF">2025-02-03T20:03:14Z</dcterms:modified>
</cp:coreProperties>
</file>