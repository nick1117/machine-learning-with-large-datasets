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1" r:id="rId2"/>
  </p:sldMasterIdLst>
  <p:notesMasterIdLst>
    <p:notesMasterId r:id="rId80"/>
  </p:notesMasterIdLst>
  <p:sldIdLst>
    <p:sldId id="375" r:id="rId3"/>
    <p:sldId id="545" r:id="rId4"/>
    <p:sldId id="544" r:id="rId5"/>
    <p:sldId id="565" r:id="rId6"/>
    <p:sldId id="256" r:id="rId7"/>
    <p:sldId id="257" r:id="rId8"/>
    <p:sldId id="258" r:id="rId9"/>
    <p:sldId id="566" r:id="rId10"/>
    <p:sldId id="259" r:id="rId11"/>
    <p:sldId id="260" r:id="rId12"/>
    <p:sldId id="261" r:id="rId13"/>
    <p:sldId id="262" r:id="rId14"/>
    <p:sldId id="263" r:id="rId15"/>
    <p:sldId id="564" r:id="rId16"/>
    <p:sldId id="485" r:id="rId17"/>
    <p:sldId id="536" r:id="rId18"/>
    <p:sldId id="529" r:id="rId19"/>
    <p:sldId id="516" r:id="rId20"/>
    <p:sldId id="466" r:id="rId21"/>
    <p:sldId id="467" r:id="rId22"/>
    <p:sldId id="468" r:id="rId23"/>
    <p:sldId id="471" r:id="rId24"/>
    <p:sldId id="473" r:id="rId25"/>
    <p:sldId id="474" r:id="rId26"/>
    <p:sldId id="532" r:id="rId27"/>
    <p:sldId id="476" r:id="rId28"/>
    <p:sldId id="477" r:id="rId29"/>
    <p:sldId id="479" r:id="rId30"/>
    <p:sldId id="478" r:id="rId31"/>
    <p:sldId id="480" r:id="rId32"/>
    <p:sldId id="481" r:id="rId33"/>
    <p:sldId id="482" r:id="rId34"/>
    <p:sldId id="483" r:id="rId35"/>
    <p:sldId id="537" r:id="rId36"/>
    <p:sldId id="538" r:id="rId37"/>
    <p:sldId id="540" r:id="rId38"/>
    <p:sldId id="541" r:id="rId39"/>
    <p:sldId id="542" r:id="rId40"/>
    <p:sldId id="543" r:id="rId41"/>
    <p:sldId id="533" r:id="rId42"/>
    <p:sldId id="522" r:id="rId43"/>
    <p:sldId id="484" r:id="rId44"/>
    <p:sldId id="486" r:id="rId45"/>
    <p:sldId id="500" r:id="rId46"/>
    <p:sldId id="501" r:id="rId47"/>
    <p:sldId id="503" r:id="rId48"/>
    <p:sldId id="502" r:id="rId49"/>
    <p:sldId id="567" r:id="rId50"/>
    <p:sldId id="548" r:id="rId51"/>
    <p:sldId id="504" r:id="rId52"/>
    <p:sldId id="549" r:id="rId53"/>
    <p:sldId id="535" r:id="rId54"/>
    <p:sldId id="550" r:id="rId55"/>
    <p:sldId id="487" r:id="rId56"/>
    <p:sldId id="489" r:id="rId57"/>
    <p:sldId id="498" r:id="rId58"/>
    <p:sldId id="539" r:id="rId59"/>
    <p:sldId id="551" r:id="rId60"/>
    <p:sldId id="410" r:id="rId61"/>
    <p:sldId id="552" r:id="rId62"/>
    <p:sldId id="429" r:id="rId63"/>
    <p:sldId id="507" r:id="rId64"/>
    <p:sldId id="508" r:id="rId65"/>
    <p:sldId id="515" r:id="rId66"/>
    <p:sldId id="518" r:id="rId67"/>
    <p:sldId id="553" r:id="rId68"/>
    <p:sldId id="554" r:id="rId69"/>
    <p:sldId id="555" r:id="rId70"/>
    <p:sldId id="556" r:id="rId71"/>
    <p:sldId id="557" r:id="rId72"/>
    <p:sldId id="558" r:id="rId73"/>
    <p:sldId id="559" r:id="rId74"/>
    <p:sldId id="560" r:id="rId75"/>
    <p:sldId id="561" r:id="rId76"/>
    <p:sldId id="546" r:id="rId77"/>
    <p:sldId id="547" r:id="rId78"/>
    <p:sldId id="562" r:id="rId7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001"/>
    <p:restoredTop sz="88481" autoAdjust="0"/>
  </p:normalViewPr>
  <p:slideViewPr>
    <p:cSldViewPr snapToGrid="0" snapToObjects="1">
      <p:cViewPr varScale="1">
        <p:scale>
          <a:sx n="90" d="100"/>
          <a:sy n="90" d="100"/>
        </p:scale>
        <p:origin x="1528" y="200"/>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tableStyles" Target="tableStyles.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5" Type="http://schemas.openxmlformats.org/officeDocument/2006/relationships/slide" Target="slides/slide3.xml"/><Relationship Id="rId61" Type="http://schemas.openxmlformats.org/officeDocument/2006/relationships/slide" Target="slides/slide59.xml"/><Relationship Id="rId82" Type="http://schemas.openxmlformats.org/officeDocument/2006/relationships/viewProps" Target="viewProps.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slide" Target="slides/slide7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notesMaster" Target="notesMasters/notesMaster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AB3C4F9-F37E-4225-8EDE-0041EBD1A368}" type="datetimeFigureOut">
              <a:rPr lang="en-US" smtClean="0"/>
              <a:pPr/>
              <a:t>4/2/25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0CF8AD2-6882-4531-8560-2C8EEF2B5B25}" type="slidenum">
              <a:rPr lang="en-US" smtClean="0"/>
              <a:pPr/>
              <a:t>‹#›</a:t>
            </a:fld>
            <a:endParaRPr lang="en-US"/>
          </a:p>
        </p:txBody>
      </p:sp>
    </p:spTree>
    <p:extLst>
      <p:ext uri="{BB962C8B-B14F-4D97-AF65-F5344CB8AC3E}">
        <p14:creationId xmlns:p14="http://schemas.microsoft.com/office/powerpoint/2010/main" val="13896219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g3477c55f713_0_4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 name="Google Shape;88;g3477c55f713_0_4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9" name="Google Shape;89;g3477c55f713_0_46: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5</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g3477c55f713_0_5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 name="Google Shape;101;g3477c55f713_0_5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2" name="Google Shape;102;g3477c55f713_0_58: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6</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3477c55f713_0_7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 name="Google Shape;114;g3477c55f713_0_7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5" name="Google Shape;115;g3477c55f713_0_72: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7</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a:extLst>
            <a:ext uri="{FF2B5EF4-FFF2-40B4-BE49-F238E27FC236}">
              <a16:creationId xmlns:a16="http://schemas.microsoft.com/office/drawing/2014/main" id="{7A952B66-3EEF-A58B-7081-ACC5CBF37FEA}"/>
            </a:ext>
          </a:extLst>
        </p:cNvPr>
        <p:cNvGrpSpPr/>
        <p:nvPr/>
      </p:nvGrpSpPr>
      <p:grpSpPr>
        <a:xfrm>
          <a:off x="0" y="0"/>
          <a:ext cx="0" cy="0"/>
          <a:chOff x="0" y="0"/>
          <a:chExt cx="0" cy="0"/>
        </a:xfrm>
      </p:grpSpPr>
      <p:sp>
        <p:nvSpPr>
          <p:cNvPr id="113" name="Google Shape;113;g3477c55f713_0_72:notes">
            <a:extLst>
              <a:ext uri="{FF2B5EF4-FFF2-40B4-BE49-F238E27FC236}">
                <a16:creationId xmlns:a16="http://schemas.microsoft.com/office/drawing/2014/main" id="{B76883C7-B929-38E0-986B-FEC8DE3D03C1}"/>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 name="Google Shape;114;g3477c55f713_0_72:notes">
            <a:extLst>
              <a:ext uri="{FF2B5EF4-FFF2-40B4-BE49-F238E27FC236}">
                <a16:creationId xmlns:a16="http://schemas.microsoft.com/office/drawing/2014/main" id="{A8000DC2-FA6B-BB1E-7204-173B10639743}"/>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Snap poll</a:t>
            </a:r>
            <a:endParaRPr dirty="0"/>
          </a:p>
        </p:txBody>
      </p:sp>
      <p:sp>
        <p:nvSpPr>
          <p:cNvPr id="115" name="Google Shape;115;g3477c55f713_0_72:notes">
            <a:extLst>
              <a:ext uri="{FF2B5EF4-FFF2-40B4-BE49-F238E27FC236}">
                <a16:creationId xmlns:a16="http://schemas.microsoft.com/office/drawing/2014/main" id="{7E7DD93A-0930-36BF-8BE8-F9E6D60099E6}"/>
              </a:ext>
            </a:extLst>
          </p:cNvPr>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8</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35197729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g3477c55f713_0_8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4" name="Google Shape;124;g3477c55f713_0_8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5" name="Google Shape;125;g3477c55f713_0_85: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9</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g3477c55f713_0_12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7" name="Google Shape;137;g3477c55f713_0_12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Snap poll</a:t>
            </a:r>
            <a:endParaRPr dirty="0"/>
          </a:p>
        </p:txBody>
      </p:sp>
      <p:sp>
        <p:nvSpPr>
          <p:cNvPr id="138" name="Google Shape;138;g3477c55f713_0_125: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10</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g3477c55f713_0_10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 name="Google Shape;147;g3477c55f713_0_10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8" name="Google Shape;148;g3477c55f713_0_104: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11</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g3477c55f713_0_1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0" name="Google Shape;160;g3477c55f713_0_11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1" name="Google Shape;161;g3477c55f713_0_119: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12</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3477c55f713_0_13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0" name="Google Shape;170;g3477c55f713_0_13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1" name="Google Shape;171;g3477c55f713_0_137: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13</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a:t>
            </a:r>
            <a:r>
              <a:rPr lang="en-US" dirty="0" err="1"/>
              <a:t>proceedings.neurips.cc</a:t>
            </a:r>
            <a:r>
              <a:rPr lang="en-US" dirty="0"/>
              <a:t>/</a:t>
            </a:r>
            <a:r>
              <a:rPr lang="en-US" dirty="0" err="1"/>
              <a:t>paper_files</a:t>
            </a:r>
            <a:r>
              <a:rPr lang="en-US" dirty="0"/>
              <a:t>/paper/2023/hash/6ceefa7b15572587b78ecfcebb2827f8-Abstract-Conference.html</a:t>
            </a:r>
          </a:p>
        </p:txBody>
      </p:sp>
      <p:sp>
        <p:nvSpPr>
          <p:cNvPr id="4" name="Slide Number Placeholder 3"/>
          <p:cNvSpPr>
            <a:spLocks noGrp="1"/>
          </p:cNvSpPr>
          <p:nvPr>
            <p:ph type="sldNum" sz="quarter" idx="5"/>
          </p:nvPr>
        </p:nvSpPr>
        <p:spPr/>
        <p:txBody>
          <a:bodyPr/>
          <a:lstStyle/>
          <a:p>
            <a:fld id="{3C13DECC-3D0A-4344-8A7A-D80521E6A2D1}" type="slidenum">
              <a:rPr lang="en-US" smtClean="0"/>
              <a:t>18</a:t>
            </a:fld>
            <a:endParaRPr lang="en-US"/>
          </a:p>
        </p:txBody>
      </p:sp>
    </p:spTree>
    <p:extLst>
      <p:ext uri="{BB962C8B-B14F-4D97-AF65-F5344CB8AC3E}">
        <p14:creationId xmlns:p14="http://schemas.microsoft.com/office/powerpoint/2010/main" val="303558177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a:t>
            </a:r>
            <a:r>
              <a:rPr lang="en-US" dirty="0" err="1"/>
              <a:t>arxiv.org</a:t>
            </a:r>
            <a:r>
              <a:rPr lang="en-US" dirty="0"/>
              <a:t>/pdf/2309.17453</a:t>
            </a:r>
          </a:p>
        </p:txBody>
      </p:sp>
      <p:sp>
        <p:nvSpPr>
          <p:cNvPr id="4" name="Slide Number Placeholder 3"/>
          <p:cNvSpPr>
            <a:spLocks noGrp="1"/>
          </p:cNvSpPr>
          <p:nvPr>
            <p:ph type="sldNum" sz="quarter" idx="5"/>
          </p:nvPr>
        </p:nvSpPr>
        <p:spPr/>
        <p:txBody>
          <a:bodyPr/>
          <a:lstStyle/>
          <a:p>
            <a:fld id="{3C13DECC-3D0A-4344-8A7A-D80521E6A2D1}" type="slidenum">
              <a:rPr lang="en-US" smtClean="0"/>
              <a:t>21</a:t>
            </a:fld>
            <a:endParaRPr lang="en-US"/>
          </a:p>
        </p:txBody>
      </p:sp>
    </p:spTree>
    <p:extLst>
      <p:ext uri="{BB962C8B-B14F-4D97-AF65-F5344CB8AC3E}">
        <p14:creationId xmlns:p14="http://schemas.microsoft.com/office/powerpoint/2010/main" val="3576201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STOPPED HERE</a:t>
            </a:r>
          </a:p>
          <a:p>
            <a:endParaRPr lang="en-US" dirty="0"/>
          </a:p>
        </p:txBody>
      </p:sp>
      <p:sp>
        <p:nvSpPr>
          <p:cNvPr id="4" name="Slide Number Placeholder 3"/>
          <p:cNvSpPr>
            <a:spLocks noGrp="1"/>
          </p:cNvSpPr>
          <p:nvPr>
            <p:ph type="sldNum" sz="quarter" idx="5"/>
          </p:nvPr>
        </p:nvSpPr>
        <p:spPr/>
        <p:txBody>
          <a:bodyPr/>
          <a:lstStyle/>
          <a:p>
            <a:fld id="{00CF8AD2-6882-4531-8560-2C8EEF2B5B25}" type="slidenum">
              <a:rPr lang="en-US" smtClean="0"/>
              <a:pPr/>
              <a:t>24</a:t>
            </a:fld>
            <a:endParaRPr lang="en-US"/>
          </a:p>
        </p:txBody>
      </p:sp>
    </p:spTree>
    <p:extLst>
      <p:ext uri="{BB962C8B-B14F-4D97-AF65-F5344CB8AC3E}">
        <p14:creationId xmlns:p14="http://schemas.microsoft.com/office/powerpoint/2010/main" val="2673517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C13DECC-3D0A-4344-8A7A-D80521E6A2D1}" type="slidenum">
              <a:rPr lang="en-US" smtClean="0"/>
              <a:t>27</a:t>
            </a:fld>
            <a:endParaRPr lang="en-US"/>
          </a:p>
        </p:txBody>
      </p:sp>
    </p:spTree>
    <p:extLst>
      <p:ext uri="{BB962C8B-B14F-4D97-AF65-F5344CB8AC3E}">
        <p14:creationId xmlns:p14="http://schemas.microsoft.com/office/powerpoint/2010/main" val="249355365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C15F5F-57F8-0BE7-D4F1-42C1F4BC56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4A58C9-29BF-B560-CC38-D0B2A6D243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0E7E22-8085-35DA-0478-8B4549A8441A}"/>
              </a:ext>
            </a:extLst>
          </p:cNvPr>
          <p:cNvSpPr>
            <a:spLocks noGrp="1"/>
          </p:cNvSpPr>
          <p:nvPr>
            <p:ph type="body" idx="1"/>
          </p:nvPr>
        </p:nvSpPr>
        <p:spPr/>
        <p:txBody>
          <a:bodyPr/>
          <a:lstStyle/>
          <a:p>
            <a:r>
              <a:rPr lang="en-US" dirty="0"/>
              <a:t>What is the set with “high attn weights which determines overlap</a:t>
            </a:r>
          </a:p>
        </p:txBody>
      </p:sp>
      <p:sp>
        <p:nvSpPr>
          <p:cNvPr id="4" name="Slide Number Placeholder 3">
            <a:extLst>
              <a:ext uri="{FF2B5EF4-FFF2-40B4-BE49-F238E27FC236}">
                <a16:creationId xmlns:a16="http://schemas.microsoft.com/office/drawing/2014/main" id="{971529C8-42CD-8619-7A34-E33E849D65D1}"/>
              </a:ext>
            </a:extLst>
          </p:cNvPr>
          <p:cNvSpPr>
            <a:spLocks noGrp="1"/>
          </p:cNvSpPr>
          <p:nvPr>
            <p:ph type="sldNum" sz="quarter" idx="5"/>
          </p:nvPr>
        </p:nvSpPr>
        <p:spPr/>
        <p:txBody>
          <a:bodyPr/>
          <a:lstStyle/>
          <a:p>
            <a:fld id="{3C13DECC-3D0A-4344-8A7A-D80521E6A2D1}" type="slidenum">
              <a:rPr lang="en-US" smtClean="0"/>
              <a:t>28</a:t>
            </a:fld>
            <a:endParaRPr lang="en-US"/>
          </a:p>
        </p:txBody>
      </p:sp>
    </p:spTree>
    <p:extLst>
      <p:ext uri="{BB962C8B-B14F-4D97-AF65-F5344CB8AC3E}">
        <p14:creationId xmlns:p14="http://schemas.microsoft.com/office/powerpoint/2010/main" val="1682441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28A38A-2AE8-7511-9717-1395170C08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1CF329-36D7-11D4-D2D2-E31EF2D3E3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9F9F14-54A1-4007-A659-8E5B6087338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093C2F7-F14C-5D71-8C45-F50AEABED461}"/>
              </a:ext>
            </a:extLst>
          </p:cNvPr>
          <p:cNvSpPr>
            <a:spLocks noGrp="1"/>
          </p:cNvSpPr>
          <p:nvPr>
            <p:ph type="sldNum" sz="quarter" idx="5"/>
          </p:nvPr>
        </p:nvSpPr>
        <p:spPr/>
        <p:txBody>
          <a:bodyPr/>
          <a:lstStyle/>
          <a:p>
            <a:fld id="{3C13DECC-3D0A-4344-8A7A-D80521E6A2D1}" type="slidenum">
              <a:rPr lang="en-US" smtClean="0"/>
              <a:t>29</a:t>
            </a:fld>
            <a:endParaRPr lang="en-US"/>
          </a:p>
        </p:txBody>
      </p:sp>
    </p:spTree>
    <p:extLst>
      <p:ext uri="{BB962C8B-B14F-4D97-AF65-F5344CB8AC3E}">
        <p14:creationId xmlns:p14="http://schemas.microsoft.com/office/powerpoint/2010/main" val="330132064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a:t>
            </a:r>
            <a:r>
              <a:rPr lang="en-US" dirty="0" err="1"/>
              <a:t>arize.com</a:t>
            </a:r>
            <a:r>
              <a:rPr lang="en-US" dirty="0"/>
              <a:t>/blog-course/the-needle-in-a-haystack-test-evaluating-the-performance-of-llm-rag-systems/</a:t>
            </a:r>
          </a:p>
          <a:p>
            <a:endParaRPr lang="en-US" dirty="0"/>
          </a:p>
        </p:txBody>
      </p:sp>
      <p:sp>
        <p:nvSpPr>
          <p:cNvPr id="4" name="Slide Number Placeholder 3"/>
          <p:cNvSpPr>
            <a:spLocks noGrp="1"/>
          </p:cNvSpPr>
          <p:nvPr>
            <p:ph type="sldNum" sz="quarter" idx="5"/>
          </p:nvPr>
        </p:nvSpPr>
        <p:spPr/>
        <p:txBody>
          <a:bodyPr/>
          <a:lstStyle/>
          <a:p>
            <a:fld id="{3C13DECC-3D0A-4344-8A7A-D80521E6A2D1}" type="slidenum">
              <a:rPr lang="en-US" smtClean="0"/>
              <a:t>32</a:t>
            </a:fld>
            <a:endParaRPr lang="en-US"/>
          </a:p>
        </p:txBody>
      </p:sp>
    </p:spTree>
    <p:extLst>
      <p:ext uri="{BB962C8B-B14F-4D97-AF65-F5344CB8AC3E}">
        <p14:creationId xmlns:p14="http://schemas.microsoft.com/office/powerpoint/2010/main" val="334702567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64534F-91EE-A929-2C6D-473E77F243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938B2D-DE68-6265-538C-E706A8AAE2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5A9BD2-A09A-A8EA-BF2D-AE3822288A25}"/>
              </a:ext>
            </a:extLst>
          </p:cNvPr>
          <p:cNvSpPr>
            <a:spLocks noGrp="1"/>
          </p:cNvSpPr>
          <p:nvPr>
            <p:ph type="body" idx="1"/>
          </p:nvPr>
        </p:nvSpPr>
        <p:spPr/>
        <p:txBody>
          <a:bodyPr/>
          <a:lstStyle/>
          <a:p>
            <a:r>
              <a:rPr lang="en-US" dirty="0"/>
              <a:t>https://</a:t>
            </a:r>
            <a:r>
              <a:rPr lang="en-US" dirty="0" err="1"/>
              <a:t>arize.com</a:t>
            </a:r>
            <a:r>
              <a:rPr lang="en-US" dirty="0"/>
              <a:t>/blog-course/the-needle-in-a-haystack-test-evaluating-the-performance-of-llm-rag-systems/</a:t>
            </a:r>
          </a:p>
          <a:p>
            <a:endParaRPr lang="en-US" dirty="0"/>
          </a:p>
        </p:txBody>
      </p:sp>
      <p:sp>
        <p:nvSpPr>
          <p:cNvPr id="4" name="Slide Number Placeholder 3">
            <a:extLst>
              <a:ext uri="{FF2B5EF4-FFF2-40B4-BE49-F238E27FC236}">
                <a16:creationId xmlns:a16="http://schemas.microsoft.com/office/drawing/2014/main" id="{23CED6E2-767A-B124-EDCB-6B16AE9219DB}"/>
              </a:ext>
            </a:extLst>
          </p:cNvPr>
          <p:cNvSpPr>
            <a:spLocks noGrp="1"/>
          </p:cNvSpPr>
          <p:nvPr>
            <p:ph type="sldNum" sz="quarter" idx="5"/>
          </p:nvPr>
        </p:nvSpPr>
        <p:spPr/>
        <p:txBody>
          <a:bodyPr/>
          <a:lstStyle/>
          <a:p>
            <a:fld id="{3C13DECC-3D0A-4344-8A7A-D80521E6A2D1}" type="slidenum">
              <a:rPr lang="en-US" smtClean="0"/>
              <a:t>33</a:t>
            </a:fld>
            <a:endParaRPr lang="en-US"/>
          </a:p>
        </p:txBody>
      </p:sp>
    </p:spTree>
    <p:extLst>
      <p:ext uri="{BB962C8B-B14F-4D97-AF65-F5344CB8AC3E}">
        <p14:creationId xmlns:p14="http://schemas.microsoft.com/office/powerpoint/2010/main" val="315687425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a:t>
            </a:r>
            <a:r>
              <a:rPr lang="en-US" dirty="0" err="1"/>
              <a:t>arxiv.org</a:t>
            </a:r>
            <a:r>
              <a:rPr lang="en-US" dirty="0"/>
              <a:t>/abs/2412.12094</a:t>
            </a:r>
          </a:p>
        </p:txBody>
      </p:sp>
      <p:sp>
        <p:nvSpPr>
          <p:cNvPr id="4" name="Slide Number Placeholder 3"/>
          <p:cNvSpPr>
            <a:spLocks noGrp="1"/>
          </p:cNvSpPr>
          <p:nvPr>
            <p:ph type="sldNum" sz="quarter" idx="5"/>
          </p:nvPr>
        </p:nvSpPr>
        <p:spPr/>
        <p:txBody>
          <a:bodyPr/>
          <a:lstStyle/>
          <a:p>
            <a:fld id="{3C13DECC-3D0A-4344-8A7A-D80521E6A2D1}" type="slidenum">
              <a:rPr lang="en-US" smtClean="0"/>
              <a:t>35</a:t>
            </a:fld>
            <a:endParaRPr lang="en-US"/>
          </a:p>
        </p:txBody>
      </p:sp>
    </p:spTree>
    <p:extLst>
      <p:ext uri="{BB962C8B-B14F-4D97-AF65-F5344CB8AC3E}">
        <p14:creationId xmlns:p14="http://schemas.microsoft.com/office/powerpoint/2010/main" val="153539282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6E9697-992A-1054-3433-4B98F55512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18741D-D0CA-E9C9-0B38-C0549F9D24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B3A381-A1E1-0A39-52B7-3FDBD6FFE3C5}"/>
              </a:ext>
            </a:extLst>
          </p:cNvPr>
          <p:cNvSpPr>
            <a:spLocks noGrp="1"/>
          </p:cNvSpPr>
          <p:nvPr>
            <p:ph type="body" idx="1"/>
          </p:nvPr>
        </p:nvSpPr>
        <p:spPr/>
        <p:txBody>
          <a:bodyPr/>
          <a:lstStyle/>
          <a:p>
            <a:r>
              <a:rPr lang="en-US" dirty="0"/>
              <a:t>What’s in common? these are all basically learning tasks</a:t>
            </a:r>
          </a:p>
        </p:txBody>
      </p:sp>
      <p:sp>
        <p:nvSpPr>
          <p:cNvPr id="4" name="Slide Number Placeholder 3">
            <a:extLst>
              <a:ext uri="{FF2B5EF4-FFF2-40B4-BE49-F238E27FC236}">
                <a16:creationId xmlns:a16="http://schemas.microsoft.com/office/drawing/2014/main" id="{2E308DB6-3527-143D-B216-30E96766B8B0}"/>
              </a:ext>
            </a:extLst>
          </p:cNvPr>
          <p:cNvSpPr>
            <a:spLocks noGrp="1"/>
          </p:cNvSpPr>
          <p:nvPr>
            <p:ph type="sldNum" sz="quarter" idx="5"/>
          </p:nvPr>
        </p:nvSpPr>
        <p:spPr/>
        <p:txBody>
          <a:bodyPr/>
          <a:lstStyle/>
          <a:p>
            <a:fld id="{3C13DECC-3D0A-4344-8A7A-D80521E6A2D1}" type="slidenum">
              <a:rPr lang="en-US" smtClean="0"/>
              <a:t>44</a:t>
            </a:fld>
            <a:endParaRPr lang="en-US"/>
          </a:p>
        </p:txBody>
      </p:sp>
    </p:spTree>
    <p:extLst>
      <p:ext uri="{BB962C8B-B14F-4D97-AF65-F5344CB8AC3E}">
        <p14:creationId xmlns:p14="http://schemas.microsoft.com/office/powerpoint/2010/main" val="126262028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F75D56-D25F-7375-6B4B-2865A3E4EF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524F1E-5029-6875-57B4-4FA6B0CBC8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F39EC3-D0BA-36B8-154C-BCCF184F470A}"/>
              </a:ext>
            </a:extLst>
          </p:cNvPr>
          <p:cNvSpPr>
            <a:spLocks noGrp="1"/>
          </p:cNvSpPr>
          <p:nvPr>
            <p:ph type="body" idx="1"/>
          </p:nvPr>
        </p:nvSpPr>
        <p:spPr/>
        <p:txBody>
          <a:bodyPr/>
          <a:lstStyle/>
          <a:p>
            <a:r>
              <a:rPr lang="en-US" dirty="0"/>
              <a:t>https://</a:t>
            </a:r>
            <a:r>
              <a:rPr lang="en-US" dirty="0" err="1"/>
              <a:t>direct.mit.edu</a:t>
            </a:r>
            <a:r>
              <a:rPr lang="en-US" dirty="0"/>
              <a:t>/</a:t>
            </a:r>
            <a:r>
              <a:rPr lang="en-US" dirty="0" err="1"/>
              <a:t>tacl</a:t>
            </a:r>
            <a:r>
              <a:rPr lang="en-US" dirty="0"/>
              <a:t>/article/</a:t>
            </a:r>
            <a:r>
              <a:rPr lang="en-US" dirty="0" err="1"/>
              <a:t>doi</a:t>
            </a:r>
            <a:r>
              <a:rPr lang="en-US" dirty="0"/>
              <a:t>/10.1162/tacl_a_00704/125482</a:t>
            </a:r>
          </a:p>
        </p:txBody>
      </p:sp>
      <p:sp>
        <p:nvSpPr>
          <p:cNvPr id="4" name="Slide Number Placeholder 3">
            <a:extLst>
              <a:ext uri="{FF2B5EF4-FFF2-40B4-BE49-F238E27FC236}">
                <a16:creationId xmlns:a16="http://schemas.microsoft.com/office/drawing/2014/main" id="{8D74BAC6-8AE2-3A50-FB1C-39C1E92DBB0A}"/>
              </a:ext>
            </a:extLst>
          </p:cNvPr>
          <p:cNvSpPr>
            <a:spLocks noGrp="1"/>
          </p:cNvSpPr>
          <p:nvPr>
            <p:ph type="sldNum" sz="quarter" idx="5"/>
          </p:nvPr>
        </p:nvSpPr>
        <p:spPr/>
        <p:txBody>
          <a:bodyPr/>
          <a:lstStyle/>
          <a:p>
            <a:fld id="{3C13DECC-3D0A-4344-8A7A-D80521E6A2D1}" type="slidenum">
              <a:rPr lang="en-US" smtClean="0"/>
              <a:t>45</a:t>
            </a:fld>
            <a:endParaRPr lang="en-US"/>
          </a:p>
        </p:txBody>
      </p:sp>
    </p:spTree>
    <p:extLst>
      <p:ext uri="{BB962C8B-B14F-4D97-AF65-F5344CB8AC3E}">
        <p14:creationId xmlns:p14="http://schemas.microsoft.com/office/powerpoint/2010/main" val="56930707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often not much detail for anything in particular – it’s a road map for one particular way of navigating</a:t>
            </a:r>
          </a:p>
        </p:txBody>
      </p:sp>
      <p:sp>
        <p:nvSpPr>
          <p:cNvPr id="4" name="Slide Number Placeholder 3"/>
          <p:cNvSpPr>
            <a:spLocks noGrp="1"/>
          </p:cNvSpPr>
          <p:nvPr>
            <p:ph type="sldNum" sz="quarter" idx="5"/>
          </p:nvPr>
        </p:nvSpPr>
        <p:spPr/>
        <p:txBody>
          <a:bodyPr/>
          <a:lstStyle/>
          <a:p>
            <a:fld id="{3C13DECC-3D0A-4344-8A7A-D80521E6A2D1}" type="slidenum">
              <a:rPr lang="en-US" smtClean="0"/>
              <a:t>47</a:t>
            </a:fld>
            <a:endParaRPr lang="en-US"/>
          </a:p>
        </p:txBody>
      </p:sp>
    </p:spTree>
    <p:extLst>
      <p:ext uri="{BB962C8B-B14F-4D97-AF65-F5344CB8AC3E}">
        <p14:creationId xmlns:p14="http://schemas.microsoft.com/office/powerpoint/2010/main" val="296303003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What’s in common? these are all basically learning tasks</a:t>
            </a:r>
          </a:p>
        </p:txBody>
      </p:sp>
      <p:sp>
        <p:nvSpPr>
          <p:cNvPr id="4" name="Slide Number Placeholder 3"/>
          <p:cNvSpPr>
            <a:spLocks noGrp="1"/>
          </p:cNvSpPr>
          <p:nvPr>
            <p:ph type="sldNum" sz="quarter" idx="5"/>
          </p:nvPr>
        </p:nvSpPr>
        <p:spPr/>
        <p:txBody>
          <a:bodyPr/>
          <a:lstStyle/>
          <a:p>
            <a:fld id="{3C13DECC-3D0A-4344-8A7A-D80521E6A2D1}" type="slidenum">
              <a:rPr lang="en-US" smtClean="0"/>
              <a:t>48</a:t>
            </a:fld>
            <a:endParaRPr lang="en-US"/>
          </a:p>
        </p:txBody>
      </p:sp>
    </p:spTree>
    <p:extLst>
      <p:ext uri="{BB962C8B-B14F-4D97-AF65-F5344CB8AC3E}">
        <p14:creationId xmlns:p14="http://schemas.microsoft.com/office/powerpoint/2010/main" val="79876076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A438DA-1771-E25C-C6ED-F8E4B1B150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40139F-F9A7-256D-2E79-DE17E313C1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B73878-B6B5-6AF3-36A9-002513D31F89}"/>
              </a:ext>
            </a:extLst>
          </p:cNvPr>
          <p:cNvSpPr>
            <a:spLocks noGrp="1"/>
          </p:cNvSpPr>
          <p:nvPr>
            <p:ph type="body" idx="1"/>
          </p:nvPr>
        </p:nvSpPr>
        <p:spPr/>
        <p:txBody>
          <a:bodyPr/>
          <a:lstStyle/>
          <a:p>
            <a:r>
              <a:rPr lang="en-US" dirty="0"/>
              <a:t>What’s in common? these are all basically learning tasks</a:t>
            </a:r>
          </a:p>
        </p:txBody>
      </p:sp>
      <p:sp>
        <p:nvSpPr>
          <p:cNvPr id="4" name="Slide Number Placeholder 3">
            <a:extLst>
              <a:ext uri="{FF2B5EF4-FFF2-40B4-BE49-F238E27FC236}">
                <a16:creationId xmlns:a16="http://schemas.microsoft.com/office/drawing/2014/main" id="{2E5BEF4B-84B0-9812-E726-9B9D8B4798A7}"/>
              </a:ext>
            </a:extLst>
          </p:cNvPr>
          <p:cNvSpPr>
            <a:spLocks noGrp="1"/>
          </p:cNvSpPr>
          <p:nvPr>
            <p:ph type="sldNum" sz="quarter" idx="5"/>
          </p:nvPr>
        </p:nvSpPr>
        <p:spPr/>
        <p:txBody>
          <a:bodyPr/>
          <a:lstStyle/>
          <a:p>
            <a:fld id="{3C13DECC-3D0A-4344-8A7A-D80521E6A2D1}" type="slidenum">
              <a:rPr lang="en-US" smtClean="0"/>
              <a:t>49</a:t>
            </a:fld>
            <a:endParaRPr lang="en-US"/>
          </a:p>
        </p:txBody>
      </p:sp>
    </p:spTree>
    <p:extLst>
      <p:ext uri="{BB962C8B-B14F-4D97-AF65-F5344CB8AC3E}">
        <p14:creationId xmlns:p14="http://schemas.microsoft.com/office/powerpoint/2010/main" val="3553660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5A01DA-1DBA-DE7D-A6CB-47014C6A35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45DC8F-C24D-10E4-BA60-63C13D1B6A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471BC7E-6868-8BB2-CF4B-2467C1239EDF}"/>
              </a:ext>
            </a:extLst>
          </p:cNvPr>
          <p:cNvSpPr>
            <a:spLocks noGrp="1"/>
          </p:cNvSpPr>
          <p:nvPr>
            <p:ph type="body" idx="1"/>
          </p:nvPr>
        </p:nvSpPr>
        <p:spPr/>
        <p:txBody>
          <a:bodyPr/>
          <a:lstStyle/>
          <a:p>
            <a:r>
              <a:rPr lang="en-US" dirty="0"/>
              <a:t>What’s in common? these are all basically learning tasks</a:t>
            </a:r>
          </a:p>
        </p:txBody>
      </p:sp>
      <p:sp>
        <p:nvSpPr>
          <p:cNvPr id="4" name="Slide Number Placeholder 3">
            <a:extLst>
              <a:ext uri="{FF2B5EF4-FFF2-40B4-BE49-F238E27FC236}">
                <a16:creationId xmlns:a16="http://schemas.microsoft.com/office/drawing/2014/main" id="{B9A0AE98-F55B-7EE6-D200-27B32B17DEBF}"/>
              </a:ext>
            </a:extLst>
          </p:cNvPr>
          <p:cNvSpPr>
            <a:spLocks noGrp="1"/>
          </p:cNvSpPr>
          <p:nvPr>
            <p:ph type="sldNum" sz="quarter" idx="5"/>
          </p:nvPr>
        </p:nvSpPr>
        <p:spPr/>
        <p:txBody>
          <a:bodyPr/>
          <a:lstStyle/>
          <a:p>
            <a:fld id="{3C13DECC-3D0A-4344-8A7A-D80521E6A2D1}" type="slidenum">
              <a:rPr lang="en-US" smtClean="0"/>
              <a:t>50</a:t>
            </a:fld>
            <a:endParaRPr lang="en-US"/>
          </a:p>
        </p:txBody>
      </p:sp>
    </p:spTree>
    <p:extLst>
      <p:ext uri="{BB962C8B-B14F-4D97-AF65-F5344CB8AC3E}">
        <p14:creationId xmlns:p14="http://schemas.microsoft.com/office/powerpoint/2010/main" val="82870170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BD7425-C5A5-4B1D-1DE1-E23E071088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159919-A486-DA52-06AE-E407025DFFE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8BF4EB-62D1-11B7-27AA-DB7B1AA2DA06}"/>
              </a:ext>
            </a:extLst>
          </p:cNvPr>
          <p:cNvSpPr>
            <a:spLocks noGrp="1"/>
          </p:cNvSpPr>
          <p:nvPr>
            <p:ph type="body" idx="1"/>
          </p:nvPr>
        </p:nvSpPr>
        <p:spPr/>
        <p:txBody>
          <a:bodyPr/>
          <a:lstStyle/>
          <a:p>
            <a:r>
              <a:rPr lang="en-US" dirty="0"/>
              <a:t>https://</a:t>
            </a:r>
            <a:r>
              <a:rPr lang="en-US" dirty="0" err="1"/>
              <a:t>sebastianraschka.com</a:t>
            </a:r>
            <a:r>
              <a:rPr lang="en-US" dirty="0"/>
              <a:t>/blog/2023/</a:t>
            </a:r>
            <a:r>
              <a:rPr lang="en-US" dirty="0" err="1"/>
              <a:t>llm</a:t>
            </a:r>
            <a:r>
              <a:rPr lang="en-US" dirty="0"/>
              <a:t>-mixed-precision-</a:t>
            </a:r>
            <a:r>
              <a:rPr lang="en-US" dirty="0" err="1"/>
              <a:t>copy.html</a:t>
            </a:r>
            <a:endParaRPr lang="en-US" dirty="0"/>
          </a:p>
        </p:txBody>
      </p:sp>
      <p:sp>
        <p:nvSpPr>
          <p:cNvPr id="4" name="Slide Number Placeholder 3">
            <a:extLst>
              <a:ext uri="{FF2B5EF4-FFF2-40B4-BE49-F238E27FC236}">
                <a16:creationId xmlns:a16="http://schemas.microsoft.com/office/drawing/2014/main" id="{C33C1E35-D4DE-CBCF-9A5D-A9868453E5C0}"/>
              </a:ext>
            </a:extLst>
          </p:cNvPr>
          <p:cNvSpPr>
            <a:spLocks noGrp="1"/>
          </p:cNvSpPr>
          <p:nvPr>
            <p:ph type="sldNum" sz="quarter" idx="5"/>
          </p:nvPr>
        </p:nvSpPr>
        <p:spPr/>
        <p:txBody>
          <a:bodyPr/>
          <a:lstStyle/>
          <a:p>
            <a:fld id="{3C13DECC-3D0A-4344-8A7A-D80521E6A2D1}" type="slidenum">
              <a:rPr lang="en-US" smtClean="0"/>
              <a:t>51</a:t>
            </a:fld>
            <a:endParaRPr lang="en-US"/>
          </a:p>
        </p:txBody>
      </p:sp>
    </p:spTree>
    <p:extLst>
      <p:ext uri="{BB962C8B-B14F-4D97-AF65-F5344CB8AC3E}">
        <p14:creationId xmlns:p14="http://schemas.microsoft.com/office/powerpoint/2010/main" val="30091347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ECF8D9-882E-BC0C-1175-6111B4A0EB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E71FCB-216D-EFDF-8DFC-85D7D354D0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E4FCA4-7E14-8E61-C067-855E1AD09784}"/>
              </a:ext>
            </a:extLst>
          </p:cNvPr>
          <p:cNvSpPr>
            <a:spLocks noGrp="1"/>
          </p:cNvSpPr>
          <p:nvPr>
            <p:ph type="body" idx="1"/>
          </p:nvPr>
        </p:nvSpPr>
        <p:spPr/>
        <p:txBody>
          <a:bodyPr/>
          <a:lstStyle/>
          <a:p>
            <a:r>
              <a:rPr lang="en-US" b="0" i="0" dirty="0">
                <a:solidFill>
                  <a:srgbClr val="000000"/>
                </a:solidFill>
                <a:effectLst/>
                <a:latin typeface="Times"/>
              </a:rPr>
              <a:t>https://</a:t>
            </a:r>
            <a:r>
              <a:rPr lang="en-US" b="0" i="0" dirty="0" err="1">
                <a:solidFill>
                  <a:srgbClr val="000000"/>
                </a:solidFill>
                <a:effectLst/>
                <a:latin typeface="Times"/>
              </a:rPr>
              <a:t>leimao.github.io</a:t>
            </a:r>
            <a:r>
              <a:rPr lang="en-US" b="0" i="0" dirty="0">
                <a:solidFill>
                  <a:srgbClr val="000000"/>
                </a:solidFill>
                <a:effectLst/>
                <a:latin typeface="Times"/>
              </a:rPr>
              <a:t>/article/Neural-Networks-Quantization/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ym typeface="Wingdings" pitchFamily="2" charset="2"/>
              </a:rPr>
              <a:t>Note:  these tricks need to be </a:t>
            </a:r>
            <a:r>
              <a:rPr lang="en-US" dirty="0">
                <a:highlight>
                  <a:srgbClr val="FFFF00"/>
                </a:highlight>
                <a:sym typeface="Wingdings" pitchFamily="2" charset="2"/>
              </a:rPr>
              <a:t>h/w and library aware!</a:t>
            </a:r>
          </a:p>
          <a:p>
            <a:endParaRPr lang="en-US" dirty="0"/>
          </a:p>
        </p:txBody>
      </p:sp>
      <p:sp>
        <p:nvSpPr>
          <p:cNvPr id="4" name="Slide Number Placeholder 3">
            <a:extLst>
              <a:ext uri="{FF2B5EF4-FFF2-40B4-BE49-F238E27FC236}">
                <a16:creationId xmlns:a16="http://schemas.microsoft.com/office/drawing/2014/main" id="{3384F847-E89A-3EA6-940E-3A2B748036F1}"/>
              </a:ext>
            </a:extLst>
          </p:cNvPr>
          <p:cNvSpPr>
            <a:spLocks noGrp="1"/>
          </p:cNvSpPr>
          <p:nvPr>
            <p:ph type="sldNum" sz="quarter" idx="5"/>
          </p:nvPr>
        </p:nvSpPr>
        <p:spPr/>
        <p:txBody>
          <a:bodyPr/>
          <a:lstStyle/>
          <a:p>
            <a:fld id="{3C13DECC-3D0A-4344-8A7A-D80521E6A2D1}" type="slidenum">
              <a:rPr lang="en-US" smtClean="0"/>
              <a:t>52</a:t>
            </a:fld>
            <a:endParaRPr lang="en-US"/>
          </a:p>
        </p:txBody>
      </p:sp>
    </p:spTree>
    <p:extLst>
      <p:ext uri="{BB962C8B-B14F-4D97-AF65-F5344CB8AC3E}">
        <p14:creationId xmlns:p14="http://schemas.microsoft.com/office/powerpoint/2010/main" val="228366134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197FA6-6F2A-C788-2983-6EB17C91C3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4B00D3-43E8-9A1C-BDB3-A992F183EA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D1F5AF-6ABC-9FF7-D1A8-1F7C0EF47BD6}"/>
              </a:ext>
            </a:extLst>
          </p:cNvPr>
          <p:cNvSpPr>
            <a:spLocks noGrp="1"/>
          </p:cNvSpPr>
          <p:nvPr>
            <p:ph type="body" idx="1"/>
          </p:nvPr>
        </p:nvSpPr>
        <p:spPr/>
        <p:txBody>
          <a:bodyPr/>
          <a:lstStyle/>
          <a:p>
            <a:r>
              <a:rPr lang="en-US" dirty="0"/>
              <a:t>https://</a:t>
            </a:r>
            <a:r>
              <a:rPr lang="en-US" dirty="0" err="1"/>
              <a:t>proceedings.neurips.cc</a:t>
            </a:r>
            <a:r>
              <a:rPr lang="en-US" dirty="0"/>
              <a:t>/</a:t>
            </a:r>
            <a:r>
              <a:rPr lang="en-US" dirty="0" err="1"/>
              <a:t>paper_files</a:t>
            </a:r>
            <a:r>
              <a:rPr lang="en-US" dirty="0"/>
              <a:t>/paper/2022/file/c3ba4962c05c49636d4c6206a97e9c8a-Paper-Conference.pdf</a:t>
            </a:r>
          </a:p>
          <a:p>
            <a:endParaRPr lang="en-US" dirty="0"/>
          </a:p>
        </p:txBody>
      </p:sp>
      <p:sp>
        <p:nvSpPr>
          <p:cNvPr id="4" name="Slide Number Placeholder 3">
            <a:extLst>
              <a:ext uri="{FF2B5EF4-FFF2-40B4-BE49-F238E27FC236}">
                <a16:creationId xmlns:a16="http://schemas.microsoft.com/office/drawing/2014/main" id="{B2F87437-30F1-00B1-926E-60FDACECBC91}"/>
              </a:ext>
            </a:extLst>
          </p:cNvPr>
          <p:cNvSpPr>
            <a:spLocks noGrp="1"/>
          </p:cNvSpPr>
          <p:nvPr>
            <p:ph type="sldNum" sz="quarter" idx="5"/>
          </p:nvPr>
        </p:nvSpPr>
        <p:spPr/>
        <p:txBody>
          <a:bodyPr/>
          <a:lstStyle/>
          <a:p>
            <a:fld id="{3C13DECC-3D0A-4344-8A7A-D80521E6A2D1}" type="slidenum">
              <a:rPr lang="en-US" smtClean="0"/>
              <a:t>53</a:t>
            </a:fld>
            <a:endParaRPr lang="en-US"/>
          </a:p>
        </p:txBody>
      </p:sp>
    </p:spTree>
    <p:extLst>
      <p:ext uri="{BB962C8B-B14F-4D97-AF65-F5344CB8AC3E}">
        <p14:creationId xmlns:p14="http://schemas.microsoft.com/office/powerpoint/2010/main" val="330611129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A4FD38-3684-33B3-018F-13DEE05868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55A768-ABEB-18C8-5D24-FFC4DEFD44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689227-971B-D639-A5E3-D51DF0DBF60D}"/>
              </a:ext>
            </a:extLst>
          </p:cNvPr>
          <p:cNvSpPr>
            <a:spLocks noGrp="1"/>
          </p:cNvSpPr>
          <p:nvPr>
            <p:ph type="body" idx="1"/>
          </p:nvPr>
        </p:nvSpPr>
        <p:spPr/>
        <p:txBody>
          <a:bodyPr/>
          <a:lstStyle/>
          <a:p>
            <a:r>
              <a:rPr lang="en-US" dirty="0"/>
              <a:t>https://</a:t>
            </a:r>
            <a:r>
              <a:rPr lang="en-US" dirty="0" err="1"/>
              <a:t>proceedings.neurips.cc</a:t>
            </a:r>
            <a:r>
              <a:rPr lang="en-US" dirty="0"/>
              <a:t>/</a:t>
            </a:r>
            <a:r>
              <a:rPr lang="en-US" dirty="0" err="1"/>
              <a:t>paper_files</a:t>
            </a:r>
            <a:r>
              <a:rPr lang="en-US" dirty="0"/>
              <a:t>/paper/2022/file/c3ba4962c05c49636d4c6206a97e9c8a-Paper-Conference.pdf</a:t>
            </a:r>
          </a:p>
          <a:p>
            <a:endParaRPr lang="en-US" dirty="0"/>
          </a:p>
        </p:txBody>
      </p:sp>
      <p:sp>
        <p:nvSpPr>
          <p:cNvPr id="4" name="Slide Number Placeholder 3">
            <a:extLst>
              <a:ext uri="{FF2B5EF4-FFF2-40B4-BE49-F238E27FC236}">
                <a16:creationId xmlns:a16="http://schemas.microsoft.com/office/drawing/2014/main" id="{A215872C-BD1D-E79B-FAB5-23C9484C7940}"/>
              </a:ext>
            </a:extLst>
          </p:cNvPr>
          <p:cNvSpPr>
            <a:spLocks noGrp="1"/>
          </p:cNvSpPr>
          <p:nvPr>
            <p:ph type="sldNum" sz="quarter" idx="5"/>
          </p:nvPr>
        </p:nvSpPr>
        <p:spPr/>
        <p:txBody>
          <a:bodyPr/>
          <a:lstStyle/>
          <a:p>
            <a:fld id="{3C13DECC-3D0A-4344-8A7A-D80521E6A2D1}" type="slidenum">
              <a:rPr lang="en-US" smtClean="0"/>
              <a:t>54</a:t>
            </a:fld>
            <a:endParaRPr lang="en-US"/>
          </a:p>
        </p:txBody>
      </p:sp>
    </p:spTree>
    <p:extLst>
      <p:ext uri="{BB962C8B-B14F-4D97-AF65-F5344CB8AC3E}">
        <p14:creationId xmlns:p14="http://schemas.microsoft.com/office/powerpoint/2010/main" val="371850020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2D85DA-658C-EE08-F02E-11880F239E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CBD4A8-8C7E-5A0F-65A5-A2D3313D15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25C377-25F5-1A81-3EBF-A1AF73211AEC}"/>
              </a:ext>
            </a:extLst>
          </p:cNvPr>
          <p:cNvSpPr>
            <a:spLocks noGrp="1"/>
          </p:cNvSpPr>
          <p:nvPr>
            <p:ph type="body" idx="1"/>
          </p:nvPr>
        </p:nvSpPr>
        <p:spPr/>
        <p:txBody>
          <a:bodyPr/>
          <a:lstStyle/>
          <a:p>
            <a:r>
              <a:rPr lang="en-US" dirty="0"/>
              <a:t>https://</a:t>
            </a:r>
            <a:r>
              <a:rPr lang="en-US" dirty="0" err="1"/>
              <a:t>openreview.net</a:t>
            </a:r>
            <a:r>
              <a:rPr lang="en-US" dirty="0"/>
              <a:t>/</a:t>
            </a:r>
            <a:r>
              <a:rPr lang="en-US" dirty="0" err="1"/>
              <a:t>forum?id</a:t>
            </a:r>
            <a:r>
              <a:rPr lang="en-US" dirty="0"/>
              <a:t>=i8tGb1ab1j</a:t>
            </a:r>
          </a:p>
          <a:p>
            <a:endParaRPr lang="en-US" dirty="0"/>
          </a:p>
        </p:txBody>
      </p:sp>
      <p:sp>
        <p:nvSpPr>
          <p:cNvPr id="4" name="Slide Number Placeholder 3">
            <a:extLst>
              <a:ext uri="{FF2B5EF4-FFF2-40B4-BE49-F238E27FC236}">
                <a16:creationId xmlns:a16="http://schemas.microsoft.com/office/drawing/2014/main" id="{B3D69F6C-4892-E113-2512-92C4FB36BCEB}"/>
              </a:ext>
            </a:extLst>
          </p:cNvPr>
          <p:cNvSpPr>
            <a:spLocks noGrp="1"/>
          </p:cNvSpPr>
          <p:nvPr>
            <p:ph type="sldNum" sz="quarter" idx="5"/>
          </p:nvPr>
        </p:nvSpPr>
        <p:spPr/>
        <p:txBody>
          <a:bodyPr/>
          <a:lstStyle/>
          <a:p>
            <a:fld id="{3C13DECC-3D0A-4344-8A7A-D80521E6A2D1}" type="slidenum">
              <a:rPr lang="en-US" smtClean="0"/>
              <a:t>55</a:t>
            </a:fld>
            <a:endParaRPr lang="en-US"/>
          </a:p>
        </p:txBody>
      </p:sp>
    </p:spTree>
    <p:extLst>
      <p:ext uri="{BB962C8B-B14F-4D97-AF65-F5344CB8AC3E}">
        <p14:creationId xmlns:p14="http://schemas.microsoft.com/office/powerpoint/2010/main" val="190223827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FF2DBE-64B2-500D-DAC0-431B093C69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D1F2CF-DCCB-C362-D0FF-0435B829EA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F4F12C-B0DF-38BD-E8BD-B7A82E739D74}"/>
              </a:ext>
            </a:extLst>
          </p:cNvPr>
          <p:cNvSpPr>
            <a:spLocks noGrp="1"/>
          </p:cNvSpPr>
          <p:nvPr>
            <p:ph type="body" idx="1"/>
          </p:nvPr>
        </p:nvSpPr>
        <p:spPr/>
        <p:txBody>
          <a:bodyPr/>
          <a:lstStyle/>
          <a:p>
            <a:r>
              <a:rPr lang="en-US" dirty="0"/>
              <a:t>https://</a:t>
            </a:r>
            <a:r>
              <a:rPr lang="en-US" dirty="0" err="1"/>
              <a:t>openreview.net</a:t>
            </a:r>
            <a:r>
              <a:rPr lang="en-US" dirty="0"/>
              <a:t>/</a:t>
            </a:r>
            <a:r>
              <a:rPr lang="en-US" dirty="0" err="1"/>
              <a:t>forum?id</a:t>
            </a:r>
            <a:r>
              <a:rPr lang="en-US" dirty="0"/>
              <a:t>=i8tGb1ab1j</a:t>
            </a:r>
          </a:p>
          <a:p>
            <a:endParaRPr lang="en-US" dirty="0"/>
          </a:p>
        </p:txBody>
      </p:sp>
      <p:sp>
        <p:nvSpPr>
          <p:cNvPr id="4" name="Slide Number Placeholder 3">
            <a:extLst>
              <a:ext uri="{FF2B5EF4-FFF2-40B4-BE49-F238E27FC236}">
                <a16:creationId xmlns:a16="http://schemas.microsoft.com/office/drawing/2014/main" id="{47454EFE-0BFD-3E38-79D7-C4E3B3A6E2A6}"/>
              </a:ext>
            </a:extLst>
          </p:cNvPr>
          <p:cNvSpPr>
            <a:spLocks noGrp="1"/>
          </p:cNvSpPr>
          <p:nvPr>
            <p:ph type="sldNum" sz="quarter" idx="5"/>
          </p:nvPr>
        </p:nvSpPr>
        <p:spPr/>
        <p:txBody>
          <a:bodyPr/>
          <a:lstStyle/>
          <a:p>
            <a:fld id="{3C13DECC-3D0A-4344-8A7A-D80521E6A2D1}" type="slidenum">
              <a:rPr lang="en-US" smtClean="0"/>
              <a:t>56</a:t>
            </a:fld>
            <a:endParaRPr lang="en-US"/>
          </a:p>
        </p:txBody>
      </p:sp>
    </p:spTree>
    <p:extLst>
      <p:ext uri="{BB962C8B-B14F-4D97-AF65-F5344CB8AC3E}">
        <p14:creationId xmlns:p14="http://schemas.microsoft.com/office/powerpoint/2010/main" val="266441199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F1FB4A-5899-CE2E-225A-71D99FC9BE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A24E19-5191-7CCB-9B8A-3CC6F1B3D4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3D583F-C158-0548-FC96-672C8D3B6CA0}"/>
              </a:ext>
            </a:extLst>
          </p:cNvPr>
          <p:cNvSpPr>
            <a:spLocks noGrp="1"/>
          </p:cNvSpPr>
          <p:nvPr>
            <p:ph type="body" idx="1"/>
          </p:nvPr>
        </p:nvSpPr>
        <p:spPr/>
        <p:txBody>
          <a:bodyPr/>
          <a:lstStyle/>
          <a:p>
            <a:r>
              <a:rPr lang="en-US" dirty="0"/>
              <a:t>What’s in common? these are all basically learning tasks</a:t>
            </a:r>
          </a:p>
        </p:txBody>
      </p:sp>
      <p:sp>
        <p:nvSpPr>
          <p:cNvPr id="4" name="Slide Number Placeholder 3">
            <a:extLst>
              <a:ext uri="{FF2B5EF4-FFF2-40B4-BE49-F238E27FC236}">
                <a16:creationId xmlns:a16="http://schemas.microsoft.com/office/drawing/2014/main" id="{83C07204-2F70-A661-4459-E796FE198406}"/>
              </a:ext>
            </a:extLst>
          </p:cNvPr>
          <p:cNvSpPr>
            <a:spLocks noGrp="1"/>
          </p:cNvSpPr>
          <p:nvPr>
            <p:ph type="sldNum" sz="quarter" idx="5"/>
          </p:nvPr>
        </p:nvSpPr>
        <p:spPr/>
        <p:txBody>
          <a:bodyPr/>
          <a:lstStyle/>
          <a:p>
            <a:fld id="{3C13DECC-3D0A-4344-8A7A-D80521E6A2D1}" type="slidenum">
              <a:rPr lang="en-US" smtClean="0"/>
              <a:t>57</a:t>
            </a:fld>
            <a:endParaRPr lang="en-US"/>
          </a:p>
        </p:txBody>
      </p:sp>
    </p:spTree>
    <p:extLst>
      <p:ext uri="{BB962C8B-B14F-4D97-AF65-F5344CB8AC3E}">
        <p14:creationId xmlns:p14="http://schemas.microsoft.com/office/powerpoint/2010/main" val="271212737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7F5242-53FF-4E11-4547-573DE50029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EF4DF6-DA02-6245-FE65-5F50EA88F0F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E2A735-5285-0CF3-1F89-6695EC09B279}"/>
              </a:ext>
            </a:extLst>
          </p:cNvPr>
          <p:cNvSpPr>
            <a:spLocks noGrp="1"/>
          </p:cNvSpPr>
          <p:nvPr>
            <p:ph type="body" idx="1"/>
          </p:nvPr>
        </p:nvSpPr>
        <p:spPr/>
        <p:txBody>
          <a:bodyPr/>
          <a:lstStyle/>
          <a:p>
            <a:r>
              <a:rPr lang="en-US" dirty="0"/>
              <a:t>What’s in common? these are all basically learning tasks</a:t>
            </a:r>
          </a:p>
        </p:txBody>
      </p:sp>
      <p:sp>
        <p:nvSpPr>
          <p:cNvPr id="4" name="Slide Number Placeholder 3">
            <a:extLst>
              <a:ext uri="{FF2B5EF4-FFF2-40B4-BE49-F238E27FC236}">
                <a16:creationId xmlns:a16="http://schemas.microsoft.com/office/drawing/2014/main" id="{AFDB1EA2-4B33-560A-91B1-053F8B84C98A}"/>
              </a:ext>
            </a:extLst>
          </p:cNvPr>
          <p:cNvSpPr>
            <a:spLocks noGrp="1"/>
          </p:cNvSpPr>
          <p:nvPr>
            <p:ph type="sldNum" sz="quarter" idx="5"/>
          </p:nvPr>
        </p:nvSpPr>
        <p:spPr/>
        <p:txBody>
          <a:bodyPr/>
          <a:lstStyle/>
          <a:p>
            <a:fld id="{3C13DECC-3D0A-4344-8A7A-D80521E6A2D1}" type="slidenum">
              <a:rPr lang="en-US" smtClean="0"/>
              <a:t>58</a:t>
            </a:fld>
            <a:endParaRPr lang="en-US"/>
          </a:p>
        </p:txBody>
      </p:sp>
    </p:spTree>
    <p:extLst>
      <p:ext uri="{BB962C8B-B14F-4D97-AF65-F5344CB8AC3E}">
        <p14:creationId xmlns:p14="http://schemas.microsoft.com/office/powerpoint/2010/main" val="222781680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E9CD4B-6834-0C9B-ABE8-63F8EB1F7D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66307E-A4B0-DEB9-C5DC-ED231C898C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D3CF89-5712-FBCE-3FF1-A020D7E0177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AE4AA83-66E0-1A58-2C0E-F506CE1A965C}"/>
              </a:ext>
            </a:extLst>
          </p:cNvPr>
          <p:cNvSpPr>
            <a:spLocks noGrp="1"/>
          </p:cNvSpPr>
          <p:nvPr>
            <p:ph type="sldNum" sz="quarter" idx="5"/>
          </p:nvPr>
        </p:nvSpPr>
        <p:spPr/>
        <p:txBody>
          <a:bodyPr/>
          <a:lstStyle/>
          <a:p>
            <a:fld id="{3C13DECC-3D0A-4344-8A7A-D80521E6A2D1}" type="slidenum">
              <a:rPr lang="en-US" smtClean="0"/>
              <a:t>59</a:t>
            </a:fld>
            <a:endParaRPr lang="en-US"/>
          </a:p>
        </p:txBody>
      </p:sp>
    </p:spTree>
    <p:extLst>
      <p:ext uri="{BB962C8B-B14F-4D97-AF65-F5344CB8AC3E}">
        <p14:creationId xmlns:p14="http://schemas.microsoft.com/office/powerpoint/2010/main" val="359873593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F2E1A3-53EB-4997-D82D-1447FC7F08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65070B-03CC-1842-D015-BA80764A23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954AB8-ADA6-D925-FA5F-EB56645F3EA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CB60833-F156-04E1-764B-421BEF0DCB43}"/>
              </a:ext>
            </a:extLst>
          </p:cNvPr>
          <p:cNvSpPr>
            <a:spLocks noGrp="1"/>
          </p:cNvSpPr>
          <p:nvPr>
            <p:ph type="sldNum" sz="quarter" idx="5"/>
          </p:nvPr>
        </p:nvSpPr>
        <p:spPr/>
        <p:txBody>
          <a:bodyPr/>
          <a:lstStyle/>
          <a:p>
            <a:fld id="{3C13DECC-3D0A-4344-8A7A-D80521E6A2D1}" type="slidenum">
              <a:rPr lang="en-US" smtClean="0"/>
              <a:t>60</a:t>
            </a:fld>
            <a:endParaRPr lang="en-US"/>
          </a:p>
        </p:txBody>
      </p:sp>
    </p:spTree>
    <p:extLst>
      <p:ext uri="{BB962C8B-B14F-4D97-AF65-F5344CB8AC3E}">
        <p14:creationId xmlns:p14="http://schemas.microsoft.com/office/powerpoint/2010/main" val="72143082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31B107-C414-9023-2F19-09C294630A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139629-22F1-727F-D7EC-E828B7FFBC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43EEB2-7CBD-5758-0C63-4751778E2F0C}"/>
              </a:ext>
            </a:extLst>
          </p:cNvPr>
          <p:cNvSpPr>
            <a:spLocks noGrp="1"/>
          </p:cNvSpPr>
          <p:nvPr>
            <p:ph type="body" idx="1"/>
          </p:nvPr>
        </p:nvSpPr>
        <p:spPr/>
        <p:txBody>
          <a:bodyPr/>
          <a:lstStyle/>
          <a:p>
            <a:r>
              <a:rPr lang="en-US" dirty="0"/>
              <a:t>https://</a:t>
            </a:r>
            <a:r>
              <a:rPr lang="en-US" dirty="0" err="1"/>
              <a:t>arxiv.org</a:t>
            </a:r>
            <a:r>
              <a:rPr lang="en-US" dirty="0"/>
              <a:t>/abs/2104.08378</a:t>
            </a:r>
          </a:p>
        </p:txBody>
      </p:sp>
      <p:sp>
        <p:nvSpPr>
          <p:cNvPr id="4" name="Slide Number Placeholder 3">
            <a:extLst>
              <a:ext uri="{FF2B5EF4-FFF2-40B4-BE49-F238E27FC236}">
                <a16:creationId xmlns:a16="http://schemas.microsoft.com/office/drawing/2014/main" id="{7F6100C5-568A-62D8-42AF-08AE230C2A61}"/>
              </a:ext>
            </a:extLst>
          </p:cNvPr>
          <p:cNvSpPr>
            <a:spLocks noGrp="1"/>
          </p:cNvSpPr>
          <p:nvPr>
            <p:ph type="sldNum" sz="quarter" idx="5"/>
          </p:nvPr>
        </p:nvSpPr>
        <p:spPr/>
        <p:txBody>
          <a:bodyPr/>
          <a:lstStyle/>
          <a:p>
            <a:fld id="{3C13DECC-3D0A-4344-8A7A-D80521E6A2D1}" type="slidenum">
              <a:rPr lang="en-US" smtClean="0"/>
              <a:t>61</a:t>
            </a:fld>
            <a:endParaRPr lang="en-US"/>
          </a:p>
        </p:txBody>
      </p:sp>
    </p:spTree>
    <p:extLst>
      <p:ext uri="{BB962C8B-B14F-4D97-AF65-F5344CB8AC3E}">
        <p14:creationId xmlns:p14="http://schemas.microsoft.com/office/powerpoint/2010/main" val="215989626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816F27-6916-ED2A-8977-05DB91A17C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B5B179-A4A9-0720-E755-AEB0F11D17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2A7ACC-ABA1-D669-4AE8-5CCFA7968C00}"/>
              </a:ext>
            </a:extLst>
          </p:cNvPr>
          <p:cNvSpPr>
            <a:spLocks noGrp="1"/>
          </p:cNvSpPr>
          <p:nvPr>
            <p:ph type="body" idx="1"/>
          </p:nvPr>
        </p:nvSpPr>
        <p:spPr/>
        <p:txBody>
          <a:bodyPr/>
          <a:lstStyle/>
          <a:p>
            <a:r>
              <a:rPr lang="en-US" dirty="0"/>
              <a:t>https://</a:t>
            </a:r>
            <a:r>
              <a:rPr lang="en-US" dirty="0" err="1"/>
              <a:t>arxiv.org</a:t>
            </a:r>
            <a:r>
              <a:rPr lang="en-US" dirty="0"/>
              <a:t>/abs/2104.08378</a:t>
            </a:r>
          </a:p>
        </p:txBody>
      </p:sp>
      <p:sp>
        <p:nvSpPr>
          <p:cNvPr id="4" name="Slide Number Placeholder 3">
            <a:extLst>
              <a:ext uri="{FF2B5EF4-FFF2-40B4-BE49-F238E27FC236}">
                <a16:creationId xmlns:a16="http://schemas.microsoft.com/office/drawing/2014/main" id="{97D2348C-6F68-DB3A-8784-616EC95AFBD2}"/>
              </a:ext>
            </a:extLst>
          </p:cNvPr>
          <p:cNvSpPr>
            <a:spLocks noGrp="1"/>
          </p:cNvSpPr>
          <p:nvPr>
            <p:ph type="sldNum" sz="quarter" idx="5"/>
          </p:nvPr>
        </p:nvSpPr>
        <p:spPr/>
        <p:txBody>
          <a:bodyPr/>
          <a:lstStyle/>
          <a:p>
            <a:fld id="{3C13DECC-3D0A-4344-8A7A-D80521E6A2D1}" type="slidenum">
              <a:rPr lang="en-US" smtClean="0"/>
              <a:t>62</a:t>
            </a:fld>
            <a:endParaRPr lang="en-US"/>
          </a:p>
        </p:txBody>
      </p:sp>
    </p:spTree>
    <p:extLst>
      <p:ext uri="{BB962C8B-B14F-4D97-AF65-F5344CB8AC3E}">
        <p14:creationId xmlns:p14="http://schemas.microsoft.com/office/powerpoint/2010/main" val="404750286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E27FAB-11B0-A380-F6C4-BBE75C31B5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4422F7-A467-62E6-7DA5-8C0E24C8FB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AF4C86-2A7C-FB39-FD37-6A1F8D69819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9F84ACC-7C8D-6FC1-66DF-7144959B0367}"/>
              </a:ext>
            </a:extLst>
          </p:cNvPr>
          <p:cNvSpPr>
            <a:spLocks noGrp="1"/>
          </p:cNvSpPr>
          <p:nvPr>
            <p:ph type="sldNum" sz="quarter" idx="5"/>
          </p:nvPr>
        </p:nvSpPr>
        <p:spPr/>
        <p:txBody>
          <a:bodyPr/>
          <a:lstStyle/>
          <a:p>
            <a:fld id="{3C13DECC-3D0A-4344-8A7A-D80521E6A2D1}" type="slidenum">
              <a:rPr lang="en-US" smtClean="0"/>
              <a:t>63</a:t>
            </a:fld>
            <a:endParaRPr lang="en-US"/>
          </a:p>
        </p:txBody>
      </p:sp>
    </p:spTree>
    <p:extLst>
      <p:ext uri="{BB962C8B-B14F-4D97-AF65-F5344CB8AC3E}">
        <p14:creationId xmlns:p14="http://schemas.microsoft.com/office/powerpoint/2010/main" val="108599298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50747B-1CF2-54DB-52A4-ED37FE5216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BA7EC0-5D8F-379A-09D6-7014226746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B3125E-A882-956B-7040-0D9FA7C518CB}"/>
              </a:ext>
            </a:extLst>
          </p:cNvPr>
          <p:cNvSpPr>
            <a:spLocks noGrp="1"/>
          </p:cNvSpPr>
          <p:nvPr>
            <p:ph type="body" idx="1"/>
          </p:nvPr>
        </p:nvSpPr>
        <p:spPr/>
        <p:txBody>
          <a:bodyPr/>
          <a:lstStyle/>
          <a:p>
            <a:r>
              <a:rPr lang="en-US" dirty="0"/>
              <a:t>What’s in common? these are all basically learning tasks</a:t>
            </a:r>
          </a:p>
        </p:txBody>
      </p:sp>
      <p:sp>
        <p:nvSpPr>
          <p:cNvPr id="4" name="Slide Number Placeholder 3">
            <a:extLst>
              <a:ext uri="{FF2B5EF4-FFF2-40B4-BE49-F238E27FC236}">
                <a16:creationId xmlns:a16="http://schemas.microsoft.com/office/drawing/2014/main" id="{D4288135-B0A7-F711-4A96-D63DEFE65DAD}"/>
              </a:ext>
            </a:extLst>
          </p:cNvPr>
          <p:cNvSpPr>
            <a:spLocks noGrp="1"/>
          </p:cNvSpPr>
          <p:nvPr>
            <p:ph type="sldNum" sz="quarter" idx="5"/>
          </p:nvPr>
        </p:nvSpPr>
        <p:spPr/>
        <p:txBody>
          <a:bodyPr/>
          <a:lstStyle/>
          <a:p>
            <a:fld id="{3C13DECC-3D0A-4344-8A7A-D80521E6A2D1}" type="slidenum">
              <a:rPr lang="en-US" smtClean="0"/>
              <a:t>66</a:t>
            </a:fld>
            <a:endParaRPr lang="en-US"/>
          </a:p>
        </p:txBody>
      </p:sp>
    </p:spTree>
    <p:extLst>
      <p:ext uri="{BB962C8B-B14F-4D97-AF65-F5344CB8AC3E}">
        <p14:creationId xmlns:p14="http://schemas.microsoft.com/office/powerpoint/2010/main" val="176346625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AD8D82-AB9F-DBA0-2DAD-1D1B6A35A1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62CD83-01FD-F5BD-C099-6F4DE4C220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939C7D-03B6-3F43-0FDC-2058D46F6D13}"/>
              </a:ext>
            </a:extLst>
          </p:cNvPr>
          <p:cNvSpPr>
            <a:spLocks noGrp="1"/>
          </p:cNvSpPr>
          <p:nvPr>
            <p:ph type="body" idx="1"/>
          </p:nvPr>
        </p:nvSpPr>
        <p:spPr/>
        <p:txBody>
          <a:bodyPr/>
          <a:lstStyle/>
          <a:p>
            <a:r>
              <a:rPr lang="en-US" dirty="0"/>
              <a:t>What’s in common? these are all basically learning tasks</a:t>
            </a:r>
          </a:p>
        </p:txBody>
      </p:sp>
      <p:sp>
        <p:nvSpPr>
          <p:cNvPr id="4" name="Slide Number Placeholder 3">
            <a:extLst>
              <a:ext uri="{FF2B5EF4-FFF2-40B4-BE49-F238E27FC236}">
                <a16:creationId xmlns:a16="http://schemas.microsoft.com/office/drawing/2014/main" id="{25BC901A-AC56-7C55-7D9C-76873D8435F4}"/>
              </a:ext>
            </a:extLst>
          </p:cNvPr>
          <p:cNvSpPr>
            <a:spLocks noGrp="1"/>
          </p:cNvSpPr>
          <p:nvPr>
            <p:ph type="sldNum" sz="quarter" idx="5"/>
          </p:nvPr>
        </p:nvSpPr>
        <p:spPr/>
        <p:txBody>
          <a:bodyPr/>
          <a:lstStyle/>
          <a:p>
            <a:fld id="{3C13DECC-3D0A-4344-8A7A-D80521E6A2D1}" type="slidenum">
              <a:rPr lang="en-US" smtClean="0"/>
              <a:t>67</a:t>
            </a:fld>
            <a:endParaRPr lang="en-US"/>
          </a:p>
        </p:txBody>
      </p:sp>
    </p:spTree>
    <p:extLst>
      <p:ext uri="{BB962C8B-B14F-4D97-AF65-F5344CB8AC3E}">
        <p14:creationId xmlns:p14="http://schemas.microsoft.com/office/powerpoint/2010/main" val="393916017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STOPPED HERE</a:t>
            </a:r>
          </a:p>
          <a:p>
            <a:endParaRPr lang="en-US" dirty="0"/>
          </a:p>
        </p:txBody>
      </p:sp>
      <p:sp>
        <p:nvSpPr>
          <p:cNvPr id="4" name="Slide Number Placeholder 3"/>
          <p:cNvSpPr>
            <a:spLocks noGrp="1"/>
          </p:cNvSpPr>
          <p:nvPr>
            <p:ph type="sldNum" sz="quarter" idx="5"/>
          </p:nvPr>
        </p:nvSpPr>
        <p:spPr/>
        <p:txBody>
          <a:bodyPr/>
          <a:lstStyle/>
          <a:p>
            <a:fld id="{00CF8AD2-6882-4531-8560-2C8EEF2B5B25}" type="slidenum">
              <a:rPr lang="en-US" smtClean="0"/>
              <a:pPr/>
              <a:t>70</a:t>
            </a:fld>
            <a:endParaRPr lang="en-US"/>
          </a:p>
        </p:txBody>
      </p:sp>
    </p:spTree>
    <p:extLst>
      <p:ext uri="{BB962C8B-B14F-4D97-AF65-F5344CB8AC3E}">
        <p14:creationId xmlns:p14="http://schemas.microsoft.com/office/powerpoint/2010/main" val="26735171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a:t>
            </a:r>
            <a:r>
              <a:rPr lang="en-US" dirty="0" err="1"/>
              <a:t>arxiv.org</a:t>
            </a:r>
            <a:r>
              <a:rPr lang="en-US" dirty="0"/>
              <a:t>/abs/2412.12094</a:t>
            </a:r>
          </a:p>
        </p:txBody>
      </p:sp>
      <p:sp>
        <p:nvSpPr>
          <p:cNvPr id="4" name="Slide Number Placeholder 3"/>
          <p:cNvSpPr>
            <a:spLocks noGrp="1"/>
          </p:cNvSpPr>
          <p:nvPr>
            <p:ph type="sldNum" sz="quarter" idx="5"/>
          </p:nvPr>
        </p:nvSpPr>
        <p:spPr/>
        <p:txBody>
          <a:bodyPr/>
          <a:lstStyle/>
          <a:p>
            <a:fld id="{3C13DECC-3D0A-4344-8A7A-D80521E6A2D1}" type="slidenum">
              <a:rPr lang="en-US" smtClean="0"/>
              <a:t>73</a:t>
            </a:fld>
            <a:endParaRPr lang="en-US"/>
          </a:p>
        </p:txBody>
      </p:sp>
    </p:spTree>
    <p:extLst>
      <p:ext uri="{BB962C8B-B14F-4D97-AF65-F5344CB8AC3E}">
        <p14:creationId xmlns:p14="http://schemas.microsoft.com/office/powerpoint/2010/main" val="153539282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21D05F-1ED4-9C21-051E-7941B2C0AE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511C64-CEE4-6F40-FBEC-64BB14E34E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9AA227-B2B4-4F4B-9C84-6D00ECB6DAF5}"/>
              </a:ext>
            </a:extLst>
          </p:cNvPr>
          <p:cNvSpPr>
            <a:spLocks noGrp="1"/>
          </p:cNvSpPr>
          <p:nvPr>
            <p:ph type="body" idx="1"/>
          </p:nvPr>
        </p:nvSpPr>
        <p:spPr/>
        <p:txBody>
          <a:bodyPr/>
          <a:lstStyle/>
          <a:p>
            <a:r>
              <a:rPr lang="en-US" dirty="0"/>
              <a:t>What’s in common? these are all basically learning tasks</a:t>
            </a:r>
          </a:p>
        </p:txBody>
      </p:sp>
      <p:sp>
        <p:nvSpPr>
          <p:cNvPr id="4" name="Slide Number Placeholder 3">
            <a:extLst>
              <a:ext uri="{FF2B5EF4-FFF2-40B4-BE49-F238E27FC236}">
                <a16:creationId xmlns:a16="http://schemas.microsoft.com/office/drawing/2014/main" id="{2EA93BAA-9FB6-67E7-4935-6C776D8BC3D2}"/>
              </a:ext>
            </a:extLst>
          </p:cNvPr>
          <p:cNvSpPr>
            <a:spLocks noGrp="1"/>
          </p:cNvSpPr>
          <p:nvPr>
            <p:ph type="sldNum" sz="quarter" idx="5"/>
          </p:nvPr>
        </p:nvSpPr>
        <p:spPr/>
        <p:txBody>
          <a:bodyPr/>
          <a:lstStyle/>
          <a:p>
            <a:fld id="{3C13DECC-3D0A-4344-8A7A-D80521E6A2D1}" type="slidenum">
              <a:rPr lang="en-US" smtClean="0"/>
              <a:t>75</a:t>
            </a:fld>
            <a:endParaRPr lang="en-US"/>
          </a:p>
        </p:txBody>
      </p:sp>
    </p:spTree>
    <p:extLst>
      <p:ext uri="{BB962C8B-B14F-4D97-AF65-F5344CB8AC3E}">
        <p14:creationId xmlns:p14="http://schemas.microsoft.com/office/powerpoint/2010/main" val="64767369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A63C09-9DB2-B0AD-84BA-05A9AFCC19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81F0FF-A26F-0156-A7EE-70068DA193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F0727D-BB2F-E0BB-390F-1A7507BA94A6}"/>
              </a:ext>
            </a:extLst>
          </p:cNvPr>
          <p:cNvSpPr>
            <a:spLocks noGrp="1"/>
          </p:cNvSpPr>
          <p:nvPr>
            <p:ph type="body" idx="1"/>
          </p:nvPr>
        </p:nvSpPr>
        <p:spPr/>
        <p:txBody>
          <a:bodyPr/>
          <a:lstStyle/>
          <a:p>
            <a:r>
              <a:rPr lang="en-US" dirty="0"/>
              <a:t>What’s in common? these are all basically learning tasks</a:t>
            </a:r>
          </a:p>
        </p:txBody>
      </p:sp>
      <p:sp>
        <p:nvSpPr>
          <p:cNvPr id="4" name="Slide Number Placeholder 3">
            <a:extLst>
              <a:ext uri="{FF2B5EF4-FFF2-40B4-BE49-F238E27FC236}">
                <a16:creationId xmlns:a16="http://schemas.microsoft.com/office/drawing/2014/main" id="{B69F7881-A4EF-3E7A-0572-20BFE1FCD15C}"/>
              </a:ext>
            </a:extLst>
          </p:cNvPr>
          <p:cNvSpPr>
            <a:spLocks noGrp="1"/>
          </p:cNvSpPr>
          <p:nvPr>
            <p:ph type="sldNum" sz="quarter" idx="5"/>
          </p:nvPr>
        </p:nvSpPr>
        <p:spPr/>
        <p:txBody>
          <a:bodyPr/>
          <a:lstStyle/>
          <a:p>
            <a:fld id="{3C13DECC-3D0A-4344-8A7A-D80521E6A2D1}" type="slidenum">
              <a:rPr lang="en-US" smtClean="0"/>
              <a:t>76</a:t>
            </a:fld>
            <a:endParaRPr lang="en-US"/>
          </a:p>
        </p:txBody>
      </p:sp>
    </p:spTree>
    <p:extLst>
      <p:ext uri="{BB962C8B-B14F-4D97-AF65-F5344CB8AC3E}">
        <p14:creationId xmlns:p14="http://schemas.microsoft.com/office/powerpoint/2010/main" val="282575210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0C7286-A4A9-EC87-54C0-2F72D9151C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C7A41D-56AD-2FD7-19C5-83F5E68E82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EBB517-876A-FA1B-61FE-832474DD037A}"/>
              </a:ext>
            </a:extLst>
          </p:cNvPr>
          <p:cNvSpPr>
            <a:spLocks noGrp="1"/>
          </p:cNvSpPr>
          <p:nvPr>
            <p:ph type="body" idx="1"/>
          </p:nvPr>
        </p:nvSpPr>
        <p:spPr/>
        <p:txBody>
          <a:bodyPr/>
          <a:lstStyle/>
          <a:p>
            <a:r>
              <a:rPr lang="en-US" dirty="0"/>
              <a:t>What’s in common? these are all basically learning tasks</a:t>
            </a:r>
          </a:p>
        </p:txBody>
      </p:sp>
      <p:sp>
        <p:nvSpPr>
          <p:cNvPr id="4" name="Slide Number Placeholder 3">
            <a:extLst>
              <a:ext uri="{FF2B5EF4-FFF2-40B4-BE49-F238E27FC236}">
                <a16:creationId xmlns:a16="http://schemas.microsoft.com/office/drawing/2014/main" id="{CB70077B-1554-9259-0EA7-D1FDBED39CDD}"/>
              </a:ext>
            </a:extLst>
          </p:cNvPr>
          <p:cNvSpPr>
            <a:spLocks noGrp="1"/>
          </p:cNvSpPr>
          <p:nvPr>
            <p:ph type="sldNum" sz="quarter" idx="5"/>
          </p:nvPr>
        </p:nvSpPr>
        <p:spPr/>
        <p:txBody>
          <a:bodyPr/>
          <a:lstStyle/>
          <a:p>
            <a:fld id="{3C13DECC-3D0A-4344-8A7A-D80521E6A2D1}" type="slidenum">
              <a:rPr lang="en-US" smtClean="0"/>
              <a:t>77</a:t>
            </a:fld>
            <a:endParaRPr lang="en-US"/>
          </a:p>
        </p:txBody>
      </p:sp>
    </p:spTree>
    <p:extLst>
      <p:ext uri="{BB962C8B-B14F-4D97-AF65-F5344CB8AC3E}">
        <p14:creationId xmlns:p14="http://schemas.microsoft.com/office/powerpoint/2010/main" val="13096810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lvl1pPr>
              <a:defRPr b="1">
                <a:solidFill>
                  <a:srgbClr val="0070C0"/>
                </a:solidFill>
              </a:defRPr>
            </a:lvl1pPr>
          </a:lstStyle>
          <a:p>
            <a:r>
              <a:rPr lang="en-US" dirty="0"/>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4FC35801-B62B-1347-8D7D-E1D9FD950611}" type="datetimeFigureOut">
              <a:rPr lang="en-US" smtClean="0"/>
              <a:pPr/>
              <a:t>4/2/25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5BFDCA1-C2F8-BA4E-82CE-5B3B1AA6CE7D}"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79400" y="292100"/>
            <a:ext cx="8648700" cy="804862"/>
          </a:xfrm>
        </p:spPr>
        <p:txBody>
          <a:bodyPr>
            <a:normAutofit/>
          </a:bodyPr>
          <a:lstStyle>
            <a:lvl1pPr algn="l">
              <a:defRPr sz="4000" b="1">
                <a:solidFill>
                  <a:srgbClr val="0070C0"/>
                </a:solidFill>
              </a:defRPr>
            </a:lvl1pPr>
          </a:lstStyle>
          <a:p>
            <a:r>
              <a:rPr lang="en-US" dirty="0"/>
              <a:t>Click to edit Master title style</a:t>
            </a:r>
          </a:p>
        </p:txBody>
      </p:sp>
      <p:sp>
        <p:nvSpPr>
          <p:cNvPr id="3" name="Content Placeholder 2"/>
          <p:cNvSpPr>
            <a:spLocks noGrp="1"/>
          </p:cNvSpPr>
          <p:nvPr>
            <p:ph idx="1"/>
          </p:nvPr>
        </p:nvSpPr>
        <p:spPr>
          <a:xfrm>
            <a:off x="279400" y="1257300"/>
            <a:ext cx="8648700" cy="5099050"/>
          </a:xfrm>
        </p:spPr>
        <p:txBody>
          <a:bodyPr/>
          <a:lstStyle>
            <a:lvl1pPr>
              <a:defRPr sz="3200"/>
            </a:lvl1pPr>
            <a:lvl2pPr>
              <a:defRPr sz="3200"/>
            </a:lvl2pPr>
            <a:lvl3pPr>
              <a:defRPr sz="2800"/>
            </a:lvl3pPr>
            <a:lvl4pPr>
              <a:defRPr sz="2400"/>
            </a:lvl4pPr>
            <a:lvl5pPr>
              <a:defRPr sz="2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304800" y="6445250"/>
            <a:ext cx="2133600" cy="365125"/>
          </a:xfrm>
        </p:spPr>
        <p:txBody>
          <a:bodyPr/>
          <a:lstStyle/>
          <a:p>
            <a:fld id="{4FC35801-B62B-1347-8D7D-E1D9FD950611}" type="datetimeFigureOut">
              <a:rPr lang="en-US" smtClean="0"/>
              <a:pPr/>
              <a:t>4/2/25</a:t>
            </a:fld>
            <a:endParaRPr lang="en-US"/>
          </a:p>
        </p:txBody>
      </p:sp>
      <p:sp>
        <p:nvSpPr>
          <p:cNvPr id="5" name="Footer Placeholder 4"/>
          <p:cNvSpPr>
            <a:spLocks noGrp="1"/>
          </p:cNvSpPr>
          <p:nvPr>
            <p:ph type="ftr" sz="quarter" idx="11"/>
          </p:nvPr>
        </p:nvSpPr>
        <p:spPr>
          <a:xfrm>
            <a:off x="3124200" y="6445250"/>
            <a:ext cx="2895600" cy="365125"/>
          </a:xfrm>
        </p:spPr>
        <p:txBody>
          <a:bodyPr/>
          <a:lstStyle/>
          <a:p>
            <a:endParaRPr lang="en-US"/>
          </a:p>
        </p:txBody>
      </p:sp>
      <p:sp>
        <p:nvSpPr>
          <p:cNvPr id="6" name="Slide Number Placeholder 5"/>
          <p:cNvSpPr>
            <a:spLocks noGrp="1"/>
          </p:cNvSpPr>
          <p:nvPr>
            <p:ph type="sldNum" sz="quarter" idx="12"/>
          </p:nvPr>
        </p:nvSpPr>
        <p:spPr>
          <a:xfrm>
            <a:off x="6781800" y="6445250"/>
            <a:ext cx="2133600" cy="365125"/>
          </a:xfrm>
        </p:spPr>
        <p:txBody>
          <a:bodyPr/>
          <a:lstStyle/>
          <a:p>
            <a:fld id="{85BFDCA1-C2F8-BA4E-82CE-5B3B1AA6CE7D}"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2516187"/>
            <a:ext cx="7772400" cy="1362075"/>
          </a:xfrm>
        </p:spPr>
        <p:txBody>
          <a:bodyPr anchor="t">
            <a:normAutofit/>
          </a:bodyPr>
          <a:lstStyle>
            <a:lvl1pPr algn="ctr">
              <a:defRPr sz="3200" b="1" cap="all">
                <a:solidFill>
                  <a:srgbClr val="0070C0"/>
                </a:solidFill>
              </a:defRPr>
            </a:lvl1pPr>
          </a:lstStyle>
          <a:p>
            <a:r>
              <a:rPr lang="en-US" dirty="0"/>
              <a:t>Click to edit Master title style</a:t>
            </a:r>
          </a:p>
        </p:txBody>
      </p:sp>
      <p:sp>
        <p:nvSpPr>
          <p:cNvPr id="3" name="Text Placeholder 2"/>
          <p:cNvSpPr>
            <a:spLocks noGrp="1"/>
          </p:cNvSpPr>
          <p:nvPr>
            <p:ph type="body" idx="1"/>
          </p:nvPr>
        </p:nvSpPr>
        <p:spPr>
          <a:xfrm>
            <a:off x="722313" y="1016000"/>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FC35801-B62B-1347-8D7D-E1D9FD950611}" type="datetimeFigureOut">
              <a:rPr lang="en-US" smtClean="0"/>
              <a:pPr/>
              <a:t>4/2/25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5BFDCA1-C2F8-BA4E-82CE-5B3B1AA6CE7D}"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b="1">
                <a:solidFill>
                  <a:srgbClr val="0070C0"/>
                </a:solidFill>
              </a:defRPr>
            </a:lvl1pPr>
          </a:lstStyle>
          <a:p>
            <a:r>
              <a:rPr lang="en-US" dirty="0"/>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400"/>
            </a:lvl1pPr>
            <a:lvl2pPr>
              <a:defRPr sz="2400"/>
            </a:lvl2pPr>
            <a:lvl3pPr>
              <a:defRPr sz="2400"/>
            </a:lvl3pPr>
            <a:lvl4pPr>
              <a:defRPr sz="2000"/>
            </a:lvl4pPr>
            <a:lvl5pPr>
              <a:defRPr sz="20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48200" y="1600200"/>
            <a:ext cx="4038600" cy="4525963"/>
          </a:xfrm>
        </p:spPr>
        <p:txBody>
          <a:bodyPr/>
          <a:lstStyle>
            <a:lvl1pPr>
              <a:defRPr sz="2400"/>
            </a:lvl1pPr>
            <a:lvl2pPr>
              <a:defRPr sz="2400"/>
            </a:lvl2pPr>
            <a:lvl3pPr>
              <a:defRPr sz="2400"/>
            </a:lvl3pPr>
            <a:lvl4pPr>
              <a:defRPr sz="2000"/>
            </a:lvl4pPr>
            <a:lvl5pPr>
              <a:defRPr sz="20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4FC35801-B62B-1347-8D7D-E1D9FD950611}" type="datetimeFigureOut">
              <a:rPr lang="en-US" smtClean="0"/>
              <a:pPr/>
              <a:t>4/2/25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5BFDCA1-C2F8-BA4E-82CE-5B3B1AA6CE7D}"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22177"/>
          </a:xfrm>
        </p:spPr>
        <p:txBody>
          <a:bodyPr>
            <a:normAutofit/>
          </a:bodyPr>
          <a:lstStyle>
            <a:lvl1pPr>
              <a:defRPr sz="3600" b="1">
                <a:solidFill>
                  <a:srgbClr val="0070C0"/>
                </a:solidFill>
              </a:defRPr>
            </a:lvl1pPr>
          </a:lstStyle>
          <a:p>
            <a:r>
              <a:rPr lang="en-US" dirty="0"/>
              <a:t>Click to edit Master title style</a:t>
            </a:r>
          </a:p>
        </p:txBody>
      </p:sp>
      <p:sp>
        <p:nvSpPr>
          <p:cNvPr id="3" name="Text Placeholder 2"/>
          <p:cNvSpPr>
            <a:spLocks noGrp="1"/>
          </p:cNvSpPr>
          <p:nvPr>
            <p:ph type="body" idx="1"/>
          </p:nvPr>
        </p:nvSpPr>
        <p:spPr>
          <a:xfrm>
            <a:off x="457200" y="1033969"/>
            <a:ext cx="4040188" cy="639762"/>
          </a:xfrm>
        </p:spPr>
        <p:txBody>
          <a:bodyPr anchor="b"/>
          <a:lstStyle>
            <a:lvl1pPr marL="0" indent="0" algn="ctr">
              <a:buNone/>
              <a:defRPr sz="24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1673731"/>
            <a:ext cx="4040188" cy="4551222"/>
          </a:xfrm>
        </p:spPr>
        <p:txBody>
          <a:bodyPr/>
          <a:lstStyle>
            <a:lvl1pPr>
              <a:defRPr sz="2400"/>
            </a:lvl1pPr>
            <a:lvl2pPr>
              <a:defRPr sz="2400"/>
            </a:lvl2pPr>
            <a:lvl3pPr>
              <a:defRPr sz="2400"/>
            </a:lvl3pPr>
            <a:lvl4pPr>
              <a:defRPr sz="2000"/>
            </a:lvl4pPr>
            <a:lvl5pPr>
              <a:defRPr sz="20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645025" y="1033969"/>
            <a:ext cx="4041775" cy="639762"/>
          </a:xfrm>
        </p:spPr>
        <p:txBody>
          <a:bodyPr anchor="b"/>
          <a:lstStyle>
            <a:lvl1pPr marL="0" indent="0" algn="ctr">
              <a:buNone/>
              <a:defRPr sz="24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645025" y="1673730"/>
            <a:ext cx="4041775" cy="4551223"/>
          </a:xfrm>
        </p:spPr>
        <p:txBody>
          <a:bodyPr/>
          <a:lstStyle>
            <a:lvl1pPr>
              <a:defRPr sz="2400"/>
            </a:lvl1pPr>
            <a:lvl2pPr>
              <a:defRPr sz="2400"/>
            </a:lvl2pPr>
            <a:lvl3pPr>
              <a:defRPr sz="2400"/>
            </a:lvl3pPr>
            <a:lvl4pPr>
              <a:defRPr sz="2000"/>
            </a:lvl4pPr>
            <a:lvl5pPr>
              <a:defRPr sz="20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4FC35801-B62B-1347-8D7D-E1D9FD950611}" type="datetimeFigureOut">
              <a:rPr lang="en-US" smtClean="0"/>
              <a:pPr/>
              <a:t>4/2/25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5BFDCA1-C2F8-BA4E-82CE-5B3B1AA6CE7D}"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06462"/>
          </a:xfrm>
        </p:spPr>
        <p:txBody>
          <a:bodyPr>
            <a:normAutofit/>
          </a:bodyPr>
          <a:lstStyle>
            <a:lvl1pPr>
              <a:defRPr sz="4000" b="1">
                <a:solidFill>
                  <a:srgbClr val="0070C0"/>
                </a:solidFill>
              </a:defRPr>
            </a:lvl1pPr>
          </a:lstStyle>
          <a:p>
            <a:r>
              <a:rPr lang="en-US" dirty="0"/>
              <a:t>Click to edit Master title style</a:t>
            </a:r>
          </a:p>
        </p:txBody>
      </p:sp>
      <p:sp>
        <p:nvSpPr>
          <p:cNvPr id="3" name="Date Placeholder 2"/>
          <p:cNvSpPr>
            <a:spLocks noGrp="1"/>
          </p:cNvSpPr>
          <p:nvPr>
            <p:ph type="dt" sz="half" idx="10"/>
          </p:nvPr>
        </p:nvSpPr>
        <p:spPr/>
        <p:txBody>
          <a:bodyPr/>
          <a:lstStyle/>
          <a:p>
            <a:fld id="{4FC35801-B62B-1347-8D7D-E1D9FD950611}" type="datetimeFigureOut">
              <a:rPr lang="en-US" smtClean="0"/>
              <a:pPr/>
              <a:t>4/2/25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5BFDCA1-C2F8-BA4E-82CE-5B3B1AA6CE7D}"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FC35801-B62B-1347-8D7D-E1D9FD950611}" type="datetimeFigureOut">
              <a:rPr lang="en-US" smtClean="0"/>
              <a:pPr/>
              <a:t>4/2/25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5BFDCA1-C2F8-BA4E-82CE-5B3B1AA6CE7D}"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FC35801-B62B-1347-8D7D-E1D9FD950611}" type="datetimeFigureOut">
              <a:rPr lang="en-US" smtClean="0"/>
              <a:pPr/>
              <a:t>4/2/25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5BFDCA1-C2F8-BA4E-82CE-5B3B1AA6CE7D}"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FC35801-B62B-1347-8D7D-E1D9FD950611}" type="datetimeFigureOut">
              <a:rPr lang="en-US" smtClean="0"/>
              <a:pPr/>
              <a:t>4/2/25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5BFDCA1-C2F8-BA4E-82CE-5B3B1AA6CE7D}"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FC35801-B62B-1347-8D7D-E1D9FD950611}" type="datetimeFigureOut">
              <a:rPr lang="en-US" smtClean="0"/>
              <a:pPr/>
              <a:t>4/2/25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5BFDCA1-C2F8-BA4E-82CE-5B3B1AA6CE7D}"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FC35801-B62B-1347-8D7D-E1D9FD950611}" type="datetimeFigureOut">
              <a:rPr lang="en-US" smtClean="0"/>
              <a:pPr/>
              <a:t>4/2/25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5BFDCA1-C2F8-BA4E-82CE-5B3B1AA6CE7D}"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solidFill>
                <a:prstClr val="black">
                  <a:tint val="75000"/>
                </a:prstClr>
              </a:solidFill>
              <a:latin typeface="Book Antiqua"/>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solidFill>
                <a:prstClr val="black">
                  <a:tint val="75000"/>
                </a:prstClr>
              </a:solidFill>
              <a:latin typeface="Book Antiqua"/>
            </a:endParaRPr>
          </a:p>
        </p:txBody>
      </p:sp>
      <p:sp>
        <p:nvSpPr>
          <p:cNvPr id="7" name="Rectangle 6"/>
          <p:cNvSpPr>
            <a:spLocks noGrp="1" noChangeArrowheads="1"/>
          </p:cNvSpPr>
          <p:nvPr>
            <p:ph type="sldNum" sz="quarter" idx="12"/>
          </p:nvPr>
        </p:nvSpPr>
        <p:spPr>
          <a:ln/>
        </p:spPr>
        <p:txBody>
          <a:bodyPr/>
          <a:lstStyle>
            <a:lvl1pPr>
              <a:defRPr/>
            </a:lvl1pPr>
          </a:lstStyle>
          <a:p>
            <a:fld id="{CEADB2C0-A13D-F346-9F00-45255C4343FE}" type="slidenum">
              <a:rPr lang="en-US">
                <a:solidFill>
                  <a:prstClr val="black">
                    <a:tint val="75000"/>
                  </a:prstClr>
                </a:solidFill>
                <a:latin typeface="Book Antiqua"/>
              </a:rPr>
              <a:pPr/>
              <a:t>‹#›</a:t>
            </a:fld>
            <a:endParaRPr lang="en-US">
              <a:solidFill>
                <a:prstClr val="black">
                  <a:tint val="75000"/>
                </a:prstClr>
              </a:solidFill>
              <a:latin typeface="Book Antiqua"/>
            </a:endParaRPr>
          </a:p>
        </p:txBody>
      </p:sp>
    </p:spTree>
    <p:extLst>
      <p:ext uri="{BB962C8B-B14F-4D97-AF65-F5344CB8AC3E}">
        <p14:creationId xmlns:p14="http://schemas.microsoft.com/office/powerpoint/2010/main" val="237176052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15"/>
        <p:cNvGrpSpPr/>
        <p:nvPr/>
      </p:nvGrpSpPr>
      <p:grpSpPr>
        <a:xfrm>
          <a:off x="0" y="0"/>
          <a:ext cx="0" cy="0"/>
          <a:chOff x="0" y="0"/>
          <a:chExt cx="0" cy="0"/>
        </a:xfrm>
      </p:grpSpPr>
      <p:sp>
        <p:nvSpPr>
          <p:cNvPr id="16" name="Google Shape;16;p88"/>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rgbClr val="0070C0"/>
              </a:buClr>
              <a:buSzPts val="4400"/>
              <a:buFont typeface="Cambria Math"/>
              <a:buNone/>
              <a:defRPr b="1">
                <a:solidFill>
                  <a:srgbClr val="0070C0"/>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88"/>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560"/>
              </a:spcBef>
              <a:spcAft>
                <a:spcPts val="0"/>
              </a:spcAft>
              <a:buClr>
                <a:schemeClr val="dk1"/>
              </a:buClr>
              <a:buSzPts val="2800"/>
              <a:buNone/>
              <a:defRPr>
                <a:solidFill>
                  <a:schemeClr val="dk1"/>
                </a:solidFill>
              </a:defRPr>
            </a:lvl1pPr>
            <a:lvl2pPr lvl="1" algn="ctr">
              <a:spcBef>
                <a:spcPts val="560"/>
              </a:spcBef>
              <a:spcAft>
                <a:spcPts val="0"/>
              </a:spcAft>
              <a:buClr>
                <a:srgbClr val="888888"/>
              </a:buClr>
              <a:buSzPts val="2800"/>
              <a:buNone/>
              <a:defRPr>
                <a:solidFill>
                  <a:srgbClr val="888888"/>
                </a:solidFill>
              </a:defRPr>
            </a:lvl2pPr>
            <a:lvl3pPr lvl="2" algn="ctr">
              <a:spcBef>
                <a:spcPts val="560"/>
              </a:spcBef>
              <a:spcAft>
                <a:spcPts val="0"/>
              </a:spcAft>
              <a:buClr>
                <a:srgbClr val="888888"/>
              </a:buClr>
              <a:buSzPts val="2800"/>
              <a:buNone/>
              <a:defRPr>
                <a:solidFill>
                  <a:srgbClr val="888888"/>
                </a:solidFill>
              </a:defRPr>
            </a:lvl3pPr>
            <a:lvl4pPr lvl="3" algn="ctr">
              <a:spcBef>
                <a:spcPts val="480"/>
              </a:spcBef>
              <a:spcAft>
                <a:spcPts val="0"/>
              </a:spcAft>
              <a:buClr>
                <a:srgbClr val="888888"/>
              </a:buClr>
              <a:buSzPts val="24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8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8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8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188464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21"/>
        <p:cNvGrpSpPr/>
        <p:nvPr/>
      </p:nvGrpSpPr>
      <p:grpSpPr>
        <a:xfrm>
          <a:off x="0" y="0"/>
          <a:ext cx="0" cy="0"/>
          <a:chOff x="0" y="0"/>
          <a:chExt cx="0" cy="0"/>
        </a:xfrm>
      </p:grpSpPr>
      <p:sp>
        <p:nvSpPr>
          <p:cNvPr id="22" name="Google Shape;22;p89"/>
          <p:cNvSpPr txBox="1">
            <a:spLocks noGrp="1"/>
          </p:cNvSpPr>
          <p:nvPr>
            <p:ph type="title"/>
          </p:nvPr>
        </p:nvSpPr>
        <p:spPr>
          <a:xfrm>
            <a:off x="279400" y="292100"/>
            <a:ext cx="8648700" cy="804862"/>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rgbClr val="0070C0"/>
              </a:buClr>
              <a:buSzPts val="4000"/>
              <a:buFont typeface="Cambria Math"/>
              <a:buNone/>
              <a:defRPr sz="4000" b="1">
                <a:solidFill>
                  <a:srgbClr val="0070C0"/>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89"/>
          <p:cNvSpPr txBox="1">
            <a:spLocks noGrp="1"/>
          </p:cNvSpPr>
          <p:nvPr>
            <p:ph type="body" idx="1"/>
          </p:nvPr>
        </p:nvSpPr>
        <p:spPr>
          <a:xfrm>
            <a:off x="279400" y="1257300"/>
            <a:ext cx="8648700" cy="5099050"/>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31800" algn="l">
              <a:spcBef>
                <a:spcPts val="640"/>
              </a:spcBef>
              <a:spcAft>
                <a:spcPts val="0"/>
              </a:spcAft>
              <a:buClr>
                <a:schemeClr val="dk1"/>
              </a:buClr>
              <a:buSzPts val="3200"/>
              <a:buChar char="–"/>
              <a:defRPr sz="3200"/>
            </a:lvl2pPr>
            <a:lvl3pPr marL="1371600" lvl="2" indent="-406400" algn="l">
              <a:spcBef>
                <a:spcPts val="560"/>
              </a:spcBef>
              <a:spcAft>
                <a:spcPts val="0"/>
              </a:spcAft>
              <a:buClr>
                <a:schemeClr val="dk1"/>
              </a:buClr>
              <a:buSzPts val="2800"/>
              <a:buChar char="•"/>
              <a:defRPr sz="2800"/>
            </a:lvl3pPr>
            <a:lvl4pPr marL="1828800" lvl="3" indent="-381000" algn="l">
              <a:spcBef>
                <a:spcPts val="480"/>
              </a:spcBef>
              <a:spcAft>
                <a:spcPts val="0"/>
              </a:spcAft>
              <a:buClr>
                <a:schemeClr val="dk1"/>
              </a:buClr>
              <a:buSzPts val="2400"/>
              <a:buChar char="–"/>
              <a:defRPr sz="2400"/>
            </a:lvl4pPr>
            <a:lvl5pPr marL="2286000" lvl="4" indent="-381000" algn="l">
              <a:spcBef>
                <a:spcPts val="480"/>
              </a:spcBef>
              <a:spcAft>
                <a:spcPts val="0"/>
              </a:spcAft>
              <a:buClr>
                <a:schemeClr val="dk1"/>
              </a:buClr>
              <a:buSzPts val="2400"/>
              <a:buChar char="»"/>
              <a:defRPr sz="24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89"/>
          <p:cNvSpPr txBox="1">
            <a:spLocks noGrp="1"/>
          </p:cNvSpPr>
          <p:nvPr>
            <p:ph type="dt" idx="10"/>
          </p:nvPr>
        </p:nvSpPr>
        <p:spPr>
          <a:xfrm>
            <a:off x="304800" y="64452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89"/>
          <p:cNvSpPr txBox="1">
            <a:spLocks noGrp="1"/>
          </p:cNvSpPr>
          <p:nvPr>
            <p:ph type="ftr" idx="11"/>
          </p:nvPr>
        </p:nvSpPr>
        <p:spPr>
          <a:xfrm>
            <a:off x="3124200" y="64452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89"/>
          <p:cNvSpPr txBox="1">
            <a:spLocks noGrp="1"/>
          </p:cNvSpPr>
          <p:nvPr>
            <p:ph type="sldNum" idx="12"/>
          </p:nvPr>
        </p:nvSpPr>
        <p:spPr>
          <a:xfrm>
            <a:off x="6781800" y="64452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4974829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27"/>
        <p:cNvGrpSpPr/>
        <p:nvPr/>
      </p:nvGrpSpPr>
      <p:grpSpPr>
        <a:xfrm>
          <a:off x="0" y="0"/>
          <a:ext cx="0" cy="0"/>
          <a:chOff x="0" y="0"/>
          <a:chExt cx="0" cy="0"/>
        </a:xfrm>
      </p:grpSpPr>
      <p:sp>
        <p:nvSpPr>
          <p:cNvPr id="28" name="Google Shape;28;p90"/>
          <p:cNvSpPr txBox="1">
            <a:spLocks noGrp="1"/>
          </p:cNvSpPr>
          <p:nvPr>
            <p:ph type="title"/>
          </p:nvPr>
        </p:nvSpPr>
        <p:spPr>
          <a:xfrm>
            <a:off x="722313" y="2516187"/>
            <a:ext cx="7772400" cy="1362075"/>
          </a:xfrm>
          <a:prstGeom prst="rect">
            <a:avLst/>
          </a:prstGeom>
          <a:noFill/>
          <a:ln>
            <a:noFill/>
          </a:ln>
        </p:spPr>
        <p:txBody>
          <a:bodyPr spcFirstLastPara="1" wrap="square" lIns="91425" tIns="45700" rIns="91425" bIns="45700" anchor="t" anchorCtr="0">
            <a:normAutofit/>
          </a:bodyPr>
          <a:lstStyle>
            <a:lvl1pPr lvl="0" algn="ctr">
              <a:spcBef>
                <a:spcPts val="0"/>
              </a:spcBef>
              <a:spcAft>
                <a:spcPts val="0"/>
              </a:spcAft>
              <a:buClr>
                <a:srgbClr val="0070C0"/>
              </a:buClr>
              <a:buSzPts val="3200"/>
              <a:buFont typeface="Cambria Math"/>
              <a:buNone/>
              <a:defRPr sz="3200" b="1" cap="none">
                <a:solidFill>
                  <a:srgbClr val="0070C0"/>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90"/>
          <p:cNvSpPr txBox="1">
            <a:spLocks noGrp="1"/>
          </p:cNvSpPr>
          <p:nvPr>
            <p:ph type="body" idx="1"/>
          </p:nvPr>
        </p:nvSpPr>
        <p:spPr>
          <a:xfrm>
            <a:off x="722313" y="1016000"/>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9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9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9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19435126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3"/>
        <p:cNvGrpSpPr/>
        <p:nvPr/>
      </p:nvGrpSpPr>
      <p:grpSpPr>
        <a:xfrm>
          <a:off x="0" y="0"/>
          <a:ext cx="0" cy="0"/>
          <a:chOff x="0" y="0"/>
          <a:chExt cx="0" cy="0"/>
        </a:xfrm>
      </p:grpSpPr>
      <p:sp>
        <p:nvSpPr>
          <p:cNvPr id="34" name="Google Shape;34;p9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9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9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27707972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37"/>
        <p:cNvGrpSpPr/>
        <p:nvPr/>
      </p:nvGrpSpPr>
      <p:grpSpPr>
        <a:xfrm>
          <a:off x="0" y="0"/>
          <a:ext cx="0" cy="0"/>
          <a:chOff x="0" y="0"/>
          <a:chExt cx="0" cy="0"/>
        </a:xfrm>
      </p:grpSpPr>
      <p:sp>
        <p:nvSpPr>
          <p:cNvPr id="38" name="Google Shape;38;p92"/>
          <p:cNvSpPr txBox="1">
            <a:spLocks noGrp="1"/>
          </p:cNvSpPr>
          <p:nvPr>
            <p:ph type="title"/>
          </p:nvPr>
        </p:nvSpPr>
        <p:spPr>
          <a:xfrm>
            <a:off x="457200" y="274638"/>
            <a:ext cx="8229600" cy="906462"/>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rgbClr val="0070C0"/>
              </a:buClr>
              <a:buSzPts val="4000"/>
              <a:buFont typeface="Cambria Math"/>
              <a:buNone/>
              <a:defRPr sz="4000" b="1">
                <a:solidFill>
                  <a:srgbClr val="0070C0"/>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9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9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9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47220610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lank copy" type="tx">
  <p:cSld name="Blank copy">
    <p:spTree>
      <p:nvGrpSpPr>
        <p:cNvPr id="1" name="Shape 42"/>
        <p:cNvGrpSpPr/>
        <p:nvPr/>
      </p:nvGrpSpPr>
      <p:grpSpPr>
        <a:xfrm>
          <a:off x="0" y="0"/>
          <a:ext cx="0" cy="0"/>
          <a:chOff x="0" y="0"/>
          <a:chExt cx="0" cy="0"/>
        </a:xfrm>
      </p:grpSpPr>
      <p:sp>
        <p:nvSpPr>
          <p:cNvPr id="43" name="Google Shape;43;p93"/>
          <p:cNvSpPr txBox="1">
            <a:spLocks noGrp="1"/>
          </p:cNvSpPr>
          <p:nvPr>
            <p:ph type="sldNum" idx="12"/>
          </p:nvPr>
        </p:nvSpPr>
        <p:spPr>
          <a:xfrm>
            <a:off x="4463369" y="6384727"/>
            <a:ext cx="320600" cy="317394"/>
          </a:xfrm>
          <a:prstGeom prst="rect">
            <a:avLst/>
          </a:prstGeom>
          <a:noFill/>
          <a:ln>
            <a:noFill/>
          </a:ln>
        </p:spPr>
        <p:txBody>
          <a:bodyPr spcFirstLastPara="1" wrap="square" lIns="71425" tIns="71425" rIns="71425" bIns="71425" anchor="ctr" anchorCtr="0">
            <a:noAutofit/>
          </a:bodyPr>
          <a:lstStyle>
            <a:lvl1pPr marL="0" lvl="0" indent="0" algn="r">
              <a:spcBef>
                <a:spcPts val="0"/>
              </a:spcBef>
              <a:buNone/>
              <a:defRPr sz="1125">
                <a:latin typeface="Arial"/>
                <a:ea typeface="Arial"/>
                <a:cs typeface="Arial"/>
                <a:sym typeface="Arial"/>
              </a:defRPr>
            </a:lvl1pPr>
            <a:lvl2pPr marL="0" lvl="1" indent="0" algn="r">
              <a:spcBef>
                <a:spcPts val="0"/>
              </a:spcBef>
              <a:buNone/>
              <a:defRPr sz="1125">
                <a:latin typeface="Arial"/>
                <a:ea typeface="Arial"/>
                <a:cs typeface="Arial"/>
                <a:sym typeface="Arial"/>
              </a:defRPr>
            </a:lvl2pPr>
            <a:lvl3pPr marL="0" lvl="2" indent="0" algn="r">
              <a:spcBef>
                <a:spcPts val="0"/>
              </a:spcBef>
              <a:buNone/>
              <a:defRPr sz="1125">
                <a:latin typeface="Arial"/>
                <a:ea typeface="Arial"/>
                <a:cs typeface="Arial"/>
                <a:sym typeface="Arial"/>
              </a:defRPr>
            </a:lvl3pPr>
            <a:lvl4pPr marL="0" lvl="3" indent="0" algn="r">
              <a:spcBef>
                <a:spcPts val="0"/>
              </a:spcBef>
              <a:buNone/>
              <a:defRPr sz="1125">
                <a:latin typeface="Arial"/>
                <a:ea typeface="Arial"/>
                <a:cs typeface="Arial"/>
                <a:sym typeface="Arial"/>
              </a:defRPr>
            </a:lvl4pPr>
            <a:lvl5pPr marL="0" lvl="4" indent="0" algn="r">
              <a:spcBef>
                <a:spcPts val="0"/>
              </a:spcBef>
              <a:buNone/>
              <a:defRPr sz="1125">
                <a:latin typeface="Arial"/>
                <a:ea typeface="Arial"/>
                <a:cs typeface="Arial"/>
                <a:sym typeface="Arial"/>
              </a:defRPr>
            </a:lvl5pPr>
            <a:lvl6pPr marL="0" lvl="5" indent="0" algn="r">
              <a:spcBef>
                <a:spcPts val="0"/>
              </a:spcBef>
              <a:buNone/>
              <a:defRPr sz="1125">
                <a:latin typeface="Arial"/>
                <a:ea typeface="Arial"/>
                <a:cs typeface="Arial"/>
                <a:sym typeface="Arial"/>
              </a:defRPr>
            </a:lvl6pPr>
            <a:lvl7pPr marL="0" lvl="6" indent="0" algn="r">
              <a:spcBef>
                <a:spcPts val="0"/>
              </a:spcBef>
              <a:buNone/>
              <a:defRPr sz="1125">
                <a:latin typeface="Arial"/>
                <a:ea typeface="Arial"/>
                <a:cs typeface="Arial"/>
                <a:sym typeface="Arial"/>
              </a:defRPr>
            </a:lvl7pPr>
            <a:lvl8pPr marL="0" lvl="7" indent="0" algn="r">
              <a:spcBef>
                <a:spcPts val="0"/>
              </a:spcBef>
              <a:buNone/>
              <a:defRPr sz="1125">
                <a:latin typeface="Arial"/>
                <a:ea typeface="Arial"/>
                <a:cs typeface="Arial"/>
                <a:sym typeface="Arial"/>
              </a:defRPr>
            </a:lvl8pPr>
            <a:lvl9pPr marL="0" lvl="8" indent="0" algn="r">
              <a:spcBef>
                <a:spcPts val="0"/>
              </a:spcBef>
              <a:buNone/>
              <a:defRPr sz="1125">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solidFill>
                <a:srgbClr val="888888"/>
              </a:solidFill>
            </a:endParaRPr>
          </a:p>
        </p:txBody>
      </p:sp>
    </p:spTree>
    <p:extLst>
      <p:ext uri="{BB962C8B-B14F-4D97-AF65-F5344CB8AC3E}">
        <p14:creationId xmlns:p14="http://schemas.microsoft.com/office/powerpoint/2010/main" val="134169104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wo Content" type="twoObj">
  <p:cSld name="Two Content">
    <p:spTree>
      <p:nvGrpSpPr>
        <p:cNvPr id="1" name="Shape 44"/>
        <p:cNvGrpSpPr/>
        <p:nvPr/>
      </p:nvGrpSpPr>
      <p:grpSpPr>
        <a:xfrm>
          <a:off x="0" y="0"/>
          <a:ext cx="0" cy="0"/>
          <a:chOff x="0" y="0"/>
          <a:chExt cx="0" cy="0"/>
        </a:xfrm>
      </p:grpSpPr>
      <p:sp>
        <p:nvSpPr>
          <p:cNvPr id="45" name="Google Shape;45;p9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rgbClr val="0070C0"/>
              </a:buClr>
              <a:buSzPts val="4400"/>
              <a:buFont typeface="Cambria Math"/>
              <a:buNone/>
              <a:defRPr b="1">
                <a:solidFill>
                  <a:srgbClr val="0070C0"/>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 name="Google Shape;46;p94"/>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81000" algn="l">
              <a:spcBef>
                <a:spcPts val="480"/>
              </a:spcBef>
              <a:spcAft>
                <a:spcPts val="0"/>
              </a:spcAft>
              <a:buClr>
                <a:schemeClr val="dk1"/>
              </a:buClr>
              <a:buSzPts val="2400"/>
              <a:buChar char="–"/>
              <a:defRPr sz="24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47" name="Google Shape;47;p94"/>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81000" algn="l">
              <a:spcBef>
                <a:spcPts val="480"/>
              </a:spcBef>
              <a:spcAft>
                <a:spcPts val="0"/>
              </a:spcAft>
              <a:buClr>
                <a:schemeClr val="dk1"/>
              </a:buClr>
              <a:buSzPts val="2400"/>
              <a:buChar char="–"/>
              <a:defRPr sz="24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48" name="Google Shape;48;p9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9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0" name="Google Shape;50;p9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60964071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omparison" type="twoTxTwoObj">
  <p:cSld name="Comparison">
    <p:spTree>
      <p:nvGrpSpPr>
        <p:cNvPr id="1" name="Shape 51"/>
        <p:cNvGrpSpPr/>
        <p:nvPr/>
      </p:nvGrpSpPr>
      <p:grpSpPr>
        <a:xfrm>
          <a:off x="0" y="0"/>
          <a:ext cx="0" cy="0"/>
          <a:chOff x="0" y="0"/>
          <a:chExt cx="0" cy="0"/>
        </a:xfrm>
      </p:grpSpPr>
      <p:sp>
        <p:nvSpPr>
          <p:cNvPr id="52" name="Google Shape;52;p95"/>
          <p:cNvSpPr txBox="1">
            <a:spLocks noGrp="1"/>
          </p:cNvSpPr>
          <p:nvPr>
            <p:ph type="title"/>
          </p:nvPr>
        </p:nvSpPr>
        <p:spPr>
          <a:xfrm>
            <a:off x="457200" y="274638"/>
            <a:ext cx="8229600" cy="622177"/>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rgbClr val="0070C0"/>
              </a:buClr>
              <a:buSzPts val="3600"/>
              <a:buFont typeface="Cambria Math"/>
              <a:buNone/>
              <a:defRPr sz="3600" b="1">
                <a:solidFill>
                  <a:srgbClr val="0070C0"/>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3" name="Google Shape;53;p95"/>
          <p:cNvSpPr txBox="1">
            <a:spLocks noGrp="1"/>
          </p:cNvSpPr>
          <p:nvPr>
            <p:ph type="body" idx="1"/>
          </p:nvPr>
        </p:nvSpPr>
        <p:spPr>
          <a:xfrm>
            <a:off x="457200" y="1033969"/>
            <a:ext cx="4040188" cy="639762"/>
          </a:xfrm>
          <a:prstGeom prst="rect">
            <a:avLst/>
          </a:prstGeom>
          <a:noFill/>
          <a:ln>
            <a:noFill/>
          </a:ln>
        </p:spPr>
        <p:txBody>
          <a:bodyPr spcFirstLastPara="1" wrap="square" lIns="91425" tIns="45700" rIns="91425" bIns="45700" anchor="b" anchorCtr="0">
            <a:normAutofit/>
          </a:bodyPr>
          <a:lstStyle>
            <a:lvl1pPr marL="457200" lvl="0" indent="-228600" algn="ctr">
              <a:spcBef>
                <a:spcPts val="480"/>
              </a:spcBef>
              <a:spcAft>
                <a:spcPts val="0"/>
              </a:spcAft>
              <a:buClr>
                <a:schemeClr val="dk1"/>
              </a:buClr>
              <a:buSzPts val="2400"/>
              <a:buNone/>
              <a:defRPr sz="2400" b="0" i="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54" name="Google Shape;54;p95"/>
          <p:cNvSpPr txBox="1">
            <a:spLocks noGrp="1"/>
          </p:cNvSpPr>
          <p:nvPr>
            <p:ph type="body" idx="2"/>
          </p:nvPr>
        </p:nvSpPr>
        <p:spPr>
          <a:xfrm>
            <a:off x="457200" y="1673731"/>
            <a:ext cx="4040188" cy="4551222"/>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81000" algn="l">
              <a:spcBef>
                <a:spcPts val="480"/>
              </a:spcBef>
              <a:spcAft>
                <a:spcPts val="0"/>
              </a:spcAft>
              <a:buClr>
                <a:schemeClr val="dk1"/>
              </a:buClr>
              <a:buSzPts val="2400"/>
              <a:buChar char="–"/>
              <a:defRPr sz="24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55" name="Google Shape;55;p95"/>
          <p:cNvSpPr txBox="1">
            <a:spLocks noGrp="1"/>
          </p:cNvSpPr>
          <p:nvPr>
            <p:ph type="body" idx="3"/>
          </p:nvPr>
        </p:nvSpPr>
        <p:spPr>
          <a:xfrm>
            <a:off x="4645025" y="1033969"/>
            <a:ext cx="4041775" cy="639762"/>
          </a:xfrm>
          <a:prstGeom prst="rect">
            <a:avLst/>
          </a:prstGeom>
          <a:noFill/>
          <a:ln>
            <a:noFill/>
          </a:ln>
        </p:spPr>
        <p:txBody>
          <a:bodyPr spcFirstLastPara="1" wrap="square" lIns="91425" tIns="45700" rIns="91425" bIns="45700" anchor="b" anchorCtr="0">
            <a:normAutofit/>
          </a:bodyPr>
          <a:lstStyle>
            <a:lvl1pPr marL="457200" lvl="0" indent="-228600" algn="ctr">
              <a:spcBef>
                <a:spcPts val="480"/>
              </a:spcBef>
              <a:spcAft>
                <a:spcPts val="0"/>
              </a:spcAft>
              <a:buClr>
                <a:schemeClr val="dk1"/>
              </a:buClr>
              <a:buSzPts val="2400"/>
              <a:buNone/>
              <a:defRPr sz="2400" b="0" i="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56" name="Google Shape;56;p95"/>
          <p:cNvSpPr txBox="1">
            <a:spLocks noGrp="1"/>
          </p:cNvSpPr>
          <p:nvPr>
            <p:ph type="body" idx="4"/>
          </p:nvPr>
        </p:nvSpPr>
        <p:spPr>
          <a:xfrm>
            <a:off x="4645025" y="1673730"/>
            <a:ext cx="4041775" cy="4551223"/>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81000" algn="l">
              <a:spcBef>
                <a:spcPts val="480"/>
              </a:spcBef>
              <a:spcAft>
                <a:spcPts val="0"/>
              </a:spcAft>
              <a:buClr>
                <a:schemeClr val="dk1"/>
              </a:buClr>
              <a:buSzPts val="2400"/>
              <a:buChar char="–"/>
              <a:defRPr sz="24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57" name="Google Shape;57;p9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9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26926364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Content with Caption" type="objTx">
  <p:cSld name="Content with Caption">
    <p:spTree>
      <p:nvGrpSpPr>
        <p:cNvPr id="1" name="Shape 60"/>
        <p:cNvGrpSpPr/>
        <p:nvPr/>
      </p:nvGrpSpPr>
      <p:grpSpPr>
        <a:xfrm>
          <a:off x="0" y="0"/>
          <a:ext cx="0" cy="0"/>
          <a:chOff x="0" y="0"/>
          <a:chExt cx="0" cy="0"/>
        </a:xfrm>
      </p:grpSpPr>
      <p:sp>
        <p:nvSpPr>
          <p:cNvPr id="61" name="Google Shape;61;p96"/>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rgbClr val="0070C0"/>
              </a:buClr>
              <a:buSzPts val="2000"/>
              <a:buFont typeface="Cambria Math"/>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2" name="Google Shape;62;p96"/>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63" name="Google Shape;63;p96"/>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4" name="Google Shape;64;p9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9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9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49174223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Picture with Caption" type="picTx">
  <p:cSld name="Picture with Caption">
    <p:spTree>
      <p:nvGrpSpPr>
        <p:cNvPr id="1" name="Shape 67"/>
        <p:cNvGrpSpPr/>
        <p:nvPr/>
      </p:nvGrpSpPr>
      <p:grpSpPr>
        <a:xfrm>
          <a:off x="0" y="0"/>
          <a:ext cx="0" cy="0"/>
          <a:chOff x="0" y="0"/>
          <a:chExt cx="0" cy="0"/>
        </a:xfrm>
      </p:grpSpPr>
      <p:sp>
        <p:nvSpPr>
          <p:cNvPr id="68" name="Google Shape;68;p97"/>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rgbClr val="0070C0"/>
              </a:buClr>
              <a:buSzPts val="2000"/>
              <a:buFont typeface="Cambria Math"/>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9" name="Google Shape;69;p97"/>
          <p:cNvSpPr>
            <a:spLocks noGrp="1"/>
          </p:cNvSpPr>
          <p:nvPr>
            <p:ph type="pic" idx="2"/>
          </p:nvPr>
        </p:nvSpPr>
        <p:spPr>
          <a:xfrm>
            <a:off x="1792288" y="612775"/>
            <a:ext cx="5486400" cy="4114800"/>
          </a:xfrm>
          <a:prstGeom prst="rect">
            <a:avLst/>
          </a:prstGeom>
          <a:noFill/>
          <a:ln>
            <a:noFill/>
          </a:ln>
        </p:spPr>
      </p:sp>
      <p:sp>
        <p:nvSpPr>
          <p:cNvPr id="70" name="Google Shape;70;p97"/>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71" name="Google Shape;71;p9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9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9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98536805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Vertical Text" type="vertTx">
  <p:cSld name="Title and Vertical Text">
    <p:spTree>
      <p:nvGrpSpPr>
        <p:cNvPr id="1" name="Shape 74"/>
        <p:cNvGrpSpPr/>
        <p:nvPr/>
      </p:nvGrpSpPr>
      <p:grpSpPr>
        <a:xfrm>
          <a:off x="0" y="0"/>
          <a:ext cx="0" cy="0"/>
          <a:chOff x="0" y="0"/>
          <a:chExt cx="0" cy="0"/>
        </a:xfrm>
      </p:grpSpPr>
      <p:sp>
        <p:nvSpPr>
          <p:cNvPr id="75" name="Google Shape;75;p9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rgbClr val="0070C0"/>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98"/>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9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9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9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81153087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 Title and Text">
    <p:spTree>
      <p:nvGrpSpPr>
        <p:cNvPr id="1" name="Shape 80"/>
        <p:cNvGrpSpPr/>
        <p:nvPr/>
      </p:nvGrpSpPr>
      <p:grpSpPr>
        <a:xfrm>
          <a:off x="0" y="0"/>
          <a:ext cx="0" cy="0"/>
          <a:chOff x="0" y="0"/>
          <a:chExt cx="0" cy="0"/>
        </a:xfrm>
      </p:grpSpPr>
      <p:sp>
        <p:nvSpPr>
          <p:cNvPr id="81" name="Google Shape;81;p99"/>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rgbClr val="0070C0"/>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2" name="Google Shape;82;p99"/>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3" name="Google Shape;83;p9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9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9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6571651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FC35801-B62B-1347-8D7D-E1D9FD950611}" type="datetimeFigureOut">
              <a:rPr lang="en-US" smtClean="0"/>
              <a:pPr/>
              <a:t>4/2/25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5BFDCA1-C2F8-BA4E-82CE-5B3B1AA6CE7D}"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457200" rtl="0" eaLnBrk="1" latinLnBrk="0" hangingPunct="1">
        <a:spcBef>
          <a:spcPct val="0"/>
        </a:spcBef>
        <a:buNone/>
        <a:defRPr sz="4400" b="1" kern="1200">
          <a:solidFill>
            <a:srgbClr val="0070C0"/>
          </a:solidFill>
          <a:latin typeface="Cambria Math"/>
          <a:ea typeface="+mj-ea"/>
          <a:cs typeface="Cambria Math"/>
        </a:defRPr>
      </a:lvl1pPr>
    </p:titleStyle>
    <p:bodyStyle>
      <a:lvl1pPr marL="342900" indent="-342900" algn="l" defTabSz="457200" rtl="0" eaLnBrk="1" latinLnBrk="0" hangingPunct="1">
        <a:spcBef>
          <a:spcPct val="20000"/>
        </a:spcBef>
        <a:buFont typeface="Arial"/>
        <a:buChar char="•"/>
        <a:defRPr sz="2800" kern="1200">
          <a:solidFill>
            <a:schemeClr val="tx1"/>
          </a:solidFill>
          <a:latin typeface="Cambria Math"/>
          <a:ea typeface="+mn-ea"/>
          <a:cs typeface="Cambria Math"/>
        </a:defRPr>
      </a:lvl1pPr>
      <a:lvl2pPr marL="742950" indent="-285750" algn="l" defTabSz="457200" rtl="0" eaLnBrk="1" latinLnBrk="0" hangingPunct="1">
        <a:spcBef>
          <a:spcPct val="20000"/>
        </a:spcBef>
        <a:buFont typeface="Arial"/>
        <a:buChar char="–"/>
        <a:defRPr sz="2800" kern="1200">
          <a:solidFill>
            <a:schemeClr val="tx1"/>
          </a:solidFill>
          <a:latin typeface="Cambria Math"/>
          <a:ea typeface="+mn-ea"/>
          <a:cs typeface="Cambria Math"/>
        </a:defRPr>
      </a:lvl2pPr>
      <a:lvl3pPr marL="1143000" indent="-228600" algn="l" defTabSz="457200" rtl="0" eaLnBrk="1" latinLnBrk="0" hangingPunct="1">
        <a:spcBef>
          <a:spcPct val="20000"/>
        </a:spcBef>
        <a:buFont typeface="Arial"/>
        <a:buChar char="•"/>
        <a:defRPr sz="2800" kern="1200">
          <a:solidFill>
            <a:schemeClr val="tx1"/>
          </a:solidFill>
          <a:latin typeface="Cambria Math"/>
          <a:ea typeface="+mn-ea"/>
          <a:cs typeface="Cambria Math"/>
        </a:defRPr>
      </a:lvl3pPr>
      <a:lvl4pPr marL="1600200" indent="-228600" algn="l" defTabSz="457200" rtl="0" eaLnBrk="1" latinLnBrk="0" hangingPunct="1">
        <a:spcBef>
          <a:spcPct val="20000"/>
        </a:spcBef>
        <a:buFont typeface="Arial"/>
        <a:buChar char="–"/>
        <a:defRPr sz="2400" kern="1200">
          <a:solidFill>
            <a:schemeClr val="tx1"/>
          </a:solidFill>
          <a:latin typeface="Cambria Math"/>
          <a:ea typeface="+mn-ea"/>
          <a:cs typeface="Cambria Math"/>
        </a:defRPr>
      </a:lvl4pPr>
      <a:lvl5pPr marL="2057400" indent="-228600" algn="l" defTabSz="457200" rtl="0" eaLnBrk="1" latinLnBrk="0" hangingPunct="1">
        <a:spcBef>
          <a:spcPct val="20000"/>
        </a:spcBef>
        <a:buFont typeface="Arial"/>
        <a:buChar char="»"/>
        <a:defRPr sz="2000" kern="1200">
          <a:solidFill>
            <a:schemeClr val="tx1"/>
          </a:solidFill>
          <a:latin typeface="Cambria Math"/>
          <a:ea typeface="+mn-ea"/>
          <a:cs typeface="Cambria Math"/>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8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rgbClr val="0070C0"/>
              </a:buClr>
              <a:buSzPts val="4400"/>
              <a:buFont typeface="Cambria Math"/>
              <a:buNone/>
              <a:defRPr sz="4400" b="1" i="0" u="none" strike="noStrike" cap="none">
                <a:solidFill>
                  <a:srgbClr val="0070C0"/>
                </a:solidFill>
                <a:latin typeface="Cambria Math"/>
                <a:ea typeface="Cambria Math"/>
                <a:cs typeface="Cambria Math"/>
                <a:sym typeface="Cambria Math"/>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87"/>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06400" algn="l" rtl="0">
              <a:spcBef>
                <a:spcPts val="560"/>
              </a:spcBef>
              <a:spcAft>
                <a:spcPts val="0"/>
              </a:spcAft>
              <a:buClr>
                <a:schemeClr val="dk1"/>
              </a:buClr>
              <a:buSzPts val="2800"/>
              <a:buFont typeface="Arial"/>
              <a:buChar char="•"/>
              <a:defRPr sz="2800" b="0" i="0" u="none" strike="noStrike" cap="none">
                <a:solidFill>
                  <a:schemeClr val="dk1"/>
                </a:solidFill>
                <a:latin typeface="Cambria Math"/>
                <a:ea typeface="Cambria Math"/>
                <a:cs typeface="Cambria Math"/>
                <a:sym typeface="Cambria Math"/>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mbria Math"/>
                <a:ea typeface="Cambria Math"/>
                <a:cs typeface="Cambria Math"/>
                <a:sym typeface="Cambria Math"/>
              </a:defRPr>
            </a:lvl2pPr>
            <a:lvl3pPr marL="1371600" marR="0" lvl="2" indent="-406400" algn="l" rtl="0">
              <a:spcBef>
                <a:spcPts val="560"/>
              </a:spcBef>
              <a:spcAft>
                <a:spcPts val="0"/>
              </a:spcAft>
              <a:buClr>
                <a:schemeClr val="dk1"/>
              </a:buClr>
              <a:buSzPts val="2800"/>
              <a:buFont typeface="Arial"/>
              <a:buChar char="•"/>
              <a:defRPr sz="2800" b="0" i="0" u="none" strike="noStrike" cap="none">
                <a:solidFill>
                  <a:schemeClr val="dk1"/>
                </a:solidFill>
                <a:latin typeface="Cambria Math"/>
                <a:ea typeface="Cambria Math"/>
                <a:cs typeface="Cambria Math"/>
                <a:sym typeface="Cambria Math"/>
              </a:defRPr>
            </a:lvl3pPr>
            <a:lvl4pPr marL="1828800" marR="0" lvl="3" indent="-381000" algn="l" rtl="0">
              <a:spcBef>
                <a:spcPts val="480"/>
              </a:spcBef>
              <a:spcAft>
                <a:spcPts val="0"/>
              </a:spcAft>
              <a:buClr>
                <a:schemeClr val="dk1"/>
              </a:buClr>
              <a:buSzPts val="2400"/>
              <a:buFont typeface="Arial"/>
              <a:buChar char="–"/>
              <a:defRPr sz="2400" b="0" i="0" u="none" strike="noStrike" cap="none">
                <a:solidFill>
                  <a:schemeClr val="dk1"/>
                </a:solidFill>
                <a:latin typeface="Cambria Math"/>
                <a:ea typeface="Cambria Math"/>
                <a:cs typeface="Cambria Math"/>
                <a:sym typeface="Cambria Math"/>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mbria Math"/>
                <a:ea typeface="Cambria Math"/>
                <a:cs typeface="Cambria Math"/>
                <a:sym typeface="Cambria Math"/>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Gill Sans"/>
                <a:ea typeface="Gill Sans"/>
                <a:cs typeface="Gill Sans"/>
                <a:sym typeface="Gill Sans"/>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Gill Sans"/>
                <a:ea typeface="Gill Sans"/>
                <a:cs typeface="Gill Sans"/>
                <a:sym typeface="Gill Sans"/>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Gill Sans"/>
                <a:ea typeface="Gill Sans"/>
                <a:cs typeface="Gill Sans"/>
                <a:sym typeface="Gill Sans"/>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Gill Sans"/>
                <a:ea typeface="Gill Sans"/>
                <a:cs typeface="Gill Sans"/>
                <a:sym typeface="Gill Sans"/>
              </a:defRPr>
            </a:lvl9pPr>
          </a:lstStyle>
          <a:p>
            <a:endParaRPr/>
          </a:p>
        </p:txBody>
      </p:sp>
      <p:sp>
        <p:nvSpPr>
          <p:cNvPr id="12" name="Google Shape;12;p8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Gill Sans"/>
                <a:ea typeface="Gill Sans"/>
                <a:cs typeface="Gill Sans"/>
                <a:sym typeface="Gill Sans"/>
              </a:defRPr>
            </a:lvl1pPr>
            <a:lvl2pPr marR="0" lvl="1"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2pPr>
            <a:lvl3pPr marR="0" lvl="2"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3pPr>
            <a:lvl4pPr marR="0" lvl="3"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4pPr>
            <a:lvl5pPr marR="0" lvl="4"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5pPr>
            <a:lvl6pPr marR="0" lvl="5"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6pPr>
            <a:lvl7pPr marR="0" lvl="6"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7pPr>
            <a:lvl8pPr marR="0" lvl="7"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8pPr>
            <a:lvl9pPr marR="0" lvl="8"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9pPr>
          </a:lstStyle>
          <a:p>
            <a:endParaRPr/>
          </a:p>
        </p:txBody>
      </p:sp>
      <p:sp>
        <p:nvSpPr>
          <p:cNvPr id="13" name="Google Shape;13;p8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Gill Sans"/>
                <a:ea typeface="Gill Sans"/>
                <a:cs typeface="Gill Sans"/>
                <a:sym typeface="Gill Sans"/>
              </a:defRPr>
            </a:lvl1pPr>
            <a:lvl2pPr marR="0" lvl="1"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2pPr>
            <a:lvl3pPr marR="0" lvl="2"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3pPr>
            <a:lvl4pPr marR="0" lvl="3"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4pPr>
            <a:lvl5pPr marR="0" lvl="4"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5pPr>
            <a:lvl6pPr marR="0" lvl="5"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6pPr>
            <a:lvl7pPr marR="0" lvl="6"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7pPr>
            <a:lvl8pPr marR="0" lvl="7"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8pPr>
            <a:lvl9pPr marR="0" lvl="8"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9pPr>
          </a:lstStyle>
          <a:p>
            <a:endParaRPr/>
          </a:p>
        </p:txBody>
      </p:sp>
      <p:sp>
        <p:nvSpPr>
          <p:cNvPr id="14" name="Google Shape;14;p8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Gill Sans"/>
                <a:ea typeface="Gill Sans"/>
                <a:cs typeface="Gill Sans"/>
                <a:sym typeface="Gill Sans"/>
              </a:defRPr>
            </a:lvl1pPr>
            <a:lvl2pPr marL="0" marR="0" lvl="1" indent="0" algn="r" rtl="0">
              <a:spcBef>
                <a:spcPts val="0"/>
              </a:spcBef>
              <a:buNone/>
              <a:defRPr sz="1200" b="0" i="0" u="none" strike="noStrike" cap="none">
                <a:solidFill>
                  <a:srgbClr val="888888"/>
                </a:solidFill>
                <a:latin typeface="Gill Sans"/>
                <a:ea typeface="Gill Sans"/>
                <a:cs typeface="Gill Sans"/>
                <a:sym typeface="Gill Sans"/>
              </a:defRPr>
            </a:lvl2pPr>
            <a:lvl3pPr marL="0" marR="0" lvl="2" indent="0" algn="r" rtl="0">
              <a:spcBef>
                <a:spcPts val="0"/>
              </a:spcBef>
              <a:buNone/>
              <a:defRPr sz="1200" b="0" i="0" u="none" strike="noStrike" cap="none">
                <a:solidFill>
                  <a:srgbClr val="888888"/>
                </a:solidFill>
                <a:latin typeface="Gill Sans"/>
                <a:ea typeface="Gill Sans"/>
                <a:cs typeface="Gill Sans"/>
                <a:sym typeface="Gill Sans"/>
              </a:defRPr>
            </a:lvl3pPr>
            <a:lvl4pPr marL="0" marR="0" lvl="3" indent="0" algn="r" rtl="0">
              <a:spcBef>
                <a:spcPts val="0"/>
              </a:spcBef>
              <a:buNone/>
              <a:defRPr sz="1200" b="0" i="0" u="none" strike="noStrike" cap="none">
                <a:solidFill>
                  <a:srgbClr val="888888"/>
                </a:solidFill>
                <a:latin typeface="Gill Sans"/>
                <a:ea typeface="Gill Sans"/>
                <a:cs typeface="Gill Sans"/>
                <a:sym typeface="Gill Sans"/>
              </a:defRPr>
            </a:lvl4pPr>
            <a:lvl5pPr marL="0" marR="0" lvl="4" indent="0" algn="r" rtl="0">
              <a:spcBef>
                <a:spcPts val="0"/>
              </a:spcBef>
              <a:buNone/>
              <a:defRPr sz="1200" b="0" i="0" u="none" strike="noStrike" cap="none">
                <a:solidFill>
                  <a:srgbClr val="888888"/>
                </a:solidFill>
                <a:latin typeface="Gill Sans"/>
                <a:ea typeface="Gill Sans"/>
                <a:cs typeface="Gill Sans"/>
                <a:sym typeface="Gill Sans"/>
              </a:defRPr>
            </a:lvl5pPr>
            <a:lvl6pPr marL="0" marR="0" lvl="5" indent="0" algn="r" rtl="0">
              <a:spcBef>
                <a:spcPts val="0"/>
              </a:spcBef>
              <a:buNone/>
              <a:defRPr sz="1200" b="0" i="0" u="none" strike="noStrike" cap="none">
                <a:solidFill>
                  <a:srgbClr val="888888"/>
                </a:solidFill>
                <a:latin typeface="Gill Sans"/>
                <a:ea typeface="Gill Sans"/>
                <a:cs typeface="Gill Sans"/>
                <a:sym typeface="Gill Sans"/>
              </a:defRPr>
            </a:lvl6pPr>
            <a:lvl7pPr marL="0" marR="0" lvl="6" indent="0" algn="r" rtl="0">
              <a:spcBef>
                <a:spcPts val="0"/>
              </a:spcBef>
              <a:buNone/>
              <a:defRPr sz="1200" b="0" i="0" u="none" strike="noStrike" cap="none">
                <a:solidFill>
                  <a:srgbClr val="888888"/>
                </a:solidFill>
                <a:latin typeface="Gill Sans"/>
                <a:ea typeface="Gill Sans"/>
                <a:cs typeface="Gill Sans"/>
                <a:sym typeface="Gill Sans"/>
              </a:defRPr>
            </a:lvl7pPr>
            <a:lvl8pPr marL="0" marR="0" lvl="7" indent="0" algn="r" rtl="0">
              <a:spcBef>
                <a:spcPts val="0"/>
              </a:spcBef>
              <a:buNone/>
              <a:defRPr sz="1200" b="0" i="0" u="none" strike="noStrike" cap="none">
                <a:solidFill>
                  <a:srgbClr val="888888"/>
                </a:solidFill>
                <a:latin typeface="Gill Sans"/>
                <a:ea typeface="Gill Sans"/>
                <a:cs typeface="Gill Sans"/>
                <a:sym typeface="Gill Sans"/>
              </a:defRPr>
            </a:lvl8pPr>
            <a:lvl9pPr marL="0" marR="0" lvl="8" indent="0" algn="r" rtl="0">
              <a:spcBef>
                <a:spcPts val="0"/>
              </a:spcBef>
              <a:buNone/>
              <a:defRPr sz="1200" b="0" i="0" u="none" strike="noStrike" cap="none">
                <a:solidFill>
                  <a:srgbClr val="888888"/>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313562617"/>
      </p:ext>
    </p:extLst>
  </p:cSld>
  <p:clrMap bg1="lt1" tx1="dk1" bg2="dk2" tx2="lt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4.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4.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4.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4.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14.xml"/><Relationship Id="rId5" Type="http://schemas.openxmlformats.org/officeDocument/2006/relationships/image" Target="../media/image13.png"/><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6.xml"/><Relationship Id="rId1" Type="http://schemas.openxmlformats.org/officeDocument/2006/relationships/slideLayout" Target="../slideLayouts/slideLayout6.xml"/><Relationship Id="rId4" Type="http://schemas.openxmlformats.org/officeDocument/2006/relationships/hyperlink" Target="https://arize.com/blog-course/the-needle-in-a-haystack-test-evaluating-the-performance-of-llm-rag-systems/" TargetMode="External"/></Relationships>
</file>

<file path=ppt/slides/_rels/slide3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3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1.xml"/><Relationship Id="rId1" Type="http://schemas.openxmlformats.org/officeDocument/2006/relationships/slideLayout" Target="../slideLayouts/slideLayout6.xml"/><Relationship Id="rId4" Type="http://schemas.openxmlformats.org/officeDocument/2006/relationships/image" Target="../media/image36.png"/></Relationships>
</file>

<file path=ppt/slides/_rels/slide4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45.png"/></Relationships>
</file>

<file path=ppt/slides/_rels/slide6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2.xml"/></Relationships>
</file>

<file path=ppt/slides/_rels/slide7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0.xml"/><Relationship Id="rId1" Type="http://schemas.openxmlformats.org/officeDocument/2006/relationships/slideLayout" Target="../slideLayouts/slideLayout1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6.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4BAF07-0EE8-87BE-0557-A2CF8E2D8259}"/>
              </a:ext>
            </a:extLst>
          </p:cNvPr>
          <p:cNvSpPr>
            <a:spLocks noGrp="1"/>
          </p:cNvSpPr>
          <p:nvPr>
            <p:ph type="ctrTitle"/>
          </p:nvPr>
        </p:nvSpPr>
        <p:spPr/>
        <p:txBody>
          <a:bodyPr/>
          <a:lstStyle/>
          <a:p>
            <a:r>
              <a:rPr lang="en-US" dirty="0"/>
              <a:t>10-605 / 10-405</a:t>
            </a:r>
          </a:p>
        </p:txBody>
      </p:sp>
      <p:sp>
        <p:nvSpPr>
          <p:cNvPr id="3" name="Subtitle 2">
            <a:extLst>
              <a:ext uri="{FF2B5EF4-FFF2-40B4-BE49-F238E27FC236}">
                <a16:creationId xmlns:a16="http://schemas.microsoft.com/office/drawing/2014/main" id="{5131B411-7A6C-21B1-431C-1AE6C9C76C74}"/>
              </a:ext>
            </a:extLst>
          </p:cNvPr>
          <p:cNvSpPr>
            <a:spLocks noGrp="1"/>
          </p:cNvSpPr>
          <p:nvPr>
            <p:ph type="subTitle" idx="1"/>
          </p:nvPr>
        </p:nvSpPr>
        <p:spPr/>
        <p:txBody>
          <a:bodyPr/>
          <a:lstStyle/>
          <a:p>
            <a:r>
              <a:rPr lang="en-US" dirty="0"/>
              <a:t>Machine Learning from Large Datasets</a:t>
            </a:r>
          </a:p>
        </p:txBody>
      </p:sp>
    </p:spTree>
    <p:extLst>
      <p:ext uri="{BB962C8B-B14F-4D97-AF65-F5344CB8AC3E}">
        <p14:creationId xmlns:p14="http://schemas.microsoft.com/office/powerpoint/2010/main" val="6854441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FAFE3C-9448-6A90-80C9-EB8060CAB9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9A8D74-F854-61C9-5B88-6D22915CE086}"/>
              </a:ext>
            </a:extLst>
          </p:cNvPr>
          <p:cNvSpPr>
            <a:spLocks noGrp="1"/>
          </p:cNvSpPr>
          <p:nvPr>
            <p:ph type="title"/>
          </p:nvPr>
        </p:nvSpPr>
        <p:spPr/>
        <p:txBody>
          <a:bodyPr/>
          <a:lstStyle/>
          <a:p>
            <a:r>
              <a:rPr lang="en-US" dirty="0"/>
              <a:t>Where were we again?</a:t>
            </a:r>
          </a:p>
        </p:txBody>
      </p:sp>
      <p:sp>
        <p:nvSpPr>
          <p:cNvPr id="3" name="Content Placeholder 2">
            <a:extLst>
              <a:ext uri="{FF2B5EF4-FFF2-40B4-BE49-F238E27FC236}">
                <a16:creationId xmlns:a16="http://schemas.microsoft.com/office/drawing/2014/main" id="{97788D54-5FBF-ACD8-3CEB-6473ADF9187C}"/>
              </a:ext>
            </a:extLst>
          </p:cNvPr>
          <p:cNvSpPr>
            <a:spLocks noGrp="1"/>
          </p:cNvSpPr>
          <p:nvPr>
            <p:ph idx="1"/>
          </p:nvPr>
        </p:nvSpPr>
        <p:spPr>
          <a:xfrm>
            <a:off x="279400" y="1257299"/>
            <a:ext cx="8648700" cy="5470071"/>
          </a:xfrm>
        </p:spPr>
        <p:txBody>
          <a:bodyPr>
            <a:normAutofit fontScale="70000" lnSpcReduction="20000"/>
          </a:bodyPr>
          <a:lstStyle/>
          <a:p>
            <a:r>
              <a:rPr lang="en-US" dirty="0"/>
              <a:t>Compressing models</a:t>
            </a:r>
          </a:p>
          <a:p>
            <a:pPr lvl="1"/>
            <a:r>
              <a:rPr lang="en-US" dirty="0"/>
              <a:t>Distillation</a:t>
            </a:r>
          </a:p>
          <a:p>
            <a:pPr lvl="1"/>
            <a:r>
              <a:rPr lang="en-US" dirty="0"/>
              <a:t>Quantization</a:t>
            </a:r>
          </a:p>
          <a:p>
            <a:pPr lvl="1"/>
            <a:r>
              <a:rPr lang="en-US" dirty="0"/>
              <a:t>Pruning</a:t>
            </a:r>
          </a:p>
          <a:p>
            <a:pPr lvl="2"/>
            <a:r>
              <a:rPr lang="en-US" dirty="0"/>
              <a:t>Unstructured</a:t>
            </a:r>
          </a:p>
          <a:p>
            <a:pPr lvl="2"/>
            <a:r>
              <a:rPr lang="en-US" dirty="0"/>
              <a:t>Semi-Structured (e.g. 2:4 Pruning)</a:t>
            </a:r>
          </a:p>
          <a:p>
            <a:pPr lvl="2"/>
            <a:r>
              <a:rPr lang="en-US" dirty="0"/>
              <a:t>Structured</a:t>
            </a:r>
          </a:p>
          <a:p>
            <a:r>
              <a:rPr lang="en-US" dirty="0"/>
              <a:t>Key-value caching</a:t>
            </a:r>
          </a:p>
          <a:p>
            <a:pPr lvl="1"/>
            <a:r>
              <a:rPr lang="en-US" dirty="0"/>
              <a:t>Motivation  and importance</a:t>
            </a:r>
          </a:p>
          <a:p>
            <a:pPr lvl="1"/>
            <a:r>
              <a:rPr lang="en-US" dirty="0"/>
              <a:t>Origin story</a:t>
            </a:r>
          </a:p>
          <a:p>
            <a:pPr lvl="2"/>
            <a:r>
              <a:rPr lang="en-US" dirty="0"/>
              <a:t>Long-context Transformers</a:t>
            </a:r>
          </a:p>
          <a:p>
            <a:pPr lvl="1"/>
            <a:r>
              <a:rPr lang="en-US" dirty="0">
                <a:highlight>
                  <a:srgbClr val="FFFF00"/>
                </a:highlight>
              </a:rPr>
              <a:t>Techniques</a:t>
            </a:r>
          </a:p>
          <a:p>
            <a:pPr lvl="2"/>
            <a:r>
              <a:rPr lang="en-US" dirty="0"/>
              <a:t>Heavy hitters – H2O</a:t>
            </a:r>
          </a:p>
          <a:p>
            <a:pPr lvl="2"/>
            <a:r>
              <a:rPr lang="en-US" dirty="0"/>
              <a:t>Attention sinks – </a:t>
            </a:r>
            <a:r>
              <a:rPr lang="en-US" dirty="0" err="1"/>
              <a:t>StreamingLLM</a:t>
            </a:r>
            <a:endParaRPr lang="en-US" dirty="0"/>
          </a:p>
          <a:p>
            <a:pPr lvl="2"/>
            <a:r>
              <a:rPr lang="en-US" dirty="0"/>
              <a:t>Predictive caching – </a:t>
            </a:r>
            <a:r>
              <a:rPr lang="en-US" dirty="0" err="1"/>
              <a:t>SnapKV</a:t>
            </a:r>
            <a:endParaRPr lang="en-US" dirty="0"/>
          </a:p>
          <a:p>
            <a:pPr lvl="2"/>
            <a:r>
              <a:rPr lang="en-US" dirty="0"/>
              <a:t>…</a:t>
            </a:r>
          </a:p>
          <a:p>
            <a:pPr lvl="2"/>
            <a:endParaRPr lang="en-US" dirty="0"/>
          </a:p>
        </p:txBody>
      </p:sp>
      <p:cxnSp>
        <p:nvCxnSpPr>
          <p:cNvPr id="5" name="Straight Connector 4">
            <a:extLst>
              <a:ext uri="{FF2B5EF4-FFF2-40B4-BE49-F238E27FC236}">
                <a16:creationId xmlns:a16="http://schemas.microsoft.com/office/drawing/2014/main" id="{D7C0F35A-BFC7-FD52-957D-073EB5EEB93B}"/>
              </a:ext>
            </a:extLst>
          </p:cNvPr>
          <p:cNvCxnSpPr/>
          <p:nvPr/>
        </p:nvCxnSpPr>
        <p:spPr>
          <a:xfrm>
            <a:off x="1224643" y="5763986"/>
            <a:ext cx="4865914"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936198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AF37B2-6FBA-A223-5DBB-5CB894EA9A75}"/>
              </a:ext>
            </a:extLst>
          </p:cNvPr>
          <p:cNvSpPr>
            <a:spLocks noGrp="1"/>
          </p:cNvSpPr>
          <p:nvPr>
            <p:ph type="title"/>
          </p:nvPr>
        </p:nvSpPr>
        <p:spPr/>
        <p:txBody>
          <a:bodyPr/>
          <a:lstStyle/>
          <a:p>
            <a:r>
              <a:rPr lang="en-US" dirty="0"/>
              <a:t>Plan for today</a:t>
            </a:r>
          </a:p>
        </p:txBody>
      </p:sp>
      <p:sp>
        <p:nvSpPr>
          <p:cNvPr id="3" name="Content Placeholder 2">
            <a:extLst>
              <a:ext uri="{FF2B5EF4-FFF2-40B4-BE49-F238E27FC236}">
                <a16:creationId xmlns:a16="http://schemas.microsoft.com/office/drawing/2014/main" id="{844C4D3A-991C-FB11-25A3-C8818A05CBD5}"/>
              </a:ext>
            </a:extLst>
          </p:cNvPr>
          <p:cNvSpPr>
            <a:spLocks noGrp="1"/>
          </p:cNvSpPr>
          <p:nvPr>
            <p:ph idx="1"/>
          </p:nvPr>
        </p:nvSpPr>
        <p:spPr/>
        <p:txBody>
          <a:bodyPr/>
          <a:lstStyle/>
          <a:p>
            <a:r>
              <a:rPr lang="en-US" dirty="0"/>
              <a:t>Recap of KV Caching</a:t>
            </a:r>
          </a:p>
          <a:p>
            <a:pPr lvl="1"/>
            <a:r>
              <a:rPr lang="en-US" dirty="0"/>
              <a:t>H2O, </a:t>
            </a:r>
            <a:r>
              <a:rPr lang="en-US" dirty="0" err="1"/>
              <a:t>StreamingLLM</a:t>
            </a:r>
            <a:endParaRPr lang="en-US" dirty="0"/>
          </a:p>
          <a:p>
            <a:r>
              <a:rPr lang="en-US" dirty="0"/>
              <a:t>More predictive techniques for KV Caching</a:t>
            </a:r>
          </a:p>
          <a:p>
            <a:pPr lvl="1"/>
            <a:r>
              <a:rPr lang="en-US" dirty="0" err="1"/>
              <a:t>SnapKV</a:t>
            </a:r>
            <a:endParaRPr lang="en-US" dirty="0"/>
          </a:p>
          <a:p>
            <a:pPr lvl="1"/>
            <a:r>
              <a:rPr lang="en-US" dirty="0" err="1"/>
              <a:t>FastGen</a:t>
            </a:r>
            <a:endParaRPr lang="en-US" dirty="0"/>
          </a:p>
          <a:p>
            <a:r>
              <a:rPr lang="en-US" dirty="0" err="1"/>
              <a:t>Wrapup</a:t>
            </a:r>
            <a:r>
              <a:rPr lang="en-US" dirty="0"/>
              <a:t> &amp; discussion of KV caching</a:t>
            </a:r>
          </a:p>
          <a:p>
            <a:r>
              <a:rPr lang="en-US" dirty="0" err="1"/>
              <a:t>Wrapup</a:t>
            </a:r>
            <a:r>
              <a:rPr lang="en-US" dirty="0"/>
              <a:t> and discussion of whole model compression segment</a:t>
            </a:r>
          </a:p>
        </p:txBody>
      </p:sp>
    </p:spTree>
    <p:extLst>
      <p:ext uri="{BB962C8B-B14F-4D97-AF65-F5344CB8AC3E}">
        <p14:creationId xmlns:p14="http://schemas.microsoft.com/office/powerpoint/2010/main" val="9461322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5A45F8-0F93-9F05-6AF0-72247BCADCA6}"/>
              </a:ext>
            </a:extLst>
          </p:cNvPr>
          <p:cNvSpPr>
            <a:spLocks noGrp="1"/>
          </p:cNvSpPr>
          <p:nvPr>
            <p:ph type="title"/>
          </p:nvPr>
        </p:nvSpPr>
        <p:spPr/>
        <p:txBody>
          <a:bodyPr/>
          <a:lstStyle/>
          <a:p>
            <a:r>
              <a:rPr lang="en-US" dirty="0"/>
              <a:t>But first a word from our sponsors</a:t>
            </a:r>
          </a:p>
        </p:txBody>
      </p:sp>
    </p:spTree>
    <p:extLst>
      <p:ext uri="{BB962C8B-B14F-4D97-AF65-F5344CB8AC3E}">
        <p14:creationId xmlns:p14="http://schemas.microsoft.com/office/powerpoint/2010/main" val="31748590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g3477c55f713_0_46"/>
          <p:cNvSpPr txBox="1">
            <a:spLocks noGrp="1"/>
          </p:cNvSpPr>
          <p:nvPr>
            <p:ph type="title"/>
          </p:nvPr>
        </p:nvSpPr>
        <p:spPr>
          <a:xfrm>
            <a:off x="279400" y="292100"/>
            <a:ext cx="8648700" cy="8049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Lecture feedback</a:t>
            </a:r>
            <a:endParaRPr/>
          </a:p>
        </p:txBody>
      </p:sp>
      <p:sp>
        <p:nvSpPr>
          <p:cNvPr id="92" name="Google Shape;92;g3477c55f713_0_46"/>
          <p:cNvSpPr txBox="1">
            <a:spLocks noGrp="1"/>
          </p:cNvSpPr>
          <p:nvPr>
            <p:ph type="body" idx="1"/>
          </p:nvPr>
        </p:nvSpPr>
        <p:spPr>
          <a:xfrm>
            <a:off x="279400" y="1257300"/>
            <a:ext cx="8648700" cy="5099100"/>
          </a:xfrm>
          <a:prstGeom prst="rect">
            <a:avLst/>
          </a:prstGeom>
        </p:spPr>
        <p:txBody>
          <a:bodyPr spcFirstLastPara="1" wrap="square" lIns="91425" tIns="45700" rIns="91425" bIns="45700" anchor="t" anchorCtr="0">
            <a:normAutofit/>
          </a:bodyPr>
          <a:lstStyle/>
          <a:p>
            <a:pPr marL="0" lvl="0" indent="0" algn="l" rtl="0">
              <a:spcBef>
                <a:spcPts val="640"/>
              </a:spcBef>
              <a:spcAft>
                <a:spcPts val="0"/>
              </a:spcAft>
              <a:buNone/>
            </a:pPr>
            <a:r>
              <a:rPr lang="en-US" sz="2000"/>
              <a:t>On the whole, the class feels that lecture pace, amount of detail, number of examples, and number of coding demos is about right. </a:t>
            </a:r>
            <a:endParaRPr sz="2000"/>
          </a:p>
          <a:p>
            <a:pPr marL="0" lvl="0" indent="0" algn="l" rtl="0">
              <a:spcBef>
                <a:spcPts val="640"/>
              </a:spcBef>
              <a:spcAft>
                <a:spcPts val="0"/>
              </a:spcAft>
              <a:buNone/>
            </a:pPr>
            <a:endParaRPr sz="2000"/>
          </a:p>
          <a:p>
            <a:pPr marL="0" lvl="0" indent="0" algn="l" rtl="0">
              <a:spcBef>
                <a:spcPts val="640"/>
              </a:spcBef>
              <a:spcAft>
                <a:spcPts val="0"/>
              </a:spcAft>
              <a:buNone/>
            </a:pPr>
            <a:endParaRPr sz="2000"/>
          </a:p>
        </p:txBody>
      </p:sp>
      <p:pic>
        <p:nvPicPr>
          <p:cNvPr id="93" name="Google Shape;93;g3477c55f713_0_46" descr="Forms response chart. Question title: Lectures: Pace. Number of responses: 51 responses." title="Lectures: Pace"/>
          <p:cNvPicPr preferRelativeResize="0"/>
          <p:nvPr/>
        </p:nvPicPr>
        <p:blipFill rotWithShape="1">
          <a:blip r:embed="rId3">
            <a:alphaModFix/>
          </a:blip>
          <a:srcRect/>
          <a:stretch/>
        </p:blipFill>
        <p:spPr>
          <a:xfrm>
            <a:off x="279400" y="4163150"/>
            <a:ext cx="3636372" cy="1925724"/>
          </a:xfrm>
          <a:prstGeom prst="rect">
            <a:avLst/>
          </a:prstGeom>
          <a:noFill/>
          <a:ln>
            <a:noFill/>
          </a:ln>
        </p:spPr>
      </p:pic>
      <p:sp>
        <p:nvSpPr>
          <p:cNvPr id="94" name="Google Shape;94;g3477c55f713_0_46"/>
          <p:cNvSpPr txBox="1"/>
          <p:nvPr/>
        </p:nvSpPr>
        <p:spPr>
          <a:xfrm>
            <a:off x="642199" y="5894500"/>
            <a:ext cx="609300" cy="2055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a:ln>
                  <a:noFill/>
                </a:ln>
                <a:solidFill>
                  <a:srgbClr val="000000"/>
                </a:solidFill>
                <a:effectLst/>
                <a:uLnTx/>
                <a:uFillTx/>
                <a:latin typeface="Cambria Math"/>
                <a:ea typeface="Cambria Math"/>
                <a:cs typeface="Cambria Math"/>
                <a:sym typeface="Cambria Math"/>
              </a:rPr>
              <a:t>Too slow	</a:t>
            </a:r>
            <a:endParaRPr kumimoji="0" sz="1400" b="0" i="0" u="none" strike="noStrike" kern="0" cap="none" spc="0" normalizeH="0" baseline="0" noProof="0">
              <a:ln>
                <a:noFill/>
              </a:ln>
              <a:solidFill>
                <a:srgbClr val="000000"/>
              </a:solidFill>
              <a:effectLst/>
              <a:uLnTx/>
              <a:uFillTx/>
              <a:latin typeface="Cambria Math"/>
              <a:ea typeface="Cambria Math"/>
              <a:cs typeface="Cambria Math"/>
              <a:sym typeface="Cambria Math"/>
            </a:endParaRPr>
          </a:p>
        </p:txBody>
      </p:sp>
      <p:sp>
        <p:nvSpPr>
          <p:cNvPr id="95" name="Google Shape;95;g3477c55f713_0_46"/>
          <p:cNvSpPr txBox="1"/>
          <p:nvPr/>
        </p:nvSpPr>
        <p:spPr>
          <a:xfrm>
            <a:off x="3453173" y="5894511"/>
            <a:ext cx="492900" cy="2055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a:ln>
                  <a:noFill/>
                </a:ln>
                <a:solidFill>
                  <a:srgbClr val="000000"/>
                </a:solidFill>
                <a:effectLst/>
                <a:uLnTx/>
                <a:uFillTx/>
                <a:latin typeface="Cambria Math"/>
                <a:ea typeface="Cambria Math"/>
                <a:cs typeface="Cambria Math"/>
                <a:sym typeface="Cambria Math"/>
              </a:rPr>
              <a:t>Too fast	</a:t>
            </a:r>
            <a:endParaRPr kumimoji="0" sz="1400" b="0" i="0" u="none" strike="noStrike" kern="0" cap="none" spc="0" normalizeH="0" baseline="0" noProof="0">
              <a:ln>
                <a:noFill/>
              </a:ln>
              <a:solidFill>
                <a:srgbClr val="000000"/>
              </a:solidFill>
              <a:effectLst/>
              <a:uLnTx/>
              <a:uFillTx/>
              <a:latin typeface="Cambria Math"/>
              <a:ea typeface="Cambria Math"/>
              <a:cs typeface="Cambria Math"/>
              <a:sym typeface="Cambria Math"/>
            </a:endParaRPr>
          </a:p>
        </p:txBody>
      </p:sp>
      <p:sp>
        <p:nvSpPr>
          <p:cNvPr id="96" name="Google Shape;96;g3477c55f713_0_46"/>
          <p:cNvSpPr txBox="1"/>
          <p:nvPr/>
        </p:nvSpPr>
        <p:spPr>
          <a:xfrm>
            <a:off x="4903201" y="6019024"/>
            <a:ext cx="590400" cy="2211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a:ln>
                  <a:noFill/>
                </a:ln>
                <a:solidFill>
                  <a:srgbClr val="000000"/>
                </a:solidFill>
                <a:effectLst/>
                <a:uLnTx/>
                <a:uFillTx/>
                <a:latin typeface="Cambria Math"/>
                <a:ea typeface="Cambria Math"/>
                <a:cs typeface="Cambria Math"/>
                <a:sym typeface="Cambria Math"/>
              </a:rPr>
              <a:t>Too few	</a:t>
            </a:r>
            <a:endParaRPr kumimoji="0" sz="1400" b="0" i="0" u="none" strike="noStrike" kern="0" cap="none" spc="0" normalizeH="0" baseline="0" noProof="0">
              <a:ln>
                <a:noFill/>
              </a:ln>
              <a:solidFill>
                <a:srgbClr val="000000"/>
              </a:solidFill>
              <a:effectLst/>
              <a:uLnTx/>
              <a:uFillTx/>
              <a:latin typeface="Cambria Math"/>
              <a:ea typeface="Cambria Math"/>
              <a:cs typeface="Cambria Math"/>
              <a:sym typeface="Cambria Math"/>
            </a:endParaRPr>
          </a:p>
        </p:txBody>
      </p:sp>
      <p:sp>
        <p:nvSpPr>
          <p:cNvPr id="97" name="Google Shape;97;g3477c55f713_0_46"/>
          <p:cNvSpPr txBox="1"/>
          <p:nvPr/>
        </p:nvSpPr>
        <p:spPr>
          <a:xfrm>
            <a:off x="8146353" y="6019025"/>
            <a:ext cx="717000" cy="2211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a:ln>
                  <a:noFill/>
                </a:ln>
                <a:solidFill>
                  <a:srgbClr val="000000"/>
                </a:solidFill>
                <a:effectLst/>
                <a:uLnTx/>
                <a:uFillTx/>
                <a:latin typeface="Cambria Math"/>
                <a:ea typeface="Cambria Math"/>
                <a:cs typeface="Cambria Math"/>
                <a:sym typeface="Cambria Math"/>
              </a:rPr>
              <a:t>Too many	</a:t>
            </a:r>
            <a:endParaRPr kumimoji="0" sz="1400" b="0" i="0" u="none" strike="noStrike" kern="0" cap="none" spc="0" normalizeH="0" baseline="0" noProof="0">
              <a:ln>
                <a:noFill/>
              </a:ln>
              <a:solidFill>
                <a:srgbClr val="000000"/>
              </a:solidFill>
              <a:effectLst/>
              <a:uLnTx/>
              <a:uFillTx/>
              <a:latin typeface="Cambria Math"/>
              <a:ea typeface="Cambria Math"/>
              <a:cs typeface="Cambria Math"/>
              <a:sym typeface="Cambria Math"/>
            </a:endParaRPr>
          </a:p>
        </p:txBody>
      </p:sp>
      <p:pic>
        <p:nvPicPr>
          <p:cNvPr id="98" name="Google Shape;98;g3477c55f713_0_46" descr="Forms response chart. Question title: Lectures: Details (Algorithms, Proofs, Math, etc). Number of responses: 51 responses." title="Lectures: Details (Algorithms, Proofs, Math, etc)"/>
          <p:cNvPicPr preferRelativeResize="0"/>
          <p:nvPr/>
        </p:nvPicPr>
        <p:blipFill rotWithShape="1">
          <a:blip r:embed="rId4">
            <a:alphaModFix/>
          </a:blip>
          <a:srcRect/>
          <a:stretch/>
        </p:blipFill>
        <p:spPr>
          <a:xfrm>
            <a:off x="4572000" y="4114800"/>
            <a:ext cx="4135875" cy="19628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pic>
        <p:nvPicPr>
          <p:cNvPr id="104" name="Google Shape;104;g3477c55f713_0_58" descr="Forms response chart. Question title: Lectures: Number of examples. Number of responses: 51 responses." title="Lectures: Number of examples"/>
          <p:cNvPicPr preferRelativeResize="0"/>
          <p:nvPr/>
        </p:nvPicPr>
        <p:blipFill>
          <a:blip r:embed="rId3">
            <a:alphaModFix/>
          </a:blip>
          <a:stretch>
            <a:fillRect/>
          </a:stretch>
        </p:blipFill>
        <p:spPr>
          <a:xfrm>
            <a:off x="283464" y="4160520"/>
            <a:ext cx="3639311" cy="1929384"/>
          </a:xfrm>
          <a:prstGeom prst="rect">
            <a:avLst/>
          </a:prstGeom>
          <a:noFill/>
          <a:ln>
            <a:noFill/>
          </a:ln>
        </p:spPr>
      </p:pic>
      <p:sp>
        <p:nvSpPr>
          <p:cNvPr id="105" name="Google Shape;105;g3477c55f713_0_58"/>
          <p:cNvSpPr txBox="1">
            <a:spLocks noGrp="1"/>
          </p:cNvSpPr>
          <p:nvPr>
            <p:ph type="title"/>
          </p:nvPr>
        </p:nvSpPr>
        <p:spPr>
          <a:xfrm>
            <a:off x="279400" y="292100"/>
            <a:ext cx="8648700" cy="8049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Lecture feedback</a:t>
            </a:r>
            <a:endParaRPr/>
          </a:p>
        </p:txBody>
      </p:sp>
      <p:sp>
        <p:nvSpPr>
          <p:cNvPr id="106" name="Google Shape;106;g3477c55f713_0_58"/>
          <p:cNvSpPr txBox="1">
            <a:spLocks noGrp="1"/>
          </p:cNvSpPr>
          <p:nvPr>
            <p:ph type="body" idx="1"/>
          </p:nvPr>
        </p:nvSpPr>
        <p:spPr>
          <a:xfrm>
            <a:off x="279400" y="1257300"/>
            <a:ext cx="8648700" cy="3108000"/>
          </a:xfrm>
          <a:prstGeom prst="rect">
            <a:avLst/>
          </a:prstGeom>
        </p:spPr>
        <p:txBody>
          <a:bodyPr spcFirstLastPara="1" wrap="square" lIns="91425" tIns="45700" rIns="91425" bIns="45700" anchor="t" anchorCtr="0">
            <a:normAutofit/>
          </a:bodyPr>
          <a:lstStyle/>
          <a:p>
            <a:pPr marL="0" lvl="0" indent="0" algn="l" rtl="0">
              <a:spcBef>
                <a:spcPts val="640"/>
              </a:spcBef>
              <a:spcAft>
                <a:spcPts val="0"/>
              </a:spcAft>
              <a:buNone/>
            </a:pPr>
            <a:r>
              <a:rPr lang="en-US" sz="2000"/>
              <a:t>On the whole, the class feels that lecture pace, amount of detail, number of examples, and number of coding demos is about right. </a:t>
            </a:r>
            <a:endParaRPr sz="2000"/>
          </a:p>
          <a:p>
            <a:pPr marL="0" lvl="0" indent="0" algn="l" rtl="0">
              <a:spcBef>
                <a:spcPts val="640"/>
              </a:spcBef>
              <a:spcAft>
                <a:spcPts val="0"/>
              </a:spcAft>
              <a:buNone/>
            </a:pPr>
            <a:endParaRPr sz="2000"/>
          </a:p>
          <a:p>
            <a:pPr marL="0" lvl="0" indent="0" algn="l" rtl="0">
              <a:spcBef>
                <a:spcPts val="640"/>
              </a:spcBef>
              <a:spcAft>
                <a:spcPts val="0"/>
              </a:spcAft>
              <a:buNone/>
            </a:pPr>
            <a:endParaRPr sz="2000"/>
          </a:p>
        </p:txBody>
      </p:sp>
      <p:sp>
        <p:nvSpPr>
          <p:cNvPr id="107" name="Google Shape;107;g3477c55f713_0_58"/>
          <p:cNvSpPr txBox="1"/>
          <p:nvPr/>
        </p:nvSpPr>
        <p:spPr>
          <a:xfrm>
            <a:off x="642199" y="5894500"/>
            <a:ext cx="609300" cy="2055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a:ln>
                  <a:noFill/>
                </a:ln>
                <a:solidFill>
                  <a:srgbClr val="000000"/>
                </a:solidFill>
                <a:effectLst/>
                <a:uLnTx/>
                <a:uFillTx/>
                <a:latin typeface="Cambria Math"/>
                <a:ea typeface="Cambria Math"/>
                <a:cs typeface="Cambria Math"/>
                <a:sym typeface="Cambria Math"/>
              </a:rPr>
              <a:t>Too slow	</a:t>
            </a:r>
            <a:endParaRPr kumimoji="0" sz="1400" b="0" i="0" u="none" strike="noStrike" kern="0" cap="none" spc="0" normalizeH="0" baseline="0" noProof="0">
              <a:ln>
                <a:noFill/>
              </a:ln>
              <a:solidFill>
                <a:srgbClr val="000000"/>
              </a:solidFill>
              <a:effectLst/>
              <a:uLnTx/>
              <a:uFillTx/>
              <a:latin typeface="Cambria Math"/>
              <a:ea typeface="Cambria Math"/>
              <a:cs typeface="Cambria Math"/>
              <a:sym typeface="Cambria Math"/>
            </a:endParaRPr>
          </a:p>
        </p:txBody>
      </p:sp>
      <p:sp>
        <p:nvSpPr>
          <p:cNvPr id="108" name="Google Shape;108;g3477c55f713_0_58"/>
          <p:cNvSpPr txBox="1"/>
          <p:nvPr/>
        </p:nvSpPr>
        <p:spPr>
          <a:xfrm>
            <a:off x="3453173" y="5894511"/>
            <a:ext cx="492900" cy="2055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a:ln>
                  <a:noFill/>
                </a:ln>
                <a:solidFill>
                  <a:srgbClr val="000000"/>
                </a:solidFill>
                <a:effectLst/>
                <a:uLnTx/>
                <a:uFillTx/>
                <a:latin typeface="Cambria Math"/>
                <a:ea typeface="Cambria Math"/>
                <a:cs typeface="Cambria Math"/>
                <a:sym typeface="Cambria Math"/>
              </a:rPr>
              <a:t>Too fast	</a:t>
            </a:r>
            <a:endParaRPr kumimoji="0" sz="1400" b="0" i="0" u="none" strike="noStrike" kern="0" cap="none" spc="0" normalizeH="0" baseline="0" noProof="0">
              <a:ln>
                <a:noFill/>
              </a:ln>
              <a:solidFill>
                <a:srgbClr val="000000"/>
              </a:solidFill>
              <a:effectLst/>
              <a:uLnTx/>
              <a:uFillTx/>
              <a:latin typeface="Cambria Math"/>
              <a:ea typeface="Cambria Math"/>
              <a:cs typeface="Cambria Math"/>
              <a:sym typeface="Cambria Math"/>
            </a:endParaRPr>
          </a:p>
        </p:txBody>
      </p:sp>
      <p:sp>
        <p:nvSpPr>
          <p:cNvPr id="109" name="Google Shape;109;g3477c55f713_0_58"/>
          <p:cNvSpPr txBox="1"/>
          <p:nvPr/>
        </p:nvSpPr>
        <p:spPr>
          <a:xfrm>
            <a:off x="4903200" y="6019026"/>
            <a:ext cx="590400" cy="6033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a:ln>
                  <a:noFill/>
                </a:ln>
                <a:solidFill>
                  <a:srgbClr val="000000"/>
                </a:solidFill>
                <a:effectLst/>
                <a:uLnTx/>
                <a:uFillTx/>
                <a:latin typeface="Cambria Math"/>
                <a:ea typeface="Cambria Math"/>
                <a:cs typeface="Cambria Math"/>
                <a:sym typeface="Cambria Math"/>
              </a:rPr>
              <a:t>Too few	</a:t>
            </a:r>
            <a:endParaRPr kumimoji="0" sz="1400" b="0" i="0" u="none" strike="noStrike" kern="0" cap="none" spc="0" normalizeH="0" baseline="0" noProof="0">
              <a:ln>
                <a:noFill/>
              </a:ln>
              <a:solidFill>
                <a:srgbClr val="000000"/>
              </a:solidFill>
              <a:effectLst/>
              <a:uLnTx/>
              <a:uFillTx/>
              <a:latin typeface="Cambria Math"/>
              <a:ea typeface="Cambria Math"/>
              <a:cs typeface="Cambria Math"/>
              <a:sym typeface="Cambria Math"/>
            </a:endParaRPr>
          </a:p>
        </p:txBody>
      </p:sp>
      <p:sp>
        <p:nvSpPr>
          <p:cNvPr id="110" name="Google Shape;110;g3477c55f713_0_58"/>
          <p:cNvSpPr txBox="1"/>
          <p:nvPr/>
        </p:nvSpPr>
        <p:spPr>
          <a:xfrm>
            <a:off x="8147304" y="6019025"/>
            <a:ext cx="803100" cy="2211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a:ln>
                  <a:noFill/>
                </a:ln>
                <a:solidFill>
                  <a:srgbClr val="000000"/>
                </a:solidFill>
                <a:effectLst/>
                <a:uLnTx/>
                <a:uFillTx/>
                <a:latin typeface="Cambria Math"/>
                <a:ea typeface="Cambria Math"/>
                <a:cs typeface="Cambria Math"/>
                <a:sym typeface="Cambria Math"/>
              </a:rPr>
              <a:t>Too many	</a:t>
            </a:r>
            <a:endParaRPr kumimoji="0" sz="1400" b="0" i="0" u="none" strike="noStrike" kern="0" cap="none" spc="0" normalizeH="0" baseline="0" noProof="0">
              <a:ln>
                <a:noFill/>
              </a:ln>
              <a:solidFill>
                <a:srgbClr val="000000"/>
              </a:solidFill>
              <a:effectLst/>
              <a:uLnTx/>
              <a:uFillTx/>
              <a:latin typeface="Cambria Math"/>
              <a:ea typeface="Cambria Math"/>
              <a:cs typeface="Cambria Math"/>
              <a:sym typeface="Cambria Math"/>
            </a:endParaRPr>
          </a:p>
        </p:txBody>
      </p:sp>
      <p:pic>
        <p:nvPicPr>
          <p:cNvPr id="111" name="Google Shape;111;g3477c55f713_0_58" descr="Forms response chart. Question title: Lecture: Coding examples and demos. Number of responses: 51 responses." title="Lecture: Coding examples and demos"/>
          <p:cNvPicPr preferRelativeResize="0"/>
          <p:nvPr/>
        </p:nvPicPr>
        <p:blipFill>
          <a:blip r:embed="rId4">
            <a:alphaModFix/>
          </a:blip>
          <a:stretch>
            <a:fillRect/>
          </a:stretch>
        </p:blipFill>
        <p:spPr>
          <a:xfrm>
            <a:off x="4572000" y="4114800"/>
            <a:ext cx="4133089" cy="196596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pic>
        <p:nvPicPr>
          <p:cNvPr id="117" name="Google Shape;117;g3477c55f713_0_72" descr="Forms response chart. Question title: Lecture: White papers and publications. Number of responses: 51 responses." title="Lecture: White papers and publications"/>
          <p:cNvPicPr preferRelativeResize="0"/>
          <p:nvPr/>
        </p:nvPicPr>
        <p:blipFill>
          <a:blip r:embed="rId3">
            <a:alphaModFix/>
          </a:blip>
          <a:stretch>
            <a:fillRect/>
          </a:stretch>
        </p:blipFill>
        <p:spPr>
          <a:xfrm>
            <a:off x="283464" y="4160520"/>
            <a:ext cx="3639311" cy="1929384"/>
          </a:xfrm>
          <a:prstGeom prst="rect">
            <a:avLst/>
          </a:prstGeom>
          <a:noFill/>
          <a:ln>
            <a:noFill/>
          </a:ln>
        </p:spPr>
      </p:pic>
      <p:sp>
        <p:nvSpPr>
          <p:cNvPr id="118" name="Google Shape;118;g3477c55f713_0_72"/>
          <p:cNvSpPr txBox="1">
            <a:spLocks noGrp="1"/>
          </p:cNvSpPr>
          <p:nvPr>
            <p:ph type="title"/>
          </p:nvPr>
        </p:nvSpPr>
        <p:spPr>
          <a:xfrm>
            <a:off x="279400" y="292100"/>
            <a:ext cx="8648700" cy="8049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Lecture feedback</a:t>
            </a:r>
            <a:endParaRPr/>
          </a:p>
        </p:txBody>
      </p:sp>
      <p:sp>
        <p:nvSpPr>
          <p:cNvPr id="119" name="Google Shape;119;g3477c55f713_0_72"/>
          <p:cNvSpPr txBox="1">
            <a:spLocks noGrp="1"/>
          </p:cNvSpPr>
          <p:nvPr>
            <p:ph type="body" idx="1"/>
          </p:nvPr>
        </p:nvSpPr>
        <p:spPr>
          <a:xfrm>
            <a:off x="279400" y="1257300"/>
            <a:ext cx="8648700" cy="3132600"/>
          </a:xfrm>
          <a:prstGeom prst="rect">
            <a:avLst/>
          </a:prstGeom>
        </p:spPr>
        <p:txBody>
          <a:bodyPr spcFirstLastPara="1" wrap="square" lIns="91425" tIns="45700" rIns="91425" bIns="45700" anchor="t" anchorCtr="0">
            <a:normAutofit/>
          </a:bodyPr>
          <a:lstStyle/>
          <a:p>
            <a:pPr marL="0" lvl="0" indent="0" algn="l" rtl="0">
              <a:spcBef>
                <a:spcPts val="640"/>
              </a:spcBef>
              <a:spcAft>
                <a:spcPts val="0"/>
              </a:spcAft>
              <a:buNone/>
            </a:pPr>
            <a:r>
              <a:rPr lang="en-US" sz="2000" dirty="0"/>
              <a:t>On the whole, the class feels that lecture pace, amount of detail, number of examples, and number of coding demos is about right. </a:t>
            </a:r>
            <a:endParaRPr sz="2000" dirty="0"/>
          </a:p>
          <a:p>
            <a:pPr marL="0" lvl="0" indent="0" algn="l" rtl="0">
              <a:spcBef>
                <a:spcPts val="640"/>
              </a:spcBef>
              <a:spcAft>
                <a:spcPts val="0"/>
              </a:spcAft>
              <a:buNone/>
            </a:pPr>
            <a:endParaRPr sz="2000" dirty="0"/>
          </a:p>
          <a:p>
            <a:pPr marL="0" lvl="0" indent="0" algn="l" rtl="0">
              <a:spcBef>
                <a:spcPts val="640"/>
              </a:spcBef>
              <a:spcAft>
                <a:spcPts val="0"/>
              </a:spcAft>
              <a:buNone/>
            </a:pPr>
            <a:r>
              <a:rPr lang="en-US" sz="2000" dirty="0"/>
              <a:t>Students would like to see fewer papers.</a:t>
            </a:r>
            <a:endParaRPr sz="2000" dirty="0"/>
          </a:p>
        </p:txBody>
      </p:sp>
      <p:sp>
        <p:nvSpPr>
          <p:cNvPr id="120" name="Google Shape;120;g3477c55f713_0_72"/>
          <p:cNvSpPr txBox="1"/>
          <p:nvPr/>
        </p:nvSpPr>
        <p:spPr>
          <a:xfrm>
            <a:off x="642200" y="5894500"/>
            <a:ext cx="609300" cy="5922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a:ln>
                  <a:noFill/>
                </a:ln>
                <a:solidFill>
                  <a:srgbClr val="000000"/>
                </a:solidFill>
                <a:effectLst/>
                <a:uLnTx/>
                <a:uFillTx/>
                <a:latin typeface="Cambria Math"/>
                <a:ea typeface="Cambria Math"/>
                <a:cs typeface="Cambria Math"/>
                <a:sym typeface="Cambria Math"/>
              </a:rPr>
              <a:t>Too few	</a:t>
            </a:r>
            <a:endParaRPr kumimoji="0" sz="1400" b="0" i="0" u="none" strike="noStrike" kern="0" cap="none" spc="0" normalizeH="0" baseline="0" noProof="0">
              <a:ln>
                <a:noFill/>
              </a:ln>
              <a:solidFill>
                <a:srgbClr val="000000"/>
              </a:solidFill>
              <a:effectLst/>
              <a:uLnTx/>
              <a:uFillTx/>
              <a:latin typeface="Cambria Math"/>
              <a:ea typeface="Cambria Math"/>
              <a:cs typeface="Cambria Math"/>
              <a:sym typeface="Cambria Math"/>
            </a:endParaRPr>
          </a:p>
        </p:txBody>
      </p:sp>
      <p:sp>
        <p:nvSpPr>
          <p:cNvPr id="121" name="Google Shape;121;g3477c55f713_0_72"/>
          <p:cNvSpPr txBox="1"/>
          <p:nvPr/>
        </p:nvSpPr>
        <p:spPr>
          <a:xfrm>
            <a:off x="3453175" y="5894500"/>
            <a:ext cx="609300" cy="3825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a:ln>
                  <a:noFill/>
                </a:ln>
                <a:solidFill>
                  <a:srgbClr val="000000"/>
                </a:solidFill>
                <a:effectLst/>
                <a:uLnTx/>
                <a:uFillTx/>
                <a:latin typeface="Cambria Math"/>
                <a:ea typeface="Cambria Math"/>
                <a:cs typeface="Cambria Math"/>
                <a:sym typeface="Cambria Math"/>
              </a:rPr>
              <a:t>Too many	</a:t>
            </a:r>
            <a:endParaRPr kumimoji="0" sz="1400" b="0" i="0" u="none" strike="noStrike" kern="0" cap="none" spc="0" normalizeH="0" baseline="0" noProof="0">
              <a:ln>
                <a:noFill/>
              </a:ln>
              <a:solidFill>
                <a:srgbClr val="000000"/>
              </a:solidFill>
              <a:effectLst/>
              <a:uLnTx/>
              <a:uFillTx/>
              <a:latin typeface="Cambria Math"/>
              <a:ea typeface="Cambria Math"/>
              <a:cs typeface="Cambria Math"/>
              <a:sym typeface="Cambria Math"/>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6">
          <a:extLst>
            <a:ext uri="{FF2B5EF4-FFF2-40B4-BE49-F238E27FC236}">
              <a16:creationId xmlns:a16="http://schemas.microsoft.com/office/drawing/2014/main" id="{89D31480-77AB-DBE2-0330-39B16C476646}"/>
            </a:ext>
          </a:extLst>
        </p:cNvPr>
        <p:cNvGrpSpPr/>
        <p:nvPr/>
      </p:nvGrpSpPr>
      <p:grpSpPr>
        <a:xfrm>
          <a:off x="0" y="0"/>
          <a:ext cx="0" cy="0"/>
          <a:chOff x="0" y="0"/>
          <a:chExt cx="0" cy="0"/>
        </a:xfrm>
      </p:grpSpPr>
      <p:sp>
        <p:nvSpPr>
          <p:cNvPr id="118" name="Google Shape;118;g3477c55f713_0_72">
            <a:extLst>
              <a:ext uri="{FF2B5EF4-FFF2-40B4-BE49-F238E27FC236}">
                <a16:creationId xmlns:a16="http://schemas.microsoft.com/office/drawing/2014/main" id="{FAB16F87-78B4-DE0C-0D96-71BFCE2057C0}"/>
              </a:ext>
            </a:extLst>
          </p:cNvPr>
          <p:cNvSpPr txBox="1">
            <a:spLocks noGrp="1"/>
          </p:cNvSpPr>
          <p:nvPr>
            <p:ph type="title"/>
          </p:nvPr>
        </p:nvSpPr>
        <p:spPr>
          <a:xfrm>
            <a:off x="279400" y="292100"/>
            <a:ext cx="8648700" cy="8049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dirty="0"/>
              <a:t>Post-lecture quiz feedback</a:t>
            </a:r>
            <a:endParaRPr dirty="0"/>
          </a:p>
        </p:txBody>
      </p:sp>
      <p:sp>
        <p:nvSpPr>
          <p:cNvPr id="119" name="Google Shape;119;g3477c55f713_0_72">
            <a:extLst>
              <a:ext uri="{FF2B5EF4-FFF2-40B4-BE49-F238E27FC236}">
                <a16:creationId xmlns:a16="http://schemas.microsoft.com/office/drawing/2014/main" id="{3CAC6005-D791-8504-3ECB-8CCF1C1A63A3}"/>
              </a:ext>
            </a:extLst>
          </p:cNvPr>
          <p:cNvSpPr txBox="1">
            <a:spLocks noGrp="1"/>
          </p:cNvSpPr>
          <p:nvPr>
            <p:ph type="body" idx="1"/>
          </p:nvPr>
        </p:nvSpPr>
        <p:spPr>
          <a:xfrm>
            <a:off x="279400" y="1257300"/>
            <a:ext cx="8648700" cy="3132600"/>
          </a:xfrm>
          <a:prstGeom prst="rect">
            <a:avLst/>
          </a:prstGeom>
        </p:spPr>
        <p:txBody>
          <a:bodyPr spcFirstLastPara="1" wrap="square" lIns="91425" tIns="45700" rIns="91425" bIns="45700" anchor="t" anchorCtr="0">
            <a:normAutofit/>
          </a:bodyPr>
          <a:lstStyle/>
          <a:p>
            <a:pPr marL="0" lvl="0" indent="0" algn="l" rtl="0">
              <a:spcBef>
                <a:spcPts val="640"/>
              </a:spcBef>
              <a:spcAft>
                <a:spcPts val="0"/>
              </a:spcAft>
              <a:buNone/>
            </a:pPr>
            <a:r>
              <a:rPr lang="en-US" sz="2000" dirty="0"/>
              <a:t>We forgot to collect this in the survey</a:t>
            </a:r>
            <a:endParaRPr sz="2000" dirty="0"/>
          </a:p>
        </p:txBody>
      </p:sp>
    </p:spTree>
    <p:extLst>
      <p:ext uri="{BB962C8B-B14F-4D97-AF65-F5344CB8AC3E}">
        <p14:creationId xmlns:p14="http://schemas.microsoft.com/office/powerpoint/2010/main" val="22290888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g3477c55f713_0_85"/>
          <p:cNvSpPr txBox="1">
            <a:spLocks noGrp="1"/>
          </p:cNvSpPr>
          <p:nvPr>
            <p:ph type="title"/>
          </p:nvPr>
        </p:nvSpPr>
        <p:spPr>
          <a:xfrm>
            <a:off x="279400" y="292100"/>
            <a:ext cx="8648700" cy="8049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Recitation feedback</a:t>
            </a:r>
            <a:endParaRPr/>
          </a:p>
        </p:txBody>
      </p:sp>
      <p:sp>
        <p:nvSpPr>
          <p:cNvPr id="128" name="Google Shape;128;g3477c55f713_0_85"/>
          <p:cNvSpPr txBox="1">
            <a:spLocks noGrp="1"/>
          </p:cNvSpPr>
          <p:nvPr>
            <p:ph type="body" idx="1"/>
          </p:nvPr>
        </p:nvSpPr>
        <p:spPr>
          <a:xfrm>
            <a:off x="279400" y="1257300"/>
            <a:ext cx="8648700" cy="5099100"/>
          </a:xfrm>
          <a:prstGeom prst="rect">
            <a:avLst/>
          </a:prstGeom>
        </p:spPr>
        <p:txBody>
          <a:bodyPr spcFirstLastPara="1" wrap="square" lIns="91425" tIns="45700" rIns="91425" bIns="45700" anchor="t" anchorCtr="0">
            <a:normAutofit/>
          </a:bodyPr>
          <a:lstStyle/>
          <a:p>
            <a:pPr marL="0" lvl="0" indent="0" algn="l" rtl="0">
              <a:spcBef>
                <a:spcPts val="640"/>
              </a:spcBef>
              <a:spcAft>
                <a:spcPts val="0"/>
              </a:spcAft>
              <a:buNone/>
            </a:pPr>
            <a:r>
              <a:rPr lang="en-US"/>
              <a:t>There is demand for more examples and review of class material in recitation. </a:t>
            </a:r>
            <a:endParaRPr/>
          </a:p>
        </p:txBody>
      </p:sp>
      <p:pic>
        <p:nvPicPr>
          <p:cNvPr id="129" name="Google Shape;129;g3477c55f713_0_85" descr="Forms response chart. Question title: Recitations: Review of class material. Number of responses: 51 responses." title="Recitations: Review of class material"/>
          <p:cNvPicPr preferRelativeResize="0"/>
          <p:nvPr/>
        </p:nvPicPr>
        <p:blipFill>
          <a:blip r:embed="rId3">
            <a:alphaModFix/>
          </a:blip>
          <a:stretch>
            <a:fillRect/>
          </a:stretch>
        </p:blipFill>
        <p:spPr>
          <a:xfrm>
            <a:off x="4572000" y="4114800"/>
            <a:ext cx="3639311" cy="1929384"/>
          </a:xfrm>
          <a:prstGeom prst="rect">
            <a:avLst/>
          </a:prstGeom>
          <a:noFill/>
          <a:ln>
            <a:noFill/>
          </a:ln>
        </p:spPr>
      </p:pic>
      <p:pic>
        <p:nvPicPr>
          <p:cNvPr id="130" name="Google Shape;130;g3477c55f713_0_85" descr="Forms response chart. Question title: Recitations: Examples of solving problems. Number of responses: 51 responses." title="Recitations: Examples of solving problems"/>
          <p:cNvPicPr preferRelativeResize="0"/>
          <p:nvPr/>
        </p:nvPicPr>
        <p:blipFill>
          <a:blip r:embed="rId4">
            <a:alphaModFix/>
          </a:blip>
          <a:stretch>
            <a:fillRect/>
          </a:stretch>
        </p:blipFill>
        <p:spPr>
          <a:xfrm>
            <a:off x="283464" y="4160520"/>
            <a:ext cx="3639311" cy="1929384"/>
          </a:xfrm>
          <a:prstGeom prst="rect">
            <a:avLst/>
          </a:prstGeom>
          <a:noFill/>
          <a:ln>
            <a:noFill/>
          </a:ln>
        </p:spPr>
      </p:pic>
      <p:sp>
        <p:nvSpPr>
          <p:cNvPr id="131" name="Google Shape;131;g3477c55f713_0_85"/>
          <p:cNvSpPr txBox="1"/>
          <p:nvPr/>
        </p:nvSpPr>
        <p:spPr>
          <a:xfrm>
            <a:off x="3453175" y="5894500"/>
            <a:ext cx="609300" cy="3825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a:ln>
                  <a:noFill/>
                </a:ln>
                <a:solidFill>
                  <a:srgbClr val="000000"/>
                </a:solidFill>
                <a:effectLst/>
                <a:uLnTx/>
                <a:uFillTx/>
                <a:latin typeface="Cambria Math"/>
                <a:ea typeface="Cambria Math"/>
                <a:cs typeface="Cambria Math"/>
                <a:sym typeface="Cambria Math"/>
              </a:rPr>
              <a:t>Too much</a:t>
            </a:r>
            <a:endParaRPr kumimoji="0" sz="1400" b="0" i="0" u="none" strike="noStrike" kern="0" cap="none" spc="0" normalizeH="0" baseline="0" noProof="0">
              <a:ln>
                <a:noFill/>
              </a:ln>
              <a:solidFill>
                <a:srgbClr val="000000"/>
              </a:solidFill>
              <a:effectLst/>
              <a:uLnTx/>
              <a:uFillTx/>
              <a:latin typeface="Cambria Math"/>
              <a:ea typeface="Cambria Math"/>
              <a:cs typeface="Cambria Math"/>
              <a:sym typeface="Cambria Math"/>
            </a:endParaRPr>
          </a:p>
        </p:txBody>
      </p:sp>
      <p:sp>
        <p:nvSpPr>
          <p:cNvPr id="132" name="Google Shape;132;g3477c55f713_0_85"/>
          <p:cNvSpPr txBox="1"/>
          <p:nvPr/>
        </p:nvSpPr>
        <p:spPr>
          <a:xfrm>
            <a:off x="642200" y="5894500"/>
            <a:ext cx="609300" cy="5922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a:ln>
                  <a:noFill/>
                </a:ln>
                <a:solidFill>
                  <a:srgbClr val="000000"/>
                </a:solidFill>
                <a:effectLst/>
                <a:uLnTx/>
                <a:uFillTx/>
                <a:latin typeface="Cambria Math"/>
                <a:ea typeface="Cambria Math"/>
                <a:cs typeface="Cambria Math"/>
                <a:sym typeface="Cambria Math"/>
              </a:rPr>
              <a:t>Too little	</a:t>
            </a:r>
            <a:endParaRPr kumimoji="0" sz="1400" b="0" i="0" u="none" strike="noStrike" kern="0" cap="none" spc="0" normalizeH="0" baseline="0" noProof="0">
              <a:ln>
                <a:noFill/>
              </a:ln>
              <a:solidFill>
                <a:srgbClr val="000000"/>
              </a:solidFill>
              <a:effectLst/>
              <a:uLnTx/>
              <a:uFillTx/>
              <a:latin typeface="Cambria Math"/>
              <a:ea typeface="Cambria Math"/>
              <a:cs typeface="Cambria Math"/>
              <a:sym typeface="Cambria Math"/>
            </a:endParaRPr>
          </a:p>
        </p:txBody>
      </p:sp>
      <p:sp>
        <p:nvSpPr>
          <p:cNvPr id="133" name="Google Shape;133;g3477c55f713_0_85"/>
          <p:cNvSpPr txBox="1"/>
          <p:nvPr/>
        </p:nvSpPr>
        <p:spPr>
          <a:xfrm>
            <a:off x="7749975" y="5999350"/>
            <a:ext cx="609300" cy="3825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a:ln>
                  <a:noFill/>
                </a:ln>
                <a:solidFill>
                  <a:srgbClr val="000000"/>
                </a:solidFill>
                <a:effectLst/>
                <a:uLnTx/>
                <a:uFillTx/>
                <a:latin typeface="Cambria Math"/>
                <a:ea typeface="Cambria Math"/>
                <a:cs typeface="Cambria Math"/>
                <a:sym typeface="Cambria Math"/>
              </a:rPr>
              <a:t>Too much	</a:t>
            </a:r>
            <a:endParaRPr kumimoji="0" sz="1400" b="0" i="0" u="none" strike="noStrike" kern="0" cap="none" spc="0" normalizeH="0" baseline="0" noProof="0">
              <a:ln>
                <a:noFill/>
              </a:ln>
              <a:solidFill>
                <a:srgbClr val="000000"/>
              </a:solidFill>
              <a:effectLst/>
              <a:uLnTx/>
              <a:uFillTx/>
              <a:latin typeface="Cambria Math"/>
              <a:ea typeface="Cambria Math"/>
              <a:cs typeface="Cambria Math"/>
              <a:sym typeface="Cambria Math"/>
            </a:endParaRPr>
          </a:p>
        </p:txBody>
      </p:sp>
      <p:sp>
        <p:nvSpPr>
          <p:cNvPr id="134" name="Google Shape;134;g3477c55f713_0_85"/>
          <p:cNvSpPr txBox="1"/>
          <p:nvPr/>
        </p:nvSpPr>
        <p:spPr>
          <a:xfrm>
            <a:off x="4865000" y="5894500"/>
            <a:ext cx="609300" cy="5922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a:ln>
                  <a:noFill/>
                </a:ln>
                <a:solidFill>
                  <a:srgbClr val="000000"/>
                </a:solidFill>
                <a:effectLst/>
                <a:uLnTx/>
                <a:uFillTx/>
                <a:latin typeface="Cambria Math"/>
                <a:ea typeface="Cambria Math"/>
                <a:cs typeface="Cambria Math"/>
                <a:sym typeface="Cambria Math"/>
              </a:rPr>
              <a:t>Too little	</a:t>
            </a:r>
            <a:endParaRPr kumimoji="0" sz="1400" b="0" i="0" u="none" strike="noStrike" kern="0" cap="none" spc="0" normalizeH="0" baseline="0" noProof="0">
              <a:ln>
                <a:noFill/>
              </a:ln>
              <a:solidFill>
                <a:srgbClr val="000000"/>
              </a:solidFill>
              <a:effectLst/>
              <a:uLnTx/>
              <a:uFillTx/>
              <a:latin typeface="Cambria Math"/>
              <a:ea typeface="Cambria Math"/>
              <a:cs typeface="Cambria Math"/>
              <a:sym typeface="Cambria Math"/>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g3477c55f713_0_125"/>
          <p:cNvSpPr txBox="1">
            <a:spLocks noGrp="1"/>
          </p:cNvSpPr>
          <p:nvPr>
            <p:ph type="title"/>
          </p:nvPr>
        </p:nvSpPr>
        <p:spPr>
          <a:xfrm>
            <a:off x="279400" y="292100"/>
            <a:ext cx="8648700" cy="8049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OH Feedback</a:t>
            </a:r>
            <a:endParaRPr/>
          </a:p>
        </p:txBody>
      </p:sp>
      <p:sp>
        <p:nvSpPr>
          <p:cNvPr id="141" name="Google Shape;141;g3477c55f713_0_125"/>
          <p:cNvSpPr txBox="1">
            <a:spLocks noGrp="1"/>
          </p:cNvSpPr>
          <p:nvPr>
            <p:ph type="body" idx="1"/>
          </p:nvPr>
        </p:nvSpPr>
        <p:spPr>
          <a:xfrm>
            <a:off x="279400" y="1257300"/>
            <a:ext cx="8648700" cy="5099100"/>
          </a:xfrm>
          <a:prstGeom prst="rect">
            <a:avLst/>
          </a:prstGeom>
        </p:spPr>
        <p:txBody>
          <a:bodyPr spcFirstLastPara="1" wrap="square" lIns="91425" tIns="45700" rIns="91425" bIns="45700" anchor="t" anchorCtr="0">
            <a:normAutofit/>
          </a:bodyPr>
          <a:lstStyle/>
          <a:p>
            <a:pPr marL="0" lvl="0" indent="0" algn="l" rtl="0">
              <a:spcBef>
                <a:spcPts val="640"/>
              </a:spcBef>
              <a:spcAft>
                <a:spcPts val="0"/>
              </a:spcAft>
              <a:buNone/>
            </a:pPr>
            <a:r>
              <a:rPr lang="en-US" sz="2700"/>
              <a:t>Many of you feel that office hours could be more helpful. Please let us know what we could be doing better here!</a:t>
            </a:r>
            <a:endParaRPr sz="2700"/>
          </a:p>
        </p:txBody>
      </p:sp>
      <p:pic>
        <p:nvPicPr>
          <p:cNvPr id="142" name="Google Shape;142;g3477c55f713_0_125" descr="Forms response chart. Question title: Office Hours Helpfulness. Number of responses: 51 responses." title="Office Hours Helpfulness"/>
          <p:cNvPicPr preferRelativeResize="0"/>
          <p:nvPr/>
        </p:nvPicPr>
        <p:blipFill>
          <a:blip r:embed="rId3">
            <a:alphaModFix/>
          </a:blip>
          <a:stretch>
            <a:fillRect/>
          </a:stretch>
        </p:blipFill>
        <p:spPr>
          <a:xfrm>
            <a:off x="616725" y="2408273"/>
            <a:ext cx="7554273" cy="3585351"/>
          </a:xfrm>
          <a:prstGeom prst="rect">
            <a:avLst/>
          </a:prstGeom>
          <a:noFill/>
          <a:ln>
            <a:noFill/>
          </a:ln>
        </p:spPr>
      </p:pic>
      <p:sp>
        <p:nvSpPr>
          <p:cNvPr id="143" name="Google Shape;143;g3477c55f713_0_125"/>
          <p:cNvSpPr txBox="1"/>
          <p:nvPr/>
        </p:nvSpPr>
        <p:spPr>
          <a:xfrm>
            <a:off x="1480950" y="5561475"/>
            <a:ext cx="843600" cy="5922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a:ln>
                  <a:noFill/>
                </a:ln>
                <a:solidFill>
                  <a:srgbClr val="000000"/>
                </a:solidFill>
                <a:effectLst/>
                <a:uLnTx/>
                <a:uFillTx/>
                <a:latin typeface="Cambria Math"/>
                <a:ea typeface="Cambria Math"/>
                <a:cs typeface="Cambria Math"/>
                <a:sym typeface="Cambria Math"/>
              </a:rPr>
              <a:t>Not helpful</a:t>
            </a:r>
            <a:endParaRPr kumimoji="0" sz="1400" b="0" i="0" u="none" strike="noStrike" kern="0" cap="none" spc="0" normalizeH="0" baseline="0" noProof="0">
              <a:ln>
                <a:noFill/>
              </a:ln>
              <a:solidFill>
                <a:srgbClr val="000000"/>
              </a:solidFill>
              <a:effectLst/>
              <a:uLnTx/>
              <a:uFillTx/>
              <a:latin typeface="Cambria Math"/>
              <a:ea typeface="Cambria Math"/>
              <a:cs typeface="Cambria Math"/>
              <a:sym typeface="Cambria Math"/>
            </a:endParaRPr>
          </a:p>
        </p:txBody>
      </p:sp>
      <p:sp>
        <p:nvSpPr>
          <p:cNvPr id="144" name="Google Shape;144;g3477c55f713_0_125"/>
          <p:cNvSpPr txBox="1"/>
          <p:nvPr/>
        </p:nvSpPr>
        <p:spPr>
          <a:xfrm>
            <a:off x="7327400" y="5487475"/>
            <a:ext cx="843600" cy="5922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a:ln>
                  <a:noFill/>
                </a:ln>
                <a:solidFill>
                  <a:srgbClr val="000000"/>
                </a:solidFill>
                <a:effectLst/>
                <a:uLnTx/>
                <a:uFillTx/>
                <a:latin typeface="Cambria Math"/>
                <a:ea typeface="Cambria Math"/>
                <a:cs typeface="Cambria Math"/>
                <a:sym typeface="Cambria Math"/>
              </a:rPr>
              <a:t>Very helpful</a:t>
            </a:r>
            <a:endParaRPr kumimoji="0" sz="1400" b="0" i="0" u="none" strike="noStrike" kern="0" cap="none" spc="0" normalizeH="0" baseline="0" noProof="0">
              <a:ln>
                <a:noFill/>
              </a:ln>
              <a:solidFill>
                <a:srgbClr val="000000"/>
              </a:solidFill>
              <a:effectLst/>
              <a:uLnTx/>
              <a:uFillTx/>
              <a:latin typeface="Cambria Math"/>
              <a:ea typeface="Cambria Math"/>
              <a:cs typeface="Cambria Math"/>
              <a:sym typeface="Cambria Math"/>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150" name="Google Shape;150;g3477c55f713_0_104" descr="Forms response chart. Question title: Homework: Theoretical vs. Programming Balance. Number of responses: 51 responses." title="Homework: Theoretical vs. Programming Balance"/>
          <p:cNvPicPr preferRelativeResize="0"/>
          <p:nvPr/>
        </p:nvPicPr>
        <p:blipFill>
          <a:blip r:embed="rId3">
            <a:alphaModFix/>
          </a:blip>
          <a:stretch>
            <a:fillRect/>
          </a:stretch>
        </p:blipFill>
        <p:spPr>
          <a:xfrm>
            <a:off x="4572000" y="4114800"/>
            <a:ext cx="3639311" cy="1929384"/>
          </a:xfrm>
          <a:prstGeom prst="rect">
            <a:avLst/>
          </a:prstGeom>
          <a:noFill/>
          <a:ln>
            <a:noFill/>
          </a:ln>
        </p:spPr>
      </p:pic>
      <p:pic>
        <p:nvPicPr>
          <p:cNvPr id="151" name="Google Shape;151;g3477c55f713_0_104" descr="Forms response chart. Question title: Homework: Length. Number of responses: 51 responses." title="Homework: Length"/>
          <p:cNvPicPr preferRelativeResize="0"/>
          <p:nvPr/>
        </p:nvPicPr>
        <p:blipFill>
          <a:blip r:embed="rId4">
            <a:alphaModFix/>
          </a:blip>
          <a:stretch>
            <a:fillRect/>
          </a:stretch>
        </p:blipFill>
        <p:spPr>
          <a:xfrm>
            <a:off x="283464" y="4160520"/>
            <a:ext cx="3639311" cy="1929384"/>
          </a:xfrm>
          <a:prstGeom prst="rect">
            <a:avLst/>
          </a:prstGeom>
          <a:noFill/>
          <a:ln>
            <a:noFill/>
          </a:ln>
        </p:spPr>
      </p:pic>
      <p:sp>
        <p:nvSpPr>
          <p:cNvPr id="152" name="Google Shape;152;g3477c55f713_0_104"/>
          <p:cNvSpPr txBox="1">
            <a:spLocks noGrp="1"/>
          </p:cNvSpPr>
          <p:nvPr>
            <p:ph type="title"/>
          </p:nvPr>
        </p:nvSpPr>
        <p:spPr>
          <a:xfrm>
            <a:off x="279400" y="292100"/>
            <a:ext cx="8648700" cy="8049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Homework feedback</a:t>
            </a:r>
            <a:endParaRPr/>
          </a:p>
        </p:txBody>
      </p:sp>
      <p:sp>
        <p:nvSpPr>
          <p:cNvPr id="153" name="Google Shape;153;g3477c55f713_0_104"/>
          <p:cNvSpPr txBox="1">
            <a:spLocks noGrp="1"/>
          </p:cNvSpPr>
          <p:nvPr>
            <p:ph type="body" idx="1"/>
          </p:nvPr>
        </p:nvSpPr>
        <p:spPr>
          <a:xfrm>
            <a:off x="279400" y="1257300"/>
            <a:ext cx="8648700" cy="3786300"/>
          </a:xfrm>
          <a:prstGeom prst="rect">
            <a:avLst/>
          </a:prstGeom>
        </p:spPr>
        <p:txBody>
          <a:bodyPr spcFirstLastPara="1" wrap="square" lIns="91425" tIns="45700" rIns="91425" bIns="45700" anchor="t" anchorCtr="0">
            <a:normAutofit/>
          </a:bodyPr>
          <a:lstStyle/>
          <a:p>
            <a:pPr marL="0" lvl="0" indent="0" algn="l" rtl="0">
              <a:spcBef>
                <a:spcPts val="640"/>
              </a:spcBef>
              <a:spcAft>
                <a:spcPts val="0"/>
              </a:spcAft>
              <a:buClr>
                <a:schemeClr val="dk1"/>
              </a:buClr>
              <a:buSzPts val="1100"/>
              <a:buFont typeface="Arial"/>
              <a:buNone/>
            </a:pPr>
            <a:r>
              <a:rPr lang="en-US" sz="2800"/>
              <a:t>The homework is currently too long</a:t>
            </a:r>
            <a:endParaRPr sz="2800"/>
          </a:p>
          <a:p>
            <a:pPr marL="0" lvl="0" indent="0" algn="l" rtl="0">
              <a:spcBef>
                <a:spcPts val="640"/>
              </a:spcBef>
              <a:spcAft>
                <a:spcPts val="0"/>
              </a:spcAft>
              <a:buClr>
                <a:schemeClr val="dk1"/>
              </a:buClr>
              <a:buSzPts val="1100"/>
              <a:buFont typeface="Arial"/>
              <a:buNone/>
            </a:pPr>
            <a:r>
              <a:rPr lang="en-US" sz="2800"/>
              <a:t>However, the balance of theory to programming is just about right</a:t>
            </a:r>
            <a:endParaRPr sz="2800"/>
          </a:p>
        </p:txBody>
      </p:sp>
      <p:sp>
        <p:nvSpPr>
          <p:cNvPr id="154" name="Google Shape;154;g3477c55f713_0_104"/>
          <p:cNvSpPr txBox="1"/>
          <p:nvPr/>
        </p:nvSpPr>
        <p:spPr>
          <a:xfrm>
            <a:off x="3453175" y="5894500"/>
            <a:ext cx="609300" cy="3825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a:ln>
                  <a:noFill/>
                </a:ln>
                <a:solidFill>
                  <a:srgbClr val="000000"/>
                </a:solidFill>
                <a:effectLst/>
                <a:uLnTx/>
                <a:uFillTx/>
                <a:latin typeface="Cambria Math"/>
                <a:ea typeface="Cambria Math"/>
                <a:cs typeface="Cambria Math"/>
                <a:sym typeface="Cambria Math"/>
              </a:rPr>
              <a:t>Too much</a:t>
            </a:r>
            <a:endParaRPr kumimoji="0" sz="1400" b="0" i="0" u="none" strike="noStrike" kern="0" cap="none" spc="0" normalizeH="0" baseline="0" noProof="0">
              <a:ln>
                <a:noFill/>
              </a:ln>
              <a:solidFill>
                <a:srgbClr val="000000"/>
              </a:solidFill>
              <a:effectLst/>
              <a:uLnTx/>
              <a:uFillTx/>
              <a:latin typeface="Cambria Math"/>
              <a:ea typeface="Cambria Math"/>
              <a:cs typeface="Cambria Math"/>
              <a:sym typeface="Cambria Math"/>
            </a:endParaRPr>
          </a:p>
        </p:txBody>
      </p:sp>
      <p:sp>
        <p:nvSpPr>
          <p:cNvPr id="155" name="Google Shape;155;g3477c55f713_0_104"/>
          <p:cNvSpPr txBox="1"/>
          <p:nvPr/>
        </p:nvSpPr>
        <p:spPr>
          <a:xfrm>
            <a:off x="642200" y="5894500"/>
            <a:ext cx="609300" cy="5922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a:ln>
                  <a:noFill/>
                </a:ln>
                <a:solidFill>
                  <a:srgbClr val="000000"/>
                </a:solidFill>
                <a:effectLst/>
                <a:uLnTx/>
                <a:uFillTx/>
                <a:latin typeface="Cambria Math"/>
                <a:ea typeface="Cambria Math"/>
                <a:cs typeface="Cambria Math"/>
                <a:sym typeface="Cambria Math"/>
              </a:rPr>
              <a:t>Too little	</a:t>
            </a:r>
            <a:endParaRPr kumimoji="0" sz="1400" b="0" i="0" u="none" strike="noStrike" kern="0" cap="none" spc="0" normalizeH="0" baseline="0" noProof="0">
              <a:ln>
                <a:noFill/>
              </a:ln>
              <a:solidFill>
                <a:srgbClr val="000000"/>
              </a:solidFill>
              <a:effectLst/>
              <a:uLnTx/>
              <a:uFillTx/>
              <a:latin typeface="Cambria Math"/>
              <a:ea typeface="Cambria Math"/>
              <a:cs typeface="Cambria Math"/>
              <a:sym typeface="Cambria Math"/>
            </a:endParaRPr>
          </a:p>
        </p:txBody>
      </p:sp>
      <p:sp>
        <p:nvSpPr>
          <p:cNvPr id="156" name="Google Shape;156;g3477c55f713_0_104"/>
          <p:cNvSpPr txBox="1"/>
          <p:nvPr/>
        </p:nvSpPr>
        <p:spPr>
          <a:xfrm>
            <a:off x="7749975" y="5999350"/>
            <a:ext cx="609300" cy="3825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a:ln>
                  <a:noFill/>
                </a:ln>
                <a:solidFill>
                  <a:srgbClr val="000000"/>
                </a:solidFill>
                <a:effectLst/>
                <a:uLnTx/>
                <a:uFillTx/>
                <a:latin typeface="Cambria Math"/>
                <a:ea typeface="Cambria Math"/>
                <a:cs typeface="Cambria Math"/>
                <a:sym typeface="Cambria Math"/>
              </a:rPr>
              <a:t>Too much	</a:t>
            </a:r>
            <a:endParaRPr kumimoji="0" sz="1400" b="0" i="0" u="none" strike="noStrike" kern="0" cap="none" spc="0" normalizeH="0" baseline="0" noProof="0">
              <a:ln>
                <a:noFill/>
              </a:ln>
              <a:solidFill>
                <a:srgbClr val="000000"/>
              </a:solidFill>
              <a:effectLst/>
              <a:uLnTx/>
              <a:uFillTx/>
              <a:latin typeface="Cambria Math"/>
              <a:ea typeface="Cambria Math"/>
              <a:cs typeface="Cambria Math"/>
              <a:sym typeface="Cambria Math"/>
            </a:endParaRPr>
          </a:p>
        </p:txBody>
      </p:sp>
      <p:sp>
        <p:nvSpPr>
          <p:cNvPr id="157" name="Google Shape;157;g3477c55f713_0_104"/>
          <p:cNvSpPr txBox="1"/>
          <p:nvPr/>
        </p:nvSpPr>
        <p:spPr>
          <a:xfrm>
            <a:off x="4865000" y="5894500"/>
            <a:ext cx="609300" cy="5922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a:ln>
                  <a:noFill/>
                </a:ln>
                <a:solidFill>
                  <a:srgbClr val="000000"/>
                </a:solidFill>
                <a:effectLst/>
                <a:uLnTx/>
                <a:uFillTx/>
                <a:latin typeface="Cambria Math"/>
                <a:ea typeface="Cambria Math"/>
                <a:cs typeface="Cambria Math"/>
                <a:sym typeface="Cambria Math"/>
              </a:rPr>
              <a:t>Too little	</a:t>
            </a:r>
            <a:endParaRPr kumimoji="0" sz="1400" b="0" i="0" u="none" strike="noStrike" kern="0" cap="none" spc="0" normalizeH="0" baseline="0" noProof="0">
              <a:ln>
                <a:noFill/>
              </a:ln>
              <a:solidFill>
                <a:srgbClr val="000000"/>
              </a:solidFill>
              <a:effectLst/>
              <a:uLnTx/>
              <a:uFillTx/>
              <a:latin typeface="Cambria Math"/>
              <a:ea typeface="Cambria Math"/>
              <a:cs typeface="Cambria Math"/>
              <a:sym typeface="Cambria Math"/>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g3477c55f713_0_119"/>
          <p:cNvSpPr txBox="1">
            <a:spLocks noGrp="1"/>
          </p:cNvSpPr>
          <p:nvPr>
            <p:ph type="title"/>
          </p:nvPr>
        </p:nvSpPr>
        <p:spPr>
          <a:xfrm>
            <a:off x="279400" y="292100"/>
            <a:ext cx="8648700" cy="8049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Homework Length</a:t>
            </a:r>
            <a:endParaRPr/>
          </a:p>
        </p:txBody>
      </p:sp>
      <p:sp>
        <p:nvSpPr>
          <p:cNvPr id="164" name="Google Shape;164;g3477c55f713_0_119"/>
          <p:cNvSpPr txBox="1">
            <a:spLocks noGrp="1"/>
          </p:cNvSpPr>
          <p:nvPr>
            <p:ph type="body" idx="1"/>
          </p:nvPr>
        </p:nvSpPr>
        <p:spPr>
          <a:xfrm>
            <a:off x="279400" y="1257300"/>
            <a:ext cx="8648700" cy="5099100"/>
          </a:xfrm>
          <a:prstGeom prst="rect">
            <a:avLst/>
          </a:prstGeom>
        </p:spPr>
        <p:txBody>
          <a:bodyPr spcFirstLastPara="1" wrap="square" lIns="91425" tIns="45700" rIns="91425" bIns="45700" anchor="t" anchorCtr="0">
            <a:normAutofit/>
          </a:bodyPr>
          <a:lstStyle/>
          <a:p>
            <a:pPr marL="0" lvl="0" indent="0" algn="l" rtl="0">
              <a:spcBef>
                <a:spcPts val="640"/>
              </a:spcBef>
              <a:spcAft>
                <a:spcPts val="0"/>
              </a:spcAft>
              <a:buNone/>
            </a:pPr>
            <a:r>
              <a:rPr lang="en-US"/>
              <a:t>Homework 3 was a bit too long. We will trim this down in future iterations.</a:t>
            </a:r>
            <a:endParaRPr/>
          </a:p>
        </p:txBody>
      </p:sp>
      <p:pic>
        <p:nvPicPr>
          <p:cNvPr id="165" name="Google Shape;165;g3477c55f713_0_119" title="Chart"/>
          <p:cNvPicPr preferRelativeResize="0"/>
          <p:nvPr/>
        </p:nvPicPr>
        <p:blipFill>
          <a:blip r:embed="rId3">
            <a:alphaModFix/>
          </a:blip>
          <a:stretch>
            <a:fillRect/>
          </a:stretch>
        </p:blipFill>
        <p:spPr>
          <a:xfrm>
            <a:off x="5055600" y="3242775"/>
            <a:ext cx="3650475" cy="2257199"/>
          </a:xfrm>
          <a:prstGeom prst="rect">
            <a:avLst/>
          </a:prstGeom>
          <a:noFill/>
          <a:ln>
            <a:noFill/>
          </a:ln>
        </p:spPr>
      </p:pic>
      <p:pic>
        <p:nvPicPr>
          <p:cNvPr id="166" name="Google Shape;166;g3477c55f713_0_119" title="Chart"/>
          <p:cNvPicPr preferRelativeResize="0"/>
          <p:nvPr/>
        </p:nvPicPr>
        <p:blipFill>
          <a:blip r:embed="rId4">
            <a:alphaModFix/>
          </a:blip>
          <a:stretch>
            <a:fillRect/>
          </a:stretch>
        </p:blipFill>
        <p:spPr>
          <a:xfrm>
            <a:off x="748125" y="2272601"/>
            <a:ext cx="3650454" cy="2257199"/>
          </a:xfrm>
          <a:prstGeom prst="rect">
            <a:avLst/>
          </a:prstGeom>
          <a:noFill/>
          <a:ln>
            <a:noFill/>
          </a:ln>
        </p:spPr>
      </p:pic>
      <p:pic>
        <p:nvPicPr>
          <p:cNvPr id="167" name="Google Shape;167;g3477c55f713_0_119" title="Chart"/>
          <p:cNvPicPr preferRelativeResize="0"/>
          <p:nvPr/>
        </p:nvPicPr>
        <p:blipFill>
          <a:blip r:embed="rId5">
            <a:alphaModFix/>
          </a:blip>
          <a:stretch>
            <a:fillRect/>
          </a:stretch>
        </p:blipFill>
        <p:spPr>
          <a:xfrm>
            <a:off x="748125" y="4509281"/>
            <a:ext cx="3798501" cy="2348718"/>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g3477c55f713_0_137"/>
          <p:cNvSpPr txBox="1">
            <a:spLocks noGrp="1"/>
          </p:cNvSpPr>
          <p:nvPr>
            <p:ph type="title"/>
          </p:nvPr>
        </p:nvSpPr>
        <p:spPr>
          <a:xfrm>
            <a:off x="279400" y="292100"/>
            <a:ext cx="8648700" cy="8049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Course Workload</a:t>
            </a:r>
            <a:endParaRPr/>
          </a:p>
        </p:txBody>
      </p:sp>
      <p:sp>
        <p:nvSpPr>
          <p:cNvPr id="174" name="Google Shape;174;g3477c55f713_0_137"/>
          <p:cNvSpPr txBox="1">
            <a:spLocks noGrp="1"/>
          </p:cNvSpPr>
          <p:nvPr>
            <p:ph type="body" idx="1"/>
          </p:nvPr>
        </p:nvSpPr>
        <p:spPr>
          <a:xfrm>
            <a:off x="279400" y="1257300"/>
            <a:ext cx="8648700" cy="5099100"/>
          </a:xfrm>
          <a:prstGeom prst="rect">
            <a:avLst/>
          </a:prstGeom>
        </p:spPr>
        <p:txBody>
          <a:bodyPr spcFirstLastPara="1" wrap="square" lIns="91425" tIns="45700" rIns="91425" bIns="45700" anchor="t" anchorCtr="0">
            <a:normAutofit/>
          </a:bodyPr>
          <a:lstStyle/>
          <a:p>
            <a:pPr marL="0" lvl="0" indent="0" algn="l" rtl="0">
              <a:spcBef>
                <a:spcPts val="640"/>
              </a:spcBef>
              <a:spcAft>
                <a:spcPts val="0"/>
              </a:spcAft>
              <a:buNone/>
            </a:pPr>
            <a:r>
              <a:rPr lang="en-US"/>
              <a:t>Students spend on average 14h per week on 10-405/605</a:t>
            </a:r>
            <a:endParaRPr/>
          </a:p>
        </p:txBody>
      </p:sp>
      <p:pic>
        <p:nvPicPr>
          <p:cNvPr id="175" name="Google Shape;175;g3477c55f713_0_137" title="hours.png"/>
          <p:cNvPicPr preferRelativeResize="0"/>
          <p:nvPr/>
        </p:nvPicPr>
        <p:blipFill>
          <a:blip r:embed="rId3">
            <a:alphaModFix/>
          </a:blip>
          <a:stretch>
            <a:fillRect/>
          </a:stretch>
        </p:blipFill>
        <p:spPr>
          <a:xfrm>
            <a:off x="1374163" y="2587850"/>
            <a:ext cx="6459176" cy="39939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10C1C7-5BF5-EAE5-5EBE-C520134117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F2EEA9-40D1-A340-5A67-9301DC804CB8}"/>
              </a:ext>
            </a:extLst>
          </p:cNvPr>
          <p:cNvSpPr>
            <a:spLocks noGrp="1"/>
          </p:cNvSpPr>
          <p:nvPr>
            <p:ph type="title"/>
          </p:nvPr>
        </p:nvSpPr>
        <p:spPr/>
        <p:txBody>
          <a:bodyPr/>
          <a:lstStyle/>
          <a:p>
            <a:r>
              <a:rPr lang="en-US" dirty="0"/>
              <a:t>Plan for today</a:t>
            </a:r>
          </a:p>
        </p:txBody>
      </p:sp>
      <p:sp>
        <p:nvSpPr>
          <p:cNvPr id="3" name="Content Placeholder 2">
            <a:extLst>
              <a:ext uri="{FF2B5EF4-FFF2-40B4-BE49-F238E27FC236}">
                <a16:creationId xmlns:a16="http://schemas.microsoft.com/office/drawing/2014/main" id="{23221AAE-252F-4556-E089-7B1C043CB863}"/>
              </a:ext>
            </a:extLst>
          </p:cNvPr>
          <p:cNvSpPr>
            <a:spLocks noGrp="1"/>
          </p:cNvSpPr>
          <p:nvPr>
            <p:ph idx="1"/>
          </p:nvPr>
        </p:nvSpPr>
        <p:spPr/>
        <p:txBody>
          <a:bodyPr/>
          <a:lstStyle/>
          <a:p>
            <a:r>
              <a:rPr lang="en-US" dirty="0"/>
              <a:t>Recap of KV Caching</a:t>
            </a:r>
          </a:p>
          <a:p>
            <a:pPr lvl="1"/>
            <a:r>
              <a:rPr lang="en-US" dirty="0"/>
              <a:t>H2O, </a:t>
            </a:r>
            <a:r>
              <a:rPr lang="en-US" dirty="0" err="1"/>
              <a:t>StreamingLLM</a:t>
            </a:r>
            <a:endParaRPr lang="en-US" dirty="0"/>
          </a:p>
          <a:p>
            <a:r>
              <a:rPr lang="en-US" dirty="0"/>
              <a:t>More predictive techniques for KV Caching</a:t>
            </a:r>
          </a:p>
          <a:p>
            <a:pPr lvl="1"/>
            <a:r>
              <a:rPr lang="en-US" dirty="0" err="1"/>
              <a:t>SnapKV</a:t>
            </a:r>
            <a:endParaRPr lang="en-US" dirty="0"/>
          </a:p>
          <a:p>
            <a:pPr lvl="1"/>
            <a:r>
              <a:rPr lang="en-US" dirty="0" err="1"/>
              <a:t>FastGen</a:t>
            </a:r>
            <a:endParaRPr lang="en-US" dirty="0"/>
          </a:p>
          <a:p>
            <a:r>
              <a:rPr lang="en-US" dirty="0"/>
              <a:t>Discussion of KV caching</a:t>
            </a:r>
          </a:p>
          <a:p>
            <a:r>
              <a:rPr lang="en-US" dirty="0"/>
              <a:t>Recap and overview of model compression</a:t>
            </a:r>
          </a:p>
        </p:txBody>
      </p:sp>
    </p:spTree>
    <p:extLst>
      <p:ext uri="{BB962C8B-B14F-4D97-AF65-F5344CB8AC3E}">
        <p14:creationId xmlns:p14="http://schemas.microsoft.com/office/powerpoint/2010/main" val="9992952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CEF3D2-812C-8BFB-A20E-EC75BBCEE8AD}"/>
              </a:ext>
            </a:extLst>
          </p:cNvPr>
          <p:cNvSpPr>
            <a:spLocks noGrp="1"/>
          </p:cNvSpPr>
          <p:nvPr>
            <p:ph type="title"/>
          </p:nvPr>
        </p:nvSpPr>
        <p:spPr/>
        <p:txBody>
          <a:bodyPr/>
          <a:lstStyle/>
          <a:p>
            <a:r>
              <a:rPr lang="en-US" dirty="0"/>
              <a:t>Key-Value Cache Management: Recap</a:t>
            </a:r>
          </a:p>
        </p:txBody>
      </p:sp>
      <p:sp>
        <p:nvSpPr>
          <p:cNvPr id="4" name="Content Placeholder 3">
            <a:extLst>
              <a:ext uri="{FF2B5EF4-FFF2-40B4-BE49-F238E27FC236}">
                <a16:creationId xmlns:a16="http://schemas.microsoft.com/office/drawing/2014/main" id="{10EB6618-F1A3-1F8D-99D2-470F79FED3BD}"/>
              </a:ext>
            </a:extLst>
          </p:cNvPr>
          <p:cNvSpPr>
            <a:spLocks noGrp="1"/>
          </p:cNvSpPr>
          <p:nvPr>
            <p:ph idx="1"/>
          </p:nvPr>
        </p:nvSpPr>
        <p:spPr/>
        <p:txBody>
          <a:bodyPr>
            <a:normAutofit lnSpcReduction="10000"/>
          </a:bodyPr>
          <a:lstStyle/>
          <a:p>
            <a:r>
              <a:rPr lang="en-US" dirty="0"/>
              <a:t>Attention is all you need….</a:t>
            </a:r>
          </a:p>
          <a:p>
            <a:pPr lvl="1"/>
            <a:r>
              <a:rPr lang="en-US" dirty="0"/>
              <a:t>…but you don’t need all the attention</a:t>
            </a:r>
          </a:p>
          <a:p>
            <a:r>
              <a:rPr lang="en-US" dirty="0"/>
              <a:t>Attention that’s quadratic in sequence length doesn’t scale to long sequences</a:t>
            </a:r>
          </a:p>
          <a:p>
            <a:pPr lvl="1"/>
            <a:r>
              <a:rPr lang="en-US" dirty="0"/>
              <a:t>So we need to approximate somehow…</a:t>
            </a:r>
          </a:p>
          <a:p>
            <a:pPr lvl="1"/>
            <a:r>
              <a:rPr lang="en-US" dirty="0"/>
              <a:t>What attention do we really need?</a:t>
            </a:r>
          </a:p>
          <a:p>
            <a:pPr lvl="1"/>
            <a:r>
              <a:rPr lang="en-US" dirty="0"/>
              <a:t>What can we ignore?</a:t>
            </a:r>
          </a:p>
          <a:p>
            <a:r>
              <a:rPr lang="en-US" dirty="0"/>
              <a:t>In decoder-only Transformers manipulating the </a:t>
            </a:r>
            <a:r>
              <a:rPr lang="en-US" b="1" dirty="0"/>
              <a:t>KV cache </a:t>
            </a:r>
            <a:r>
              <a:rPr lang="en-US" dirty="0"/>
              <a:t>is the </a:t>
            </a:r>
            <a:r>
              <a:rPr lang="en-US" b="1" dirty="0"/>
              <a:t>main</a:t>
            </a:r>
            <a:r>
              <a:rPr lang="en-US" dirty="0"/>
              <a:t> way of </a:t>
            </a:r>
            <a:r>
              <a:rPr lang="en-US" b="1" dirty="0"/>
              <a:t>restricting</a:t>
            </a:r>
            <a:r>
              <a:rPr lang="en-US" dirty="0"/>
              <a:t> </a:t>
            </a:r>
            <a:r>
              <a:rPr lang="en-US" b="1" dirty="0"/>
              <a:t>attention</a:t>
            </a:r>
          </a:p>
        </p:txBody>
      </p:sp>
    </p:spTree>
    <p:extLst>
      <p:ext uri="{BB962C8B-B14F-4D97-AF65-F5344CB8AC3E}">
        <p14:creationId xmlns:p14="http://schemas.microsoft.com/office/powerpoint/2010/main" val="7907312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6442F5-6B37-1F45-9027-A368EBC3C23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92C73F1-2835-8A5E-5917-4F6FB9E1DE92}"/>
              </a:ext>
            </a:extLst>
          </p:cNvPr>
          <p:cNvSpPr>
            <a:spLocks noGrp="1"/>
          </p:cNvSpPr>
          <p:nvPr>
            <p:ph type="title"/>
          </p:nvPr>
        </p:nvSpPr>
        <p:spPr/>
        <p:txBody>
          <a:bodyPr>
            <a:noAutofit/>
          </a:bodyPr>
          <a:lstStyle/>
          <a:p>
            <a:r>
              <a:rPr lang="en-US" sz="2800" dirty="0"/>
              <a:t>Key-Value Cache Management: Recap</a:t>
            </a:r>
          </a:p>
        </p:txBody>
      </p:sp>
      <p:sp>
        <p:nvSpPr>
          <p:cNvPr id="4" name="Content Placeholder 3">
            <a:extLst>
              <a:ext uri="{FF2B5EF4-FFF2-40B4-BE49-F238E27FC236}">
                <a16:creationId xmlns:a16="http://schemas.microsoft.com/office/drawing/2014/main" id="{7A2F8746-F2DE-6AC1-086F-DB4E13E57FBC}"/>
              </a:ext>
            </a:extLst>
          </p:cNvPr>
          <p:cNvSpPr>
            <a:spLocks noGrp="1"/>
          </p:cNvSpPr>
          <p:nvPr>
            <p:ph idx="1"/>
          </p:nvPr>
        </p:nvSpPr>
        <p:spPr>
          <a:xfrm>
            <a:off x="279400" y="1257300"/>
            <a:ext cx="8480552" cy="4865914"/>
          </a:xfrm>
        </p:spPr>
        <p:txBody>
          <a:bodyPr>
            <a:normAutofit fontScale="92500" lnSpcReduction="10000"/>
          </a:bodyPr>
          <a:lstStyle/>
          <a:p>
            <a:r>
              <a:rPr lang="en-US" dirty="0"/>
              <a:t>In key-value caching we restrict attention </a:t>
            </a:r>
            <a:r>
              <a:rPr lang="en-US" b="1" u="sng" dirty="0"/>
              <a:t>after</a:t>
            </a:r>
            <a:r>
              <a:rPr lang="en-US" b="1" dirty="0"/>
              <a:t> </a:t>
            </a:r>
            <a:r>
              <a:rPr lang="en-US" dirty="0"/>
              <a:t>training by </a:t>
            </a:r>
            <a:r>
              <a:rPr lang="en-US" b="1" u="sng" dirty="0"/>
              <a:t>evicting</a:t>
            </a:r>
            <a:r>
              <a:rPr lang="en-US" b="1" dirty="0"/>
              <a:t> </a:t>
            </a:r>
            <a:r>
              <a:rPr lang="en-US" dirty="0"/>
              <a:t>from the </a:t>
            </a:r>
            <a:r>
              <a:rPr lang="en-US" b="1" dirty="0"/>
              <a:t>cache</a:t>
            </a:r>
          </a:p>
          <a:p>
            <a:r>
              <a:rPr lang="en-US" dirty="0"/>
              <a:t>This is a crucial method for </a:t>
            </a:r>
            <a:r>
              <a:rPr lang="en-US" b="1" u="sng" dirty="0"/>
              <a:t>long inputs</a:t>
            </a:r>
          </a:p>
          <a:p>
            <a:pPr lvl="1"/>
            <a:r>
              <a:rPr lang="en-US" dirty="0"/>
              <a:t>or </a:t>
            </a:r>
            <a:r>
              <a:rPr lang="en-US" b="1" u="sng" dirty="0"/>
              <a:t>outputs</a:t>
            </a:r>
            <a:r>
              <a:rPr lang="en-US" dirty="0"/>
              <a:t>, e.g. reasoning models (O1,…)</a:t>
            </a:r>
          </a:p>
          <a:p>
            <a:endParaRPr lang="en-US" dirty="0"/>
          </a:p>
          <a:p>
            <a:r>
              <a:rPr lang="en-US" dirty="0"/>
              <a:t>Big question: what is the eviction </a:t>
            </a:r>
            <a:r>
              <a:rPr lang="en-US" b="1" u="sng" dirty="0"/>
              <a:t>policy</a:t>
            </a:r>
            <a:r>
              <a:rPr lang="en-US" dirty="0"/>
              <a:t>?</a:t>
            </a:r>
          </a:p>
          <a:p>
            <a:r>
              <a:rPr lang="en-US" dirty="0"/>
              <a:t>We know </a:t>
            </a:r>
            <a:r>
              <a:rPr lang="en-US" b="1" u="sng" dirty="0"/>
              <a:t>recent</a:t>
            </a:r>
            <a:r>
              <a:rPr lang="en-US" dirty="0"/>
              <a:t> tokens are attended to</a:t>
            </a:r>
          </a:p>
          <a:p>
            <a:pPr lvl="1"/>
            <a:r>
              <a:rPr lang="en-US" dirty="0"/>
              <a:t>from long-context Transformers like ETC, </a:t>
            </a:r>
            <a:r>
              <a:rPr lang="en-US" dirty="0" err="1"/>
              <a:t>BigBird</a:t>
            </a:r>
            <a:r>
              <a:rPr lang="en-US" dirty="0"/>
              <a:t>, Reformer, …</a:t>
            </a:r>
          </a:p>
          <a:p>
            <a:pPr lvl="1"/>
            <a:r>
              <a:rPr lang="en-US" dirty="0"/>
              <a:t>so First In First Out (FIFO) is a good start</a:t>
            </a:r>
          </a:p>
          <a:p>
            <a:pPr marL="457200" lvl="1" indent="0">
              <a:buNone/>
            </a:pPr>
            <a:endParaRPr lang="en-US" dirty="0"/>
          </a:p>
        </p:txBody>
      </p:sp>
    </p:spTree>
    <p:extLst>
      <p:ext uri="{BB962C8B-B14F-4D97-AF65-F5344CB8AC3E}">
        <p14:creationId xmlns:p14="http://schemas.microsoft.com/office/powerpoint/2010/main" val="33591238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FCCBC5-CFD9-4A15-1F95-2C9230F23A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7C3651-951B-1669-C400-16C178BE69C7}"/>
              </a:ext>
            </a:extLst>
          </p:cNvPr>
          <p:cNvSpPr>
            <a:spLocks noGrp="1"/>
          </p:cNvSpPr>
          <p:nvPr>
            <p:ph type="title"/>
          </p:nvPr>
        </p:nvSpPr>
        <p:spPr/>
        <p:txBody>
          <a:bodyPr/>
          <a:lstStyle/>
          <a:p>
            <a:r>
              <a:rPr lang="en-US" dirty="0"/>
              <a:t>Outline</a:t>
            </a:r>
          </a:p>
        </p:txBody>
      </p:sp>
      <p:sp>
        <p:nvSpPr>
          <p:cNvPr id="3" name="Content Placeholder 2">
            <a:extLst>
              <a:ext uri="{FF2B5EF4-FFF2-40B4-BE49-F238E27FC236}">
                <a16:creationId xmlns:a16="http://schemas.microsoft.com/office/drawing/2014/main" id="{FD22225F-0CB1-9F9E-5609-1179F9A6D684}"/>
              </a:ext>
            </a:extLst>
          </p:cNvPr>
          <p:cNvSpPr>
            <a:spLocks noGrp="1"/>
          </p:cNvSpPr>
          <p:nvPr>
            <p:ph idx="1"/>
          </p:nvPr>
        </p:nvSpPr>
        <p:spPr>
          <a:xfrm>
            <a:off x="279400" y="1257299"/>
            <a:ext cx="8648700" cy="5470071"/>
          </a:xfrm>
        </p:spPr>
        <p:txBody>
          <a:bodyPr>
            <a:normAutofit fontScale="70000" lnSpcReduction="20000"/>
          </a:bodyPr>
          <a:lstStyle/>
          <a:p>
            <a:r>
              <a:rPr lang="en-US" dirty="0"/>
              <a:t>Compressing models</a:t>
            </a:r>
          </a:p>
          <a:p>
            <a:pPr lvl="1"/>
            <a:r>
              <a:rPr lang="en-US" dirty="0"/>
              <a:t>Distillation</a:t>
            </a:r>
          </a:p>
          <a:p>
            <a:pPr lvl="1"/>
            <a:r>
              <a:rPr lang="en-US" dirty="0"/>
              <a:t>Quantization</a:t>
            </a:r>
          </a:p>
          <a:p>
            <a:pPr lvl="1"/>
            <a:r>
              <a:rPr lang="en-US" dirty="0"/>
              <a:t>Pruning</a:t>
            </a:r>
          </a:p>
          <a:p>
            <a:pPr lvl="2"/>
            <a:r>
              <a:rPr lang="en-US" dirty="0"/>
              <a:t>Unstructured</a:t>
            </a:r>
          </a:p>
          <a:p>
            <a:pPr lvl="2"/>
            <a:r>
              <a:rPr lang="en-US" dirty="0"/>
              <a:t>Semi-Structured (e.g. 2:4 Pruning)</a:t>
            </a:r>
          </a:p>
          <a:p>
            <a:pPr lvl="2"/>
            <a:r>
              <a:rPr lang="en-US" dirty="0"/>
              <a:t>Structured</a:t>
            </a:r>
          </a:p>
          <a:p>
            <a:r>
              <a:rPr lang="en-US" dirty="0"/>
              <a:t>Key-value caching</a:t>
            </a:r>
          </a:p>
          <a:p>
            <a:pPr lvl="1"/>
            <a:r>
              <a:rPr lang="en-US" dirty="0"/>
              <a:t>Motivation  and importance</a:t>
            </a:r>
          </a:p>
          <a:p>
            <a:pPr lvl="1"/>
            <a:r>
              <a:rPr lang="en-US" dirty="0"/>
              <a:t>Origin story</a:t>
            </a:r>
          </a:p>
          <a:p>
            <a:pPr lvl="2"/>
            <a:r>
              <a:rPr lang="en-US" dirty="0"/>
              <a:t>Long-context Transformers</a:t>
            </a:r>
          </a:p>
          <a:p>
            <a:pPr lvl="1"/>
            <a:r>
              <a:rPr lang="en-US" dirty="0">
                <a:highlight>
                  <a:srgbClr val="FFFF00"/>
                </a:highlight>
              </a:rPr>
              <a:t>Techniques</a:t>
            </a:r>
          </a:p>
          <a:p>
            <a:pPr lvl="2"/>
            <a:r>
              <a:rPr lang="en-US" dirty="0"/>
              <a:t>Heavy hitters – H2O</a:t>
            </a:r>
          </a:p>
          <a:p>
            <a:pPr lvl="2"/>
            <a:r>
              <a:rPr lang="en-US" dirty="0"/>
              <a:t>Attention sinks – </a:t>
            </a:r>
            <a:r>
              <a:rPr lang="en-US" dirty="0" err="1"/>
              <a:t>StreamingLLM</a:t>
            </a:r>
            <a:endParaRPr lang="en-US" dirty="0"/>
          </a:p>
          <a:p>
            <a:pPr lvl="2"/>
            <a:r>
              <a:rPr lang="en-US" dirty="0"/>
              <a:t>Predictive caching – </a:t>
            </a:r>
            <a:r>
              <a:rPr lang="en-US" dirty="0" err="1"/>
              <a:t>SnapKV</a:t>
            </a:r>
            <a:endParaRPr lang="en-US" dirty="0"/>
          </a:p>
          <a:p>
            <a:pPr lvl="2"/>
            <a:r>
              <a:rPr lang="en-US" dirty="0"/>
              <a:t>…</a:t>
            </a:r>
          </a:p>
          <a:p>
            <a:pPr lvl="2"/>
            <a:endParaRPr lang="en-US" dirty="0"/>
          </a:p>
        </p:txBody>
      </p:sp>
      <p:cxnSp>
        <p:nvCxnSpPr>
          <p:cNvPr id="5" name="Straight Connector 4">
            <a:extLst>
              <a:ext uri="{FF2B5EF4-FFF2-40B4-BE49-F238E27FC236}">
                <a16:creationId xmlns:a16="http://schemas.microsoft.com/office/drawing/2014/main" id="{6D56F6B0-81C1-DBD6-5B4D-39998307A3EE}"/>
              </a:ext>
            </a:extLst>
          </p:cNvPr>
          <p:cNvCxnSpPr/>
          <p:nvPr/>
        </p:nvCxnSpPr>
        <p:spPr>
          <a:xfrm>
            <a:off x="1224643" y="5763986"/>
            <a:ext cx="4865914"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735306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3E051D-86B6-36CB-414C-DFB31F14F3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C13EEC-4105-C475-17EF-22024FF5486B}"/>
              </a:ext>
            </a:extLst>
          </p:cNvPr>
          <p:cNvSpPr>
            <a:spLocks noGrp="1"/>
          </p:cNvSpPr>
          <p:nvPr>
            <p:ph type="title"/>
          </p:nvPr>
        </p:nvSpPr>
        <p:spPr/>
        <p:txBody>
          <a:bodyPr>
            <a:normAutofit fontScale="90000"/>
          </a:bodyPr>
          <a:lstStyle/>
          <a:p>
            <a:r>
              <a:rPr lang="en-US" dirty="0"/>
              <a:t>Finding “Heavy Hitters” in KV Caches</a:t>
            </a:r>
          </a:p>
        </p:txBody>
      </p:sp>
      <p:pic>
        <p:nvPicPr>
          <p:cNvPr id="3" name="Picture 2">
            <a:extLst>
              <a:ext uri="{FF2B5EF4-FFF2-40B4-BE49-F238E27FC236}">
                <a16:creationId xmlns:a16="http://schemas.microsoft.com/office/drawing/2014/main" id="{BBD28421-E4FB-A6EA-8CA5-AD3FC2B85B21}"/>
              </a:ext>
            </a:extLst>
          </p:cNvPr>
          <p:cNvPicPr>
            <a:picLocks noChangeAspect="1"/>
          </p:cNvPicPr>
          <p:nvPr/>
        </p:nvPicPr>
        <p:blipFill>
          <a:blip r:embed="rId3"/>
          <a:stretch>
            <a:fillRect/>
          </a:stretch>
        </p:blipFill>
        <p:spPr>
          <a:xfrm>
            <a:off x="153636" y="1847969"/>
            <a:ext cx="8836728" cy="4226260"/>
          </a:xfrm>
          <a:prstGeom prst="rect">
            <a:avLst/>
          </a:prstGeom>
        </p:spPr>
      </p:pic>
      <p:sp>
        <p:nvSpPr>
          <p:cNvPr id="4" name="TextBox 3">
            <a:extLst>
              <a:ext uri="{FF2B5EF4-FFF2-40B4-BE49-F238E27FC236}">
                <a16:creationId xmlns:a16="http://schemas.microsoft.com/office/drawing/2014/main" id="{0D16B264-0748-27FF-571B-D0F35213BE3E}"/>
              </a:ext>
            </a:extLst>
          </p:cNvPr>
          <p:cNvSpPr txBox="1"/>
          <p:nvPr/>
        </p:nvSpPr>
        <p:spPr>
          <a:xfrm>
            <a:off x="6482443" y="1436914"/>
            <a:ext cx="1992086" cy="369332"/>
          </a:xfrm>
          <a:prstGeom prst="rect">
            <a:avLst/>
          </a:prstGeom>
          <a:noFill/>
        </p:spPr>
        <p:txBody>
          <a:bodyPr wrap="square" rtlCol="0">
            <a:spAutoFit/>
          </a:bodyPr>
          <a:lstStyle/>
          <a:p>
            <a:r>
              <a:rPr lang="en-US" dirty="0"/>
              <a:t>2023</a:t>
            </a:r>
          </a:p>
        </p:txBody>
      </p:sp>
    </p:spTree>
    <p:extLst>
      <p:ext uri="{BB962C8B-B14F-4D97-AF65-F5344CB8AC3E}">
        <p14:creationId xmlns:p14="http://schemas.microsoft.com/office/powerpoint/2010/main" val="20563508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D0C3B8-AD08-108D-9A7F-8778A1CEE2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3BCE1A-1478-455A-A855-CF84931ACD48}"/>
              </a:ext>
            </a:extLst>
          </p:cNvPr>
          <p:cNvSpPr>
            <a:spLocks noGrp="1"/>
          </p:cNvSpPr>
          <p:nvPr>
            <p:ph type="title"/>
          </p:nvPr>
        </p:nvSpPr>
        <p:spPr/>
        <p:txBody>
          <a:bodyPr>
            <a:normAutofit fontScale="90000"/>
          </a:bodyPr>
          <a:lstStyle/>
          <a:p>
            <a:r>
              <a:rPr lang="en-US" dirty="0"/>
              <a:t>Finding “Heavy Hitters” in KV Caches</a:t>
            </a:r>
          </a:p>
        </p:txBody>
      </p:sp>
      <p:sp>
        <p:nvSpPr>
          <p:cNvPr id="5" name="Text Placeholder 4">
            <a:extLst>
              <a:ext uri="{FF2B5EF4-FFF2-40B4-BE49-F238E27FC236}">
                <a16:creationId xmlns:a16="http://schemas.microsoft.com/office/drawing/2014/main" id="{CA1B486B-E2F6-179A-11CC-50B5A80964F6}"/>
              </a:ext>
            </a:extLst>
          </p:cNvPr>
          <p:cNvSpPr>
            <a:spLocks noGrp="1"/>
          </p:cNvSpPr>
          <p:nvPr>
            <p:ph type="body" sz="half" idx="1"/>
          </p:nvPr>
        </p:nvSpPr>
        <p:spPr>
          <a:xfrm>
            <a:off x="457200" y="1600200"/>
            <a:ext cx="8229600" cy="4000500"/>
          </a:xfrm>
        </p:spPr>
        <p:txBody>
          <a:bodyPr>
            <a:normAutofit fontScale="77500" lnSpcReduction="20000"/>
          </a:bodyPr>
          <a:lstStyle/>
          <a:p>
            <a:r>
              <a:rPr lang="en-US" dirty="0"/>
              <a:t>Proposed method</a:t>
            </a:r>
          </a:p>
          <a:p>
            <a:pPr lvl="1"/>
            <a:r>
              <a:rPr lang="en-US" dirty="0"/>
              <a:t>Fix the cache size to K</a:t>
            </a:r>
          </a:p>
          <a:p>
            <a:pPr lvl="1"/>
            <a:r>
              <a:rPr lang="en-US" dirty="0"/>
              <a:t>Generate tokens </a:t>
            </a:r>
            <a:r>
              <a:rPr lang="en-US" dirty="0" err="1"/>
              <a:t>i</a:t>
            </a:r>
            <a:r>
              <a:rPr lang="en-US" dirty="0"/>
              <a:t>=1, …, …</a:t>
            </a:r>
          </a:p>
          <a:p>
            <a:pPr lvl="2"/>
            <a:r>
              <a:rPr lang="en-US" dirty="0"/>
              <a:t>Track score (cumulative attention) of each token in the cache</a:t>
            </a:r>
          </a:p>
          <a:p>
            <a:pPr lvl="3"/>
            <a:r>
              <a:rPr lang="en-US" dirty="0"/>
              <a:t>“local H2 statistic” – cumulative attention up to position </a:t>
            </a:r>
            <a:r>
              <a:rPr lang="en-US" dirty="0" err="1"/>
              <a:t>i</a:t>
            </a:r>
            <a:endParaRPr lang="en-US" dirty="0"/>
          </a:p>
          <a:p>
            <a:pPr lvl="2"/>
            <a:r>
              <a:rPr lang="en-US" dirty="0"/>
              <a:t>When the cache is full, overwrite the token with lowest local H2 score</a:t>
            </a:r>
          </a:p>
          <a:p>
            <a:pPr lvl="3"/>
            <a:r>
              <a:rPr lang="en-US" dirty="0"/>
              <a:t>(Attention to recent-past tokens keeps tokens from being evicted too quickly – W?)</a:t>
            </a:r>
          </a:p>
          <a:p>
            <a:pPr lvl="2"/>
            <a:r>
              <a:rPr lang="en-US" dirty="0"/>
              <a:t>Called an “</a:t>
            </a:r>
            <a:r>
              <a:rPr lang="en-US" b="1" dirty="0"/>
              <a:t>eviction policy</a:t>
            </a:r>
            <a:r>
              <a:rPr lang="en-US" dirty="0"/>
              <a:t>”</a:t>
            </a:r>
          </a:p>
          <a:p>
            <a:pPr lvl="1"/>
            <a:r>
              <a:rPr lang="en-US" b="1" dirty="0"/>
              <a:t>Local H2 statistic </a:t>
            </a:r>
            <a:r>
              <a:rPr lang="en-US" dirty="0"/>
              <a:t>is close to </a:t>
            </a:r>
            <a:r>
              <a:rPr lang="en-US" b="1" dirty="0"/>
              <a:t>full oracle H2 statistic </a:t>
            </a:r>
            <a:r>
              <a:rPr lang="en-US" dirty="0"/>
              <a:t>that looks at future tokens</a:t>
            </a:r>
          </a:p>
        </p:txBody>
      </p:sp>
    </p:spTree>
    <p:extLst>
      <p:ext uri="{BB962C8B-B14F-4D97-AF65-F5344CB8AC3E}">
        <p14:creationId xmlns:p14="http://schemas.microsoft.com/office/powerpoint/2010/main" val="17874343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002588-A8A4-4765-72B5-D5F3421215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0834D6-E8B9-26FF-F80F-0BB77F0D0F68}"/>
              </a:ext>
            </a:extLst>
          </p:cNvPr>
          <p:cNvSpPr>
            <a:spLocks noGrp="1"/>
          </p:cNvSpPr>
          <p:nvPr>
            <p:ph type="title"/>
          </p:nvPr>
        </p:nvSpPr>
        <p:spPr/>
        <p:txBody>
          <a:bodyPr>
            <a:normAutofit fontScale="90000"/>
          </a:bodyPr>
          <a:lstStyle/>
          <a:p>
            <a:r>
              <a:rPr lang="en-US" dirty="0"/>
              <a:t>Finding “Heavy Hitters” in KV Caches</a:t>
            </a:r>
          </a:p>
        </p:txBody>
      </p:sp>
      <p:pic>
        <p:nvPicPr>
          <p:cNvPr id="6" name="Picture 5">
            <a:extLst>
              <a:ext uri="{FF2B5EF4-FFF2-40B4-BE49-F238E27FC236}">
                <a16:creationId xmlns:a16="http://schemas.microsoft.com/office/drawing/2014/main" id="{BD749AC8-8046-F8A7-F025-406AB6A1F8A1}"/>
              </a:ext>
            </a:extLst>
          </p:cNvPr>
          <p:cNvPicPr>
            <a:picLocks noChangeAspect="1"/>
          </p:cNvPicPr>
          <p:nvPr/>
        </p:nvPicPr>
        <p:blipFill>
          <a:blip r:embed="rId2"/>
          <a:stretch>
            <a:fillRect/>
          </a:stretch>
        </p:blipFill>
        <p:spPr>
          <a:xfrm>
            <a:off x="1208314" y="1417638"/>
            <a:ext cx="6237514" cy="5292436"/>
          </a:xfrm>
          <a:prstGeom prst="rect">
            <a:avLst/>
          </a:prstGeom>
        </p:spPr>
      </p:pic>
    </p:spTree>
    <p:extLst>
      <p:ext uri="{BB962C8B-B14F-4D97-AF65-F5344CB8AC3E}">
        <p14:creationId xmlns:p14="http://schemas.microsoft.com/office/powerpoint/2010/main" val="39588765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4D19D3-7368-028F-13E4-0C0ADF9CE3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4D38BA-BD3E-BA56-95C5-B53B96C7BAB8}"/>
              </a:ext>
            </a:extLst>
          </p:cNvPr>
          <p:cNvSpPr>
            <a:spLocks noGrp="1"/>
          </p:cNvSpPr>
          <p:nvPr>
            <p:ph type="title"/>
          </p:nvPr>
        </p:nvSpPr>
        <p:spPr/>
        <p:txBody>
          <a:bodyPr/>
          <a:lstStyle/>
          <a:p>
            <a:r>
              <a:rPr lang="en-US" dirty="0"/>
              <a:t>Other ways of predicting attention </a:t>
            </a:r>
          </a:p>
        </p:txBody>
      </p:sp>
      <p:sp>
        <p:nvSpPr>
          <p:cNvPr id="4" name="TextBox 3">
            <a:extLst>
              <a:ext uri="{FF2B5EF4-FFF2-40B4-BE49-F238E27FC236}">
                <a16:creationId xmlns:a16="http://schemas.microsoft.com/office/drawing/2014/main" id="{0FBB84C6-1E1A-B1E4-80E8-CEBA0E67AF27}"/>
              </a:ext>
            </a:extLst>
          </p:cNvPr>
          <p:cNvSpPr txBox="1"/>
          <p:nvPr/>
        </p:nvSpPr>
        <p:spPr>
          <a:xfrm>
            <a:off x="6482443" y="1436914"/>
            <a:ext cx="1992086" cy="369332"/>
          </a:xfrm>
          <a:prstGeom prst="rect">
            <a:avLst/>
          </a:prstGeom>
          <a:noFill/>
        </p:spPr>
        <p:txBody>
          <a:bodyPr wrap="square" rtlCol="0">
            <a:spAutoFit/>
          </a:bodyPr>
          <a:lstStyle/>
          <a:p>
            <a:r>
              <a:rPr lang="en-US" dirty="0"/>
              <a:t>2024</a:t>
            </a:r>
          </a:p>
        </p:txBody>
      </p:sp>
      <p:pic>
        <p:nvPicPr>
          <p:cNvPr id="5" name="Picture 4">
            <a:extLst>
              <a:ext uri="{FF2B5EF4-FFF2-40B4-BE49-F238E27FC236}">
                <a16:creationId xmlns:a16="http://schemas.microsoft.com/office/drawing/2014/main" id="{9337DD6D-B2D0-48B2-AC5D-96D51FE46E5F}"/>
              </a:ext>
            </a:extLst>
          </p:cNvPr>
          <p:cNvPicPr>
            <a:picLocks noChangeAspect="1"/>
          </p:cNvPicPr>
          <p:nvPr/>
        </p:nvPicPr>
        <p:blipFill>
          <a:blip r:embed="rId3"/>
          <a:stretch>
            <a:fillRect/>
          </a:stretch>
        </p:blipFill>
        <p:spPr>
          <a:xfrm>
            <a:off x="-65314" y="1806246"/>
            <a:ext cx="9146913" cy="3463683"/>
          </a:xfrm>
          <a:prstGeom prst="rect">
            <a:avLst/>
          </a:prstGeom>
        </p:spPr>
      </p:pic>
    </p:spTree>
    <p:extLst>
      <p:ext uri="{BB962C8B-B14F-4D97-AF65-F5344CB8AC3E}">
        <p14:creationId xmlns:p14="http://schemas.microsoft.com/office/powerpoint/2010/main" val="4687559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0D209F-6AA1-6DCA-84F0-8CB6CCCDBC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2D89F2-436E-D60C-551C-52A936C43343}"/>
              </a:ext>
            </a:extLst>
          </p:cNvPr>
          <p:cNvSpPr>
            <a:spLocks noGrp="1"/>
          </p:cNvSpPr>
          <p:nvPr>
            <p:ph type="title"/>
          </p:nvPr>
        </p:nvSpPr>
        <p:spPr/>
        <p:txBody>
          <a:bodyPr/>
          <a:lstStyle/>
          <a:p>
            <a:r>
              <a:rPr lang="en-US" dirty="0"/>
              <a:t>Other ways of predicting attention </a:t>
            </a:r>
          </a:p>
        </p:txBody>
      </p:sp>
      <p:pic>
        <p:nvPicPr>
          <p:cNvPr id="3" name="Picture 2">
            <a:extLst>
              <a:ext uri="{FF2B5EF4-FFF2-40B4-BE49-F238E27FC236}">
                <a16:creationId xmlns:a16="http://schemas.microsoft.com/office/drawing/2014/main" id="{BD86AE63-E460-39ED-BF9D-6579FDB1CBF3}"/>
              </a:ext>
            </a:extLst>
          </p:cNvPr>
          <p:cNvPicPr>
            <a:picLocks noChangeAspect="1"/>
          </p:cNvPicPr>
          <p:nvPr/>
        </p:nvPicPr>
        <p:blipFill>
          <a:blip r:embed="rId2"/>
          <a:stretch>
            <a:fillRect/>
          </a:stretch>
        </p:blipFill>
        <p:spPr>
          <a:xfrm>
            <a:off x="1010074" y="1259658"/>
            <a:ext cx="5850224" cy="5323704"/>
          </a:xfrm>
          <a:prstGeom prst="rect">
            <a:avLst/>
          </a:prstGeom>
        </p:spPr>
      </p:pic>
      <p:sp>
        <p:nvSpPr>
          <p:cNvPr id="6" name="TextBox 5">
            <a:extLst>
              <a:ext uri="{FF2B5EF4-FFF2-40B4-BE49-F238E27FC236}">
                <a16:creationId xmlns:a16="http://schemas.microsoft.com/office/drawing/2014/main" id="{D46AD20C-455B-5409-AF75-6DFDE134E380}"/>
              </a:ext>
            </a:extLst>
          </p:cNvPr>
          <p:cNvSpPr txBox="1"/>
          <p:nvPr/>
        </p:nvSpPr>
        <p:spPr>
          <a:xfrm>
            <a:off x="6860298" y="3135085"/>
            <a:ext cx="2155370" cy="1938992"/>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Arial"/>
                <a:ea typeface="ＭＳ Ｐゴシック"/>
                <a:cs typeface="+mn-cs"/>
              </a:rPr>
              <a:t>Why are</a:t>
            </a:r>
            <a:r>
              <a:rPr kumimoji="0" lang="en-US" sz="2400" b="0" i="0" u="none" strike="noStrike" kern="1200" cap="none" spc="0" normalizeH="0" noProof="0" dirty="0">
                <a:ln>
                  <a:noFill/>
                </a:ln>
                <a:solidFill>
                  <a:srgbClr val="000000"/>
                </a:solidFill>
                <a:effectLst/>
                <a:uLnTx/>
                <a:uFillTx/>
                <a:latin typeface="Arial"/>
                <a:ea typeface="ＭＳ Ｐゴシック"/>
                <a:cs typeface="+mn-cs"/>
              </a:rPr>
              <a:t> initial positions getting so much attention?</a:t>
            </a:r>
            <a:endParaRPr kumimoji="0" lang="en-US" sz="2400" b="0" i="0" u="none" strike="noStrike" kern="1200" cap="none" spc="0" normalizeH="0" baseline="0" noProof="0" dirty="0">
              <a:ln>
                <a:noFill/>
              </a:ln>
              <a:solidFill>
                <a:srgbClr val="000000"/>
              </a:solidFill>
              <a:effectLst/>
              <a:uLnTx/>
              <a:uFillTx/>
              <a:latin typeface="Arial"/>
              <a:ea typeface="ＭＳ Ｐゴシック"/>
              <a:cs typeface="+mn-cs"/>
            </a:endParaRPr>
          </a:p>
        </p:txBody>
      </p:sp>
    </p:spTree>
    <p:extLst>
      <p:ext uri="{BB962C8B-B14F-4D97-AF65-F5344CB8AC3E}">
        <p14:creationId xmlns:p14="http://schemas.microsoft.com/office/powerpoint/2010/main" val="108408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A19803-CD65-380F-6E0C-7F39817FB6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72B4C8-5687-8994-99A2-015F19A9130A}"/>
              </a:ext>
            </a:extLst>
          </p:cNvPr>
          <p:cNvSpPr>
            <a:spLocks noGrp="1"/>
          </p:cNvSpPr>
          <p:nvPr>
            <p:ph type="title"/>
          </p:nvPr>
        </p:nvSpPr>
        <p:spPr/>
        <p:txBody>
          <a:bodyPr/>
          <a:lstStyle/>
          <a:p>
            <a:r>
              <a:rPr lang="en-US" dirty="0" err="1"/>
              <a:t>StreamingLLM</a:t>
            </a:r>
            <a:endParaRPr lang="en-US" dirty="0"/>
          </a:p>
        </p:txBody>
      </p:sp>
      <p:sp>
        <p:nvSpPr>
          <p:cNvPr id="5" name="Text Placeholder 4">
            <a:extLst>
              <a:ext uri="{FF2B5EF4-FFF2-40B4-BE49-F238E27FC236}">
                <a16:creationId xmlns:a16="http://schemas.microsoft.com/office/drawing/2014/main" id="{063B4524-DBC6-4BCA-A1C2-1535EFB14DC5}"/>
              </a:ext>
            </a:extLst>
          </p:cNvPr>
          <p:cNvSpPr>
            <a:spLocks noGrp="1"/>
          </p:cNvSpPr>
          <p:nvPr>
            <p:ph type="body" sz="half" idx="1"/>
          </p:nvPr>
        </p:nvSpPr>
        <p:spPr>
          <a:xfrm>
            <a:off x="457199" y="1600200"/>
            <a:ext cx="8931729" cy="2041071"/>
          </a:xfrm>
        </p:spPr>
        <p:txBody>
          <a:bodyPr>
            <a:normAutofit lnSpcReduction="10000"/>
          </a:bodyPr>
          <a:lstStyle/>
          <a:p>
            <a:r>
              <a:rPr lang="en-US" dirty="0"/>
              <a:t>Proposed method</a:t>
            </a:r>
          </a:p>
          <a:p>
            <a:pPr lvl="1"/>
            <a:r>
              <a:rPr lang="en-US" dirty="0"/>
              <a:t>Fix the cache size to K</a:t>
            </a:r>
          </a:p>
          <a:p>
            <a:pPr lvl="1"/>
            <a:r>
              <a:rPr lang="en-US" dirty="0"/>
              <a:t>Generate tokens </a:t>
            </a:r>
            <a:r>
              <a:rPr lang="en-US" dirty="0" err="1"/>
              <a:t>i</a:t>
            </a:r>
            <a:r>
              <a:rPr lang="en-US" dirty="0"/>
              <a:t>=1, …, …</a:t>
            </a:r>
          </a:p>
          <a:p>
            <a:pPr lvl="2"/>
            <a:r>
              <a:rPr lang="en-US" dirty="0"/>
              <a:t>Keep the first 4 tokens and the most recent K-4</a:t>
            </a:r>
          </a:p>
          <a:p>
            <a:pPr lvl="2"/>
            <a:endParaRPr lang="en-US" dirty="0"/>
          </a:p>
        </p:txBody>
      </p:sp>
      <p:pic>
        <p:nvPicPr>
          <p:cNvPr id="3" name="Picture 2">
            <a:extLst>
              <a:ext uri="{FF2B5EF4-FFF2-40B4-BE49-F238E27FC236}">
                <a16:creationId xmlns:a16="http://schemas.microsoft.com/office/drawing/2014/main" id="{3D9238CB-953E-42E8-B76F-E6FFF30D9642}"/>
              </a:ext>
            </a:extLst>
          </p:cNvPr>
          <p:cNvPicPr>
            <a:picLocks noChangeAspect="1"/>
          </p:cNvPicPr>
          <p:nvPr/>
        </p:nvPicPr>
        <p:blipFill>
          <a:blip r:embed="rId2"/>
          <a:stretch>
            <a:fillRect/>
          </a:stretch>
        </p:blipFill>
        <p:spPr>
          <a:xfrm>
            <a:off x="457199" y="3429000"/>
            <a:ext cx="5486862" cy="3287968"/>
          </a:xfrm>
          <a:prstGeom prst="rect">
            <a:avLst/>
          </a:prstGeom>
        </p:spPr>
      </p:pic>
      <p:sp>
        <p:nvSpPr>
          <p:cNvPr id="6" name="TextBox 5">
            <a:extLst>
              <a:ext uri="{FF2B5EF4-FFF2-40B4-BE49-F238E27FC236}">
                <a16:creationId xmlns:a16="http://schemas.microsoft.com/office/drawing/2014/main" id="{5001F41C-6085-2B9A-3A71-9922821835E4}"/>
              </a:ext>
            </a:extLst>
          </p:cNvPr>
          <p:cNvSpPr txBox="1"/>
          <p:nvPr/>
        </p:nvSpPr>
        <p:spPr>
          <a:xfrm>
            <a:off x="6384471" y="3853543"/>
            <a:ext cx="2302329" cy="1754326"/>
          </a:xfrm>
          <a:prstGeom prst="rect">
            <a:avLst/>
          </a:prstGeom>
          <a:noFill/>
        </p:spPr>
        <p:txBody>
          <a:bodyPr wrap="square" rtlCol="0">
            <a:spAutoFit/>
          </a:bodyPr>
          <a:lstStyle/>
          <a:p>
            <a:r>
              <a:rPr lang="en-US" dirty="0">
                <a:solidFill>
                  <a:srgbClr val="FF0000"/>
                </a:solidFill>
              </a:rPr>
              <a:t>red</a:t>
            </a:r>
            <a:r>
              <a:rPr lang="en-US" dirty="0"/>
              <a:t>: stream LLM</a:t>
            </a:r>
          </a:p>
          <a:p>
            <a:endParaRPr lang="en-US" dirty="0"/>
          </a:p>
          <a:p>
            <a:r>
              <a:rPr lang="en-US" dirty="0">
                <a:solidFill>
                  <a:schemeClr val="accent6">
                    <a:lumMod val="75000"/>
                  </a:schemeClr>
                </a:solidFill>
              </a:rPr>
              <a:t>orange</a:t>
            </a:r>
            <a:r>
              <a:rPr lang="en-US" dirty="0"/>
              <a:t>: sliding window attention</a:t>
            </a:r>
          </a:p>
          <a:p>
            <a:endParaRPr lang="en-US" dirty="0"/>
          </a:p>
          <a:p>
            <a:r>
              <a:rPr lang="en-US" dirty="0">
                <a:solidFill>
                  <a:srgbClr val="0070C0"/>
                </a:solidFill>
              </a:rPr>
              <a:t>blue</a:t>
            </a:r>
            <a:r>
              <a:rPr lang="en-US" dirty="0"/>
              <a:t>: dense attention</a:t>
            </a:r>
          </a:p>
        </p:txBody>
      </p:sp>
    </p:spTree>
    <p:extLst>
      <p:ext uri="{BB962C8B-B14F-4D97-AF65-F5344CB8AC3E}">
        <p14:creationId xmlns:p14="http://schemas.microsoft.com/office/powerpoint/2010/main" val="41233564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783516-0AD7-4DBD-CADF-1BE9AC3D04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1749A4-A274-BCC5-DE5D-F4B5E24EEC6D}"/>
              </a:ext>
            </a:extLst>
          </p:cNvPr>
          <p:cNvSpPr>
            <a:spLocks noGrp="1"/>
          </p:cNvSpPr>
          <p:nvPr>
            <p:ph type="title"/>
          </p:nvPr>
        </p:nvSpPr>
        <p:spPr/>
        <p:txBody>
          <a:bodyPr/>
          <a:lstStyle/>
          <a:p>
            <a:r>
              <a:rPr lang="en-US" dirty="0" err="1"/>
              <a:t>StreamingLLM</a:t>
            </a:r>
            <a:r>
              <a:rPr lang="en-US" dirty="0"/>
              <a:t> and H2O</a:t>
            </a:r>
          </a:p>
        </p:txBody>
      </p:sp>
      <p:sp>
        <p:nvSpPr>
          <p:cNvPr id="5" name="Text Placeholder 4">
            <a:extLst>
              <a:ext uri="{FF2B5EF4-FFF2-40B4-BE49-F238E27FC236}">
                <a16:creationId xmlns:a16="http://schemas.microsoft.com/office/drawing/2014/main" id="{C7B01157-181F-6029-412E-1F48EEF81453}"/>
              </a:ext>
            </a:extLst>
          </p:cNvPr>
          <p:cNvSpPr>
            <a:spLocks noGrp="1"/>
          </p:cNvSpPr>
          <p:nvPr>
            <p:ph type="body" sz="half" idx="1"/>
          </p:nvPr>
        </p:nvSpPr>
        <p:spPr>
          <a:xfrm>
            <a:off x="457199" y="1600200"/>
            <a:ext cx="8931729" cy="2041071"/>
          </a:xfrm>
        </p:spPr>
        <p:txBody>
          <a:bodyPr>
            <a:normAutofit lnSpcReduction="10000"/>
          </a:bodyPr>
          <a:lstStyle/>
          <a:p>
            <a:r>
              <a:rPr lang="en-US" dirty="0"/>
              <a:t>Proposed method</a:t>
            </a:r>
          </a:p>
          <a:p>
            <a:pPr lvl="1"/>
            <a:r>
              <a:rPr lang="en-US" dirty="0"/>
              <a:t>Fix the cache size to K</a:t>
            </a:r>
          </a:p>
          <a:p>
            <a:pPr lvl="1"/>
            <a:r>
              <a:rPr lang="en-US" dirty="0"/>
              <a:t>Generate tokens </a:t>
            </a:r>
            <a:r>
              <a:rPr lang="en-US" dirty="0" err="1"/>
              <a:t>i</a:t>
            </a:r>
            <a:r>
              <a:rPr lang="en-US" dirty="0"/>
              <a:t>=1, …, …</a:t>
            </a:r>
          </a:p>
          <a:p>
            <a:pPr lvl="2"/>
            <a:r>
              <a:rPr lang="en-US" dirty="0"/>
              <a:t>Keep the first 4 tokens and the most recent K-4</a:t>
            </a:r>
          </a:p>
          <a:p>
            <a:pPr lvl="2"/>
            <a:endParaRPr lang="en-US" dirty="0"/>
          </a:p>
        </p:txBody>
      </p:sp>
      <p:pic>
        <p:nvPicPr>
          <p:cNvPr id="7" name="Picture 6">
            <a:extLst>
              <a:ext uri="{FF2B5EF4-FFF2-40B4-BE49-F238E27FC236}">
                <a16:creationId xmlns:a16="http://schemas.microsoft.com/office/drawing/2014/main" id="{B9E39709-77FA-A063-10A0-822AD2D60E58}"/>
              </a:ext>
            </a:extLst>
          </p:cNvPr>
          <p:cNvPicPr>
            <a:picLocks noChangeAspect="1"/>
          </p:cNvPicPr>
          <p:nvPr/>
        </p:nvPicPr>
        <p:blipFill>
          <a:blip r:embed="rId3"/>
          <a:stretch>
            <a:fillRect/>
          </a:stretch>
        </p:blipFill>
        <p:spPr>
          <a:xfrm>
            <a:off x="1387927" y="3641271"/>
            <a:ext cx="6289913" cy="3087128"/>
          </a:xfrm>
          <a:prstGeom prst="rect">
            <a:avLst/>
          </a:prstGeom>
        </p:spPr>
      </p:pic>
    </p:spTree>
    <p:extLst>
      <p:ext uri="{BB962C8B-B14F-4D97-AF65-F5344CB8AC3E}">
        <p14:creationId xmlns:p14="http://schemas.microsoft.com/office/powerpoint/2010/main" val="16962773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FE24CC-D2DA-BB45-0D00-B71393A36C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AFC480-2941-0CA5-810D-3C23358548FF}"/>
              </a:ext>
            </a:extLst>
          </p:cNvPr>
          <p:cNvSpPr>
            <a:spLocks noGrp="1"/>
          </p:cNvSpPr>
          <p:nvPr>
            <p:ph type="title"/>
          </p:nvPr>
        </p:nvSpPr>
        <p:spPr/>
        <p:txBody>
          <a:bodyPr>
            <a:noAutofit/>
          </a:bodyPr>
          <a:lstStyle/>
          <a:p>
            <a:r>
              <a:rPr lang="en-US" sz="3200" dirty="0"/>
              <a:t>Backup: KV caching and model compression</a:t>
            </a:r>
          </a:p>
        </p:txBody>
      </p:sp>
      <p:sp>
        <p:nvSpPr>
          <p:cNvPr id="3" name="Content Placeholder 2">
            <a:extLst>
              <a:ext uri="{FF2B5EF4-FFF2-40B4-BE49-F238E27FC236}">
                <a16:creationId xmlns:a16="http://schemas.microsoft.com/office/drawing/2014/main" id="{947D1F76-B54B-30E0-FDED-47FDAF6F8F0C}"/>
              </a:ext>
            </a:extLst>
          </p:cNvPr>
          <p:cNvSpPr>
            <a:spLocks noGrp="1"/>
          </p:cNvSpPr>
          <p:nvPr>
            <p:ph idx="1"/>
          </p:nvPr>
        </p:nvSpPr>
        <p:spPr/>
        <p:txBody>
          <a:bodyPr>
            <a:normAutofit fontScale="70000" lnSpcReduction="20000"/>
          </a:bodyPr>
          <a:lstStyle/>
          <a:p>
            <a:r>
              <a:rPr lang="en-US" dirty="0"/>
              <a:t>Compressing models</a:t>
            </a:r>
          </a:p>
          <a:p>
            <a:pPr lvl="1"/>
            <a:r>
              <a:rPr lang="en-US" dirty="0"/>
              <a:t>Distillation</a:t>
            </a:r>
          </a:p>
          <a:p>
            <a:pPr lvl="1"/>
            <a:r>
              <a:rPr lang="en-US" dirty="0"/>
              <a:t>Quantization</a:t>
            </a:r>
          </a:p>
          <a:p>
            <a:pPr lvl="1"/>
            <a:r>
              <a:rPr lang="en-US" dirty="0"/>
              <a:t>Pruning</a:t>
            </a:r>
          </a:p>
          <a:p>
            <a:pPr lvl="2"/>
            <a:r>
              <a:rPr lang="en-US" dirty="0"/>
              <a:t>Unstructured</a:t>
            </a:r>
          </a:p>
          <a:p>
            <a:pPr lvl="2"/>
            <a:r>
              <a:rPr lang="en-US" dirty="0"/>
              <a:t>Semi-Structured (e.g. 2:4 Pruning)</a:t>
            </a:r>
          </a:p>
          <a:p>
            <a:pPr lvl="2"/>
            <a:r>
              <a:rPr lang="en-US" dirty="0"/>
              <a:t>Structured</a:t>
            </a:r>
          </a:p>
          <a:p>
            <a:r>
              <a:rPr lang="en-US" dirty="0"/>
              <a:t>Key-value caching</a:t>
            </a:r>
          </a:p>
          <a:p>
            <a:pPr lvl="1"/>
            <a:r>
              <a:rPr lang="en-US" dirty="0"/>
              <a:t>Motivation  and importance</a:t>
            </a:r>
          </a:p>
          <a:p>
            <a:pPr lvl="1"/>
            <a:r>
              <a:rPr lang="en-US" dirty="0"/>
              <a:t>Origin story</a:t>
            </a:r>
          </a:p>
          <a:p>
            <a:pPr lvl="2"/>
            <a:r>
              <a:rPr lang="en-US" dirty="0"/>
              <a:t>Long-context Transformers</a:t>
            </a:r>
          </a:p>
          <a:p>
            <a:pPr lvl="1"/>
            <a:r>
              <a:rPr lang="en-US" dirty="0"/>
              <a:t>Techniques</a:t>
            </a:r>
          </a:p>
          <a:p>
            <a:pPr lvl="2"/>
            <a:r>
              <a:rPr lang="en-US" dirty="0"/>
              <a:t>Heavy hitters – H2O</a:t>
            </a:r>
          </a:p>
          <a:p>
            <a:pPr lvl="2"/>
            <a:r>
              <a:rPr lang="en-US" dirty="0"/>
              <a:t>Attention sinks – </a:t>
            </a:r>
            <a:r>
              <a:rPr lang="en-US" dirty="0" err="1"/>
              <a:t>StreamingLLM</a:t>
            </a:r>
            <a:endParaRPr lang="en-US" dirty="0"/>
          </a:p>
          <a:p>
            <a:pPr lvl="2"/>
            <a:r>
              <a:rPr lang="en-US" dirty="0">
                <a:highlight>
                  <a:srgbClr val="FFFF00"/>
                </a:highlight>
              </a:rPr>
              <a:t>Predictive caching – </a:t>
            </a:r>
            <a:r>
              <a:rPr lang="en-US" dirty="0" err="1">
                <a:highlight>
                  <a:srgbClr val="FFFF00"/>
                </a:highlight>
              </a:rPr>
              <a:t>SnapKV</a:t>
            </a:r>
            <a:r>
              <a:rPr lang="en-US" dirty="0">
                <a:highlight>
                  <a:srgbClr val="FFFF00"/>
                </a:highlight>
              </a:rPr>
              <a:t>, </a:t>
            </a:r>
            <a:r>
              <a:rPr lang="en-US">
                <a:highlight>
                  <a:srgbClr val="FFFF00"/>
                </a:highlight>
              </a:rPr>
              <a:t>FastGen</a:t>
            </a:r>
            <a:endParaRPr lang="en-US" dirty="0">
              <a:highlight>
                <a:srgbClr val="FFFF00"/>
              </a:highlight>
            </a:endParaRPr>
          </a:p>
          <a:p>
            <a:pPr lvl="2"/>
            <a:endParaRPr lang="en-US" dirty="0"/>
          </a:p>
        </p:txBody>
      </p:sp>
    </p:spTree>
    <p:extLst>
      <p:ext uri="{BB962C8B-B14F-4D97-AF65-F5344CB8AC3E}">
        <p14:creationId xmlns:p14="http://schemas.microsoft.com/office/powerpoint/2010/main" val="104200312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05A6E9-CDD9-1DDD-24C8-3B6C2835D6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F9B422-339A-D7A2-CED8-2387BD1C7362}"/>
              </a:ext>
            </a:extLst>
          </p:cNvPr>
          <p:cNvSpPr>
            <a:spLocks noGrp="1"/>
          </p:cNvSpPr>
          <p:nvPr>
            <p:ph type="title"/>
          </p:nvPr>
        </p:nvSpPr>
        <p:spPr/>
        <p:txBody>
          <a:bodyPr/>
          <a:lstStyle/>
          <a:p>
            <a:r>
              <a:rPr lang="en-US" dirty="0"/>
              <a:t>Predictive KV Caching: </a:t>
            </a:r>
            <a:r>
              <a:rPr lang="en-US" dirty="0" err="1"/>
              <a:t>SnapKV</a:t>
            </a:r>
            <a:endParaRPr lang="en-US" dirty="0"/>
          </a:p>
        </p:txBody>
      </p:sp>
      <p:sp>
        <p:nvSpPr>
          <p:cNvPr id="4" name="TextBox 3">
            <a:extLst>
              <a:ext uri="{FF2B5EF4-FFF2-40B4-BE49-F238E27FC236}">
                <a16:creationId xmlns:a16="http://schemas.microsoft.com/office/drawing/2014/main" id="{12A80F59-CFC6-75FE-4944-12B29C20E027}"/>
              </a:ext>
            </a:extLst>
          </p:cNvPr>
          <p:cNvSpPr txBox="1"/>
          <p:nvPr/>
        </p:nvSpPr>
        <p:spPr>
          <a:xfrm>
            <a:off x="6482443" y="1436914"/>
            <a:ext cx="1992086" cy="369332"/>
          </a:xfrm>
          <a:prstGeom prst="rect">
            <a:avLst/>
          </a:prstGeom>
          <a:noFill/>
        </p:spPr>
        <p:txBody>
          <a:bodyPr wrap="square" rtlCol="0">
            <a:spAutoFit/>
          </a:bodyPr>
          <a:lstStyle/>
          <a:p>
            <a:r>
              <a:rPr lang="en-US" dirty="0"/>
              <a:t>2024</a:t>
            </a:r>
          </a:p>
        </p:txBody>
      </p:sp>
      <p:pic>
        <p:nvPicPr>
          <p:cNvPr id="5" name="Picture 4">
            <a:extLst>
              <a:ext uri="{FF2B5EF4-FFF2-40B4-BE49-F238E27FC236}">
                <a16:creationId xmlns:a16="http://schemas.microsoft.com/office/drawing/2014/main" id="{45491E69-ECAB-8DB6-24BF-EBEB86E09D47}"/>
              </a:ext>
            </a:extLst>
          </p:cNvPr>
          <p:cNvPicPr>
            <a:picLocks noChangeAspect="1"/>
          </p:cNvPicPr>
          <p:nvPr/>
        </p:nvPicPr>
        <p:blipFill>
          <a:blip r:embed="rId2"/>
          <a:stretch>
            <a:fillRect/>
          </a:stretch>
        </p:blipFill>
        <p:spPr>
          <a:xfrm>
            <a:off x="685800" y="1888567"/>
            <a:ext cx="7772400" cy="3080866"/>
          </a:xfrm>
          <a:prstGeom prst="rect">
            <a:avLst/>
          </a:prstGeom>
        </p:spPr>
      </p:pic>
    </p:spTree>
    <p:extLst>
      <p:ext uri="{BB962C8B-B14F-4D97-AF65-F5344CB8AC3E}">
        <p14:creationId xmlns:p14="http://schemas.microsoft.com/office/powerpoint/2010/main" val="2958025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BB9E5C-4B8F-8661-17F2-75072103CD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A0CDE9-72D1-5EEB-FA1C-9CD7C51F0883}"/>
              </a:ext>
            </a:extLst>
          </p:cNvPr>
          <p:cNvSpPr>
            <a:spLocks noGrp="1"/>
          </p:cNvSpPr>
          <p:nvPr>
            <p:ph type="title"/>
          </p:nvPr>
        </p:nvSpPr>
        <p:spPr/>
        <p:txBody>
          <a:bodyPr/>
          <a:lstStyle/>
          <a:p>
            <a:r>
              <a:rPr lang="en-US" dirty="0"/>
              <a:t>Predictive KV Caching: </a:t>
            </a:r>
            <a:r>
              <a:rPr lang="en-US" dirty="0" err="1"/>
              <a:t>SnapKV</a:t>
            </a:r>
            <a:endParaRPr lang="en-US" dirty="0"/>
          </a:p>
        </p:txBody>
      </p:sp>
      <p:sp>
        <p:nvSpPr>
          <p:cNvPr id="3" name="Text Placeholder 4">
            <a:extLst>
              <a:ext uri="{FF2B5EF4-FFF2-40B4-BE49-F238E27FC236}">
                <a16:creationId xmlns:a16="http://schemas.microsoft.com/office/drawing/2014/main" id="{236EC150-018E-65ED-24E8-7D716B8D6661}"/>
              </a:ext>
            </a:extLst>
          </p:cNvPr>
          <p:cNvSpPr txBox="1">
            <a:spLocks/>
          </p:cNvSpPr>
          <p:nvPr/>
        </p:nvSpPr>
        <p:spPr>
          <a:xfrm>
            <a:off x="358543" y="1577897"/>
            <a:ext cx="8328257" cy="4539343"/>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2800" kern="1200">
                <a:solidFill>
                  <a:schemeClr val="tx1"/>
                </a:solidFill>
                <a:latin typeface="Calibri"/>
                <a:ea typeface="+mn-ea"/>
                <a:cs typeface="Calibri"/>
              </a:defRPr>
            </a:lvl1pPr>
            <a:lvl2pPr marL="742950" indent="-285750" algn="l" defTabSz="457200" rtl="0" eaLnBrk="1" latinLnBrk="0" hangingPunct="1">
              <a:spcBef>
                <a:spcPct val="20000"/>
              </a:spcBef>
              <a:buFont typeface="Arial"/>
              <a:buChar char="–"/>
              <a:defRPr sz="2800" kern="1200">
                <a:solidFill>
                  <a:schemeClr val="tx1"/>
                </a:solidFill>
                <a:latin typeface="Calibri"/>
                <a:ea typeface="+mn-ea"/>
                <a:cs typeface="Calibri"/>
              </a:defRPr>
            </a:lvl2pPr>
            <a:lvl3pPr marL="1143000" indent="-228600" algn="l" defTabSz="457200" rtl="0" eaLnBrk="1" latinLnBrk="0" hangingPunct="1">
              <a:spcBef>
                <a:spcPct val="20000"/>
              </a:spcBef>
              <a:buFont typeface="Arial"/>
              <a:buChar char="•"/>
              <a:defRPr sz="2800" kern="1200">
                <a:solidFill>
                  <a:schemeClr val="tx1"/>
                </a:solidFill>
                <a:latin typeface="Calibri"/>
                <a:ea typeface="+mn-ea"/>
                <a:cs typeface="Calibri"/>
              </a:defRPr>
            </a:lvl3pPr>
            <a:lvl4pPr marL="1600200" indent="-228600" algn="l" defTabSz="457200" rtl="0" eaLnBrk="1" latinLnBrk="0" hangingPunct="1">
              <a:spcBef>
                <a:spcPct val="20000"/>
              </a:spcBef>
              <a:buFont typeface="Arial"/>
              <a:buChar char="–"/>
              <a:defRPr sz="2400" kern="1200">
                <a:solidFill>
                  <a:schemeClr val="tx1"/>
                </a:solidFill>
                <a:latin typeface="Calibri"/>
                <a:ea typeface="+mn-ea"/>
                <a:cs typeface="Calibri"/>
              </a:defRPr>
            </a:lvl4pPr>
            <a:lvl5pPr marL="2057400" indent="-228600" algn="l" defTabSz="457200" rtl="0" eaLnBrk="1" latinLnBrk="0" hangingPunct="1">
              <a:spcBef>
                <a:spcPct val="20000"/>
              </a:spcBef>
              <a:buFont typeface="Arial"/>
              <a:buChar char="»"/>
              <a:defRPr sz="2000" kern="1200">
                <a:solidFill>
                  <a:schemeClr val="tx1"/>
                </a:solidFill>
                <a:latin typeface="Calibri"/>
                <a:ea typeface="+mn-ea"/>
                <a:cs typeface="Calibri"/>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a:t>Data: </a:t>
            </a:r>
            <a:r>
              <a:rPr lang="en-US" dirty="0" err="1"/>
              <a:t>UltraChat</a:t>
            </a:r>
            <a:endParaRPr lang="en-US" dirty="0"/>
          </a:p>
          <a:p>
            <a:pPr lvl="1"/>
            <a:r>
              <a:rPr lang="en-US" dirty="0"/>
              <a:t>1.4M sequences, selected dialog turns with prompt &gt; 3k tokens, and response &gt; 512 tokens</a:t>
            </a:r>
          </a:p>
          <a:p>
            <a:r>
              <a:rPr lang="en-US" dirty="0"/>
              <a:t>New observation</a:t>
            </a:r>
          </a:p>
          <a:p>
            <a:pPr lvl="1"/>
            <a:r>
              <a:rPr lang="en-US" dirty="0"/>
              <a:t>The attention pattern for prompt tokens is </a:t>
            </a:r>
            <a:r>
              <a:rPr lang="en-US" b="1" dirty="0"/>
              <a:t>consistent</a:t>
            </a:r>
            <a:r>
              <a:rPr lang="en-US" dirty="0"/>
              <a:t> throughout </a:t>
            </a:r>
            <a:r>
              <a:rPr lang="en-US" b="1" dirty="0"/>
              <a:t>decoding</a:t>
            </a:r>
          </a:p>
          <a:p>
            <a:pPr lvl="1"/>
            <a:r>
              <a:rPr lang="en-US" dirty="0"/>
              <a:t>The attention pattern for prompt tokens is predictable from LLM behavior </a:t>
            </a:r>
            <a:r>
              <a:rPr lang="en-US" b="1" dirty="0"/>
              <a:t>before </a:t>
            </a:r>
            <a:r>
              <a:rPr lang="en-US" dirty="0"/>
              <a:t>decoding starts</a:t>
            </a:r>
          </a:p>
          <a:p>
            <a:pPr lvl="1"/>
            <a:endParaRPr lang="en-US" dirty="0"/>
          </a:p>
          <a:p>
            <a:endParaRPr lang="en-US" dirty="0"/>
          </a:p>
        </p:txBody>
      </p:sp>
    </p:spTree>
    <p:extLst>
      <p:ext uri="{BB962C8B-B14F-4D97-AF65-F5344CB8AC3E}">
        <p14:creationId xmlns:p14="http://schemas.microsoft.com/office/powerpoint/2010/main" val="416420365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E73091-F3FE-750C-22EE-2B037EF0B0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7BB161-ACEC-781C-7F9B-C1EC0270DE4C}"/>
              </a:ext>
            </a:extLst>
          </p:cNvPr>
          <p:cNvSpPr>
            <a:spLocks noGrp="1"/>
          </p:cNvSpPr>
          <p:nvPr>
            <p:ph type="title"/>
          </p:nvPr>
        </p:nvSpPr>
        <p:spPr/>
        <p:txBody>
          <a:bodyPr/>
          <a:lstStyle/>
          <a:p>
            <a:r>
              <a:rPr lang="en-US" dirty="0"/>
              <a:t>Predictive KV Caching: </a:t>
            </a:r>
            <a:r>
              <a:rPr lang="en-US" dirty="0" err="1"/>
              <a:t>SnapKV</a:t>
            </a:r>
            <a:endParaRPr lang="en-US" dirty="0"/>
          </a:p>
        </p:txBody>
      </p:sp>
      <p:sp>
        <p:nvSpPr>
          <p:cNvPr id="3" name="Text Placeholder 4">
            <a:extLst>
              <a:ext uri="{FF2B5EF4-FFF2-40B4-BE49-F238E27FC236}">
                <a16:creationId xmlns:a16="http://schemas.microsoft.com/office/drawing/2014/main" id="{B057B1CC-8B84-DF94-E912-F0632766832C}"/>
              </a:ext>
            </a:extLst>
          </p:cNvPr>
          <p:cNvSpPr txBox="1">
            <a:spLocks/>
          </p:cNvSpPr>
          <p:nvPr/>
        </p:nvSpPr>
        <p:spPr>
          <a:xfrm>
            <a:off x="358544" y="1577898"/>
            <a:ext cx="3611290" cy="5005464"/>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2800" kern="1200">
                <a:solidFill>
                  <a:schemeClr val="tx1"/>
                </a:solidFill>
                <a:latin typeface="Calibri"/>
                <a:ea typeface="+mn-ea"/>
                <a:cs typeface="Calibri"/>
              </a:defRPr>
            </a:lvl1pPr>
            <a:lvl2pPr marL="742950" indent="-285750" algn="l" defTabSz="457200" rtl="0" eaLnBrk="1" latinLnBrk="0" hangingPunct="1">
              <a:spcBef>
                <a:spcPct val="20000"/>
              </a:spcBef>
              <a:buFont typeface="Arial"/>
              <a:buChar char="–"/>
              <a:defRPr sz="2800" kern="1200">
                <a:solidFill>
                  <a:schemeClr val="tx1"/>
                </a:solidFill>
                <a:latin typeface="Calibri"/>
                <a:ea typeface="+mn-ea"/>
                <a:cs typeface="Calibri"/>
              </a:defRPr>
            </a:lvl2pPr>
            <a:lvl3pPr marL="1143000" indent="-228600" algn="l" defTabSz="457200" rtl="0" eaLnBrk="1" latinLnBrk="0" hangingPunct="1">
              <a:spcBef>
                <a:spcPct val="20000"/>
              </a:spcBef>
              <a:buFont typeface="Arial"/>
              <a:buChar char="•"/>
              <a:defRPr sz="2800" kern="1200">
                <a:solidFill>
                  <a:schemeClr val="tx1"/>
                </a:solidFill>
                <a:latin typeface="Calibri"/>
                <a:ea typeface="+mn-ea"/>
                <a:cs typeface="Calibri"/>
              </a:defRPr>
            </a:lvl3pPr>
            <a:lvl4pPr marL="1600200" indent="-228600" algn="l" defTabSz="457200" rtl="0" eaLnBrk="1" latinLnBrk="0" hangingPunct="1">
              <a:spcBef>
                <a:spcPct val="20000"/>
              </a:spcBef>
              <a:buFont typeface="Arial"/>
              <a:buChar char="–"/>
              <a:defRPr sz="2400" kern="1200">
                <a:solidFill>
                  <a:schemeClr val="tx1"/>
                </a:solidFill>
                <a:latin typeface="Calibri"/>
                <a:ea typeface="+mn-ea"/>
                <a:cs typeface="Calibri"/>
              </a:defRPr>
            </a:lvl4pPr>
            <a:lvl5pPr marL="2057400" indent="-228600" algn="l" defTabSz="457200" rtl="0" eaLnBrk="1" latinLnBrk="0" hangingPunct="1">
              <a:spcBef>
                <a:spcPct val="20000"/>
              </a:spcBef>
              <a:buFont typeface="Arial"/>
              <a:buChar char="»"/>
              <a:defRPr sz="2000" kern="1200">
                <a:solidFill>
                  <a:schemeClr val="tx1"/>
                </a:solidFill>
                <a:latin typeface="Calibri"/>
                <a:ea typeface="+mn-ea"/>
                <a:cs typeface="Calibri"/>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a:t>Example: Attn </a:t>
            </a:r>
            <a:r>
              <a:rPr lang="en-US" b="1" dirty="0"/>
              <a:t>overlap</a:t>
            </a:r>
            <a:r>
              <a:rPr lang="en-US" dirty="0"/>
              <a:t> between </a:t>
            </a:r>
            <a:r>
              <a:rPr lang="en-US" b="1" dirty="0"/>
              <a:t>decoding</a:t>
            </a:r>
            <a:r>
              <a:rPr lang="en-US" dirty="0"/>
              <a:t> and 128-tokens windows from the prompt</a:t>
            </a:r>
          </a:p>
          <a:p>
            <a:r>
              <a:rPr lang="en-US" dirty="0"/>
              <a:t>Each line is a layer</a:t>
            </a:r>
          </a:p>
          <a:p>
            <a:r>
              <a:rPr lang="en-US" dirty="0"/>
              <a:t>There is high overlap with the </a:t>
            </a:r>
            <a:r>
              <a:rPr lang="en-US" b="1" dirty="0"/>
              <a:t>last </a:t>
            </a:r>
            <a:r>
              <a:rPr lang="en-US" dirty="0"/>
              <a:t>window in the prompt</a:t>
            </a:r>
          </a:p>
          <a:p>
            <a:pPr lvl="1"/>
            <a:endParaRPr lang="en-US" dirty="0"/>
          </a:p>
          <a:p>
            <a:endParaRPr lang="en-US" dirty="0"/>
          </a:p>
        </p:txBody>
      </p:sp>
      <p:pic>
        <p:nvPicPr>
          <p:cNvPr id="4" name="Picture 3">
            <a:extLst>
              <a:ext uri="{FF2B5EF4-FFF2-40B4-BE49-F238E27FC236}">
                <a16:creationId xmlns:a16="http://schemas.microsoft.com/office/drawing/2014/main" id="{D87A96D2-DA0F-9A57-0529-589DF3BBB81F}"/>
              </a:ext>
            </a:extLst>
          </p:cNvPr>
          <p:cNvPicPr>
            <a:picLocks noChangeAspect="1"/>
          </p:cNvPicPr>
          <p:nvPr/>
        </p:nvPicPr>
        <p:blipFill>
          <a:blip r:embed="rId3"/>
          <a:srcRect l="7640"/>
          <a:stretch/>
        </p:blipFill>
        <p:spPr>
          <a:xfrm>
            <a:off x="3969834" y="1867829"/>
            <a:ext cx="5174166" cy="4198435"/>
          </a:xfrm>
          <a:prstGeom prst="rect">
            <a:avLst/>
          </a:prstGeom>
        </p:spPr>
      </p:pic>
    </p:spTree>
    <p:extLst>
      <p:ext uri="{BB962C8B-B14F-4D97-AF65-F5344CB8AC3E}">
        <p14:creationId xmlns:p14="http://schemas.microsoft.com/office/powerpoint/2010/main" val="156776164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7E0733-7532-70CC-AFCE-02D0021006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FF40B1-2B9E-B3E3-3E80-B0909D206A3A}"/>
              </a:ext>
            </a:extLst>
          </p:cNvPr>
          <p:cNvSpPr>
            <a:spLocks noGrp="1"/>
          </p:cNvSpPr>
          <p:nvPr>
            <p:ph type="title"/>
          </p:nvPr>
        </p:nvSpPr>
        <p:spPr/>
        <p:txBody>
          <a:bodyPr/>
          <a:lstStyle/>
          <a:p>
            <a:r>
              <a:rPr lang="en-US" dirty="0"/>
              <a:t>Predictive KV Caching: </a:t>
            </a:r>
            <a:r>
              <a:rPr lang="en-US" dirty="0" err="1"/>
              <a:t>SnapKV</a:t>
            </a:r>
            <a:endParaRPr lang="en-US" dirty="0"/>
          </a:p>
        </p:txBody>
      </p:sp>
      <p:sp>
        <p:nvSpPr>
          <p:cNvPr id="3" name="Text Placeholder 4">
            <a:extLst>
              <a:ext uri="{FF2B5EF4-FFF2-40B4-BE49-F238E27FC236}">
                <a16:creationId xmlns:a16="http://schemas.microsoft.com/office/drawing/2014/main" id="{A1ED7587-E3AD-21FD-6B70-0E2C30CB744F}"/>
              </a:ext>
            </a:extLst>
          </p:cNvPr>
          <p:cNvSpPr txBox="1">
            <a:spLocks/>
          </p:cNvSpPr>
          <p:nvPr/>
        </p:nvSpPr>
        <p:spPr>
          <a:xfrm>
            <a:off x="358543" y="1577897"/>
            <a:ext cx="3624943" cy="4539343"/>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2800" kern="1200">
                <a:solidFill>
                  <a:schemeClr val="tx1"/>
                </a:solidFill>
                <a:latin typeface="Calibri"/>
                <a:ea typeface="+mn-ea"/>
                <a:cs typeface="Calibri"/>
              </a:defRPr>
            </a:lvl1pPr>
            <a:lvl2pPr marL="742950" indent="-285750" algn="l" defTabSz="457200" rtl="0" eaLnBrk="1" latinLnBrk="0" hangingPunct="1">
              <a:spcBef>
                <a:spcPct val="20000"/>
              </a:spcBef>
              <a:buFont typeface="Arial"/>
              <a:buChar char="–"/>
              <a:defRPr sz="2800" kern="1200">
                <a:solidFill>
                  <a:schemeClr val="tx1"/>
                </a:solidFill>
                <a:latin typeface="Calibri"/>
                <a:ea typeface="+mn-ea"/>
                <a:cs typeface="Calibri"/>
              </a:defRPr>
            </a:lvl2pPr>
            <a:lvl3pPr marL="1143000" indent="-228600" algn="l" defTabSz="457200" rtl="0" eaLnBrk="1" latinLnBrk="0" hangingPunct="1">
              <a:spcBef>
                <a:spcPct val="20000"/>
              </a:spcBef>
              <a:buFont typeface="Arial"/>
              <a:buChar char="•"/>
              <a:defRPr sz="2800" kern="1200">
                <a:solidFill>
                  <a:schemeClr val="tx1"/>
                </a:solidFill>
                <a:latin typeface="Calibri"/>
                <a:ea typeface="+mn-ea"/>
                <a:cs typeface="Calibri"/>
              </a:defRPr>
            </a:lvl3pPr>
            <a:lvl4pPr marL="1600200" indent="-228600" algn="l" defTabSz="457200" rtl="0" eaLnBrk="1" latinLnBrk="0" hangingPunct="1">
              <a:spcBef>
                <a:spcPct val="20000"/>
              </a:spcBef>
              <a:buFont typeface="Arial"/>
              <a:buChar char="–"/>
              <a:defRPr sz="2400" kern="1200">
                <a:solidFill>
                  <a:schemeClr val="tx1"/>
                </a:solidFill>
                <a:latin typeface="Calibri"/>
                <a:ea typeface="+mn-ea"/>
                <a:cs typeface="Calibri"/>
              </a:defRPr>
            </a:lvl4pPr>
            <a:lvl5pPr marL="2057400" indent="-228600" algn="l" defTabSz="457200" rtl="0" eaLnBrk="1" latinLnBrk="0" hangingPunct="1">
              <a:spcBef>
                <a:spcPct val="20000"/>
              </a:spcBef>
              <a:buFont typeface="Arial"/>
              <a:buChar char="»"/>
              <a:defRPr sz="2000" kern="1200">
                <a:solidFill>
                  <a:schemeClr val="tx1"/>
                </a:solidFill>
                <a:latin typeface="Calibri"/>
                <a:ea typeface="+mn-ea"/>
                <a:cs typeface="Calibri"/>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a:t>Example: Attn </a:t>
            </a:r>
            <a:r>
              <a:rPr lang="en-US" b="1" dirty="0"/>
              <a:t>overlap</a:t>
            </a:r>
            <a:r>
              <a:rPr lang="en-US" dirty="0"/>
              <a:t> between four 128-token windows in </a:t>
            </a:r>
            <a:r>
              <a:rPr lang="en-US" b="1" dirty="0"/>
              <a:t>decoded</a:t>
            </a:r>
            <a:r>
              <a:rPr lang="en-US" dirty="0"/>
              <a:t> response and </a:t>
            </a:r>
            <a:r>
              <a:rPr lang="en-US" b="1" dirty="0"/>
              <a:t>last </a:t>
            </a:r>
            <a:r>
              <a:rPr lang="en-US" dirty="0"/>
              <a:t>128-token</a:t>
            </a:r>
            <a:r>
              <a:rPr lang="en-US" b="1" dirty="0"/>
              <a:t> </a:t>
            </a:r>
            <a:r>
              <a:rPr lang="en-US" dirty="0"/>
              <a:t>window in prompt</a:t>
            </a:r>
          </a:p>
          <a:p>
            <a:pPr lvl="1"/>
            <a:endParaRPr lang="en-US" dirty="0"/>
          </a:p>
          <a:p>
            <a:endParaRPr lang="en-US" dirty="0"/>
          </a:p>
        </p:txBody>
      </p:sp>
      <p:pic>
        <p:nvPicPr>
          <p:cNvPr id="7" name="Picture 6">
            <a:extLst>
              <a:ext uri="{FF2B5EF4-FFF2-40B4-BE49-F238E27FC236}">
                <a16:creationId xmlns:a16="http://schemas.microsoft.com/office/drawing/2014/main" id="{C26E6EEB-1220-1053-C224-4414EEDB229C}"/>
              </a:ext>
            </a:extLst>
          </p:cNvPr>
          <p:cNvPicPr>
            <a:picLocks noChangeAspect="1"/>
          </p:cNvPicPr>
          <p:nvPr/>
        </p:nvPicPr>
        <p:blipFill>
          <a:blip r:embed="rId3"/>
          <a:stretch>
            <a:fillRect/>
          </a:stretch>
        </p:blipFill>
        <p:spPr>
          <a:xfrm>
            <a:off x="3961183" y="1308100"/>
            <a:ext cx="5182817" cy="5367040"/>
          </a:xfrm>
          <a:prstGeom prst="rect">
            <a:avLst/>
          </a:prstGeom>
        </p:spPr>
      </p:pic>
    </p:spTree>
    <p:extLst>
      <p:ext uri="{BB962C8B-B14F-4D97-AF65-F5344CB8AC3E}">
        <p14:creationId xmlns:p14="http://schemas.microsoft.com/office/powerpoint/2010/main" val="70267230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135D8B-4801-9775-4743-20573A9B0418}"/>
              </a:ext>
            </a:extLst>
          </p:cNvPr>
          <p:cNvSpPr>
            <a:spLocks noGrp="1"/>
          </p:cNvSpPr>
          <p:nvPr>
            <p:ph type="title"/>
          </p:nvPr>
        </p:nvSpPr>
        <p:spPr/>
        <p:txBody>
          <a:bodyPr/>
          <a:lstStyle/>
          <a:p>
            <a:r>
              <a:rPr lang="en-US" dirty="0" err="1"/>
              <a:t>SnapKV</a:t>
            </a:r>
            <a:r>
              <a:rPr lang="en-US" dirty="0"/>
              <a:t>: Details</a:t>
            </a:r>
          </a:p>
        </p:txBody>
      </p:sp>
      <p:sp>
        <p:nvSpPr>
          <p:cNvPr id="3" name="Content Placeholder 2">
            <a:extLst>
              <a:ext uri="{FF2B5EF4-FFF2-40B4-BE49-F238E27FC236}">
                <a16:creationId xmlns:a16="http://schemas.microsoft.com/office/drawing/2014/main" id="{7FEAD0F7-DC7B-A4C1-3F28-828A97A541EE}"/>
              </a:ext>
            </a:extLst>
          </p:cNvPr>
          <p:cNvSpPr>
            <a:spLocks noGrp="1"/>
          </p:cNvSpPr>
          <p:nvPr>
            <p:ph idx="1"/>
          </p:nvPr>
        </p:nvSpPr>
        <p:spPr/>
        <p:txBody>
          <a:bodyPr>
            <a:normAutofit fontScale="85000" lnSpcReduction="10000"/>
          </a:bodyPr>
          <a:lstStyle/>
          <a:p>
            <a:r>
              <a:rPr lang="en-US" b="1" dirty="0"/>
              <a:t>Observation window</a:t>
            </a:r>
            <a:r>
              <a:rPr lang="en-US" dirty="0"/>
              <a:t>: the n-</a:t>
            </a:r>
            <a:r>
              <a:rPr lang="en-US" dirty="0" err="1"/>
              <a:t>th</a:t>
            </a:r>
            <a:r>
              <a:rPr lang="en-US" dirty="0"/>
              <a:t> window in the prompt</a:t>
            </a:r>
          </a:p>
          <a:p>
            <a:r>
              <a:rPr lang="en-US" b="1" dirty="0"/>
              <a:t>Prefix</a:t>
            </a:r>
            <a:r>
              <a:rPr lang="en-US" dirty="0"/>
              <a:t>: first n-1 windows in the prompt</a:t>
            </a:r>
          </a:p>
          <a:p>
            <a:r>
              <a:rPr lang="en-US" b="1" dirty="0" err="1"/>
              <a:t>SumAttn</a:t>
            </a:r>
            <a:r>
              <a:rPr lang="en-US" dirty="0"/>
              <a:t>[head h, prefix position j]: attention weights </a:t>
            </a:r>
          </a:p>
          <a:p>
            <a:pPr lvl="1"/>
            <a:r>
              <a:rPr lang="en-US" dirty="0"/>
              <a:t>for head </a:t>
            </a:r>
            <a:r>
              <a:rPr lang="en-US" i="1" dirty="0"/>
              <a:t>h </a:t>
            </a:r>
            <a:r>
              <a:rPr lang="en-US" dirty="0"/>
              <a:t>to</a:t>
            </a:r>
            <a:r>
              <a:rPr lang="en-US" i="1" dirty="0"/>
              <a:t> </a:t>
            </a:r>
            <a:r>
              <a:rPr lang="en-US" dirty="0"/>
              <a:t>position </a:t>
            </a:r>
            <a:r>
              <a:rPr lang="en-US" i="1" dirty="0"/>
              <a:t>j </a:t>
            </a:r>
          </a:p>
          <a:p>
            <a:pPr lvl="1"/>
            <a:r>
              <a:rPr lang="en-US" b="1" dirty="0"/>
              <a:t>summed</a:t>
            </a:r>
            <a:r>
              <a:rPr lang="en-US" b="1" i="1" dirty="0"/>
              <a:t> </a:t>
            </a:r>
            <a:r>
              <a:rPr lang="en-US" dirty="0"/>
              <a:t>over all positions in </a:t>
            </a:r>
            <a:r>
              <a:rPr lang="en-US" b="1" dirty="0"/>
              <a:t>observation window</a:t>
            </a:r>
          </a:p>
          <a:p>
            <a:pPr lvl="2"/>
            <a:r>
              <a:rPr lang="en-US" b="1" dirty="0"/>
              <a:t>(</a:t>
            </a:r>
            <a:r>
              <a:rPr lang="en-US" b="1" dirty="0" err="1"/>
              <a:t>W</a:t>
            </a:r>
            <a:r>
              <a:rPr lang="en-US" baseline="-25000" dirty="0" err="1"/>
              <a:t>obs</a:t>
            </a:r>
            <a:r>
              <a:rPr lang="en-US" dirty="0"/>
              <a:t> in paper)</a:t>
            </a:r>
          </a:p>
          <a:p>
            <a:r>
              <a:rPr lang="en-US" b="1" i="1" dirty="0"/>
              <a:t>p: </a:t>
            </a:r>
            <a:r>
              <a:rPr lang="en-US" dirty="0"/>
              <a:t>compression ratio, (e.g., 0.9)</a:t>
            </a:r>
          </a:p>
          <a:p>
            <a:r>
              <a:rPr lang="en-US" b="1" dirty="0"/>
              <a:t>Caching strategy: </a:t>
            </a:r>
            <a:r>
              <a:rPr lang="en-US" dirty="0"/>
              <a:t>evict the KV cache entries for the bottom p*|Prefix| positions (for each head)</a:t>
            </a:r>
          </a:p>
          <a:p>
            <a:pPr lvl="1"/>
            <a:r>
              <a:rPr lang="en-US" b="1" dirty="0"/>
              <a:t>Refinement: </a:t>
            </a:r>
            <a:r>
              <a:rPr lang="en-US" dirty="0"/>
              <a:t>also</a:t>
            </a:r>
            <a:r>
              <a:rPr lang="en-US" b="1" dirty="0"/>
              <a:t> </a:t>
            </a:r>
            <a:r>
              <a:rPr lang="en-US" dirty="0"/>
              <a:t>keep positions </a:t>
            </a:r>
            <a:r>
              <a:rPr lang="en-US" b="1" dirty="0"/>
              <a:t>near</a:t>
            </a:r>
            <a:r>
              <a:rPr lang="en-US" dirty="0"/>
              <a:t> a top (1-</a:t>
            </a:r>
            <a:r>
              <a:rPr lang="en-US" i="1" dirty="0"/>
              <a:t>p) </a:t>
            </a:r>
            <a:r>
              <a:rPr lang="en-US" dirty="0"/>
              <a:t>position (i.e., max-pool </a:t>
            </a:r>
            <a:r>
              <a:rPr lang="en-US" dirty="0" err="1"/>
              <a:t>SumAttn</a:t>
            </a:r>
            <a:r>
              <a:rPr lang="en-US" dirty="0"/>
              <a:t> locally)</a:t>
            </a:r>
            <a:endParaRPr lang="en-US" b="1" dirty="0"/>
          </a:p>
        </p:txBody>
      </p:sp>
    </p:spTree>
    <p:extLst>
      <p:ext uri="{BB962C8B-B14F-4D97-AF65-F5344CB8AC3E}">
        <p14:creationId xmlns:p14="http://schemas.microsoft.com/office/powerpoint/2010/main" val="67730983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6E92D4-2C39-7E1B-A4F2-AAAF18EBFA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5BBC0D-D7C1-36B7-E9BB-5DC472B49632}"/>
              </a:ext>
            </a:extLst>
          </p:cNvPr>
          <p:cNvSpPr>
            <a:spLocks noGrp="1"/>
          </p:cNvSpPr>
          <p:nvPr>
            <p:ph type="title"/>
          </p:nvPr>
        </p:nvSpPr>
        <p:spPr/>
        <p:txBody>
          <a:bodyPr/>
          <a:lstStyle/>
          <a:p>
            <a:r>
              <a:rPr lang="en-US" dirty="0" err="1"/>
              <a:t>SnapKV</a:t>
            </a:r>
            <a:r>
              <a:rPr lang="en-US" dirty="0"/>
              <a:t>: Experiment</a:t>
            </a:r>
          </a:p>
        </p:txBody>
      </p:sp>
      <p:sp>
        <p:nvSpPr>
          <p:cNvPr id="3" name="Content Placeholder 2">
            <a:extLst>
              <a:ext uri="{FF2B5EF4-FFF2-40B4-BE49-F238E27FC236}">
                <a16:creationId xmlns:a16="http://schemas.microsoft.com/office/drawing/2014/main" id="{3594C268-DC1B-E1EE-214E-EB43D7C03C70}"/>
              </a:ext>
            </a:extLst>
          </p:cNvPr>
          <p:cNvSpPr>
            <a:spLocks noGrp="1"/>
          </p:cNvSpPr>
          <p:nvPr>
            <p:ph idx="1"/>
          </p:nvPr>
        </p:nvSpPr>
        <p:spPr/>
        <p:txBody>
          <a:bodyPr>
            <a:normAutofit/>
          </a:bodyPr>
          <a:lstStyle/>
          <a:p>
            <a:r>
              <a:rPr lang="en-US" dirty="0"/>
              <a:t>“Needle-in-a-haystack” problem:</a:t>
            </a:r>
          </a:p>
          <a:p>
            <a:pPr lvl="1"/>
            <a:r>
              <a:rPr lang="en-US" dirty="0"/>
              <a:t>a long document with a sentence inserted randomly in the middle (e.g., recommend a coffeehouse in Pittsburgh in the middle of the Lord of the Rings)</a:t>
            </a:r>
          </a:p>
          <a:p>
            <a:pPr lvl="1"/>
            <a:r>
              <a:rPr lang="en-US" dirty="0"/>
              <a:t>a question answerable by the inserted sentence</a:t>
            </a:r>
          </a:p>
        </p:txBody>
      </p:sp>
    </p:spTree>
    <p:extLst>
      <p:ext uri="{BB962C8B-B14F-4D97-AF65-F5344CB8AC3E}">
        <p14:creationId xmlns:p14="http://schemas.microsoft.com/office/powerpoint/2010/main" val="380568043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ED01D7C7-6E9E-1E50-0C51-B09FD5C254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036638"/>
            <a:ext cx="9144000" cy="4784725"/>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4A0D8DEE-A857-7E11-3BF3-F033BC3C7553}"/>
              </a:ext>
            </a:extLst>
          </p:cNvPr>
          <p:cNvSpPr>
            <a:spLocks noGrp="1"/>
          </p:cNvSpPr>
          <p:nvPr>
            <p:ph type="title"/>
          </p:nvPr>
        </p:nvSpPr>
        <p:spPr/>
        <p:txBody>
          <a:bodyPr/>
          <a:lstStyle/>
          <a:p>
            <a:r>
              <a:rPr lang="en-US" dirty="0"/>
              <a:t>Needle in a Haystack: Background</a:t>
            </a:r>
          </a:p>
        </p:txBody>
      </p:sp>
      <p:sp>
        <p:nvSpPr>
          <p:cNvPr id="3" name="TextBox 2">
            <a:extLst>
              <a:ext uri="{FF2B5EF4-FFF2-40B4-BE49-F238E27FC236}">
                <a16:creationId xmlns:a16="http://schemas.microsoft.com/office/drawing/2014/main" id="{8473A904-1ABA-0E49-ACD4-AE8DDB90928C}"/>
              </a:ext>
            </a:extLst>
          </p:cNvPr>
          <p:cNvSpPr txBox="1"/>
          <p:nvPr/>
        </p:nvSpPr>
        <p:spPr>
          <a:xfrm>
            <a:off x="195943" y="6025243"/>
            <a:ext cx="8735786" cy="553998"/>
          </a:xfrm>
          <a:prstGeom prst="rect">
            <a:avLst/>
          </a:prstGeom>
          <a:noFill/>
        </p:spPr>
        <p:txBody>
          <a:bodyPr wrap="square" rtlCol="0">
            <a:spAutoFit/>
          </a:bodyPr>
          <a:lstStyle/>
          <a:p>
            <a:r>
              <a:rPr lang="en-US" sz="1200" dirty="0">
                <a:hlinkClick r:id="rId4"/>
              </a:rPr>
              <a:t>Source: https://arize.com/blog-course/the-needle-in-a-haystack-test-evaluating-the-performance-of-llm-rag-systems/</a:t>
            </a:r>
            <a:r>
              <a:rPr lang="en-US" sz="1200" dirty="0"/>
              <a:t> </a:t>
            </a:r>
          </a:p>
          <a:p>
            <a:endParaRPr lang="en-US" dirty="0"/>
          </a:p>
        </p:txBody>
      </p:sp>
    </p:spTree>
    <p:extLst>
      <p:ext uri="{BB962C8B-B14F-4D97-AF65-F5344CB8AC3E}">
        <p14:creationId xmlns:p14="http://schemas.microsoft.com/office/powerpoint/2010/main" val="328717692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FACCDB-C77A-9171-A089-8885749764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4E415A-CF46-83C3-7301-7E6374A38B89}"/>
              </a:ext>
            </a:extLst>
          </p:cNvPr>
          <p:cNvSpPr>
            <a:spLocks noGrp="1"/>
          </p:cNvSpPr>
          <p:nvPr>
            <p:ph type="title"/>
          </p:nvPr>
        </p:nvSpPr>
        <p:spPr/>
        <p:txBody>
          <a:bodyPr>
            <a:normAutofit fontScale="90000"/>
          </a:bodyPr>
          <a:lstStyle/>
          <a:p>
            <a:r>
              <a:rPr lang="en-US" dirty="0"/>
              <a:t>Needle in a Haystack: </a:t>
            </a:r>
            <a:r>
              <a:rPr lang="en-US" dirty="0" err="1"/>
              <a:t>SnapKV</a:t>
            </a:r>
            <a:r>
              <a:rPr lang="en-US" dirty="0"/>
              <a:t> results</a:t>
            </a:r>
          </a:p>
        </p:txBody>
      </p:sp>
      <p:pic>
        <p:nvPicPr>
          <p:cNvPr id="3" name="Picture 2">
            <a:extLst>
              <a:ext uri="{FF2B5EF4-FFF2-40B4-BE49-F238E27FC236}">
                <a16:creationId xmlns:a16="http://schemas.microsoft.com/office/drawing/2014/main" id="{FAC97224-47DF-CEBE-0960-CC50B7366FCE}"/>
              </a:ext>
            </a:extLst>
          </p:cNvPr>
          <p:cNvPicPr>
            <a:picLocks noChangeAspect="1"/>
          </p:cNvPicPr>
          <p:nvPr/>
        </p:nvPicPr>
        <p:blipFill>
          <a:blip r:embed="rId3"/>
          <a:stretch>
            <a:fillRect/>
          </a:stretch>
        </p:blipFill>
        <p:spPr>
          <a:xfrm>
            <a:off x="-1" y="1181100"/>
            <a:ext cx="9091415" cy="3957828"/>
          </a:xfrm>
          <a:prstGeom prst="rect">
            <a:avLst/>
          </a:prstGeom>
        </p:spPr>
      </p:pic>
    </p:spTree>
    <p:extLst>
      <p:ext uri="{BB962C8B-B14F-4D97-AF65-F5344CB8AC3E}">
        <p14:creationId xmlns:p14="http://schemas.microsoft.com/office/powerpoint/2010/main" val="303406276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21389A-0DFF-5C88-A690-14BFB4E618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1D3762-B456-913E-1A71-BB0CE74B0589}"/>
              </a:ext>
            </a:extLst>
          </p:cNvPr>
          <p:cNvSpPr>
            <a:spLocks noGrp="1"/>
          </p:cNvSpPr>
          <p:nvPr>
            <p:ph type="title"/>
          </p:nvPr>
        </p:nvSpPr>
        <p:spPr/>
        <p:txBody>
          <a:bodyPr/>
          <a:lstStyle/>
          <a:p>
            <a:r>
              <a:rPr lang="en-US" dirty="0"/>
              <a:t>Predictive KV Caching: </a:t>
            </a:r>
            <a:r>
              <a:rPr lang="en-US" dirty="0" err="1"/>
              <a:t>FastGen</a:t>
            </a:r>
            <a:endParaRPr lang="en-US" dirty="0"/>
          </a:p>
        </p:txBody>
      </p:sp>
      <p:sp>
        <p:nvSpPr>
          <p:cNvPr id="4" name="TextBox 3">
            <a:extLst>
              <a:ext uri="{FF2B5EF4-FFF2-40B4-BE49-F238E27FC236}">
                <a16:creationId xmlns:a16="http://schemas.microsoft.com/office/drawing/2014/main" id="{5E639739-2E54-B7E6-0DC4-E2175147EB5B}"/>
              </a:ext>
            </a:extLst>
          </p:cNvPr>
          <p:cNvSpPr txBox="1"/>
          <p:nvPr/>
        </p:nvSpPr>
        <p:spPr>
          <a:xfrm>
            <a:off x="6482443" y="1436914"/>
            <a:ext cx="1992086" cy="369332"/>
          </a:xfrm>
          <a:prstGeom prst="rect">
            <a:avLst/>
          </a:prstGeom>
          <a:noFill/>
        </p:spPr>
        <p:txBody>
          <a:bodyPr wrap="square" rtlCol="0">
            <a:spAutoFit/>
          </a:bodyPr>
          <a:lstStyle/>
          <a:p>
            <a:r>
              <a:rPr lang="en-US" dirty="0"/>
              <a:t>2024</a:t>
            </a:r>
          </a:p>
        </p:txBody>
      </p:sp>
      <p:pic>
        <p:nvPicPr>
          <p:cNvPr id="3" name="Picture 2">
            <a:extLst>
              <a:ext uri="{FF2B5EF4-FFF2-40B4-BE49-F238E27FC236}">
                <a16:creationId xmlns:a16="http://schemas.microsoft.com/office/drawing/2014/main" id="{5ED9C30C-EF45-AA54-D825-F7D72FC6977E}"/>
              </a:ext>
            </a:extLst>
          </p:cNvPr>
          <p:cNvPicPr>
            <a:picLocks noChangeAspect="1"/>
          </p:cNvPicPr>
          <p:nvPr/>
        </p:nvPicPr>
        <p:blipFill>
          <a:blip r:embed="rId2"/>
          <a:stretch>
            <a:fillRect/>
          </a:stretch>
        </p:blipFill>
        <p:spPr>
          <a:xfrm>
            <a:off x="0" y="1806246"/>
            <a:ext cx="8817332" cy="3799506"/>
          </a:xfrm>
          <a:prstGeom prst="rect">
            <a:avLst/>
          </a:prstGeom>
        </p:spPr>
      </p:pic>
    </p:spTree>
    <p:extLst>
      <p:ext uri="{BB962C8B-B14F-4D97-AF65-F5344CB8AC3E}">
        <p14:creationId xmlns:p14="http://schemas.microsoft.com/office/powerpoint/2010/main" val="154496227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335ED7-BE0F-F7D3-1776-D2E22C6FCE94}"/>
              </a:ext>
            </a:extLst>
          </p:cNvPr>
          <p:cNvSpPr>
            <a:spLocks noGrp="1"/>
          </p:cNvSpPr>
          <p:nvPr>
            <p:ph type="title"/>
          </p:nvPr>
        </p:nvSpPr>
        <p:spPr/>
        <p:txBody>
          <a:bodyPr/>
          <a:lstStyle/>
          <a:p>
            <a:r>
              <a:rPr lang="en-US" dirty="0"/>
              <a:t>Predictive KV Caching: </a:t>
            </a:r>
            <a:r>
              <a:rPr lang="en-US" dirty="0" err="1"/>
              <a:t>FastGen</a:t>
            </a:r>
            <a:endParaRPr lang="en-US" dirty="0"/>
          </a:p>
        </p:txBody>
      </p:sp>
      <p:sp>
        <p:nvSpPr>
          <p:cNvPr id="3" name="Content Placeholder 2">
            <a:extLst>
              <a:ext uri="{FF2B5EF4-FFF2-40B4-BE49-F238E27FC236}">
                <a16:creationId xmlns:a16="http://schemas.microsoft.com/office/drawing/2014/main" id="{AFA1D0AD-0F78-D028-D85C-93F40AD15020}"/>
              </a:ext>
            </a:extLst>
          </p:cNvPr>
          <p:cNvSpPr>
            <a:spLocks noGrp="1"/>
          </p:cNvSpPr>
          <p:nvPr>
            <p:ph idx="1"/>
          </p:nvPr>
        </p:nvSpPr>
        <p:spPr>
          <a:xfrm>
            <a:off x="279400" y="1257300"/>
            <a:ext cx="8398069" cy="4434373"/>
          </a:xfrm>
        </p:spPr>
        <p:txBody>
          <a:bodyPr>
            <a:normAutofit fontScale="62500" lnSpcReduction="20000"/>
          </a:bodyPr>
          <a:lstStyle/>
          <a:p>
            <a:r>
              <a:rPr lang="en-US" dirty="0"/>
              <a:t>Caching policies explored in past work</a:t>
            </a:r>
          </a:p>
          <a:p>
            <a:pPr lvl="1"/>
            <a:r>
              <a:rPr lang="en-US" dirty="0"/>
              <a:t>Locality (</a:t>
            </a:r>
            <a:r>
              <a:rPr lang="en-US" dirty="0" err="1"/>
              <a:t>C</a:t>
            </a:r>
            <a:r>
              <a:rPr lang="en-US" baseline="-25000" dirty="0" err="1"/>
              <a:t>local</a:t>
            </a:r>
            <a:r>
              <a:rPr lang="en-US" dirty="0"/>
              <a:t>)</a:t>
            </a:r>
          </a:p>
          <a:p>
            <a:pPr lvl="2"/>
            <a:r>
              <a:rPr lang="en-US" dirty="0" err="1"/>
              <a:t>hyperparam</a:t>
            </a:r>
            <a:r>
              <a:rPr lang="en-US" dirty="0"/>
              <a:t>: </a:t>
            </a:r>
            <a:r>
              <a:rPr lang="en-US" dirty="0" err="1"/>
              <a:t>r</a:t>
            </a:r>
            <a:r>
              <a:rPr lang="en-US" baseline="-25000" dirty="0" err="1"/>
              <a:t>local</a:t>
            </a:r>
            <a:r>
              <a:rPr lang="en-US" dirty="0"/>
              <a:t> = (#local tokens)/(cache size)</a:t>
            </a:r>
          </a:p>
          <a:p>
            <a:pPr lvl="1"/>
            <a:r>
              <a:rPr lang="en-US" dirty="0"/>
              <a:t>Heavy Hitter (</a:t>
            </a:r>
            <a:r>
              <a:rPr lang="en-US" dirty="0" err="1"/>
              <a:t>C</a:t>
            </a:r>
            <a:r>
              <a:rPr lang="en-US" baseline="-25000" dirty="0" err="1"/>
              <a:t>frequent</a:t>
            </a:r>
            <a:r>
              <a:rPr lang="en-US" dirty="0"/>
              <a:t>)</a:t>
            </a:r>
          </a:p>
          <a:p>
            <a:pPr lvl="2"/>
            <a:r>
              <a:rPr lang="en-US" dirty="0" err="1"/>
              <a:t>hyperparam</a:t>
            </a:r>
            <a:r>
              <a:rPr lang="en-US" dirty="0"/>
              <a:t>: </a:t>
            </a:r>
            <a:r>
              <a:rPr lang="en-US" dirty="0" err="1"/>
              <a:t>r</a:t>
            </a:r>
            <a:r>
              <a:rPr lang="en-US" baseline="-25000" dirty="0" err="1"/>
              <a:t>frequent</a:t>
            </a:r>
            <a:r>
              <a:rPr lang="en-US" dirty="0"/>
              <a:t> = (#HH tokens)/(cache size)</a:t>
            </a:r>
          </a:p>
          <a:p>
            <a:pPr lvl="1"/>
            <a:r>
              <a:rPr lang="en-US" dirty="0"/>
              <a:t>Special tokens (</a:t>
            </a:r>
            <a:r>
              <a:rPr lang="en-US" dirty="0" err="1"/>
              <a:t>C</a:t>
            </a:r>
            <a:r>
              <a:rPr lang="en-US" baseline="-25000" dirty="0" err="1"/>
              <a:t>special</a:t>
            </a:r>
            <a:r>
              <a:rPr lang="en-US" dirty="0"/>
              <a:t>)</a:t>
            </a:r>
          </a:p>
          <a:p>
            <a:pPr lvl="2"/>
            <a:r>
              <a:rPr lang="en-US" dirty="0"/>
              <a:t>Examples: start-of-sequence &lt;s&gt;, …</a:t>
            </a:r>
          </a:p>
          <a:p>
            <a:pPr lvl="2"/>
            <a:r>
              <a:rPr lang="en-US" dirty="0" err="1"/>
              <a:t>hyperparam</a:t>
            </a:r>
            <a:r>
              <a:rPr lang="en-US" dirty="0"/>
              <a:t>: none</a:t>
            </a:r>
          </a:p>
          <a:p>
            <a:pPr lvl="1"/>
            <a:r>
              <a:rPr lang="en-US" dirty="0"/>
              <a:t>Punctuation (</a:t>
            </a:r>
            <a:r>
              <a:rPr lang="en-US" dirty="0" err="1"/>
              <a:t>C</a:t>
            </a:r>
            <a:r>
              <a:rPr lang="en-US" baseline="-25000" dirty="0" err="1"/>
              <a:t>punct</a:t>
            </a:r>
            <a:r>
              <a:rPr lang="en-US" dirty="0"/>
              <a:t>)</a:t>
            </a:r>
          </a:p>
          <a:p>
            <a:pPr lvl="2"/>
            <a:r>
              <a:rPr lang="en-US" dirty="0"/>
              <a:t>Examples:  period (.), colon (</a:t>
            </a:r>
            <a:r>
              <a:rPr lang="en-US" dirty="0">
                <a:sym typeface="Wingdings" pitchFamily="2" charset="2"/>
              </a:rPr>
              <a:t>:), question mark (?), …</a:t>
            </a:r>
            <a:r>
              <a:rPr lang="en-US" dirty="0"/>
              <a:t> </a:t>
            </a:r>
          </a:p>
          <a:p>
            <a:pPr lvl="2"/>
            <a:r>
              <a:rPr lang="en-US" dirty="0" err="1"/>
              <a:t>hyperparam</a:t>
            </a:r>
            <a:r>
              <a:rPr lang="en-US" dirty="0"/>
              <a:t>: none</a:t>
            </a:r>
          </a:p>
          <a:p>
            <a:pPr lvl="1"/>
            <a:r>
              <a:rPr lang="en-US" dirty="0"/>
              <a:t>No eviction (</a:t>
            </a:r>
            <a:r>
              <a:rPr lang="en-US" dirty="0" err="1"/>
              <a:t>C</a:t>
            </a:r>
            <a:r>
              <a:rPr lang="en-US" baseline="-25000" dirty="0" err="1"/>
              <a:t>full</a:t>
            </a:r>
            <a:r>
              <a:rPr lang="en-US" dirty="0"/>
              <a:t>)</a:t>
            </a:r>
            <a:endParaRPr lang="en-US" baseline="-25000" dirty="0"/>
          </a:p>
          <a:p>
            <a:pPr lvl="1"/>
            <a:r>
              <a:rPr lang="en-US" dirty="0"/>
              <a:t>Hybrid strategies: e.g., </a:t>
            </a:r>
            <a:r>
              <a:rPr lang="en-US" dirty="0" err="1"/>
              <a:t>C</a:t>
            </a:r>
            <a:r>
              <a:rPr lang="en-US" baseline="-25000" dirty="0" err="1"/>
              <a:t>special</a:t>
            </a:r>
            <a:r>
              <a:rPr lang="en-US" baseline="-25000" dirty="0"/>
              <a:t> </a:t>
            </a:r>
            <a:r>
              <a:rPr lang="en-US" dirty="0"/>
              <a:t>+ </a:t>
            </a:r>
            <a:r>
              <a:rPr lang="en-US" dirty="0" err="1"/>
              <a:t>C</a:t>
            </a:r>
            <a:r>
              <a:rPr lang="en-US" baseline="-25000" dirty="0" err="1"/>
              <a:t>local</a:t>
            </a:r>
            <a:endParaRPr lang="en-US" baseline="-25000" dirty="0"/>
          </a:p>
          <a:p>
            <a:pPr lvl="2"/>
            <a:r>
              <a:rPr lang="en-US" dirty="0"/>
              <a:t>union of the two caches</a:t>
            </a:r>
          </a:p>
          <a:p>
            <a:pPr lvl="1"/>
            <a:endParaRPr lang="en-US" dirty="0"/>
          </a:p>
          <a:p>
            <a:pPr lvl="2"/>
            <a:endParaRPr lang="en-US" dirty="0"/>
          </a:p>
          <a:p>
            <a:pPr lvl="2"/>
            <a:endParaRPr lang="en-US" dirty="0"/>
          </a:p>
        </p:txBody>
      </p:sp>
      <p:sp>
        <p:nvSpPr>
          <p:cNvPr id="6" name="TextBox 5">
            <a:extLst>
              <a:ext uri="{FF2B5EF4-FFF2-40B4-BE49-F238E27FC236}">
                <a16:creationId xmlns:a16="http://schemas.microsoft.com/office/drawing/2014/main" id="{3CE98C3A-454D-1809-7CD1-41F42A569F0B}"/>
              </a:ext>
            </a:extLst>
          </p:cNvPr>
          <p:cNvSpPr txBox="1"/>
          <p:nvPr/>
        </p:nvSpPr>
        <p:spPr>
          <a:xfrm>
            <a:off x="5355771" y="2667981"/>
            <a:ext cx="3321698" cy="1200329"/>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en-US" sz="2400" dirty="0"/>
              <a:t>Prior analysis of BERT showed it often attends  to separators</a:t>
            </a:r>
          </a:p>
        </p:txBody>
      </p:sp>
      <p:sp>
        <p:nvSpPr>
          <p:cNvPr id="8" name="TextBox 7">
            <a:extLst>
              <a:ext uri="{FF2B5EF4-FFF2-40B4-BE49-F238E27FC236}">
                <a16:creationId xmlns:a16="http://schemas.microsoft.com/office/drawing/2014/main" id="{3E10831E-97C1-64D7-9BB8-3679D8AAB36E}"/>
              </a:ext>
            </a:extLst>
          </p:cNvPr>
          <p:cNvSpPr txBox="1"/>
          <p:nvPr/>
        </p:nvSpPr>
        <p:spPr>
          <a:xfrm>
            <a:off x="5606402" y="4230287"/>
            <a:ext cx="3321698" cy="1569660"/>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en-US" sz="2400" dirty="0"/>
              <a:t>Also </a:t>
            </a:r>
            <a:r>
              <a:rPr lang="en-US" sz="2400" dirty="0" err="1"/>
              <a:t>SepLLM</a:t>
            </a:r>
            <a:r>
              <a:rPr lang="en-US" sz="2400" dirty="0"/>
              <a:t> showed separators + initial tokens are useful for KV-caching </a:t>
            </a:r>
          </a:p>
        </p:txBody>
      </p:sp>
      <p:sp>
        <p:nvSpPr>
          <p:cNvPr id="4" name="Oval 3">
            <a:extLst>
              <a:ext uri="{FF2B5EF4-FFF2-40B4-BE49-F238E27FC236}">
                <a16:creationId xmlns:a16="http://schemas.microsoft.com/office/drawing/2014/main" id="{2DD90556-1FCF-A77F-3166-16F5EC7784BF}"/>
              </a:ext>
            </a:extLst>
          </p:cNvPr>
          <p:cNvSpPr/>
          <p:nvPr/>
        </p:nvSpPr>
        <p:spPr>
          <a:xfrm>
            <a:off x="871539" y="3557588"/>
            <a:ext cx="2814636" cy="310722"/>
          </a:xfrm>
          <a:prstGeom prst="ellipse">
            <a:avLst/>
          </a:prstGeom>
          <a:noFill/>
          <a:ln w="28575"/>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0562634B-9E30-FB6A-7EA4-0CC55B82207F}"/>
              </a:ext>
            </a:extLst>
          </p:cNvPr>
          <p:cNvSpPr txBox="1"/>
          <p:nvPr/>
        </p:nvSpPr>
        <p:spPr>
          <a:xfrm>
            <a:off x="5355771" y="1229853"/>
            <a:ext cx="3684587" cy="1200329"/>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en-US" sz="2400" dirty="0"/>
              <a:t>Conjecture: a separator representation summarizes a segment</a:t>
            </a:r>
          </a:p>
        </p:txBody>
      </p:sp>
    </p:spTree>
    <p:extLst>
      <p:ext uri="{BB962C8B-B14F-4D97-AF65-F5344CB8AC3E}">
        <p14:creationId xmlns:p14="http://schemas.microsoft.com/office/powerpoint/2010/main" val="14094190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4" grpId="0" animBg="1"/>
      <p:bldP spid="5"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4442DA-1585-96D7-CB46-4B3034B039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BCBF6A-275F-3671-1134-CAC6C81556BF}"/>
              </a:ext>
            </a:extLst>
          </p:cNvPr>
          <p:cNvSpPr>
            <a:spLocks noGrp="1"/>
          </p:cNvSpPr>
          <p:nvPr>
            <p:ph type="title"/>
          </p:nvPr>
        </p:nvSpPr>
        <p:spPr/>
        <p:txBody>
          <a:bodyPr/>
          <a:lstStyle/>
          <a:p>
            <a:r>
              <a:rPr lang="en-US" dirty="0"/>
              <a:t>Predictive KV Caching: </a:t>
            </a:r>
            <a:r>
              <a:rPr lang="en-US" dirty="0" err="1"/>
              <a:t>FastGen</a:t>
            </a:r>
            <a:endParaRPr lang="en-US" dirty="0"/>
          </a:p>
        </p:txBody>
      </p:sp>
      <p:sp>
        <p:nvSpPr>
          <p:cNvPr id="3" name="Content Placeholder 2">
            <a:extLst>
              <a:ext uri="{FF2B5EF4-FFF2-40B4-BE49-F238E27FC236}">
                <a16:creationId xmlns:a16="http://schemas.microsoft.com/office/drawing/2014/main" id="{957254B4-1A3C-0660-6912-137160636116}"/>
              </a:ext>
            </a:extLst>
          </p:cNvPr>
          <p:cNvSpPr>
            <a:spLocks noGrp="1"/>
          </p:cNvSpPr>
          <p:nvPr>
            <p:ph idx="1"/>
          </p:nvPr>
        </p:nvSpPr>
        <p:spPr>
          <a:xfrm>
            <a:off x="279400" y="1257300"/>
            <a:ext cx="8648700" cy="804862"/>
          </a:xfrm>
        </p:spPr>
        <p:txBody>
          <a:bodyPr>
            <a:normAutofit/>
          </a:bodyPr>
          <a:lstStyle/>
          <a:p>
            <a:pPr marL="0" indent="0">
              <a:buNone/>
            </a:pPr>
            <a:r>
              <a:rPr lang="en-US" dirty="0"/>
              <a:t>Which works best? It depends….</a:t>
            </a:r>
          </a:p>
          <a:p>
            <a:pPr lvl="1"/>
            <a:endParaRPr lang="en-US" dirty="0"/>
          </a:p>
          <a:p>
            <a:pPr lvl="2"/>
            <a:endParaRPr lang="en-US" dirty="0"/>
          </a:p>
          <a:p>
            <a:pPr lvl="2"/>
            <a:endParaRPr lang="en-US" dirty="0"/>
          </a:p>
        </p:txBody>
      </p:sp>
      <p:pic>
        <p:nvPicPr>
          <p:cNvPr id="5" name="Picture 4">
            <a:extLst>
              <a:ext uri="{FF2B5EF4-FFF2-40B4-BE49-F238E27FC236}">
                <a16:creationId xmlns:a16="http://schemas.microsoft.com/office/drawing/2014/main" id="{5B7F02B3-D90D-ECE2-33F9-3B280631CDC7}"/>
              </a:ext>
            </a:extLst>
          </p:cNvPr>
          <p:cNvPicPr>
            <a:picLocks noChangeAspect="1"/>
          </p:cNvPicPr>
          <p:nvPr/>
        </p:nvPicPr>
        <p:blipFill>
          <a:blip r:embed="rId2"/>
          <a:stretch>
            <a:fillRect/>
          </a:stretch>
        </p:blipFill>
        <p:spPr>
          <a:xfrm>
            <a:off x="212511" y="2062162"/>
            <a:ext cx="8715589" cy="3174141"/>
          </a:xfrm>
          <a:prstGeom prst="rect">
            <a:avLst/>
          </a:prstGeom>
        </p:spPr>
      </p:pic>
      <p:sp>
        <p:nvSpPr>
          <p:cNvPr id="6" name="TextBox 5">
            <a:extLst>
              <a:ext uri="{FF2B5EF4-FFF2-40B4-BE49-F238E27FC236}">
                <a16:creationId xmlns:a16="http://schemas.microsoft.com/office/drawing/2014/main" id="{FF9A7FF5-8510-3D1C-65B4-C488B9C9CA4D}"/>
              </a:ext>
            </a:extLst>
          </p:cNvPr>
          <p:cNvSpPr txBox="1"/>
          <p:nvPr/>
        </p:nvSpPr>
        <p:spPr>
          <a:xfrm>
            <a:off x="1324947" y="5505061"/>
            <a:ext cx="4217437" cy="46166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en-US" sz="2400" dirty="0"/>
              <a:t>Different heads at level 20</a:t>
            </a:r>
          </a:p>
        </p:txBody>
      </p:sp>
    </p:spTree>
    <p:extLst>
      <p:ext uri="{BB962C8B-B14F-4D97-AF65-F5344CB8AC3E}">
        <p14:creationId xmlns:p14="http://schemas.microsoft.com/office/powerpoint/2010/main" val="210182413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E4E9CE-A52A-DAA1-A415-C19D6BB698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729A78-D227-A0A7-E4C1-CB4327528D5E}"/>
              </a:ext>
            </a:extLst>
          </p:cNvPr>
          <p:cNvSpPr>
            <a:spLocks noGrp="1"/>
          </p:cNvSpPr>
          <p:nvPr>
            <p:ph type="title"/>
          </p:nvPr>
        </p:nvSpPr>
        <p:spPr/>
        <p:txBody>
          <a:bodyPr/>
          <a:lstStyle/>
          <a:p>
            <a:r>
              <a:rPr lang="en-US" dirty="0"/>
              <a:t>Predictive KV Caching: </a:t>
            </a:r>
            <a:r>
              <a:rPr lang="en-US" dirty="0" err="1"/>
              <a:t>FastGen</a:t>
            </a:r>
            <a:endParaRPr lang="en-US" dirty="0"/>
          </a:p>
        </p:txBody>
      </p:sp>
      <p:sp>
        <p:nvSpPr>
          <p:cNvPr id="3" name="Content Placeholder 2">
            <a:extLst>
              <a:ext uri="{FF2B5EF4-FFF2-40B4-BE49-F238E27FC236}">
                <a16:creationId xmlns:a16="http://schemas.microsoft.com/office/drawing/2014/main" id="{84162F23-566A-98C9-0C24-6B3A7ABD729C}"/>
              </a:ext>
            </a:extLst>
          </p:cNvPr>
          <p:cNvSpPr>
            <a:spLocks noGrp="1"/>
          </p:cNvSpPr>
          <p:nvPr>
            <p:ph idx="1"/>
          </p:nvPr>
        </p:nvSpPr>
        <p:spPr>
          <a:xfrm>
            <a:off x="279400" y="1257300"/>
            <a:ext cx="8648700" cy="804862"/>
          </a:xfrm>
        </p:spPr>
        <p:txBody>
          <a:bodyPr>
            <a:normAutofit/>
          </a:bodyPr>
          <a:lstStyle/>
          <a:p>
            <a:pPr marL="0" indent="0">
              <a:buNone/>
            </a:pPr>
            <a:r>
              <a:rPr lang="en-US" dirty="0"/>
              <a:t>Which works best? It depends….</a:t>
            </a:r>
          </a:p>
          <a:p>
            <a:pPr lvl="1"/>
            <a:endParaRPr lang="en-US" dirty="0"/>
          </a:p>
          <a:p>
            <a:pPr lvl="2"/>
            <a:endParaRPr lang="en-US" dirty="0"/>
          </a:p>
          <a:p>
            <a:pPr lvl="2"/>
            <a:endParaRPr lang="en-US" dirty="0"/>
          </a:p>
        </p:txBody>
      </p:sp>
      <p:pic>
        <p:nvPicPr>
          <p:cNvPr id="4" name="Picture 3">
            <a:extLst>
              <a:ext uri="{FF2B5EF4-FFF2-40B4-BE49-F238E27FC236}">
                <a16:creationId xmlns:a16="http://schemas.microsoft.com/office/drawing/2014/main" id="{10EE98E1-7392-F757-3742-EF5D010AD6C8}"/>
              </a:ext>
            </a:extLst>
          </p:cNvPr>
          <p:cNvPicPr>
            <a:picLocks noChangeAspect="1"/>
          </p:cNvPicPr>
          <p:nvPr/>
        </p:nvPicPr>
        <p:blipFill>
          <a:blip r:embed="rId2"/>
          <a:stretch>
            <a:fillRect/>
          </a:stretch>
        </p:blipFill>
        <p:spPr>
          <a:xfrm>
            <a:off x="279400" y="2303097"/>
            <a:ext cx="8426666" cy="3575189"/>
          </a:xfrm>
          <a:prstGeom prst="rect">
            <a:avLst/>
          </a:prstGeom>
        </p:spPr>
      </p:pic>
      <p:sp>
        <p:nvSpPr>
          <p:cNvPr id="5" name="TextBox 4">
            <a:extLst>
              <a:ext uri="{FF2B5EF4-FFF2-40B4-BE49-F238E27FC236}">
                <a16:creationId xmlns:a16="http://schemas.microsoft.com/office/drawing/2014/main" id="{20302EA9-D44E-586F-04C8-F0C2DE5E7198}"/>
              </a:ext>
            </a:extLst>
          </p:cNvPr>
          <p:cNvSpPr txBox="1"/>
          <p:nvPr/>
        </p:nvSpPr>
        <p:spPr>
          <a:xfrm>
            <a:off x="1324947" y="5878286"/>
            <a:ext cx="4217437" cy="46166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en-US" sz="2400" dirty="0"/>
              <a:t>Same head different layers</a:t>
            </a:r>
          </a:p>
        </p:txBody>
      </p:sp>
    </p:spTree>
    <p:extLst>
      <p:ext uri="{BB962C8B-B14F-4D97-AF65-F5344CB8AC3E}">
        <p14:creationId xmlns:p14="http://schemas.microsoft.com/office/powerpoint/2010/main" val="312725786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6C36F-72D8-D008-BC98-28DDFE3D302F}"/>
              </a:ext>
            </a:extLst>
          </p:cNvPr>
          <p:cNvSpPr>
            <a:spLocks noGrp="1"/>
          </p:cNvSpPr>
          <p:nvPr>
            <p:ph type="title"/>
          </p:nvPr>
        </p:nvSpPr>
        <p:spPr/>
        <p:txBody>
          <a:bodyPr/>
          <a:lstStyle/>
          <a:p>
            <a:r>
              <a:rPr lang="en-US" dirty="0"/>
              <a:t>Predictive KV Caching: </a:t>
            </a:r>
            <a:r>
              <a:rPr lang="en-US" dirty="0" err="1"/>
              <a:t>FastGen</a:t>
            </a:r>
            <a:endParaRPr lang="en-US" dirty="0"/>
          </a:p>
        </p:txBody>
      </p:sp>
      <p:sp>
        <p:nvSpPr>
          <p:cNvPr id="3" name="Content Placeholder 2">
            <a:extLst>
              <a:ext uri="{FF2B5EF4-FFF2-40B4-BE49-F238E27FC236}">
                <a16:creationId xmlns:a16="http://schemas.microsoft.com/office/drawing/2014/main" id="{7ACF8D0D-C45A-7EDF-C080-5DED327F77EA}"/>
              </a:ext>
            </a:extLst>
          </p:cNvPr>
          <p:cNvSpPr>
            <a:spLocks noGrp="1"/>
          </p:cNvSpPr>
          <p:nvPr>
            <p:ph idx="1"/>
          </p:nvPr>
        </p:nvSpPr>
        <p:spPr>
          <a:xfrm>
            <a:off x="279401" y="1257300"/>
            <a:ext cx="8286102" cy="1429916"/>
          </a:xfrm>
        </p:spPr>
        <p:txBody>
          <a:bodyPr>
            <a:normAutofit fontScale="70000" lnSpcReduction="20000"/>
          </a:bodyPr>
          <a:lstStyle/>
          <a:p>
            <a:r>
              <a:rPr lang="en-US" dirty="0"/>
              <a:t>Which caching strategy to use?</a:t>
            </a:r>
          </a:p>
          <a:p>
            <a:pPr lvl="1"/>
            <a:r>
              <a:rPr lang="en-US" dirty="0"/>
              <a:t>Pick a policy for each head/layer based on the prefilling</a:t>
            </a:r>
          </a:p>
          <a:p>
            <a:pPr lvl="1"/>
            <a:r>
              <a:rPr lang="en-US" dirty="0"/>
              <a:t>Use that policy to initialize KV cache, and in decoding</a:t>
            </a:r>
          </a:p>
        </p:txBody>
      </p:sp>
      <p:pic>
        <p:nvPicPr>
          <p:cNvPr id="4" name="Picture 3">
            <a:extLst>
              <a:ext uri="{FF2B5EF4-FFF2-40B4-BE49-F238E27FC236}">
                <a16:creationId xmlns:a16="http://schemas.microsoft.com/office/drawing/2014/main" id="{24E68820-4C64-8369-AD94-A60F9298A126}"/>
              </a:ext>
            </a:extLst>
          </p:cNvPr>
          <p:cNvPicPr>
            <a:picLocks noChangeAspect="1"/>
          </p:cNvPicPr>
          <p:nvPr/>
        </p:nvPicPr>
        <p:blipFill>
          <a:blip r:embed="rId2"/>
          <a:stretch>
            <a:fillRect/>
          </a:stretch>
        </p:blipFill>
        <p:spPr>
          <a:xfrm>
            <a:off x="279399" y="3530288"/>
            <a:ext cx="8515481" cy="3221860"/>
          </a:xfrm>
          <a:prstGeom prst="rect">
            <a:avLst/>
          </a:prstGeom>
        </p:spPr>
      </p:pic>
      <p:pic>
        <p:nvPicPr>
          <p:cNvPr id="5" name="Picture 4">
            <a:extLst>
              <a:ext uri="{FF2B5EF4-FFF2-40B4-BE49-F238E27FC236}">
                <a16:creationId xmlns:a16="http://schemas.microsoft.com/office/drawing/2014/main" id="{A06BEB2F-1793-BFE9-729B-4788AFE88129}"/>
              </a:ext>
            </a:extLst>
          </p:cNvPr>
          <p:cNvPicPr>
            <a:picLocks noChangeAspect="1"/>
          </p:cNvPicPr>
          <p:nvPr/>
        </p:nvPicPr>
        <p:blipFill>
          <a:blip r:embed="rId3"/>
          <a:stretch>
            <a:fillRect/>
          </a:stretch>
        </p:blipFill>
        <p:spPr>
          <a:xfrm>
            <a:off x="350000" y="2451928"/>
            <a:ext cx="8444880" cy="656824"/>
          </a:xfrm>
          <a:prstGeom prst="rect">
            <a:avLst/>
          </a:prstGeom>
        </p:spPr>
      </p:pic>
      <p:pic>
        <p:nvPicPr>
          <p:cNvPr id="6" name="Picture 5">
            <a:extLst>
              <a:ext uri="{FF2B5EF4-FFF2-40B4-BE49-F238E27FC236}">
                <a16:creationId xmlns:a16="http://schemas.microsoft.com/office/drawing/2014/main" id="{7DABAF2B-98F3-BD1F-8608-7CFB7E32B9EC}"/>
              </a:ext>
            </a:extLst>
          </p:cNvPr>
          <p:cNvPicPr>
            <a:picLocks noChangeAspect="1"/>
          </p:cNvPicPr>
          <p:nvPr/>
        </p:nvPicPr>
        <p:blipFill>
          <a:blip r:embed="rId4"/>
          <a:stretch>
            <a:fillRect/>
          </a:stretch>
        </p:blipFill>
        <p:spPr>
          <a:xfrm>
            <a:off x="685800" y="3108752"/>
            <a:ext cx="7772400" cy="356168"/>
          </a:xfrm>
          <a:prstGeom prst="rect">
            <a:avLst/>
          </a:prstGeom>
        </p:spPr>
      </p:pic>
    </p:spTree>
    <p:extLst>
      <p:ext uri="{BB962C8B-B14F-4D97-AF65-F5344CB8AC3E}">
        <p14:creationId xmlns:p14="http://schemas.microsoft.com/office/powerpoint/2010/main" val="338534474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99155C-D58D-8CF6-53EF-44E7E1DBE1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B2E44F-0290-DC79-65C9-24ACF0AFA303}"/>
              </a:ext>
            </a:extLst>
          </p:cNvPr>
          <p:cNvSpPr>
            <a:spLocks noGrp="1"/>
          </p:cNvSpPr>
          <p:nvPr>
            <p:ph type="title"/>
          </p:nvPr>
        </p:nvSpPr>
        <p:spPr/>
        <p:txBody>
          <a:bodyPr>
            <a:normAutofit fontScale="90000"/>
          </a:bodyPr>
          <a:lstStyle/>
          <a:p>
            <a:r>
              <a:rPr lang="en-US" dirty="0"/>
              <a:t>Predictive KV Caching: </a:t>
            </a:r>
            <a:r>
              <a:rPr lang="en-US" dirty="0" err="1"/>
              <a:t>FastGen</a:t>
            </a:r>
            <a:r>
              <a:rPr lang="en-US" dirty="0"/>
              <a:t> Results</a:t>
            </a:r>
          </a:p>
        </p:txBody>
      </p:sp>
      <p:pic>
        <p:nvPicPr>
          <p:cNvPr id="9" name="Picture 8">
            <a:extLst>
              <a:ext uri="{FF2B5EF4-FFF2-40B4-BE49-F238E27FC236}">
                <a16:creationId xmlns:a16="http://schemas.microsoft.com/office/drawing/2014/main" id="{EF28994F-DBD2-1810-8B6A-E79B510B87B8}"/>
              </a:ext>
            </a:extLst>
          </p:cNvPr>
          <p:cNvPicPr>
            <a:picLocks noChangeAspect="1"/>
          </p:cNvPicPr>
          <p:nvPr/>
        </p:nvPicPr>
        <p:blipFill>
          <a:blip r:embed="rId2"/>
          <a:srcRect l="18336" t="1439" r="17154" b="86990"/>
          <a:stretch/>
        </p:blipFill>
        <p:spPr>
          <a:xfrm>
            <a:off x="279399" y="1306286"/>
            <a:ext cx="8238153" cy="410547"/>
          </a:xfrm>
          <a:prstGeom prst="rect">
            <a:avLst/>
          </a:prstGeom>
        </p:spPr>
      </p:pic>
      <p:pic>
        <p:nvPicPr>
          <p:cNvPr id="10" name="Picture 9">
            <a:extLst>
              <a:ext uri="{FF2B5EF4-FFF2-40B4-BE49-F238E27FC236}">
                <a16:creationId xmlns:a16="http://schemas.microsoft.com/office/drawing/2014/main" id="{23E5D69C-01CF-4D3E-6C7A-71D6CAAC2FF3}"/>
              </a:ext>
            </a:extLst>
          </p:cNvPr>
          <p:cNvPicPr>
            <a:picLocks noChangeAspect="1"/>
          </p:cNvPicPr>
          <p:nvPr/>
        </p:nvPicPr>
        <p:blipFill>
          <a:blip r:embed="rId2"/>
          <a:srcRect l="50907" t="11897"/>
          <a:stretch/>
        </p:blipFill>
        <p:spPr>
          <a:xfrm>
            <a:off x="1836016" y="4316308"/>
            <a:ext cx="5118058" cy="2551968"/>
          </a:xfrm>
          <a:prstGeom prst="rect">
            <a:avLst/>
          </a:prstGeom>
        </p:spPr>
      </p:pic>
      <p:pic>
        <p:nvPicPr>
          <p:cNvPr id="11" name="Picture 10">
            <a:extLst>
              <a:ext uri="{FF2B5EF4-FFF2-40B4-BE49-F238E27FC236}">
                <a16:creationId xmlns:a16="http://schemas.microsoft.com/office/drawing/2014/main" id="{97AAB5C3-0327-BBF8-39FE-C8DA013054E2}"/>
              </a:ext>
            </a:extLst>
          </p:cNvPr>
          <p:cNvPicPr>
            <a:picLocks noChangeAspect="1"/>
          </p:cNvPicPr>
          <p:nvPr/>
        </p:nvPicPr>
        <p:blipFill>
          <a:blip r:embed="rId2"/>
          <a:srcRect t="17268" r="50000"/>
          <a:stretch/>
        </p:blipFill>
        <p:spPr>
          <a:xfrm>
            <a:off x="1628283" y="2078735"/>
            <a:ext cx="5325791" cy="2448387"/>
          </a:xfrm>
          <a:prstGeom prst="rect">
            <a:avLst/>
          </a:prstGeom>
        </p:spPr>
      </p:pic>
    </p:spTree>
    <p:extLst>
      <p:ext uri="{BB962C8B-B14F-4D97-AF65-F5344CB8AC3E}">
        <p14:creationId xmlns:p14="http://schemas.microsoft.com/office/powerpoint/2010/main" val="222763461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6BFF6B-CEDD-9CDE-2C47-79F8648E86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625C4D-7B54-08FD-6DF1-3C1C896DFFEA}"/>
              </a:ext>
            </a:extLst>
          </p:cNvPr>
          <p:cNvSpPr>
            <a:spLocks noGrp="1"/>
          </p:cNvSpPr>
          <p:nvPr>
            <p:ph type="title"/>
          </p:nvPr>
        </p:nvSpPr>
        <p:spPr/>
        <p:txBody>
          <a:bodyPr>
            <a:noAutofit/>
          </a:bodyPr>
          <a:lstStyle/>
          <a:p>
            <a:r>
              <a:rPr lang="en-US" sz="3200" dirty="0"/>
              <a:t>Backup: KV caching and model compression</a:t>
            </a:r>
          </a:p>
        </p:txBody>
      </p:sp>
      <p:sp>
        <p:nvSpPr>
          <p:cNvPr id="3" name="Content Placeholder 2">
            <a:extLst>
              <a:ext uri="{FF2B5EF4-FFF2-40B4-BE49-F238E27FC236}">
                <a16:creationId xmlns:a16="http://schemas.microsoft.com/office/drawing/2014/main" id="{A76DC325-9933-1BBF-2FBB-BFF1DE0215EE}"/>
              </a:ext>
            </a:extLst>
          </p:cNvPr>
          <p:cNvSpPr>
            <a:spLocks noGrp="1"/>
          </p:cNvSpPr>
          <p:nvPr>
            <p:ph idx="1"/>
          </p:nvPr>
        </p:nvSpPr>
        <p:spPr/>
        <p:txBody>
          <a:bodyPr>
            <a:normAutofit fontScale="70000" lnSpcReduction="20000"/>
          </a:bodyPr>
          <a:lstStyle/>
          <a:p>
            <a:r>
              <a:rPr lang="en-US" dirty="0"/>
              <a:t>Compressing models</a:t>
            </a:r>
          </a:p>
          <a:p>
            <a:pPr lvl="1"/>
            <a:r>
              <a:rPr lang="en-US" dirty="0"/>
              <a:t>Distillation</a:t>
            </a:r>
          </a:p>
          <a:p>
            <a:pPr lvl="1"/>
            <a:r>
              <a:rPr lang="en-US" dirty="0"/>
              <a:t>Quantization</a:t>
            </a:r>
          </a:p>
          <a:p>
            <a:pPr lvl="1"/>
            <a:r>
              <a:rPr lang="en-US" dirty="0"/>
              <a:t>Pruning</a:t>
            </a:r>
          </a:p>
          <a:p>
            <a:pPr lvl="2"/>
            <a:r>
              <a:rPr lang="en-US" dirty="0"/>
              <a:t>Unstructured</a:t>
            </a:r>
          </a:p>
          <a:p>
            <a:pPr lvl="2"/>
            <a:r>
              <a:rPr lang="en-US" dirty="0"/>
              <a:t>Semi-Structured (e.g. 2:4 Pruning)</a:t>
            </a:r>
          </a:p>
          <a:p>
            <a:pPr lvl="2"/>
            <a:r>
              <a:rPr lang="en-US" dirty="0"/>
              <a:t>Structured</a:t>
            </a:r>
          </a:p>
          <a:p>
            <a:r>
              <a:rPr lang="en-US" dirty="0"/>
              <a:t>Key-value caching</a:t>
            </a:r>
          </a:p>
          <a:p>
            <a:pPr lvl="1"/>
            <a:r>
              <a:rPr lang="en-US" dirty="0"/>
              <a:t>Motivation  and importance</a:t>
            </a:r>
          </a:p>
          <a:p>
            <a:pPr lvl="1"/>
            <a:r>
              <a:rPr lang="en-US" dirty="0"/>
              <a:t>Origin story</a:t>
            </a:r>
          </a:p>
          <a:p>
            <a:pPr lvl="2"/>
            <a:r>
              <a:rPr lang="en-US" dirty="0"/>
              <a:t>Long-context Transformers</a:t>
            </a:r>
          </a:p>
          <a:p>
            <a:pPr lvl="1"/>
            <a:r>
              <a:rPr lang="en-US" dirty="0">
                <a:highlight>
                  <a:srgbClr val="FFFF00"/>
                </a:highlight>
              </a:rPr>
              <a:t>Techniques - discussion</a:t>
            </a:r>
          </a:p>
          <a:p>
            <a:pPr lvl="2"/>
            <a:r>
              <a:rPr lang="en-US" dirty="0"/>
              <a:t>Heavy hitters – H2O</a:t>
            </a:r>
          </a:p>
          <a:p>
            <a:pPr lvl="2"/>
            <a:r>
              <a:rPr lang="en-US" dirty="0"/>
              <a:t>Attention sinks – </a:t>
            </a:r>
            <a:r>
              <a:rPr lang="en-US" dirty="0" err="1"/>
              <a:t>StreamingLLM</a:t>
            </a:r>
            <a:endParaRPr lang="en-US" dirty="0"/>
          </a:p>
          <a:p>
            <a:pPr lvl="2"/>
            <a:r>
              <a:rPr lang="en-US" dirty="0"/>
              <a:t>Predictive caching – </a:t>
            </a:r>
            <a:r>
              <a:rPr lang="en-US" dirty="0" err="1"/>
              <a:t>SnapKV</a:t>
            </a:r>
            <a:r>
              <a:rPr lang="en-US" dirty="0"/>
              <a:t>, </a:t>
            </a:r>
            <a:r>
              <a:rPr lang="en-US" dirty="0" err="1"/>
              <a:t>FastGen</a:t>
            </a:r>
            <a:endParaRPr lang="en-US" dirty="0"/>
          </a:p>
          <a:p>
            <a:pPr lvl="2"/>
            <a:endParaRPr lang="en-US" dirty="0"/>
          </a:p>
        </p:txBody>
      </p:sp>
    </p:spTree>
    <p:extLst>
      <p:ext uri="{BB962C8B-B14F-4D97-AF65-F5344CB8AC3E}">
        <p14:creationId xmlns:p14="http://schemas.microsoft.com/office/powerpoint/2010/main" val="195981330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7817BE-E62E-FCD8-71E0-ADA87D6CED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8B5965-59EB-B0E9-3664-E8F99A6F8666}"/>
              </a:ext>
            </a:extLst>
          </p:cNvPr>
          <p:cNvSpPr>
            <a:spLocks noGrp="1"/>
          </p:cNvSpPr>
          <p:nvPr>
            <p:ph type="title"/>
          </p:nvPr>
        </p:nvSpPr>
        <p:spPr/>
        <p:txBody>
          <a:bodyPr/>
          <a:lstStyle/>
          <a:p>
            <a:r>
              <a:rPr lang="en-US" dirty="0"/>
              <a:t>Discussion</a:t>
            </a:r>
          </a:p>
        </p:txBody>
      </p:sp>
      <p:sp>
        <p:nvSpPr>
          <p:cNvPr id="3" name="Content Placeholder 2">
            <a:extLst>
              <a:ext uri="{FF2B5EF4-FFF2-40B4-BE49-F238E27FC236}">
                <a16:creationId xmlns:a16="http://schemas.microsoft.com/office/drawing/2014/main" id="{B1E612E5-146D-6AC3-BB84-1BBE75B18ABC}"/>
              </a:ext>
            </a:extLst>
          </p:cNvPr>
          <p:cNvSpPr>
            <a:spLocks noGrp="1"/>
          </p:cNvSpPr>
          <p:nvPr>
            <p:ph idx="1"/>
          </p:nvPr>
        </p:nvSpPr>
        <p:spPr/>
        <p:txBody>
          <a:bodyPr>
            <a:normAutofit/>
          </a:bodyPr>
          <a:lstStyle/>
          <a:p>
            <a:r>
              <a:rPr lang="en-US" dirty="0"/>
              <a:t>Main cost of Transformers: </a:t>
            </a:r>
            <a:r>
              <a:rPr lang="en-US" b="1" dirty="0"/>
              <a:t>attention</a:t>
            </a:r>
          </a:p>
          <a:p>
            <a:r>
              <a:rPr lang="en-US" dirty="0"/>
              <a:t>Key optimization: </a:t>
            </a:r>
            <a:r>
              <a:rPr lang="en-US" b="1" dirty="0"/>
              <a:t>restricting attention</a:t>
            </a:r>
            <a:endParaRPr lang="en-US" dirty="0"/>
          </a:p>
          <a:p>
            <a:r>
              <a:rPr lang="en-US" dirty="0"/>
              <a:t>Restricted attention in  decoder-only models: </a:t>
            </a:r>
            <a:r>
              <a:rPr lang="en-US" b="1" dirty="0"/>
              <a:t>key-value cache</a:t>
            </a:r>
            <a:r>
              <a:rPr lang="en-US" dirty="0"/>
              <a:t> manipulation</a:t>
            </a:r>
          </a:p>
          <a:p>
            <a:endParaRPr lang="en-US" dirty="0"/>
          </a:p>
          <a:p>
            <a:r>
              <a:rPr lang="en-US" dirty="0"/>
              <a:t>Key-value cache management is an active research area</a:t>
            </a:r>
          </a:p>
          <a:p>
            <a:pPr lvl="1"/>
            <a:endParaRPr lang="en-US" dirty="0"/>
          </a:p>
        </p:txBody>
      </p:sp>
    </p:spTree>
    <p:extLst>
      <p:ext uri="{BB962C8B-B14F-4D97-AF65-F5344CB8AC3E}">
        <p14:creationId xmlns:p14="http://schemas.microsoft.com/office/powerpoint/2010/main" val="203440554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6ED5B5-2DBA-1737-FAC5-F6AF6C6A5DDE}"/>
              </a:ext>
            </a:extLst>
          </p:cNvPr>
          <p:cNvSpPr>
            <a:spLocks noGrp="1"/>
          </p:cNvSpPr>
          <p:nvPr>
            <p:ph type="title"/>
          </p:nvPr>
        </p:nvSpPr>
        <p:spPr/>
        <p:txBody>
          <a:bodyPr/>
          <a:lstStyle/>
          <a:p>
            <a:r>
              <a:rPr lang="en-US" dirty="0"/>
              <a:t>Discussion</a:t>
            </a:r>
          </a:p>
        </p:txBody>
      </p:sp>
      <p:sp>
        <p:nvSpPr>
          <p:cNvPr id="3" name="Content Placeholder 2">
            <a:extLst>
              <a:ext uri="{FF2B5EF4-FFF2-40B4-BE49-F238E27FC236}">
                <a16:creationId xmlns:a16="http://schemas.microsoft.com/office/drawing/2014/main" id="{5DC79DC7-A7D3-BB91-17FA-A74459355B53}"/>
              </a:ext>
            </a:extLst>
          </p:cNvPr>
          <p:cNvSpPr>
            <a:spLocks noGrp="1"/>
          </p:cNvSpPr>
          <p:nvPr>
            <p:ph idx="1"/>
          </p:nvPr>
        </p:nvSpPr>
        <p:spPr/>
        <p:txBody>
          <a:bodyPr>
            <a:normAutofit fontScale="62500" lnSpcReduction="20000"/>
          </a:bodyPr>
          <a:lstStyle/>
          <a:p>
            <a:r>
              <a:rPr lang="en-US" dirty="0"/>
              <a:t>Heavy Hitter Oracle</a:t>
            </a:r>
            <a:r>
              <a:rPr lang="en-US" dirty="0">
                <a:sym typeface="Wingdings" pitchFamily="2" charset="2"/>
              </a:rPr>
              <a:t> (H2O): </a:t>
            </a:r>
          </a:p>
          <a:p>
            <a:pPr lvl="1"/>
            <a:r>
              <a:rPr lang="en-US" dirty="0">
                <a:sym typeface="Wingdings" pitchFamily="2" charset="2"/>
              </a:rPr>
              <a:t>Observations: </a:t>
            </a:r>
          </a:p>
          <a:p>
            <a:pPr lvl="2"/>
            <a:r>
              <a:rPr lang="en-US" dirty="0">
                <a:sym typeface="Wingdings" pitchFamily="2" charset="2"/>
              </a:rPr>
              <a:t>power-law of cumulative attn</a:t>
            </a:r>
          </a:p>
          <a:p>
            <a:pPr lvl="2"/>
            <a:r>
              <a:rPr lang="en-US" dirty="0">
                <a:sym typeface="Wingdings" pitchFamily="2" charset="2"/>
              </a:rPr>
              <a:t>running total of cumulative attn is good approximation</a:t>
            </a:r>
          </a:p>
          <a:p>
            <a:pPr lvl="1"/>
            <a:r>
              <a:rPr lang="en-US" dirty="0">
                <a:sym typeface="Wingdings" pitchFamily="2" charset="2"/>
              </a:rPr>
              <a:t>Strategy: evict lowest cumulative attn KV pairs (during decoding)</a:t>
            </a:r>
          </a:p>
          <a:p>
            <a:r>
              <a:rPr lang="en-US" dirty="0"/>
              <a:t>Streaming LLM: </a:t>
            </a:r>
          </a:p>
          <a:p>
            <a:pPr lvl="1"/>
            <a:r>
              <a:rPr lang="en-US" dirty="0"/>
              <a:t>Observation: first few tokens are “attention sinks”</a:t>
            </a:r>
          </a:p>
          <a:p>
            <a:pPr lvl="1"/>
            <a:r>
              <a:rPr lang="en-US" dirty="0"/>
              <a:t>Strategy: don’t evict the first few tokens (during decoding)</a:t>
            </a:r>
          </a:p>
          <a:p>
            <a:pPr lvl="1"/>
            <a:r>
              <a:rPr lang="en-US" dirty="0"/>
              <a:t>Experiment: H2O is a little better with </a:t>
            </a:r>
            <a:r>
              <a:rPr lang="en-US" dirty="0" err="1"/>
              <a:t>StreamingLLM</a:t>
            </a:r>
            <a:endParaRPr lang="en-US" dirty="0"/>
          </a:p>
          <a:p>
            <a:r>
              <a:rPr lang="en-US" dirty="0" err="1"/>
              <a:t>SnapKV</a:t>
            </a:r>
            <a:r>
              <a:rPr lang="en-US" dirty="0"/>
              <a:t>:</a:t>
            </a:r>
          </a:p>
          <a:p>
            <a:pPr lvl="1"/>
            <a:r>
              <a:rPr lang="en-US" dirty="0"/>
              <a:t>Observation: last window of prompt predicts attention during decoding</a:t>
            </a:r>
          </a:p>
          <a:p>
            <a:pPr lvl="1"/>
            <a:r>
              <a:rPr lang="en-US" dirty="0"/>
              <a:t>Strategy: compress the KV pairs from the prompt based on last-window attention before decoding</a:t>
            </a:r>
          </a:p>
          <a:p>
            <a:r>
              <a:rPr lang="en-US" dirty="0" err="1"/>
              <a:t>FastGen</a:t>
            </a:r>
            <a:r>
              <a:rPr lang="en-US" dirty="0"/>
              <a:t>:</a:t>
            </a:r>
          </a:p>
          <a:p>
            <a:pPr lvl="1"/>
            <a:r>
              <a:rPr lang="en-US" dirty="0"/>
              <a:t>Observation: no uniform caching strategy is optimal</a:t>
            </a:r>
          </a:p>
          <a:p>
            <a:pPr lvl="1"/>
            <a:r>
              <a:rPr lang="en-US" dirty="0"/>
              <a:t>Strategy: pick a strategy for each head/layer (based on prompt)</a:t>
            </a:r>
          </a:p>
          <a:p>
            <a:pPr lvl="1"/>
            <a:endParaRPr lang="en-US" dirty="0"/>
          </a:p>
        </p:txBody>
      </p:sp>
    </p:spTree>
    <p:extLst>
      <p:ext uri="{BB962C8B-B14F-4D97-AF65-F5344CB8AC3E}">
        <p14:creationId xmlns:p14="http://schemas.microsoft.com/office/powerpoint/2010/main" val="284759769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239E0F1-EC65-C9C7-3596-4BA095F41435}"/>
              </a:ext>
            </a:extLst>
          </p:cNvPr>
          <p:cNvSpPr>
            <a:spLocks noGrp="1"/>
          </p:cNvSpPr>
          <p:nvPr>
            <p:ph type="ctrTitle"/>
          </p:nvPr>
        </p:nvSpPr>
        <p:spPr/>
        <p:txBody>
          <a:bodyPr/>
          <a:lstStyle/>
          <a:p>
            <a:r>
              <a:rPr lang="en-US" dirty="0"/>
              <a:t>Model compression: </a:t>
            </a:r>
            <a:br>
              <a:rPr lang="en-US" dirty="0"/>
            </a:br>
            <a:r>
              <a:rPr lang="en-US" dirty="0"/>
              <a:t>Recap and Overview</a:t>
            </a:r>
          </a:p>
        </p:txBody>
      </p:sp>
      <p:sp>
        <p:nvSpPr>
          <p:cNvPr id="5" name="Subtitle 4">
            <a:extLst>
              <a:ext uri="{FF2B5EF4-FFF2-40B4-BE49-F238E27FC236}">
                <a16:creationId xmlns:a16="http://schemas.microsoft.com/office/drawing/2014/main" id="{842B7CF4-47E4-E657-8BDD-12AD38236CC7}"/>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87243788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FAD9E5-0ACF-0541-0641-1B250A373B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0DD154-BF8E-EC59-4082-8EFF3DB9284D}"/>
              </a:ext>
            </a:extLst>
          </p:cNvPr>
          <p:cNvSpPr>
            <a:spLocks noGrp="1"/>
          </p:cNvSpPr>
          <p:nvPr>
            <p:ph type="title"/>
          </p:nvPr>
        </p:nvSpPr>
        <p:spPr/>
        <p:txBody>
          <a:bodyPr>
            <a:noAutofit/>
          </a:bodyPr>
          <a:lstStyle/>
          <a:p>
            <a:r>
              <a:rPr lang="en-US" sz="3600" dirty="0"/>
              <a:t>How should we think about these?</a:t>
            </a:r>
          </a:p>
        </p:txBody>
      </p:sp>
      <p:sp>
        <p:nvSpPr>
          <p:cNvPr id="3" name="Content Placeholder 2">
            <a:extLst>
              <a:ext uri="{FF2B5EF4-FFF2-40B4-BE49-F238E27FC236}">
                <a16:creationId xmlns:a16="http://schemas.microsoft.com/office/drawing/2014/main" id="{AD41182B-38F8-F4AE-AB68-F2C9DDBD6AC9}"/>
              </a:ext>
            </a:extLst>
          </p:cNvPr>
          <p:cNvSpPr>
            <a:spLocks noGrp="1"/>
          </p:cNvSpPr>
          <p:nvPr>
            <p:ph idx="1"/>
          </p:nvPr>
        </p:nvSpPr>
        <p:spPr>
          <a:xfrm>
            <a:off x="279400" y="1257300"/>
            <a:ext cx="8648700" cy="2449286"/>
          </a:xfrm>
        </p:spPr>
        <p:txBody>
          <a:bodyPr/>
          <a:lstStyle/>
          <a:p>
            <a:r>
              <a:rPr lang="en-US" dirty="0"/>
              <a:t>Quantization</a:t>
            </a:r>
          </a:p>
          <a:p>
            <a:r>
              <a:rPr lang="en-US" dirty="0"/>
              <a:t>Pruning</a:t>
            </a:r>
          </a:p>
          <a:p>
            <a:r>
              <a:rPr lang="en-US" dirty="0"/>
              <a:t>Key-Value Cache Management</a:t>
            </a:r>
          </a:p>
          <a:p>
            <a:pPr lvl="1"/>
            <a:r>
              <a:rPr lang="en-US" dirty="0"/>
              <a:t>…which is also pruning</a:t>
            </a:r>
          </a:p>
        </p:txBody>
      </p:sp>
      <p:sp>
        <p:nvSpPr>
          <p:cNvPr id="4" name="TextBox 3">
            <a:extLst>
              <a:ext uri="{FF2B5EF4-FFF2-40B4-BE49-F238E27FC236}">
                <a16:creationId xmlns:a16="http://schemas.microsoft.com/office/drawing/2014/main" id="{B8274892-CBBA-C251-3196-29E452054A7E}"/>
              </a:ext>
            </a:extLst>
          </p:cNvPr>
          <p:cNvSpPr txBox="1"/>
          <p:nvPr/>
        </p:nvSpPr>
        <p:spPr>
          <a:xfrm>
            <a:off x="898071" y="3866924"/>
            <a:ext cx="6335485" cy="46166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sz="2400" dirty="0"/>
              <a:t>Heuristic: find a survey paper!</a:t>
            </a:r>
          </a:p>
        </p:txBody>
      </p:sp>
    </p:spTree>
    <p:extLst>
      <p:ext uri="{BB962C8B-B14F-4D97-AF65-F5344CB8AC3E}">
        <p14:creationId xmlns:p14="http://schemas.microsoft.com/office/powerpoint/2010/main" val="27357079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B92182-000A-02B1-251C-A7C70DEA9C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BAC7AA-70D3-5C85-23F2-555D07639DE5}"/>
              </a:ext>
            </a:extLst>
          </p:cNvPr>
          <p:cNvSpPr>
            <a:spLocks noGrp="1"/>
          </p:cNvSpPr>
          <p:nvPr>
            <p:ph type="title"/>
          </p:nvPr>
        </p:nvSpPr>
        <p:spPr/>
        <p:txBody>
          <a:bodyPr>
            <a:noAutofit/>
          </a:bodyPr>
          <a:lstStyle/>
          <a:p>
            <a:r>
              <a:rPr lang="en-US" sz="3600" dirty="0"/>
              <a:t>How should we think about these?</a:t>
            </a:r>
          </a:p>
        </p:txBody>
      </p:sp>
      <p:pic>
        <p:nvPicPr>
          <p:cNvPr id="8" name="Picture 7">
            <a:extLst>
              <a:ext uri="{FF2B5EF4-FFF2-40B4-BE49-F238E27FC236}">
                <a16:creationId xmlns:a16="http://schemas.microsoft.com/office/drawing/2014/main" id="{10A24324-9585-E726-FCAF-C625C382F758}"/>
              </a:ext>
            </a:extLst>
          </p:cNvPr>
          <p:cNvPicPr>
            <a:picLocks noChangeAspect="1"/>
          </p:cNvPicPr>
          <p:nvPr/>
        </p:nvPicPr>
        <p:blipFill>
          <a:blip r:embed="rId3"/>
          <a:stretch>
            <a:fillRect/>
          </a:stretch>
        </p:blipFill>
        <p:spPr>
          <a:xfrm>
            <a:off x="685800" y="1892595"/>
            <a:ext cx="7772400" cy="3072809"/>
          </a:xfrm>
          <a:prstGeom prst="rect">
            <a:avLst/>
          </a:prstGeom>
        </p:spPr>
      </p:pic>
      <p:sp>
        <p:nvSpPr>
          <p:cNvPr id="9" name="TextBox 8">
            <a:extLst>
              <a:ext uri="{FF2B5EF4-FFF2-40B4-BE49-F238E27FC236}">
                <a16:creationId xmlns:a16="http://schemas.microsoft.com/office/drawing/2014/main" id="{32AD76B2-A59B-56BC-DD2E-18383800E80D}"/>
              </a:ext>
            </a:extLst>
          </p:cNvPr>
          <p:cNvSpPr txBox="1"/>
          <p:nvPr/>
        </p:nvSpPr>
        <p:spPr>
          <a:xfrm>
            <a:off x="1861457" y="5215234"/>
            <a:ext cx="6335485" cy="46166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sz="2400" dirty="0"/>
              <a:t>TACL 2024</a:t>
            </a:r>
          </a:p>
        </p:txBody>
      </p:sp>
    </p:spTree>
    <p:extLst>
      <p:ext uri="{BB962C8B-B14F-4D97-AF65-F5344CB8AC3E}">
        <p14:creationId xmlns:p14="http://schemas.microsoft.com/office/powerpoint/2010/main" val="158199685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6CE8F7-662F-CCE3-7BF7-E28A68F781E9}"/>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D598DFC6-20E9-CF92-F7C5-75D7692134FA}"/>
              </a:ext>
            </a:extLst>
          </p:cNvPr>
          <p:cNvPicPr>
            <a:picLocks noChangeAspect="1"/>
          </p:cNvPicPr>
          <p:nvPr/>
        </p:nvPicPr>
        <p:blipFill>
          <a:blip r:embed="rId2"/>
          <a:stretch>
            <a:fillRect/>
          </a:stretch>
        </p:blipFill>
        <p:spPr>
          <a:xfrm>
            <a:off x="6801" y="1767490"/>
            <a:ext cx="2645229" cy="6837667"/>
          </a:xfrm>
          <a:prstGeom prst="rect">
            <a:avLst/>
          </a:prstGeom>
        </p:spPr>
      </p:pic>
      <p:pic>
        <p:nvPicPr>
          <p:cNvPr id="2" name="Picture 1">
            <a:extLst>
              <a:ext uri="{FF2B5EF4-FFF2-40B4-BE49-F238E27FC236}">
                <a16:creationId xmlns:a16="http://schemas.microsoft.com/office/drawing/2014/main" id="{EDFE3F53-3081-87F8-5D9D-FD7ED0298BD5}"/>
              </a:ext>
            </a:extLst>
          </p:cNvPr>
          <p:cNvPicPr>
            <a:picLocks noChangeAspect="1"/>
          </p:cNvPicPr>
          <p:nvPr/>
        </p:nvPicPr>
        <p:blipFill>
          <a:blip r:embed="rId3"/>
          <a:stretch>
            <a:fillRect/>
          </a:stretch>
        </p:blipFill>
        <p:spPr>
          <a:xfrm>
            <a:off x="2498270" y="687591"/>
            <a:ext cx="7772400" cy="3098847"/>
          </a:xfrm>
          <a:prstGeom prst="rect">
            <a:avLst/>
          </a:prstGeom>
        </p:spPr>
      </p:pic>
    </p:spTree>
    <p:extLst>
      <p:ext uri="{BB962C8B-B14F-4D97-AF65-F5344CB8AC3E}">
        <p14:creationId xmlns:p14="http://schemas.microsoft.com/office/powerpoint/2010/main" val="383678485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5605F64-C6DF-3EEA-AAA1-318099AF12B7}"/>
              </a:ext>
            </a:extLst>
          </p:cNvPr>
          <p:cNvPicPr>
            <a:picLocks noChangeAspect="1"/>
          </p:cNvPicPr>
          <p:nvPr/>
        </p:nvPicPr>
        <p:blipFill>
          <a:blip r:embed="rId3"/>
          <a:stretch>
            <a:fillRect/>
          </a:stretch>
        </p:blipFill>
        <p:spPr>
          <a:xfrm>
            <a:off x="-293916" y="20333"/>
            <a:ext cx="2645229" cy="6837667"/>
          </a:xfrm>
          <a:prstGeom prst="rect">
            <a:avLst/>
          </a:prstGeom>
        </p:spPr>
      </p:pic>
      <p:pic>
        <p:nvPicPr>
          <p:cNvPr id="5" name="Picture 4">
            <a:extLst>
              <a:ext uri="{FF2B5EF4-FFF2-40B4-BE49-F238E27FC236}">
                <a16:creationId xmlns:a16="http://schemas.microsoft.com/office/drawing/2014/main" id="{6DA3CE04-CFFF-DA03-7AAA-83023DC9E1B1}"/>
              </a:ext>
            </a:extLst>
          </p:cNvPr>
          <p:cNvPicPr>
            <a:picLocks noChangeAspect="1"/>
          </p:cNvPicPr>
          <p:nvPr/>
        </p:nvPicPr>
        <p:blipFill>
          <a:blip r:embed="rId4"/>
          <a:srcRect t="11448" b="5826"/>
          <a:stretch/>
        </p:blipFill>
        <p:spPr>
          <a:xfrm>
            <a:off x="1943099" y="2073729"/>
            <a:ext cx="7772400" cy="1681842"/>
          </a:xfrm>
          <a:prstGeom prst="rect">
            <a:avLst/>
          </a:prstGeom>
        </p:spPr>
      </p:pic>
      <p:sp>
        <p:nvSpPr>
          <p:cNvPr id="7" name="TextBox 6">
            <a:extLst>
              <a:ext uri="{FF2B5EF4-FFF2-40B4-BE49-F238E27FC236}">
                <a16:creationId xmlns:a16="http://schemas.microsoft.com/office/drawing/2014/main" id="{B127B494-E827-0EEC-12C8-052078AD6957}"/>
              </a:ext>
            </a:extLst>
          </p:cNvPr>
          <p:cNvSpPr txBox="1"/>
          <p:nvPr/>
        </p:nvSpPr>
        <p:spPr>
          <a:xfrm>
            <a:off x="3706586" y="4082143"/>
            <a:ext cx="4980214" cy="2031325"/>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dirty="0"/>
              <a:t>To reduce the cost about the weight update process required by </a:t>
            </a:r>
            <a:r>
              <a:rPr lang="en-US" dirty="0" err="1"/>
              <a:t>SparseGPT</a:t>
            </a:r>
            <a:r>
              <a:rPr lang="en-US" dirty="0"/>
              <a:t>, Wanda (Sun et al., 2024) achieves model sparsity by pruning weights with the smallest magnitudes multiplied by the norm of the corresponding input activations, without the need for retraining or weight updates.</a:t>
            </a:r>
          </a:p>
        </p:txBody>
      </p:sp>
      <p:cxnSp>
        <p:nvCxnSpPr>
          <p:cNvPr id="9" name="Straight Arrow Connector 8">
            <a:extLst>
              <a:ext uri="{FF2B5EF4-FFF2-40B4-BE49-F238E27FC236}">
                <a16:creationId xmlns:a16="http://schemas.microsoft.com/office/drawing/2014/main" id="{6DD83585-F75B-ABB3-9BC1-9A004873B5D4}"/>
              </a:ext>
            </a:extLst>
          </p:cNvPr>
          <p:cNvCxnSpPr>
            <a:cxnSpLocks/>
          </p:cNvCxnSpPr>
          <p:nvPr/>
        </p:nvCxnSpPr>
        <p:spPr>
          <a:xfrm flipH="1">
            <a:off x="8245929" y="3575957"/>
            <a:ext cx="228600" cy="50618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9854D9CE-DB4F-C936-CB7F-5966B7F3D8EF}"/>
              </a:ext>
            </a:extLst>
          </p:cNvPr>
          <p:cNvCxnSpPr>
            <a:cxnSpLocks/>
          </p:cNvCxnSpPr>
          <p:nvPr/>
        </p:nvCxnSpPr>
        <p:spPr>
          <a:xfrm flipH="1">
            <a:off x="6678386" y="2408464"/>
            <a:ext cx="114303" cy="167367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576714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FC43C2-D01E-0A59-9B7C-2433D58408E2}"/>
              </a:ext>
            </a:extLst>
          </p:cNvPr>
          <p:cNvSpPr>
            <a:spLocks noGrp="1"/>
          </p:cNvSpPr>
          <p:nvPr>
            <p:ph type="title"/>
          </p:nvPr>
        </p:nvSpPr>
        <p:spPr/>
        <p:txBody>
          <a:bodyPr>
            <a:noAutofit/>
          </a:bodyPr>
          <a:lstStyle/>
          <a:p>
            <a:r>
              <a:rPr lang="en-US" sz="3600" dirty="0"/>
              <a:t>Recap: making a large model smaller</a:t>
            </a:r>
          </a:p>
        </p:txBody>
      </p:sp>
      <p:sp>
        <p:nvSpPr>
          <p:cNvPr id="3" name="Content Placeholder 2">
            <a:extLst>
              <a:ext uri="{FF2B5EF4-FFF2-40B4-BE49-F238E27FC236}">
                <a16:creationId xmlns:a16="http://schemas.microsoft.com/office/drawing/2014/main" id="{08542EB1-A469-C291-9998-C2B6C722B22D}"/>
              </a:ext>
            </a:extLst>
          </p:cNvPr>
          <p:cNvSpPr>
            <a:spLocks noGrp="1"/>
          </p:cNvSpPr>
          <p:nvPr>
            <p:ph idx="1"/>
          </p:nvPr>
        </p:nvSpPr>
        <p:spPr/>
        <p:txBody>
          <a:bodyPr/>
          <a:lstStyle/>
          <a:p>
            <a:r>
              <a:rPr lang="en-US" dirty="0">
                <a:solidFill>
                  <a:schemeClr val="bg1">
                    <a:lumMod val="50000"/>
                  </a:schemeClr>
                </a:solidFill>
              </a:rPr>
              <a:t>Distillation</a:t>
            </a:r>
          </a:p>
          <a:p>
            <a:pPr lvl="1"/>
            <a:r>
              <a:rPr lang="en-US" dirty="0">
                <a:solidFill>
                  <a:schemeClr val="bg1">
                    <a:lumMod val="50000"/>
                  </a:schemeClr>
                </a:solidFill>
              </a:rPr>
              <a:t>briefly discussed</a:t>
            </a:r>
          </a:p>
          <a:p>
            <a:r>
              <a:rPr lang="en-US" dirty="0"/>
              <a:t>Quantization</a:t>
            </a:r>
          </a:p>
          <a:p>
            <a:r>
              <a:rPr lang="en-US" dirty="0"/>
              <a:t>Pruning</a:t>
            </a:r>
          </a:p>
          <a:p>
            <a:r>
              <a:rPr lang="en-US" dirty="0"/>
              <a:t>Key-Value Cache Management</a:t>
            </a:r>
          </a:p>
          <a:p>
            <a:pPr lvl="1"/>
            <a:r>
              <a:rPr lang="en-US" dirty="0"/>
              <a:t>…which is also pruning</a:t>
            </a:r>
          </a:p>
        </p:txBody>
      </p:sp>
      <p:sp>
        <p:nvSpPr>
          <p:cNvPr id="4" name="TextBox 3">
            <a:extLst>
              <a:ext uri="{FF2B5EF4-FFF2-40B4-BE49-F238E27FC236}">
                <a16:creationId xmlns:a16="http://schemas.microsoft.com/office/drawing/2014/main" id="{06708AB4-4A97-DCF5-9E0D-EFC5894D7097}"/>
              </a:ext>
            </a:extLst>
          </p:cNvPr>
          <p:cNvSpPr txBox="1"/>
          <p:nvPr/>
        </p:nvSpPr>
        <p:spPr>
          <a:xfrm>
            <a:off x="5306785" y="1898185"/>
            <a:ext cx="3331029" cy="2308324"/>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sz="2400" dirty="0"/>
              <a:t>Quantization, Pruning, and KV Cache Management are really </a:t>
            </a:r>
            <a:r>
              <a:rPr lang="en-US" sz="2400" b="1" dirty="0"/>
              <a:t>learning</a:t>
            </a:r>
            <a:r>
              <a:rPr lang="en-US" sz="2400" dirty="0"/>
              <a:t> problems … with </a:t>
            </a:r>
            <a:r>
              <a:rPr lang="en-US" sz="2400" b="1" dirty="0"/>
              <a:t>constraints</a:t>
            </a:r>
            <a:r>
              <a:rPr lang="en-US" sz="2400" dirty="0"/>
              <a:t> on the model learned</a:t>
            </a:r>
          </a:p>
        </p:txBody>
      </p:sp>
      <p:sp>
        <p:nvSpPr>
          <p:cNvPr id="5" name="TextBox 4">
            <a:extLst>
              <a:ext uri="{FF2B5EF4-FFF2-40B4-BE49-F238E27FC236}">
                <a16:creationId xmlns:a16="http://schemas.microsoft.com/office/drawing/2014/main" id="{5885A62C-DB3C-9E85-F3DF-53747AE8E383}"/>
              </a:ext>
            </a:extLst>
          </p:cNvPr>
          <p:cNvSpPr txBox="1"/>
          <p:nvPr/>
        </p:nvSpPr>
        <p:spPr>
          <a:xfrm>
            <a:off x="5691413" y="4286678"/>
            <a:ext cx="3331029" cy="1569660"/>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sz="2400" dirty="0"/>
              <a:t>Optimization with discrete constraints is harder—so in practice people approximate</a:t>
            </a:r>
          </a:p>
        </p:txBody>
      </p:sp>
      <p:sp>
        <p:nvSpPr>
          <p:cNvPr id="6" name="TextBox 5">
            <a:extLst>
              <a:ext uri="{FF2B5EF4-FFF2-40B4-BE49-F238E27FC236}">
                <a16:creationId xmlns:a16="http://schemas.microsoft.com/office/drawing/2014/main" id="{1CBBA454-7D85-E3D4-70C9-06658997357A}"/>
              </a:ext>
            </a:extLst>
          </p:cNvPr>
          <p:cNvSpPr txBox="1"/>
          <p:nvPr/>
        </p:nvSpPr>
        <p:spPr>
          <a:xfrm>
            <a:off x="2266042" y="4975933"/>
            <a:ext cx="3331029" cy="1569660"/>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sz="2400" dirty="0"/>
              <a:t>Heuristic: learn a model without constraints then try and “project it” into the constrained area </a:t>
            </a:r>
          </a:p>
        </p:txBody>
      </p:sp>
      <p:pic>
        <p:nvPicPr>
          <p:cNvPr id="7" name="Picture 6">
            <a:extLst>
              <a:ext uri="{FF2B5EF4-FFF2-40B4-BE49-F238E27FC236}">
                <a16:creationId xmlns:a16="http://schemas.microsoft.com/office/drawing/2014/main" id="{94E132A8-9758-D144-2B5A-4ABB3FF332E9}"/>
              </a:ext>
            </a:extLst>
          </p:cNvPr>
          <p:cNvPicPr>
            <a:picLocks noChangeAspect="1"/>
          </p:cNvPicPr>
          <p:nvPr/>
        </p:nvPicPr>
        <p:blipFill>
          <a:blip r:embed="rId3"/>
          <a:stretch>
            <a:fillRect/>
          </a:stretch>
        </p:blipFill>
        <p:spPr>
          <a:xfrm>
            <a:off x="312651" y="1150995"/>
            <a:ext cx="3175000" cy="3467100"/>
          </a:xfrm>
          <a:prstGeom prst="rect">
            <a:avLst/>
          </a:prstGeom>
          <a:ln>
            <a:solidFill>
              <a:schemeClr val="tx1"/>
            </a:solidFill>
          </a:ln>
        </p:spPr>
      </p:pic>
    </p:spTree>
    <p:extLst>
      <p:ext uri="{BB962C8B-B14F-4D97-AF65-F5344CB8AC3E}">
        <p14:creationId xmlns:p14="http://schemas.microsoft.com/office/powerpoint/2010/main" val="36869976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6D9F06-6DE2-0947-1C5F-5B0CDA405F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114960-AB36-B00C-DDAD-7DDF8C2F1FF8}"/>
              </a:ext>
            </a:extLst>
          </p:cNvPr>
          <p:cNvSpPr>
            <a:spLocks noGrp="1"/>
          </p:cNvSpPr>
          <p:nvPr>
            <p:ph type="title"/>
          </p:nvPr>
        </p:nvSpPr>
        <p:spPr/>
        <p:txBody>
          <a:bodyPr>
            <a:noAutofit/>
          </a:bodyPr>
          <a:lstStyle/>
          <a:p>
            <a:r>
              <a:rPr lang="en-US" sz="3600" dirty="0"/>
              <a:t>Recap: making a large model smaller</a:t>
            </a:r>
          </a:p>
        </p:txBody>
      </p:sp>
      <p:sp>
        <p:nvSpPr>
          <p:cNvPr id="3" name="Content Placeholder 2">
            <a:extLst>
              <a:ext uri="{FF2B5EF4-FFF2-40B4-BE49-F238E27FC236}">
                <a16:creationId xmlns:a16="http://schemas.microsoft.com/office/drawing/2014/main" id="{B5B346F8-15E0-BDF3-2B56-8A6842EEE577}"/>
              </a:ext>
            </a:extLst>
          </p:cNvPr>
          <p:cNvSpPr>
            <a:spLocks noGrp="1"/>
          </p:cNvSpPr>
          <p:nvPr>
            <p:ph idx="1"/>
          </p:nvPr>
        </p:nvSpPr>
        <p:spPr/>
        <p:txBody>
          <a:bodyPr/>
          <a:lstStyle/>
          <a:p>
            <a:r>
              <a:rPr lang="en-US" dirty="0"/>
              <a:t>Quantization</a:t>
            </a:r>
          </a:p>
          <a:p>
            <a:r>
              <a:rPr lang="en-US" dirty="0"/>
              <a:t>Pruning</a:t>
            </a:r>
          </a:p>
          <a:p>
            <a:r>
              <a:rPr lang="en-US" dirty="0"/>
              <a:t>Key-Value Cache Management</a:t>
            </a:r>
          </a:p>
        </p:txBody>
      </p:sp>
      <p:sp>
        <p:nvSpPr>
          <p:cNvPr id="5" name="TextBox 4">
            <a:extLst>
              <a:ext uri="{FF2B5EF4-FFF2-40B4-BE49-F238E27FC236}">
                <a16:creationId xmlns:a16="http://schemas.microsoft.com/office/drawing/2014/main" id="{165263E6-B459-7114-055E-9C9457A0A161}"/>
              </a:ext>
            </a:extLst>
          </p:cNvPr>
          <p:cNvSpPr txBox="1"/>
          <p:nvPr/>
        </p:nvSpPr>
        <p:spPr>
          <a:xfrm>
            <a:off x="680890" y="3139196"/>
            <a:ext cx="7781792" cy="3046988"/>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sz="2400" dirty="0"/>
              <a:t>Old-school ML in practice:</a:t>
            </a:r>
          </a:p>
          <a:p>
            <a:pPr marL="457200" indent="-457200">
              <a:buFont typeface="+mj-lt"/>
              <a:buAutoNum type="arabicPeriod"/>
            </a:pPr>
            <a:r>
              <a:rPr lang="en-US" sz="2400" dirty="0"/>
              <a:t>examine the data</a:t>
            </a:r>
          </a:p>
          <a:p>
            <a:pPr marL="457200" indent="-457200">
              <a:buFont typeface="+mj-lt"/>
              <a:buAutoNum type="arabicPeriod"/>
            </a:pPr>
            <a:r>
              <a:rPr lang="en-US" sz="2400" dirty="0"/>
              <a:t>select/engineer features</a:t>
            </a:r>
          </a:p>
          <a:p>
            <a:pPr marL="457200" indent="-457200">
              <a:buFont typeface="+mj-lt"/>
              <a:buAutoNum type="arabicPeriod"/>
            </a:pPr>
            <a:r>
              <a:rPr lang="en-US" sz="2400" dirty="0"/>
              <a:t>pick a simple learning/optimization method that worked for that task</a:t>
            </a:r>
          </a:p>
          <a:p>
            <a:pPr marL="914400" lvl="1" indent="-457200">
              <a:buFont typeface="Arial" panose="020B0604020202020204" pitchFamily="34" charset="0"/>
              <a:buChar char="•"/>
            </a:pPr>
            <a:r>
              <a:rPr lang="en-US" sz="2400" dirty="0"/>
              <a:t>sometimes invent a new optimization method</a:t>
            </a:r>
          </a:p>
          <a:p>
            <a:pPr marL="914400" lvl="1" indent="-457200">
              <a:buFont typeface="Arial" panose="020B0604020202020204" pitchFamily="34" charset="0"/>
              <a:buChar char="•"/>
            </a:pPr>
            <a:r>
              <a:rPr lang="en-US" sz="2400" dirty="0"/>
              <a:t>sometimes invent a new representation for models </a:t>
            </a:r>
          </a:p>
        </p:txBody>
      </p:sp>
    </p:spTree>
    <p:extLst>
      <p:ext uri="{BB962C8B-B14F-4D97-AF65-F5344CB8AC3E}">
        <p14:creationId xmlns:p14="http://schemas.microsoft.com/office/powerpoint/2010/main" val="35989132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597D61-13A2-774A-FE8B-86233893EB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746AC9-4A7D-7CFA-BD7E-EF5AB4AFF65A}"/>
              </a:ext>
            </a:extLst>
          </p:cNvPr>
          <p:cNvSpPr>
            <a:spLocks noGrp="1"/>
          </p:cNvSpPr>
          <p:nvPr>
            <p:ph type="title"/>
          </p:nvPr>
        </p:nvSpPr>
        <p:spPr/>
        <p:txBody>
          <a:bodyPr>
            <a:noAutofit/>
          </a:bodyPr>
          <a:lstStyle/>
          <a:p>
            <a:r>
              <a:rPr lang="en-US" sz="3600" dirty="0"/>
              <a:t>Recap: making a large model smaller</a:t>
            </a:r>
          </a:p>
        </p:txBody>
      </p:sp>
      <p:sp>
        <p:nvSpPr>
          <p:cNvPr id="3" name="Content Placeholder 2">
            <a:extLst>
              <a:ext uri="{FF2B5EF4-FFF2-40B4-BE49-F238E27FC236}">
                <a16:creationId xmlns:a16="http://schemas.microsoft.com/office/drawing/2014/main" id="{C1741346-6027-0B69-0422-AE5B696A5510}"/>
              </a:ext>
            </a:extLst>
          </p:cNvPr>
          <p:cNvSpPr>
            <a:spLocks noGrp="1"/>
          </p:cNvSpPr>
          <p:nvPr>
            <p:ph idx="1"/>
          </p:nvPr>
        </p:nvSpPr>
        <p:spPr/>
        <p:txBody>
          <a:bodyPr/>
          <a:lstStyle/>
          <a:p>
            <a:r>
              <a:rPr lang="en-US" dirty="0">
                <a:solidFill>
                  <a:schemeClr val="bg1">
                    <a:lumMod val="50000"/>
                  </a:schemeClr>
                </a:solidFill>
              </a:rPr>
              <a:t>Distillation</a:t>
            </a:r>
          </a:p>
          <a:p>
            <a:pPr lvl="1"/>
            <a:r>
              <a:rPr lang="en-US" dirty="0">
                <a:solidFill>
                  <a:schemeClr val="bg1">
                    <a:lumMod val="50000"/>
                  </a:schemeClr>
                </a:solidFill>
              </a:rPr>
              <a:t>briefly discussed</a:t>
            </a:r>
          </a:p>
          <a:p>
            <a:r>
              <a:rPr lang="en-US" dirty="0"/>
              <a:t>Quantization</a:t>
            </a:r>
          </a:p>
          <a:p>
            <a:r>
              <a:rPr lang="en-US" dirty="0"/>
              <a:t>Pruning</a:t>
            </a:r>
          </a:p>
          <a:p>
            <a:r>
              <a:rPr lang="en-US" dirty="0"/>
              <a:t>Key-Value Cache Management</a:t>
            </a:r>
          </a:p>
          <a:p>
            <a:pPr lvl="1"/>
            <a:r>
              <a:rPr lang="en-US" dirty="0"/>
              <a:t>…which is also pruning</a:t>
            </a:r>
          </a:p>
        </p:txBody>
      </p:sp>
      <p:sp>
        <p:nvSpPr>
          <p:cNvPr id="4" name="TextBox 3">
            <a:extLst>
              <a:ext uri="{FF2B5EF4-FFF2-40B4-BE49-F238E27FC236}">
                <a16:creationId xmlns:a16="http://schemas.microsoft.com/office/drawing/2014/main" id="{07A51D97-A793-8A60-05D7-8937BA620497}"/>
              </a:ext>
            </a:extLst>
          </p:cNvPr>
          <p:cNvSpPr txBox="1"/>
          <p:nvPr/>
        </p:nvSpPr>
        <p:spPr>
          <a:xfrm>
            <a:off x="5306785" y="1898185"/>
            <a:ext cx="3331029" cy="2308324"/>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sz="2400" dirty="0"/>
              <a:t>Quantization, Pruning, and KV Cache Management are really </a:t>
            </a:r>
            <a:r>
              <a:rPr lang="en-US" sz="2400" b="1" dirty="0"/>
              <a:t>learning</a:t>
            </a:r>
            <a:r>
              <a:rPr lang="en-US" sz="2400" dirty="0"/>
              <a:t> problems … with </a:t>
            </a:r>
            <a:r>
              <a:rPr lang="en-US" sz="2400" b="1" dirty="0"/>
              <a:t>constraints</a:t>
            </a:r>
            <a:r>
              <a:rPr lang="en-US" sz="2400" dirty="0"/>
              <a:t> on the model learned</a:t>
            </a:r>
          </a:p>
        </p:txBody>
      </p:sp>
      <p:sp>
        <p:nvSpPr>
          <p:cNvPr id="5" name="TextBox 4">
            <a:extLst>
              <a:ext uri="{FF2B5EF4-FFF2-40B4-BE49-F238E27FC236}">
                <a16:creationId xmlns:a16="http://schemas.microsoft.com/office/drawing/2014/main" id="{A2E27C40-964D-3D9E-3F8C-A34BAF019599}"/>
              </a:ext>
            </a:extLst>
          </p:cNvPr>
          <p:cNvSpPr txBox="1"/>
          <p:nvPr/>
        </p:nvSpPr>
        <p:spPr>
          <a:xfrm>
            <a:off x="4607431" y="4286678"/>
            <a:ext cx="4415011" cy="1938992"/>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sz="2400" dirty="0"/>
              <a:t>Optimization with discrete constraints is harder—you need to find the best way to satisfy the discrete constraints </a:t>
            </a:r>
            <a:r>
              <a:rPr lang="en-US" sz="2400" b="1" dirty="0"/>
              <a:t>and</a:t>
            </a:r>
            <a:r>
              <a:rPr lang="en-US" sz="2400" dirty="0"/>
              <a:t> the best parameters</a:t>
            </a:r>
          </a:p>
        </p:txBody>
      </p:sp>
      <p:sp>
        <p:nvSpPr>
          <p:cNvPr id="6" name="TextBox 5">
            <a:extLst>
              <a:ext uri="{FF2B5EF4-FFF2-40B4-BE49-F238E27FC236}">
                <a16:creationId xmlns:a16="http://schemas.microsoft.com/office/drawing/2014/main" id="{77FC6D81-DFBF-C619-374B-47523C7E7D0A}"/>
              </a:ext>
            </a:extLst>
          </p:cNvPr>
          <p:cNvSpPr txBox="1"/>
          <p:nvPr/>
        </p:nvSpPr>
        <p:spPr>
          <a:xfrm>
            <a:off x="448235" y="5000535"/>
            <a:ext cx="4123765" cy="1200329"/>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sz="2400" dirty="0"/>
              <a:t>Research papers often are searching the discrete part of the space</a:t>
            </a:r>
          </a:p>
        </p:txBody>
      </p:sp>
      <p:sp>
        <p:nvSpPr>
          <p:cNvPr id="7" name="TextBox 6">
            <a:extLst>
              <a:ext uri="{FF2B5EF4-FFF2-40B4-BE49-F238E27FC236}">
                <a16:creationId xmlns:a16="http://schemas.microsoft.com/office/drawing/2014/main" id="{A7B7ED1B-C698-F1DD-474A-921C2FDE9E52}"/>
              </a:ext>
            </a:extLst>
          </p:cNvPr>
          <p:cNvSpPr txBox="1"/>
          <p:nvPr/>
        </p:nvSpPr>
        <p:spPr>
          <a:xfrm>
            <a:off x="892734" y="1253459"/>
            <a:ext cx="4123765" cy="3416320"/>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marL="457200" indent="-457200">
              <a:buFont typeface="+mj-lt"/>
              <a:buAutoNum type="arabicPeriod"/>
            </a:pPr>
            <a:r>
              <a:rPr lang="en-US" sz="2400" dirty="0"/>
              <a:t>Manual rules for satisfying constraints</a:t>
            </a:r>
          </a:p>
          <a:p>
            <a:pPr marL="914400" lvl="1" indent="-457200">
              <a:buFont typeface="Arial" panose="020B0604020202020204" pitchFamily="34" charset="0"/>
              <a:buChar char="•"/>
            </a:pPr>
            <a:r>
              <a:rPr lang="en-US" sz="2400" dirty="0"/>
              <a:t>better rules based on data analysis</a:t>
            </a:r>
          </a:p>
          <a:p>
            <a:pPr marL="914400" lvl="1" indent="-457200">
              <a:buFont typeface="Arial" panose="020B0604020202020204" pitchFamily="34" charset="0"/>
              <a:buChar char="•"/>
            </a:pPr>
            <a:r>
              <a:rPr lang="en-US" sz="2400" dirty="0"/>
              <a:t>better metrics</a:t>
            </a:r>
          </a:p>
          <a:p>
            <a:pPr marL="457200" indent="-457200">
              <a:buFont typeface="+mj-lt"/>
              <a:buAutoNum type="arabicPeriod"/>
            </a:pPr>
            <a:r>
              <a:rPr lang="en-US" sz="2400" dirty="0"/>
              <a:t>Greedy search</a:t>
            </a:r>
          </a:p>
          <a:p>
            <a:pPr marL="457200" indent="-457200">
              <a:buFont typeface="+mj-lt"/>
              <a:buAutoNum type="arabicPeriod"/>
            </a:pPr>
            <a:r>
              <a:rPr lang="en-US" sz="2400" dirty="0"/>
              <a:t>More complex search</a:t>
            </a:r>
          </a:p>
          <a:p>
            <a:pPr marL="457200" indent="-457200">
              <a:buFont typeface="+mj-lt"/>
              <a:buAutoNum type="arabicPeriod"/>
            </a:pPr>
            <a:r>
              <a:rPr lang="en-US" sz="2400" dirty="0"/>
              <a:t>Adaptive methods</a:t>
            </a:r>
          </a:p>
          <a:p>
            <a:pPr marL="457200" indent="-457200">
              <a:buFont typeface="+mj-lt"/>
              <a:buAutoNum type="arabicPeriod"/>
            </a:pPr>
            <a:r>
              <a:rPr lang="en-US" sz="2400" dirty="0"/>
              <a:t>…</a:t>
            </a:r>
          </a:p>
        </p:txBody>
      </p:sp>
    </p:spTree>
    <p:extLst>
      <p:ext uri="{BB962C8B-B14F-4D97-AF65-F5344CB8AC3E}">
        <p14:creationId xmlns:p14="http://schemas.microsoft.com/office/powerpoint/2010/main" val="40839779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56822C-3F6B-4CC6-4622-8772D6C329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7FF511-AA6B-B536-224C-CE18E5780F5E}"/>
              </a:ext>
            </a:extLst>
          </p:cNvPr>
          <p:cNvSpPr>
            <a:spLocks noGrp="1"/>
          </p:cNvSpPr>
          <p:nvPr>
            <p:ph type="title"/>
          </p:nvPr>
        </p:nvSpPr>
        <p:spPr/>
        <p:txBody>
          <a:bodyPr>
            <a:normAutofit/>
          </a:bodyPr>
          <a:lstStyle/>
          <a:p>
            <a:r>
              <a:rPr lang="en-US" dirty="0"/>
              <a:t>Quantization: Background</a:t>
            </a:r>
          </a:p>
        </p:txBody>
      </p:sp>
      <p:sp>
        <p:nvSpPr>
          <p:cNvPr id="3" name="Content Placeholder 2">
            <a:extLst>
              <a:ext uri="{FF2B5EF4-FFF2-40B4-BE49-F238E27FC236}">
                <a16:creationId xmlns:a16="http://schemas.microsoft.com/office/drawing/2014/main" id="{86EFB97F-8B45-4828-6D8B-08FBFC3CC885}"/>
              </a:ext>
            </a:extLst>
          </p:cNvPr>
          <p:cNvSpPr>
            <a:spLocks noGrp="1"/>
          </p:cNvSpPr>
          <p:nvPr>
            <p:ph idx="1"/>
          </p:nvPr>
        </p:nvSpPr>
        <p:spPr>
          <a:xfrm>
            <a:off x="279400" y="1257300"/>
            <a:ext cx="8113486" cy="2465614"/>
          </a:xfrm>
        </p:spPr>
        <p:txBody>
          <a:bodyPr>
            <a:normAutofit fontScale="77500" lnSpcReduction="20000"/>
          </a:bodyPr>
          <a:lstStyle/>
          <a:p>
            <a:r>
              <a:rPr lang="en-US" dirty="0"/>
              <a:t>Working with even fp32 requires some care</a:t>
            </a:r>
          </a:p>
          <a:p>
            <a:pPr lvl="1"/>
            <a:r>
              <a:rPr lang="en-US" dirty="0"/>
              <a:t>E.g., accelerators support “fused multiply add” (FMA) </a:t>
            </a:r>
          </a:p>
          <a:p>
            <a:pPr lvl="2"/>
            <a:r>
              <a:rPr lang="en-US" dirty="0"/>
              <a:t>FMA(</a:t>
            </a:r>
            <a:r>
              <a:rPr lang="en-US" dirty="0" err="1"/>
              <a:t>x,y,z</a:t>
            </a:r>
            <a:r>
              <a:rPr lang="en-US" dirty="0"/>
              <a:t>)=round(x*y + z)  != round(round(x*y) + z)</a:t>
            </a:r>
          </a:p>
          <a:p>
            <a:pPr lvl="1"/>
            <a:r>
              <a:rPr lang="en-US" dirty="0"/>
              <a:t>Dot product computation is chain of FMAs</a:t>
            </a:r>
          </a:p>
          <a:p>
            <a:r>
              <a:rPr lang="en-US" dirty="0"/>
              <a:t>FP16 usually is part of mixed precision training</a:t>
            </a:r>
          </a:p>
          <a:p>
            <a:pPr lvl="1"/>
            <a:endParaRPr lang="en-US" dirty="0"/>
          </a:p>
        </p:txBody>
      </p:sp>
      <p:pic>
        <p:nvPicPr>
          <p:cNvPr id="1026" name="Picture 2">
            <a:extLst>
              <a:ext uri="{FF2B5EF4-FFF2-40B4-BE49-F238E27FC236}">
                <a16:creationId xmlns:a16="http://schemas.microsoft.com/office/drawing/2014/main" id="{EAA16A8D-DFC2-974C-2FD0-3A2C15C5818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2469" y="3883252"/>
            <a:ext cx="6103620" cy="2018393"/>
          </a:xfrm>
          <a:prstGeom prst="rect">
            <a:avLst/>
          </a:prstGeom>
          <a:noFill/>
          <a:extLst>
            <a:ext uri="{909E8E84-426E-40DD-AFC4-6F175D3DCCD1}">
              <a14:hiddenFill xmlns:a14="http://schemas.microsoft.com/office/drawing/2010/main">
                <a:solidFill>
                  <a:srgbClr val="FFFFFF"/>
                </a:solidFill>
              </a14:hiddenFill>
            </a:ext>
          </a:extLst>
        </p:spPr>
      </p:pic>
      <p:sp>
        <p:nvSpPr>
          <p:cNvPr id="4" name="Content Placeholder 2">
            <a:extLst>
              <a:ext uri="{FF2B5EF4-FFF2-40B4-BE49-F238E27FC236}">
                <a16:creationId xmlns:a16="http://schemas.microsoft.com/office/drawing/2014/main" id="{F970B22A-9F5B-BAB1-4B20-1D7E554DA85C}"/>
              </a:ext>
            </a:extLst>
          </p:cNvPr>
          <p:cNvSpPr txBox="1">
            <a:spLocks/>
          </p:cNvSpPr>
          <p:nvPr/>
        </p:nvSpPr>
        <p:spPr>
          <a:xfrm>
            <a:off x="279400" y="6061983"/>
            <a:ext cx="7623629" cy="632731"/>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Calibri"/>
                <a:ea typeface="+mn-ea"/>
                <a:cs typeface="Calibri"/>
              </a:defRPr>
            </a:lvl1pPr>
            <a:lvl2pPr marL="742950" indent="-285750" algn="l" defTabSz="457200" rtl="0" eaLnBrk="1" latinLnBrk="0" hangingPunct="1">
              <a:spcBef>
                <a:spcPct val="20000"/>
              </a:spcBef>
              <a:buFont typeface="Arial"/>
              <a:buChar char="–"/>
              <a:defRPr sz="3200" kern="1200">
                <a:solidFill>
                  <a:schemeClr val="tx1"/>
                </a:solidFill>
                <a:latin typeface="Calibri"/>
                <a:ea typeface="+mn-ea"/>
                <a:cs typeface="Calibri"/>
              </a:defRPr>
            </a:lvl2pPr>
            <a:lvl3pPr marL="1143000" indent="-228600" algn="l" defTabSz="457200" rtl="0" eaLnBrk="1" latinLnBrk="0" hangingPunct="1">
              <a:spcBef>
                <a:spcPct val="20000"/>
              </a:spcBef>
              <a:buFont typeface="Arial"/>
              <a:buChar char="•"/>
              <a:defRPr sz="2800" kern="1200">
                <a:solidFill>
                  <a:schemeClr val="tx1"/>
                </a:solidFill>
                <a:latin typeface="Calibri"/>
                <a:ea typeface="+mn-ea"/>
                <a:cs typeface="Calibri"/>
              </a:defRPr>
            </a:lvl3pPr>
            <a:lvl4pPr marL="1600200" indent="-228600" algn="l" defTabSz="457200" rtl="0" eaLnBrk="1" latinLnBrk="0" hangingPunct="1">
              <a:spcBef>
                <a:spcPct val="20000"/>
              </a:spcBef>
              <a:buFont typeface="Arial"/>
              <a:buChar char="–"/>
              <a:defRPr sz="2400" kern="1200">
                <a:solidFill>
                  <a:schemeClr val="tx1"/>
                </a:solidFill>
                <a:latin typeface="Calibri"/>
                <a:ea typeface="+mn-ea"/>
                <a:cs typeface="Calibri"/>
              </a:defRPr>
            </a:lvl4pPr>
            <a:lvl5pPr marL="2057400" indent="-228600" algn="l" defTabSz="457200" rtl="0" eaLnBrk="1" latinLnBrk="0" hangingPunct="1">
              <a:spcBef>
                <a:spcPct val="20000"/>
              </a:spcBef>
              <a:buFont typeface="Arial"/>
              <a:buChar char="»"/>
              <a:defRPr sz="2400" kern="1200">
                <a:solidFill>
                  <a:schemeClr val="tx1"/>
                </a:solidFill>
                <a:latin typeface="Calibri"/>
                <a:ea typeface="+mn-ea"/>
                <a:cs typeface="Calibri"/>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err="1"/>
              <a:t>Matmul</a:t>
            </a:r>
            <a:r>
              <a:rPr lang="en-US" dirty="0"/>
              <a:t> precision can also be adjusted</a:t>
            </a:r>
          </a:p>
          <a:p>
            <a:pPr lvl="1"/>
            <a:endParaRPr lang="en-US" dirty="0"/>
          </a:p>
        </p:txBody>
      </p:sp>
      <p:sp>
        <p:nvSpPr>
          <p:cNvPr id="5" name="TextBox 4">
            <a:extLst>
              <a:ext uri="{FF2B5EF4-FFF2-40B4-BE49-F238E27FC236}">
                <a16:creationId xmlns:a16="http://schemas.microsoft.com/office/drawing/2014/main" id="{1DD02156-6370-E709-4A15-6AEBD1FBD786}"/>
              </a:ext>
            </a:extLst>
          </p:cNvPr>
          <p:cNvSpPr txBox="1"/>
          <p:nvPr/>
        </p:nvSpPr>
        <p:spPr>
          <a:xfrm>
            <a:off x="279400" y="3421587"/>
            <a:ext cx="8864601" cy="46166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sz="2400" dirty="0"/>
              <a:t>optimizer </a:t>
            </a:r>
            <a:r>
              <a:rPr lang="en-US" sz="2400" b="1" dirty="0"/>
              <a:t>accumulates </a:t>
            </a:r>
            <a:r>
              <a:rPr lang="en-US" sz="2400" dirty="0"/>
              <a:t>gradients and </a:t>
            </a:r>
            <a:r>
              <a:rPr lang="en-US" sz="2400" b="1" dirty="0"/>
              <a:t>scales by LR</a:t>
            </a:r>
            <a:endParaRPr lang="en-US" sz="2400" dirty="0"/>
          </a:p>
        </p:txBody>
      </p:sp>
      <p:sp>
        <p:nvSpPr>
          <p:cNvPr id="6" name="TextBox 5">
            <a:extLst>
              <a:ext uri="{FF2B5EF4-FFF2-40B4-BE49-F238E27FC236}">
                <a16:creationId xmlns:a16="http://schemas.microsoft.com/office/drawing/2014/main" id="{D9F306D3-D3B2-F482-E007-B7900661CDA3}"/>
              </a:ext>
            </a:extLst>
          </p:cNvPr>
          <p:cNvSpPr txBox="1"/>
          <p:nvPr/>
        </p:nvSpPr>
        <p:spPr>
          <a:xfrm>
            <a:off x="7512424" y="131762"/>
            <a:ext cx="1415676" cy="52322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rtlCol="0">
            <a:spAutoFit/>
          </a:bodyPr>
          <a:lstStyle/>
          <a:p>
            <a:pPr algn="r"/>
            <a:r>
              <a:rPr lang="en-US" sz="2800" dirty="0"/>
              <a:t>Recap</a:t>
            </a:r>
          </a:p>
        </p:txBody>
      </p:sp>
      <p:sp>
        <p:nvSpPr>
          <p:cNvPr id="7" name="TextBox 6">
            <a:extLst>
              <a:ext uri="{FF2B5EF4-FFF2-40B4-BE49-F238E27FC236}">
                <a16:creationId xmlns:a16="http://schemas.microsoft.com/office/drawing/2014/main" id="{EF7F7F35-CD6A-C881-0821-02E5306B6A32}"/>
              </a:ext>
            </a:extLst>
          </p:cNvPr>
          <p:cNvSpPr txBox="1"/>
          <p:nvPr/>
        </p:nvSpPr>
        <p:spPr>
          <a:xfrm>
            <a:off x="1066800" y="1184351"/>
            <a:ext cx="7521387" cy="1384995"/>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US" sz="2800" dirty="0"/>
              <a:t>Optimize parameter values via gradient descent (as usual) subject to </a:t>
            </a:r>
            <a:r>
              <a:rPr lang="en-US" sz="2800" b="1" dirty="0"/>
              <a:t>constraint</a:t>
            </a:r>
            <a:r>
              <a:rPr lang="en-US" sz="2800" dirty="0"/>
              <a:t>:</a:t>
            </a:r>
          </a:p>
          <a:p>
            <a:pPr marL="457200" indent="-457200">
              <a:buFont typeface="Arial" panose="020B0604020202020204" pitchFamily="34" charset="0"/>
              <a:buChar char="•"/>
            </a:pPr>
            <a:r>
              <a:rPr lang="en-US" sz="2800" b="1" dirty="0">
                <a:solidFill>
                  <a:srgbClr val="FF0000"/>
                </a:solidFill>
              </a:rPr>
              <a:t>parameters are stored in bfloat16</a:t>
            </a:r>
          </a:p>
        </p:txBody>
      </p:sp>
    </p:spTree>
    <p:extLst>
      <p:ext uri="{BB962C8B-B14F-4D97-AF65-F5344CB8AC3E}">
        <p14:creationId xmlns:p14="http://schemas.microsoft.com/office/powerpoint/2010/main" val="7296650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EEF48B-8C89-F882-2DB1-B911082FDE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69E590-D0A7-1AD1-9F40-0B97B264FB46}"/>
              </a:ext>
            </a:extLst>
          </p:cNvPr>
          <p:cNvSpPr>
            <a:spLocks noGrp="1"/>
          </p:cNvSpPr>
          <p:nvPr>
            <p:ph type="title"/>
          </p:nvPr>
        </p:nvSpPr>
        <p:spPr/>
        <p:txBody>
          <a:bodyPr>
            <a:normAutofit/>
          </a:bodyPr>
          <a:lstStyle/>
          <a:p>
            <a:r>
              <a:rPr lang="en-US" dirty="0"/>
              <a:t>Quantization: Beyond 16 bits</a:t>
            </a:r>
          </a:p>
        </p:txBody>
      </p:sp>
      <p:sp>
        <p:nvSpPr>
          <p:cNvPr id="3" name="Content Placeholder 2">
            <a:extLst>
              <a:ext uri="{FF2B5EF4-FFF2-40B4-BE49-F238E27FC236}">
                <a16:creationId xmlns:a16="http://schemas.microsoft.com/office/drawing/2014/main" id="{EF1FE2D6-73D6-7B3A-C8AC-45E07AA24577}"/>
              </a:ext>
            </a:extLst>
          </p:cNvPr>
          <p:cNvSpPr>
            <a:spLocks noGrp="1"/>
          </p:cNvSpPr>
          <p:nvPr>
            <p:ph idx="1"/>
          </p:nvPr>
        </p:nvSpPr>
        <p:spPr/>
        <p:txBody>
          <a:bodyPr>
            <a:normAutofit fontScale="85000" lnSpcReduction="20000"/>
          </a:bodyPr>
          <a:lstStyle/>
          <a:p>
            <a:r>
              <a:rPr lang="en-US" dirty="0"/>
              <a:t>Going from fp32 </a:t>
            </a:r>
            <a:r>
              <a:rPr lang="en-US" dirty="0">
                <a:sym typeface="Wingdings" pitchFamily="2" charset="2"/>
              </a:rPr>
              <a:t> int8 or int4 requires some tricks:</a:t>
            </a:r>
          </a:p>
          <a:p>
            <a:pPr lvl="1"/>
            <a:r>
              <a:rPr lang="en-US" dirty="0">
                <a:sym typeface="Wingdings" pitchFamily="2" charset="2"/>
              </a:rPr>
              <a:t>Quantize </a:t>
            </a:r>
            <a:r>
              <a:rPr lang="en-US" b="1" dirty="0">
                <a:sym typeface="Wingdings" pitchFamily="2" charset="2"/>
              </a:rPr>
              <a:t>different parts </a:t>
            </a:r>
            <a:r>
              <a:rPr lang="en-US" dirty="0">
                <a:sym typeface="Wingdings" pitchFamily="2" charset="2"/>
              </a:rPr>
              <a:t>of the model differently</a:t>
            </a:r>
          </a:p>
          <a:p>
            <a:pPr lvl="2"/>
            <a:r>
              <a:rPr lang="en-US" dirty="0">
                <a:sym typeface="Wingdings" pitchFamily="2" charset="2"/>
              </a:rPr>
              <a:t>quantize(x; S, Z) = round(x/S + Z)</a:t>
            </a:r>
          </a:p>
          <a:p>
            <a:pPr lvl="3"/>
            <a:r>
              <a:rPr lang="en-US" dirty="0">
                <a:sym typeface="Wingdings" pitchFamily="2" charset="2"/>
              </a:rPr>
              <a:t>S is “scale”</a:t>
            </a:r>
          </a:p>
          <a:p>
            <a:pPr lvl="3"/>
            <a:r>
              <a:rPr lang="en-US" dirty="0">
                <a:sym typeface="Wingdings" pitchFamily="2" charset="2"/>
              </a:rPr>
              <a:t>Z is “zero point”</a:t>
            </a:r>
          </a:p>
          <a:p>
            <a:pPr lvl="3"/>
            <a:r>
              <a:rPr lang="en-US" dirty="0">
                <a:sym typeface="Wingdings" pitchFamily="2" charset="2"/>
              </a:rPr>
              <a:t>S, Z are set for this model slice to get the needed range [⍺,β]</a:t>
            </a:r>
          </a:p>
          <a:p>
            <a:pPr lvl="2"/>
            <a:r>
              <a:rPr lang="en-US" dirty="0">
                <a:sym typeface="Wingdings" pitchFamily="2" charset="2"/>
              </a:rPr>
              <a:t>do as </a:t>
            </a:r>
            <a:r>
              <a:rPr lang="en-US" b="1" dirty="0">
                <a:sym typeface="Wingdings" pitchFamily="2" charset="2"/>
              </a:rPr>
              <a:t>much as you can in quantized </a:t>
            </a:r>
            <a:r>
              <a:rPr lang="en-US" dirty="0">
                <a:sym typeface="Wingdings" pitchFamily="2" charset="2"/>
              </a:rPr>
              <a:t>space instead of quantizing and de-quantizing frequently (the FMA trick)</a:t>
            </a:r>
          </a:p>
          <a:p>
            <a:pPr lvl="3"/>
            <a:r>
              <a:rPr lang="en-US" dirty="0">
                <a:sym typeface="Wingdings" pitchFamily="2" charset="2"/>
              </a:rPr>
              <a:t>complete </a:t>
            </a:r>
            <a:r>
              <a:rPr lang="en-US" dirty="0" err="1">
                <a:sym typeface="Wingdings" pitchFamily="2" charset="2"/>
              </a:rPr>
              <a:t>matmul</a:t>
            </a:r>
            <a:r>
              <a:rPr lang="en-US" dirty="0">
                <a:sym typeface="Wingdings" pitchFamily="2" charset="2"/>
              </a:rPr>
              <a:t>, conv2D-BatchNorm-ReLU</a:t>
            </a:r>
          </a:p>
          <a:p>
            <a:pPr lvl="1"/>
            <a:r>
              <a:rPr lang="en-US" dirty="0">
                <a:sym typeface="Wingdings" pitchFamily="2" charset="2"/>
              </a:rPr>
              <a:t>Quantize </a:t>
            </a:r>
            <a:r>
              <a:rPr lang="en-US" b="1" dirty="0">
                <a:sym typeface="Wingdings" pitchFamily="2" charset="2"/>
              </a:rPr>
              <a:t>dynamically</a:t>
            </a:r>
          </a:p>
          <a:p>
            <a:pPr lvl="2"/>
            <a:r>
              <a:rPr lang="en-US" dirty="0">
                <a:sym typeface="Wingdings" pitchFamily="2" charset="2"/>
              </a:rPr>
              <a:t>set S, Z after you see the activation values</a:t>
            </a:r>
          </a:p>
          <a:p>
            <a:pPr lvl="1"/>
            <a:r>
              <a:rPr lang="en-US" b="1" dirty="0">
                <a:sym typeface="Wingdings" pitchFamily="2" charset="2"/>
              </a:rPr>
              <a:t>Don’t quantize </a:t>
            </a:r>
            <a:r>
              <a:rPr lang="en-US" dirty="0">
                <a:sym typeface="Wingdings" pitchFamily="2" charset="2"/>
              </a:rPr>
              <a:t>everything</a:t>
            </a:r>
          </a:p>
          <a:p>
            <a:pPr lvl="2"/>
            <a:r>
              <a:rPr lang="en-US" dirty="0" err="1">
                <a:sym typeface="Wingdings" pitchFamily="2" charset="2"/>
              </a:rPr>
              <a:t>eg</a:t>
            </a:r>
            <a:r>
              <a:rPr lang="en-US" dirty="0">
                <a:sym typeface="Wingdings" pitchFamily="2" charset="2"/>
              </a:rPr>
              <a:t> bias layers aren’t usually quantized</a:t>
            </a:r>
            <a:endParaRPr lang="en-US" dirty="0"/>
          </a:p>
          <a:p>
            <a:endParaRPr lang="en-US" dirty="0"/>
          </a:p>
        </p:txBody>
      </p:sp>
      <p:sp>
        <p:nvSpPr>
          <p:cNvPr id="4" name="TextBox 3">
            <a:extLst>
              <a:ext uri="{FF2B5EF4-FFF2-40B4-BE49-F238E27FC236}">
                <a16:creationId xmlns:a16="http://schemas.microsoft.com/office/drawing/2014/main" id="{02FED659-6C80-1FA1-E868-4A3386950F92}"/>
              </a:ext>
            </a:extLst>
          </p:cNvPr>
          <p:cNvSpPr txBox="1"/>
          <p:nvPr/>
        </p:nvSpPr>
        <p:spPr>
          <a:xfrm>
            <a:off x="7512424" y="131762"/>
            <a:ext cx="1415676" cy="52322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rtlCol="0">
            <a:spAutoFit/>
          </a:bodyPr>
          <a:lstStyle/>
          <a:p>
            <a:pPr algn="r"/>
            <a:r>
              <a:rPr lang="en-US" sz="2800" dirty="0"/>
              <a:t>Recap</a:t>
            </a:r>
          </a:p>
        </p:txBody>
      </p:sp>
      <p:sp>
        <p:nvSpPr>
          <p:cNvPr id="5" name="TextBox 4">
            <a:extLst>
              <a:ext uri="{FF2B5EF4-FFF2-40B4-BE49-F238E27FC236}">
                <a16:creationId xmlns:a16="http://schemas.microsoft.com/office/drawing/2014/main" id="{93EE3B57-3EAF-AAA6-0D4D-413C0F91F11B}"/>
              </a:ext>
            </a:extLst>
          </p:cNvPr>
          <p:cNvSpPr txBox="1"/>
          <p:nvPr/>
        </p:nvSpPr>
        <p:spPr>
          <a:xfrm>
            <a:off x="215899" y="2027843"/>
            <a:ext cx="8534399" cy="2246769"/>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US" sz="2800" dirty="0"/>
              <a:t>Optimize parameter values via gradient descent (as usual) subject to </a:t>
            </a:r>
            <a:r>
              <a:rPr lang="en-US" sz="2800" b="1" dirty="0"/>
              <a:t>constraint</a:t>
            </a:r>
            <a:r>
              <a:rPr lang="en-US" sz="2800" dirty="0"/>
              <a:t>:</a:t>
            </a:r>
          </a:p>
          <a:p>
            <a:pPr marL="457200" indent="-457200">
              <a:buFont typeface="Arial" panose="020B0604020202020204" pitchFamily="34" charset="0"/>
              <a:buChar char="•"/>
            </a:pPr>
            <a:r>
              <a:rPr lang="en-US" sz="2800" dirty="0">
                <a:solidFill>
                  <a:schemeClr val="tx1"/>
                </a:solidFill>
              </a:rPr>
              <a:t>groups of parameters are stored in int8/int4</a:t>
            </a:r>
          </a:p>
          <a:p>
            <a:pPr marL="457200" indent="-457200">
              <a:buFont typeface="Arial" panose="020B0604020202020204" pitchFamily="34" charset="0"/>
              <a:buChar char="•"/>
            </a:pPr>
            <a:r>
              <a:rPr lang="en-US" sz="2800" dirty="0">
                <a:solidFill>
                  <a:schemeClr val="tx1"/>
                </a:solidFill>
              </a:rPr>
              <a:t>multiple S,Z optimized independently by group</a:t>
            </a:r>
          </a:p>
          <a:p>
            <a:pPr marL="457200" indent="-457200">
              <a:buFont typeface="Arial" panose="020B0604020202020204" pitchFamily="34" charset="0"/>
              <a:buChar char="•"/>
            </a:pPr>
            <a:r>
              <a:rPr lang="en-US" sz="2800" dirty="0">
                <a:solidFill>
                  <a:schemeClr val="tx1"/>
                </a:solidFill>
              </a:rPr>
              <a:t>groups to be quantized: by manual rules</a:t>
            </a:r>
          </a:p>
        </p:txBody>
      </p:sp>
      <p:cxnSp>
        <p:nvCxnSpPr>
          <p:cNvPr id="7" name="Straight Arrow Connector 6">
            <a:extLst>
              <a:ext uri="{FF2B5EF4-FFF2-40B4-BE49-F238E27FC236}">
                <a16:creationId xmlns:a16="http://schemas.microsoft.com/office/drawing/2014/main" id="{7C58C868-CB6B-CA59-F317-FA6543D17FFA}"/>
              </a:ext>
            </a:extLst>
          </p:cNvPr>
          <p:cNvCxnSpPr/>
          <p:nvPr/>
        </p:nvCxnSpPr>
        <p:spPr>
          <a:xfrm flipH="1">
            <a:off x="5091953" y="4291732"/>
            <a:ext cx="2420471" cy="1087092"/>
          </a:xfrm>
          <a:prstGeom prst="straightConnector1">
            <a:avLst/>
          </a:prstGeom>
          <a:ln w="57150">
            <a:tailEnd type="triangle"/>
          </a:ln>
        </p:spPr>
        <p:style>
          <a:lnRef idx="2">
            <a:schemeClr val="accent3"/>
          </a:lnRef>
          <a:fillRef idx="0">
            <a:schemeClr val="accent3"/>
          </a:fillRef>
          <a:effectRef idx="1">
            <a:schemeClr val="accent3"/>
          </a:effectRef>
          <a:fontRef idx="minor">
            <a:schemeClr val="tx1"/>
          </a:fontRef>
        </p:style>
      </p:cxnSp>
      <p:sp>
        <p:nvSpPr>
          <p:cNvPr id="8" name="TextBox 7">
            <a:extLst>
              <a:ext uri="{FF2B5EF4-FFF2-40B4-BE49-F238E27FC236}">
                <a16:creationId xmlns:a16="http://schemas.microsoft.com/office/drawing/2014/main" id="{47D0D62D-C254-9027-070B-1E66AD71FC78}"/>
              </a:ext>
            </a:extLst>
          </p:cNvPr>
          <p:cNvSpPr txBox="1"/>
          <p:nvPr/>
        </p:nvSpPr>
        <p:spPr>
          <a:xfrm>
            <a:off x="412750" y="5141214"/>
            <a:ext cx="8318500" cy="954107"/>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US" sz="2800" dirty="0">
                <a:solidFill>
                  <a:schemeClr val="tx1"/>
                </a:solidFill>
              </a:rPr>
              <a:t>subset to be quantized is chosen with manually fixed rules </a:t>
            </a:r>
            <a:r>
              <a:rPr lang="en-US" sz="2800" dirty="0">
                <a:solidFill>
                  <a:srgbClr val="FF0000"/>
                </a:solidFill>
              </a:rPr>
              <a:t>(int8: based on activation values)</a:t>
            </a:r>
          </a:p>
        </p:txBody>
      </p:sp>
      <p:sp>
        <p:nvSpPr>
          <p:cNvPr id="9" name="TextBox 8">
            <a:extLst>
              <a:ext uri="{FF2B5EF4-FFF2-40B4-BE49-F238E27FC236}">
                <a16:creationId xmlns:a16="http://schemas.microsoft.com/office/drawing/2014/main" id="{A2529AD5-EEC4-B5D3-97E2-6201ED133350}"/>
              </a:ext>
            </a:extLst>
          </p:cNvPr>
          <p:cNvSpPr txBox="1"/>
          <p:nvPr/>
        </p:nvSpPr>
        <p:spPr>
          <a:xfrm>
            <a:off x="215899" y="207134"/>
            <a:ext cx="8318500" cy="954107"/>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pPr marL="514350" indent="-514350">
              <a:buFont typeface="+mj-lt"/>
              <a:buAutoNum type="arabicPeriod"/>
            </a:pPr>
            <a:r>
              <a:rPr lang="en-US" sz="2800" dirty="0">
                <a:solidFill>
                  <a:srgbClr val="FF0000"/>
                </a:solidFill>
              </a:rPr>
              <a:t>Optimize weights by training LLM</a:t>
            </a:r>
          </a:p>
          <a:p>
            <a:pPr marL="514350" indent="-514350">
              <a:buFont typeface="+mj-lt"/>
              <a:buAutoNum type="arabicPeriod"/>
            </a:pPr>
            <a:r>
              <a:rPr lang="en-US" sz="2800" dirty="0">
                <a:solidFill>
                  <a:srgbClr val="FF0000"/>
                </a:solidFill>
              </a:rPr>
              <a:t>Optimize quantization next (don’t retrain)</a:t>
            </a:r>
          </a:p>
        </p:txBody>
      </p:sp>
    </p:spTree>
    <p:extLst>
      <p:ext uri="{BB962C8B-B14F-4D97-AF65-F5344CB8AC3E}">
        <p14:creationId xmlns:p14="http://schemas.microsoft.com/office/powerpoint/2010/main" val="17071737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8" grpId="0" animBg="1"/>
      <p:bldP spid="9"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131740-9589-8E04-DA27-499CAFEE76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20A30B-2207-B42A-0CBD-75FB537E1D4A}"/>
              </a:ext>
            </a:extLst>
          </p:cNvPr>
          <p:cNvSpPr>
            <a:spLocks noGrp="1"/>
          </p:cNvSpPr>
          <p:nvPr>
            <p:ph type="title"/>
          </p:nvPr>
        </p:nvSpPr>
        <p:spPr/>
        <p:txBody>
          <a:bodyPr>
            <a:normAutofit/>
          </a:bodyPr>
          <a:lstStyle/>
          <a:p>
            <a:r>
              <a:rPr lang="en-US" dirty="0"/>
              <a:t>Quantization: Beyond 16 bits</a:t>
            </a:r>
          </a:p>
        </p:txBody>
      </p:sp>
      <p:sp>
        <p:nvSpPr>
          <p:cNvPr id="3" name="Content Placeholder 2">
            <a:extLst>
              <a:ext uri="{FF2B5EF4-FFF2-40B4-BE49-F238E27FC236}">
                <a16:creationId xmlns:a16="http://schemas.microsoft.com/office/drawing/2014/main" id="{1BF81D16-A587-CB73-AC5C-E0761E1E1CC3}"/>
              </a:ext>
            </a:extLst>
          </p:cNvPr>
          <p:cNvSpPr>
            <a:spLocks noGrp="1"/>
          </p:cNvSpPr>
          <p:nvPr>
            <p:ph idx="1"/>
          </p:nvPr>
        </p:nvSpPr>
        <p:spPr>
          <a:xfrm>
            <a:off x="279400" y="1257300"/>
            <a:ext cx="4330700" cy="5124450"/>
          </a:xfrm>
        </p:spPr>
        <p:txBody>
          <a:bodyPr>
            <a:normAutofit fontScale="77500" lnSpcReduction="20000"/>
          </a:bodyPr>
          <a:lstStyle/>
          <a:p>
            <a:r>
              <a:rPr lang="en-US" b="1" dirty="0"/>
              <a:t>Feature</a:t>
            </a:r>
            <a:r>
              <a:rPr lang="en-US" dirty="0"/>
              <a:t>: any single dimension of a token representation</a:t>
            </a:r>
          </a:p>
          <a:p>
            <a:r>
              <a:rPr lang="en-US" b="1" dirty="0"/>
              <a:t>Outlier feature: </a:t>
            </a:r>
            <a:r>
              <a:rPr lang="en-US" dirty="0"/>
              <a:t>magnitude &gt;= 6 in 25% of the layers and 6% of “sequence dimensions”</a:t>
            </a:r>
          </a:p>
          <a:p>
            <a:pPr lvl="1"/>
            <a:r>
              <a:rPr lang="en-US" b="1" dirty="0"/>
              <a:t>sequence dimension: </a:t>
            </a:r>
            <a:r>
              <a:rPr lang="en-US" dirty="0"/>
              <a:t>token positions</a:t>
            </a:r>
          </a:p>
          <a:p>
            <a:r>
              <a:rPr lang="en-US" b="1" dirty="0"/>
              <a:t>Observation</a:t>
            </a:r>
            <a:r>
              <a:rPr lang="en-US" dirty="0"/>
              <a:t>: outliers are</a:t>
            </a:r>
          </a:p>
          <a:p>
            <a:pPr lvl="1"/>
            <a:r>
              <a:rPr lang="en-US" dirty="0"/>
              <a:t>probabilistic in smaller models (in some layers and not others)</a:t>
            </a:r>
          </a:p>
          <a:p>
            <a:pPr lvl="1"/>
            <a:r>
              <a:rPr lang="en-US" dirty="0"/>
              <a:t>systematic</a:t>
            </a:r>
            <a:r>
              <a:rPr lang="en-US" b="1" dirty="0"/>
              <a:t> </a:t>
            </a:r>
            <a:r>
              <a:rPr lang="en-US" dirty="0"/>
              <a:t>in larger models (most layers)</a:t>
            </a:r>
            <a:endParaRPr lang="en-US" b="1" dirty="0"/>
          </a:p>
        </p:txBody>
      </p:sp>
      <p:pic>
        <p:nvPicPr>
          <p:cNvPr id="5" name="Picture 4">
            <a:extLst>
              <a:ext uri="{FF2B5EF4-FFF2-40B4-BE49-F238E27FC236}">
                <a16:creationId xmlns:a16="http://schemas.microsoft.com/office/drawing/2014/main" id="{55EAD951-A4F3-126B-FAAA-2C9220BFC177}"/>
              </a:ext>
            </a:extLst>
          </p:cNvPr>
          <p:cNvPicPr>
            <a:picLocks noChangeAspect="1"/>
          </p:cNvPicPr>
          <p:nvPr/>
        </p:nvPicPr>
        <p:blipFill>
          <a:blip r:embed="rId3"/>
          <a:stretch>
            <a:fillRect/>
          </a:stretch>
        </p:blipFill>
        <p:spPr>
          <a:xfrm>
            <a:off x="4572000" y="1257300"/>
            <a:ext cx="4533900" cy="3860800"/>
          </a:xfrm>
          <a:prstGeom prst="rect">
            <a:avLst/>
          </a:prstGeom>
        </p:spPr>
      </p:pic>
      <p:sp>
        <p:nvSpPr>
          <p:cNvPr id="6" name="TextBox 5">
            <a:extLst>
              <a:ext uri="{FF2B5EF4-FFF2-40B4-BE49-F238E27FC236}">
                <a16:creationId xmlns:a16="http://schemas.microsoft.com/office/drawing/2014/main" id="{C298470F-816D-0917-F139-6690A0A6E3DF}"/>
              </a:ext>
            </a:extLst>
          </p:cNvPr>
          <p:cNvSpPr txBox="1"/>
          <p:nvPr/>
        </p:nvSpPr>
        <p:spPr>
          <a:xfrm>
            <a:off x="4610100" y="5278438"/>
            <a:ext cx="4330701" cy="830997"/>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sz="2400" dirty="0"/>
              <a:t>Hypothesis: outlier features are why int8 stops working!</a:t>
            </a:r>
          </a:p>
        </p:txBody>
      </p:sp>
      <p:sp>
        <p:nvSpPr>
          <p:cNvPr id="4" name="TextBox 3">
            <a:extLst>
              <a:ext uri="{FF2B5EF4-FFF2-40B4-BE49-F238E27FC236}">
                <a16:creationId xmlns:a16="http://schemas.microsoft.com/office/drawing/2014/main" id="{812AD5C5-BD3B-0D9B-0C67-DC77A65C8171}"/>
              </a:ext>
            </a:extLst>
          </p:cNvPr>
          <p:cNvSpPr txBox="1"/>
          <p:nvPr/>
        </p:nvSpPr>
        <p:spPr>
          <a:xfrm>
            <a:off x="7512424" y="131762"/>
            <a:ext cx="1415676" cy="52322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rtlCol="0">
            <a:spAutoFit/>
          </a:bodyPr>
          <a:lstStyle/>
          <a:p>
            <a:pPr algn="r"/>
            <a:r>
              <a:rPr lang="en-US" sz="2800" dirty="0"/>
              <a:t>Recap</a:t>
            </a:r>
          </a:p>
        </p:txBody>
      </p:sp>
    </p:spTree>
    <p:extLst>
      <p:ext uri="{BB962C8B-B14F-4D97-AF65-F5344CB8AC3E}">
        <p14:creationId xmlns:p14="http://schemas.microsoft.com/office/powerpoint/2010/main" val="37801307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51B35E-0F9A-95E4-353C-44F3DB8C81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C7B537-9EF3-21AD-A28C-651CF549023E}"/>
              </a:ext>
            </a:extLst>
          </p:cNvPr>
          <p:cNvSpPr>
            <a:spLocks noGrp="1"/>
          </p:cNvSpPr>
          <p:nvPr>
            <p:ph type="title"/>
          </p:nvPr>
        </p:nvSpPr>
        <p:spPr/>
        <p:txBody>
          <a:bodyPr>
            <a:normAutofit/>
          </a:bodyPr>
          <a:lstStyle/>
          <a:p>
            <a:r>
              <a:rPr lang="en-US" dirty="0"/>
              <a:t>Quantization: Beyond 16 bits</a:t>
            </a:r>
          </a:p>
        </p:txBody>
      </p:sp>
      <p:sp>
        <p:nvSpPr>
          <p:cNvPr id="3" name="Content Placeholder 2">
            <a:extLst>
              <a:ext uri="{FF2B5EF4-FFF2-40B4-BE49-F238E27FC236}">
                <a16:creationId xmlns:a16="http://schemas.microsoft.com/office/drawing/2014/main" id="{6E196961-B83C-3291-7BC4-CC88826F994E}"/>
              </a:ext>
            </a:extLst>
          </p:cNvPr>
          <p:cNvSpPr>
            <a:spLocks noGrp="1"/>
          </p:cNvSpPr>
          <p:nvPr>
            <p:ph idx="1"/>
          </p:nvPr>
        </p:nvSpPr>
        <p:spPr>
          <a:xfrm>
            <a:off x="279400" y="1257299"/>
            <a:ext cx="8456386" cy="1224643"/>
          </a:xfrm>
        </p:spPr>
        <p:txBody>
          <a:bodyPr>
            <a:normAutofit fontScale="85000" lnSpcReduction="20000"/>
          </a:bodyPr>
          <a:lstStyle/>
          <a:p>
            <a:r>
              <a:rPr lang="en-US" dirty="0"/>
              <a:t>Going from fp32 </a:t>
            </a:r>
            <a:r>
              <a:rPr lang="en-US" dirty="0">
                <a:sym typeface="Wingdings" pitchFamily="2" charset="2"/>
              </a:rPr>
              <a:t> int8 or int4 requires some tricks:</a:t>
            </a:r>
          </a:p>
          <a:p>
            <a:pPr lvl="1"/>
            <a:r>
              <a:rPr lang="en-US" dirty="0">
                <a:sym typeface="Wingdings" pitchFamily="2" charset="2"/>
              </a:rPr>
              <a:t>Mixed-precision quantization – keep large  “outlier” features (which are </a:t>
            </a:r>
            <a:r>
              <a:rPr lang="en-US" b="1" dirty="0">
                <a:sym typeface="Wingdings" pitchFamily="2" charset="2"/>
              </a:rPr>
              <a:t>consistently </a:t>
            </a:r>
            <a:r>
              <a:rPr lang="en-US" dirty="0">
                <a:sym typeface="Wingdings" pitchFamily="2" charset="2"/>
              </a:rPr>
              <a:t>in fixed locations)</a:t>
            </a:r>
            <a:endParaRPr lang="en-US" dirty="0"/>
          </a:p>
          <a:p>
            <a:endParaRPr lang="en-US" dirty="0"/>
          </a:p>
        </p:txBody>
      </p:sp>
      <p:pic>
        <p:nvPicPr>
          <p:cNvPr id="4" name="Picture 3">
            <a:extLst>
              <a:ext uri="{FF2B5EF4-FFF2-40B4-BE49-F238E27FC236}">
                <a16:creationId xmlns:a16="http://schemas.microsoft.com/office/drawing/2014/main" id="{F8E39EA4-D826-FC82-6425-FF32E52ED2D1}"/>
              </a:ext>
            </a:extLst>
          </p:cNvPr>
          <p:cNvPicPr>
            <a:picLocks noChangeAspect="1"/>
          </p:cNvPicPr>
          <p:nvPr/>
        </p:nvPicPr>
        <p:blipFill>
          <a:blip r:embed="rId3"/>
          <a:stretch>
            <a:fillRect/>
          </a:stretch>
        </p:blipFill>
        <p:spPr>
          <a:xfrm>
            <a:off x="685800" y="2353703"/>
            <a:ext cx="7543800" cy="4329716"/>
          </a:xfrm>
          <a:prstGeom prst="rect">
            <a:avLst/>
          </a:prstGeom>
        </p:spPr>
      </p:pic>
      <p:sp>
        <p:nvSpPr>
          <p:cNvPr id="5" name="TextBox 4">
            <a:extLst>
              <a:ext uri="{FF2B5EF4-FFF2-40B4-BE49-F238E27FC236}">
                <a16:creationId xmlns:a16="http://schemas.microsoft.com/office/drawing/2014/main" id="{3D4FFE68-3F79-7601-1D93-A31B25508134}"/>
              </a:ext>
            </a:extLst>
          </p:cNvPr>
          <p:cNvSpPr txBox="1"/>
          <p:nvPr/>
        </p:nvSpPr>
        <p:spPr>
          <a:xfrm>
            <a:off x="7512424" y="131762"/>
            <a:ext cx="1415676" cy="52322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rtlCol="0">
            <a:spAutoFit/>
          </a:bodyPr>
          <a:lstStyle/>
          <a:p>
            <a:pPr algn="r"/>
            <a:r>
              <a:rPr lang="en-US" sz="2800" dirty="0"/>
              <a:t>Recap</a:t>
            </a:r>
          </a:p>
        </p:txBody>
      </p:sp>
      <p:sp>
        <p:nvSpPr>
          <p:cNvPr id="7" name="TextBox 6">
            <a:extLst>
              <a:ext uri="{FF2B5EF4-FFF2-40B4-BE49-F238E27FC236}">
                <a16:creationId xmlns:a16="http://schemas.microsoft.com/office/drawing/2014/main" id="{B9678F31-33ED-FAEC-5B47-93976417506B}"/>
              </a:ext>
            </a:extLst>
          </p:cNvPr>
          <p:cNvSpPr txBox="1"/>
          <p:nvPr/>
        </p:nvSpPr>
        <p:spPr>
          <a:xfrm>
            <a:off x="215899" y="2027843"/>
            <a:ext cx="8534399" cy="2246769"/>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US" sz="2800" dirty="0"/>
              <a:t>Optimize parameter values via gradient descent (as usual) subject to </a:t>
            </a:r>
            <a:r>
              <a:rPr lang="en-US" sz="2800" b="1" dirty="0"/>
              <a:t>constraint</a:t>
            </a:r>
            <a:r>
              <a:rPr lang="en-US" sz="2800" dirty="0"/>
              <a:t>:</a:t>
            </a:r>
          </a:p>
          <a:p>
            <a:pPr marL="457200" indent="-457200">
              <a:buFont typeface="Arial" panose="020B0604020202020204" pitchFamily="34" charset="0"/>
              <a:buChar char="•"/>
            </a:pPr>
            <a:r>
              <a:rPr lang="en-US" sz="2800" dirty="0">
                <a:solidFill>
                  <a:schemeClr val="tx1"/>
                </a:solidFill>
              </a:rPr>
              <a:t>groups of parameters are stored in int8/int4</a:t>
            </a:r>
          </a:p>
          <a:p>
            <a:pPr marL="457200" indent="-457200">
              <a:buFont typeface="Arial" panose="020B0604020202020204" pitchFamily="34" charset="0"/>
              <a:buChar char="•"/>
            </a:pPr>
            <a:r>
              <a:rPr lang="en-US" sz="2800" dirty="0">
                <a:solidFill>
                  <a:schemeClr val="tx1"/>
                </a:solidFill>
              </a:rPr>
              <a:t>multiple S,Z optimized independently by group</a:t>
            </a:r>
          </a:p>
          <a:p>
            <a:pPr marL="457200" indent="-457200">
              <a:buFont typeface="Arial" panose="020B0604020202020204" pitchFamily="34" charset="0"/>
              <a:buChar char="•"/>
            </a:pPr>
            <a:r>
              <a:rPr lang="en-US" sz="2800" dirty="0">
                <a:solidFill>
                  <a:schemeClr val="tx1"/>
                </a:solidFill>
              </a:rPr>
              <a:t>groups to be quantized: by manual rules</a:t>
            </a:r>
          </a:p>
        </p:txBody>
      </p:sp>
      <p:sp>
        <p:nvSpPr>
          <p:cNvPr id="8" name="TextBox 7">
            <a:extLst>
              <a:ext uri="{FF2B5EF4-FFF2-40B4-BE49-F238E27FC236}">
                <a16:creationId xmlns:a16="http://schemas.microsoft.com/office/drawing/2014/main" id="{69C3253C-1110-BC74-A617-BA5EE3655814}"/>
              </a:ext>
            </a:extLst>
          </p:cNvPr>
          <p:cNvSpPr txBox="1"/>
          <p:nvPr/>
        </p:nvSpPr>
        <p:spPr>
          <a:xfrm>
            <a:off x="412750" y="5141214"/>
            <a:ext cx="8318500" cy="954107"/>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US" sz="2800" dirty="0">
                <a:solidFill>
                  <a:schemeClr val="tx1"/>
                </a:solidFill>
              </a:rPr>
              <a:t>subset to be quantized is chosen with manually fixed rules </a:t>
            </a:r>
            <a:r>
              <a:rPr lang="en-US" sz="2800" dirty="0">
                <a:solidFill>
                  <a:srgbClr val="FF0000"/>
                </a:solidFill>
              </a:rPr>
              <a:t>(based on activation values)</a:t>
            </a:r>
          </a:p>
        </p:txBody>
      </p:sp>
    </p:spTree>
    <p:extLst>
      <p:ext uri="{BB962C8B-B14F-4D97-AF65-F5344CB8AC3E}">
        <p14:creationId xmlns:p14="http://schemas.microsoft.com/office/powerpoint/2010/main" val="20925544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A0DAF8-08B1-5AB0-7266-731403196BEB}"/>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24CFD53F-D309-E792-9E13-1BE490A6B2CA}"/>
              </a:ext>
            </a:extLst>
          </p:cNvPr>
          <p:cNvPicPr>
            <a:picLocks noChangeAspect="1"/>
          </p:cNvPicPr>
          <p:nvPr/>
        </p:nvPicPr>
        <p:blipFill>
          <a:blip r:embed="rId3"/>
          <a:stretch>
            <a:fillRect/>
          </a:stretch>
        </p:blipFill>
        <p:spPr>
          <a:xfrm>
            <a:off x="685800" y="4179264"/>
            <a:ext cx="7077974" cy="2679340"/>
          </a:xfrm>
          <a:prstGeom prst="rect">
            <a:avLst/>
          </a:prstGeom>
        </p:spPr>
      </p:pic>
      <p:sp>
        <p:nvSpPr>
          <p:cNvPr id="2" name="Title 1">
            <a:extLst>
              <a:ext uri="{FF2B5EF4-FFF2-40B4-BE49-F238E27FC236}">
                <a16:creationId xmlns:a16="http://schemas.microsoft.com/office/drawing/2014/main" id="{5D30647E-46C9-931F-49D5-7D36F37FEABB}"/>
              </a:ext>
            </a:extLst>
          </p:cNvPr>
          <p:cNvSpPr>
            <a:spLocks noGrp="1"/>
          </p:cNvSpPr>
          <p:nvPr>
            <p:ph type="title"/>
          </p:nvPr>
        </p:nvSpPr>
        <p:spPr/>
        <p:txBody>
          <a:bodyPr>
            <a:normAutofit/>
          </a:bodyPr>
          <a:lstStyle/>
          <a:p>
            <a:r>
              <a:rPr lang="en-US" dirty="0"/>
              <a:t>Quantization: Performance Tradeoffs</a:t>
            </a:r>
          </a:p>
        </p:txBody>
      </p:sp>
      <p:sp>
        <p:nvSpPr>
          <p:cNvPr id="10" name="TextBox 9">
            <a:extLst>
              <a:ext uri="{FF2B5EF4-FFF2-40B4-BE49-F238E27FC236}">
                <a16:creationId xmlns:a16="http://schemas.microsoft.com/office/drawing/2014/main" id="{6F983C0F-4728-D480-624E-7FE2C4343EC4}"/>
              </a:ext>
            </a:extLst>
          </p:cNvPr>
          <p:cNvSpPr txBox="1"/>
          <p:nvPr/>
        </p:nvSpPr>
        <p:spPr>
          <a:xfrm>
            <a:off x="7351486" y="4248405"/>
            <a:ext cx="1792514" cy="369332"/>
          </a:xfrm>
          <a:prstGeom prst="rect">
            <a:avLst/>
          </a:prstGeom>
          <a:noFill/>
        </p:spPr>
        <p:txBody>
          <a:bodyPr wrap="square" rtlCol="0">
            <a:spAutoFit/>
          </a:bodyPr>
          <a:lstStyle/>
          <a:p>
            <a:r>
              <a:rPr lang="en-US" dirty="0"/>
              <a:t>2024</a:t>
            </a:r>
          </a:p>
        </p:txBody>
      </p:sp>
      <p:pic>
        <p:nvPicPr>
          <p:cNvPr id="3" name="Picture 2">
            <a:extLst>
              <a:ext uri="{FF2B5EF4-FFF2-40B4-BE49-F238E27FC236}">
                <a16:creationId xmlns:a16="http://schemas.microsoft.com/office/drawing/2014/main" id="{E8A40994-4534-B324-3FB3-59F513E85475}"/>
              </a:ext>
            </a:extLst>
          </p:cNvPr>
          <p:cNvPicPr>
            <a:picLocks noChangeAspect="1"/>
          </p:cNvPicPr>
          <p:nvPr/>
        </p:nvPicPr>
        <p:blipFill>
          <a:blip r:embed="rId4"/>
          <a:stretch>
            <a:fillRect/>
          </a:stretch>
        </p:blipFill>
        <p:spPr>
          <a:xfrm>
            <a:off x="259443" y="1096962"/>
            <a:ext cx="8418104" cy="2715913"/>
          </a:xfrm>
          <a:prstGeom prst="rect">
            <a:avLst/>
          </a:prstGeom>
        </p:spPr>
      </p:pic>
      <p:sp>
        <p:nvSpPr>
          <p:cNvPr id="5" name="TextBox 4">
            <a:extLst>
              <a:ext uri="{FF2B5EF4-FFF2-40B4-BE49-F238E27FC236}">
                <a16:creationId xmlns:a16="http://schemas.microsoft.com/office/drawing/2014/main" id="{A091ED68-642A-75C9-15D3-C729B638F006}"/>
              </a:ext>
            </a:extLst>
          </p:cNvPr>
          <p:cNvSpPr txBox="1"/>
          <p:nvPr/>
        </p:nvSpPr>
        <p:spPr>
          <a:xfrm>
            <a:off x="7512424" y="131762"/>
            <a:ext cx="1415676" cy="52322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rtlCol="0">
            <a:spAutoFit/>
          </a:bodyPr>
          <a:lstStyle/>
          <a:p>
            <a:pPr algn="r"/>
            <a:r>
              <a:rPr lang="en-US" sz="2800" dirty="0"/>
              <a:t>Recap</a:t>
            </a:r>
          </a:p>
        </p:txBody>
      </p:sp>
    </p:spTree>
    <p:extLst>
      <p:ext uri="{BB962C8B-B14F-4D97-AF65-F5344CB8AC3E}">
        <p14:creationId xmlns:p14="http://schemas.microsoft.com/office/powerpoint/2010/main" val="225142046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8E088E-D773-4CE9-CB5B-4CB8225747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D2E7D8-07A8-6D8A-2D26-935A5FC9FA48}"/>
              </a:ext>
            </a:extLst>
          </p:cNvPr>
          <p:cNvSpPr>
            <a:spLocks noGrp="1"/>
          </p:cNvSpPr>
          <p:nvPr>
            <p:ph type="title"/>
          </p:nvPr>
        </p:nvSpPr>
        <p:spPr/>
        <p:txBody>
          <a:bodyPr>
            <a:normAutofit/>
          </a:bodyPr>
          <a:lstStyle/>
          <a:p>
            <a:r>
              <a:rPr lang="en-US" dirty="0"/>
              <a:t>Quantization: Beyond 4 bits</a:t>
            </a:r>
          </a:p>
        </p:txBody>
      </p:sp>
      <p:sp>
        <p:nvSpPr>
          <p:cNvPr id="3" name="Content Placeholder 2">
            <a:extLst>
              <a:ext uri="{FF2B5EF4-FFF2-40B4-BE49-F238E27FC236}">
                <a16:creationId xmlns:a16="http://schemas.microsoft.com/office/drawing/2014/main" id="{7108FD08-B493-EB84-A3B5-105D1567DA98}"/>
              </a:ext>
            </a:extLst>
          </p:cNvPr>
          <p:cNvSpPr>
            <a:spLocks noGrp="1"/>
          </p:cNvSpPr>
          <p:nvPr>
            <p:ph idx="1"/>
          </p:nvPr>
        </p:nvSpPr>
        <p:spPr>
          <a:xfrm>
            <a:off x="279400" y="1257300"/>
            <a:ext cx="8364538" cy="5308600"/>
          </a:xfrm>
        </p:spPr>
        <p:txBody>
          <a:bodyPr>
            <a:normAutofit fontScale="92500" lnSpcReduction="10000"/>
          </a:bodyPr>
          <a:lstStyle/>
          <a:p>
            <a:r>
              <a:rPr lang="en-US" dirty="0"/>
              <a:t>Quantization-aware training</a:t>
            </a:r>
          </a:p>
          <a:p>
            <a:pPr lvl="2"/>
            <a:r>
              <a:rPr lang="en-US" dirty="0"/>
              <a:t>(de)quantization operations are not differentiable</a:t>
            </a:r>
          </a:p>
          <a:p>
            <a:pPr lvl="2"/>
            <a:r>
              <a:rPr lang="en-US" dirty="0"/>
              <a:t>partial solutions</a:t>
            </a:r>
          </a:p>
          <a:p>
            <a:pPr lvl="3"/>
            <a:r>
              <a:rPr lang="en-US" dirty="0"/>
              <a:t>approximate the ops</a:t>
            </a:r>
          </a:p>
          <a:p>
            <a:pPr lvl="3"/>
            <a:r>
              <a:rPr lang="en-US" dirty="0"/>
              <a:t>use “straight through estimation” (STE) of gradients</a:t>
            </a:r>
          </a:p>
          <a:p>
            <a:pPr lvl="2"/>
            <a:r>
              <a:rPr lang="en-US" dirty="0"/>
              <a:t>extreme quantization requires methods quantize vectors by combining vectors from a “codebook”</a:t>
            </a:r>
          </a:p>
          <a:p>
            <a:pPr lvl="3"/>
            <a:r>
              <a:rPr lang="en-US" dirty="0"/>
              <a:t>similar to product quantization</a:t>
            </a:r>
          </a:p>
          <a:p>
            <a:pPr lvl="3"/>
            <a:r>
              <a:rPr lang="en-US" dirty="0"/>
              <a:t>e.g. ”additive quantization”</a:t>
            </a:r>
          </a:p>
          <a:p>
            <a:pPr lvl="2"/>
            <a:r>
              <a:rPr lang="en-US" dirty="0"/>
              <a:t>learning should ideally jointly optimize the continuous parts (codebook values) and discrete parts (assignment of values to code)</a:t>
            </a:r>
          </a:p>
          <a:p>
            <a:pPr lvl="3"/>
            <a:r>
              <a:rPr lang="en-US" dirty="0"/>
              <a:t>this can’t be done with gradient descent only</a:t>
            </a:r>
          </a:p>
          <a:p>
            <a:pPr lvl="1"/>
            <a:endParaRPr lang="en-US" dirty="0"/>
          </a:p>
        </p:txBody>
      </p:sp>
      <p:sp>
        <p:nvSpPr>
          <p:cNvPr id="4" name="TextBox 3">
            <a:extLst>
              <a:ext uri="{FF2B5EF4-FFF2-40B4-BE49-F238E27FC236}">
                <a16:creationId xmlns:a16="http://schemas.microsoft.com/office/drawing/2014/main" id="{C666D29C-EFFB-F2CA-7672-B93FBF969EF1}"/>
              </a:ext>
            </a:extLst>
          </p:cNvPr>
          <p:cNvSpPr txBox="1"/>
          <p:nvPr/>
        </p:nvSpPr>
        <p:spPr>
          <a:xfrm>
            <a:off x="7512424" y="131762"/>
            <a:ext cx="1415676" cy="52322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rtlCol="0">
            <a:spAutoFit/>
          </a:bodyPr>
          <a:lstStyle/>
          <a:p>
            <a:pPr algn="r"/>
            <a:r>
              <a:rPr lang="en-US" sz="2800" dirty="0"/>
              <a:t>Recap</a:t>
            </a:r>
          </a:p>
        </p:txBody>
      </p:sp>
      <p:sp>
        <p:nvSpPr>
          <p:cNvPr id="6" name="TextBox 5">
            <a:extLst>
              <a:ext uri="{FF2B5EF4-FFF2-40B4-BE49-F238E27FC236}">
                <a16:creationId xmlns:a16="http://schemas.microsoft.com/office/drawing/2014/main" id="{421AC9A7-2CCF-8EB0-EBDF-7F878F8708A9}"/>
              </a:ext>
            </a:extLst>
          </p:cNvPr>
          <p:cNvSpPr txBox="1"/>
          <p:nvPr/>
        </p:nvSpPr>
        <p:spPr>
          <a:xfrm>
            <a:off x="535506" y="4888890"/>
            <a:ext cx="8318500" cy="1815882"/>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pPr marL="514350" indent="-514350">
              <a:buFont typeface="+mj-lt"/>
              <a:buAutoNum type="arabicPeriod"/>
            </a:pPr>
            <a:r>
              <a:rPr lang="en-US" sz="2800" dirty="0">
                <a:solidFill>
                  <a:schemeClr val="tx1"/>
                </a:solidFill>
              </a:rPr>
              <a:t>Optimize weights by training LLM</a:t>
            </a:r>
          </a:p>
          <a:p>
            <a:pPr marL="514350" indent="-514350">
              <a:buFont typeface="+mj-lt"/>
              <a:buAutoNum type="arabicPeriod"/>
            </a:pPr>
            <a:r>
              <a:rPr lang="en-US" sz="2800" dirty="0">
                <a:solidFill>
                  <a:schemeClr val="tx1"/>
                </a:solidFill>
              </a:rPr>
              <a:t>Optimize quantization next</a:t>
            </a:r>
          </a:p>
          <a:p>
            <a:pPr marL="514350" indent="-514350">
              <a:buFont typeface="+mj-lt"/>
              <a:buAutoNum type="arabicPeriod"/>
            </a:pPr>
            <a:r>
              <a:rPr lang="en-US" sz="2800" dirty="0">
                <a:solidFill>
                  <a:schemeClr val="tx1"/>
                </a:solidFill>
              </a:rPr>
              <a:t>The retrain to </a:t>
            </a:r>
            <a:r>
              <a:rPr lang="en-US" sz="2800" dirty="0"/>
              <a:t>jointly optimize weights and quantization strategy</a:t>
            </a:r>
            <a:endParaRPr lang="en-US" sz="2800" dirty="0">
              <a:solidFill>
                <a:schemeClr val="tx1"/>
              </a:solidFill>
            </a:endParaRPr>
          </a:p>
        </p:txBody>
      </p:sp>
    </p:spTree>
    <p:extLst>
      <p:ext uri="{BB962C8B-B14F-4D97-AF65-F5344CB8AC3E}">
        <p14:creationId xmlns:p14="http://schemas.microsoft.com/office/powerpoint/2010/main" val="40337842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10D825-873B-F039-38A5-FFB4F62BC0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BAD58F-6706-0D00-6AD1-EAF6A2981339}"/>
              </a:ext>
            </a:extLst>
          </p:cNvPr>
          <p:cNvSpPr>
            <a:spLocks noGrp="1"/>
          </p:cNvSpPr>
          <p:nvPr>
            <p:ph type="title"/>
          </p:nvPr>
        </p:nvSpPr>
        <p:spPr/>
        <p:txBody>
          <a:bodyPr>
            <a:noAutofit/>
          </a:bodyPr>
          <a:lstStyle/>
          <a:p>
            <a:r>
              <a:rPr lang="en-US" sz="3600" dirty="0"/>
              <a:t>Recap: making a large model smaller</a:t>
            </a:r>
          </a:p>
        </p:txBody>
      </p:sp>
      <p:sp>
        <p:nvSpPr>
          <p:cNvPr id="3" name="Content Placeholder 2">
            <a:extLst>
              <a:ext uri="{FF2B5EF4-FFF2-40B4-BE49-F238E27FC236}">
                <a16:creationId xmlns:a16="http://schemas.microsoft.com/office/drawing/2014/main" id="{6E1FE423-A748-123C-E123-A04AC48B810D}"/>
              </a:ext>
            </a:extLst>
          </p:cNvPr>
          <p:cNvSpPr>
            <a:spLocks noGrp="1"/>
          </p:cNvSpPr>
          <p:nvPr>
            <p:ph idx="1"/>
          </p:nvPr>
        </p:nvSpPr>
        <p:spPr/>
        <p:txBody>
          <a:bodyPr/>
          <a:lstStyle/>
          <a:p>
            <a:r>
              <a:rPr lang="en-US" dirty="0">
                <a:solidFill>
                  <a:schemeClr val="bg1">
                    <a:lumMod val="50000"/>
                  </a:schemeClr>
                </a:solidFill>
              </a:rPr>
              <a:t>Distillation</a:t>
            </a:r>
          </a:p>
          <a:p>
            <a:pPr lvl="1"/>
            <a:r>
              <a:rPr lang="en-US" dirty="0">
                <a:solidFill>
                  <a:schemeClr val="bg1">
                    <a:lumMod val="50000"/>
                  </a:schemeClr>
                </a:solidFill>
              </a:rPr>
              <a:t>briefly discussed</a:t>
            </a:r>
          </a:p>
          <a:p>
            <a:r>
              <a:rPr lang="en-US" dirty="0">
                <a:highlight>
                  <a:srgbClr val="FFFF00"/>
                </a:highlight>
              </a:rPr>
              <a:t>Quantization</a:t>
            </a:r>
          </a:p>
          <a:p>
            <a:r>
              <a:rPr lang="en-US" dirty="0"/>
              <a:t>Pruning</a:t>
            </a:r>
          </a:p>
          <a:p>
            <a:r>
              <a:rPr lang="en-US" dirty="0"/>
              <a:t>Key-Value Cache Management</a:t>
            </a:r>
          </a:p>
          <a:p>
            <a:pPr lvl="1"/>
            <a:r>
              <a:rPr lang="en-US" dirty="0"/>
              <a:t>…which is also pruning</a:t>
            </a:r>
          </a:p>
        </p:txBody>
      </p:sp>
      <p:sp>
        <p:nvSpPr>
          <p:cNvPr id="7" name="Right Arrow 6">
            <a:extLst>
              <a:ext uri="{FF2B5EF4-FFF2-40B4-BE49-F238E27FC236}">
                <a16:creationId xmlns:a16="http://schemas.microsoft.com/office/drawing/2014/main" id="{DFC0455A-12D4-D318-9032-F1E3712CB3F3}"/>
              </a:ext>
            </a:extLst>
          </p:cNvPr>
          <p:cNvSpPr/>
          <p:nvPr/>
        </p:nvSpPr>
        <p:spPr>
          <a:xfrm>
            <a:off x="1367490" y="5600700"/>
            <a:ext cx="6790391" cy="755650"/>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CA14A66B-EA95-2C1D-22C6-982B6D3F4B49}"/>
              </a:ext>
            </a:extLst>
          </p:cNvPr>
          <p:cNvSpPr txBox="1"/>
          <p:nvPr/>
        </p:nvSpPr>
        <p:spPr>
          <a:xfrm>
            <a:off x="1111624" y="6356350"/>
            <a:ext cx="2259105" cy="369332"/>
          </a:xfrm>
          <a:prstGeom prst="rect">
            <a:avLst/>
          </a:prstGeom>
          <a:noFill/>
        </p:spPr>
        <p:txBody>
          <a:bodyPr wrap="square" rtlCol="0">
            <a:spAutoFit/>
          </a:bodyPr>
          <a:lstStyle/>
          <a:p>
            <a:r>
              <a:rPr lang="en-US" dirty="0"/>
              <a:t>simple quant rules</a:t>
            </a:r>
          </a:p>
        </p:txBody>
      </p:sp>
      <p:sp>
        <p:nvSpPr>
          <p:cNvPr id="9" name="TextBox 8">
            <a:extLst>
              <a:ext uri="{FF2B5EF4-FFF2-40B4-BE49-F238E27FC236}">
                <a16:creationId xmlns:a16="http://schemas.microsoft.com/office/drawing/2014/main" id="{FB107AF6-D316-DF6E-5F0D-0B2C1E9505C5}"/>
              </a:ext>
            </a:extLst>
          </p:cNvPr>
          <p:cNvSpPr txBox="1"/>
          <p:nvPr/>
        </p:nvSpPr>
        <p:spPr>
          <a:xfrm>
            <a:off x="6042212" y="6381234"/>
            <a:ext cx="2734235" cy="369332"/>
          </a:xfrm>
          <a:prstGeom prst="rect">
            <a:avLst/>
          </a:prstGeom>
          <a:noFill/>
        </p:spPr>
        <p:txBody>
          <a:bodyPr wrap="square" rtlCol="0">
            <a:spAutoFit/>
          </a:bodyPr>
          <a:lstStyle/>
          <a:p>
            <a:r>
              <a:rPr lang="en-US" dirty="0"/>
              <a:t>complex rules, learning</a:t>
            </a:r>
          </a:p>
        </p:txBody>
      </p:sp>
      <p:sp>
        <p:nvSpPr>
          <p:cNvPr id="10" name="TextBox 9">
            <a:extLst>
              <a:ext uri="{FF2B5EF4-FFF2-40B4-BE49-F238E27FC236}">
                <a16:creationId xmlns:a16="http://schemas.microsoft.com/office/drawing/2014/main" id="{5F3E0F62-3FED-AA95-0AF0-87D3D21F5792}"/>
              </a:ext>
            </a:extLst>
          </p:cNvPr>
          <p:cNvSpPr txBox="1"/>
          <p:nvPr/>
        </p:nvSpPr>
        <p:spPr>
          <a:xfrm>
            <a:off x="597271" y="5231368"/>
            <a:ext cx="2773458" cy="369332"/>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US" dirty="0"/>
              <a:t>“32 bits everywhere”</a:t>
            </a:r>
          </a:p>
        </p:txBody>
      </p:sp>
      <p:sp>
        <p:nvSpPr>
          <p:cNvPr id="11" name="TextBox 10">
            <a:extLst>
              <a:ext uri="{FF2B5EF4-FFF2-40B4-BE49-F238E27FC236}">
                <a16:creationId xmlns:a16="http://schemas.microsoft.com/office/drawing/2014/main" id="{0BCDF129-CF46-37BE-B48D-DDFFCBC39C73}"/>
              </a:ext>
            </a:extLst>
          </p:cNvPr>
          <p:cNvSpPr txBox="1"/>
          <p:nvPr/>
        </p:nvSpPr>
        <p:spPr>
          <a:xfrm>
            <a:off x="1989227" y="4824919"/>
            <a:ext cx="2773458" cy="369332"/>
          </a:xfrm>
          <a:prstGeom prst="rect">
            <a:avLst/>
          </a:prstGeom>
        </p:spPr>
        <p:style>
          <a:lnRef idx="3">
            <a:schemeClr val="lt1"/>
          </a:lnRef>
          <a:fillRef idx="1">
            <a:schemeClr val="accent3"/>
          </a:fillRef>
          <a:effectRef idx="1">
            <a:schemeClr val="accent3"/>
          </a:effectRef>
          <a:fontRef idx="minor">
            <a:schemeClr val="lt1"/>
          </a:fontRef>
        </p:style>
        <p:txBody>
          <a:bodyPr wrap="square" rtlCol="0">
            <a:spAutoFit/>
          </a:bodyPr>
          <a:lstStyle/>
          <a:p>
            <a:r>
              <a:rPr lang="en-US" dirty="0"/>
              <a:t>“16 bits except for bias”</a:t>
            </a:r>
          </a:p>
        </p:txBody>
      </p:sp>
      <p:sp>
        <p:nvSpPr>
          <p:cNvPr id="12" name="TextBox 11">
            <a:extLst>
              <a:ext uri="{FF2B5EF4-FFF2-40B4-BE49-F238E27FC236}">
                <a16:creationId xmlns:a16="http://schemas.microsoft.com/office/drawing/2014/main" id="{7EAE12EF-4F88-DAD2-939E-DB00C1D151C0}"/>
              </a:ext>
            </a:extLst>
          </p:cNvPr>
          <p:cNvSpPr txBox="1"/>
          <p:nvPr/>
        </p:nvSpPr>
        <p:spPr>
          <a:xfrm>
            <a:off x="3791134" y="5231368"/>
            <a:ext cx="2520019" cy="646331"/>
          </a:xfrm>
          <a:prstGeom prst="rect">
            <a:avLst/>
          </a:prstGeom>
        </p:spPr>
        <p:style>
          <a:lnRef idx="1">
            <a:schemeClr val="accent6"/>
          </a:lnRef>
          <a:fillRef idx="2">
            <a:schemeClr val="accent6"/>
          </a:fillRef>
          <a:effectRef idx="1">
            <a:schemeClr val="accent6"/>
          </a:effectRef>
          <a:fontRef idx="minor">
            <a:schemeClr val="dk1"/>
          </a:fontRef>
        </p:style>
        <p:txBody>
          <a:bodyPr wrap="square" rtlCol="0">
            <a:spAutoFit/>
          </a:bodyPr>
          <a:lstStyle/>
          <a:p>
            <a:r>
              <a:rPr lang="en-US" dirty="0"/>
              <a:t>int8() except for outliers, defined as ….</a:t>
            </a:r>
          </a:p>
        </p:txBody>
      </p:sp>
      <p:sp>
        <p:nvSpPr>
          <p:cNvPr id="13" name="TextBox 12">
            <a:extLst>
              <a:ext uri="{FF2B5EF4-FFF2-40B4-BE49-F238E27FC236}">
                <a16:creationId xmlns:a16="http://schemas.microsoft.com/office/drawing/2014/main" id="{67BDE5A6-156E-0617-E199-A80E77C0AF55}"/>
              </a:ext>
            </a:extLst>
          </p:cNvPr>
          <p:cNvSpPr txBox="1"/>
          <p:nvPr/>
        </p:nvSpPr>
        <p:spPr>
          <a:xfrm>
            <a:off x="6986024" y="3494029"/>
            <a:ext cx="1878576" cy="2031325"/>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r>
              <a:rPr lang="en-US" dirty="0"/>
              <a:t>jointly optimize codebook/codes and where to quant while doing gradient updates on weights</a:t>
            </a:r>
          </a:p>
        </p:txBody>
      </p:sp>
    </p:spTree>
    <p:extLst>
      <p:ext uri="{BB962C8B-B14F-4D97-AF65-F5344CB8AC3E}">
        <p14:creationId xmlns:p14="http://schemas.microsoft.com/office/powerpoint/2010/main" val="26859391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CFACD4-A64E-DA8E-DBAA-AE823D6528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2CAB12-2616-0C18-AAA1-9C1B709E75E9}"/>
              </a:ext>
            </a:extLst>
          </p:cNvPr>
          <p:cNvSpPr>
            <a:spLocks noGrp="1"/>
          </p:cNvSpPr>
          <p:nvPr>
            <p:ph type="title"/>
          </p:nvPr>
        </p:nvSpPr>
        <p:spPr/>
        <p:txBody>
          <a:bodyPr>
            <a:noAutofit/>
          </a:bodyPr>
          <a:lstStyle/>
          <a:p>
            <a:r>
              <a:rPr lang="en-US" sz="3600" dirty="0"/>
              <a:t>Recap: making a large model smaller</a:t>
            </a:r>
          </a:p>
        </p:txBody>
      </p:sp>
      <p:sp>
        <p:nvSpPr>
          <p:cNvPr id="3" name="Content Placeholder 2">
            <a:extLst>
              <a:ext uri="{FF2B5EF4-FFF2-40B4-BE49-F238E27FC236}">
                <a16:creationId xmlns:a16="http://schemas.microsoft.com/office/drawing/2014/main" id="{5EC2206B-EEE5-252C-1911-FE0F2BE12238}"/>
              </a:ext>
            </a:extLst>
          </p:cNvPr>
          <p:cNvSpPr>
            <a:spLocks noGrp="1"/>
          </p:cNvSpPr>
          <p:nvPr>
            <p:ph idx="1"/>
          </p:nvPr>
        </p:nvSpPr>
        <p:spPr/>
        <p:txBody>
          <a:bodyPr/>
          <a:lstStyle/>
          <a:p>
            <a:r>
              <a:rPr lang="en-US" dirty="0">
                <a:solidFill>
                  <a:schemeClr val="bg1">
                    <a:lumMod val="50000"/>
                  </a:schemeClr>
                </a:solidFill>
              </a:rPr>
              <a:t>Distillation</a:t>
            </a:r>
          </a:p>
          <a:p>
            <a:pPr lvl="1"/>
            <a:r>
              <a:rPr lang="en-US" dirty="0">
                <a:solidFill>
                  <a:schemeClr val="bg1">
                    <a:lumMod val="50000"/>
                  </a:schemeClr>
                </a:solidFill>
              </a:rPr>
              <a:t>briefly discussed</a:t>
            </a:r>
          </a:p>
          <a:p>
            <a:r>
              <a:rPr lang="en-US" dirty="0"/>
              <a:t>Quantization</a:t>
            </a:r>
          </a:p>
          <a:p>
            <a:r>
              <a:rPr lang="en-US" dirty="0">
                <a:highlight>
                  <a:srgbClr val="FFFF00"/>
                </a:highlight>
              </a:rPr>
              <a:t>Pruning</a:t>
            </a:r>
          </a:p>
          <a:p>
            <a:r>
              <a:rPr lang="en-US" dirty="0"/>
              <a:t>Key-Value Cache Management</a:t>
            </a:r>
          </a:p>
          <a:p>
            <a:pPr lvl="1"/>
            <a:r>
              <a:rPr lang="en-US" dirty="0"/>
              <a:t>…which is also pruning</a:t>
            </a:r>
          </a:p>
        </p:txBody>
      </p:sp>
    </p:spTree>
    <p:extLst>
      <p:ext uri="{BB962C8B-B14F-4D97-AF65-F5344CB8AC3E}">
        <p14:creationId xmlns:p14="http://schemas.microsoft.com/office/powerpoint/2010/main" val="403588731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2AC010-8BDE-7D58-8BB7-6DA1A06A10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15D8FE-E7ED-F1A8-C525-3E0815EFCF30}"/>
              </a:ext>
            </a:extLst>
          </p:cNvPr>
          <p:cNvSpPr>
            <a:spLocks noGrp="1"/>
          </p:cNvSpPr>
          <p:nvPr>
            <p:ph type="title"/>
          </p:nvPr>
        </p:nvSpPr>
        <p:spPr/>
        <p:txBody>
          <a:bodyPr>
            <a:normAutofit/>
          </a:bodyPr>
          <a:lstStyle/>
          <a:p>
            <a:r>
              <a:rPr lang="en-US" dirty="0"/>
              <a:t>Unstructured pruning</a:t>
            </a:r>
          </a:p>
        </p:txBody>
      </p:sp>
      <p:sp>
        <p:nvSpPr>
          <p:cNvPr id="3" name="Content Placeholder 2">
            <a:extLst>
              <a:ext uri="{FF2B5EF4-FFF2-40B4-BE49-F238E27FC236}">
                <a16:creationId xmlns:a16="http://schemas.microsoft.com/office/drawing/2014/main" id="{7024BCEE-3FD7-6175-9C93-BCD888A069EC}"/>
              </a:ext>
            </a:extLst>
          </p:cNvPr>
          <p:cNvSpPr>
            <a:spLocks noGrp="1"/>
          </p:cNvSpPr>
          <p:nvPr>
            <p:ph idx="1"/>
          </p:nvPr>
        </p:nvSpPr>
        <p:spPr>
          <a:xfrm>
            <a:off x="279400" y="1257301"/>
            <a:ext cx="4260851" cy="2799042"/>
          </a:xfrm>
        </p:spPr>
        <p:txBody>
          <a:bodyPr>
            <a:normAutofit fontScale="70000" lnSpcReduction="20000"/>
          </a:bodyPr>
          <a:lstStyle/>
          <a:p>
            <a:r>
              <a:rPr lang="en-US" dirty="0"/>
              <a:t>Observations (on CNNs):</a:t>
            </a:r>
          </a:p>
          <a:p>
            <a:pPr lvl="1"/>
            <a:r>
              <a:rPr lang="en-US" dirty="0"/>
              <a:t>pruning only occasionally causes major degradation in performance</a:t>
            </a:r>
          </a:p>
          <a:p>
            <a:pPr lvl="1"/>
            <a:r>
              <a:rPr lang="en-US" dirty="0"/>
              <a:t>performance recovers quickly with re-training</a:t>
            </a:r>
          </a:p>
          <a:p>
            <a:pPr lvl="1"/>
            <a:r>
              <a:rPr lang="en-US" dirty="0"/>
              <a:t> performance only slightly degrades even with lots of sparsity</a:t>
            </a:r>
          </a:p>
          <a:p>
            <a:pPr lvl="1"/>
            <a:endParaRPr lang="en-US" dirty="0"/>
          </a:p>
          <a:p>
            <a:pPr lvl="1"/>
            <a:endParaRPr lang="en-US" dirty="0"/>
          </a:p>
        </p:txBody>
      </p:sp>
      <p:sp>
        <p:nvSpPr>
          <p:cNvPr id="7" name="Content Placeholder 2">
            <a:extLst>
              <a:ext uri="{FF2B5EF4-FFF2-40B4-BE49-F238E27FC236}">
                <a16:creationId xmlns:a16="http://schemas.microsoft.com/office/drawing/2014/main" id="{2E2005F4-4CF7-743A-084F-B317D63329E3}"/>
              </a:ext>
            </a:extLst>
          </p:cNvPr>
          <p:cNvSpPr txBox="1">
            <a:spLocks/>
          </p:cNvSpPr>
          <p:nvPr/>
        </p:nvSpPr>
        <p:spPr>
          <a:xfrm>
            <a:off x="279400" y="4376058"/>
            <a:ext cx="8456385" cy="2351314"/>
          </a:xfrm>
          <a:prstGeom prst="rect">
            <a:avLst/>
          </a:prstGeom>
        </p:spPr>
        <p:style>
          <a:lnRef idx="1">
            <a:schemeClr val="accent1"/>
          </a:lnRef>
          <a:fillRef idx="2">
            <a:schemeClr val="accent1"/>
          </a:fillRef>
          <a:effectRef idx="1">
            <a:schemeClr val="accent1"/>
          </a:effectRef>
          <a:fontRef idx="minor">
            <a:schemeClr val="dk1"/>
          </a:fontRef>
        </p:style>
        <p:txBody>
          <a:bodyPr vert="horz" lIns="91440" tIns="45720" rIns="91440" bIns="45720" rtlCol="0">
            <a:normAutofit fontScale="77500" lnSpcReduction="20000"/>
          </a:bodyPr>
          <a:lstStyle>
            <a:lvl1pPr marL="342900" indent="-342900" algn="l" defTabSz="457200" rtl="0" eaLnBrk="1" latinLnBrk="0" hangingPunct="1">
              <a:spcBef>
                <a:spcPct val="20000"/>
              </a:spcBef>
              <a:buFont typeface="Arial"/>
              <a:buChar char="•"/>
              <a:defRPr sz="3200" kern="1200">
                <a:solidFill>
                  <a:schemeClr val="tx1"/>
                </a:solidFill>
                <a:latin typeface="Calibri"/>
                <a:ea typeface="+mn-ea"/>
                <a:cs typeface="Calibri"/>
              </a:defRPr>
            </a:lvl1pPr>
            <a:lvl2pPr marL="742950" indent="-285750" algn="l" defTabSz="457200" rtl="0" eaLnBrk="1" latinLnBrk="0" hangingPunct="1">
              <a:spcBef>
                <a:spcPct val="20000"/>
              </a:spcBef>
              <a:buFont typeface="Arial"/>
              <a:buChar char="–"/>
              <a:defRPr sz="3200" kern="1200">
                <a:solidFill>
                  <a:schemeClr val="tx1"/>
                </a:solidFill>
                <a:latin typeface="Calibri"/>
                <a:ea typeface="+mn-ea"/>
                <a:cs typeface="Calibri"/>
              </a:defRPr>
            </a:lvl2pPr>
            <a:lvl3pPr marL="1143000" indent="-228600" algn="l" defTabSz="457200" rtl="0" eaLnBrk="1" latinLnBrk="0" hangingPunct="1">
              <a:spcBef>
                <a:spcPct val="20000"/>
              </a:spcBef>
              <a:buFont typeface="Arial"/>
              <a:buChar char="•"/>
              <a:defRPr sz="2800" kern="1200">
                <a:solidFill>
                  <a:schemeClr val="tx1"/>
                </a:solidFill>
                <a:latin typeface="Calibri"/>
                <a:ea typeface="+mn-ea"/>
                <a:cs typeface="Calibri"/>
              </a:defRPr>
            </a:lvl3pPr>
            <a:lvl4pPr marL="1600200" indent="-228600" algn="l" defTabSz="457200" rtl="0" eaLnBrk="1" latinLnBrk="0" hangingPunct="1">
              <a:spcBef>
                <a:spcPct val="20000"/>
              </a:spcBef>
              <a:buFont typeface="Arial"/>
              <a:buChar char="–"/>
              <a:defRPr sz="2400" kern="1200">
                <a:solidFill>
                  <a:schemeClr val="tx1"/>
                </a:solidFill>
                <a:latin typeface="Calibri"/>
                <a:ea typeface="+mn-ea"/>
                <a:cs typeface="Calibri"/>
              </a:defRPr>
            </a:lvl4pPr>
            <a:lvl5pPr marL="2057400" indent="-228600" algn="l" defTabSz="457200" rtl="0" eaLnBrk="1" latinLnBrk="0" hangingPunct="1">
              <a:spcBef>
                <a:spcPct val="20000"/>
              </a:spcBef>
              <a:buFont typeface="Arial"/>
              <a:buChar char="»"/>
              <a:defRPr sz="2400" kern="1200">
                <a:solidFill>
                  <a:schemeClr val="tx1"/>
                </a:solidFill>
                <a:latin typeface="Calibri"/>
                <a:ea typeface="+mn-ea"/>
                <a:cs typeface="Calibri"/>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514350" indent="-457200"/>
            <a:r>
              <a:rPr lang="en-US" dirty="0"/>
              <a:t>For each layer to prune:</a:t>
            </a:r>
          </a:p>
          <a:p>
            <a:pPr marL="914400" lvl="1" indent="-457200"/>
            <a:r>
              <a:rPr lang="en-US" dirty="0"/>
              <a:t>Repeat </a:t>
            </a:r>
            <a:r>
              <a:rPr lang="en-US" i="1" dirty="0" err="1"/>
              <a:t>i</a:t>
            </a:r>
            <a:r>
              <a:rPr lang="en-US" i="1" dirty="0"/>
              <a:t>=1,…,t:</a:t>
            </a:r>
            <a:endParaRPr lang="en-US" dirty="0"/>
          </a:p>
          <a:p>
            <a:pPr marL="1314450" lvl="2" indent="-457200"/>
            <a:r>
              <a:rPr lang="en-US" dirty="0"/>
              <a:t>Sort weights by |</a:t>
            </a:r>
            <a:r>
              <a:rPr lang="en-US" i="1" dirty="0" err="1"/>
              <a:t>w</a:t>
            </a:r>
            <a:r>
              <a:rPr lang="en-US" i="1" baseline="-25000" dirty="0" err="1"/>
              <a:t>j</a:t>
            </a:r>
            <a:r>
              <a:rPr lang="en-US" dirty="0"/>
              <a:t>|</a:t>
            </a:r>
          </a:p>
          <a:p>
            <a:pPr marL="914400" lvl="1" indent="-457200"/>
            <a:r>
              <a:rPr lang="en-US" dirty="0"/>
              <a:t>Zero* out weights to reach sparsity </a:t>
            </a:r>
            <a:r>
              <a:rPr lang="en-US" i="1" dirty="0" err="1"/>
              <a:t>s</a:t>
            </a:r>
            <a:r>
              <a:rPr lang="en-US" i="1" baseline="-25000" dirty="0" err="1"/>
              <a:t>i</a:t>
            </a:r>
            <a:endParaRPr lang="en-US" i="1" baseline="-25000" dirty="0"/>
          </a:p>
          <a:p>
            <a:pPr marL="1314450" lvl="2" indent="-457200"/>
            <a:r>
              <a:rPr lang="en-US" dirty="0"/>
              <a:t>*by adjusting a binary mask</a:t>
            </a:r>
          </a:p>
          <a:p>
            <a:pPr marL="914400" lvl="1" indent="-457200"/>
            <a:r>
              <a:rPr lang="en-US" dirty="0"/>
              <a:t>Re-train for </a:t>
            </a:r>
            <a:r>
              <a:rPr lang="en-US" i="1" dirty="0"/>
              <a:t>n </a:t>
            </a:r>
            <a:r>
              <a:rPr lang="en-US" dirty="0"/>
              <a:t>steps </a:t>
            </a:r>
            <a:r>
              <a:rPr lang="en-US" sz="2400" dirty="0"/>
              <a:t>(also adjusting learning rate)</a:t>
            </a:r>
          </a:p>
          <a:p>
            <a:pPr lvl="1"/>
            <a:endParaRPr lang="en-US" dirty="0"/>
          </a:p>
        </p:txBody>
      </p:sp>
      <p:pic>
        <p:nvPicPr>
          <p:cNvPr id="4" name="Picture 3">
            <a:extLst>
              <a:ext uri="{FF2B5EF4-FFF2-40B4-BE49-F238E27FC236}">
                <a16:creationId xmlns:a16="http://schemas.microsoft.com/office/drawing/2014/main" id="{F14F032F-1F7D-B4FA-8261-D9A6109123DF}"/>
              </a:ext>
            </a:extLst>
          </p:cNvPr>
          <p:cNvPicPr>
            <a:picLocks noChangeAspect="1"/>
          </p:cNvPicPr>
          <p:nvPr/>
        </p:nvPicPr>
        <p:blipFill>
          <a:blip r:embed="rId3"/>
          <a:stretch>
            <a:fillRect/>
          </a:stretch>
        </p:blipFill>
        <p:spPr>
          <a:xfrm>
            <a:off x="4603750" y="1096962"/>
            <a:ext cx="4399501" cy="2799041"/>
          </a:xfrm>
          <a:prstGeom prst="rect">
            <a:avLst/>
          </a:prstGeom>
        </p:spPr>
      </p:pic>
      <p:sp>
        <p:nvSpPr>
          <p:cNvPr id="5" name="TextBox 4">
            <a:extLst>
              <a:ext uri="{FF2B5EF4-FFF2-40B4-BE49-F238E27FC236}">
                <a16:creationId xmlns:a16="http://schemas.microsoft.com/office/drawing/2014/main" id="{B1B555EF-F1C1-457D-50C8-1022CF9C9C52}"/>
              </a:ext>
            </a:extLst>
          </p:cNvPr>
          <p:cNvSpPr txBox="1"/>
          <p:nvPr/>
        </p:nvSpPr>
        <p:spPr>
          <a:xfrm>
            <a:off x="7512424" y="131762"/>
            <a:ext cx="1415676" cy="52322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rtlCol="0">
            <a:spAutoFit/>
          </a:bodyPr>
          <a:lstStyle/>
          <a:p>
            <a:pPr algn="r"/>
            <a:r>
              <a:rPr lang="en-US" sz="2800" dirty="0"/>
              <a:t>Recap</a:t>
            </a:r>
          </a:p>
        </p:txBody>
      </p:sp>
      <p:sp>
        <p:nvSpPr>
          <p:cNvPr id="6" name="TextBox 5">
            <a:extLst>
              <a:ext uri="{FF2B5EF4-FFF2-40B4-BE49-F238E27FC236}">
                <a16:creationId xmlns:a16="http://schemas.microsoft.com/office/drawing/2014/main" id="{3E5D52AC-C053-5CC2-5C41-5DF3742D3F71}"/>
              </a:ext>
            </a:extLst>
          </p:cNvPr>
          <p:cNvSpPr txBox="1"/>
          <p:nvPr/>
        </p:nvSpPr>
        <p:spPr>
          <a:xfrm>
            <a:off x="1254686" y="2399836"/>
            <a:ext cx="6571130" cy="1815882"/>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US" sz="2800" dirty="0"/>
              <a:t>Optimize parameter while minimizing NNZ weights</a:t>
            </a:r>
            <a:r>
              <a:rPr lang="en-US" sz="2800" dirty="0">
                <a:solidFill>
                  <a:schemeClr val="tx1"/>
                </a:solidFill>
              </a:rPr>
              <a:t> by </a:t>
            </a:r>
            <a:r>
              <a:rPr lang="en-US" sz="2800" dirty="0">
                <a:solidFill>
                  <a:srgbClr val="FF0000"/>
                </a:solidFill>
              </a:rPr>
              <a:t>alternating</a:t>
            </a:r>
          </a:p>
          <a:p>
            <a:pPr marL="514350" indent="-514350">
              <a:buFont typeface="+mj-lt"/>
              <a:buAutoNum type="arabicPeriod"/>
            </a:pPr>
            <a:r>
              <a:rPr lang="en-US" sz="2800" dirty="0">
                <a:solidFill>
                  <a:schemeClr val="tx1"/>
                </a:solidFill>
              </a:rPr>
              <a:t>reducing NNZ weights (</a:t>
            </a:r>
            <a:r>
              <a:rPr lang="en-US" sz="2800" dirty="0">
                <a:solidFill>
                  <a:srgbClr val="FF0000"/>
                </a:solidFill>
              </a:rPr>
              <a:t>greedily</a:t>
            </a:r>
            <a:r>
              <a:rPr lang="en-US" sz="2800" dirty="0">
                <a:solidFill>
                  <a:schemeClr val="tx1"/>
                </a:solidFill>
              </a:rPr>
              <a:t>)</a:t>
            </a:r>
          </a:p>
          <a:p>
            <a:pPr marL="514350" indent="-514350">
              <a:buFont typeface="+mj-lt"/>
              <a:buAutoNum type="arabicPeriod"/>
            </a:pPr>
            <a:r>
              <a:rPr lang="en-US" sz="2800" dirty="0"/>
              <a:t>optimizing NZ weights (</a:t>
            </a:r>
            <a:r>
              <a:rPr lang="en-US" sz="2800" dirty="0">
                <a:solidFill>
                  <a:srgbClr val="FF0000"/>
                </a:solidFill>
              </a:rPr>
              <a:t>gradient</a:t>
            </a:r>
            <a:r>
              <a:rPr lang="en-US" sz="2800" dirty="0"/>
              <a:t>)</a:t>
            </a:r>
          </a:p>
        </p:txBody>
      </p:sp>
    </p:spTree>
    <p:extLst>
      <p:ext uri="{BB962C8B-B14F-4D97-AF65-F5344CB8AC3E}">
        <p14:creationId xmlns:p14="http://schemas.microsoft.com/office/powerpoint/2010/main" val="4367345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ADA5E7-6164-42E4-A2B1-180E85ECDC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0791E5-4E8B-584F-3706-CA4F69046E4F}"/>
              </a:ext>
            </a:extLst>
          </p:cNvPr>
          <p:cNvSpPr>
            <a:spLocks noGrp="1"/>
          </p:cNvSpPr>
          <p:nvPr>
            <p:ph type="title"/>
          </p:nvPr>
        </p:nvSpPr>
        <p:spPr/>
        <p:txBody>
          <a:bodyPr>
            <a:normAutofit/>
          </a:bodyPr>
          <a:lstStyle/>
          <a:p>
            <a:r>
              <a:rPr lang="en-US" dirty="0"/>
              <a:t>Unstructured pruning: Wanda</a:t>
            </a:r>
          </a:p>
        </p:txBody>
      </p:sp>
      <p:sp>
        <p:nvSpPr>
          <p:cNvPr id="3" name="Content Placeholder 2">
            <a:extLst>
              <a:ext uri="{FF2B5EF4-FFF2-40B4-BE49-F238E27FC236}">
                <a16:creationId xmlns:a16="http://schemas.microsoft.com/office/drawing/2014/main" id="{2086BA74-5779-4435-B7BB-C595D2B958BA}"/>
              </a:ext>
            </a:extLst>
          </p:cNvPr>
          <p:cNvSpPr>
            <a:spLocks noGrp="1"/>
          </p:cNvSpPr>
          <p:nvPr>
            <p:ph idx="1"/>
          </p:nvPr>
        </p:nvSpPr>
        <p:spPr>
          <a:xfrm>
            <a:off x="279400" y="1257300"/>
            <a:ext cx="4292600" cy="2988129"/>
          </a:xfrm>
        </p:spPr>
        <p:txBody>
          <a:bodyPr>
            <a:normAutofit fontScale="85000" lnSpcReduction="10000"/>
          </a:bodyPr>
          <a:lstStyle/>
          <a:p>
            <a:r>
              <a:rPr lang="en-US" dirty="0"/>
              <a:t>Design decisions: </a:t>
            </a:r>
          </a:p>
          <a:p>
            <a:pPr lvl="1"/>
            <a:r>
              <a:rPr lang="en-US" dirty="0"/>
              <a:t>Which </a:t>
            </a:r>
            <a:r>
              <a:rPr lang="en-US" b="1" dirty="0"/>
              <a:t>subset</a:t>
            </a:r>
            <a:r>
              <a:rPr lang="en-US" dirty="0"/>
              <a:t> to prune?</a:t>
            </a:r>
          </a:p>
          <a:p>
            <a:pPr lvl="1"/>
            <a:r>
              <a:rPr lang="en-US" dirty="0"/>
              <a:t>How much to </a:t>
            </a:r>
            <a:r>
              <a:rPr lang="en-US" b="1" dirty="0"/>
              <a:t>re-train, </a:t>
            </a:r>
            <a:r>
              <a:rPr lang="en-US" dirty="0"/>
              <a:t>and on </a:t>
            </a:r>
            <a:r>
              <a:rPr lang="en-US" b="1" dirty="0"/>
              <a:t>what data?</a:t>
            </a:r>
            <a:endParaRPr lang="en-US" dirty="0"/>
          </a:p>
          <a:p>
            <a:pPr lvl="1"/>
            <a:r>
              <a:rPr lang="en-US" dirty="0"/>
              <a:t>Do you </a:t>
            </a:r>
            <a:r>
              <a:rPr lang="en-US" b="1" dirty="0"/>
              <a:t>iterate</a:t>
            </a:r>
            <a:r>
              <a:rPr lang="en-US" dirty="0"/>
              <a:t> or not?</a:t>
            </a:r>
          </a:p>
          <a:p>
            <a:pPr lvl="2"/>
            <a:r>
              <a:rPr lang="en-US" dirty="0"/>
              <a:t>When do you </a:t>
            </a:r>
            <a:r>
              <a:rPr lang="en-US" b="1" dirty="0"/>
              <a:t>stop</a:t>
            </a:r>
            <a:r>
              <a:rPr lang="en-US" dirty="0"/>
              <a:t>?</a:t>
            </a:r>
          </a:p>
          <a:p>
            <a:pPr lvl="1"/>
            <a:endParaRPr lang="en-US" dirty="0"/>
          </a:p>
          <a:p>
            <a:pPr lvl="1"/>
            <a:endParaRPr lang="en-US" dirty="0"/>
          </a:p>
        </p:txBody>
      </p:sp>
      <p:pic>
        <p:nvPicPr>
          <p:cNvPr id="4" name="Picture 3">
            <a:extLst>
              <a:ext uri="{FF2B5EF4-FFF2-40B4-BE49-F238E27FC236}">
                <a16:creationId xmlns:a16="http://schemas.microsoft.com/office/drawing/2014/main" id="{F4E7F2DC-4DD6-7A3F-2B2C-702FE96099A6}"/>
              </a:ext>
            </a:extLst>
          </p:cNvPr>
          <p:cNvPicPr>
            <a:picLocks noChangeAspect="1"/>
          </p:cNvPicPr>
          <p:nvPr/>
        </p:nvPicPr>
        <p:blipFill>
          <a:blip r:embed="rId3"/>
          <a:srcRect l="49950" t="4143" b="36702"/>
          <a:stretch/>
        </p:blipFill>
        <p:spPr>
          <a:xfrm>
            <a:off x="4572000" y="1534885"/>
            <a:ext cx="4433867" cy="2237015"/>
          </a:xfrm>
          <a:prstGeom prst="rect">
            <a:avLst/>
          </a:prstGeom>
        </p:spPr>
      </p:pic>
      <p:pic>
        <p:nvPicPr>
          <p:cNvPr id="5" name="Picture 4">
            <a:extLst>
              <a:ext uri="{FF2B5EF4-FFF2-40B4-BE49-F238E27FC236}">
                <a16:creationId xmlns:a16="http://schemas.microsoft.com/office/drawing/2014/main" id="{892B3593-A91B-C49C-522D-1630FBA23FD5}"/>
              </a:ext>
            </a:extLst>
          </p:cNvPr>
          <p:cNvPicPr>
            <a:picLocks noChangeAspect="1"/>
          </p:cNvPicPr>
          <p:nvPr/>
        </p:nvPicPr>
        <p:blipFill>
          <a:blip r:embed="rId4"/>
          <a:stretch>
            <a:fillRect/>
          </a:stretch>
        </p:blipFill>
        <p:spPr>
          <a:xfrm>
            <a:off x="5698671" y="945482"/>
            <a:ext cx="3165929" cy="623344"/>
          </a:xfrm>
          <a:prstGeom prst="rect">
            <a:avLst/>
          </a:prstGeom>
        </p:spPr>
      </p:pic>
      <p:sp>
        <p:nvSpPr>
          <p:cNvPr id="6" name="TextBox 5">
            <a:extLst>
              <a:ext uri="{FF2B5EF4-FFF2-40B4-BE49-F238E27FC236}">
                <a16:creationId xmlns:a16="http://schemas.microsoft.com/office/drawing/2014/main" id="{724CBCEF-9A1E-62D1-C65C-F6DF56E8BF5A}"/>
              </a:ext>
            </a:extLst>
          </p:cNvPr>
          <p:cNvSpPr txBox="1"/>
          <p:nvPr/>
        </p:nvSpPr>
        <p:spPr>
          <a:xfrm>
            <a:off x="7512424" y="131762"/>
            <a:ext cx="1415676" cy="52322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rtlCol="0">
            <a:spAutoFit/>
          </a:bodyPr>
          <a:lstStyle/>
          <a:p>
            <a:pPr algn="r"/>
            <a:r>
              <a:rPr lang="en-US" sz="2800" dirty="0"/>
              <a:t>Recap</a:t>
            </a:r>
          </a:p>
        </p:txBody>
      </p:sp>
      <p:sp>
        <p:nvSpPr>
          <p:cNvPr id="8" name="TextBox 7">
            <a:extLst>
              <a:ext uri="{FF2B5EF4-FFF2-40B4-BE49-F238E27FC236}">
                <a16:creationId xmlns:a16="http://schemas.microsoft.com/office/drawing/2014/main" id="{9A6B604D-A9AF-6074-4D1C-E04002B79853}"/>
              </a:ext>
            </a:extLst>
          </p:cNvPr>
          <p:cNvSpPr txBox="1"/>
          <p:nvPr/>
        </p:nvSpPr>
        <p:spPr>
          <a:xfrm>
            <a:off x="878327" y="4044993"/>
            <a:ext cx="7726829" cy="2246769"/>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US" sz="2800" dirty="0"/>
              <a:t>Optimize parameter while minimizing NNZ weights</a:t>
            </a:r>
            <a:r>
              <a:rPr lang="en-US" sz="2800" dirty="0">
                <a:solidFill>
                  <a:schemeClr val="tx1"/>
                </a:solidFill>
              </a:rPr>
              <a:t> by alternating</a:t>
            </a:r>
          </a:p>
          <a:p>
            <a:pPr marL="514350" indent="-514350">
              <a:buFont typeface="+mj-lt"/>
              <a:buAutoNum type="arabicPeriod"/>
            </a:pPr>
            <a:r>
              <a:rPr lang="en-US" sz="2800" dirty="0">
                <a:solidFill>
                  <a:schemeClr val="tx1"/>
                </a:solidFill>
              </a:rPr>
              <a:t>reducing NNZ weights (</a:t>
            </a:r>
            <a:r>
              <a:rPr lang="en-US" sz="2800" dirty="0">
                <a:solidFill>
                  <a:srgbClr val="FF0000"/>
                </a:solidFill>
              </a:rPr>
              <a:t>greedily, with weights times activations</a:t>
            </a:r>
            <a:r>
              <a:rPr lang="en-US" sz="2800" dirty="0">
                <a:solidFill>
                  <a:schemeClr val="tx1"/>
                </a:solidFill>
              </a:rPr>
              <a:t>)</a:t>
            </a:r>
          </a:p>
          <a:p>
            <a:pPr marL="514350" indent="-514350">
              <a:buFont typeface="+mj-lt"/>
              <a:buAutoNum type="arabicPeriod"/>
            </a:pPr>
            <a:r>
              <a:rPr lang="en-US" sz="2800" strike="sngStrike" dirty="0"/>
              <a:t>optimizing NZ weights (</a:t>
            </a:r>
            <a:r>
              <a:rPr lang="en-US" sz="2800" strike="sngStrike" dirty="0">
                <a:solidFill>
                  <a:srgbClr val="FF0000"/>
                </a:solidFill>
              </a:rPr>
              <a:t>gradient</a:t>
            </a:r>
            <a:r>
              <a:rPr lang="en-US" sz="2800" strike="sngStrike" dirty="0"/>
              <a:t>)</a:t>
            </a:r>
          </a:p>
        </p:txBody>
      </p:sp>
    </p:spTree>
    <p:extLst>
      <p:ext uri="{BB962C8B-B14F-4D97-AF65-F5344CB8AC3E}">
        <p14:creationId xmlns:p14="http://schemas.microsoft.com/office/powerpoint/2010/main" val="2803334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784C90-FF68-1F4A-DCFF-95D174C8D1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2EAEAB-02E9-443F-12A0-E473E20A1A3C}"/>
              </a:ext>
            </a:extLst>
          </p:cNvPr>
          <p:cNvSpPr>
            <a:spLocks noGrp="1"/>
          </p:cNvSpPr>
          <p:nvPr>
            <p:ph type="title"/>
          </p:nvPr>
        </p:nvSpPr>
        <p:spPr/>
        <p:txBody>
          <a:bodyPr>
            <a:normAutofit fontScale="90000"/>
          </a:bodyPr>
          <a:lstStyle/>
          <a:p>
            <a:r>
              <a:rPr lang="en-US" dirty="0"/>
              <a:t>What sparse operations are supported?</a:t>
            </a:r>
          </a:p>
        </p:txBody>
      </p:sp>
      <p:sp>
        <p:nvSpPr>
          <p:cNvPr id="4" name="Content Placeholder 3">
            <a:extLst>
              <a:ext uri="{FF2B5EF4-FFF2-40B4-BE49-F238E27FC236}">
                <a16:creationId xmlns:a16="http://schemas.microsoft.com/office/drawing/2014/main" id="{8988B691-45D8-D687-CC18-137B2FB9FB4C}"/>
              </a:ext>
            </a:extLst>
          </p:cNvPr>
          <p:cNvSpPr>
            <a:spLocks noGrp="1"/>
          </p:cNvSpPr>
          <p:nvPr>
            <p:ph idx="1"/>
          </p:nvPr>
        </p:nvSpPr>
        <p:spPr>
          <a:xfrm>
            <a:off x="247650" y="1338944"/>
            <a:ext cx="8648700" cy="1436913"/>
          </a:xfrm>
        </p:spPr>
        <p:txBody>
          <a:bodyPr>
            <a:normAutofit fontScale="77500" lnSpcReduction="20000"/>
          </a:bodyPr>
          <a:lstStyle/>
          <a:p>
            <a:r>
              <a:rPr lang="en-US" dirty="0"/>
              <a:t>Nvidia supports 2:4 sparse matrices</a:t>
            </a:r>
          </a:p>
          <a:p>
            <a:pPr lvl="1"/>
            <a:r>
              <a:rPr lang="en-US" dirty="0"/>
              <a:t>General version is “N:M”</a:t>
            </a:r>
          </a:p>
          <a:p>
            <a:pPr lvl="1"/>
            <a:r>
              <a:rPr lang="en-US" dirty="0"/>
              <a:t>In each contiguous block of 4 weights at least 2 are zero. </a:t>
            </a:r>
          </a:p>
        </p:txBody>
      </p:sp>
      <p:pic>
        <p:nvPicPr>
          <p:cNvPr id="1026" name="Picture 2">
            <a:extLst>
              <a:ext uri="{FF2B5EF4-FFF2-40B4-BE49-F238E27FC236}">
                <a16:creationId xmlns:a16="http://schemas.microsoft.com/office/drawing/2014/main" id="{5D70AB33-FD24-C210-5DDA-F6C3B0C7F19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2908300"/>
            <a:ext cx="7924800" cy="365760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E6E35644-384F-1203-F022-32B1081AFB2A}"/>
              </a:ext>
            </a:extLst>
          </p:cNvPr>
          <p:cNvSpPr txBox="1"/>
          <p:nvPr/>
        </p:nvSpPr>
        <p:spPr>
          <a:xfrm>
            <a:off x="7512424" y="131762"/>
            <a:ext cx="1415676" cy="52322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rtlCol="0">
            <a:spAutoFit/>
          </a:bodyPr>
          <a:lstStyle/>
          <a:p>
            <a:pPr algn="r"/>
            <a:r>
              <a:rPr lang="en-US" sz="2800" dirty="0"/>
              <a:t>Recap</a:t>
            </a:r>
          </a:p>
        </p:txBody>
      </p:sp>
    </p:spTree>
    <p:extLst>
      <p:ext uri="{BB962C8B-B14F-4D97-AF65-F5344CB8AC3E}">
        <p14:creationId xmlns:p14="http://schemas.microsoft.com/office/powerpoint/2010/main" val="27499083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25B625-355B-879B-7B59-DDE9F9BE58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B26FFF-4976-4A46-2BA1-52F920AD920E}"/>
              </a:ext>
            </a:extLst>
          </p:cNvPr>
          <p:cNvSpPr>
            <a:spLocks noGrp="1"/>
          </p:cNvSpPr>
          <p:nvPr>
            <p:ph type="title"/>
          </p:nvPr>
        </p:nvSpPr>
        <p:spPr/>
        <p:txBody>
          <a:bodyPr>
            <a:normAutofit fontScale="90000"/>
          </a:bodyPr>
          <a:lstStyle/>
          <a:p>
            <a:r>
              <a:rPr lang="en-US" dirty="0"/>
              <a:t>What sparse operations are supported?</a:t>
            </a:r>
          </a:p>
        </p:txBody>
      </p:sp>
      <p:sp>
        <p:nvSpPr>
          <p:cNvPr id="4" name="Content Placeholder 3">
            <a:extLst>
              <a:ext uri="{FF2B5EF4-FFF2-40B4-BE49-F238E27FC236}">
                <a16:creationId xmlns:a16="http://schemas.microsoft.com/office/drawing/2014/main" id="{72896F74-EA12-4B91-FD10-A87C90131579}"/>
              </a:ext>
            </a:extLst>
          </p:cNvPr>
          <p:cNvSpPr>
            <a:spLocks noGrp="1"/>
          </p:cNvSpPr>
          <p:nvPr>
            <p:ph idx="1"/>
          </p:nvPr>
        </p:nvSpPr>
        <p:spPr>
          <a:xfrm>
            <a:off x="247650" y="1338944"/>
            <a:ext cx="8648700" cy="1436913"/>
          </a:xfrm>
        </p:spPr>
        <p:txBody>
          <a:bodyPr>
            <a:normAutofit fontScale="77500" lnSpcReduction="20000"/>
          </a:bodyPr>
          <a:lstStyle/>
          <a:p>
            <a:r>
              <a:rPr lang="en-US" dirty="0"/>
              <a:t>Nvidia supports 2:4 sparse matrices</a:t>
            </a:r>
          </a:p>
          <a:p>
            <a:pPr lvl="1"/>
            <a:r>
              <a:rPr lang="en-US" dirty="0"/>
              <a:t>General version is “N:M”</a:t>
            </a:r>
          </a:p>
          <a:p>
            <a:pPr lvl="1"/>
            <a:r>
              <a:rPr lang="en-US" dirty="0"/>
              <a:t>In each contiguous block of 4 weights at least 2 are zero. </a:t>
            </a:r>
          </a:p>
        </p:txBody>
      </p:sp>
      <p:pic>
        <p:nvPicPr>
          <p:cNvPr id="3" name="Picture 2">
            <a:extLst>
              <a:ext uri="{FF2B5EF4-FFF2-40B4-BE49-F238E27FC236}">
                <a16:creationId xmlns:a16="http://schemas.microsoft.com/office/drawing/2014/main" id="{B9B20860-070D-224A-72D4-EB8AE299101C}"/>
              </a:ext>
            </a:extLst>
          </p:cNvPr>
          <p:cNvPicPr>
            <a:picLocks noChangeAspect="1"/>
          </p:cNvPicPr>
          <p:nvPr/>
        </p:nvPicPr>
        <p:blipFill>
          <a:blip r:embed="rId3"/>
          <a:stretch>
            <a:fillRect/>
          </a:stretch>
        </p:blipFill>
        <p:spPr>
          <a:xfrm>
            <a:off x="2649764" y="2560638"/>
            <a:ext cx="5963303" cy="2958418"/>
          </a:xfrm>
          <a:prstGeom prst="rect">
            <a:avLst/>
          </a:prstGeom>
        </p:spPr>
      </p:pic>
      <p:sp>
        <p:nvSpPr>
          <p:cNvPr id="5" name="Content Placeholder 2">
            <a:extLst>
              <a:ext uri="{FF2B5EF4-FFF2-40B4-BE49-F238E27FC236}">
                <a16:creationId xmlns:a16="http://schemas.microsoft.com/office/drawing/2014/main" id="{88051590-EDE8-3EA1-FF8F-67E7E6196BB4}"/>
              </a:ext>
            </a:extLst>
          </p:cNvPr>
          <p:cNvSpPr txBox="1">
            <a:spLocks/>
          </p:cNvSpPr>
          <p:nvPr/>
        </p:nvSpPr>
        <p:spPr>
          <a:xfrm>
            <a:off x="389164" y="2775856"/>
            <a:ext cx="2109107" cy="2958417"/>
          </a:xfrm>
          <a:prstGeom prst="rect">
            <a:avLst/>
          </a:prstGeom>
        </p:spPr>
        <p:style>
          <a:lnRef idx="1">
            <a:schemeClr val="accent1"/>
          </a:lnRef>
          <a:fillRef idx="2">
            <a:schemeClr val="accent1"/>
          </a:fillRef>
          <a:effectRef idx="1">
            <a:schemeClr val="accent1"/>
          </a:effectRef>
          <a:fontRef idx="minor">
            <a:schemeClr val="dk1"/>
          </a:fontRef>
        </p:style>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Calibri"/>
                <a:ea typeface="+mn-ea"/>
                <a:cs typeface="Calibri"/>
              </a:defRPr>
            </a:lvl1pPr>
            <a:lvl2pPr marL="742950" indent="-285750" algn="l" defTabSz="457200" rtl="0" eaLnBrk="1" latinLnBrk="0" hangingPunct="1">
              <a:spcBef>
                <a:spcPct val="20000"/>
              </a:spcBef>
              <a:buFont typeface="Arial"/>
              <a:buChar char="–"/>
              <a:defRPr sz="3200" kern="1200">
                <a:solidFill>
                  <a:schemeClr val="tx1"/>
                </a:solidFill>
                <a:latin typeface="Calibri"/>
                <a:ea typeface="+mn-ea"/>
                <a:cs typeface="Calibri"/>
              </a:defRPr>
            </a:lvl2pPr>
            <a:lvl3pPr marL="1143000" indent="-228600" algn="l" defTabSz="457200" rtl="0" eaLnBrk="1" latinLnBrk="0" hangingPunct="1">
              <a:spcBef>
                <a:spcPct val="20000"/>
              </a:spcBef>
              <a:buFont typeface="Arial"/>
              <a:buChar char="•"/>
              <a:defRPr sz="2800" kern="1200">
                <a:solidFill>
                  <a:schemeClr val="tx1"/>
                </a:solidFill>
                <a:latin typeface="Calibri"/>
                <a:ea typeface="+mn-ea"/>
                <a:cs typeface="Calibri"/>
              </a:defRPr>
            </a:lvl3pPr>
            <a:lvl4pPr marL="1600200" indent="-228600" algn="l" defTabSz="457200" rtl="0" eaLnBrk="1" latinLnBrk="0" hangingPunct="1">
              <a:spcBef>
                <a:spcPct val="20000"/>
              </a:spcBef>
              <a:buFont typeface="Arial"/>
              <a:buChar char="–"/>
              <a:defRPr sz="2400" kern="1200">
                <a:solidFill>
                  <a:schemeClr val="tx1"/>
                </a:solidFill>
                <a:latin typeface="Calibri"/>
                <a:ea typeface="+mn-ea"/>
                <a:cs typeface="Calibri"/>
              </a:defRPr>
            </a:lvl4pPr>
            <a:lvl5pPr marL="2057400" indent="-228600" algn="l" defTabSz="457200" rtl="0" eaLnBrk="1" latinLnBrk="0" hangingPunct="1">
              <a:spcBef>
                <a:spcPct val="20000"/>
              </a:spcBef>
              <a:buFont typeface="Arial"/>
              <a:buChar char="»"/>
              <a:defRPr sz="2400" kern="1200">
                <a:solidFill>
                  <a:schemeClr val="tx1"/>
                </a:solidFill>
                <a:latin typeface="Calibri"/>
                <a:ea typeface="+mn-ea"/>
                <a:cs typeface="Calibri"/>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57150" indent="0">
              <a:buNone/>
            </a:pPr>
            <a:r>
              <a:rPr lang="en-US" sz="2400" dirty="0"/>
              <a:t>Speeds for WANDA using semi-structured N:M pruning</a:t>
            </a:r>
          </a:p>
          <a:p>
            <a:pPr lvl="1"/>
            <a:endParaRPr lang="en-US" dirty="0"/>
          </a:p>
        </p:txBody>
      </p:sp>
      <p:sp>
        <p:nvSpPr>
          <p:cNvPr id="6" name="Rectangle 5">
            <a:extLst>
              <a:ext uri="{FF2B5EF4-FFF2-40B4-BE49-F238E27FC236}">
                <a16:creationId xmlns:a16="http://schemas.microsoft.com/office/drawing/2014/main" id="{634FDC6E-A73C-1176-B711-32405886B6B3}"/>
              </a:ext>
            </a:extLst>
          </p:cNvPr>
          <p:cNvSpPr/>
          <p:nvPr/>
        </p:nvSpPr>
        <p:spPr>
          <a:xfrm>
            <a:off x="2824843" y="3788229"/>
            <a:ext cx="5568043" cy="653142"/>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C24E19E0-9B77-2DBB-5DD9-B4C1D3F1AD8F}"/>
              </a:ext>
            </a:extLst>
          </p:cNvPr>
          <p:cNvSpPr txBox="1"/>
          <p:nvPr/>
        </p:nvSpPr>
        <p:spPr>
          <a:xfrm>
            <a:off x="7512424" y="131762"/>
            <a:ext cx="1415676" cy="52322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rtlCol="0">
            <a:spAutoFit/>
          </a:bodyPr>
          <a:lstStyle/>
          <a:p>
            <a:pPr algn="r"/>
            <a:r>
              <a:rPr lang="en-US" sz="2800" dirty="0"/>
              <a:t>Recap</a:t>
            </a:r>
          </a:p>
        </p:txBody>
      </p:sp>
      <p:sp>
        <p:nvSpPr>
          <p:cNvPr id="8" name="TextBox 7">
            <a:extLst>
              <a:ext uri="{FF2B5EF4-FFF2-40B4-BE49-F238E27FC236}">
                <a16:creationId xmlns:a16="http://schemas.microsoft.com/office/drawing/2014/main" id="{862A2512-9D91-7988-837D-8AB1E9B5F838}"/>
              </a:ext>
            </a:extLst>
          </p:cNvPr>
          <p:cNvSpPr txBox="1"/>
          <p:nvPr/>
        </p:nvSpPr>
        <p:spPr>
          <a:xfrm>
            <a:off x="878327" y="4044993"/>
            <a:ext cx="7726829" cy="2677656"/>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US" sz="2800" dirty="0"/>
              <a:t>Optimize parameter while minimizing NNZ weights</a:t>
            </a:r>
            <a:r>
              <a:rPr lang="en-US" sz="2800" dirty="0">
                <a:solidFill>
                  <a:schemeClr val="tx1"/>
                </a:solidFill>
              </a:rPr>
              <a:t> by alternating</a:t>
            </a:r>
          </a:p>
          <a:p>
            <a:pPr marL="514350" indent="-514350">
              <a:buFont typeface="+mj-lt"/>
              <a:buAutoNum type="arabicPeriod"/>
            </a:pPr>
            <a:r>
              <a:rPr lang="en-US" sz="2800" dirty="0">
                <a:solidFill>
                  <a:schemeClr val="tx1"/>
                </a:solidFill>
              </a:rPr>
              <a:t>reducing NNZ weights (greedily, with weights times activations, </a:t>
            </a:r>
            <a:r>
              <a:rPr lang="en-US" sz="2800" dirty="0">
                <a:solidFill>
                  <a:srgbClr val="FF0000"/>
                </a:solidFill>
              </a:rPr>
              <a:t>in a comparison group</a:t>
            </a:r>
            <a:r>
              <a:rPr lang="en-US" sz="2800" dirty="0">
                <a:solidFill>
                  <a:schemeClr val="tx1"/>
                </a:solidFill>
              </a:rPr>
              <a:t>)</a:t>
            </a:r>
          </a:p>
          <a:p>
            <a:pPr marL="514350" indent="-514350">
              <a:buFont typeface="+mj-lt"/>
              <a:buAutoNum type="arabicPeriod"/>
            </a:pPr>
            <a:r>
              <a:rPr lang="en-US" sz="2800" strike="sngStrike" dirty="0"/>
              <a:t>optimizing NZ weights (</a:t>
            </a:r>
            <a:r>
              <a:rPr lang="en-US" sz="2800" strike="sngStrike" dirty="0">
                <a:solidFill>
                  <a:srgbClr val="FF0000"/>
                </a:solidFill>
              </a:rPr>
              <a:t>gradient</a:t>
            </a:r>
            <a:r>
              <a:rPr lang="en-US" sz="2800" strike="sngStrike" dirty="0"/>
              <a:t>)</a:t>
            </a:r>
          </a:p>
        </p:txBody>
      </p:sp>
    </p:spTree>
    <p:extLst>
      <p:ext uri="{BB962C8B-B14F-4D97-AF65-F5344CB8AC3E}">
        <p14:creationId xmlns:p14="http://schemas.microsoft.com/office/powerpoint/2010/main" val="27550490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D8763-4A78-0CA2-D26F-F01BC8AD53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2A3DE6-CCD0-8E82-103B-A57517091068}"/>
              </a:ext>
            </a:extLst>
          </p:cNvPr>
          <p:cNvSpPr>
            <a:spLocks noGrp="1"/>
          </p:cNvSpPr>
          <p:nvPr>
            <p:ph type="title"/>
          </p:nvPr>
        </p:nvSpPr>
        <p:spPr/>
        <p:txBody>
          <a:bodyPr/>
          <a:lstStyle/>
          <a:p>
            <a:r>
              <a:rPr lang="en-US" dirty="0"/>
              <a:t>Structured Pruning: Shortened Llama</a:t>
            </a:r>
          </a:p>
        </p:txBody>
      </p:sp>
      <p:sp>
        <p:nvSpPr>
          <p:cNvPr id="3" name="Content Placeholder 2">
            <a:extLst>
              <a:ext uri="{FF2B5EF4-FFF2-40B4-BE49-F238E27FC236}">
                <a16:creationId xmlns:a16="http://schemas.microsoft.com/office/drawing/2014/main" id="{8A7FCF1A-1C76-C8B8-5D9C-384FA2CE611C}"/>
              </a:ext>
            </a:extLst>
          </p:cNvPr>
          <p:cNvSpPr>
            <a:spLocks noGrp="1"/>
          </p:cNvSpPr>
          <p:nvPr>
            <p:ph idx="1"/>
          </p:nvPr>
        </p:nvSpPr>
        <p:spPr>
          <a:xfrm>
            <a:off x="279400" y="1257301"/>
            <a:ext cx="4292600" cy="5308599"/>
          </a:xfrm>
        </p:spPr>
        <p:txBody>
          <a:bodyPr>
            <a:normAutofit fontScale="92500" lnSpcReduction="20000"/>
          </a:bodyPr>
          <a:lstStyle/>
          <a:p>
            <a:r>
              <a:rPr lang="en-US" dirty="0"/>
              <a:t>Approach</a:t>
            </a:r>
          </a:p>
          <a:p>
            <a:pPr lvl="1"/>
            <a:r>
              <a:rPr lang="en-US" dirty="0"/>
              <a:t>For each layer, compute increase in PPL on a calibration set if removed</a:t>
            </a:r>
          </a:p>
          <a:p>
            <a:pPr lvl="1"/>
            <a:r>
              <a:rPr lang="en-US" dirty="0"/>
              <a:t>Also use a gradient*weight metric, Taylor+</a:t>
            </a:r>
          </a:p>
          <a:p>
            <a:pPr lvl="1"/>
            <a:r>
              <a:rPr lang="en-US" dirty="0"/>
              <a:t>Prune layers one-shot to get target size</a:t>
            </a:r>
          </a:p>
          <a:p>
            <a:pPr lvl="1"/>
            <a:r>
              <a:rPr lang="en-US" dirty="0"/>
              <a:t>Retrain with </a:t>
            </a:r>
            <a:r>
              <a:rPr lang="en-US" dirty="0" err="1"/>
              <a:t>LoRA</a:t>
            </a:r>
            <a:endParaRPr lang="en-US" dirty="0"/>
          </a:p>
        </p:txBody>
      </p:sp>
      <p:pic>
        <p:nvPicPr>
          <p:cNvPr id="5" name="Picture 4">
            <a:extLst>
              <a:ext uri="{FF2B5EF4-FFF2-40B4-BE49-F238E27FC236}">
                <a16:creationId xmlns:a16="http://schemas.microsoft.com/office/drawing/2014/main" id="{518022D8-2B33-8BF9-5D29-B86876A0A5F6}"/>
              </a:ext>
            </a:extLst>
          </p:cNvPr>
          <p:cNvPicPr>
            <a:picLocks noChangeAspect="1"/>
          </p:cNvPicPr>
          <p:nvPr/>
        </p:nvPicPr>
        <p:blipFill>
          <a:blip r:embed="rId3"/>
          <a:stretch>
            <a:fillRect/>
          </a:stretch>
        </p:blipFill>
        <p:spPr>
          <a:xfrm>
            <a:off x="4784654" y="1223212"/>
            <a:ext cx="4280750" cy="3169174"/>
          </a:xfrm>
          <a:prstGeom prst="rect">
            <a:avLst/>
          </a:prstGeom>
        </p:spPr>
      </p:pic>
      <p:sp>
        <p:nvSpPr>
          <p:cNvPr id="4" name="TextBox 3">
            <a:extLst>
              <a:ext uri="{FF2B5EF4-FFF2-40B4-BE49-F238E27FC236}">
                <a16:creationId xmlns:a16="http://schemas.microsoft.com/office/drawing/2014/main" id="{8E9DA81E-6973-E216-D139-C1331A6201B6}"/>
              </a:ext>
            </a:extLst>
          </p:cNvPr>
          <p:cNvSpPr txBox="1"/>
          <p:nvPr/>
        </p:nvSpPr>
        <p:spPr>
          <a:xfrm>
            <a:off x="7512424" y="131762"/>
            <a:ext cx="1415676" cy="52322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rtlCol="0">
            <a:spAutoFit/>
          </a:bodyPr>
          <a:lstStyle/>
          <a:p>
            <a:pPr algn="r"/>
            <a:r>
              <a:rPr lang="en-US" sz="2800" dirty="0"/>
              <a:t>Recap</a:t>
            </a:r>
          </a:p>
        </p:txBody>
      </p:sp>
      <p:sp>
        <p:nvSpPr>
          <p:cNvPr id="6" name="TextBox 5">
            <a:extLst>
              <a:ext uri="{FF2B5EF4-FFF2-40B4-BE49-F238E27FC236}">
                <a16:creationId xmlns:a16="http://schemas.microsoft.com/office/drawing/2014/main" id="{A6442F96-D7F7-2C37-1731-61E3420AB1F0}"/>
              </a:ext>
            </a:extLst>
          </p:cNvPr>
          <p:cNvSpPr txBox="1"/>
          <p:nvPr/>
        </p:nvSpPr>
        <p:spPr>
          <a:xfrm>
            <a:off x="878327" y="4044993"/>
            <a:ext cx="7726829" cy="1384995"/>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US" sz="2800" dirty="0"/>
              <a:t>Optimize parameter while reducing # layers:</a:t>
            </a:r>
            <a:endParaRPr lang="en-US" sz="2800" dirty="0">
              <a:solidFill>
                <a:schemeClr val="tx1"/>
              </a:solidFill>
            </a:endParaRPr>
          </a:p>
          <a:p>
            <a:pPr marL="514350" indent="-514350">
              <a:buFont typeface="+mj-lt"/>
              <a:buAutoNum type="arabicPeriod"/>
            </a:pPr>
            <a:r>
              <a:rPr lang="en-US" sz="2800" dirty="0">
                <a:solidFill>
                  <a:schemeClr val="tx1"/>
                </a:solidFill>
              </a:rPr>
              <a:t>reducing layers (greedily)</a:t>
            </a:r>
          </a:p>
          <a:p>
            <a:pPr marL="514350" indent="-514350">
              <a:buFont typeface="+mj-lt"/>
              <a:buAutoNum type="arabicPeriod"/>
            </a:pPr>
            <a:r>
              <a:rPr lang="en-US" sz="2800" dirty="0"/>
              <a:t>optimizing remaining layers (</a:t>
            </a:r>
            <a:r>
              <a:rPr lang="en-US" sz="2800" dirty="0" err="1">
                <a:solidFill>
                  <a:srgbClr val="FF0000"/>
                </a:solidFill>
              </a:rPr>
              <a:t>LoRA</a:t>
            </a:r>
            <a:r>
              <a:rPr lang="en-US" sz="2800" dirty="0"/>
              <a:t>)</a:t>
            </a:r>
          </a:p>
        </p:txBody>
      </p:sp>
    </p:spTree>
    <p:extLst>
      <p:ext uri="{BB962C8B-B14F-4D97-AF65-F5344CB8AC3E}">
        <p14:creationId xmlns:p14="http://schemas.microsoft.com/office/powerpoint/2010/main" val="30167041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D5D56E-AFE1-3542-6454-44CED24136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4BC080-DFBF-6AE1-CB19-2600D3B01A11}"/>
              </a:ext>
            </a:extLst>
          </p:cNvPr>
          <p:cNvSpPr>
            <a:spLocks noGrp="1"/>
          </p:cNvSpPr>
          <p:nvPr>
            <p:ph type="title"/>
          </p:nvPr>
        </p:nvSpPr>
        <p:spPr/>
        <p:txBody>
          <a:bodyPr/>
          <a:lstStyle/>
          <a:p>
            <a:r>
              <a:rPr lang="en-US" dirty="0"/>
              <a:t>Structured Pruning: Sheared Llama</a:t>
            </a:r>
          </a:p>
        </p:txBody>
      </p:sp>
      <p:sp>
        <p:nvSpPr>
          <p:cNvPr id="3" name="Content Placeholder 2">
            <a:extLst>
              <a:ext uri="{FF2B5EF4-FFF2-40B4-BE49-F238E27FC236}">
                <a16:creationId xmlns:a16="http://schemas.microsoft.com/office/drawing/2014/main" id="{D71A9C24-10C3-16B6-D669-2A7F9A02180B}"/>
              </a:ext>
            </a:extLst>
          </p:cNvPr>
          <p:cNvSpPr>
            <a:spLocks noGrp="1"/>
          </p:cNvSpPr>
          <p:nvPr>
            <p:ph idx="1"/>
          </p:nvPr>
        </p:nvSpPr>
        <p:spPr>
          <a:xfrm>
            <a:off x="279400" y="1257300"/>
            <a:ext cx="8456386" cy="5436281"/>
          </a:xfrm>
        </p:spPr>
        <p:txBody>
          <a:bodyPr>
            <a:normAutofit/>
          </a:bodyPr>
          <a:lstStyle/>
          <a:p>
            <a:r>
              <a:rPr lang="en-US" dirty="0"/>
              <a:t>Some key ideas:</a:t>
            </a:r>
          </a:p>
          <a:p>
            <a:pPr lvl="1"/>
            <a:r>
              <a:rPr lang="en-US" b="1" dirty="0"/>
              <a:t>Prune to a particular target architecture</a:t>
            </a:r>
          </a:p>
          <a:p>
            <a:pPr lvl="2"/>
            <a:r>
              <a:rPr lang="en-US" dirty="0"/>
              <a:t>Optimize a loss that includes PPL on a validation set + loss indicating how masks are mismatched to target architecture</a:t>
            </a:r>
          </a:p>
          <a:p>
            <a:pPr lvl="2"/>
            <a:r>
              <a:rPr lang="en-US" dirty="0"/>
              <a:t>Use Lagrange multipliers and soft approximation of the mask in training (slow!)</a:t>
            </a:r>
          </a:p>
        </p:txBody>
      </p:sp>
      <p:pic>
        <p:nvPicPr>
          <p:cNvPr id="4" name="Picture 3">
            <a:extLst>
              <a:ext uri="{FF2B5EF4-FFF2-40B4-BE49-F238E27FC236}">
                <a16:creationId xmlns:a16="http://schemas.microsoft.com/office/drawing/2014/main" id="{EE2037D0-DCC0-C8FD-8581-D876F1B20758}"/>
              </a:ext>
            </a:extLst>
          </p:cNvPr>
          <p:cNvPicPr>
            <a:picLocks noChangeAspect="1"/>
          </p:cNvPicPr>
          <p:nvPr/>
        </p:nvPicPr>
        <p:blipFill>
          <a:blip r:embed="rId2"/>
          <a:stretch>
            <a:fillRect/>
          </a:stretch>
        </p:blipFill>
        <p:spPr>
          <a:xfrm>
            <a:off x="621393" y="4904974"/>
            <a:ext cx="7772400" cy="1660926"/>
          </a:xfrm>
          <a:prstGeom prst="rect">
            <a:avLst/>
          </a:prstGeom>
        </p:spPr>
      </p:pic>
      <p:sp>
        <p:nvSpPr>
          <p:cNvPr id="5" name="TextBox 4">
            <a:extLst>
              <a:ext uri="{FF2B5EF4-FFF2-40B4-BE49-F238E27FC236}">
                <a16:creationId xmlns:a16="http://schemas.microsoft.com/office/drawing/2014/main" id="{2D475AAB-4EA1-DD18-8E75-4C3362B2E935}"/>
              </a:ext>
            </a:extLst>
          </p:cNvPr>
          <p:cNvSpPr txBox="1"/>
          <p:nvPr/>
        </p:nvSpPr>
        <p:spPr>
          <a:xfrm>
            <a:off x="7512424" y="131762"/>
            <a:ext cx="1415676" cy="52322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rtlCol="0">
            <a:spAutoFit/>
          </a:bodyPr>
          <a:lstStyle/>
          <a:p>
            <a:pPr algn="r"/>
            <a:r>
              <a:rPr lang="en-US" sz="2800" dirty="0"/>
              <a:t>Recap</a:t>
            </a:r>
          </a:p>
        </p:txBody>
      </p:sp>
    </p:spTree>
    <p:extLst>
      <p:ext uri="{BB962C8B-B14F-4D97-AF65-F5344CB8AC3E}">
        <p14:creationId xmlns:p14="http://schemas.microsoft.com/office/powerpoint/2010/main" val="56213916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FAC20E-0A18-6A94-43BB-2B38005D00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58D8CE-34AF-E823-BCCE-FFF1677FDA25}"/>
              </a:ext>
            </a:extLst>
          </p:cNvPr>
          <p:cNvSpPr>
            <a:spLocks noGrp="1"/>
          </p:cNvSpPr>
          <p:nvPr>
            <p:ph type="title"/>
          </p:nvPr>
        </p:nvSpPr>
        <p:spPr/>
        <p:txBody>
          <a:bodyPr/>
          <a:lstStyle/>
          <a:p>
            <a:r>
              <a:rPr lang="en-US" dirty="0"/>
              <a:t>Structured Pruning: Sheared Llama</a:t>
            </a:r>
          </a:p>
        </p:txBody>
      </p:sp>
      <p:sp>
        <p:nvSpPr>
          <p:cNvPr id="3" name="Content Placeholder 2">
            <a:extLst>
              <a:ext uri="{FF2B5EF4-FFF2-40B4-BE49-F238E27FC236}">
                <a16:creationId xmlns:a16="http://schemas.microsoft.com/office/drawing/2014/main" id="{33AA7427-F930-3626-EB5B-9D336E4B631A}"/>
              </a:ext>
            </a:extLst>
          </p:cNvPr>
          <p:cNvSpPr>
            <a:spLocks noGrp="1"/>
          </p:cNvSpPr>
          <p:nvPr>
            <p:ph idx="1"/>
          </p:nvPr>
        </p:nvSpPr>
        <p:spPr>
          <a:xfrm>
            <a:off x="279400" y="1257300"/>
            <a:ext cx="8456386" cy="5436281"/>
          </a:xfrm>
        </p:spPr>
        <p:txBody>
          <a:bodyPr>
            <a:normAutofit/>
          </a:bodyPr>
          <a:lstStyle/>
          <a:p>
            <a:r>
              <a:rPr lang="en-US" dirty="0"/>
              <a:t>Some key ideas:</a:t>
            </a:r>
          </a:p>
          <a:p>
            <a:pPr lvl="1"/>
            <a:r>
              <a:rPr lang="en-US" b="1" dirty="0"/>
              <a:t>Prune to a particular target architecture</a:t>
            </a:r>
          </a:p>
          <a:p>
            <a:pPr lvl="2"/>
            <a:r>
              <a:rPr lang="en-US" dirty="0"/>
              <a:t>Pruning and retraining are done in the same optimization pass</a:t>
            </a:r>
          </a:p>
          <a:p>
            <a:pPr lvl="2"/>
            <a:r>
              <a:rPr lang="en-US" dirty="0"/>
              <a:t>Retrain to a ”reference loss” predicted by scaling laws.</a:t>
            </a:r>
          </a:p>
          <a:p>
            <a:pPr lvl="2"/>
            <a:r>
              <a:rPr lang="en-US" dirty="0"/>
              <a:t>In pruning/retraining, focus on high-loss slices of the data.</a:t>
            </a:r>
          </a:p>
          <a:p>
            <a:pPr lvl="2"/>
            <a:endParaRPr lang="en-US" dirty="0"/>
          </a:p>
        </p:txBody>
      </p:sp>
      <p:sp>
        <p:nvSpPr>
          <p:cNvPr id="4" name="TextBox 3">
            <a:extLst>
              <a:ext uri="{FF2B5EF4-FFF2-40B4-BE49-F238E27FC236}">
                <a16:creationId xmlns:a16="http://schemas.microsoft.com/office/drawing/2014/main" id="{00AABE22-BA18-A804-809F-CEBFFC82BBB1}"/>
              </a:ext>
            </a:extLst>
          </p:cNvPr>
          <p:cNvSpPr txBox="1"/>
          <p:nvPr/>
        </p:nvSpPr>
        <p:spPr>
          <a:xfrm>
            <a:off x="7512424" y="131762"/>
            <a:ext cx="1415676" cy="52322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rtlCol="0">
            <a:spAutoFit/>
          </a:bodyPr>
          <a:lstStyle/>
          <a:p>
            <a:pPr algn="r"/>
            <a:r>
              <a:rPr lang="en-US" sz="2800" dirty="0"/>
              <a:t>Recap</a:t>
            </a:r>
          </a:p>
        </p:txBody>
      </p:sp>
      <p:sp>
        <p:nvSpPr>
          <p:cNvPr id="5" name="TextBox 4">
            <a:extLst>
              <a:ext uri="{FF2B5EF4-FFF2-40B4-BE49-F238E27FC236}">
                <a16:creationId xmlns:a16="http://schemas.microsoft.com/office/drawing/2014/main" id="{A433503A-F866-635C-F94E-202E0BD54D4D}"/>
              </a:ext>
            </a:extLst>
          </p:cNvPr>
          <p:cNvSpPr txBox="1"/>
          <p:nvPr/>
        </p:nvSpPr>
        <p:spPr>
          <a:xfrm>
            <a:off x="878327" y="4044993"/>
            <a:ext cx="7726829" cy="1384995"/>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US" sz="2800" dirty="0"/>
              <a:t>Use gradients with Lagrange multipliers to jointly optimize </a:t>
            </a:r>
            <a:r>
              <a:rPr lang="en-US" sz="2800" dirty="0">
                <a:solidFill>
                  <a:srgbClr val="FF0000"/>
                </a:solidFill>
              </a:rPr>
              <a:t>perplexity</a:t>
            </a:r>
            <a:r>
              <a:rPr lang="en-US" sz="2800" dirty="0"/>
              <a:t> and </a:t>
            </a:r>
            <a:r>
              <a:rPr lang="en-US" sz="2800" dirty="0">
                <a:solidFill>
                  <a:srgbClr val="FF0000"/>
                </a:solidFill>
              </a:rPr>
              <a:t>distance to a valid mask </a:t>
            </a:r>
          </a:p>
        </p:txBody>
      </p:sp>
    </p:spTree>
    <p:extLst>
      <p:ext uri="{BB962C8B-B14F-4D97-AF65-F5344CB8AC3E}">
        <p14:creationId xmlns:p14="http://schemas.microsoft.com/office/powerpoint/2010/main" val="4681654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6E951C-3B97-28CA-2169-73D9BCA26C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30B9F1-7C85-73B4-ACB1-C48EFC786CA4}"/>
              </a:ext>
            </a:extLst>
          </p:cNvPr>
          <p:cNvSpPr>
            <a:spLocks noGrp="1"/>
          </p:cNvSpPr>
          <p:nvPr>
            <p:ph type="title"/>
          </p:nvPr>
        </p:nvSpPr>
        <p:spPr/>
        <p:txBody>
          <a:bodyPr>
            <a:noAutofit/>
          </a:bodyPr>
          <a:lstStyle/>
          <a:p>
            <a:r>
              <a:rPr lang="en-US" sz="3600" dirty="0"/>
              <a:t>Recap: making a large model smaller</a:t>
            </a:r>
          </a:p>
        </p:txBody>
      </p:sp>
      <p:sp>
        <p:nvSpPr>
          <p:cNvPr id="3" name="Content Placeholder 2">
            <a:extLst>
              <a:ext uri="{FF2B5EF4-FFF2-40B4-BE49-F238E27FC236}">
                <a16:creationId xmlns:a16="http://schemas.microsoft.com/office/drawing/2014/main" id="{ABEFE816-3C78-8EF0-B721-15C42F8D4BFB}"/>
              </a:ext>
            </a:extLst>
          </p:cNvPr>
          <p:cNvSpPr>
            <a:spLocks noGrp="1"/>
          </p:cNvSpPr>
          <p:nvPr>
            <p:ph idx="1"/>
          </p:nvPr>
        </p:nvSpPr>
        <p:spPr/>
        <p:txBody>
          <a:bodyPr/>
          <a:lstStyle/>
          <a:p>
            <a:r>
              <a:rPr lang="en-US" dirty="0">
                <a:solidFill>
                  <a:schemeClr val="bg1">
                    <a:lumMod val="50000"/>
                  </a:schemeClr>
                </a:solidFill>
              </a:rPr>
              <a:t>Distillation</a:t>
            </a:r>
          </a:p>
          <a:p>
            <a:pPr lvl="1"/>
            <a:r>
              <a:rPr lang="en-US" dirty="0">
                <a:solidFill>
                  <a:schemeClr val="bg1">
                    <a:lumMod val="50000"/>
                  </a:schemeClr>
                </a:solidFill>
              </a:rPr>
              <a:t>briefly discussed</a:t>
            </a:r>
          </a:p>
          <a:p>
            <a:r>
              <a:rPr lang="en-US" dirty="0"/>
              <a:t>Quantization</a:t>
            </a:r>
          </a:p>
          <a:p>
            <a:r>
              <a:rPr lang="en-US" dirty="0">
                <a:highlight>
                  <a:srgbClr val="FFFF00"/>
                </a:highlight>
              </a:rPr>
              <a:t>Pruning</a:t>
            </a:r>
          </a:p>
          <a:p>
            <a:r>
              <a:rPr lang="en-US" dirty="0"/>
              <a:t>Key-Value Cache Management</a:t>
            </a:r>
          </a:p>
          <a:p>
            <a:pPr lvl="1"/>
            <a:r>
              <a:rPr lang="en-US" dirty="0"/>
              <a:t>…which is also pruning</a:t>
            </a:r>
          </a:p>
        </p:txBody>
      </p:sp>
      <p:sp>
        <p:nvSpPr>
          <p:cNvPr id="7" name="Right Arrow 6">
            <a:extLst>
              <a:ext uri="{FF2B5EF4-FFF2-40B4-BE49-F238E27FC236}">
                <a16:creationId xmlns:a16="http://schemas.microsoft.com/office/drawing/2014/main" id="{6BB180A2-4BE3-0C70-A374-E138628CB472}"/>
              </a:ext>
            </a:extLst>
          </p:cNvPr>
          <p:cNvSpPr/>
          <p:nvPr/>
        </p:nvSpPr>
        <p:spPr>
          <a:xfrm>
            <a:off x="1367490" y="5600700"/>
            <a:ext cx="6790391" cy="755650"/>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AC109B13-BD22-04E2-4C74-88FCCE83D3C3}"/>
              </a:ext>
            </a:extLst>
          </p:cNvPr>
          <p:cNvSpPr txBox="1"/>
          <p:nvPr/>
        </p:nvSpPr>
        <p:spPr>
          <a:xfrm>
            <a:off x="1111624" y="6356350"/>
            <a:ext cx="2259105" cy="369332"/>
          </a:xfrm>
          <a:prstGeom prst="rect">
            <a:avLst/>
          </a:prstGeom>
          <a:noFill/>
        </p:spPr>
        <p:txBody>
          <a:bodyPr wrap="square" rtlCol="0">
            <a:spAutoFit/>
          </a:bodyPr>
          <a:lstStyle/>
          <a:p>
            <a:r>
              <a:rPr lang="en-US" dirty="0"/>
              <a:t>simple optimization</a:t>
            </a:r>
          </a:p>
        </p:txBody>
      </p:sp>
      <p:sp>
        <p:nvSpPr>
          <p:cNvPr id="9" name="TextBox 8">
            <a:extLst>
              <a:ext uri="{FF2B5EF4-FFF2-40B4-BE49-F238E27FC236}">
                <a16:creationId xmlns:a16="http://schemas.microsoft.com/office/drawing/2014/main" id="{187B2337-7F89-1053-EE5F-FB44A9D89413}"/>
              </a:ext>
            </a:extLst>
          </p:cNvPr>
          <p:cNvSpPr txBox="1"/>
          <p:nvPr/>
        </p:nvSpPr>
        <p:spPr>
          <a:xfrm>
            <a:off x="6042212" y="6381234"/>
            <a:ext cx="2734235" cy="369332"/>
          </a:xfrm>
          <a:prstGeom prst="rect">
            <a:avLst/>
          </a:prstGeom>
          <a:noFill/>
        </p:spPr>
        <p:txBody>
          <a:bodyPr wrap="square" rtlCol="0">
            <a:spAutoFit/>
          </a:bodyPr>
          <a:lstStyle/>
          <a:p>
            <a:r>
              <a:rPr lang="en-US" dirty="0"/>
              <a:t>complex optimization</a:t>
            </a:r>
          </a:p>
        </p:txBody>
      </p:sp>
      <p:sp>
        <p:nvSpPr>
          <p:cNvPr id="10" name="TextBox 9">
            <a:extLst>
              <a:ext uri="{FF2B5EF4-FFF2-40B4-BE49-F238E27FC236}">
                <a16:creationId xmlns:a16="http://schemas.microsoft.com/office/drawing/2014/main" id="{B9F21675-1A67-2EA5-6B40-F93E6CFBF9C1}"/>
              </a:ext>
            </a:extLst>
          </p:cNvPr>
          <p:cNvSpPr txBox="1"/>
          <p:nvPr/>
        </p:nvSpPr>
        <p:spPr>
          <a:xfrm>
            <a:off x="597271" y="5231368"/>
            <a:ext cx="2520019" cy="646331"/>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US" dirty="0"/>
              <a:t>Wanda: greedy weight pruning</a:t>
            </a:r>
          </a:p>
        </p:txBody>
      </p:sp>
      <p:sp>
        <p:nvSpPr>
          <p:cNvPr id="11" name="TextBox 10">
            <a:extLst>
              <a:ext uri="{FF2B5EF4-FFF2-40B4-BE49-F238E27FC236}">
                <a16:creationId xmlns:a16="http://schemas.microsoft.com/office/drawing/2014/main" id="{F8D296A9-71C5-01E3-F5C8-AF0EBB6FD985}"/>
              </a:ext>
            </a:extLst>
          </p:cNvPr>
          <p:cNvSpPr txBox="1"/>
          <p:nvPr/>
        </p:nvSpPr>
        <p:spPr>
          <a:xfrm>
            <a:off x="2317279" y="4564122"/>
            <a:ext cx="2773458" cy="646331"/>
          </a:xfrm>
          <a:prstGeom prst="rect">
            <a:avLst/>
          </a:prstGeom>
        </p:spPr>
        <p:style>
          <a:lnRef idx="3">
            <a:schemeClr val="lt1"/>
          </a:lnRef>
          <a:fillRef idx="1">
            <a:schemeClr val="accent3"/>
          </a:fillRef>
          <a:effectRef idx="1">
            <a:schemeClr val="accent3"/>
          </a:effectRef>
          <a:fontRef idx="minor">
            <a:schemeClr val="lt1"/>
          </a:fontRef>
        </p:style>
        <p:txBody>
          <a:bodyPr wrap="square" rtlCol="0">
            <a:spAutoFit/>
          </a:bodyPr>
          <a:lstStyle/>
          <a:p>
            <a:r>
              <a:rPr lang="en-US" dirty="0"/>
              <a:t>shortened Llama: greedy layer pruning + </a:t>
            </a:r>
            <a:r>
              <a:rPr lang="en-US" dirty="0" err="1"/>
              <a:t>LoRA</a:t>
            </a:r>
            <a:endParaRPr lang="en-US" dirty="0"/>
          </a:p>
        </p:txBody>
      </p:sp>
      <p:sp>
        <p:nvSpPr>
          <p:cNvPr id="12" name="TextBox 11">
            <a:extLst>
              <a:ext uri="{FF2B5EF4-FFF2-40B4-BE49-F238E27FC236}">
                <a16:creationId xmlns:a16="http://schemas.microsoft.com/office/drawing/2014/main" id="{79C5B690-A18B-16F9-3D91-B1B66F8C9285}"/>
              </a:ext>
            </a:extLst>
          </p:cNvPr>
          <p:cNvSpPr txBox="1"/>
          <p:nvPr/>
        </p:nvSpPr>
        <p:spPr>
          <a:xfrm>
            <a:off x="3791134" y="5231368"/>
            <a:ext cx="2520019" cy="1200329"/>
          </a:xfrm>
          <a:prstGeom prst="rect">
            <a:avLst/>
          </a:prstGeom>
        </p:spPr>
        <p:style>
          <a:lnRef idx="1">
            <a:schemeClr val="accent6"/>
          </a:lnRef>
          <a:fillRef idx="2">
            <a:schemeClr val="accent6"/>
          </a:fillRef>
          <a:effectRef idx="1">
            <a:schemeClr val="accent6"/>
          </a:effectRef>
          <a:fontRef idx="minor">
            <a:schemeClr val="dk1"/>
          </a:fontRef>
        </p:style>
        <p:txBody>
          <a:bodyPr wrap="square" rtlCol="0">
            <a:spAutoFit/>
          </a:bodyPr>
          <a:lstStyle/>
          <a:p>
            <a:r>
              <a:rPr lang="en-US" dirty="0"/>
              <a:t>Magnitude: greedy weight pruning alternating with gradients </a:t>
            </a:r>
          </a:p>
        </p:txBody>
      </p:sp>
      <p:sp>
        <p:nvSpPr>
          <p:cNvPr id="13" name="TextBox 12">
            <a:extLst>
              <a:ext uri="{FF2B5EF4-FFF2-40B4-BE49-F238E27FC236}">
                <a16:creationId xmlns:a16="http://schemas.microsoft.com/office/drawing/2014/main" id="{860E4DC1-02F4-5B75-7906-89545A9A93FC}"/>
              </a:ext>
            </a:extLst>
          </p:cNvPr>
          <p:cNvSpPr txBox="1"/>
          <p:nvPr/>
        </p:nvSpPr>
        <p:spPr>
          <a:xfrm>
            <a:off x="6897871" y="3938706"/>
            <a:ext cx="1878576" cy="1754326"/>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r>
              <a:rPr lang="en-US" dirty="0"/>
              <a:t>Sheared Llama: jointly optimize weights and continuous approximation to mask.</a:t>
            </a:r>
          </a:p>
        </p:txBody>
      </p:sp>
      <p:sp>
        <p:nvSpPr>
          <p:cNvPr id="4" name="TextBox 3">
            <a:extLst>
              <a:ext uri="{FF2B5EF4-FFF2-40B4-BE49-F238E27FC236}">
                <a16:creationId xmlns:a16="http://schemas.microsoft.com/office/drawing/2014/main" id="{AA7AE8F2-EAD5-4916-1B67-CC803C450BF9}"/>
              </a:ext>
            </a:extLst>
          </p:cNvPr>
          <p:cNvSpPr txBox="1"/>
          <p:nvPr/>
        </p:nvSpPr>
        <p:spPr>
          <a:xfrm>
            <a:off x="4392706" y="1398494"/>
            <a:ext cx="4535394" cy="830997"/>
          </a:xfrm>
          <a:prstGeom prst="rect">
            <a:avLst/>
          </a:prstGeom>
        </p:spPr>
        <p:style>
          <a:lnRef idx="1">
            <a:schemeClr val="accent1"/>
          </a:lnRef>
          <a:fillRef idx="3">
            <a:schemeClr val="accent1"/>
          </a:fillRef>
          <a:effectRef idx="2">
            <a:schemeClr val="accent1"/>
          </a:effectRef>
          <a:fontRef idx="minor">
            <a:schemeClr val="lt1"/>
          </a:fontRef>
        </p:style>
        <p:txBody>
          <a:bodyPr wrap="square" rtlCol="0">
            <a:spAutoFit/>
          </a:bodyPr>
          <a:lstStyle/>
          <a:p>
            <a:r>
              <a:rPr lang="en-US" sz="2400" dirty="0"/>
              <a:t>Important note: </a:t>
            </a:r>
          </a:p>
          <a:p>
            <a:r>
              <a:rPr lang="en-US" sz="2400" dirty="0"/>
              <a:t>complicated ≠ good!</a:t>
            </a:r>
          </a:p>
        </p:txBody>
      </p:sp>
    </p:spTree>
    <p:extLst>
      <p:ext uri="{BB962C8B-B14F-4D97-AF65-F5344CB8AC3E}">
        <p14:creationId xmlns:p14="http://schemas.microsoft.com/office/powerpoint/2010/main" val="21430457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4" grpId="0"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C101D5-86B0-89CF-C636-3C0C01F055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A1D7D6-1384-9CA4-65C4-7C1C626E1165}"/>
              </a:ext>
            </a:extLst>
          </p:cNvPr>
          <p:cNvSpPr>
            <a:spLocks noGrp="1"/>
          </p:cNvSpPr>
          <p:nvPr>
            <p:ph type="title"/>
          </p:nvPr>
        </p:nvSpPr>
        <p:spPr/>
        <p:txBody>
          <a:bodyPr>
            <a:noAutofit/>
          </a:bodyPr>
          <a:lstStyle/>
          <a:p>
            <a:r>
              <a:rPr lang="en-US" sz="3600" dirty="0"/>
              <a:t>Recap: making a large model smaller</a:t>
            </a:r>
          </a:p>
        </p:txBody>
      </p:sp>
      <p:sp>
        <p:nvSpPr>
          <p:cNvPr id="3" name="Content Placeholder 2">
            <a:extLst>
              <a:ext uri="{FF2B5EF4-FFF2-40B4-BE49-F238E27FC236}">
                <a16:creationId xmlns:a16="http://schemas.microsoft.com/office/drawing/2014/main" id="{B9AADAE1-4E9D-C2C0-03C2-B2DF6C591FB7}"/>
              </a:ext>
            </a:extLst>
          </p:cNvPr>
          <p:cNvSpPr>
            <a:spLocks noGrp="1"/>
          </p:cNvSpPr>
          <p:nvPr>
            <p:ph idx="1"/>
          </p:nvPr>
        </p:nvSpPr>
        <p:spPr/>
        <p:txBody>
          <a:bodyPr/>
          <a:lstStyle/>
          <a:p>
            <a:r>
              <a:rPr lang="en-US" dirty="0">
                <a:solidFill>
                  <a:schemeClr val="bg1">
                    <a:lumMod val="50000"/>
                  </a:schemeClr>
                </a:solidFill>
              </a:rPr>
              <a:t>Distillation</a:t>
            </a:r>
          </a:p>
          <a:p>
            <a:pPr lvl="1"/>
            <a:r>
              <a:rPr lang="en-US" dirty="0">
                <a:solidFill>
                  <a:schemeClr val="bg1">
                    <a:lumMod val="50000"/>
                  </a:schemeClr>
                </a:solidFill>
              </a:rPr>
              <a:t>briefly discussed</a:t>
            </a:r>
          </a:p>
          <a:p>
            <a:r>
              <a:rPr lang="en-US" dirty="0"/>
              <a:t>Quantization</a:t>
            </a:r>
          </a:p>
          <a:p>
            <a:r>
              <a:rPr lang="en-US" dirty="0"/>
              <a:t>Pruning</a:t>
            </a:r>
          </a:p>
          <a:p>
            <a:r>
              <a:rPr lang="en-US" dirty="0">
                <a:highlight>
                  <a:srgbClr val="FFFF00"/>
                </a:highlight>
              </a:rPr>
              <a:t>Key-Value Cache Management</a:t>
            </a:r>
          </a:p>
          <a:p>
            <a:pPr lvl="1"/>
            <a:r>
              <a:rPr lang="en-US" dirty="0"/>
              <a:t>…which is also pruning</a:t>
            </a:r>
          </a:p>
          <a:p>
            <a:pPr lvl="2"/>
            <a:r>
              <a:rPr lang="en-US" dirty="0"/>
              <a:t>… pruning parts of the key-value cache</a:t>
            </a:r>
          </a:p>
        </p:txBody>
      </p:sp>
    </p:spTree>
    <p:extLst>
      <p:ext uri="{BB962C8B-B14F-4D97-AF65-F5344CB8AC3E}">
        <p14:creationId xmlns:p14="http://schemas.microsoft.com/office/powerpoint/2010/main" val="116481277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D0C3B8-AD08-108D-9A7F-8778A1CEE2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3BCE1A-1478-455A-A855-CF84931ACD48}"/>
              </a:ext>
            </a:extLst>
          </p:cNvPr>
          <p:cNvSpPr>
            <a:spLocks noGrp="1"/>
          </p:cNvSpPr>
          <p:nvPr>
            <p:ph type="title"/>
          </p:nvPr>
        </p:nvSpPr>
        <p:spPr/>
        <p:txBody>
          <a:bodyPr>
            <a:normAutofit fontScale="90000"/>
          </a:bodyPr>
          <a:lstStyle/>
          <a:p>
            <a:r>
              <a:rPr lang="en-US" dirty="0"/>
              <a:t>H2O: “Heavy Hitters” in KV Caches</a:t>
            </a:r>
          </a:p>
        </p:txBody>
      </p:sp>
      <p:sp>
        <p:nvSpPr>
          <p:cNvPr id="5" name="Text Placeholder 4">
            <a:extLst>
              <a:ext uri="{FF2B5EF4-FFF2-40B4-BE49-F238E27FC236}">
                <a16:creationId xmlns:a16="http://schemas.microsoft.com/office/drawing/2014/main" id="{CA1B486B-E2F6-179A-11CC-50B5A80964F6}"/>
              </a:ext>
            </a:extLst>
          </p:cNvPr>
          <p:cNvSpPr>
            <a:spLocks noGrp="1"/>
          </p:cNvSpPr>
          <p:nvPr>
            <p:ph type="body" sz="half" idx="1"/>
          </p:nvPr>
        </p:nvSpPr>
        <p:spPr>
          <a:xfrm>
            <a:off x="457200" y="1600200"/>
            <a:ext cx="8229600" cy="4000500"/>
          </a:xfrm>
        </p:spPr>
        <p:txBody>
          <a:bodyPr>
            <a:normAutofit fontScale="77500" lnSpcReduction="20000"/>
          </a:bodyPr>
          <a:lstStyle/>
          <a:p>
            <a:r>
              <a:rPr lang="en-US" dirty="0"/>
              <a:t>Proposed method</a:t>
            </a:r>
          </a:p>
          <a:p>
            <a:pPr lvl="1"/>
            <a:r>
              <a:rPr lang="en-US" dirty="0"/>
              <a:t>Fix the cache size to K</a:t>
            </a:r>
          </a:p>
          <a:p>
            <a:pPr lvl="1"/>
            <a:r>
              <a:rPr lang="en-US" dirty="0"/>
              <a:t>Generate tokens </a:t>
            </a:r>
            <a:r>
              <a:rPr lang="en-US" dirty="0" err="1"/>
              <a:t>i</a:t>
            </a:r>
            <a:r>
              <a:rPr lang="en-US" dirty="0"/>
              <a:t>=1, …, …</a:t>
            </a:r>
          </a:p>
          <a:p>
            <a:pPr lvl="2"/>
            <a:r>
              <a:rPr lang="en-US" dirty="0"/>
              <a:t>Track score (cumulative attention) of each token in the cache</a:t>
            </a:r>
          </a:p>
          <a:p>
            <a:pPr lvl="3"/>
            <a:r>
              <a:rPr lang="en-US" dirty="0"/>
              <a:t>“local H2 statistic” – cumulative attention up to position </a:t>
            </a:r>
            <a:r>
              <a:rPr lang="en-US" dirty="0" err="1"/>
              <a:t>i</a:t>
            </a:r>
            <a:endParaRPr lang="en-US" dirty="0"/>
          </a:p>
          <a:p>
            <a:pPr lvl="2"/>
            <a:r>
              <a:rPr lang="en-US" dirty="0"/>
              <a:t>When the cache is full, overwrite the token with lowest local H2 score</a:t>
            </a:r>
          </a:p>
          <a:p>
            <a:pPr lvl="3"/>
            <a:r>
              <a:rPr lang="en-US" dirty="0"/>
              <a:t>(Attention to recent-past tokens keeps tokens from being evicted too quickly)</a:t>
            </a:r>
          </a:p>
          <a:p>
            <a:pPr lvl="2"/>
            <a:r>
              <a:rPr lang="en-US" dirty="0" err="1"/>
              <a:t>The“</a:t>
            </a:r>
            <a:r>
              <a:rPr lang="en-US" b="1" dirty="0" err="1"/>
              <a:t>eviction</a:t>
            </a:r>
            <a:r>
              <a:rPr lang="en-US" b="1" dirty="0"/>
              <a:t> policy</a:t>
            </a:r>
            <a:r>
              <a:rPr lang="en-US" dirty="0"/>
              <a:t>”</a:t>
            </a:r>
          </a:p>
          <a:p>
            <a:pPr lvl="1"/>
            <a:r>
              <a:rPr lang="en-US" b="1" dirty="0"/>
              <a:t>Local H2 statistic </a:t>
            </a:r>
            <a:r>
              <a:rPr lang="en-US" dirty="0"/>
              <a:t>is close to </a:t>
            </a:r>
            <a:r>
              <a:rPr lang="en-US" b="1" dirty="0"/>
              <a:t>full oracle H2 statistic </a:t>
            </a:r>
            <a:r>
              <a:rPr lang="en-US" dirty="0"/>
              <a:t>that looks at future tokens</a:t>
            </a:r>
          </a:p>
        </p:txBody>
      </p:sp>
      <p:sp>
        <p:nvSpPr>
          <p:cNvPr id="3" name="TextBox 2">
            <a:extLst>
              <a:ext uri="{FF2B5EF4-FFF2-40B4-BE49-F238E27FC236}">
                <a16:creationId xmlns:a16="http://schemas.microsoft.com/office/drawing/2014/main" id="{96424F76-276D-C3DA-2E6E-021FCABB9E3A}"/>
              </a:ext>
            </a:extLst>
          </p:cNvPr>
          <p:cNvSpPr txBox="1"/>
          <p:nvPr/>
        </p:nvSpPr>
        <p:spPr>
          <a:xfrm>
            <a:off x="7512424" y="131762"/>
            <a:ext cx="1415676" cy="52322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rtlCol="0">
            <a:spAutoFit/>
          </a:bodyPr>
          <a:lstStyle/>
          <a:p>
            <a:pPr algn="r"/>
            <a:r>
              <a:rPr lang="en-US" sz="2800" dirty="0"/>
              <a:t>Recap</a:t>
            </a:r>
          </a:p>
        </p:txBody>
      </p:sp>
      <p:sp>
        <p:nvSpPr>
          <p:cNvPr id="4" name="TextBox 3">
            <a:extLst>
              <a:ext uri="{FF2B5EF4-FFF2-40B4-BE49-F238E27FC236}">
                <a16:creationId xmlns:a16="http://schemas.microsoft.com/office/drawing/2014/main" id="{B695D9E9-1C12-E58E-CA69-736717BF4623}"/>
              </a:ext>
            </a:extLst>
          </p:cNvPr>
          <p:cNvSpPr txBox="1"/>
          <p:nvPr/>
        </p:nvSpPr>
        <p:spPr>
          <a:xfrm>
            <a:off x="1362636" y="5600700"/>
            <a:ext cx="6686709" cy="954107"/>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US" sz="2800" dirty="0"/>
              <a:t>Greedy pruning (eviction) based on </a:t>
            </a:r>
            <a:r>
              <a:rPr lang="en-US" sz="2800" dirty="0">
                <a:solidFill>
                  <a:srgbClr val="FF0000"/>
                </a:solidFill>
              </a:rPr>
              <a:t>running estimate of cumulative attention</a:t>
            </a:r>
          </a:p>
        </p:txBody>
      </p:sp>
    </p:spTree>
    <p:extLst>
      <p:ext uri="{BB962C8B-B14F-4D97-AF65-F5344CB8AC3E}">
        <p14:creationId xmlns:p14="http://schemas.microsoft.com/office/powerpoint/2010/main" val="29054209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A19803-CD65-380F-6E0C-7F39817FB6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72B4C8-5687-8994-99A2-015F19A9130A}"/>
              </a:ext>
            </a:extLst>
          </p:cNvPr>
          <p:cNvSpPr>
            <a:spLocks noGrp="1"/>
          </p:cNvSpPr>
          <p:nvPr>
            <p:ph type="title"/>
          </p:nvPr>
        </p:nvSpPr>
        <p:spPr/>
        <p:txBody>
          <a:bodyPr/>
          <a:lstStyle/>
          <a:p>
            <a:r>
              <a:rPr lang="en-US" dirty="0" err="1"/>
              <a:t>StreamingLLM</a:t>
            </a:r>
            <a:endParaRPr lang="en-US" dirty="0"/>
          </a:p>
        </p:txBody>
      </p:sp>
      <p:sp>
        <p:nvSpPr>
          <p:cNvPr id="5" name="Text Placeholder 4">
            <a:extLst>
              <a:ext uri="{FF2B5EF4-FFF2-40B4-BE49-F238E27FC236}">
                <a16:creationId xmlns:a16="http://schemas.microsoft.com/office/drawing/2014/main" id="{063B4524-DBC6-4BCA-A1C2-1535EFB14DC5}"/>
              </a:ext>
            </a:extLst>
          </p:cNvPr>
          <p:cNvSpPr>
            <a:spLocks noGrp="1"/>
          </p:cNvSpPr>
          <p:nvPr>
            <p:ph type="body" sz="half" idx="1"/>
          </p:nvPr>
        </p:nvSpPr>
        <p:spPr>
          <a:xfrm>
            <a:off x="457199" y="1600200"/>
            <a:ext cx="8931729" cy="2041071"/>
          </a:xfrm>
        </p:spPr>
        <p:txBody>
          <a:bodyPr>
            <a:normAutofit lnSpcReduction="10000"/>
          </a:bodyPr>
          <a:lstStyle/>
          <a:p>
            <a:r>
              <a:rPr lang="en-US" dirty="0"/>
              <a:t>Proposed method</a:t>
            </a:r>
          </a:p>
          <a:p>
            <a:pPr lvl="1"/>
            <a:r>
              <a:rPr lang="en-US" dirty="0"/>
              <a:t>Fix the cache size to K</a:t>
            </a:r>
          </a:p>
          <a:p>
            <a:pPr lvl="1"/>
            <a:r>
              <a:rPr lang="en-US" dirty="0"/>
              <a:t>Generate tokens </a:t>
            </a:r>
            <a:r>
              <a:rPr lang="en-US" dirty="0" err="1"/>
              <a:t>i</a:t>
            </a:r>
            <a:r>
              <a:rPr lang="en-US" dirty="0"/>
              <a:t>=1, …, …</a:t>
            </a:r>
          </a:p>
          <a:p>
            <a:pPr lvl="2"/>
            <a:r>
              <a:rPr lang="en-US" dirty="0"/>
              <a:t>Keep the first 4 tokens and the most recent K-4</a:t>
            </a:r>
          </a:p>
          <a:p>
            <a:pPr lvl="2"/>
            <a:endParaRPr lang="en-US" dirty="0"/>
          </a:p>
        </p:txBody>
      </p:sp>
      <p:pic>
        <p:nvPicPr>
          <p:cNvPr id="3" name="Picture 2">
            <a:extLst>
              <a:ext uri="{FF2B5EF4-FFF2-40B4-BE49-F238E27FC236}">
                <a16:creationId xmlns:a16="http://schemas.microsoft.com/office/drawing/2014/main" id="{3D9238CB-953E-42E8-B76F-E6FFF30D9642}"/>
              </a:ext>
            </a:extLst>
          </p:cNvPr>
          <p:cNvPicPr>
            <a:picLocks noChangeAspect="1"/>
          </p:cNvPicPr>
          <p:nvPr/>
        </p:nvPicPr>
        <p:blipFill>
          <a:blip r:embed="rId2"/>
          <a:stretch>
            <a:fillRect/>
          </a:stretch>
        </p:blipFill>
        <p:spPr>
          <a:xfrm>
            <a:off x="457199" y="3429000"/>
            <a:ext cx="5486862" cy="3287968"/>
          </a:xfrm>
          <a:prstGeom prst="rect">
            <a:avLst/>
          </a:prstGeom>
        </p:spPr>
      </p:pic>
      <p:sp>
        <p:nvSpPr>
          <p:cNvPr id="6" name="TextBox 5">
            <a:extLst>
              <a:ext uri="{FF2B5EF4-FFF2-40B4-BE49-F238E27FC236}">
                <a16:creationId xmlns:a16="http://schemas.microsoft.com/office/drawing/2014/main" id="{5001F41C-6085-2B9A-3A71-9922821835E4}"/>
              </a:ext>
            </a:extLst>
          </p:cNvPr>
          <p:cNvSpPr txBox="1"/>
          <p:nvPr/>
        </p:nvSpPr>
        <p:spPr>
          <a:xfrm>
            <a:off x="6384471" y="3853543"/>
            <a:ext cx="2302329" cy="1754326"/>
          </a:xfrm>
          <a:prstGeom prst="rect">
            <a:avLst/>
          </a:prstGeom>
          <a:noFill/>
        </p:spPr>
        <p:txBody>
          <a:bodyPr wrap="square" rtlCol="0">
            <a:spAutoFit/>
          </a:bodyPr>
          <a:lstStyle/>
          <a:p>
            <a:r>
              <a:rPr lang="en-US" dirty="0">
                <a:solidFill>
                  <a:srgbClr val="FF0000"/>
                </a:solidFill>
              </a:rPr>
              <a:t>red</a:t>
            </a:r>
            <a:r>
              <a:rPr lang="en-US" dirty="0"/>
              <a:t>: stream LLM</a:t>
            </a:r>
          </a:p>
          <a:p>
            <a:endParaRPr lang="en-US" dirty="0"/>
          </a:p>
          <a:p>
            <a:r>
              <a:rPr lang="en-US" dirty="0">
                <a:solidFill>
                  <a:schemeClr val="accent6">
                    <a:lumMod val="75000"/>
                  </a:schemeClr>
                </a:solidFill>
              </a:rPr>
              <a:t>orange</a:t>
            </a:r>
            <a:r>
              <a:rPr lang="en-US" dirty="0"/>
              <a:t>: sliding window attention</a:t>
            </a:r>
          </a:p>
          <a:p>
            <a:endParaRPr lang="en-US" dirty="0"/>
          </a:p>
          <a:p>
            <a:r>
              <a:rPr lang="en-US" dirty="0">
                <a:solidFill>
                  <a:srgbClr val="0070C0"/>
                </a:solidFill>
              </a:rPr>
              <a:t>blue</a:t>
            </a:r>
            <a:r>
              <a:rPr lang="en-US" dirty="0"/>
              <a:t>: dense attention</a:t>
            </a:r>
          </a:p>
        </p:txBody>
      </p:sp>
      <p:sp>
        <p:nvSpPr>
          <p:cNvPr id="7" name="TextBox 6">
            <a:extLst>
              <a:ext uri="{FF2B5EF4-FFF2-40B4-BE49-F238E27FC236}">
                <a16:creationId xmlns:a16="http://schemas.microsoft.com/office/drawing/2014/main" id="{273329F0-B771-2307-F509-912D86EB10EF}"/>
              </a:ext>
            </a:extLst>
          </p:cNvPr>
          <p:cNvSpPr txBox="1"/>
          <p:nvPr/>
        </p:nvSpPr>
        <p:spPr>
          <a:xfrm>
            <a:off x="7512424" y="131762"/>
            <a:ext cx="1415676" cy="52322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rtlCol="0">
            <a:spAutoFit/>
          </a:bodyPr>
          <a:lstStyle/>
          <a:p>
            <a:pPr algn="r"/>
            <a:r>
              <a:rPr lang="en-US" sz="2800" dirty="0"/>
              <a:t>Recap</a:t>
            </a:r>
          </a:p>
        </p:txBody>
      </p:sp>
      <p:sp>
        <p:nvSpPr>
          <p:cNvPr id="8" name="TextBox 7">
            <a:extLst>
              <a:ext uri="{FF2B5EF4-FFF2-40B4-BE49-F238E27FC236}">
                <a16:creationId xmlns:a16="http://schemas.microsoft.com/office/drawing/2014/main" id="{27B005FC-39F2-6472-A1C1-2E81EADF974A}"/>
              </a:ext>
            </a:extLst>
          </p:cNvPr>
          <p:cNvSpPr txBox="1"/>
          <p:nvPr/>
        </p:nvSpPr>
        <p:spPr>
          <a:xfrm>
            <a:off x="4527637" y="1123146"/>
            <a:ext cx="4616363" cy="1384995"/>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US" sz="2800" dirty="0"/>
              <a:t>Eviction is FIFO with an exception for </a:t>
            </a:r>
            <a:r>
              <a:rPr lang="en-US" sz="2800" dirty="0">
                <a:solidFill>
                  <a:srgbClr val="FF0000"/>
                </a:solidFill>
              </a:rPr>
              <a:t>first few tokens</a:t>
            </a:r>
          </a:p>
        </p:txBody>
      </p:sp>
    </p:spTree>
    <p:extLst>
      <p:ext uri="{BB962C8B-B14F-4D97-AF65-F5344CB8AC3E}">
        <p14:creationId xmlns:p14="http://schemas.microsoft.com/office/powerpoint/2010/main" val="42876204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783516-0AD7-4DBD-CADF-1BE9AC3D04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1749A4-A274-BCC5-DE5D-F4B5E24EEC6D}"/>
              </a:ext>
            </a:extLst>
          </p:cNvPr>
          <p:cNvSpPr>
            <a:spLocks noGrp="1"/>
          </p:cNvSpPr>
          <p:nvPr>
            <p:ph type="title"/>
          </p:nvPr>
        </p:nvSpPr>
        <p:spPr/>
        <p:txBody>
          <a:bodyPr/>
          <a:lstStyle/>
          <a:p>
            <a:r>
              <a:rPr lang="en-US" dirty="0" err="1"/>
              <a:t>StreamingLLM</a:t>
            </a:r>
            <a:r>
              <a:rPr lang="en-US" dirty="0"/>
              <a:t> and H2O</a:t>
            </a:r>
          </a:p>
        </p:txBody>
      </p:sp>
      <p:sp>
        <p:nvSpPr>
          <p:cNvPr id="5" name="Text Placeholder 4">
            <a:extLst>
              <a:ext uri="{FF2B5EF4-FFF2-40B4-BE49-F238E27FC236}">
                <a16:creationId xmlns:a16="http://schemas.microsoft.com/office/drawing/2014/main" id="{C7B01157-181F-6029-412E-1F48EEF81453}"/>
              </a:ext>
            </a:extLst>
          </p:cNvPr>
          <p:cNvSpPr>
            <a:spLocks noGrp="1"/>
          </p:cNvSpPr>
          <p:nvPr>
            <p:ph type="body" sz="half" idx="1"/>
          </p:nvPr>
        </p:nvSpPr>
        <p:spPr>
          <a:xfrm>
            <a:off x="457199" y="1600200"/>
            <a:ext cx="8931729" cy="2041071"/>
          </a:xfrm>
        </p:spPr>
        <p:txBody>
          <a:bodyPr>
            <a:normAutofit lnSpcReduction="10000"/>
          </a:bodyPr>
          <a:lstStyle/>
          <a:p>
            <a:r>
              <a:rPr lang="en-US" dirty="0"/>
              <a:t>Proposed method</a:t>
            </a:r>
          </a:p>
          <a:p>
            <a:pPr lvl="1"/>
            <a:r>
              <a:rPr lang="en-US" dirty="0"/>
              <a:t>Fix the cache size to K</a:t>
            </a:r>
          </a:p>
          <a:p>
            <a:pPr lvl="1"/>
            <a:r>
              <a:rPr lang="en-US" dirty="0"/>
              <a:t>Generate tokens </a:t>
            </a:r>
            <a:r>
              <a:rPr lang="en-US" dirty="0" err="1"/>
              <a:t>i</a:t>
            </a:r>
            <a:r>
              <a:rPr lang="en-US" dirty="0"/>
              <a:t>=1, …, …</a:t>
            </a:r>
          </a:p>
          <a:p>
            <a:pPr lvl="2"/>
            <a:r>
              <a:rPr lang="en-US" dirty="0"/>
              <a:t>Keep the first 4 tokens and the most recent K-4</a:t>
            </a:r>
          </a:p>
          <a:p>
            <a:pPr lvl="2"/>
            <a:endParaRPr lang="en-US" dirty="0"/>
          </a:p>
        </p:txBody>
      </p:sp>
      <p:pic>
        <p:nvPicPr>
          <p:cNvPr id="7" name="Picture 6">
            <a:extLst>
              <a:ext uri="{FF2B5EF4-FFF2-40B4-BE49-F238E27FC236}">
                <a16:creationId xmlns:a16="http://schemas.microsoft.com/office/drawing/2014/main" id="{B9E39709-77FA-A063-10A0-822AD2D60E58}"/>
              </a:ext>
            </a:extLst>
          </p:cNvPr>
          <p:cNvPicPr>
            <a:picLocks noChangeAspect="1"/>
          </p:cNvPicPr>
          <p:nvPr/>
        </p:nvPicPr>
        <p:blipFill>
          <a:blip r:embed="rId3"/>
          <a:stretch>
            <a:fillRect/>
          </a:stretch>
        </p:blipFill>
        <p:spPr>
          <a:xfrm>
            <a:off x="1387927" y="3641271"/>
            <a:ext cx="6289913" cy="3087128"/>
          </a:xfrm>
          <a:prstGeom prst="rect">
            <a:avLst/>
          </a:prstGeom>
        </p:spPr>
      </p:pic>
      <p:sp>
        <p:nvSpPr>
          <p:cNvPr id="3" name="TextBox 2">
            <a:extLst>
              <a:ext uri="{FF2B5EF4-FFF2-40B4-BE49-F238E27FC236}">
                <a16:creationId xmlns:a16="http://schemas.microsoft.com/office/drawing/2014/main" id="{B520D2EB-700A-14D3-9571-8EE8CB1EC357}"/>
              </a:ext>
            </a:extLst>
          </p:cNvPr>
          <p:cNvSpPr txBox="1"/>
          <p:nvPr/>
        </p:nvSpPr>
        <p:spPr>
          <a:xfrm>
            <a:off x="7512424" y="131762"/>
            <a:ext cx="1415676" cy="52322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rtlCol="0">
            <a:spAutoFit/>
          </a:bodyPr>
          <a:lstStyle/>
          <a:p>
            <a:pPr algn="r"/>
            <a:r>
              <a:rPr lang="en-US" sz="2800" dirty="0"/>
              <a:t>Recap</a:t>
            </a:r>
          </a:p>
        </p:txBody>
      </p:sp>
      <p:sp>
        <p:nvSpPr>
          <p:cNvPr id="4" name="TextBox 3">
            <a:extLst>
              <a:ext uri="{FF2B5EF4-FFF2-40B4-BE49-F238E27FC236}">
                <a16:creationId xmlns:a16="http://schemas.microsoft.com/office/drawing/2014/main" id="{4026E51A-6216-E1F4-F848-C38031CEADFA}"/>
              </a:ext>
            </a:extLst>
          </p:cNvPr>
          <p:cNvSpPr txBox="1"/>
          <p:nvPr/>
        </p:nvSpPr>
        <p:spPr>
          <a:xfrm>
            <a:off x="4527637" y="1123146"/>
            <a:ext cx="4616363" cy="1384995"/>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US" sz="2800" dirty="0"/>
              <a:t>Eviction is </a:t>
            </a:r>
            <a:r>
              <a:rPr lang="en-US" sz="2800" dirty="0">
                <a:solidFill>
                  <a:srgbClr val="FF0000"/>
                </a:solidFill>
              </a:rPr>
              <a:t>H2O rule </a:t>
            </a:r>
            <a:r>
              <a:rPr lang="en-US" sz="2800" dirty="0"/>
              <a:t>with an exception for </a:t>
            </a:r>
            <a:r>
              <a:rPr lang="en-US" sz="2800" dirty="0">
                <a:solidFill>
                  <a:srgbClr val="FF0000"/>
                </a:solidFill>
              </a:rPr>
              <a:t>first few tokens</a:t>
            </a:r>
          </a:p>
        </p:txBody>
      </p:sp>
    </p:spTree>
    <p:extLst>
      <p:ext uri="{BB962C8B-B14F-4D97-AF65-F5344CB8AC3E}">
        <p14:creationId xmlns:p14="http://schemas.microsoft.com/office/powerpoint/2010/main" val="39033365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135D8B-4801-9775-4743-20573A9B0418}"/>
              </a:ext>
            </a:extLst>
          </p:cNvPr>
          <p:cNvSpPr>
            <a:spLocks noGrp="1"/>
          </p:cNvSpPr>
          <p:nvPr>
            <p:ph type="title"/>
          </p:nvPr>
        </p:nvSpPr>
        <p:spPr/>
        <p:txBody>
          <a:bodyPr/>
          <a:lstStyle/>
          <a:p>
            <a:r>
              <a:rPr lang="en-US" dirty="0" err="1"/>
              <a:t>SnapKV</a:t>
            </a:r>
            <a:r>
              <a:rPr lang="en-US" dirty="0"/>
              <a:t>: Details</a:t>
            </a:r>
          </a:p>
        </p:txBody>
      </p:sp>
      <p:sp>
        <p:nvSpPr>
          <p:cNvPr id="3" name="Content Placeholder 2">
            <a:extLst>
              <a:ext uri="{FF2B5EF4-FFF2-40B4-BE49-F238E27FC236}">
                <a16:creationId xmlns:a16="http://schemas.microsoft.com/office/drawing/2014/main" id="{7FEAD0F7-DC7B-A4C1-3F28-828A97A541EE}"/>
              </a:ext>
            </a:extLst>
          </p:cNvPr>
          <p:cNvSpPr>
            <a:spLocks noGrp="1"/>
          </p:cNvSpPr>
          <p:nvPr>
            <p:ph idx="1"/>
          </p:nvPr>
        </p:nvSpPr>
        <p:spPr/>
        <p:txBody>
          <a:bodyPr>
            <a:normAutofit fontScale="85000" lnSpcReduction="10000"/>
          </a:bodyPr>
          <a:lstStyle/>
          <a:p>
            <a:r>
              <a:rPr lang="en-US" b="1" dirty="0"/>
              <a:t>Observation window</a:t>
            </a:r>
            <a:r>
              <a:rPr lang="en-US" dirty="0"/>
              <a:t>: the n-</a:t>
            </a:r>
            <a:r>
              <a:rPr lang="en-US" dirty="0" err="1"/>
              <a:t>th</a:t>
            </a:r>
            <a:r>
              <a:rPr lang="en-US" dirty="0"/>
              <a:t> window in the prompt</a:t>
            </a:r>
          </a:p>
          <a:p>
            <a:r>
              <a:rPr lang="en-US" b="1" dirty="0"/>
              <a:t>Prefix</a:t>
            </a:r>
            <a:r>
              <a:rPr lang="en-US" dirty="0"/>
              <a:t>: first n-1 windows in the prompt</a:t>
            </a:r>
          </a:p>
          <a:p>
            <a:r>
              <a:rPr lang="en-US" b="1" dirty="0" err="1"/>
              <a:t>SumAttn</a:t>
            </a:r>
            <a:r>
              <a:rPr lang="en-US" dirty="0"/>
              <a:t>[head h, prefix position j]: attention weights </a:t>
            </a:r>
          </a:p>
          <a:p>
            <a:pPr lvl="1"/>
            <a:r>
              <a:rPr lang="en-US" dirty="0"/>
              <a:t>for head </a:t>
            </a:r>
            <a:r>
              <a:rPr lang="en-US" i="1" dirty="0"/>
              <a:t>h </a:t>
            </a:r>
            <a:r>
              <a:rPr lang="en-US" dirty="0"/>
              <a:t>to</a:t>
            </a:r>
            <a:r>
              <a:rPr lang="en-US" i="1" dirty="0"/>
              <a:t> </a:t>
            </a:r>
            <a:r>
              <a:rPr lang="en-US" dirty="0"/>
              <a:t>position </a:t>
            </a:r>
            <a:r>
              <a:rPr lang="en-US" i="1" dirty="0"/>
              <a:t>j </a:t>
            </a:r>
          </a:p>
          <a:p>
            <a:pPr lvl="1"/>
            <a:r>
              <a:rPr lang="en-US" b="1" dirty="0"/>
              <a:t>summed</a:t>
            </a:r>
            <a:r>
              <a:rPr lang="en-US" b="1" i="1" dirty="0"/>
              <a:t> </a:t>
            </a:r>
            <a:r>
              <a:rPr lang="en-US" dirty="0"/>
              <a:t>over all positions in </a:t>
            </a:r>
            <a:r>
              <a:rPr lang="en-US" b="1" dirty="0"/>
              <a:t>observation window</a:t>
            </a:r>
          </a:p>
          <a:p>
            <a:pPr lvl="2"/>
            <a:r>
              <a:rPr lang="en-US" b="1" dirty="0"/>
              <a:t>(</a:t>
            </a:r>
            <a:r>
              <a:rPr lang="en-US" b="1" dirty="0" err="1"/>
              <a:t>W</a:t>
            </a:r>
            <a:r>
              <a:rPr lang="en-US" baseline="-25000" dirty="0" err="1"/>
              <a:t>obs</a:t>
            </a:r>
            <a:r>
              <a:rPr lang="en-US" dirty="0"/>
              <a:t> in paper)</a:t>
            </a:r>
          </a:p>
          <a:p>
            <a:r>
              <a:rPr lang="en-US" b="1" i="1" dirty="0"/>
              <a:t>p: </a:t>
            </a:r>
            <a:r>
              <a:rPr lang="en-US" dirty="0"/>
              <a:t>compression ratio, (e.g., 0.9)</a:t>
            </a:r>
          </a:p>
          <a:p>
            <a:r>
              <a:rPr lang="en-US" b="1" dirty="0"/>
              <a:t>Caching strategy: </a:t>
            </a:r>
            <a:r>
              <a:rPr lang="en-US" dirty="0"/>
              <a:t>evict the KV cache entries for the bottom p*|Prefix| positions (for each head)</a:t>
            </a:r>
          </a:p>
          <a:p>
            <a:pPr lvl="1"/>
            <a:r>
              <a:rPr lang="en-US" b="1" dirty="0"/>
              <a:t>Refinement: </a:t>
            </a:r>
            <a:r>
              <a:rPr lang="en-US" dirty="0"/>
              <a:t>also</a:t>
            </a:r>
            <a:r>
              <a:rPr lang="en-US" b="1" dirty="0"/>
              <a:t> </a:t>
            </a:r>
            <a:r>
              <a:rPr lang="en-US" dirty="0"/>
              <a:t>keep positions </a:t>
            </a:r>
            <a:r>
              <a:rPr lang="en-US" b="1" dirty="0"/>
              <a:t>near</a:t>
            </a:r>
            <a:r>
              <a:rPr lang="en-US" dirty="0"/>
              <a:t> a top (1-</a:t>
            </a:r>
            <a:r>
              <a:rPr lang="en-US" i="1" dirty="0"/>
              <a:t>p) </a:t>
            </a:r>
            <a:r>
              <a:rPr lang="en-US" dirty="0"/>
              <a:t>position (i.e., max-pool </a:t>
            </a:r>
            <a:r>
              <a:rPr lang="en-US" dirty="0" err="1"/>
              <a:t>SumAttn</a:t>
            </a:r>
            <a:r>
              <a:rPr lang="en-US" dirty="0"/>
              <a:t> locally)</a:t>
            </a:r>
            <a:endParaRPr lang="en-US" b="1" dirty="0"/>
          </a:p>
        </p:txBody>
      </p:sp>
      <p:sp>
        <p:nvSpPr>
          <p:cNvPr id="4" name="TextBox 3">
            <a:extLst>
              <a:ext uri="{FF2B5EF4-FFF2-40B4-BE49-F238E27FC236}">
                <a16:creationId xmlns:a16="http://schemas.microsoft.com/office/drawing/2014/main" id="{E2441CF2-28D0-D13A-3A16-A327B2BBEA73}"/>
              </a:ext>
            </a:extLst>
          </p:cNvPr>
          <p:cNvSpPr txBox="1"/>
          <p:nvPr/>
        </p:nvSpPr>
        <p:spPr>
          <a:xfrm>
            <a:off x="7512424" y="131762"/>
            <a:ext cx="1415676" cy="52322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rtlCol="0">
            <a:spAutoFit/>
          </a:bodyPr>
          <a:lstStyle/>
          <a:p>
            <a:pPr algn="r"/>
            <a:r>
              <a:rPr lang="en-US" sz="2800" dirty="0"/>
              <a:t>Recap</a:t>
            </a:r>
          </a:p>
        </p:txBody>
      </p:sp>
      <p:sp>
        <p:nvSpPr>
          <p:cNvPr id="5" name="TextBox 4">
            <a:extLst>
              <a:ext uri="{FF2B5EF4-FFF2-40B4-BE49-F238E27FC236}">
                <a16:creationId xmlns:a16="http://schemas.microsoft.com/office/drawing/2014/main" id="{7BF61664-0760-46C1-BFF3-1E1DB2AEF544}"/>
              </a:ext>
            </a:extLst>
          </p:cNvPr>
          <p:cNvSpPr txBox="1"/>
          <p:nvPr/>
        </p:nvSpPr>
        <p:spPr>
          <a:xfrm>
            <a:off x="4527637" y="1123146"/>
            <a:ext cx="4616363" cy="1815882"/>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US" sz="2800" dirty="0"/>
              <a:t>Eviction for a prompt is based on a score </a:t>
            </a:r>
            <a:r>
              <a:rPr lang="en-US" sz="2800" b="1" dirty="0">
                <a:solidFill>
                  <a:srgbClr val="FF0000"/>
                </a:solidFill>
              </a:rPr>
              <a:t>learned</a:t>
            </a:r>
            <a:r>
              <a:rPr lang="en-US" sz="2800" dirty="0"/>
              <a:t> from the </a:t>
            </a:r>
            <a:r>
              <a:rPr lang="en-US" sz="2800" b="1" dirty="0">
                <a:solidFill>
                  <a:srgbClr val="FF0000"/>
                </a:solidFill>
              </a:rPr>
              <a:t>observation window </a:t>
            </a:r>
            <a:r>
              <a:rPr lang="en-US" sz="2800" dirty="0">
                <a:solidFill>
                  <a:schemeClr val="tx1"/>
                </a:solidFill>
              </a:rPr>
              <a:t>for that prompt</a:t>
            </a:r>
            <a:endParaRPr lang="en-US" sz="2800" dirty="0">
              <a:solidFill>
                <a:srgbClr val="FF0000"/>
              </a:solidFill>
            </a:endParaRPr>
          </a:p>
        </p:txBody>
      </p:sp>
    </p:spTree>
    <p:extLst>
      <p:ext uri="{BB962C8B-B14F-4D97-AF65-F5344CB8AC3E}">
        <p14:creationId xmlns:p14="http://schemas.microsoft.com/office/powerpoint/2010/main" val="42439804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21389A-0DFF-5C88-A690-14BFB4E618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1D3762-B456-913E-1A71-BB0CE74B0589}"/>
              </a:ext>
            </a:extLst>
          </p:cNvPr>
          <p:cNvSpPr>
            <a:spLocks noGrp="1"/>
          </p:cNvSpPr>
          <p:nvPr>
            <p:ph type="title"/>
          </p:nvPr>
        </p:nvSpPr>
        <p:spPr/>
        <p:txBody>
          <a:bodyPr/>
          <a:lstStyle/>
          <a:p>
            <a:r>
              <a:rPr lang="en-US" dirty="0"/>
              <a:t>Predictive KV Caching: </a:t>
            </a:r>
            <a:r>
              <a:rPr lang="en-US" dirty="0" err="1"/>
              <a:t>FastGen</a:t>
            </a:r>
            <a:endParaRPr lang="en-US" dirty="0"/>
          </a:p>
        </p:txBody>
      </p:sp>
      <p:sp>
        <p:nvSpPr>
          <p:cNvPr id="4" name="TextBox 3">
            <a:extLst>
              <a:ext uri="{FF2B5EF4-FFF2-40B4-BE49-F238E27FC236}">
                <a16:creationId xmlns:a16="http://schemas.microsoft.com/office/drawing/2014/main" id="{5E639739-2E54-B7E6-0DC4-E2175147EB5B}"/>
              </a:ext>
            </a:extLst>
          </p:cNvPr>
          <p:cNvSpPr txBox="1"/>
          <p:nvPr/>
        </p:nvSpPr>
        <p:spPr>
          <a:xfrm>
            <a:off x="6482443" y="1436914"/>
            <a:ext cx="1992086" cy="369332"/>
          </a:xfrm>
          <a:prstGeom prst="rect">
            <a:avLst/>
          </a:prstGeom>
          <a:noFill/>
        </p:spPr>
        <p:txBody>
          <a:bodyPr wrap="square" rtlCol="0">
            <a:spAutoFit/>
          </a:bodyPr>
          <a:lstStyle/>
          <a:p>
            <a:r>
              <a:rPr lang="en-US" dirty="0"/>
              <a:t>2024</a:t>
            </a:r>
          </a:p>
        </p:txBody>
      </p:sp>
      <p:pic>
        <p:nvPicPr>
          <p:cNvPr id="3" name="Picture 2">
            <a:extLst>
              <a:ext uri="{FF2B5EF4-FFF2-40B4-BE49-F238E27FC236}">
                <a16:creationId xmlns:a16="http://schemas.microsoft.com/office/drawing/2014/main" id="{5ED9C30C-EF45-AA54-D825-F7D72FC6977E}"/>
              </a:ext>
            </a:extLst>
          </p:cNvPr>
          <p:cNvPicPr>
            <a:picLocks noChangeAspect="1"/>
          </p:cNvPicPr>
          <p:nvPr/>
        </p:nvPicPr>
        <p:blipFill>
          <a:blip r:embed="rId2"/>
          <a:stretch>
            <a:fillRect/>
          </a:stretch>
        </p:blipFill>
        <p:spPr>
          <a:xfrm>
            <a:off x="0" y="1806246"/>
            <a:ext cx="8817332" cy="3799506"/>
          </a:xfrm>
          <a:prstGeom prst="rect">
            <a:avLst/>
          </a:prstGeom>
        </p:spPr>
      </p:pic>
      <p:sp>
        <p:nvSpPr>
          <p:cNvPr id="5" name="TextBox 4">
            <a:extLst>
              <a:ext uri="{FF2B5EF4-FFF2-40B4-BE49-F238E27FC236}">
                <a16:creationId xmlns:a16="http://schemas.microsoft.com/office/drawing/2014/main" id="{20389105-DA9E-A7B8-4344-4DB4A771D1FF}"/>
              </a:ext>
            </a:extLst>
          </p:cNvPr>
          <p:cNvSpPr txBox="1"/>
          <p:nvPr/>
        </p:nvSpPr>
        <p:spPr>
          <a:xfrm>
            <a:off x="7512424" y="131762"/>
            <a:ext cx="1415676" cy="52322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rtlCol="0">
            <a:spAutoFit/>
          </a:bodyPr>
          <a:lstStyle/>
          <a:p>
            <a:pPr algn="r"/>
            <a:r>
              <a:rPr lang="en-US" sz="2800" dirty="0"/>
              <a:t>Recap</a:t>
            </a:r>
          </a:p>
        </p:txBody>
      </p:sp>
    </p:spTree>
    <p:extLst>
      <p:ext uri="{BB962C8B-B14F-4D97-AF65-F5344CB8AC3E}">
        <p14:creationId xmlns:p14="http://schemas.microsoft.com/office/powerpoint/2010/main" val="217782202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335ED7-BE0F-F7D3-1776-D2E22C6FCE94}"/>
              </a:ext>
            </a:extLst>
          </p:cNvPr>
          <p:cNvSpPr>
            <a:spLocks noGrp="1"/>
          </p:cNvSpPr>
          <p:nvPr>
            <p:ph type="title"/>
          </p:nvPr>
        </p:nvSpPr>
        <p:spPr/>
        <p:txBody>
          <a:bodyPr/>
          <a:lstStyle/>
          <a:p>
            <a:r>
              <a:rPr lang="en-US" dirty="0"/>
              <a:t>Predictive KV Caching: </a:t>
            </a:r>
            <a:r>
              <a:rPr lang="en-US" dirty="0" err="1"/>
              <a:t>FastGen</a:t>
            </a:r>
            <a:endParaRPr lang="en-US" dirty="0"/>
          </a:p>
        </p:txBody>
      </p:sp>
      <p:sp>
        <p:nvSpPr>
          <p:cNvPr id="3" name="Content Placeholder 2">
            <a:extLst>
              <a:ext uri="{FF2B5EF4-FFF2-40B4-BE49-F238E27FC236}">
                <a16:creationId xmlns:a16="http://schemas.microsoft.com/office/drawing/2014/main" id="{AFA1D0AD-0F78-D028-D85C-93F40AD15020}"/>
              </a:ext>
            </a:extLst>
          </p:cNvPr>
          <p:cNvSpPr>
            <a:spLocks noGrp="1"/>
          </p:cNvSpPr>
          <p:nvPr>
            <p:ph idx="1"/>
          </p:nvPr>
        </p:nvSpPr>
        <p:spPr>
          <a:xfrm>
            <a:off x="279400" y="1257300"/>
            <a:ext cx="8398069" cy="4434373"/>
          </a:xfrm>
        </p:spPr>
        <p:txBody>
          <a:bodyPr>
            <a:normAutofit fontScale="62500" lnSpcReduction="20000"/>
          </a:bodyPr>
          <a:lstStyle/>
          <a:p>
            <a:r>
              <a:rPr lang="en-US" dirty="0"/>
              <a:t>Caching policies explored in past work</a:t>
            </a:r>
          </a:p>
          <a:p>
            <a:pPr lvl="1"/>
            <a:r>
              <a:rPr lang="en-US" dirty="0"/>
              <a:t>Locality (</a:t>
            </a:r>
            <a:r>
              <a:rPr lang="en-US" dirty="0" err="1"/>
              <a:t>C</a:t>
            </a:r>
            <a:r>
              <a:rPr lang="en-US" baseline="-25000" dirty="0" err="1"/>
              <a:t>local</a:t>
            </a:r>
            <a:r>
              <a:rPr lang="en-US" dirty="0"/>
              <a:t>)</a:t>
            </a:r>
          </a:p>
          <a:p>
            <a:pPr lvl="2"/>
            <a:r>
              <a:rPr lang="en-US" dirty="0" err="1"/>
              <a:t>hyperparam</a:t>
            </a:r>
            <a:r>
              <a:rPr lang="en-US" dirty="0"/>
              <a:t>: </a:t>
            </a:r>
            <a:r>
              <a:rPr lang="en-US" dirty="0" err="1"/>
              <a:t>r</a:t>
            </a:r>
            <a:r>
              <a:rPr lang="en-US" baseline="-25000" dirty="0" err="1"/>
              <a:t>local</a:t>
            </a:r>
            <a:r>
              <a:rPr lang="en-US" dirty="0"/>
              <a:t> = (#local tokens)/(cache size)</a:t>
            </a:r>
          </a:p>
          <a:p>
            <a:pPr lvl="1"/>
            <a:r>
              <a:rPr lang="en-US" dirty="0"/>
              <a:t>Heavy Hitter (</a:t>
            </a:r>
            <a:r>
              <a:rPr lang="en-US" dirty="0" err="1"/>
              <a:t>C</a:t>
            </a:r>
            <a:r>
              <a:rPr lang="en-US" baseline="-25000" dirty="0" err="1"/>
              <a:t>frequent</a:t>
            </a:r>
            <a:r>
              <a:rPr lang="en-US" dirty="0"/>
              <a:t>)</a:t>
            </a:r>
          </a:p>
          <a:p>
            <a:pPr lvl="2"/>
            <a:r>
              <a:rPr lang="en-US" dirty="0" err="1"/>
              <a:t>hyperparam</a:t>
            </a:r>
            <a:r>
              <a:rPr lang="en-US" dirty="0"/>
              <a:t>: </a:t>
            </a:r>
            <a:r>
              <a:rPr lang="en-US" dirty="0" err="1"/>
              <a:t>r</a:t>
            </a:r>
            <a:r>
              <a:rPr lang="en-US" baseline="-25000" dirty="0" err="1"/>
              <a:t>frequent</a:t>
            </a:r>
            <a:r>
              <a:rPr lang="en-US" dirty="0"/>
              <a:t> = (#HH tokens)/(cache size)</a:t>
            </a:r>
          </a:p>
          <a:p>
            <a:pPr lvl="1"/>
            <a:r>
              <a:rPr lang="en-US" dirty="0"/>
              <a:t>Special tokens (</a:t>
            </a:r>
            <a:r>
              <a:rPr lang="en-US" dirty="0" err="1"/>
              <a:t>C</a:t>
            </a:r>
            <a:r>
              <a:rPr lang="en-US" baseline="-25000" dirty="0" err="1"/>
              <a:t>special</a:t>
            </a:r>
            <a:r>
              <a:rPr lang="en-US" dirty="0"/>
              <a:t>)</a:t>
            </a:r>
          </a:p>
          <a:p>
            <a:pPr lvl="2"/>
            <a:r>
              <a:rPr lang="en-US" dirty="0"/>
              <a:t>Examples: start-of-sequence &lt;s&gt;, …</a:t>
            </a:r>
          </a:p>
          <a:p>
            <a:pPr lvl="2"/>
            <a:r>
              <a:rPr lang="en-US" dirty="0" err="1"/>
              <a:t>hyperparam</a:t>
            </a:r>
            <a:r>
              <a:rPr lang="en-US" dirty="0"/>
              <a:t>: none</a:t>
            </a:r>
          </a:p>
          <a:p>
            <a:pPr lvl="1"/>
            <a:r>
              <a:rPr lang="en-US" dirty="0"/>
              <a:t>Punctuation (</a:t>
            </a:r>
            <a:r>
              <a:rPr lang="en-US" dirty="0" err="1"/>
              <a:t>C</a:t>
            </a:r>
            <a:r>
              <a:rPr lang="en-US" baseline="-25000" dirty="0" err="1"/>
              <a:t>punct</a:t>
            </a:r>
            <a:r>
              <a:rPr lang="en-US" dirty="0"/>
              <a:t>)</a:t>
            </a:r>
          </a:p>
          <a:p>
            <a:pPr lvl="2"/>
            <a:r>
              <a:rPr lang="en-US" dirty="0"/>
              <a:t>Examples:  period (.), colon (</a:t>
            </a:r>
            <a:r>
              <a:rPr lang="en-US" dirty="0">
                <a:sym typeface="Wingdings" pitchFamily="2" charset="2"/>
              </a:rPr>
              <a:t>:), question mark (?), …</a:t>
            </a:r>
            <a:r>
              <a:rPr lang="en-US" dirty="0"/>
              <a:t> </a:t>
            </a:r>
          </a:p>
          <a:p>
            <a:pPr lvl="2"/>
            <a:r>
              <a:rPr lang="en-US" dirty="0" err="1"/>
              <a:t>hyperparam</a:t>
            </a:r>
            <a:r>
              <a:rPr lang="en-US" dirty="0"/>
              <a:t>: none</a:t>
            </a:r>
          </a:p>
          <a:p>
            <a:pPr lvl="1"/>
            <a:r>
              <a:rPr lang="en-US" dirty="0"/>
              <a:t>No eviction (</a:t>
            </a:r>
            <a:r>
              <a:rPr lang="en-US" dirty="0" err="1"/>
              <a:t>C</a:t>
            </a:r>
            <a:r>
              <a:rPr lang="en-US" baseline="-25000" dirty="0" err="1"/>
              <a:t>full</a:t>
            </a:r>
            <a:r>
              <a:rPr lang="en-US" dirty="0"/>
              <a:t>)</a:t>
            </a:r>
            <a:endParaRPr lang="en-US" baseline="-25000" dirty="0"/>
          </a:p>
          <a:p>
            <a:pPr lvl="1"/>
            <a:r>
              <a:rPr lang="en-US" dirty="0"/>
              <a:t>Hybrid strategies: e.g., </a:t>
            </a:r>
            <a:r>
              <a:rPr lang="en-US" dirty="0" err="1"/>
              <a:t>C</a:t>
            </a:r>
            <a:r>
              <a:rPr lang="en-US" baseline="-25000" dirty="0" err="1"/>
              <a:t>special</a:t>
            </a:r>
            <a:r>
              <a:rPr lang="en-US" baseline="-25000" dirty="0"/>
              <a:t> </a:t>
            </a:r>
            <a:r>
              <a:rPr lang="en-US" dirty="0"/>
              <a:t>+ </a:t>
            </a:r>
            <a:r>
              <a:rPr lang="en-US" dirty="0" err="1"/>
              <a:t>C</a:t>
            </a:r>
            <a:r>
              <a:rPr lang="en-US" baseline="-25000" dirty="0" err="1"/>
              <a:t>local</a:t>
            </a:r>
            <a:endParaRPr lang="en-US" baseline="-25000" dirty="0"/>
          </a:p>
          <a:p>
            <a:pPr lvl="2"/>
            <a:r>
              <a:rPr lang="en-US" dirty="0"/>
              <a:t>union of the two caches</a:t>
            </a:r>
          </a:p>
          <a:p>
            <a:pPr lvl="1"/>
            <a:endParaRPr lang="en-US" dirty="0"/>
          </a:p>
          <a:p>
            <a:pPr lvl="2"/>
            <a:endParaRPr lang="en-US" dirty="0"/>
          </a:p>
          <a:p>
            <a:pPr lvl="2"/>
            <a:endParaRPr lang="en-US" dirty="0"/>
          </a:p>
        </p:txBody>
      </p:sp>
      <p:sp>
        <p:nvSpPr>
          <p:cNvPr id="4" name="TextBox 3">
            <a:extLst>
              <a:ext uri="{FF2B5EF4-FFF2-40B4-BE49-F238E27FC236}">
                <a16:creationId xmlns:a16="http://schemas.microsoft.com/office/drawing/2014/main" id="{38AA054B-87F5-816B-249F-1593320746E0}"/>
              </a:ext>
            </a:extLst>
          </p:cNvPr>
          <p:cNvSpPr txBox="1"/>
          <p:nvPr/>
        </p:nvSpPr>
        <p:spPr>
          <a:xfrm>
            <a:off x="7512424" y="131762"/>
            <a:ext cx="1415676" cy="52322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rtlCol="0">
            <a:spAutoFit/>
          </a:bodyPr>
          <a:lstStyle/>
          <a:p>
            <a:pPr algn="r"/>
            <a:r>
              <a:rPr lang="en-US" sz="2800" dirty="0"/>
              <a:t>Recap</a:t>
            </a:r>
          </a:p>
        </p:txBody>
      </p:sp>
    </p:spTree>
    <p:extLst>
      <p:ext uri="{BB962C8B-B14F-4D97-AF65-F5344CB8AC3E}">
        <p14:creationId xmlns:p14="http://schemas.microsoft.com/office/powerpoint/2010/main" val="49057491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6C36F-72D8-D008-BC98-28DDFE3D302F}"/>
              </a:ext>
            </a:extLst>
          </p:cNvPr>
          <p:cNvSpPr>
            <a:spLocks noGrp="1"/>
          </p:cNvSpPr>
          <p:nvPr>
            <p:ph type="title"/>
          </p:nvPr>
        </p:nvSpPr>
        <p:spPr/>
        <p:txBody>
          <a:bodyPr/>
          <a:lstStyle/>
          <a:p>
            <a:r>
              <a:rPr lang="en-US" dirty="0"/>
              <a:t>Predictive KV Caching: </a:t>
            </a:r>
            <a:r>
              <a:rPr lang="en-US" dirty="0" err="1"/>
              <a:t>FastGen</a:t>
            </a:r>
            <a:endParaRPr lang="en-US" dirty="0"/>
          </a:p>
        </p:txBody>
      </p:sp>
      <p:sp>
        <p:nvSpPr>
          <p:cNvPr id="3" name="Content Placeholder 2">
            <a:extLst>
              <a:ext uri="{FF2B5EF4-FFF2-40B4-BE49-F238E27FC236}">
                <a16:creationId xmlns:a16="http://schemas.microsoft.com/office/drawing/2014/main" id="{7ACF8D0D-C45A-7EDF-C080-5DED327F77EA}"/>
              </a:ext>
            </a:extLst>
          </p:cNvPr>
          <p:cNvSpPr>
            <a:spLocks noGrp="1"/>
          </p:cNvSpPr>
          <p:nvPr>
            <p:ph idx="1"/>
          </p:nvPr>
        </p:nvSpPr>
        <p:spPr>
          <a:xfrm>
            <a:off x="279401" y="1257300"/>
            <a:ext cx="8286102" cy="1429916"/>
          </a:xfrm>
        </p:spPr>
        <p:txBody>
          <a:bodyPr>
            <a:normAutofit fontScale="70000" lnSpcReduction="20000"/>
          </a:bodyPr>
          <a:lstStyle/>
          <a:p>
            <a:r>
              <a:rPr lang="en-US" dirty="0"/>
              <a:t>Which caching strategy to use?</a:t>
            </a:r>
          </a:p>
          <a:p>
            <a:pPr lvl="1"/>
            <a:r>
              <a:rPr lang="en-US" dirty="0"/>
              <a:t>Pick a policy for each head/layer based on the prefilling</a:t>
            </a:r>
          </a:p>
          <a:p>
            <a:pPr lvl="1"/>
            <a:r>
              <a:rPr lang="en-US" dirty="0"/>
              <a:t>Use that policy to initialize KV cache, and in decoding</a:t>
            </a:r>
          </a:p>
        </p:txBody>
      </p:sp>
      <p:pic>
        <p:nvPicPr>
          <p:cNvPr id="4" name="Picture 3">
            <a:extLst>
              <a:ext uri="{FF2B5EF4-FFF2-40B4-BE49-F238E27FC236}">
                <a16:creationId xmlns:a16="http://schemas.microsoft.com/office/drawing/2014/main" id="{24E68820-4C64-8369-AD94-A60F9298A126}"/>
              </a:ext>
            </a:extLst>
          </p:cNvPr>
          <p:cNvPicPr>
            <a:picLocks noChangeAspect="1"/>
          </p:cNvPicPr>
          <p:nvPr/>
        </p:nvPicPr>
        <p:blipFill>
          <a:blip r:embed="rId2"/>
          <a:stretch>
            <a:fillRect/>
          </a:stretch>
        </p:blipFill>
        <p:spPr>
          <a:xfrm>
            <a:off x="279399" y="3530288"/>
            <a:ext cx="8515481" cy="3221860"/>
          </a:xfrm>
          <a:prstGeom prst="rect">
            <a:avLst/>
          </a:prstGeom>
        </p:spPr>
      </p:pic>
      <p:pic>
        <p:nvPicPr>
          <p:cNvPr id="5" name="Picture 4">
            <a:extLst>
              <a:ext uri="{FF2B5EF4-FFF2-40B4-BE49-F238E27FC236}">
                <a16:creationId xmlns:a16="http://schemas.microsoft.com/office/drawing/2014/main" id="{A06BEB2F-1793-BFE9-729B-4788AFE88129}"/>
              </a:ext>
            </a:extLst>
          </p:cNvPr>
          <p:cNvPicPr>
            <a:picLocks noChangeAspect="1"/>
          </p:cNvPicPr>
          <p:nvPr/>
        </p:nvPicPr>
        <p:blipFill>
          <a:blip r:embed="rId3"/>
          <a:stretch>
            <a:fillRect/>
          </a:stretch>
        </p:blipFill>
        <p:spPr>
          <a:xfrm>
            <a:off x="350000" y="2451928"/>
            <a:ext cx="8444880" cy="656824"/>
          </a:xfrm>
          <a:prstGeom prst="rect">
            <a:avLst/>
          </a:prstGeom>
        </p:spPr>
      </p:pic>
      <p:pic>
        <p:nvPicPr>
          <p:cNvPr id="6" name="Picture 5">
            <a:extLst>
              <a:ext uri="{FF2B5EF4-FFF2-40B4-BE49-F238E27FC236}">
                <a16:creationId xmlns:a16="http://schemas.microsoft.com/office/drawing/2014/main" id="{7DABAF2B-98F3-BD1F-8608-7CFB7E32B9EC}"/>
              </a:ext>
            </a:extLst>
          </p:cNvPr>
          <p:cNvPicPr>
            <a:picLocks noChangeAspect="1"/>
          </p:cNvPicPr>
          <p:nvPr/>
        </p:nvPicPr>
        <p:blipFill>
          <a:blip r:embed="rId4"/>
          <a:stretch>
            <a:fillRect/>
          </a:stretch>
        </p:blipFill>
        <p:spPr>
          <a:xfrm>
            <a:off x="685800" y="3108752"/>
            <a:ext cx="7772400" cy="356168"/>
          </a:xfrm>
          <a:prstGeom prst="rect">
            <a:avLst/>
          </a:prstGeom>
        </p:spPr>
      </p:pic>
      <p:sp>
        <p:nvSpPr>
          <p:cNvPr id="7" name="TextBox 6">
            <a:extLst>
              <a:ext uri="{FF2B5EF4-FFF2-40B4-BE49-F238E27FC236}">
                <a16:creationId xmlns:a16="http://schemas.microsoft.com/office/drawing/2014/main" id="{5A18F9D7-DF51-31C1-0781-6276950834B2}"/>
              </a:ext>
            </a:extLst>
          </p:cNvPr>
          <p:cNvSpPr txBox="1"/>
          <p:nvPr/>
        </p:nvSpPr>
        <p:spPr>
          <a:xfrm>
            <a:off x="7512424" y="131762"/>
            <a:ext cx="1415676" cy="52322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rtlCol="0">
            <a:spAutoFit/>
          </a:bodyPr>
          <a:lstStyle/>
          <a:p>
            <a:pPr algn="r"/>
            <a:r>
              <a:rPr lang="en-US" sz="2800" dirty="0"/>
              <a:t>Recap</a:t>
            </a:r>
          </a:p>
        </p:txBody>
      </p:sp>
      <p:sp>
        <p:nvSpPr>
          <p:cNvPr id="8" name="TextBox 7">
            <a:extLst>
              <a:ext uri="{FF2B5EF4-FFF2-40B4-BE49-F238E27FC236}">
                <a16:creationId xmlns:a16="http://schemas.microsoft.com/office/drawing/2014/main" id="{901F6A4C-FC0B-6696-7E71-29FC925277F0}"/>
              </a:ext>
            </a:extLst>
          </p:cNvPr>
          <p:cNvSpPr txBox="1"/>
          <p:nvPr/>
        </p:nvSpPr>
        <p:spPr>
          <a:xfrm>
            <a:off x="3922143" y="1102007"/>
            <a:ext cx="4616363" cy="1815882"/>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US" sz="2800" dirty="0"/>
              <a:t>Eviction strategy for a prompt is learned based on the strategy’s </a:t>
            </a:r>
            <a:r>
              <a:rPr lang="en-US" sz="2800" b="1" dirty="0">
                <a:solidFill>
                  <a:srgbClr val="FF0000"/>
                </a:solidFill>
              </a:rPr>
              <a:t>effectiveness</a:t>
            </a:r>
            <a:r>
              <a:rPr lang="en-US" sz="2800" dirty="0"/>
              <a:t> in </a:t>
            </a:r>
            <a:r>
              <a:rPr lang="en-US" sz="2800" b="1" dirty="0">
                <a:solidFill>
                  <a:srgbClr val="FF0000"/>
                </a:solidFill>
              </a:rPr>
              <a:t>prefilling</a:t>
            </a:r>
          </a:p>
        </p:txBody>
      </p:sp>
      <p:sp>
        <p:nvSpPr>
          <p:cNvPr id="9" name="TextBox 8">
            <a:extLst>
              <a:ext uri="{FF2B5EF4-FFF2-40B4-BE49-F238E27FC236}">
                <a16:creationId xmlns:a16="http://schemas.microsoft.com/office/drawing/2014/main" id="{396EA49D-B924-4089-C220-7606C9ABCCC0}"/>
              </a:ext>
            </a:extLst>
          </p:cNvPr>
          <p:cNvSpPr txBox="1"/>
          <p:nvPr/>
        </p:nvSpPr>
        <p:spPr>
          <a:xfrm>
            <a:off x="4192015" y="2841308"/>
            <a:ext cx="4616363" cy="1815882"/>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US" sz="2800" dirty="0"/>
              <a:t>…and head </a:t>
            </a:r>
            <a:r>
              <a:rPr lang="en-US" sz="2800" b="1" dirty="0"/>
              <a:t>identity</a:t>
            </a:r>
            <a:r>
              <a:rPr lang="en-US" sz="2800" dirty="0"/>
              <a:t> and </a:t>
            </a:r>
            <a:r>
              <a:rPr lang="en-US" sz="2800" b="1" dirty="0"/>
              <a:t>layer</a:t>
            </a:r>
            <a:r>
              <a:rPr lang="en-US" sz="2800" dirty="0"/>
              <a:t> is also a feature (i.e., each can have a different strategy)</a:t>
            </a:r>
            <a:endParaRPr lang="en-US" sz="2800" b="1" dirty="0">
              <a:solidFill>
                <a:srgbClr val="FF0000"/>
              </a:solidFill>
            </a:endParaRPr>
          </a:p>
        </p:txBody>
      </p:sp>
    </p:spTree>
    <p:extLst>
      <p:ext uri="{BB962C8B-B14F-4D97-AF65-F5344CB8AC3E}">
        <p14:creationId xmlns:p14="http://schemas.microsoft.com/office/powerpoint/2010/main" val="28840887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4D0A3E-EF30-6118-BB10-C42FC9120C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408502-A73A-5635-5970-F1AA688782D1}"/>
              </a:ext>
            </a:extLst>
          </p:cNvPr>
          <p:cNvSpPr>
            <a:spLocks noGrp="1"/>
          </p:cNvSpPr>
          <p:nvPr>
            <p:ph type="title"/>
          </p:nvPr>
        </p:nvSpPr>
        <p:spPr/>
        <p:txBody>
          <a:bodyPr>
            <a:noAutofit/>
          </a:bodyPr>
          <a:lstStyle/>
          <a:p>
            <a:r>
              <a:rPr lang="en-US" sz="3600" dirty="0"/>
              <a:t>Recap: making a large model smaller</a:t>
            </a:r>
          </a:p>
        </p:txBody>
      </p:sp>
      <p:sp>
        <p:nvSpPr>
          <p:cNvPr id="3" name="Content Placeholder 2">
            <a:extLst>
              <a:ext uri="{FF2B5EF4-FFF2-40B4-BE49-F238E27FC236}">
                <a16:creationId xmlns:a16="http://schemas.microsoft.com/office/drawing/2014/main" id="{DADB1EA7-3793-43A8-AF6B-8A322310E250}"/>
              </a:ext>
            </a:extLst>
          </p:cNvPr>
          <p:cNvSpPr>
            <a:spLocks noGrp="1"/>
          </p:cNvSpPr>
          <p:nvPr>
            <p:ph idx="1"/>
          </p:nvPr>
        </p:nvSpPr>
        <p:spPr/>
        <p:txBody>
          <a:bodyPr/>
          <a:lstStyle/>
          <a:p>
            <a:r>
              <a:rPr lang="en-US" dirty="0">
                <a:solidFill>
                  <a:schemeClr val="bg1">
                    <a:lumMod val="50000"/>
                  </a:schemeClr>
                </a:solidFill>
              </a:rPr>
              <a:t>Distillation</a:t>
            </a:r>
          </a:p>
          <a:p>
            <a:pPr lvl="1"/>
            <a:r>
              <a:rPr lang="en-US" dirty="0">
                <a:solidFill>
                  <a:schemeClr val="bg1">
                    <a:lumMod val="50000"/>
                  </a:schemeClr>
                </a:solidFill>
              </a:rPr>
              <a:t>briefly discussed</a:t>
            </a:r>
          </a:p>
          <a:p>
            <a:r>
              <a:rPr lang="en-US" dirty="0"/>
              <a:t>Quantization</a:t>
            </a:r>
          </a:p>
          <a:p>
            <a:r>
              <a:rPr lang="en-US" dirty="0"/>
              <a:t>Pruning</a:t>
            </a:r>
          </a:p>
          <a:p>
            <a:r>
              <a:rPr lang="en-US" dirty="0">
                <a:highlight>
                  <a:srgbClr val="FFFF00"/>
                </a:highlight>
              </a:rPr>
              <a:t>Key-Value Cache Management</a:t>
            </a:r>
          </a:p>
        </p:txBody>
      </p:sp>
      <p:sp>
        <p:nvSpPr>
          <p:cNvPr id="7" name="Right Arrow 6">
            <a:extLst>
              <a:ext uri="{FF2B5EF4-FFF2-40B4-BE49-F238E27FC236}">
                <a16:creationId xmlns:a16="http://schemas.microsoft.com/office/drawing/2014/main" id="{957F4D3B-C9FB-C093-F20D-F907F86EE684}"/>
              </a:ext>
            </a:extLst>
          </p:cNvPr>
          <p:cNvSpPr/>
          <p:nvPr/>
        </p:nvSpPr>
        <p:spPr>
          <a:xfrm>
            <a:off x="1367490" y="5600700"/>
            <a:ext cx="6790391" cy="755650"/>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34D68206-F8B8-D96D-9FCF-6A87A54DC0B8}"/>
              </a:ext>
            </a:extLst>
          </p:cNvPr>
          <p:cNvSpPr txBox="1"/>
          <p:nvPr/>
        </p:nvSpPr>
        <p:spPr>
          <a:xfrm>
            <a:off x="1111624" y="6356350"/>
            <a:ext cx="2259105" cy="369332"/>
          </a:xfrm>
          <a:prstGeom prst="rect">
            <a:avLst/>
          </a:prstGeom>
          <a:noFill/>
        </p:spPr>
        <p:txBody>
          <a:bodyPr wrap="square" rtlCol="0">
            <a:spAutoFit/>
          </a:bodyPr>
          <a:lstStyle/>
          <a:p>
            <a:r>
              <a:rPr lang="en-US" dirty="0"/>
              <a:t>simple optimization</a:t>
            </a:r>
          </a:p>
        </p:txBody>
      </p:sp>
      <p:sp>
        <p:nvSpPr>
          <p:cNvPr id="9" name="TextBox 8">
            <a:extLst>
              <a:ext uri="{FF2B5EF4-FFF2-40B4-BE49-F238E27FC236}">
                <a16:creationId xmlns:a16="http://schemas.microsoft.com/office/drawing/2014/main" id="{F6B0E63F-60D9-2DD7-090E-3C607EECC5AD}"/>
              </a:ext>
            </a:extLst>
          </p:cNvPr>
          <p:cNvSpPr txBox="1"/>
          <p:nvPr/>
        </p:nvSpPr>
        <p:spPr>
          <a:xfrm>
            <a:off x="6042212" y="6381234"/>
            <a:ext cx="2734235" cy="369332"/>
          </a:xfrm>
          <a:prstGeom prst="rect">
            <a:avLst/>
          </a:prstGeom>
          <a:noFill/>
        </p:spPr>
        <p:txBody>
          <a:bodyPr wrap="square" rtlCol="0">
            <a:spAutoFit/>
          </a:bodyPr>
          <a:lstStyle/>
          <a:p>
            <a:r>
              <a:rPr lang="en-US" dirty="0"/>
              <a:t>complex optimization</a:t>
            </a:r>
          </a:p>
        </p:txBody>
      </p:sp>
      <p:sp>
        <p:nvSpPr>
          <p:cNvPr id="10" name="TextBox 9">
            <a:extLst>
              <a:ext uri="{FF2B5EF4-FFF2-40B4-BE49-F238E27FC236}">
                <a16:creationId xmlns:a16="http://schemas.microsoft.com/office/drawing/2014/main" id="{E2D8CADB-5625-19FC-ECCF-7FA3B9349144}"/>
              </a:ext>
            </a:extLst>
          </p:cNvPr>
          <p:cNvSpPr txBox="1"/>
          <p:nvPr/>
        </p:nvSpPr>
        <p:spPr>
          <a:xfrm>
            <a:off x="597271" y="5231368"/>
            <a:ext cx="1536329" cy="369332"/>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US" dirty="0"/>
              <a:t>+ start token</a:t>
            </a:r>
          </a:p>
        </p:txBody>
      </p:sp>
      <p:sp>
        <p:nvSpPr>
          <p:cNvPr id="11" name="TextBox 10">
            <a:extLst>
              <a:ext uri="{FF2B5EF4-FFF2-40B4-BE49-F238E27FC236}">
                <a16:creationId xmlns:a16="http://schemas.microsoft.com/office/drawing/2014/main" id="{95B6FC41-7515-2C5F-DEC4-A2274818264C}"/>
              </a:ext>
            </a:extLst>
          </p:cNvPr>
          <p:cNvSpPr txBox="1"/>
          <p:nvPr/>
        </p:nvSpPr>
        <p:spPr>
          <a:xfrm>
            <a:off x="2317279" y="4564122"/>
            <a:ext cx="2773458" cy="646331"/>
          </a:xfrm>
          <a:prstGeom prst="rect">
            <a:avLst/>
          </a:prstGeom>
        </p:spPr>
        <p:style>
          <a:lnRef idx="3">
            <a:schemeClr val="lt1"/>
          </a:lnRef>
          <a:fillRef idx="1">
            <a:schemeClr val="accent3"/>
          </a:fillRef>
          <a:effectRef idx="1">
            <a:schemeClr val="accent3"/>
          </a:effectRef>
          <a:fontRef idx="minor">
            <a:schemeClr val="lt1"/>
          </a:fontRef>
        </p:style>
        <p:txBody>
          <a:bodyPr wrap="square" rtlCol="0">
            <a:spAutoFit/>
          </a:bodyPr>
          <a:lstStyle/>
          <a:p>
            <a:r>
              <a:rPr lang="en-US" dirty="0"/>
              <a:t>H2O: score by running accumulated attention</a:t>
            </a:r>
          </a:p>
        </p:txBody>
      </p:sp>
      <p:sp>
        <p:nvSpPr>
          <p:cNvPr id="12" name="TextBox 11">
            <a:extLst>
              <a:ext uri="{FF2B5EF4-FFF2-40B4-BE49-F238E27FC236}">
                <a16:creationId xmlns:a16="http://schemas.microsoft.com/office/drawing/2014/main" id="{D0081D14-E9E7-F0CA-628D-3966C1F00AE0}"/>
              </a:ext>
            </a:extLst>
          </p:cNvPr>
          <p:cNvSpPr txBox="1"/>
          <p:nvPr/>
        </p:nvSpPr>
        <p:spPr>
          <a:xfrm>
            <a:off x="3791134" y="5231368"/>
            <a:ext cx="2520019" cy="1200329"/>
          </a:xfrm>
          <a:prstGeom prst="rect">
            <a:avLst/>
          </a:prstGeom>
        </p:spPr>
        <p:style>
          <a:lnRef idx="1">
            <a:schemeClr val="accent6"/>
          </a:lnRef>
          <a:fillRef idx="2">
            <a:schemeClr val="accent6"/>
          </a:fillRef>
          <a:effectRef idx="1">
            <a:schemeClr val="accent6"/>
          </a:effectRef>
          <a:fontRef idx="minor">
            <a:schemeClr val="dk1"/>
          </a:fontRef>
        </p:style>
        <p:txBody>
          <a:bodyPr wrap="square" rtlCol="0">
            <a:spAutoFit/>
          </a:bodyPr>
          <a:lstStyle/>
          <a:p>
            <a:r>
              <a:rPr lang="en-US" dirty="0" err="1"/>
              <a:t>SnapKV</a:t>
            </a:r>
            <a:r>
              <a:rPr lang="en-US" dirty="0"/>
              <a:t>: Adaptively pick specific weights based on </a:t>
            </a:r>
            <a:r>
              <a:rPr lang="en-US" b="1" dirty="0"/>
              <a:t>observation</a:t>
            </a:r>
            <a:r>
              <a:rPr lang="en-US" dirty="0"/>
              <a:t> window in prefilling</a:t>
            </a:r>
          </a:p>
        </p:txBody>
      </p:sp>
      <p:sp>
        <p:nvSpPr>
          <p:cNvPr id="13" name="TextBox 12">
            <a:extLst>
              <a:ext uri="{FF2B5EF4-FFF2-40B4-BE49-F238E27FC236}">
                <a16:creationId xmlns:a16="http://schemas.microsoft.com/office/drawing/2014/main" id="{C41B569D-05ED-4F13-6012-0673837B7037}"/>
              </a:ext>
            </a:extLst>
          </p:cNvPr>
          <p:cNvSpPr txBox="1"/>
          <p:nvPr/>
        </p:nvSpPr>
        <p:spPr>
          <a:xfrm>
            <a:off x="6311153" y="4308038"/>
            <a:ext cx="1878576" cy="1477328"/>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r>
              <a:rPr lang="en-US" dirty="0" err="1"/>
              <a:t>FastGen</a:t>
            </a:r>
            <a:r>
              <a:rPr lang="en-US" dirty="0"/>
              <a:t>: Pick strategy per </a:t>
            </a:r>
            <a:r>
              <a:rPr lang="en-US" b="1" dirty="0"/>
              <a:t>head</a:t>
            </a:r>
            <a:r>
              <a:rPr lang="en-US" dirty="0"/>
              <a:t> and </a:t>
            </a:r>
            <a:r>
              <a:rPr lang="en-US" b="1" dirty="0"/>
              <a:t>layer </a:t>
            </a:r>
            <a:r>
              <a:rPr lang="en-US" dirty="0"/>
              <a:t>based on prefilling.</a:t>
            </a:r>
          </a:p>
        </p:txBody>
      </p:sp>
      <p:sp>
        <p:nvSpPr>
          <p:cNvPr id="4" name="TextBox 3">
            <a:extLst>
              <a:ext uri="{FF2B5EF4-FFF2-40B4-BE49-F238E27FC236}">
                <a16:creationId xmlns:a16="http://schemas.microsoft.com/office/drawing/2014/main" id="{B1E4114D-CD72-7DB0-6B95-9C195D8FE0F5}"/>
              </a:ext>
            </a:extLst>
          </p:cNvPr>
          <p:cNvSpPr txBox="1"/>
          <p:nvPr/>
        </p:nvSpPr>
        <p:spPr>
          <a:xfrm>
            <a:off x="367553" y="4564122"/>
            <a:ext cx="1678921" cy="646331"/>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US" dirty="0"/>
              <a:t>Score by recency (FIFO)</a:t>
            </a:r>
          </a:p>
        </p:txBody>
      </p:sp>
      <p:sp>
        <p:nvSpPr>
          <p:cNvPr id="5" name="TextBox 4">
            <a:extLst>
              <a:ext uri="{FF2B5EF4-FFF2-40B4-BE49-F238E27FC236}">
                <a16:creationId xmlns:a16="http://schemas.microsoft.com/office/drawing/2014/main" id="{86A31B22-4997-598A-25F5-9685771FD404}"/>
              </a:ext>
            </a:extLst>
          </p:cNvPr>
          <p:cNvSpPr txBox="1"/>
          <p:nvPr/>
        </p:nvSpPr>
        <p:spPr>
          <a:xfrm>
            <a:off x="748924" y="5646867"/>
            <a:ext cx="1536329" cy="369332"/>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US" dirty="0"/>
              <a:t>+ separator</a:t>
            </a:r>
          </a:p>
        </p:txBody>
      </p:sp>
    </p:spTree>
    <p:extLst>
      <p:ext uri="{BB962C8B-B14F-4D97-AF65-F5344CB8AC3E}">
        <p14:creationId xmlns:p14="http://schemas.microsoft.com/office/powerpoint/2010/main" val="29034247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ED8DBC-9346-26B7-8544-B05F56F47A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C8FAA4-3E79-CF5A-A911-D52C2AD4A927}"/>
              </a:ext>
            </a:extLst>
          </p:cNvPr>
          <p:cNvSpPr>
            <a:spLocks noGrp="1"/>
          </p:cNvSpPr>
          <p:nvPr>
            <p:ph type="title"/>
          </p:nvPr>
        </p:nvSpPr>
        <p:spPr/>
        <p:txBody>
          <a:bodyPr>
            <a:noAutofit/>
          </a:bodyPr>
          <a:lstStyle/>
          <a:p>
            <a:r>
              <a:rPr lang="en-US" sz="3600" dirty="0"/>
              <a:t>Recap: making a large model smaller</a:t>
            </a:r>
          </a:p>
        </p:txBody>
      </p:sp>
      <p:sp>
        <p:nvSpPr>
          <p:cNvPr id="3" name="Content Placeholder 2">
            <a:extLst>
              <a:ext uri="{FF2B5EF4-FFF2-40B4-BE49-F238E27FC236}">
                <a16:creationId xmlns:a16="http://schemas.microsoft.com/office/drawing/2014/main" id="{AF6B8F3E-BAF5-2F57-3118-5329F8A96C5F}"/>
              </a:ext>
            </a:extLst>
          </p:cNvPr>
          <p:cNvSpPr>
            <a:spLocks noGrp="1"/>
          </p:cNvSpPr>
          <p:nvPr>
            <p:ph idx="1"/>
          </p:nvPr>
        </p:nvSpPr>
        <p:spPr/>
        <p:txBody>
          <a:bodyPr/>
          <a:lstStyle/>
          <a:p>
            <a:r>
              <a:rPr lang="en-US" dirty="0"/>
              <a:t>Quantization</a:t>
            </a:r>
          </a:p>
          <a:p>
            <a:r>
              <a:rPr lang="en-US" dirty="0"/>
              <a:t>Pruning</a:t>
            </a:r>
          </a:p>
          <a:p>
            <a:r>
              <a:rPr lang="en-US" dirty="0"/>
              <a:t>Key-Value Cache Management</a:t>
            </a:r>
          </a:p>
        </p:txBody>
      </p:sp>
      <p:sp>
        <p:nvSpPr>
          <p:cNvPr id="5" name="TextBox 4">
            <a:extLst>
              <a:ext uri="{FF2B5EF4-FFF2-40B4-BE49-F238E27FC236}">
                <a16:creationId xmlns:a16="http://schemas.microsoft.com/office/drawing/2014/main" id="{513B7855-74C7-90B2-B4CC-407958069568}"/>
              </a:ext>
            </a:extLst>
          </p:cNvPr>
          <p:cNvSpPr txBox="1"/>
          <p:nvPr/>
        </p:nvSpPr>
        <p:spPr>
          <a:xfrm>
            <a:off x="680890" y="3139196"/>
            <a:ext cx="7781792" cy="2308324"/>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sz="2400" dirty="0"/>
              <a:t>Old-school ML in practice:</a:t>
            </a:r>
          </a:p>
          <a:p>
            <a:pPr marL="457200" indent="-457200">
              <a:buFont typeface="+mj-lt"/>
              <a:buAutoNum type="arabicPeriod"/>
            </a:pPr>
            <a:r>
              <a:rPr lang="en-US" sz="2400" dirty="0"/>
              <a:t>examine the data</a:t>
            </a:r>
          </a:p>
          <a:p>
            <a:pPr marL="457200" indent="-457200">
              <a:buFont typeface="+mj-lt"/>
              <a:buAutoNum type="arabicPeriod"/>
            </a:pPr>
            <a:r>
              <a:rPr lang="en-US" sz="2400" dirty="0"/>
              <a:t>select/engineer features</a:t>
            </a:r>
          </a:p>
          <a:p>
            <a:pPr marL="457200" indent="-457200">
              <a:buFont typeface="+mj-lt"/>
              <a:buAutoNum type="arabicPeriod"/>
            </a:pPr>
            <a:r>
              <a:rPr lang="en-US" sz="2400" dirty="0"/>
              <a:t>pick a simple learning/optimization method that worked for that task</a:t>
            </a:r>
          </a:p>
          <a:p>
            <a:pPr marL="914400" lvl="1" indent="-457200">
              <a:buFont typeface="Arial" panose="020B0604020202020204" pitchFamily="34" charset="0"/>
              <a:buChar char="•"/>
            </a:pPr>
            <a:r>
              <a:rPr lang="en-US" sz="2400" dirty="0"/>
              <a:t>sometimes invent a new method </a:t>
            </a:r>
          </a:p>
        </p:txBody>
      </p:sp>
    </p:spTree>
    <p:extLst>
      <p:ext uri="{BB962C8B-B14F-4D97-AF65-F5344CB8AC3E}">
        <p14:creationId xmlns:p14="http://schemas.microsoft.com/office/powerpoint/2010/main" val="262742656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3A3C6E-0F70-772C-B2B9-44F41F88D8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E91C22-0D68-852A-8305-5203ECA9042B}"/>
              </a:ext>
            </a:extLst>
          </p:cNvPr>
          <p:cNvSpPr>
            <a:spLocks noGrp="1"/>
          </p:cNvSpPr>
          <p:nvPr>
            <p:ph type="title"/>
          </p:nvPr>
        </p:nvSpPr>
        <p:spPr/>
        <p:txBody>
          <a:bodyPr>
            <a:noAutofit/>
          </a:bodyPr>
          <a:lstStyle/>
          <a:p>
            <a:r>
              <a:rPr lang="en-US" sz="3600" dirty="0"/>
              <a:t>What’s next?</a:t>
            </a:r>
          </a:p>
        </p:txBody>
      </p:sp>
      <p:sp>
        <p:nvSpPr>
          <p:cNvPr id="3" name="Content Placeholder 2">
            <a:extLst>
              <a:ext uri="{FF2B5EF4-FFF2-40B4-BE49-F238E27FC236}">
                <a16:creationId xmlns:a16="http://schemas.microsoft.com/office/drawing/2014/main" id="{72D656E1-5A29-CBD5-1A4D-C17AA832E679}"/>
              </a:ext>
            </a:extLst>
          </p:cNvPr>
          <p:cNvSpPr>
            <a:spLocks noGrp="1"/>
          </p:cNvSpPr>
          <p:nvPr>
            <p:ph idx="1"/>
          </p:nvPr>
        </p:nvSpPr>
        <p:spPr/>
        <p:txBody>
          <a:bodyPr>
            <a:normAutofit lnSpcReduction="10000"/>
          </a:bodyPr>
          <a:lstStyle/>
          <a:p>
            <a:r>
              <a:rPr lang="en-US" dirty="0"/>
              <a:t>Quantization</a:t>
            </a:r>
          </a:p>
          <a:p>
            <a:r>
              <a:rPr lang="en-US" dirty="0"/>
              <a:t>Pruning</a:t>
            </a:r>
          </a:p>
          <a:p>
            <a:r>
              <a:rPr lang="en-US" dirty="0"/>
              <a:t>Key-Value Cache Management</a:t>
            </a:r>
          </a:p>
          <a:p>
            <a:r>
              <a:rPr lang="en-US" dirty="0"/>
              <a:t>Simple combinations:</a:t>
            </a:r>
          </a:p>
          <a:p>
            <a:pPr lvl="1"/>
            <a:r>
              <a:rPr lang="en-US" dirty="0"/>
              <a:t>it works to sequential prune then quantize</a:t>
            </a:r>
          </a:p>
          <a:p>
            <a:pPr lvl="1"/>
            <a:r>
              <a:rPr lang="en-US" dirty="0"/>
              <a:t>it works to quantize a KV cache</a:t>
            </a:r>
          </a:p>
          <a:p>
            <a:r>
              <a:rPr lang="en-US" dirty="0"/>
              <a:t>Jointly learning to optimize together?</a:t>
            </a:r>
          </a:p>
          <a:p>
            <a:pPr lvl="1"/>
            <a:r>
              <a:rPr lang="en-US" dirty="0"/>
              <a:t>prune, quantize, and restrict attention so that KV cache is more effective?</a:t>
            </a:r>
          </a:p>
        </p:txBody>
      </p:sp>
    </p:spTree>
    <p:extLst>
      <p:ext uri="{BB962C8B-B14F-4D97-AF65-F5344CB8AC3E}">
        <p14:creationId xmlns:p14="http://schemas.microsoft.com/office/powerpoint/2010/main" val="18537133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1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2685</TotalTime>
  <Words>4006</Words>
  <Application>Microsoft Macintosh PowerPoint</Application>
  <PresentationFormat>On-screen Show (4:3)</PresentationFormat>
  <Paragraphs>662</Paragraphs>
  <Slides>77</Slides>
  <Notes>44</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77</vt:i4>
      </vt:variant>
    </vt:vector>
  </HeadingPairs>
  <TitlesOfParts>
    <vt:vector size="87" baseType="lpstr">
      <vt:lpstr>Arial</vt:lpstr>
      <vt:lpstr>Book Antiqua</vt:lpstr>
      <vt:lpstr>Calibri</vt:lpstr>
      <vt:lpstr>Cambria Math</vt:lpstr>
      <vt:lpstr>Gill Sans</vt:lpstr>
      <vt:lpstr>Gill Sans MT</vt:lpstr>
      <vt:lpstr>Times</vt:lpstr>
      <vt:lpstr>Wingdings</vt:lpstr>
      <vt:lpstr>Office Theme</vt:lpstr>
      <vt:lpstr>1_Office Theme</vt:lpstr>
      <vt:lpstr>10-605 / 10-405</vt:lpstr>
      <vt:lpstr>Where were we again?</vt:lpstr>
      <vt:lpstr>Plan for today</vt:lpstr>
      <vt:lpstr>But first a word from our sponsors</vt:lpstr>
      <vt:lpstr>Lecture feedback</vt:lpstr>
      <vt:lpstr>Lecture feedback</vt:lpstr>
      <vt:lpstr>Lecture feedback</vt:lpstr>
      <vt:lpstr>Post-lecture quiz feedback</vt:lpstr>
      <vt:lpstr>Recitation feedback</vt:lpstr>
      <vt:lpstr>OH Feedback</vt:lpstr>
      <vt:lpstr>Homework feedback</vt:lpstr>
      <vt:lpstr>Homework Length</vt:lpstr>
      <vt:lpstr>Course Workload</vt:lpstr>
      <vt:lpstr>Plan for today</vt:lpstr>
      <vt:lpstr>Key-Value Cache Management: Recap</vt:lpstr>
      <vt:lpstr>Key-Value Cache Management: Recap</vt:lpstr>
      <vt:lpstr>Outline</vt:lpstr>
      <vt:lpstr>Finding “Heavy Hitters” in KV Caches</vt:lpstr>
      <vt:lpstr>Finding “Heavy Hitters” in KV Caches</vt:lpstr>
      <vt:lpstr>Finding “Heavy Hitters” in KV Caches</vt:lpstr>
      <vt:lpstr>Other ways of predicting attention </vt:lpstr>
      <vt:lpstr>Other ways of predicting attention </vt:lpstr>
      <vt:lpstr>StreamingLLM</vt:lpstr>
      <vt:lpstr>StreamingLLM and H2O</vt:lpstr>
      <vt:lpstr>Backup: KV caching and model compression</vt:lpstr>
      <vt:lpstr>Predictive KV Caching: SnapKV</vt:lpstr>
      <vt:lpstr>Predictive KV Caching: SnapKV</vt:lpstr>
      <vt:lpstr>Predictive KV Caching: SnapKV</vt:lpstr>
      <vt:lpstr>Predictive KV Caching: SnapKV</vt:lpstr>
      <vt:lpstr>SnapKV: Details</vt:lpstr>
      <vt:lpstr>SnapKV: Experiment</vt:lpstr>
      <vt:lpstr>Needle in a Haystack: Background</vt:lpstr>
      <vt:lpstr>Needle in a Haystack: SnapKV results</vt:lpstr>
      <vt:lpstr>Predictive KV Caching: FastGen</vt:lpstr>
      <vt:lpstr>Predictive KV Caching: FastGen</vt:lpstr>
      <vt:lpstr>Predictive KV Caching: FastGen</vt:lpstr>
      <vt:lpstr>Predictive KV Caching: FastGen</vt:lpstr>
      <vt:lpstr>Predictive KV Caching: FastGen</vt:lpstr>
      <vt:lpstr>Predictive KV Caching: FastGen Results</vt:lpstr>
      <vt:lpstr>Backup: KV caching and model compression</vt:lpstr>
      <vt:lpstr>Discussion</vt:lpstr>
      <vt:lpstr>Discussion</vt:lpstr>
      <vt:lpstr>Model compression:  Recap and Overview</vt:lpstr>
      <vt:lpstr>How should we think about these?</vt:lpstr>
      <vt:lpstr>How should we think about these?</vt:lpstr>
      <vt:lpstr>PowerPoint Presentation</vt:lpstr>
      <vt:lpstr>PowerPoint Presentation</vt:lpstr>
      <vt:lpstr>Recap: making a large model smaller</vt:lpstr>
      <vt:lpstr>Recap: making a large model smaller</vt:lpstr>
      <vt:lpstr>Recap: making a large model smaller</vt:lpstr>
      <vt:lpstr>Quantization: Background</vt:lpstr>
      <vt:lpstr>Quantization: Beyond 16 bits</vt:lpstr>
      <vt:lpstr>Quantization: Beyond 16 bits</vt:lpstr>
      <vt:lpstr>Quantization: Beyond 16 bits</vt:lpstr>
      <vt:lpstr>Quantization: Performance Tradeoffs</vt:lpstr>
      <vt:lpstr>Quantization: Beyond 4 bits</vt:lpstr>
      <vt:lpstr>Recap: making a large model smaller</vt:lpstr>
      <vt:lpstr>Recap: making a large model smaller</vt:lpstr>
      <vt:lpstr>Unstructured pruning</vt:lpstr>
      <vt:lpstr>Unstructured pruning: Wanda</vt:lpstr>
      <vt:lpstr>What sparse operations are supported?</vt:lpstr>
      <vt:lpstr>What sparse operations are supported?</vt:lpstr>
      <vt:lpstr>Structured Pruning: Shortened Llama</vt:lpstr>
      <vt:lpstr>Structured Pruning: Sheared Llama</vt:lpstr>
      <vt:lpstr>Structured Pruning: Sheared Llama</vt:lpstr>
      <vt:lpstr>Recap: making a large model smaller</vt:lpstr>
      <vt:lpstr>Recap: making a large model smaller</vt:lpstr>
      <vt:lpstr>H2O: “Heavy Hitters” in KV Caches</vt:lpstr>
      <vt:lpstr>StreamingLLM</vt:lpstr>
      <vt:lpstr>StreamingLLM and H2O</vt:lpstr>
      <vt:lpstr>SnapKV: Details</vt:lpstr>
      <vt:lpstr>Predictive KV Caching: FastGen</vt:lpstr>
      <vt:lpstr>Predictive KV Caching: FastGen</vt:lpstr>
      <vt:lpstr>Predictive KV Caching: FastGen</vt:lpstr>
      <vt:lpstr>Recap: making a large model smaller</vt:lpstr>
      <vt:lpstr>Recap: making a large model smaller</vt:lpstr>
      <vt:lpstr>What’s next?</vt:lpstr>
    </vt:vector>
  </TitlesOfParts>
  <Company>Carnegie Mellon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Machine Learning from Big Datasets</dc:title>
  <dc:creator>William Cohen</dc:creator>
  <cp:lastModifiedBy>William W Cohen</cp:lastModifiedBy>
  <cp:revision>350</cp:revision>
  <dcterms:created xsi:type="dcterms:W3CDTF">2013-01-13T19:42:44Z</dcterms:created>
  <dcterms:modified xsi:type="dcterms:W3CDTF">2025-04-02T15:20:37Z</dcterms:modified>
</cp:coreProperties>
</file>