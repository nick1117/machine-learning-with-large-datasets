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375" r:id="rId2"/>
    <p:sldId id="582" r:id="rId3"/>
    <p:sldId id="448" r:id="rId4"/>
    <p:sldId id="441" r:id="rId5"/>
    <p:sldId id="442" r:id="rId6"/>
    <p:sldId id="475" r:id="rId7"/>
    <p:sldId id="476" r:id="rId8"/>
    <p:sldId id="278" r:id="rId9"/>
    <p:sldId id="443" r:id="rId10"/>
    <p:sldId id="444" r:id="rId11"/>
    <p:sldId id="445" r:id="rId12"/>
    <p:sldId id="446" r:id="rId13"/>
    <p:sldId id="447" r:id="rId14"/>
    <p:sldId id="449" r:id="rId15"/>
    <p:sldId id="450" r:id="rId16"/>
    <p:sldId id="457" r:id="rId17"/>
    <p:sldId id="458" r:id="rId18"/>
    <p:sldId id="452" r:id="rId19"/>
    <p:sldId id="453" r:id="rId20"/>
    <p:sldId id="454" r:id="rId21"/>
    <p:sldId id="455" r:id="rId22"/>
    <p:sldId id="451" r:id="rId23"/>
    <p:sldId id="468" r:id="rId24"/>
    <p:sldId id="469" r:id="rId25"/>
    <p:sldId id="456" r:id="rId26"/>
    <p:sldId id="459" r:id="rId27"/>
    <p:sldId id="461" r:id="rId28"/>
    <p:sldId id="460" r:id="rId29"/>
    <p:sldId id="462" r:id="rId30"/>
    <p:sldId id="463" r:id="rId31"/>
    <p:sldId id="464" r:id="rId32"/>
    <p:sldId id="465" r:id="rId33"/>
    <p:sldId id="466" r:id="rId34"/>
    <p:sldId id="467" r:id="rId35"/>
    <p:sldId id="472" r:id="rId36"/>
    <p:sldId id="470" r:id="rId37"/>
    <p:sldId id="471" r:id="rId38"/>
    <p:sldId id="473" r:id="rId39"/>
    <p:sldId id="474" r:id="rId40"/>
    <p:sldId id="584" r:id="rId41"/>
    <p:sldId id="376" r:id="rId42"/>
    <p:sldId id="377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264" r:id="rId52"/>
    <p:sldId id="283" r:id="rId53"/>
    <p:sldId id="284" r:id="rId54"/>
    <p:sldId id="285" r:id="rId55"/>
    <p:sldId id="515" r:id="rId56"/>
    <p:sldId id="516" r:id="rId57"/>
    <p:sldId id="517" r:id="rId58"/>
    <p:sldId id="518" r:id="rId59"/>
    <p:sldId id="519" r:id="rId60"/>
    <p:sldId id="520" r:id="rId61"/>
    <p:sldId id="521" r:id="rId62"/>
    <p:sldId id="522" r:id="rId63"/>
    <p:sldId id="523" r:id="rId64"/>
    <p:sldId id="524" r:id="rId65"/>
    <p:sldId id="260" r:id="rId66"/>
    <p:sldId id="525" r:id="rId67"/>
    <p:sldId id="526" r:id="rId68"/>
    <p:sldId id="527" r:id="rId69"/>
    <p:sldId id="528" r:id="rId70"/>
    <p:sldId id="529" r:id="rId71"/>
    <p:sldId id="530" r:id="rId72"/>
    <p:sldId id="531" r:id="rId73"/>
    <p:sldId id="532" r:id="rId74"/>
    <p:sldId id="533" r:id="rId75"/>
    <p:sldId id="535" r:id="rId76"/>
    <p:sldId id="536" r:id="rId77"/>
    <p:sldId id="537" r:id="rId78"/>
    <p:sldId id="539" r:id="rId79"/>
    <p:sldId id="538" r:id="rId80"/>
    <p:sldId id="540" r:id="rId81"/>
    <p:sldId id="534" r:id="rId82"/>
    <p:sldId id="545" r:id="rId83"/>
    <p:sldId id="546" r:id="rId84"/>
    <p:sldId id="541" r:id="rId85"/>
    <p:sldId id="542" r:id="rId86"/>
    <p:sldId id="543" r:id="rId87"/>
    <p:sldId id="544" r:id="rId88"/>
    <p:sldId id="547" r:id="rId89"/>
    <p:sldId id="548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7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0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78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8AC1-31B4-9E3B-EAD1-5D35FD5C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DD57D-0F89-F700-F7E0-BCC756532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533CF-490D-CBDF-E92D-7C91CF18E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42B6-A4FC-5A77-7AA3-5CC8C7BB2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2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/pdf/1402.3722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30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embedding sims to 0,1</a:t>
            </a:r>
          </a:p>
          <a:p>
            <a:r>
              <a:rPr lang="en-US" dirty="0"/>
              <a:t>note only right if the target word is ranked first among thousands in the vocab (including possible synonyms)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23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AF79-33E4-511F-5E12-8D42C034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20FFA-D4C2-6136-7E22-4664D72E1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8A422-5C98-B358-8E9F-E9142F798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embedding sims to 0,1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33972-FBB8-4850-3072-FEA81EA81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39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E3011-5BF3-C84C-22D5-C7028506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89312-6964-304D-BEF6-79B81D960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A0BB5-893F-B53C-418D-69A9DE54B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BD5B4-1112-2542-989C-C24F6A58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51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/pdf/2212.04089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7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7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A46A-5D61-343F-F48C-684BF23D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6239C-CE2C-DFF9-D13F-319AC3B0A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17BD5-65C3-688A-C994-45C490455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/pdf/2212.04089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92BE-3861-9928-F0BD-9DDE63A31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06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895-6824-D389-E316-BBDE281E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D95F2-ED97-208C-BE2E-D79EECB53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4752D-C7D2-F19B-190B-EB79D3698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4BFF5-B458-FB95-03BD-7BF60295C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9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1E2C9-DF32-880C-C7FD-014FBD50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30122-E5B2-06CA-41C2-4D8D52A6B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E9502-0666-961D-B425-112776741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C437-4E9D-71C6-505E-0DB4A59E1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6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75D-34CE-B62F-3AAA-41FFD4BE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0F5D-57BA-E7FC-F432-D823B55A9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3D192-F6E8-9CBC-55D6-031C1DC11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26BE-8FB2-F06E-2D44-E03DF73D9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4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/profile/Leshem-Choshen-2/publication/371291070_Resolving_Interference_When_Merging_Models/links/6481cc4a79a722376518d1d6/Resolving-Interference-When-Merging-</a:t>
            </a:r>
            <a:r>
              <a:rPr lang="en-US" dirty="0" err="1"/>
              <a:t>Models.pdf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04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/pdf/2307.13269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49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/pdf/2402.05859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0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91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1A11-0945-3E18-330F-596F5B16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CE6B4-56BF-E7A9-63C9-9CA74CC05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22B50-E47B-87E5-1924-196E8C1EE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3A983-F2FC-EE83-F464-03506083B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6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21F3-B06F-1A70-6A5F-843C2AF9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5C295-65BB-0259-53A5-2D02502DF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4B51-AF1A-0EDE-A1A5-65F504D7C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B1D21-B90B-77EB-B73F-ACAF01AD9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1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B823-A7A5-AEBB-5779-B8626D7E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A9F1B-5F81-346D-40F0-0BD25CDC6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D7F78-C0B9-FADA-C8F3-EDEE16442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B1D3-FB0A-14F5-CBE7-D362631B0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65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www.cs.cornell.edu</a:t>
            </a:r>
            <a:r>
              <a:rPr lang="en-US" dirty="0"/>
              <a:t>/home/</a:t>
            </a:r>
            <a:r>
              <a:rPr lang="en-US" dirty="0" err="1"/>
              <a:t>kleinber</a:t>
            </a:r>
            <a:r>
              <a:rPr lang="en-US" dirty="0"/>
              <a:t>/networks-book/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9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3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1573-01C0-BFF3-D050-A59C53A6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510A0-8CCC-64B4-02E1-B4C5DF0E4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13124-0FE0-4B90-F2C3-457ADCAA5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8FECD-429A-1434-2B60-BF3AC4348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03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75DA-75BD-AD3D-12A8-6D05C0C4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D1129-D657-140D-E39C-725857813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71DA6-ADBD-5D8A-5745-5C87D4B35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8D6C4-6100-DA68-F997-D78DC77C7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11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440A-2398-10AE-7B22-6D023601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79A07-3728-03E8-1DB1-75DFDA29D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D50B0-D24A-CBEA-5035-6E8CFC3C1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www.science.org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/full/10.1126/science.adi6000?casa_token=UKBrYB_jH6gAAAAA%3AcBNEc67rQIRWJqH_d3O_jFGMdyF3EZlz6R_dhEUQefUIilA5CpzRRHmv5OqBlXQ7YCFTfmM9x8E8bQ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34CA8-D7F3-683A-F4EF-FCCE39621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46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2613-3869-463C-5AEC-8A3D4056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7264D-A510-65DC-82C2-2680B8188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8004C-C62F-D4AE-1954-BE512F4C9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4F76D-60A4-5600-BD92-CF725FD03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05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CAE5-AF62-4EA3-A3F4-E3E6D207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9D442-EF4B-244C-7CC6-ECFDF9486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0EDA3-6A34-D393-808F-3E6696087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8F03D-3B36-9E92-55A3-B3397C264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30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0F78A-431A-6B05-0568-DFFA43D6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05F87-A159-B86B-BBD3-F0724C121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46A69-D133-84AC-C950-08D5B72AB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04F52-026C-FEF4-B28B-864F84AD6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85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b4eeb312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b4eeb312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AEC380E-2489-3717-D367-D67A9C49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b4eeb312d_0_21:notes">
            <a:extLst>
              <a:ext uri="{FF2B5EF4-FFF2-40B4-BE49-F238E27FC236}">
                <a16:creationId xmlns:a16="http://schemas.microsoft.com/office/drawing/2014/main" id="{A7549DC5-3C9A-4AFF-4C6E-1C64F8C85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b4eeb312d_0_21:notes">
            <a:extLst>
              <a:ext uri="{FF2B5EF4-FFF2-40B4-BE49-F238E27FC236}">
                <a16:creationId xmlns:a16="http://schemas.microsoft.com/office/drawing/2014/main" id="{BAF17AFC-8DC0-24A9-CE25-3779D545A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880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4534D6D-B01E-D9BF-53D3-3B3CD48F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b4eeb312d_0_21:notes">
            <a:extLst>
              <a:ext uri="{FF2B5EF4-FFF2-40B4-BE49-F238E27FC236}">
                <a16:creationId xmlns:a16="http://schemas.microsoft.com/office/drawing/2014/main" id="{9663BAE0-D0D0-A7B1-480F-71A08E9A0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b4eeb312d_0_21:notes">
            <a:extLst>
              <a:ext uri="{FF2B5EF4-FFF2-40B4-BE49-F238E27FC236}">
                <a16:creationId xmlns:a16="http://schemas.microsoft.com/office/drawing/2014/main" id="{9397739C-F3FA-FB5D-71CB-32545C67E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406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9F01A48-1E0B-1447-91E8-7B9FD15A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b4eeb312d_0_21:notes">
            <a:extLst>
              <a:ext uri="{FF2B5EF4-FFF2-40B4-BE49-F238E27FC236}">
                <a16:creationId xmlns:a16="http://schemas.microsoft.com/office/drawing/2014/main" id="{3F28D6F9-C0EC-707C-85BF-0BAC6B154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b4eeb312d_0_21:notes">
            <a:extLst>
              <a:ext uri="{FF2B5EF4-FFF2-40B4-BE49-F238E27FC236}">
                <a16:creationId xmlns:a16="http://schemas.microsoft.com/office/drawing/2014/main" id="{A1EC81E5-7CC4-E2A2-926B-AF71C2349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6903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FB7D4F1-6401-605F-157B-CA82CF27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b4eeb312d_0_21:notes">
            <a:extLst>
              <a:ext uri="{FF2B5EF4-FFF2-40B4-BE49-F238E27FC236}">
                <a16:creationId xmlns:a16="http://schemas.microsoft.com/office/drawing/2014/main" id="{2DC65404-C036-4B3B-47CD-4FB5383FF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b4eeb312d_0_21:notes">
            <a:extLst>
              <a:ext uri="{FF2B5EF4-FFF2-40B4-BE49-F238E27FC236}">
                <a16:creationId xmlns:a16="http://schemas.microsoft.com/office/drawing/2014/main" id="{DA5B3004-F4E2-33C9-F3CD-F21E46810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6869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/abs/2405.06034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426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/pdf/2305.06984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943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4B1B-EFF6-A271-39C1-4FD24E68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FF54F-9FBB-1BB3-96BF-D0C9E6765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638A6-1A78-9899-B304-604BC5F7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/pdf/2305.06984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38813-BFF6-0E73-E2D2-7EEBCD1B2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073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CA43-3B67-A960-9CE9-31E39B15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0156F-9BFC-65A2-B0E7-B5967B4D9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6C5B6-7D54-3D9B-5D1B-272FD8D0F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/pdf/2305.06984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2818C-F5B1-6432-7A20-6EF70AFA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10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/paper/2024/file/c9fcd02e6445c7dfbad6986abee53d0d-Paper-Conference.pdf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190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Zrnic</a:t>
            </a:r>
            <a:r>
              <a:rPr lang="en-US" dirty="0"/>
              <a:t> and </a:t>
            </a:r>
            <a:r>
              <a:rPr lang="en-US" dirty="0" err="1"/>
              <a:t>Candès</a:t>
            </a:r>
            <a:r>
              <a:rPr lang="en-US" dirty="0"/>
              <a:t> (ICML 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2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B112B-7255-3A6D-26EC-CF79F54E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DA46A-7704-37BC-4F85-C1BB0A84D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F923E-953A-F7B1-6374-CB5735AAA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6AD22-10AF-303A-620B-5FFED919F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372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0914-7DFD-1CA6-7660-D5529DD6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570B9-00FF-1CE5-CC25-84AC1AEA2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91AA9-4B8F-79F4-2B03-094C9BAC5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llm</a:t>
            </a:r>
            <a:r>
              <a:rPr lang="en-US" dirty="0"/>
              <a:t>-as-a-judge/Awesome-LLM-as-a-judge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4CB22-A23E-EAAF-EEB3-9B04E9C90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1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799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m-as-a-judge/Awesome-LLM-as-a-judg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://nifty.stanford.edu/2014/mccown-schelling-model-segregation/" TargetMode="Externa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1.png"/><Relationship Id="rId4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E0C7-2277-C9EE-94E9-A8062F44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8136-1591-7F07-C9B5-B2CB596A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396B-F012-42ED-435C-DFB78406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Branch-train-merge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r>
              <a:rPr lang="en-US" sz="2600" dirty="0"/>
              <a:t>Scaling up </a:t>
            </a:r>
            <a:r>
              <a:rPr lang="en-US" sz="2600" dirty="0" err="1"/>
              <a:t>GenAI</a:t>
            </a:r>
            <a:r>
              <a:rPr lang="en-US" sz="2600" dirty="0"/>
              <a:t> evals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17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669B-0A4E-14AC-A31D-90E54C04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vectors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4D365-7FAA-192B-CBD9-74B78CE4F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skip-gram embeddings (word2vec)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5061" t="3792"/>
          <a:stretch/>
        </p:blipFill>
        <p:spPr>
          <a:xfrm>
            <a:off x="2392662" y="1396566"/>
            <a:ext cx="4195667" cy="5229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86600"/>
            <a:ext cx="176916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positive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/>
              <a:t>examples are pairs of words w(t), w(</a:t>
            </a:r>
            <a:r>
              <a:rPr lang="en-US" dirty="0" err="1"/>
              <a:t>t+j</a:t>
            </a:r>
            <a:r>
              <a:rPr lang="en-US" dirty="0"/>
              <a:t>) that co-occur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02" y="4495704"/>
            <a:ext cx="278955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dirty="0">
                <a:solidFill>
                  <a:srgbClr val="FF0000"/>
                </a:solidFill>
              </a:rPr>
              <a:t>negative</a:t>
            </a:r>
            <a:r>
              <a:rPr lang="en-US" dirty="0"/>
              <a:t> examples are </a:t>
            </a:r>
            <a:r>
              <a:rPr lang="en-US" b="1" dirty="0"/>
              <a:t>samples</a:t>
            </a:r>
            <a:r>
              <a:rPr lang="en-US" dirty="0"/>
              <a:t> of pairs of words w(t), w(</a:t>
            </a:r>
            <a:r>
              <a:rPr lang="en-US" dirty="0" err="1"/>
              <a:t>t+j</a:t>
            </a:r>
            <a:r>
              <a:rPr lang="en-US" dirty="0"/>
              <a:t>) that don’t co-occur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7050" y="2402739"/>
            <a:ext cx="278955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want to train over a very large corpus (100M words+) and hundreds+ dimensions</a:t>
            </a:r>
          </a:p>
        </p:txBody>
      </p:sp>
    </p:spTree>
    <p:extLst>
      <p:ext uri="{BB962C8B-B14F-4D97-AF65-F5344CB8AC3E}">
        <p14:creationId xmlns:p14="http://schemas.microsoft.com/office/powerpoint/2010/main" val="31947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Results from word2vec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100"/>
            <a:ext cx="9144000" cy="3201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06529-6099-7E32-4138-C308B87F9D55}"/>
              </a:ext>
            </a:extLst>
          </p:cNvPr>
          <p:cNvSpPr txBox="1"/>
          <p:nvPr/>
        </p:nvSpPr>
        <p:spPr>
          <a:xfrm>
            <a:off x="1714499" y="5314950"/>
            <a:ext cx="610428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 number of properties of word2vec were surprising and mysterious! </a:t>
            </a:r>
            <a:r>
              <a:rPr lang="en-US" dirty="0"/>
              <a:t>until they were explained by Omer Levy and Yoav Goldberg a couple of years later</a:t>
            </a:r>
          </a:p>
        </p:txBody>
      </p:sp>
    </p:spTree>
    <p:extLst>
      <p:ext uri="{BB962C8B-B14F-4D97-AF65-F5344CB8AC3E}">
        <p14:creationId xmlns:p14="http://schemas.microsoft.com/office/powerpoint/2010/main" val="403787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D15E-D77B-939B-B3E2-FB3111AF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7B6B9-3799-6526-2258-48A6C06E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2" y="528812"/>
            <a:ext cx="7772400" cy="1983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08A608-90DA-1F5A-F3E3-E49A288CE4DA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428015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B5EC-6CB1-4FB5-C712-97204302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032CA-722F-77ED-D5AA-CD310622D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925F5-7530-1009-6118-2D140DD909E7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65161C-52DF-F1D6-BA9D-C9DFE4F1B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68"/>
          <a:stretch/>
        </p:blipFill>
        <p:spPr>
          <a:xfrm>
            <a:off x="3711161" y="2301251"/>
            <a:ext cx="4279900" cy="39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D4CB01-B59D-DBCE-E882-8779B8CB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320577"/>
            <a:ext cx="1219200" cy="35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4A56C-21CF-2CDB-415B-5A4E2A9C0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72" y="3682073"/>
            <a:ext cx="40386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F67095-B480-20D3-9850-05D9EFE25844}"/>
              </a:ext>
            </a:extLst>
          </p:cNvPr>
          <p:cNvSpPr txBox="1"/>
          <p:nvPr/>
        </p:nvSpPr>
        <p:spPr>
          <a:xfrm>
            <a:off x="993913" y="1722783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 for analogies: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D0595-CF90-4DCC-9C39-A2F0316FFA5F}"/>
              </a:ext>
            </a:extLst>
          </p:cNvPr>
          <p:cNvSpPr txBox="1"/>
          <p:nvPr/>
        </p:nvSpPr>
        <p:spPr>
          <a:xfrm>
            <a:off x="2875723" y="2320577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13552-4977-80D5-19E3-A207D78A6806}"/>
              </a:ext>
            </a:extLst>
          </p:cNvPr>
          <p:cNvSpPr txBox="1"/>
          <p:nvPr/>
        </p:nvSpPr>
        <p:spPr>
          <a:xfrm>
            <a:off x="993912" y="2909470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method is “3CosAdd”: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6E7808-8A31-69B4-9AB6-C223DCBC40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598" r="69275" b="21354"/>
          <a:stretch/>
        </p:blipFill>
        <p:spPr>
          <a:xfrm>
            <a:off x="6122504" y="4499790"/>
            <a:ext cx="2809461" cy="21468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3183B7-0682-8DC8-AACC-4942527049E6}"/>
              </a:ext>
            </a:extLst>
          </p:cNvPr>
          <p:cNvSpPr txBox="1"/>
          <p:nvPr/>
        </p:nvSpPr>
        <p:spPr>
          <a:xfrm>
            <a:off x="0" y="4777931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461255-841F-4236-FB4D-A7DA73D42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572" y="4810118"/>
            <a:ext cx="5753100" cy="5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1A08E9-A10F-D4FE-560F-63EF0821FAB0}"/>
              </a:ext>
            </a:extLst>
          </p:cNvPr>
          <p:cNvSpPr txBox="1"/>
          <p:nvPr/>
        </p:nvSpPr>
        <p:spPr>
          <a:xfrm>
            <a:off x="901147" y="5477899"/>
            <a:ext cx="49828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</p:spTree>
    <p:extLst>
      <p:ext uri="{BB962C8B-B14F-4D97-AF65-F5344CB8AC3E}">
        <p14:creationId xmlns:p14="http://schemas.microsoft.com/office/powerpoint/2010/main" val="308492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distributional clustering (with LSH)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383765"/>
          </a:xfrm>
        </p:spPr>
        <p:txBody>
          <a:bodyPr>
            <a:normAutofit/>
          </a:bodyPr>
          <a:lstStyle/>
          <a:p>
            <a:r>
              <a:rPr lang="en-US" dirty="0"/>
              <a:t>Common task: </a:t>
            </a:r>
            <a:r>
              <a:rPr lang="en-US" b="1" dirty="0"/>
              <a:t>distributional clustering</a:t>
            </a:r>
          </a:p>
          <a:p>
            <a:pPr lvl="1"/>
            <a:r>
              <a:rPr lang="en-US" dirty="0"/>
              <a:t>for a word </a:t>
            </a:r>
            <a:r>
              <a:rPr lang="en-US" i="1" dirty="0"/>
              <a:t>w, </a:t>
            </a:r>
            <a:r>
              <a:rPr lang="en-US" b="1" i="1" dirty="0"/>
              <a:t>v</a:t>
            </a:r>
            <a:r>
              <a:rPr lang="en-US" i="1" dirty="0"/>
              <a:t>(w) </a:t>
            </a:r>
            <a:r>
              <a:rPr lang="en-US" dirty="0"/>
              <a:t>is sparse vector of words that co-occur with </a:t>
            </a:r>
            <a:r>
              <a:rPr lang="en-US" i="1" dirty="0"/>
              <a:t>w</a:t>
            </a:r>
          </a:p>
          <a:p>
            <a:pPr lvl="1"/>
            <a:r>
              <a:rPr lang="en-US" dirty="0"/>
              <a:t>cluster the </a:t>
            </a:r>
            <a:r>
              <a:rPr lang="en-US" i="1" dirty="0"/>
              <a:t>v(w)’s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0263" y="3799804"/>
            <a:ext cx="8864600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…guards at </a:t>
            </a:r>
            <a:r>
              <a:rPr lang="en-US" u="sng" dirty="0" err="1"/>
              <a:t>Pentonville</a:t>
            </a:r>
            <a:r>
              <a:rPr lang="en-US" u="sng" dirty="0"/>
              <a:t> prison in North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discovered that an escape </a:t>
            </a:r>
            <a:r>
              <a:rPr lang="en-US" dirty="0"/>
              <a:t>attempt…</a:t>
            </a:r>
          </a:p>
          <a:p>
            <a:endParaRPr lang="en-US" dirty="0"/>
          </a:p>
          <a:p>
            <a:r>
              <a:rPr lang="en-US" u="sng" dirty="0"/>
              <a:t>An American Werewolf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is to be remade </a:t>
            </a:r>
            <a:r>
              <a:rPr lang="en-US" dirty="0"/>
              <a:t>by the son of the original director…</a:t>
            </a:r>
          </a:p>
          <a:p>
            <a:endParaRPr lang="en-US" dirty="0"/>
          </a:p>
          <a:p>
            <a:r>
              <a:rPr lang="en-US" dirty="0"/>
              <a:t>…UK pop up shop </a:t>
            </a:r>
            <a:r>
              <a:rPr lang="en-US" u="sng" dirty="0"/>
              <a:t>on Monmouth Street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today and on Friday </a:t>
            </a:r>
            <a:r>
              <a:rPr lang="en-US" dirty="0"/>
              <a:t>the brand…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9322" y="5847145"/>
            <a:ext cx="88646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="1" dirty="0"/>
              <a:t>(London):  </a:t>
            </a:r>
            <a:r>
              <a:rPr lang="en-US" dirty="0" err="1"/>
              <a:t>Pentonville</a:t>
            </a:r>
            <a:r>
              <a:rPr lang="en-US" dirty="0"/>
              <a:t>, prison, in, North, …. and, on Friday 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5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A51E25-2752-A750-4B69-DAB32A515B3E}"/>
              </a:ext>
            </a:extLst>
          </p:cNvPr>
          <p:cNvSpPr txBox="1"/>
          <p:nvPr/>
        </p:nvSpPr>
        <p:spPr>
          <a:xfrm>
            <a:off x="7369311" y="1244213"/>
            <a:ext cx="119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411C7-B37B-CD6A-BAE7-350504D25788}"/>
              </a:ext>
            </a:extLst>
          </p:cNvPr>
          <p:cNvSpPr txBox="1"/>
          <p:nvPr/>
        </p:nvSpPr>
        <p:spPr>
          <a:xfrm>
            <a:off x="404192" y="3179130"/>
            <a:ext cx="872655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Key idea:  these two vectors are closely 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word2vec embedding of </a:t>
            </a:r>
            <a:r>
              <a:rPr lang="en-US" i="1" dirty="0"/>
              <a:t>w</a:t>
            </a:r>
            <a:r>
              <a:rPr lang="en-US" dirty="0"/>
              <a:t>=“London”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distributional representation of </a:t>
            </a:r>
            <a:r>
              <a:rPr lang="en-US" i="1" dirty="0"/>
              <a:t>w</a:t>
            </a:r>
            <a:r>
              <a:rPr lang="en-US" dirty="0"/>
              <a:t>=“London”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context words </a:t>
            </a:r>
            <a:r>
              <a:rPr lang="en-US" i="1" dirty="0"/>
              <a:t>c</a:t>
            </a:r>
            <a:r>
              <a:rPr lang="en-US" dirty="0"/>
              <a:t> weighted by “positive pointwise mutual information”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AE459-4B28-DE12-DAD6-59410B37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92" y="4763868"/>
            <a:ext cx="4935102" cy="1212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C11A61-AAEA-3B3F-9D69-F76A99F51091}"/>
              </a:ext>
            </a:extLst>
          </p:cNvPr>
          <p:cNvSpPr txBox="1"/>
          <p:nvPr/>
        </p:nvSpPr>
        <p:spPr>
          <a:xfrm>
            <a:off x="310046" y="6196568"/>
            <a:ext cx="85239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embeddings are matrix factorization of the PPMI matrix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2A4305-16DE-8B1F-CB8B-574CF03330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286"/>
          <a:stretch/>
        </p:blipFill>
        <p:spPr>
          <a:xfrm>
            <a:off x="576471" y="1146161"/>
            <a:ext cx="6465956" cy="183937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FCE7792-9C42-ED26-53F8-7C2E58ACBA63}"/>
              </a:ext>
            </a:extLst>
          </p:cNvPr>
          <p:cNvSpPr txBox="1">
            <a:spLocks/>
          </p:cNvSpPr>
          <p:nvPr/>
        </p:nvSpPr>
        <p:spPr>
          <a:xfrm>
            <a:off x="279400" y="292100"/>
            <a:ext cx="8648700" cy="8048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dirty="0"/>
              <a:t>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0C062-862D-A8F1-5EEC-2855F090DF92}"/>
              </a:ext>
            </a:extLst>
          </p:cNvPr>
          <p:cNvSpPr txBox="1"/>
          <p:nvPr/>
        </p:nvSpPr>
        <p:spPr>
          <a:xfrm>
            <a:off x="4252154" y="222831"/>
            <a:ext cx="3910772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Q: what if you use the original </a:t>
            </a:r>
            <a:r>
              <a:rPr lang="en-US" b="1" dirty="0"/>
              <a:t>sparse</a:t>
            </a:r>
            <a:r>
              <a:rPr lang="en-US" dirty="0"/>
              <a:t> (unfactored) PPMI word vectors for analogies?</a:t>
            </a:r>
          </a:p>
        </p:txBody>
      </p:sp>
    </p:spTree>
    <p:extLst>
      <p:ext uri="{BB962C8B-B14F-4D97-AF65-F5344CB8AC3E}">
        <p14:creationId xmlns:p14="http://schemas.microsoft.com/office/powerpoint/2010/main" val="354334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6072-F198-46A2-F058-EB71C6F8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D7560-F273-26A1-C266-20AFD3C4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BC092E-8DEE-779E-E576-40F742AA3400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A64E7-95FF-7DF0-00C4-EDF03A7C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68"/>
          <a:stretch/>
        </p:blipFill>
        <p:spPr>
          <a:xfrm>
            <a:off x="3711161" y="2301251"/>
            <a:ext cx="4279900" cy="39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6B0522-9C40-69E9-5C48-EFE151221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320577"/>
            <a:ext cx="1219200" cy="35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AB207-822C-16EE-B116-70634FF94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23" y="3664354"/>
            <a:ext cx="40386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5E90A2-E4CB-07D8-2AF0-8A2168AEA7FE}"/>
              </a:ext>
            </a:extLst>
          </p:cNvPr>
          <p:cNvSpPr txBox="1"/>
          <p:nvPr/>
        </p:nvSpPr>
        <p:spPr>
          <a:xfrm>
            <a:off x="993913" y="1722783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 for analogies: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F1A1C-8F10-877A-DBCB-054B3B4C587B}"/>
              </a:ext>
            </a:extLst>
          </p:cNvPr>
          <p:cNvSpPr txBox="1"/>
          <p:nvPr/>
        </p:nvSpPr>
        <p:spPr>
          <a:xfrm>
            <a:off x="2875723" y="2320577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61822-48B8-95A9-3393-6E69D8B117F0}"/>
              </a:ext>
            </a:extLst>
          </p:cNvPr>
          <p:cNvSpPr txBox="1"/>
          <p:nvPr/>
        </p:nvSpPr>
        <p:spPr>
          <a:xfrm>
            <a:off x="993912" y="2909470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method is “3CosAdd”: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5F577E-E395-8746-BDEB-25063F28F4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598" r="69275" b="21354"/>
          <a:stretch/>
        </p:blipFill>
        <p:spPr>
          <a:xfrm>
            <a:off x="6122504" y="4499790"/>
            <a:ext cx="2809461" cy="21468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F0DD3E-48B1-E9FB-D74C-F38B49111EA8}"/>
              </a:ext>
            </a:extLst>
          </p:cNvPr>
          <p:cNvSpPr txBox="1"/>
          <p:nvPr/>
        </p:nvSpPr>
        <p:spPr>
          <a:xfrm>
            <a:off x="0" y="4777931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2C1E38-BC60-613B-0F1D-9D361CDD4A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572" y="4810118"/>
            <a:ext cx="5753100" cy="5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A5C9BE-3290-A55F-E715-D5DBCD6BCBC0}"/>
              </a:ext>
            </a:extLst>
          </p:cNvPr>
          <p:cNvSpPr txBox="1"/>
          <p:nvPr/>
        </p:nvSpPr>
        <p:spPr>
          <a:xfrm>
            <a:off x="901147" y="5477899"/>
            <a:ext cx="49828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</p:spTree>
    <p:extLst>
      <p:ext uri="{BB962C8B-B14F-4D97-AF65-F5344CB8AC3E}">
        <p14:creationId xmlns:p14="http://schemas.microsoft.com/office/powerpoint/2010/main" val="3852801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E815-5347-F140-9F2C-81BD350A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5CB9D-0E43-AC9E-FA65-8FAFCC92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18355A-8276-920E-238C-775F5CE68CBE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571D7-EAA1-5F5B-C3AB-F3C36A542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406" b="819"/>
          <a:stretch/>
        </p:blipFill>
        <p:spPr>
          <a:xfrm>
            <a:off x="1929297" y="1709530"/>
            <a:ext cx="5067852" cy="160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BC86A-3301-F733-95F5-0F1E2B55F1D6}"/>
              </a:ext>
            </a:extLst>
          </p:cNvPr>
          <p:cNvSpPr txBox="1"/>
          <p:nvPr/>
        </p:nvSpPr>
        <p:spPr>
          <a:xfrm>
            <a:off x="0" y="2638418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1B985-682C-BE4F-F1F1-4EA8A1F4D5B8}"/>
              </a:ext>
            </a:extLst>
          </p:cNvPr>
          <p:cNvSpPr txBox="1"/>
          <p:nvPr/>
        </p:nvSpPr>
        <p:spPr>
          <a:xfrm>
            <a:off x="0" y="2269086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93F65-89B3-D259-ADA6-2C6FCA5C639D}"/>
              </a:ext>
            </a:extLst>
          </p:cNvPr>
          <p:cNvSpPr txBox="1"/>
          <p:nvPr/>
        </p:nvSpPr>
        <p:spPr>
          <a:xfrm>
            <a:off x="925995" y="1245086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Observation: old-school sparse vectors also work for analogies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1DF1D6-A598-A601-FED6-41168A5C8760}"/>
              </a:ext>
            </a:extLst>
          </p:cNvPr>
          <p:cNvSpPr txBox="1"/>
          <p:nvPr/>
        </p:nvSpPr>
        <p:spPr>
          <a:xfrm>
            <a:off x="993913" y="3114854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not as well as word2vec using 3CosAdd rule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48570-D8F8-6217-EB03-FCF79E935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2" y="4040068"/>
            <a:ext cx="4878456" cy="4307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D35DB94-64A8-131C-E69B-B9C18003D3D7}"/>
              </a:ext>
            </a:extLst>
          </p:cNvPr>
          <p:cNvSpPr txBox="1"/>
          <p:nvPr/>
        </p:nvSpPr>
        <p:spPr>
          <a:xfrm>
            <a:off x="925994" y="5316605"/>
            <a:ext cx="3752023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71D5BB-1FFC-456E-D479-8DD7BDAFE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722" y="4327451"/>
            <a:ext cx="4368800" cy="927100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C5BA21AE-CA6E-E958-FC60-A60415F1821F}"/>
              </a:ext>
            </a:extLst>
          </p:cNvPr>
          <p:cNvSpPr/>
          <p:nvPr/>
        </p:nvSpPr>
        <p:spPr>
          <a:xfrm>
            <a:off x="3273287" y="4661482"/>
            <a:ext cx="1404730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B6E969-8FE5-4927-8581-33DE923FFC32}"/>
              </a:ext>
            </a:extLst>
          </p:cNvPr>
          <p:cNvSpPr txBox="1"/>
          <p:nvPr/>
        </p:nvSpPr>
        <p:spPr>
          <a:xfrm>
            <a:off x="5670274" y="5297345"/>
            <a:ext cx="2893944" cy="86177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3CosMul</a:t>
            </a:r>
          </a:p>
          <a:p>
            <a:pPr algn="ctr"/>
            <a:endParaRPr lang="en-US" dirty="0"/>
          </a:p>
          <a:p>
            <a:r>
              <a:rPr lang="en-US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*scale sims to [0,1]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6EE16-DB3E-169B-14AF-F30AAAAE787E}"/>
              </a:ext>
            </a:extLst>
          </p:cNvPr>
          <p:cNvSpPr txBox="1"/>
          <p:nvPr/>
        </p:nvSpPr>
        <p:spPr>
          <a:xfrm>
            <a:off x="2900363" y="3465792"/>
            <a:ext cx="602373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… is this the best way to compute analogies?</a:t>
            </a:r>
          </a:p>
        </p:txBody>
      </p:sp>
    </p:spTree>
    <p:extLst>
      <p:ext uri="{BB962C8B-B14F-4D97-AF65-F5344CB8AC3E}">
        <p14:creationId xmlns:p14="http://schemas.microsoft.com/office/powerpoint/2010/main" val="15737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6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6EF7-A84A-6966-64A6-2AC99803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3991F-FE04-F1EF-0C0B-8ABB516391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24B30-A168-F79E-AB90-EDF043AA0E55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B32196-F5E5-700C-3083-8B7161D6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239" y="1760316"/>
            <a:ext cx="6731236" cy="225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D3D00-EC01-A82A-864B-1EBA77F04023}"/>
              </a:ext>
            </a:extLst>
          </p:cNvPr>
          <p:cNvSpPr txBox="1"/>
          <p:nvPr/>
        </p:nvSpPr>
        <p:spPr>
          <a:xfrm>
            <a:off x="106017" y="3287772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3DF6A-FF7E-2764-56E7-A6161552D239}"/>
              </a:ext>
            </a:extLst>
          </p:cNvPr>
          <p:cNvSpPr txBox="1"/>
          <p:nvPr/>
        </p:nvSpPr>
        <p:spPr>
          <a:xfrm>
            <a:off x="106017" y="2997336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0CFD0-E7A0-EE26-59BC-75ADD53C0B6F}"/>
              </a:ext>
            </a:extLst>
          </p:cNvPr>
          <p:cNvSpPr txBox="1"/>
          <p:nvPr/>
        </p:nvSpPr>
        <p:spPr>
          <a:xfrm>
            <a:off x="129525" y="2628004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4C1BF-F4F8-61AF-FB19-F4E81BF55D36}"/>
              </a:ext>
            </a:extLst>
          </p:cNvPr>
          <p:cNvSpPr txBox="1"/>
          <p:nvPr/>
        </p:nvSpPr>
        <p:spPr>
          <a:xfrm>
            <a:off x="129525" y="2337568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A06A4-15B0-5F62-EACE-AFF65B77A797}"/>
              </a:ext>
            </a:extLst>
          </p:cNvPr>
          <p:cNvSpPr txBox="1"/>
          <p:nvPr/>
        </p:nvSpPr>
        <p:spPr>
          <a:xfrm>
            <a:off x="753717" y="4152086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So: old-school sparse vectors also work for analogies. </a:t>
            </a:r>
          </a:p>
        </p:txBody>
      </p:sp>
    </p:spTree>
    <p:extLst>
      <p:ext uri="{BB962C8B-B14F-4D97-AF65-F5344CB8AC3E}">
        <p14:creationId xmlns:p14="http://schemas.microsoft.com/office/powerpoint/2010/main" val="1830290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29AC-7BD1-7F77-EE9A-997DF06C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81B4-3106-365F-0121-A4AB8843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Analogies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74699-F30B-ACAE-79BD-4AA38F259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100"/>
            <a:ext cx="9144000" cy="3201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5300AE-FAF4-E216-DE3A-C7753B299A0C}"/>
              </a:ext>
            </a:extLst>
          </p:cNvPr>
          <p:cNvSpPr txBox="1"/>
          <p:nvPr/>
        </p:nvSpPr>
        <p:spPr>
          <a:xfrm>
            <a:off x="1714499" y="5314950"/>
            <a:ext cx="610428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It would be great if vector-based representations had </a:t>
            </a:r>
            <a:r>
              <a:rPr lang="en-US" b="1" dirty="0"/>
              <a:t>modularity</a:t>
            </a:r>
            <a:r>
              <a:rPr lang="en-US" dirty="0"/>
              <a:t>: e.g., add "past tense” to a word sense</a:t>
            </a:r>
          </a:p>
        </p:txBody>
      </p:sp>
    </p:spTree>
    <p:extLst>
      <p:ext uri="{BB962C8B-B14F-4D97-AF65-F5344CB8AC3E}">
        <p14:creationId xmlns:p14="http://schemas.microsoft.com/office/powerpoint/2010/main" val="272605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0EF6E6-941B-367E-4B23-0777FD5E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48" y="658431"/>
            <a:ext cx="7772400" cy="2770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C65B04-9547-4292-0A97-1A1850699033}"/>
                  </a:ext>
                </a:extLst>
              </p:cNvPr>
              <p:cNvSpPr txBox="1"/>
              <p:nvPr/>
            </p:nvSpPr>
            <p:spPr>
              <a:xfrm>
                <a:off x="742122" y="3697357"/>
                <a:ext cx="7036904" cy="109946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Studied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C65B04-9547-4292-0A97-1A185069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22" y="3697357"/>
                <a:ext cx="7036904" cy="1099468"/>
              </a:xfrm>
              <a:prstGeom prst="rect">
                <a:avLst/>
              </a:prstGeom>
              <a:blipFill>
                <a:blip r:embed="rId4"/>
                <a:stretch>
                  <a:fillRect l="-539" t="-2247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9F13FE-2FAD-FA3A-4E7D-60F17B45CD43}"/>
                  </a:ext>
                </a:extLst>
              </p:cNvPr>
              <p:cNvSpPr txBox="1"/>
              <p:nvPr/>
            </p:nvSpPr>
            <p:spPr>
              <a:xfrm>
                <a:off x="1736035" y="5065182"/>
                <a:ext cx="5208106" cy="109946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Examples: if 𝜃 is the pre-trained model weights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𝜃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/>
                  <a:t> = ???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𝜃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/>
                  <a:t> = ???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9F13FE-2FAD-FA3A-4E7D-60F17B45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035" y="5065182"/>
                <a:ext cx="5208106" cy="1099468"/>
              </a:xfrm>
              <a:prstGeom prst="rect">
                <a:avLst/>
              </a:prstGeom>
              <a:blipFill>
                <a:blip r:embed="rId5"/>
                <a:stretch>
                  <a:fillRect l="-1211" t="-1111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40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CA3C-30D5-260F-FC06-8021BD0C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E96EE-8B42-032E-4200-D83F7163F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𝜃 = pre-trained GPT2</a:t>
            </a:r>
          </a:p>
          <a:p>
            <a:r>
              <a:rPr lang="en-US" dirty="0"/>
              <a:t>Fine-tune GPT2 for generation on </a:t>
            </a:r>
            <a:r>
              <a:rPr lang="en-US" dirty="0" err="1"/>
              <a:t>CivilComments</a:t>
            </a:r>
            <a:r>
              <a:rPr lang="en-US" dirty="0"/>
              <a:t> datasets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nice</a:t>
            </a:r>
            <a:r>
              <a:rPr lang="en-US" dirty="0"/>
              <a:t>: toxicity &lt; 0.2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toxic</a:t>
            </a:r>
            <a:r>
              <a:rPr lang="en-US" i="1" dirty="0"/>
              <a:t>: </a:t>
            </a:r>
            <a:r>
              <a:rPr lang="en-US" dirty="0"/>
              <a:t>toxicity &gt; 0.8</a:t>
            </a:r>
          </a:p>
          <a:p>
            <a:r>
              <a:rPr lang="en-US" dirty="0"/>
              <a:t>Assess toxicity of 1000 outputs with a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99193-84E1-6BC7-25A5-7B18F64A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3428999"/>
            <a:ext cx="8951895" cy="2453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9CDD8-8744-31FF-D6DA-FC2A70E373F0}"/>
              </a:ext>
            </a:extLst>
          </p:cNvPr>
          <p:cNvSpPr txBox="1"/>
          <p:nvPr/>
        </p:nvSpPr>
        <p:spPr>
          <a:xfrm>
            <a:off x="148424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2BC3E-4892-26B4-63B4-97B9F583C706}"/>
              </a:ext>
            </a:extLst>
          </p:cNvPr>
          <p:cNvSpPr txBox="1"/>
          <p:nvPr/>
        </p:nvSpPr>
        <p:spPr>
          <a:xfrm>
            <a:off x="1484241" y="4300642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3376D-AE99-97AA-68D7-8C7DA9E73A55}"/>
              </a:ext>
            </a:extLst>
          </p:cNvPr>
          <p:cNvSpPr txBox="1"/>
          <p:nvPr/>
        </p:nvSpPr>
        <p:spPr>
          <a:xfrm>
            <a:off x="2186608" y="5226081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-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F8ED8-05B3-433C-DA3D-EE287784B095}"/>
              </a:ext>
            </a:extLst>
          </p:cNvPr>
          <p:cNvSpPr txBox="1"/>
          <p:nvPr/>
        </p:nvSpPr>
        <p:spPr>
          <a:xfrm>
            <a:off x="2441713" y="4735200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nice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3B7EB-B9B6-E597-60F9-37A9F85EF5AE}"/>
              </a:ext>
            </a:extLst>
          </p:cNvPr>
          <p:cNvSpPr txBox="1"/>
          <p:nvPr/>
        </p:nvSpPr>
        <p:spPr>
          <a:xfrm>
            <a:off x="1755910" y="5001136"/>
            <a:ext cx="243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same magnitude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B590-09AC-2E43-A9D5-D9A991F7440A}"/>
              </a:ext>
            </a:extLst>
          </p:cNvPr>
          <p:cNvSpPr txBox="1"/>
          <p:nvPr/>
        </p:nvSpPr>
        <p:spPr>
          <a:xfrm>
            <a:off x="2973177" y="5814694"/>
            <a:ext cx="4355275" cy="653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Subtracting the task vector is a way of “forgetting” how to perform that task!</a:t>
            </a:r>
          </a:p>
        </p:txBody>
      </p:sp>
    </p:spTree>
    <p:extLst>
      <p:ext uri="{BB962C8B-B14F-4D97-AF65-F5344CB8AC3E}">
        <p14:creationId xmlns:p14="http://schemas.microsoft.com/office/powerpoint/2010/main" val="330561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5DB0-273C-BE5C-A208-9EE02A08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0CAE-6E70-CB3B-E451-4C656244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</a:t>
            </a:r>
            <a:r>
              <a:rPr lang="en-US" dirty="0">
                <a:highlight>
                  <a:srgbClr val="FFFF00"/>
                </a:highlight>
              </a:rPr>
              <a:t>scaled</a:t>
            </a:r>
            <a:r>
              <a:rPr lang="en-US" dirty="0"/>
              <a:t>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AA16F-BF81-4A04-5745-4C1C1A75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𝜃 = pre-trained GPT2</a:t>
            </a:r>
          </a:p>
          <a:p>
            <a:r>
              <a:rPr lang="en-US" dirty="0"/>
              <a:t>Fine-tune GPT2 for generation on </a:t>
            </a:r>
            <a:r>
              <a:rPr lang="en-US" dirty="0" err="1"/>
              <a:t>CivilComments</a:t>
            </a:r>
            <a:r>
              <a:rPr lang="en-US" dirty="0"/>
              <a:t> datasets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nice</a:t>
            </a:r>
            <a:r>
              <a:rPr lang="en-US" dirty="0"/>
              <a:t>: toxicity &lt; 0.2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toxic</a:t>
            </a:r>
            <a:r>
              <a:rPr lang="en-US" i="1" dirty="0"/>
              <a:t>: </a:t>
            </a:r>
            <a:r>
              <a:rPr lang="en-US" dirty="0"/>
              <a:t>toxicity &gt; 0.8</a:t>
            </a:r>
          </a:p>
          <a:p>
            <a:r>
              <a:rPr lang="en-US" dirty="0"/>
              <a:t>Assess toxicity of 1000 outputs with a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DC51A-8A0C-A533-28A7-CE63184AD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3428999"/>
            <a:ext cx="8951895" cy="2453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410242-81C7-0E61-1F21-4BA81387491D}"/>
              </a:ext>
            </a:extLst>
          </p:cNvPr>
          <p:cNvSpPr txBox="1"/>
          <p:nvPr/>
        </p:nvSpPr>
        <p:spPr>
          <a:xfrm>
            <a:off x="148424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CDE5A-CA46-F234-DFDF-6EF83DC0AC93}"/>
              </a:ext>
            </a:extLst>
          </p:cNvPr>
          <p:cNvSpPr txBox="1"/>
          <p:nvPr/>
        </p:nvSpPr>
        <p:spPr>
          <a:xfrm>
            <a:off x="1484241" y="4300642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61838B-E95B-9D97-D1CA-93727451F12F}"/>
                  </a:ext>
                </a:extLst>
              </p:cNvPr>
              <p:cNvSpPr txBox="1"/>
              <p:nvPr/>
            </p:nvSpPr>
            <p:spPr>
              <a:xfrm>
                <a:off x="2186608" y="5226081"/>
                <a:ext cx="11728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𝜃 -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𝜏</a:t>
                </a:r>
                <a:r>
                  <a:rPr lang="en-US" sz="1800" baseline="-25000" dirty="0"/>
                  <a:t>toxic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61838B-E95B-9D97-D1CA-93727451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08" y="5226081"/>
                <a:ext cx="1172818" cy="400110"/>
              </a:xfrm>
              <a:prstGeom prst="rect">
                <a:avLst/>
              </a:prstGeom>
              <a:blipFill>
                <a:blip r:embed="rId3"/>
                <a:stretch>
                  <a:fillRect l="-4301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F0FE43F-E75E-B7AF-B795-7A550A81669C}"/>
              </a:ext>
            </a:extLst>
          </p:cNvPr>
          <p:cNvSpPr txBox="1"/>
          <p:nvPr/>
        </p:nvSpPr>
        <p:spPr>
          <a:xfrm>
            <a:off x="2441713" y="4735200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nice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1CFBD-A967-A06F-081D-195C6C0A60FB}"/>
              </a:ext>
            </a:extLst>
          </p:cNvPr>
          <p:cNvSpPr txBox="1"/>
          <p:nvPr/>
        </p:nvSpPr>
        <p:spPr>
          <a:xfrm>
            <a:off x="1755910" y="5001136"/>
            <a:ext cx="243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same 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1C11DF-49F2-706A-6652-32F996DDB9A2}"/>
                  </a:ext>
                </a:extLst>
              </p:cNvPr>
              <p:cNvSpPr txBox="1"/>
              <p:nvPr/>
            </p:nvSpPr>
            <p:spPr>
              <a:xfrm>
                <a:off x="1062519" y="5803332"/>
                <a:ext cx="6610490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Scaling factor </a:t>
                </a:r>
                <a14:m>
                  <m:oMath xmlns:m="http://schemas.openxmlformats.org/officeDocument/2006/math"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set with validation data</a:t>
                </a:r>
              </a:p>
              <a:p>
                <a:r>
                  <a:rPr lang="en-US" dirty="0"/>
                  <a:t>Pick largest </a:t>
                </a:r>
                <a14:m>
                  <m:oMath xmlns:m="http://schemas.openxmlformats.org/officeDocument/2006/math"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where perplexity is &lt; 16.9 (i.e., baseline + 0.5 bits)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1C11DF-49F2-706A-6652-32F996DDB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19" y="5803332"/>
                <a:ext cx="661049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2265-688E-83D2-24ED-D2E0A038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9DC6-9FC5-5729-5941-A7044FB2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scaled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4F14A-8660-5BD6-3E00-6217359E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𝜃 = pre-trained CLIPS</a:t>
            </a:r>
          </a:p>
          <a:p>
            <a:r>
              <a:rPr lang="en-US" dirty="0"/>
              <a:t>Fine-tune on 8 different image tasks</a:t>
            </a:r>
          </a:p>
          <a:p>
            <a:r>
              <a:rPr lang="en-US" dirty="0"/>
              <a:t>See if the resulting models forgets that task while maintaining performance on control task (ImageNet classification)</a:t>
            </a:r>
          </a:p>
          <a:p>
            <a:r>
              <a:rPr lang="en-US" dirty="0"/>
              <a:t>Report average over all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212AC-4522-89D9-CCEC-99D35EE1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30" b="-640"/>
          <a:stretch/>
        </p:blipFill>
        <p:spPr>
          <a:xfrm>
            <a:off x="-4767" y="3270540"/>
            <a:ext cx="8842729" cy="2215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7B648-DD3A-8222-EA6C-CB16A288B962}"/>
              </a:ext>
            </a:extLst>
          </p:cNvPr>
          <p:cNvSpPr txBox="1"/>
          <p:nvPr/>
        </p:nvSpPr>
        <p:spPr>
          <a:xfrm>
            <a:off x="8656430" y="4009138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4FC35-84B9-82F2-7809-AB8D01869C32}"/>
                  </a:ext>
                </a:extLst>
              </p:cNvPr>
              <p:cNvSpPr txBox="1"/>
              <p:nvPr/>
            </p:nvSpPr>
            <p:spPr>
              <a:xfrm>
                <a:off x="8341691" y="4962052"/>
                <a:ext cx="11728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𝜃 -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𝜏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4FC35-84B9-82F2-7809-AB8D01869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91" y="4962052"/>
                <a:ext cx="1172818" cy="400110"/>
              </a:xfrm>
              <a:prstGeom prst="rect">
                <a:avLst/>
              </a:prstGeom>
              <a:blipFill>
                <a:blip r:embed="rId3"/>
                <a:stretch>
                  <a:fillRect l="-4255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0DEB1A6-9667-9A5E-FD8E-DABCD7738B9A}"/>
              </a:ext>
            </a:extLst>
          </p:cNvPr>
          <p:cNvSpPr txBox="1"/>
          <p:nvPr/>
        </p:nvSpPr>
        <p:spPr>
          <a:xfrm>
            <a:off x="8481391" y="4270151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0CE885-81A0-714C-4128-307F103050DD}"/>
              </a:ext>
            </a:extLst>
          </p:cNvPr>
          <p:cNvSpPr txBox="1"/>
          <p:nvPr/>
        </p:nvSpPr>
        <p:spPr>
          <a:xfrm>
            <a:off x="2517914" y="311426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smaller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8F141-8C6B-A416-C318-FD384F9CA3E6}"/>
              </a:ext>
            </a:extLst>
          </p:cNvPr>
          <p:cNvSpPr txBox="1"/>
          <p:nvPr/>
        </p:nvSpPr>
        <p:spPr>
          <a:xfrm>
            <a:off x="6685169" y="311426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larger model</a:t>
            </a:r>
          </a:p>
        </p:txBody>
      </p:sp>
    </p:spTree>
    <p:extLst>
      <p:ext uri="{BB962C8B-B14F-4D97-AF65-F5344CB8AC3E}">
        <p14:creationId xmlns:p14="http://schemas.microsoft.com/office/powerpoint/2010/main" val="1370458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3F1E-E737-2D63-550D-BE037553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FE4A-AB1A-EF89-9962-DCA5C94F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05C3-7101-6138-F110-53BD7628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93539" cy="350023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Objective: sentiment analysis on reviews from Yelp</a:t>
            </a:r>
          </a:p>
          <a:p>
            <a:r>
              <a:rPr lang="en-US" dirty="0"/>
              <a:t>Data available</a:t>
            </a:r>
          </a:p>
          <a:p>
            <a:pPr lvl="1"/>
            <a:r>
              <a:rPr lang="en-US" dirty="0"/>
              <a:t>unlabeled reviews from Yelp</a:t>
            </a:r>
          </a:p>
          <a:p>
            <a:pPr lvl="1"/>
            <a:r>
              <a:rPr lang="en-US" dirty="0"/>
              <a:t>sentiment data from Amazon reviews</a:t>
            </a:r>
          </a:p>
          <a:p>
            <a:pPr lvl="1"/>
            <a:r>
              <a:rPr lang="en-US" dirty="0"/>
              <a:t>unlabeled Amazon reviews</a:t>
            </a:r>
          </a:p>
          <a:p>
            <a:r>
              <a:rPr lang="en-US" dirty="0"/>
              <a:t>Approach: build task vectors for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:  language modeling on Yelp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:  language modeling on Amazon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AmazonSentiment</a:t>
            </a:r>
            <a:r>
              <a:rPr lang="en-US" dirty="0"/>
              <a:t>:  sentiment prediction on Amazon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Finally use</a:t>
            </a:r>
          </a:p>
          <a:p>
            <a:pPr marL="457200" lvl="1" indent="0" algn="ctr">
              <a:buNone/>
            </a:pPr>
            <a:r>
              <a:rPr lang="en-US" dirty="0"/>
              <a:t>λ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 err="1"/>
              <a:t>AmazonSentiment</a:t>
            </a:r>
            <a:r>
              <a:rPr lang="en-US" baseline="-25000" dirty="0"/>
              <a:t> </a:t>
            </a:r>
            <a:r>
              <a:rPr lang="en-US" dirty="0"/>
              <a:t>+ (λ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  — λ</a:t>
            </a:r>
            <a:r>
              <a:rPr lang="en-US" baseline="-25000" dirty="0"/>
              <a:t>3</a:t>
            </a:r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9DB6C-A4A4-D794-A12A-517E915F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33" y="4917867"/>
            <a:ext cx="63119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84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ACB4-4C74-371E-AE23-25BDFAAC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1DC0-E4CC-0062-C118-CCFE046A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08225-5E32-FE20-06EE-A13E93F2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93539" cy="350023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Objective: sentiment analysis on reviews from Yelp</a:t>
            </a:r>
          </a:p>
          <a:p>
            <a:r>
              <a:rPr lang="en-US" dirty="0"/>
              <a:t>Data available</a:t>
            </a:r>
          </a:p>
          <a:p>
            <a:pPr lvl="1"/>
            <a:r>
              <a:rPr lang="en-US" dirty="0"/>
              <a:t>unlabeled reviews from </a:t>
            </a:r>
            <a:r>
              <a:rPr lang="en-US" strike="sngStrike" dirty="0"/>
              <a:t>Yelp</a:t>
            </a:r>
            <a:r>
              <a:rPr lang="en-US" dirty="0"/>
              <a:t> Amazon</a:t>
            </a:r>
          </a:p>
          <a:p>
            <a:pPr lvl="1"/>
            <a:r>
              <a:rPr lang="en-US" dirty="0"/>
              <a:t>sentiment data from </a:t>
            </a:r>
            <a:r>
              <a:rPr lang="en-US" strike="sngStrike" dirty="0"/>
              <a:t>Amazon</a:t>
            </a:r>
            <a:r>
              <a:rPr lang="en-US" dirty="0"/>
              <a:t> Yelp reviews</a:t>
            </a:r>
          </a:p>
          <a:p>
            <a:pPr lvl="1"/>
            <a:r>
              <a:rPr lang="en-US" dirty="0"/>
              <a:t>unlabeled </a:t>
            </a:r>
            <a:r>
              <a:rPr lang="en-US" strike="sngStrike" dirty="0"/>
              <a:t>Amazon</a:t>
            </a:r>
            <a:r>
              <a:rPr lang="en-US" dirty="0"/>
              <a:t> Yelp reviews</a:t>
            </a:r>
          </a:p>
          <a:p>
            <a:r>
              <a:rPr lang="en-US" dirty="0"/>
              <a:t>Approach: build task vectors for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:  language modeling on Yelp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:  language modeling on Amazon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YelpSentiment</a:t>
            </a:r>
            <a:r>
              <a:rPr lang="en-US" dirty="0"/>
              <a:t>:  sentiment prediction on Amazon Yelp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Finally use</a:t>
            </a:r>
          </a:p>
          <a:p>
            <a:pPr marL="457200" lvl="1" indent="0" algn="ctr">
              <a:buNone/>
            </a:pPr>
            <a:r>
              <a:rPr lang="en-US" dirty="0"/>
              <a:t>λ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 err="1"/>
              <a:t>YelpSentiment</a:t>
            </a:r>
            <a:r>
              <a:rPr lang="en-US" baseline="-25000" dirty="0"/>
              <a:t> </a:t>
            </a:r>
            <a:r>
              <a:rPr lang="en-US" dirty="0"/>
              <a:t>+ (λ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  — λ</a:t>
            </a:r>
            <a:r>
              <a:rPr lang="en-US" baseline="-25000" dirty="0"/>
              <a:t>3</a:t>
            </a:r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6354F-6785-39A8-2478-9F2B0B4A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433"/>
          <a:stretch/>
        </p:blipFill>
        <p:spPr>
          <a:xfrm>
            <a:off x="593035" y="4757530"/>
            <a:ext cx="2815574" cy="2136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791BB1-4BDE-AF52-CCE1-2E95D4B72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92"/>
          <a:stretch/>
        </p:blipFill>
        <p:spPr>
          <a:xfrm>
            <a:off x="3273286" y="4757530"/>
            <a:ext cx="4240701" cy="21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1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04D9-2E33-2348-AE79-A508CF2E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E4B2-13CD-C014-7C76-B38A37D8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EF6773-8F71-D923-9113-D72A6E5C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60" r="662" b="6096"/>
          <a:stretch/>
        </p:blipFill>
        <p:spPr>
          <a:xfrm>
            <a:off x="279400" y="2186608"/>
            <a:ext cx="8705013" cy="530087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5A2EF7-851E-C766-6F48-20B32239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513" cy="8048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Objective: improve performance on rare slices of data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C437C6-C06E-8A01-FDFB-C75762F43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4" y="2955096"/>
            <a:ext cx="5791200" cy="3438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81C39F-3DBF-E2D2-5EFC-AA97C1EBE7B4}"/>
              </a:ext>
            </a:extLst>
          </p:cNvPr>
          <p:cNvSpPr txBox="1"/>
          <p:nvPr/>
        </p:nvSpPr>
        <p:spPr>
          <a:xfrm>
            <a:off x="6480311" y="3197030"/>
            <a:ext cx="23058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classification tasks with CLIP, slices are based on a image style and class.</a:t>
            </a:r>
          </a:p>
          <a:p>
            <a:endParaRPr lang="en-US" dirty="0"/>
          </a:p>
          <a:p>
            <a:r>
              <a:rPr lang="en-US" dirty="0"/>
              <a:t>Also using </a:t>
            </a:r>
            <a:r>
              <a:rPr lang="en-US" dirty="0" err="1"/>
              <a:t>λ’s</a:t>
            </a:r>
            <a:r>
              <a:rPr lang="en-US" dirty="0"/>
              <a:t> picked by validation sets</a:t>
            </a:r>
          </a:p>
        </p:txBody>
      </p:sp>
    </p:spTree>
    <p:extLst>
      <p:ext uri="{BB962C8B-B14F-4D97-AF65-F5344CB8AC3E}">
        <p14:creationId xmlns:p14="http://schemas.microsoft.com/office/powerpoint/2010/main" val="2725282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EF8F-41D9-1D83-902F-5484A046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C1BF-3C70-DF0D-637E-2A9F4073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58771-2E8B-E871-6EEE-32486563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32" y="1052099"/>
            <a:ext cx="5700642" cy="3352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E028E-0771-2C96-87F2-D929F33F4BE1}"/>
              </a:ext>
            </a:extLst>
          </p:cNvPr>
          <p:cNvSpPr txBox="1"/>
          <p:nvPr/>
        </p:nvSpPr>
        <p:spPr>
          <a:xfrm>
            <a:off x="6082748" y="1435442"/>
            <a:ext cx="2781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 200 images of kings, queens, women, men.</a:t>
            </a:r>
          </a:p>
          <a:p>
            <a:endParaRPr lang="en-US" dirty="0"/>
          </a:p>
          <a:p>
            <a:r>
              <a:rPr lang="en-US" dirty="0"/>
              <a:t>Fine-tune CLIP models on each category, using 1000 ImageNet classes as negative examples </a:t>
            </a:r>
          </a:p>
          <a:p>
            <a:r>
              <a:rPr lang="en-US" dirty="0"/>
              <a:t>(class name ”something”)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717E1-3D0F-C00A-6E64-C13708DD3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4535425"/>
            <a:ext cx="7772400" cy="232257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2080795-AF8A-169D-B1DD-63FFBD742992}"/>
              </a:ext>
            </a:extLst>
          </p:cNvPr>
          <p:cNvGrpSpPr/>
          <p:nvPr/>
        </p:nvGrpSpPr>
        <p:grpSpPr>
          <a:xfrm>
            <a:off x="3061253" y="5247861"/>
            <a:ext cx="5006006" cy="1431235"/>
            <a:chOff x="3061253" y="5247861"/>
            <a:chExt cx="5006006" cy="14312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880326-51F7-08D8-598B-6F9E17533FB9}"/>
                </a:ext>
              </a:extLst>
            </p:cNvPr>
            <p:cNvSpPr/>
            <p:nvPr/>
          </p:nvSpPr>
          <p:spPr>
            <a:xfrm>
              <a:off x="3061253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3AFA2-85C7-2A92-7A97-6F85DE4BFBFC}"/>
                </a:ext>
              </a:extLst>
            </p:cNvPr>
            <p:cNvSpPr/>
            <p:nvPr/>
          </p:nvSpPr>
          <p:spPr>
            <a:xfrm>
              <a:off x="4572000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74323B-F395-FB15-3EC5-34251393C152}"/>
                </a:ext>
              </a:extLst>
            </p:cNvPr>
            <p:cNvSpPr/>
            <p:nvPr/>
          </p:nvSpPr>
          <p:spPr>
            <a:xfrm>
              <a:off x="5911574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705149-8D26-8E6C-4F61-183431448E39}"/>
                </a:ext>
              </a:extLst>
            </p:cNvPr>
            <p:cNvSpPr/>
            <p:nvPr/>
          </p:nvSpPr>
          <p:spPr>
            <a:xfrm>
              <a:off x="7311886" y="5247861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685D08-C8A0-3586-D463-41FC634BD50F}"/>
              </a:ext>
            </a:extLst>
          </p:cNvPr>
          <p:cNvGrpSpPr/>
          <p:nvPr/>
        </p:nvGrpSpPr>
        <p:grpSpPr>
          <a:xfrm>
            <a:off x="2366617" y="5261113"/>
            <a:ext cx="5700642" cy="1185997"/>
            <a:chOff x="2366617" y="5261113"/>
            <a:chExt cx="5700642" cy="118599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EFE0BA-718E-BB3E-E36E-C46C6AD80430}"/>
                </a:ext>
              </a:extLst>
            </p:cNvPr>
            <p:cNvSpPr/>
            <p:nvPr/>
          </p:nvSpPr>
          <p:spPr>
            <a:xfrm>
              <a:off x="2366617" y="5261113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4F2AB20-B6C7-C4CA-7821-BCDC96BEE995}"/>
                </a:ext>
              </a:extLst>
            </p:cNvPr>
            <p:cNvSpPr/>
            <p:nvPr/>
          </p:nvSpPr>
          <p:spPr>
            <a:xfrm>
              <a:off x="2366617" y="5782155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F953725-81EA-BF65-CA26-3BE60A5A290A}"/>
                </a:ext>
              </a:extLst>
            </p:cNvPr>
            <p:cNvSpPr/>
            <p:nvPr/>
          </p:nvSpPr>
          <p:spPr>
            <a:xfrm>
              <a:off x="2366617" y="6272413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0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4921-EF77-C95C-527A-50BE2A35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54B3-D12F-212D-9066-AB3AB067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</a:t>
            </a:r>
            <a:r>
              <a:rPr lang="en-US" i="1" u="sng"/>
              <a:t>many</a:t>
            </a:r>
            <a:r>
              <a:rPr lang="en-US"/>
              <a:t>  task </a:t>
            </a:r>
            <a:r>
              <a:rPr lang="en-US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49BAE72-DA15-2366-E6C1-D5E9C11FC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626" y="1257299"/>
                <a:ext cx="8794474" cy="201598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3200" dirty="0"/>
                  <a:t>𝜃 = pre-trained T5-base</a:t>
                </a:r>
              </a:p>
              <a:p>
                <a:r>
                  <a:rPr lang="en-US" sz="3200" dirty="0"/>
                  <a:t>For each of four common NLP tasks:</a:t>
                </a:r>
              </a:p>
              <a:p>
                <a:pPr lvl="1"/>
                <a:r>
                  <a:rPr lang="en-US" dirty="0"/>
                  <a:t>Fine tune a model (task vector 𝜏*)</a:t>
                </a:r>
              </a:p>
              <a:p>
                <a:pPr lvl="1"/>
                <a:r>
                  <a:rPr lang="en-US" dirty="0"/>
                  <a:t>Look for compatible checkpoints on </a:t>
                </a:r>
                <a:r>
                  <a:rPr lang="en-US" dirty="0" err="1"/>
                  <a:t>HuggingFace</a:t>
                </a:r>
                <a:r>
                  <a:rPr lang="en-US" dirty="0"/>
                  <a:t> (vectors 𝜏</a:t>
                </a:r>
                <a:r>
                  <a:rPr lang="en-US" baseline="-25000" dirty="0"/>
                  <a:t>1</a:t>
                </a:r>
                <a:r>
                  <a:rPr lang="en-US" dirty="0"/>
                  <a:t>, …, 𝜏</a:t>
                </a:r>
                <a:r>
                  <a:rPr lang="en-US" baseline="-25000" dirty="0"/>
                  <a:t>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Compare 𝜏* and 𝜏*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(select </a:t>
                </a:r>
                <a:r>
                  <a:rPr lang="en-US" i="1" dirty="0" err="1"/>
                  <a:t>λ</a:t>
                </a:r>
                <a:r>
                  <a:rPr lang="en-US" dirty="0"/>
                  <a:t> with validation set)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49BAE72-DA15-2366-E6C1-D5E9C11FC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626" y="1257299"/>
                <a:ext cx="8794474" cy="2015988"/>
              </a:xfrm>
              <a:blipFill>
                <a:blip r:embed="rId2"/>
                <a:stretch>
                  <a:fillRect l="-865" t="-5000" b="-2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4E5AF99-3709-8E5D-C8EF-A20706D1C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8" r="3518" b="2036"/>
          <a:stretch/>
        </p:blipFill>
        <p:spPr>
          <a:xfrm>
            <a:off x="133626" y="3428999"/>
            <a:ext cx="8734992" cy="1646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0C6881-99E4-9906-A33E-3B710E7AFAF9}"/>
              </a:ext>
            </a:extLst>
          </p:cNvPr>
          <p:cNvSpPr txBox="1"/>
          <p:nvPr/>
        </p:nvSpPr>
        <p:spPr>
          <a:xfrm>
            <a:off x="141798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1AF28-3ADB-2AD9-467C-B7DD73927BA7}"/>
              </a:ext>
            </a:extLst>
          </p:cNvPr>
          <p:cNvSpPr txBox="1"/>
          <p:nvPr/>
        </p:nvSpPr>
        <p:spPr>
          <a:xfrm>
            <a:off x="1484241" y="4274138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𝜏*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C6874-7D4A-6CC0-FB9C-2FB43DE56EFB}"/>
              </a:ext>
            </a:extLst>
          </p:cNvPr>
          <p:cNvSpPr txBox="1"/>
          <p:nvPr/>
        </p:nvSpPr>
        <p:spPr>
          <a:xfrm>
            <a:off x="1062519" y="5803332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4565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70C4-863E-B9C6-EA81-60DF2EF7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B526-6711-2272-AB78-B9CDED4C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different task vectors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8AF9F-03BB-06FA-EB12-9D4C8DC78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467035" cy="112809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weighted sum of task vectors for 2 vision tasks</a:t>
            </a:r>
          </a:p>
          <a:p>
            <a:r>
              <a:rPr lang="en-US" dirty="0"/>
              <a:t>show accuracy normalized by FT accuracy</a:t>
            </a:r>
          </a:p>
          <a:p>
            <a:pPr lvl="2"/>
            <a:r>
              <a:rPr lang="en-US" dirty="0"/>
              <a:t>and compared to zero-shot 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9DB2E-C979-3B75-4B59-E4F9E291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5384"/>
            <a:ext cx="8967108" cy="3526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538D8E-0EA9-9221-6896-A1FC1D65FB0D}"/>
              </a:ext>
            </a:extLst>
          </p:cNvPr>
          <p:cNvSpPr txBox="1"/>
          <p:nvPr/>
        </p:nvSpPr>
        <p:spPr>
          <a:xfrm>
            <a:off x="1036015" y="6262829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65052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0BFB-5F48-3E8F-14A6-BA12C6A9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56FA-AAF4-F558-85FD-DB7950E0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different task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2D0FEE-B5F3-320F-0389-99AF9000F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400" y="1257300"/>
                <a:ext cx="8648700" cy="151240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weighted sum of task vectors for k vision tasks</a:t>
                </a:r>
              </a:p>
              <a:p>
                <a:r>
                  <a:rPr lang="en-US" dirty="0"/>
                  <a:t>show accuracy normalized by accuracy of multitask FT on all 8 tasks</a:t>
                </a:r>
              </a:p>
              <a:p>
                <a:pPr lvl="1"/>
                <a:r>
                  <a:rPr lang="en-US" dirty="0"/>
                  <a:t>each point is different subset of training tasks</a:t>
                </a:r>
              </a:p>
              <a:p>
                <a:pPr lvl="1"/>
                <a:r>
                  <a:rPr lang="en-US" dirty="0"/>
                  <a:t>Compare 𝜏* and 𝜏*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(select </a:t>
                </a:r>
                <a:r>
                  <a:rPr lang="en-US" i="1" dirty="0" err="1"/>
                  <a:t>λ</a:t>
                </a:r>
                <a:r>
                  <a:rPr lang="en-US" dirty="0"/>
                  <a:t> with validation set)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2D0FEE-B5F3-320F-0389-99AF9000F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1257300"/>
                <a:ext cx="8648700" cy="1512403"/>
              </a:xfrm>
              <a:blipFill>
                <a:blip r:embed="rId2"/>
                <a:stretch>
                  <a:fillRect l="-880" t="-6667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0EB6BC7-7017-F702-A347-9C0097DB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30" y="2769703"/>
            <a:ext cx="5152792" cy="3591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98367-4136-9E7B-326E-C54C0CB88E59}"/>
              </a:ext>
            </a:extLst>
          </p:cNvPr>
          <p:cNvSpPr txBox="1"/>
          <p:nvPr/>
        </p:nvSpPr>
        <p:spPr>
          <a:xfrm>
            <a:off x="944217" y="6488668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60495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E201-65FA-DAB7-24C6-FA14BEB1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9BD49-4D12-7D32-9F88-23615969043B}"/>
                  </a:ext>
                </a:extLst>
              </p:cNvPr>
              <p:cNvSpPr txBox="1"/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Summary: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  <a:p>
                <a:pPr algn="ctr"/>
                <a:endParaRPr lang="en-US" dirty="0"/>
              </a:p>
              <a:p>
                <a:r>
                  <a:rPr lang="en-US" dirty="0"/>
                  <a:t>can be combined by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subtracting a task  ~= “forgetting” a behavior, like toxicity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combining vectors analogically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adding multiple vectors to create an ensemble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9BD49-4D12-7D32-9F88-23615969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  <a:blipFill>
                <a:blip r:embed="rId3"/>
                <a:stretch>
                  <a:fillRect l="-515" t="-592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ABB28C5-A216-7F59-5D34-72FB1CCFB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217" y="2944081"/>
            <a:ext cx="4745750" cy="378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107250-465F-4C60-D018-95D79FE0E8AA}"/>
              </a:ext>
            </a:extLst>
          </p:cNvPr>
          <p:cNvSpPr txBox="1"/>
          <p:nvPr/>
        </p:nvSpPr>
        <p:spPr>
          <a:xfrm>
            <a:off x="556592" y="2967335"/>
            <a:ext cx="25444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does this 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404EA-240F-061D-E1F1-8536FE1D0E24}"/>
              </a:ext>
            </a:extLst>
          </p:cNvPr>
          <p:cNvSpPr txBox="1"/>
          <p:nvPr/>
        </p:nvSpPr>
        <p:spPr>
          <a:xfrm>
            <a:off x="556592" y="3578949"/>
            <a:ext cx="254441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Task vectors are </a:t>
            </a:r>
            <a:r>
              <a:rPr lang="en-US" b="1" dirty="0"/>
              <a:t>mostly</a:t>
            </a:r>
            <a:r>
              <a:rPr lang="en-US" dirty="0"/>
              <a:t> orthogonal except when tasks are related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9BD77-A6FE-FFC1-1202-CF0A2F48AC4D}"/>
              </a:ext>
            </a:extLst>
          </p:cNvPr>
          <p:cNvSpPr txBox="1"/>
          <p:nvPr/>
        </p:nvSpPr>
        <p:spPr>
          <a:xfrm>
            <a:off x="748196" y="5021561"/>
            <a:ext cx="2544417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MNIST / SVHN both digits; GTRSB is reading traffic signs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9EC39-D5B0-6CCA-A6A3-313B79EDECD8}"/>
              </a:ext>
            </a:extLst>
          </p:cNvPr>
          <p:cNvSpPr txBox="1"/>
          <p:nvPr/>
        </p:nvSpPr>
        <p:spPr>
          <a:xfrm>
            <a:off x="748196" y="6085773"/>
            <a:ext cx="273602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EuroSAT</a:t>
            </a:r>
            <a:r>
              <a:rPr lang="en-US" dirty="0"/>
              <a:t> / RESISC45 are sat images</a:t>
            </a:r>
          </a:p>
        </p:txBody>
      </p:sp>
    </p:spTree>
    <p:extLst>
      <p:ext uri="{BB962C8B-B14F-4D97-AF65-F5344CB8AC3E}">
        <p14:creationId xmlns:p14="http://schemas.microsoft.com/office/powerpoint/2010/main" val="116563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08B9-90C5-BA77-5E27-B8AB2DF8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456D2-A90E-98B0-81A1-80277AFB177B}"/>
                  </a:ext>
                </a:extLst>
              </p:cNvPr>
              <p:cNvSpPr txBox="1"/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Summary: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  <a:p>
                <a:pPr algn="ctr"/>
                <a:endParaRPr lang="en-US" dirty="0"/>
              </a:p>
              <a:p>
                <a:r>
                  <a:rPr lang="en-US" dirty="0"/>
                  <a:t>can be combined by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subtracting a task  ~= “forgetting” a behavior, like toxicity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combining vectors analogically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adding multiple vectors to create an ensemble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456D2-A90E-98B0-81A1-80277AFB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  <a:blipFill>
                <a:blip r:embed="rId3"/>
                <a:stretch>
                  <a:fillRect l="-515" t="-592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428470-FF6B-7B46-F7A3-2EAE0A46287A}"/>
              </a:ext>
            </a:extLst>
          </p:cNvPr>
          <p:cNvSpPr txBox="1"/>
          <p:nvPr/>
        </p:nvSpPr>
        <p:spPr>
          <a:xfrm>
            <a:off x="556592" y="2967335"/>
            <a:ext cx="25444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does this work?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CE338C-DE3C-7F5A-EF8F-B742FB928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92" y="3640453"/>
            <a:ext cx="7772400" cy="2854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6B879-BC84-9A34-FF67-E80A432048C9}"/>
              </a:ext>
            </a:extLst>
          </p:cNvPr>
          <p:cNvSpPr txBox="1"/>
          <p:nvPr/>
        </p:nvSpPr>
        <p:spPr>
          <a:xfrm>
            <a:off x="4664765" y="3032881"/>
            <a:ext cx="339918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“Weight disentanglement”</a:t>
            </a:r>
          </a:p>
        </p:txBody>
      </p:sp>
    </p:spTree>
    <p:extLst>
      <p:ext uri="{BB962C8B-B14F-4D97-AF65-F5344CB8AC3E}">
        <p14:creationId xmlns:p14="http://schemas.microsoft.com/office/powerpoint/2010/main" val="28416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5B0C-3F95-77A9-68CE-A03757A0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4D2C15-326E-4E19-06D6-007E3EB4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5" y="16805"/>
            <a:ext cx="6082747" cy="1496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F00C0A-40F9-FD58-760D-BB1790DD698C}"/>
              </a:ext>
            </a:extLst>
          </p:cNvPr>
          <p:cNvSpPr txBox="1"/>
          <p:nvPr/>
        </p:nvSpPr>
        <p:spPr>
          <a:xfrm>
            <a:off x="7096540" y="834544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850A7-6809-3C3E-9C95-B77AD3A8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55369"/>
            <a:ext cx="7772400" cy="9304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0F704B-8A5C-9B8A-B8E6-0CDAC5099FC0}"/>
              </a:ext>
            </a:extLst>
          </p:cNvPr>
          <p:cNvSpPr txBox="1"/>
          <p:nvPr/>
        </p:nvSpPr>
        <p:spPr>
          <a:xfrm>
            <a:off x="702364" y="1562791"/>
            <a:ext cx="339918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Disentanglement error: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39672-EFBB-9F98-5368-2632F265204D}"/>
              </a:ext>
            </a:extLst>
          </p:cNvPr>
          <p:cNvSpPr txBox="1"/>
          <p:nvPr/>
        </p:nvSpPr>
        <p:spPr>
          <a:xfrm>
            <a:off x="702364" y="3082919"/>
            <a:ext cx="775583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Disentanglement error of ⍺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/>
              <a:t>1</a:t>
            </a:r>
            <a:r>
              <a:rPr lang="en-US" dirty="0"/>
              <a:t> and ⍺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/>
              <a:t>2</a:t>
            </a:r>
            <a:r>
              <a:rPr lang="en-US" dirty="0"/>
              <a:t>   </a:t>
            </a:r>
            <a:r>
              <a:rPr lang="en-US" sz="1600" dirty="0"/>
              <a:t>with </a:t>
            </a:r>
            <a:r>
              <a:rPr lang="en-US" sz="1600" dirty="0" err="1"/>
              <a:t>dist</a:t>
            </a:r>
            <a:r>
              <a:rPr lang="en-US" sz="1600" dirty="0"/>
              <a:t>(</a:t>
            </a:r>
            <a:r>
              <a:rPr lang="en-US" sz="1600" dirty="0" err="1"/>
              <a:t>f,g</a:t>
            </a:r>
            <a:r>
              <a:rPr lang="en-US" sz="1600" dirty="0"/>
              <a:t>)=1 if labels different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9A6CF2-F6FD-CAEC-1254-15D6F9E40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47" y="3728141"/>
            <a:ext cx="8642405" cy="27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93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66AA-3DAC-9E05-EDBC-488BC4F9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FBD486-EF6A-C451-3E1B-49D265C8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26" y="24054"/>
            <a:ext cx="6082747" cy="1496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EB511-AD28-13FE-B7B7-530706CEEA9D}"/>
              </a:ext>
            </a:extLst>
          </p:cNvPr>
          <p:cNvSpPr txBox="1"/>
          <p:nvPr/>
        </p:nvSpPr>
        <p:spPr>
          <a:xfrm>
            <a:off x="7566991" y="841793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10B62-52B7-9B7D-14A2-CB9DFFE2423A}"/>
              </a:ext>
            </a:extLst>
          </p:cNvPr>
          <p:cNvSpPr txBox="1"/>
          <p:nvPr/>
        </p:nvSpPr>
        <p:spPr>
          <a:xfrm>
            <a:off x="738809" y="1660233"/>
            <a:ext cx="735495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 enough to an initial </a:t>
            </a:r>
            <a:r>
              <a:rPr lang="en-US" sz="1800" dirty="0"/>
              <a:t>𝜃, for a large enough network, weight changes produce an approximately linear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task vectors that stay in the linear regime </a:t>
            </a:r>
            <a:r>
              <a:rPr lang="en-US" dirty="0"/>
              <a:t>should combine linearly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fine-tuning can take </a:t>
            </a:r>
            <a:r>
              <a:rPr lang="en-US" sz="1800" dirty="0"/>
              <a:t>𝜏</a:t>
            </a:r>
            <a:r>
              <a:rPr lang="en-US" dirty="0"/>
              <a:t> outside the linear regime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it’s possible to measure if this happened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7D66E-8AA7-8B17-8B11-73DFEBC8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37" y="4804256"/>
            <a:ext cx="6997700" cy="533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7ABB16-DC53-72AD-AAFD-98B815764A7D}"/>
              </a:ext>
            </a:extLst>
          </p:cNvPr>
          <p:cNvSpPr txBox="1"/>
          <p:nvPr/>
        </p:nvSpPr>
        <p:spPr>
          <a:xfrm>
            <a:off x="738808" y="3798057"/>
            <a:ext cx="766638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also possible to fine-tune inside the linear area by using a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make task arithmetic a little better for larger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6DE01-CF6C-8072-DC6A-E3C9AF237ADF}"/>
              </a:ext>
            </a:extLst>
          </p:cNvPr>
          <p:cNvSpPr txBox="1"/>
          <p:nvPr/>
        </p:nvSpPr>
        <p:spPr>
          <a:xfrm>
            <a:off x="114300" y="357188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Aside</a:t>
            </a:r>
          </a:p>
        </p:txBody>
      </p:sp>
      <p:pic>
        <p:nvPicPr>
          <p:cNvPr id="3" name="Picture 2" descr="A graph on a paper&#10;&#10;AI-generated content may be incorrect.">
            <a:extLst>
              <a:ext uri="{FF2B5EF4-FFF2-40B4-BE49-F238E27FC236}">
                <a16:creationId xmlns:a16="http://schemas.microsoft.com/office/drawing/2014/main" id="{E4740B5F-E90F-1D30-1CBB-EF958C7E74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11" t="939" b="16094"/>
          <a:stretch/>
        </p:blipFill>
        <p:spPr>
          <a:xfrm>
            <a:off x="4261798" y="3451588"/>
            <a:ext cx="4407678" cy="30865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9460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62431-7ACA-75AD-E2B4-BC8011B4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0644"/>
            <a:ext cx="7772400" cy="2910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5F5EB-3882-750E-9AD8-1967259BF210}"/>
              </a:ext>
            </a:extLst>
          </p:cNvPr>
          <p:cNvSpPr txBox="1"/>
          <p:nvPr/>
        </p:nvSpPr>
        <p:spPr>
          <a:xfrm>
            <a:off x="6930887" y="106017"/>
            <a:ext cx="155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3D9E9-814F-90B4-5321-3B66A5CAD9F9}"/>
              </a:ext>
            </a:extLst>
          </p:cNvPr>
          <p:cNvSpPr txBox="1"/>
          <p:nvPr/>
        </p:nvSpPr>
        <p:spPr>
          <a:xfrm>
            <a:off x="781879" y="3515140"/>
            <a:ext cx="55394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Focus on merging models for different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8FA7C-EA91-B5F7-8082-80C0CF930143}"/>
              </a:ext>
            </a:extLst>
          </p:cNvPr>
          <p:cNvSpPr txBox="1"/>
          <p:nvPr/>
        </p:nvSpPr>
        <p:spPr>
          <a:xfrm>
            <a:off x="781879" y="3974129"/>
            <a:ext cx="553940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  Can you improve on task arithmetic?</a:t>
            </a:r>
          </a:p>
        </p:txBody>
      </p:sp>
    </p:spTree>
    <p:extLst>
      <p:ext uri="{BB962C8B-B14F-4D97-AF65-F5344CB8AC3E}">
        <p14:creationId xmlns:p14="http://schemas.microsoft.com/office/powerpoint/2010/main" val="346197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4C8E7-035D-F60E-392E-08C792271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38"/>
          <a:stretch/>
        </p:blipFill>
        <p:spPr>
          <a:xfrm>
            <a:off x="593035" y="104446"/>
            <a:ext cx="7772400" cy="2850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C7941-C8B6-2FC8-FD2C-F477B294CAC6}"/>
              </a:ext>
            </a:extLst>
          </p:cNvPr>
          <p:cNvSpPr txBox="1"/>
          <p:nvPr/>
        </p:nvSpPr>
        <p:spPr>
          <a:xfrm>
            <a:off x="712304" y="2982362"/>
            <a:ext cx="55394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B62C-4C1A-5F76-7D17-EDD6068FCA45}"/>
              </a:ext>
            </a:extLst>
          </p:cNvPr>
          <p:cNvSpPr txBox="1"/>
          <p:nvPr/>
        </p:nvSpPr>
        <p:spPr>
          <a:xfrm>
            <a:off x="725556" y="3718100"/>
            <a:ext cx="677517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only keep the top k% of each task vector’s weights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50441-7B93-8ED6-0D75-CE072A2BB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173" y="4391558"/>
            <a:ext cx="5003800" cy="194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614EC2-5400-AB82-F96E-B10583CA4BBD}"/>
              </a:ext>
            </a:extLst>
          </p:cNvPr>
          <p:cNvSpPr txBox="1"/>
          <p:nvPr/>
        </p:nvSpPr>
        <p:spPr>
          <a:xfrm>
            <a:off x="2158447" y="6334658"/>
            <a:ext cx="4641575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average acc on 11 task vectors</a:t>
            </a:r>
          </a:p>
        </p:txBody>
      </p:sp>
    </p:spTree>
    <p:extLst>
      <p:ext uri="{BB962C8B-B14F-4D97-AF65-F5344CB8AC3E}">
        <p14:creationId xmlns:p14="http://schemas.microsoft.com/office/powerpoint/2010/main" val="33147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FEA8-5EEF-A2E6-224C-7ECD1813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6E077-847E-255A-56ED-BDEC58B3B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38"/>
          <a:stretch/>
        </p:blipFill>
        <p:spPr>
          <a:xfrm>
            <a:off x="593035" y="104446"/>
            <a:ext cx="7772400" cy="2850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080DD9-4BA0-87CF-5C36-1BFD5C3D7A0C}"/>
              </a:ext>
            </a:extLst>
          </p:cNvPr>
          <p:cNvSpPr txBox="1"/>
          <p:nvPr/>
        </p:nvSpPr>
        <p:spPr>
          <a:xfrm>
            <a:off x="712304" y="2982362"/>
            <a:ext cx="55394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B90EC-0B77-BAA8-C7D4-96269172794B}"/>
                  </a:ext>
                </a:extLst>
              </p:cNvPr>
              <p:cNvSpPr txBox="1"/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only keep the top k% of each task vector’s weights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avoid </a:t>
                </a:r>
                <a:r>
                  <a:rPr lang="en-US" b="1" dirty="0"/>
                  <a:t>sign conflicts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)                           # ‘dominant’ sign 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# same sign as </a:t>
                </a:r>
                <a:r>
                  <a:rPr lang="en-US" b="1" dirty="0"/>
                  <a:t>y </a:t>
                </a:r>
                <a:r>
                  <a:rPr lang="en-US" dirty="0"/>
                  <a:t>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𝜏*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                         # avg of same-sign vectors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B90EC-0B77-BAA8-C7D4-9626917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34AFA07-CE1D-1CA8-5BDF-59B2C91006B8}"/>
              </a:ext>
            </a:extLst>
          </p:cNvPr>
          <p:cNvSpPr txBox="1"/>
          <p:nvPr/>
        </p:nvSpPr>
        <p:spPr>
          <a:xfrm>
            <a:off x="738808" y="5612919"/>
            <a:ext cx="480060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TIES-Merge – </a:t>
            </a:r>
            <a:r>
              <a:rPr lang="en-US" dirty="0" err="1"/>
              <a:t>TrIm</a:t>
            </a:r>
            <a:r>
              <a:rPr lang="en-US" dirty="0"/>
              <a:t>, Elect Sign, and Merge</a:t>
            </a:r>
          </a:p>
        </p:txBody>
      </p:sp>
    </p:spTree>
    <p:extLst>
      <p:ext uri="{BB962C8B-B14F-4D97-AF65-F5344CB8AC3E}">
        <p14:creationId xmlns:p14="http://schemas.microsoft.com/office/powerpoint/2010/main" val="275734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FEA3-EF18-2A54-1DA3-8E6891E1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9C794-28EC-F2E1-E2D5-4703068AF688}"/>
                  </a:ext>
                </a:extLst>
              </p:cNvPr>
              <p:cNvSpPr txBox="1"/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only keep the top k% of each task vector’s weights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avoid </a:t>
                </a:r>
                <a:r>
                  <a:rPr lang="en-US" b="1" dirty="0"/>
                  <a:t>sign conflicts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)                           # ‘dominant’ sign 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# same sign as </a:t>
                </a:r>
                <a:r>
                  <a:rPr lang="en-US" b="1" dirty="0"/>
                  <a:t>y </a:t>
                </a:r>
                <a:r>
                  <a:rPr lang="en-US" dirty="0"/>
                  <a:t>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𝜏*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                         # avg of same-sign vectors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9C794-28EC-F2E1-E2D5-4703068AF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6DC7487-21E7-F2F4-2A42-DF4A1A6493A0}"/>
              </a:ext>
            </a:extLst>
          </p:cNvPr>
          <p:cNvSpPr txBox="1"/>
          <p:nvPr/>
        </p:nvSpPr>
        <p:spPr>
          <a:xfrm>
            <a:off x="738808" y="5612919"/>
            <a:ext cx="480060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TIES-Merge – </a:t>
            </a:r>
            <a:r>
              <a:rPr lang="en-US" dirty="0" err="1"/>
              <a:t>TrIm</a:t>
            </a:r>
            <a:r>
              <a:rPr lang="en-US" dirty="0"/>
              <a:t>, Elect Sign, and Merge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ECE86-D356-7AAC-4C8E-20E1E085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2" y="137292"/>
            <a:ext cx="8401616" cy="2897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3F3B4E-DBBE-C46B-1275-621A7F5DD0E3}"/>
              </a:ext>
            </a:extLst>
          </p:cNvPr>
          <p:cNvSpPr txBox="1"/>
          <p:nvPr/>
        </p:nvSpPr>
        <p:spPr>
          <a:xfrm>
            <a:off x="1338470" y="3059668"/>
            <a:ext cx="670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 NLP / 8 vision datasets;   k=20% and </a:t>
            </a:r>
            <a:r>
              <a:rPr lang="en-US" dirty="0" err="1"/>
              <a:t>λ</a:t>
            </a:r>
            <a:r>
              <a:rPr lang="en-US" dirty="0"/>
              <a:t>=1 w/o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1631022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A709-DCC2-6052-EFEC-B9A4D12D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8BC28-7632-D0F2-7B42-80380C41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505" y="350354"/>
            <a:ext cx="49784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79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4782-C7ED-5653-D94C-67812290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FDFDF9-4AE7-945E-9844-F75328A27EAC}"/>
              </a:ext>
            </a:extLst>
          </p:cNvPr>
          <p:cNvSpPr txBox="1"/>
          <p:nvPr/>
        </p:nvSpPr>
        <p:spPr>
          <a:xfrm>
            <a:off x="1338470" y="3059668"/>
            <a:ext cx="670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accuracy / FT accuracy merging multiple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1A3C5-4E92-813F-87A4-FE91BF881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15" y="164068"/>
            <a:ext cx="5422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8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32AF89-E6DF-8589-C53E-901F8CE22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14466"/>
            <a:ext cx="7772400" cy="30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85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CC54D5-2019-DDDA-33F7-551F09BF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LoraHub</a:t>
            </a:r>
            <a:r>
              <a:rPr lang="en-US" dirty="0"/>
              <a:t>: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61664-EC46-EFEC-BE17-EA1A881E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5484"/>
            <a:ext cx="8648700" cy="309652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20 randomly selected tasks from FLAN training set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LoRA</a:t>
            </a:r>
            <a:r>
              <a:rPr lang="en-US" dirty="0"/>
              <a:t> matrices for task </a:t>
            </a:r>
            <a:r>
              <a:rPr lang="en-US" i="1" dirty="0"/>
              <a:t>t </a:t>
            </a:r>
            <a:r>
              <a:rPr lang="en-US" dirty="0"/>
              <a:t>are A</a:t>
            </a:r>
            <a:r>
              <a:rPr lang="en-US" baseline="-25000" dirty="0"/>
              <a:t>t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baseline="-25000" dirty="0" err="1"/>
              <a:t>t</a:t>
            </a:r>
            <a:endParaRPr lang="en-US" dirty="0"/>
          </a:p>
          <a:p>
            <a:pPr lvl="1"/>
            <a:r>
              <a:rPr lang="en-US" dirty="0"/>
              <a:t>Combine: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Optimize weights </a:t>
            </a:r>
            <a:r>
              <a:rPr lang="en-US" b="1" i="1" dirty="0"/>
              <a:t>w </a:t>
            </a:r>
            <a:r>
              <a:rPr lang="en-US" dirty="0"/>
              <a:t>with L1-regularized </a:t>
            </a:r>
            <a:r>
              <a:rPr lang="en-US" dirty="0" err="1"/>
              <a:t>ppx</a:t>
            </a:r>
            <a:r>
              <a:rPr lang="en-US" dirty="0"/>
              <a:t> loss on 5-shot training data using black-box optimization (like Vizier)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E4F6D-0CE2-275D-2C1E-3C577D1A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44" y="2626415"/>
            <a:ext cx="74676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7EB0AA-3199-9854-8C02-7B4A097F7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57" r="2256"/>
          <a:stretch/>
        </p:blipFill>
        <p:spPr>
          <a:xfrm>
            <a:off x="417996" y="4242008"/>
            <a:ext cx="3716682" cy="2120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4D0659-5021-3F50-4135-7DF505A2B632}"/>
              </a:ext>
            </a:extLst>
          </p:cNvPr>
          <p:cNvSpPr txBox="1"/>
          <p:nvPr/>
        </p:nvSpPr>
        <p:spPr>
          <a:xfrm>
            <a:off x="4603750" y="4280452"/>
            <a:ext cx="3824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</a:t>
            </a:r>
            <a:r>
              <a:rPr lang="en-US" dirty="0" err="1"/>
              <a:t>LoRA</a:t>
            </a:r>
            <a:r>
              <a:rPr lang="en-US" dirty="0"/>
              <a:t> tasks with lowest avg  loss on the BBH examples: </a:t>
            </a:r>
            <a:r>
              <a:rPr lang="en-US" b="1" dirty="0"/>
              <a:t>35.4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FLAN-T5-XL: </a:t>
            </a:r>
            <a:r>
              <a:rPr lang="en-US" b="1" dirty="0"/>
              <a:t>36.5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220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C2F4E-68B2-49DF-E886-0D07CC35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8842"/>
            <a:ext cx="7772400" cy="1587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D28E26-25E2-7C52-9368-B47C5880A326}"/>
              </a:ext>
            </a:extLst>
          </p:cNvPr>
          <p:cNvSpPr txBox="1"/>
          <p:nvPr/>
        </p:nvSpPr>
        <p:spPr>
          <a:xfrm>
            <a:off x="6970643" y="106017"/>
            <a:ext cx="116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F2185-C17E-9125-6A9C-88CC8EFA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51847"/>
            <a:ext cx="7772400" cy="2154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3834FD-6266-2F09-B0F7-F5D3575DEF82}"/>
              </a:ext>
            </a:extLst>
          </p:cNvPr>
          <p:cNvSpPr txBox="1"/>
          <p:nvPr/>
        </p:nvSpPr>
        <p:spPr>
          <a:xfrm>
            <a:off x="1139686" y="4755556"/>
            <a:ext cx="712966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Post-Hoc Adaptive </a:t>
            </a:r>
            <a:r>
              <a:rPr lang="en-US" dirty="0" err="1"/>
              <a:t>Tokenwise</a:t>
            </a:r>
            <a:r>
              <a:rPr lang="en-US" dirty="0"/>
              <a:t> Gating Over and Ocean of Specialized Adapters (PHATGOOSE)</a:t>
            </a:r>
          </a:p>
        </p:txBody>
      </p:sp>
    </p:spTree>
    <p:extLst>
      <p:ext uri="{BB962C8B-B14F-4D97-AF65-F5344CB8AC3E}">
        <p14:creationId xmlns:p14="http://schemas.microsoft.com/office/powerpoint/2010/main" val="34931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67B3-5161-AC80-6FDE-5751CEE7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AD0924-FBE8-7711-60E6-3E8156E4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34873"/>
            <a:ext cx="7772400" cy="21543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9ED75-957F-A4E6-ACD3-E496523F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PHATGOOSE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55381-2328-B5FE-6596-5C82162A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1"/>
            <a:ext cx="8440530" cy="246656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166 tasks from FLAN training set</a:t>
            </a:r>
          </a:p>
          <a:p>
            <a:r>
              <a:rPr lang="en-US" dirty="0"/>
              <a:t>Train a sigmoid gate for each </a:t>
            </a:r>
            <a:r>
              <a:rPr lang="en-US" dirty="0" err="1"/>
              <a:t>LoRA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on the same data for 100 steps</a:t>
            </a:r>
          </a:p>
          <a:p>
            <a:r>
              <a:rPr lang="en-US" dirty="0"/>
              <a:t>At inference time, route tokens to to the top 3 </a:t>
            </a:r>
            <a:r>
              <a:rPr lang="en-US" dirty="0" err="1"/>
              <a:t>LoRA</a:t>
            </a:r>
            <a:r>
              <a:rPr lang="en-US" dirty="0"/>
              <a:t> modules (</a:t>
            </a:r>
            <a:r>
              <a:rPr lang="en-US" dirty="0" err="1"/>
              <a:t>softmax</a:t>
            </a:r>
            <a:r>
              <a:rPr lang="en-US" dirty="0"/>
              <a:t>-weighted)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607A61-796C-0CE7-278A-BE1EE388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011" y="1969661"/>
            <a:ext cx="3211089" cy="49524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527291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5950-C006-2210-A324-8168B4B9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5FA4-5DBF-91B2-53D6-5FC644B6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PHATGOOSE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0EA1-0CA4-F85B-0378-8A559B0D5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1"/>
            <a:ext cx="8400773" cy="189671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</a:t>
            </a:r>
          </a:p>
          <a:p>
            <a:pPr lvl="1"/>
            <a:r>
              <a:rPr lang="en-US" dirty="0"/>
              <a:t>166 tasks from FLAN training set</a:t>
            </a:r>
          </a:p>
          <a:p>
            <a:pPr lvl="1"/>
            <a:r>
              <a:rPr lang="en-US" dirty="0"/>
              <a:t>The training tasks from T0</a:t>
            </a:r>
          </a:p>
          <a:p>
            <a:r>
              <a:rPr lang="en-US" dirty="0"/>
              <a:t>Evaluate zero-shot on novel tasks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A85B9-5C44-E7B4-3CDC-03269522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5" y="3429000"/>
            <a:ext cx="4770782" cy="24623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2B6DE8-2201-1837-0558-9A417AEDF418}"/>
              </a:ext>
            </a:extLst>
          </p:cNvPr>
          <p:cNvSpPr/>
          <p:nvPr/>
        </p:nvSpPr>
        <p:spPr>
          <a:xfrm>
            <a:off x="3235830" y="3834936"/>
            <a:ext cx="481970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E3CFA-321C-0835-2406-0A7FA9CD27A3}"/>
              </a:ext>
            </a:extLst>
          </p:cNvPr>
          <p:cNvSpPr/>
          <p:nvPr/>
        </p:nvSpPr>
        <p:spPr>
          <a:xfrm>
            <a:off x="4333650" y="3824225"/>
            <a:ext cx="481970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7F245-C932-8ACF-7008-F4EF2CC10E1F}"/>
              </a:ext>
            </a:extLst>
          </p:cNvPr>
          <p:cNvSpPr/>
          <p:nvPr/>
        </p:nvSpPr>
        <p:spPr>
          <a:xfrm>
            <a:off x="1989627" y="3809498"/>
            <a:ext cx="630352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7B5AB9-C43A-0D83-DAAA-2EE9531A0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"/>
          <a:stretch/>
        </p:blipFill>
        <p:spPr>
          <a:xfrm>
            <a:off x="5168347" y="3455700"/>
            <a:ext cx="3975653" cy="26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0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6AF7-27F1-05CE-B873-A892B524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F83B-D3E3-D696-45BB-1C42092C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3BE7-C47A-C457-2710-14EDB1201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chemeClr val="bg1">
                    <a:lumMod val="50000"/>
                  </a:schemeClr>
                </a:solidFill>
              </a:rPr>
              <a:t>Branch-train-merge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r>
              <a:rPr lang="en-US" sz="2600" dirty="0">
                <a:solidFill>
                  <a:srgbClr val="0070C0"/>
                </a:solidFill>
              </a:rPr>
              <a:t>Scaling up </a:t>
            </a:r>
            <a:r>
              <a:rPr lang="en-US" sz="2600" dirty="0" err="1">
                <a:solidFill>
                  <a:srgbClr val="0070C0"/>
                </a:solidFill>
              </a:rPr>
              <a:t>GenAI</a:t>
            </a:r>
            <a:r>
              <a:rPr lang="en-US" sz="2600" dirty="0">
                <a:solidFill>
                  <a:srgbClr val="0070C0"/>
                </a:solidFill>
              </a:rPr>
              <a:t> evals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85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9F00-C12B-FCAD-13A6-0B0EBC20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GenAI</a:t>
            </a:r>
            <a:r>
              <a:rPr lang="en-US" dirty="0"/>
              <a:t> has changed how we evaluate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C9F4-5827-473C-BD2B-6C554ED0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35975" cy="19145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Pre-</a:t>
            </a:r>
            <a:r>
              <a:rPr lang="en-US" dirty="0" err="1"/>
              <a:t>GenAI</a:t>
            </a:r>
            <a:endParaRPr lang="en-US" dirty="0"/>
          </a:p>
          <a:p>
            <a:pPr lvl="1"/>
            <a:r>
              <a:rPr lang="en-US" dirty="0"/>
              <a:t>ML systems were used for classification, regression, extraction from documents, …</a:t>
            </a:r>
          </a:p>
          <a:p>
            <a:pPr lvl="1"/>
            <a:r>
              <a:rPr lang="en-US" dirty="0"/>
              <a:t>the quality of an output (and a model) was easy to evaluate </a:t>
            </a:r>
            <a:r>
              <a:rPr lang="en-US" b="1" dirty="0"/>
              <a:t>automatically</a:t>
            </a:r>
          </a:p>
          <a:p>
            <a:pPr lvl="1"/>
            <a:endParaRPr lang="en-US" dirty="0"/>
          </a:p>
        </p:txBody>
      </p:sp>
      <p:graphicFrame>
        <p:nvGraphicFramePr>
          <p:cNvPr id="11" name="Table 1">
            <a:extLst>
              <a:ext uri="{FF2B5EF4-FFF2-40B4-BE49-F238E27FC236}">
                <a16:creationId xmlns:a16="http://schemas.microsoft.com/office/drawing/2014/main" id="{7311893D-943A-7924-8884-4FE2D4F0B175}"/>
              </a:ext>
            </a:extLst>
          </p:cNvPr>
          <p:cNvGraphicFramePr/>
          <p:nvPr/>
        </p:nvGraphicFramePr>
        <p:xfrm>
          <a:off x="681840" y="4490411"/>
          <a:ext cx="7631094" cy="1444966"/>
        </p:xfrm>
        <a:graphic>
          <a:graphicData uri="http://schemas.openxmlformats.org/drawingml/2006/table">
            <a:tbl>
              <a:tblPr firstRow="1" bandRow="1"/>
              <a:tblGrid>
                <a:gridCol w="110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x</a:t>
                      </a:r>
                    </a:p>
                  </a:txBody>
                  <a:tcPr marL="0" marR="0" marT="0" marB="0" horzOverflow="overflow">
                    <a:lnL w="0">
                      <a:miter lim="400000"/>
                    </a:lnL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y</a:t>
                      </a: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f(x)</a:t>
                      </a:r>
                    </a:p>
                  </a:txBody>
                  <a:tcPr marL="0" marR="0" marT="0" marB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Square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Absolute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2489BF">
                        <a:alpha val="49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24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$300,500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250,000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500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$400,000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1E+10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100,000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">
            <a:extLst>
              <a:ext uri="{FF2B5EF4-FFF2-40B4-BE49-F238E27FC236}">
                <a16:creationId xmlns:a16="http://schemas.microsoft.com/office/drawing/2014/main" id="{7224E77E-FC19-45ED-6291-C19C7750C761}"/>
              </a:ext>
            </a:extLst>
          </p:cNvPr>
          <p:cNvGrpSpPr/>
          <p:nvPr/>
        </p:nvGrpSpPr>
        <p:grpSpPr>
          <a:xfrm>
            <a:off x="656590" y="3429000"/>
            <a:ext cx="7641196" cy="935142"/>
            <a:chOff x="0" y="0"/>
            <a:chExt cx="20376521" cy="2493711"/>
          </a:xfrm>
        </p:grpSpPr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96C8C17F-2CB7-AD65-6D37-1E0D4E4815CC}"/>
                </a:ext>
              </a:extLst>
            </p:cNvPr>
            <p:cNvSpPr/>
            <p:nvPr/>
          </p:nvSpPr>
          <p:spPr>
            <a:xfrm>
              <a:off x="0" y="1049515"/>
              <a:ext cx="20376521" cy="144419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875142BE-F03B-BFCE-84F5-8E30C838619C}"/>
                </a:ext>
              </a:extLst>
            </p:cNvPr>
            <p:cNvSpPr/>
            <p:nvPr/>
          </p:nvSpPr>
          <p:spPr>
            <a:xfrm>
              <a:off x="0" y="0"/>
              <a:ext cx="20376521" cy="1033211"/>
            </a:xfrm>
            <a:prstGeom prst="rect">
              <a:avLst/>
            </a:prstGeom>
            <a:solidFill>
              <a:srgbClr val="01B6BA">
                <a:alpha val="50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15" name="Square Loss">
              <a:extLst>
                <a:ext uri="{FF2B5EF4-FFF2-40B4-BE49-F238E27FC236}">
                  <a16:creationId xmlns:a16="http://schemas.microsoft.com/office/drawing/2014/main" id="{C9A82E63-1600-FDF7-9ECF-04ECF7B76689}"/>
                </a:ext>
              </a:extLst>
            </p:cNvPr>
            <p:cNvSpPr txBox="1"/>
            <p:nvPr/>
          </p:nvSpPr>
          <p:spPr>
            <a:xfrm>
              <a:off x="67334" y="3625"/>
              <a:ext cx="19632376" cy="995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>
                <a:defRPr sz="5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 dirty="0"/>
                <a:t>Square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Equation">
                  <a:extLst>
                    <a:ext uri="{FF2B5EF4-FFF2-40B4-BE49-F238E27FC236}">
                      <a16:creationId xmlns:a16="http://schemas.microsoft.com/office/drawing/2014/main" id="{68504639-835B-24FC-9CE5-B96D85D717C7}"/>
                    </a:ext>
                  </a:extLst>
                </p:cNvPr>
                <p:cNvSpPr txBox="1"/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3429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sz="2888" dirty="0"/>
                </a:p>
              </p:txBody>
            </p:sp>
          </mc:Choice>
          <mc:Fallback xmlns="">
            <p:sp>
              <p:nvSpPr>
                <p:cNvPr id="7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blipFill>
                  <a:blip r:embed="rId4"/>
                  <a:stretch>
                    <a:fillRect l="-1254" b="-3611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20599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7DFA-4C55-2DAC-5696-BB83D2E9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7FB5-1E19-F6D3-E874-A21499F0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GenAI</a:t>
            </a:r>
            <a:r>
              <a:rPr lang="en-US" dirty="0"/>
              <a:t> has changed how we evaluate 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AF902-88E5-FE32-7DCA-52310E03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8" y="2195435"/>
            <a:ext cx="4586094" cy="4575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43970-28F4-C1F9-21D1-0E6D4A556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046666"/>
            <a:ext cx="5390957" cy="1148769"/>
          </a:xfrm>
          <a:prstGeom prst="rect">
            <a:avLst/>
          </a:prstGeom>
        </p:spPr>
      </p:pic>
      <p:sp>
        <p:nvSpPr>
          <p:cNvPr id="8" name="Bent-Up Arrow 7">
            <a:extLst>
              <a:ext uri="{FF2B5EF4-FFF2-40B4-BE49-F238E27FC236}">
                <a16:creationId xmlns:a16="http://schemas.microsoft.com/office/drawing/2014/main" id="{0D831AB0-35C9-A0E3-B9FA-54E3AF9E9DFE}"/>
              </a:ext>
            </a:extLst>
          </p:cNvPr>
          <p:cNvSpPr/>
          <p:nvPr/>
        </p:nvSpPr>
        <p:spPr>
          <a:xfrm rot="5400000">
            <a:off x="1802063" y="2107871"/>
            <a:ext cx="1925135" cy="210026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88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AA86-60B9-B540-7056-4B39DFE3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8ED3-CC8E-4149-17A9-AFE907A4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GenAI</a:t>
            </a:r>
            <a:r>
              <a:rPr lang="en-US" dirty="0"/>
              <a:t> has changed how we evaluate 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1A9AC-FDD9-E666-ECEF-E51B64B2D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096962"/>
            <a:ext cx="8462972" cy="546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67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F01A-367D-C93A-D385-BBC8C1E7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6611-00B1-C9D4-714C-634BA03E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GenAI</a:t>
            </a:r>
            <a:r>
              <a:rPr lang="en-US" dirty="0"/>
              <a:t> has changed how we evaluate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33123-810E-27F2-F033-0E7D2C3DA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648700" cy="50149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Pre-</a:t>
            </a:r>
            <a:r>
              <a:rPr lang="en-US" dirty="0" err="1"/>
              <a:t>GenAI</a:t>
            </a:r>
            <a:endParaRPr lang="en-US" dirty="0"/>
          </a:p>
          <a:p>
            <a:pPr lvl="1"/>
            <a:r>
              <a:rPr lang="en-US" dirty="0"/>
              <a:t>ML systems were used for classification, regression, extraction from documents, …</a:t>
            </a:r>
          </a:p>
          <a:p>
            <a:pPr lvl="1"/>
            <a:r>
              <a:rPr lang="en-US" dirty="0"/>
              <a:t>the quality of an output (and a model) was easy to evaluate </a:t>
            </a:r>
            <a:r>
              <a:rPr lang="en-US" b="1" dirty="0"/>
              <a:t>automatically</a:t>
            </a:r>
          </a:p>
          <a:p>
            <a:r>
              <a:rPr lang="en-US" dirty="0" err="1"/>
              <a:t>GenAI</a:t>
            </a:r>
            <a:endParaRPr lang="en-US" dirty="0"/>
          </a:p>
          <a:p>
            <a:pPr lvl="1"/>
            <a:r>
              <a:rPr lang="en-US" dirty="0"/>
              <a:t>system outputs often require care and effort to evaluate</a:t>
            </a:r>
          </a:p>
          <a:p>
            <a:pPr lvl="2"/>
            <a:r>
              <a:rPr lang="en-US" dirty="0"/>
              <a:t>good manual labels are expensive!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how can we scale up the </a:t>
            </a:r>
            <a:r>
              <a:rPr lang="en-US" b="1" u="sng" dirty="0">
                <a:solidFill>
                  <a:srgbClr val="0070C0"/>
                </a:solidFill>
              </a:rPr>
              <a:t>evaluation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of models?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08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65EB-68BA-DE2F-7F20-1119DB56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Evaluation: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6A5B1-82CF-65DC-CEA7-D590A0F4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7864475" cy="8048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sz="2300" dirty="0"/>
              <a:t> </a:t>
            </a:r>
            <a:r>
              <a:rPr lang="en-US" sz="2300" dirty="0">
                <a:hlinkClick r:id="rId3"/>
              </a:rPr>
              <a:t>https://github.com/llm-as-a-judge/Awesome-LLM-as-a-judge</a:t>
            </a:r>
            <a:r>
              <a:rPr lang="en-US" sz="23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C79F6-88FD-5C60-CA21-8923344E3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3" y="2109787"/>
            <a:ext cx="4614076" cy="4659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A89F5-B21A-A22C-3B15-F9502AB3F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2057346"/>
            <a:ext cx="2776537" cy="480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4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6F17-059D-295D-B254-28E72653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AFBA-4241-F323-3721-33EE7BD4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Evaluation: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1EBB-0845-E578-C4DF-4DB77B7A6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70008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2F5CE61-DC7A-7CAC-86AD-8DD6646BE424}"/>
              </a:ext>
            </a:extLst>
          </p:cNvPr>
          <p:cNvGrpSpPr/>
          <p:nvPr/>
        </p:nvGrpSpPr>
        <p:grpSpPr>
          <a:xfrm>
            <a:off x="482600" y="2009533"/>
            <a:ext cx="6529388" cy="2306758"/>
            <a:chOff x="457200" y="2529856"/>
            <a:chExt cx="6529388" cy="23067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031A08-3758-423E-DEF1-F7740839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320"/>
            <a:stretch/>
          </p:blipFill>
          <p:spPr>
            <a:xfrm>
              <a:off x="457200" y="2529856"/>
              <a:ext cx="6529388" cy="230675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CD7D33-69D3-AEFE-970E-C994660C07BB}"/>
                </a:ext>
              </a:extLst>
            </p:cNvPr>
            <p:cNvSpPr txBox="1"/>
            <p:nvPr/>
          </p:nvSpPr>
          <p:spPr>
            <a:xfrm>
              <a:off x="4857750" y="3244334"/>
              <a:ext cx="1743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NeurIPS</a:t>
              </a:r>
              <a:r>
                <a:rPr lang="en-US" dirty="0"/>
                <a:t> 2024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3084A8E-5359-0C00-8798-DCC5A7D96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62" y="4447322"/>
            <a:ext cx="7772400" cy="2306758"/>
          </a:xfrm>
          <a:prstGeom prst="rect">
            <a:avLst/>
          </a:prstGeom>
        </p:spPr>
      </p:pic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99808BC6-AE52-5D2F-46D8-19F0ED94BAC9}"/>
              </a:ext>
            </a:extLst>
          </p:cNvPr>
          <p:cNvSpPr/>
          <p:nvPr/>
        </p:nvSpPr>
        <p:spPr>
          <a:xfrm>
            <a:off x="5333207" y="250319"/>
            <a:ext cx="3743325" cy="2457450"/>
          </a:xfrm>
          <a:prstGeom prst="wedgeRoundRectCallout">
            <a:avLst>
              <a:gd name="adj1" fmla="val -74330"/>
              <a:gd name="adj2" fmla="val 19494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“We provide the first empirical evidence of LLM judges exhibiting significant bias towards LLM-based rankers. Furthermore, we observe limitations in LLM judges’ ability to discern subtle system performance differences… “ - Balog et al</a:t>
            </a:r>
          </a:p>
        </p:txBody>
      </p:sp>
    </p:spTree>
    <p:extLst>
      <p:ext uri="{BB962C8B-B14F-4D97-AF65-F5344CB8AC3E}">
        <p14:creationId xmlns:p14="http://schemas.microsoft.com/office/powerpoint/2010/main" val="146355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A233-C4C3-0B17-A2C0-624956D5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C754-9610-A338-755E-2E0D1DD6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Evaluation: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2CD0-B5DA-A90A-5B83-DE81EC6C4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70008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CD4E2-5C6B-A983-A9CB-74086FD1F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79996"/>
            <a:ext cx="7772400" cy="458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6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7C79-21AC-473E-2F46-B0C26F2E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5861-9EB3-F25A-6352-1A6B340D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Evaluation: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4CA1-AFF5-6B33-9B7A-40AA506F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CE817D-8D72-7BDB-23EB-0F10FD270C72}"/>
              </a:ext>
            </a:extLst>
          </p:cNvPr>
          <p:cNvSpPr txBox="1">
            <a:spLocks/>
          </p:cNvSpPr>
          <p:nvPr/>
        </p:nvSpPr>
        <p:spPr>
          <a:xfrm>
            <a:off x="279400" y="2181225"/>
            <a:ext cx="8121650" cy="19690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Arguments for:</a:t>
            </a:r>
          </a:p>
          <a:p>
            <a:r>
              <a:rPr lang="en-US" dirty="0"/>
              <a:t>much more data can be collected faster</a:t>
            </a:r>
          </a:p>
          <a:p>
            <a:r>
              <a:rPr lang="en-US" dirty="0"/>
              <a:t>my project is late / over budget</a:t>
            </a:r>
          </a:p>
          <a:p>
            <a:r>
              <a:rPr lang="en-US" dirty="0"/>
              <a:t>human labels are noisy</a:t>
            </a:r>
          </a:p>
          <a:p>
            <a:r>
              <a:rPr lang="en-US" dirty="0"/>
              <a:t>LLM-as-judge biases seem to be </a:t>
            </a:r>
            <a:r>
              <a:rPr lang="en-US" u="sng" dirty="0"/>
              <a:t>minor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A6AC067-C39E-2D1C-63D4-886F97F9BB47}"/>
              </a:ext>
            </a:extLst>
          </p:cNvPr>
          <p:cNvSpPr/>
          <p:nvPr/>
        </p:nvSpPr>
        <p:spPr>
          <a:xfrm>
            <a:off x="5100639" y="250319"/>
            <a:ext cx="3975894" cy="2457450"/>
          </a:xfrm>
          <a:prstGeom prst="wedgeRoundRectCallout">
            <a:avLst>
              <a:gd name="adj1" fmla="val -35017"/>
              <a:gd name="adj2" fmla="val 9087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“We provide the first empirical evidence of LLM judges exhibiting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significant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bias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(statistically significant? but is it </a:t>
            </a:r>
            <a:r>
              <a:rPr lang="en-US" sz="1600" b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large</a:t>
            </a:r>
            <a:r>
              <a:rPr lang="en-US" sz="1600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?)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towards LLM-based rankers…. we observe limitations in LLM judges’ ability to discern </a:t>
            </a:r>
            <a:r>
              <a:rPr lang="en-US" sz="1600" b="1" dirty="0"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subtle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system performance differences… “ - Balog et 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8BA36F-E28C-333D-9EB6-F5329761309F}"/>
              </a:ext>
            </a:extLst>
          </p:cNvPr>
          <p:cNvSpPr txBox="1">
            <a:spLocks/>
          </p:cNvSpPr>
          <p:nvPr/>
        </p:nvSpPr>
        <p:spPr>
          <a:xfrm>
            <a:off x="279400" y="4271963"/>
            <a:ext cx="8121650" cy="2431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 against:  ML/</a:t>
            </a:r>
            <a:r>
              <a:rPr lang="en-US" dirty="0" err="1"/>
              <a:t>GenAI</a:t>
            </a:r>
            <a:r>
              <a:rPr lang="en-US" dirty="0"/>
              <a:t> systems are </a:t>
            </a:r>
            <a:r>
              <a:rPr lang="en-US" b="1" dirty="0"/>
              <a:t>interconnected</a:t>
            </a:r>
          </a:p>
          <a:p>
            <a:r>
              <a:rPr lang="en-US" dirty="0"/>
              <a:t>We generate data for ML with </a:t>
            </a:r>
            <a:r>
              <a:rPr lang="en-US" dirty="0" err="1"/>
              <a:t>GenAI</a:t>
            </a:r>
            <a:r>
              <a:rPr lang="en-US" dirty="0"/>
              <a:t> (data augmentation)</a:t>
            </a:r>
          </a:p>
          <a:p>
            <a:r>
              <a:rPr lang="en-US" dirty="0"/>
              <a:t>We evaluate ML systems with </a:t>
            </a:r>
            <a:r>
              <a:rPr lang="en-US" dirty="0" err="1"/>
              <a:t>GenAI</a:t>
            </a:r>
            <a:endParaRPr lang="en-US" dirty="0"/>
          </a:p>
          <a:p>
            <a:r>
              <a:rPr lang="en-US" dirty="0"/>
              <a:t>We pre-train ML systems on ML-filtered text</a:t>
            </a:r>
          </a:p>
          <a:p>
            <a:r>
              <a:rPr lang="en-US" dirty="0"/>
              <a:t>We pre-train ML systems on </a:t>
            </a:r>
            <a:r>
              <a:rPr lang="en-US" dirty="0" err="1"/>
              <a:t>GenAI</a:t>
            </a:r>
            <a:r>
              <a:rPr lang="en-US" dirty="0"/>
              <a:t>-produced text</a:t>
            </a:r>
          </a:p>
          <a:p>
            <a:r>
              <a:rPr lang="en-US" dirty="0"/>
              <a:t>Long-term, will subtle biases have subtle effects? or large effects?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0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3EC9-84A2-8470-B76C-16FA0E8F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Information In Networks Is Weird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CE10F-323F-55B2-B7C4-045C36BC89E3}"/>
              </a:ext>
            </a:extLst>
          </p:cNvPr>
          <p:cNvSpPr txBox="1">
            <a:spLocks/>
          </p:cNvSpPr>
          <p:nvPr/>
        </p:nvSpPr>
        <p:spPr>
          <a:xfrm>
            <a:off x="457200" y="1400175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Example: </a:t>
            </a:r>
            <a:r>
              <a:rPr lang="en-US" altLang="en-US" sz="2800" dirty="0">
                <a:ea typeface="ＭＳ Ｐゴシック" panose="020B0600070205080204" pitchFamily="34" charset="-128"/>
              </a:rPr>
              <a:t>Making decisions with data about other people</a:t>
            </a:r>
            <a:r>
              <a:rPr lang="en-US" altLang="en-US" dirty="0">
                <a:ea typeface="ＭＳ Ｐゴシック" panose="020B0600070205080204" pitchFamily="34" charset="-128"/>
              </a:rPr>
              <a:t>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choices as an input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Picking a crowded restaurant in a new city, instead of an empty one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You have little information about the food quality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But all those people can’</a:t>
            </a:r>
            <a:r>
              <a:rPr lang="en-US" altLang="ja-JP" dirty="0">
                <a:ea typeface="ＭＳ Ｐゴシック" panose="020B0600070205080204" pitchFamily="34" charset="-128"/>
              </a:rPr>
              <a:t>t be wrong…?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Picking a popular course instead of a smaller one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1799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3886-A016-AFD9-857C-AD4ABB52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3921-E65D-21A9-1320-9EA537EF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Information In Networks Is Weird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2D60EF-6A96-5EF1-33FC-36F49A17B4F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4582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Simple example </a:t>
            </a:r>
            <a:r>
              <a:rPr lang="en-US" altLang="en-US" sz="2400" dirty="0">
                <a:ea typeface="ＭＳ Ｐゴシック" panose="020B0600070205080204" pitchFamily="34" charset="-128"/>
              </a:rPr>
              <a:t>[Easley &amp; Kleinberg]: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urn with a 50/50 chance of having: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2/3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  <a:r>
              <a:rPr lang="en-US" altLang="en-US" dirty="0">
                <a:ea typeface="ＭＳ Ｐゴシック" panose="020B0600070205080204" pitchFamily="34" charset="-128"/>
              </a:rPr>
              <a:t> balls and 1/3 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green</a:t>
            </a:r>
            <a:r>
              <a:rPr lang="en-US" altLang="en-US" dirty="0">
                <a:ea typeface="ＭＳ Ｐゴシック" panose="020B0600070205080204" pitchFamily="34" charset="-128"/>
              </a:rPr>
              <a:t> balls; or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1/3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  <a:r>
              <a:rPr lang="en-US" altLang="en-US" dirty="0">
                <a:ea typeface="ＭＳ Ｐゴシック" panose="020B0600070205080204" pitchFamily="34" charset="-128"/>
              </a:rPr>
              <a:t> balls and 2/3 </a:t>
            </a:r>
            <a:r>
              <a:rPr lang="en-US" altLang="en-US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green</a:t>
            </a:r>
            <a:r>
              <a:rPr lang="en-US" altLang="en-US" dirty="0">
                <a:ea typeface="ＭＳ Ｐゴシック" panose="020B0600070205080204" pitchFamily="34" charset="-128"/>
              </a:rPr>
              <a:t> balls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experiment: in each trial t=1,2,…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Researcher </a:t>
            </a:r>
            <a:r>
              <a:rPr lang="en-US" altLang="en-US" i="1" dirty="0">
                <a:ea typeface="ＭＳ Ｐゴシック" panose="020B0600070205080204" pitchFamily="34" charset="-128"/>
              </a:rPr>
              <a:t>t</a:t>
            </a:r>
            <a:r>
              <a:rPr lang="en-US" altLang="en-US" dirty="0">
                <a:ea typeface="ＭＳ Ｐゴシック" panose="020B0600070205080204" pitchFamily="34" charset="-128"/>
              </a:rPr>
              <a:t>  will</a:t>
            </a:r>
          </a:p>
          <a:p>
            <a:pPr lvl="3"/>
            <a:r>
              <a:rPr lang="en-US" altLang="en-US" dirty="0">
                <a:ea typeface="ＭＳ Ｐゴシック" panose="020B0600070205080204" pitchFamily="34" charset="-128"/>
              </a:rPr>
              <a:t>sample </a:t>
            </a:r>
            <a:r>
              <a:rPr lang="en-US" altLang="en-US" b="1" dirty="0">
                <a:ea typeface="ＭＳ Ｐゴシック" panose="020B0600070205080204" pitchFamily="34" charset="-128"/>
              </a:rPr>
              <a:t>one</a:t>
            </a:r>
            <a:r>
              <a:rPr lang="en-US" altLang="en-US" dirty="0">
                <a:ea typeface="ＭＳ Ｐゴシック" panose="020B0600070205080204" pitchFamily="34" charset="-128"/>
              </a:rPr>
              <a:t> ball (and then replaces it)</a:t>
            </a:r>
          </a:p>
          <a:p>
            <a:pPr lvl="3"/>
            <a:r>
              <a:rPr lang="en-US" altLang="en-US" dirty="0">
                <a:ea typeface="ＭＳ Ｐゴシック" panose="020B0600070205080204" pitchFamily="34" charset="-128"/>
              </a:rPr>
              <a:t>guess what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the majority class (</a:t>
            </a:r>
            <a:r>
              <a:rPr lang="en-US" altLang="ja-JP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  <a:r>
              <a:rPr lang="en-US" altLang="ja-JP" dirty="0">
                <a:ea typeface="ＭＳ Ｐゴシック" panose="020B0600070205080204" pitchFamily="34" charset="-128"/>
              </a:rPr>
              <a:t> or </a:t>
            </a:r>
            <a:r>
              <a:rPr lang="en-US" altLang="ja-JP" dirty="0">
                <a:solidFill>
                  <a:srgbClr val="00CC00"/>
                </a:solidFill>
                <a:ea typeface="ＭＳ Ｐゴシック" panose="020B0600070205080204" pitchFamily="34" charset="-128"/>
              </a:rPr>
              <a:t>green</a:t>
            </a:r>
            <a:r>
              <a:rPr lang="en-US" altLang="ja-JP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Everyone that guesses right gets a payoff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Nobody can change their guesses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0E0F8-42E5-BB65-98DB-F4D1055B3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686303"/>
            <a:ext cx="10239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/>
              <a:t>private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1E7E3-A7A5-3390-7245-14F5CB69E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5048253"/>
            <a:ext cx="9382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1" dirty="0"/>
              <a:t>public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0E4C9-F7A7-E204-910A-DC9B3E25B85E}"/>
              </a:ext>
            </a:extLst>
          </p:cNvPr>
          <p:cNvSpPr txBox="1"/>
          <p:nvPr/>
        </p:nvSpPr>
        <p:spPr>
          <a:xfrm>
            <a:off x="2900363" y="1181100"/>
            <a:ext cx="560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Networks, Crowds, and Markets, 2010</a:t>
            </a:r>
          </a:p>
        </p:txBody>
      </p:sp>
    </p:spTree>
    <p:extLst>
      <p:ext uri="{BB962C8B-B14F-4D97-AF65-F5344CB8AC3E}">
        <p14:creationId xmlns:p14="http://schemas.microsoft.com/office/powerpoint/2010/main" val="296980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A0D92523-D781-F73A-4E91-D12DFEC5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295002"/>
            <a:ext cx="7491296" cy="697475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dirty="0">
                <a:ea typeface="ＭＳ Ｐゴシック" panose="020B0600070205080204" pitchFamily="34" charset="-128"/>
              </a:rPr>
              <a:t>Making decisions with other people’</a:t>
            </a:r>
            <a:r>
              <a:rPr lang="en-US" altLang="ja-JP" sz="3200" dirty="0">
                <a:ea typeface="ＭＳ Ｐゴシック" panose="020B0600070205080204" pitchFamily="34" charset="-128"/>
              </a:rPr>
              <a:t>s choices as an input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FE6D-E181-2682-303D-B1E84F9D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4664"/>
            <a:ext cx="8547100" cy="231501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Possible outcome: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  <a:r>
              <a:rPr lang="en-US" altLang="en-US" dirty="0">
                <a:ea typeface="ＭＳ Ｐゴシック" panose="020B0600070205080204" pitchFamily="34" charset="-128"/>
              </a:rPr>
              <a:t> ball: the guess is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  <a:r>
              <a:rPr lang="en-US" altLang="en-US" dirty="0">
                <a:ea typeface="ＭＳ Ｐゴシック" panose="020B0600070205080204" pitchFamily="34" charset="-128"/>
              </a:rPr>
              <a:t> ball: the guess is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red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>
                <a:solidFill>
                  <a:srgbClr val="00CC00"/>
                </a:solidFill>
                <a:ea typeface="ＭＳ Ｐゴシック" panose="020B0600070205080204" pitchFamily="34" charset="-128"/>
              </a:rPr>
              <a:t>green</a:t>
            </a:r>
            <a:r>
              <a:rPr lang="en-US" altLang="en-US" dirty="0">
                <a:ea typeface="ＭＳ Ｐゴシック" panose="020B0600070205080204" pitchFamily="34" charset="-128"/>
              </a:rPr>
              <a:t> ball: the guess is ___ ?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A </a:t>
            </a:r>
            <a:r>
              <a:rPr lang="en-US" altLang="en-US" dirty="0">
                <a:solidFill>
                  <a:srgbClr val="00CC00"/>
                </a:solidFill>
                <a:ea typeface="ＭＳ Ｐゴシック" panose="020B0600070205080204" pitchFamily="34" charset="-128"/>
              </a:rPr>
              <a:t>green</a:t>
            </a:r>
            <a:r>
              <a:rPr lang="en-US" altLang="en-US" dirty="0">
                <a:ea typeface="ＭＳ Ｐゴシック" panose="020B0600070205080204" pitchFamily="34" charset="-128"/>
              </a:rPr>
              <a:t> ball: the guess is ___ ?</a:t>
            </a:r>
          </a:p>
          <a:p>
            <a:pPr marL="971550" lvl="1" indent="-514350">
              <a:buFontTx/>
              <a:buAutoNum type="arabicPeriod"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F21C7-B842-E2DC-238B-32C85056CA30}"/>
              </a:ext>
            </a:extLst>
          </p:cNvPr>
          <p:cNvSpPr txBox="1"/>
          <p:nvPr/>
        </p:nvSpPr>
        <p:spPr>
          <a:xfrm>
            <a:off x="535259" y="5903868"/>
            <a:ext cx="824075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Arial" charset="0"/>
                <a:ea typeface="+mn-ea"/>
              </a:rPr>
              <a:t>P(Rational sequential decision-making leads to a cascade) &gt;= 1/9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0189FD-818A-7968-38BE-B06B7335531E}"/>
              </a:ext>
            </a:extLst>
          </p:cNvPr>
          <p:cNvGrpSpPr/>
          <p:nvPr/>
        </p:nvGrpSpPr>
        <p:grpSpPr>
          <a:xfrm>
            <a:off x="650632" y="3831864"/>
            <a:ext cx="7842736" cy="1598545"/>
            <a:chOff x="650632" y="3831864"/>
            <a:chExt cx="7842736" cy="1598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BD09010-9B90-696B-5D97-FE9DAF32E703}"/>
                    </a:ext>
                  </a:extLst>
                </p:cNvPr>
                <p:cNvSpPr txBox="1"/>
                <p:nvPr/>
              </p:nvSpPr>
              <p:spPr>
                <a:xfrm>
                  <a:off x="650632" y="3831864"/>
                  <a:ext cx="5029200" cy="15147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𝑟𝑟𝑔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𝑟𝑟𝑔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𝑟𝑟𝑔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endParaRPr 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𝑟𝑟𝑔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𝑟𝑟𝑔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𝑟𝑟𝑔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lang="en-US" dirty="0"/>
                    <a:t> =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BD09010-9B90-696B-5D97-FE9DAF32E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32" y="3831864"/>
                  <a:ext cx="5029200" cy="1514774"/>
                </a:xfrm>
                <a:prstGeom prst="rect">
                  <a:avLst/>
                </a:prstGeom>
                <a:blipFill>
                  <a:blip r:embed="rId3"/>
                  <a:stretch>
                    <a:fillRect l="-2015" t="-833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71FA8B2-5454-D0CE-5DD9-19F85D02A2AC}"/>
                    </a:ext>
                  </a:extLst>
                </p:cNvPr>
                <p:cNvSpPr txBox="1"/>
                <p:nvPr/>
              </p:nvSpPr>
              <p:spPr>
                <a:xfrm>
                  <a:off x="5295113" y="4505348"/>
                  <a:ext cx="2198508" cy="9250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71FA8B2-5454-D0CE-5DD9-19F85D02A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5113" y="4505348"/>
                  <a:ext cx="2198508" cy="925061"/>
                </a:xfrm>
                <a:prstGeom prst="rect">
                  <a:avLst/>
                </a:prstGeom>
                <a:blipFill>
                  <a:blip r:embed="rId4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1E2045-895F-13EF-6F1C-4D1C5C5F512A}"/>
                    </a:ext>
                  </a:extLst>
                </p:cNvPr>
                <p:cNvSpPr txBox="1"/>
                <p:nvPr/>
              </p:nvSpPr>
              <p:spPr>
                <a:xfrm>
                  <a:off x="7298305" y="4663050"/>
                  <a:ext cx="1195063" cy="6295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2800" dirty="0"/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4+1</m:t>
                          </m:r>
                        </m:den>
                      </m:f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A1E2045-895F-13EF-6F1C-4D1C5C5F5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305" y="4663050"/>
                  <a:ext cx="1195063" cy="629591"/>
                </a:xfrm>
                <a:prstGeom prst="rect">
                  <a:avLst/>
                </a:prstGeom>
                <a:blipFill>
                  <a:blip r:embed="rId5"/>
                  <a:stretch>
                    <a:fillRect l="-17895" t="-600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419B338-9B8F-1B1B-FF67-9283217F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ea typeface="ＭＳ Ｐゴシック" panose="020B0600070205080204" pitchFamily="34" charset="-128"/>
              </a:rPr>
              <a:t>Making decisions with other people</a:t>
            </a:r>
            <a:r>
              <a:rPr lang="ja-JP" altLang="en-US" sz="3600">
                <a:ea typeface="ＭＳ Ｐゴシック" panose="020B0600070205080204" pitchFamily="34" charset="-128"/>
              </a:rPr>
              <a:t>’</a:t>
            </a:r>
            <a:r>
              <a:rPr lang="en-US" altLang="ja-JP" sz="3600" dirty="0">
                <a:ea typeface="ＭＳ Ｐゴシック" panose="020B0600070205080204" pitchFamily="34" charset="-128"/>
              </a:rPr>
              <a:t>s choices as an input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30722" name="Content Placeholder 7">
            <a:extLst>
              <a:ext uri="{FF2B5EF4-FFF2-40B4-BE49-F238E27FC236}">
                <a16:creationId xmlns:a16="http://schemas.microsoft.com/office/drawing/2014/main" id="{24D23C33-0F76-48DB-1193-4D4C63C5C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8800"/>
            <a:ext cx="8534400" cy="4525963"/>
          </a:xfrm>
        </p:spPr>
        <p:txBody>
          <a:bodyPr/>
          <a:lstStyle/>
          <a:p>
            <a:r>
              <a:rPr lang="en-US" altLang="en-US" sz="2400">
                <a:ea typeface="ＭＳ Ｐゴシック" panose="020B0600070205080204" pitchFamily="34" charset="-128"/>
              </a:rPr>
              <a:t>Artificial music market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48 unknown songs, 14k participants</a:t>
            </a:r>
          </a:p>
          <a:p>
            <a:pPr lvl="2"/>
            <a:r>
              <a:rPr lang="en-US" altLang="en-US" sz="1800">
                <a:ea typeface="ＭＳ Ｐゴシック" panose="020B0600070205080204" pitchFamily="34" charset="-128"/>
              </a:rPr>
              <a:t>Participants </a:t>
            </a:r>
            <a:r>
              <a:rPr lang="en-US" altLang="en-US" sz="1800" i="1">
                <a:ea typeface="ＭＳ Ｐゴシック" panose="020B0600070205080204" pitchFamily="34" charset="-128"/>
              </a:rPr>
              <a:t>listen</a:t>
            </a:r>
            <a:r>
              <a:rPr lang="en-US" altLang="en-US" sz="1800">
                <a:ea typeface="ＭＳ Ｐゴシック" panose="020B0600070205080204" pitchFamily="34" charset="-128"/>
              </a:rPr>
              <a:t>, </a:t>
            </a:r>
            <a:r>
              <a:rPr lang="en-US" altLang="en-US" sz="1800" i="1">
                <a:ea typeface="ＭＳ Ｐゴシック" panose="020B0600070205080204" pitchFamily="34" charset="-128"/>
              </a:rPr>
              <a:t>rate</a:t>
            </a:r>
            <a:r>
              <a:rPr lang="en-US" altLang="en-US" sz="1800">
                <a:ea typeface="ＭＳ Ｐゴシック" panose="020B0600070205080204" pitchFamily="34" charset="-128"/>
              </a:rPr>
              <a:t>, and (maybe) </a:t>
            </a:r>
            <a:r>
              <a:rPr lang="en-US" altLang="en-US" sz="1800" i="1">
                <a:ea typeface="ＭＳ Ｐゴシック" panose="020B0600070205080204" pitchFamily="34" charset="-128"/>
              </a:rPr>
              <a:t>download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Experiment 1:</a:t>
            </a:r>
          </a:p>
          <a:p>
            <a:pPr lvl="2"/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ea typeface="ＭＳ Ｐゴシック" panose="020B0600070205080204" pitchFamily="34" charset="-128"/>
              </a:rPr>
              <a:t>Independent world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: choose songs from a grid</a:t>
            </a:r>
          </a:p>
          <a:p>
            <a:pPr lvl="2"/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ea typeface="ＭＳ Ｐゴシック" panose="020B0600070205080204" pitchFamily="34" charset="-128"/>
              </a:rPr>
              <a:t>Social world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 (x8): also see #prior downloads (</a:t>
            </a:r>
            <a:r>
              <a:rPr lang="en-US" altLang="ja-JP" sz="1800" b="1">
                <a:ea typeface="ＭＳ Ｐゴシック" panose="020B0600070205080204" pitchFamily="34" charset="-128"/>
              </a:rPr>
              <a:t>weak signal</a:t>
            </a:r>
            <a:r>
              <a:rPr lang="en-US" altLang="ja-JP" sz="180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Experiment 2:</a:t>
            </a:r>
          </a:p>
          <a:p>
            <a:pPr lvl="2"/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ea typeface="ＭＳ Ｐゴシック" panose="020B0600070205080204" pitchFamily="34" charset="-128"/>
              </a:rPr>
              <a:t>Independent world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: choose songs from a </a:t>
            </a:r>
            <a:r>
              <a:rPr lang="en-US" altLang="ja-JP" sz="1800" i="1">
                <a:ea typeface="ＭＳ Ｐゴシック" panose="020B0600070205080204" pitchFamily="34" charset="-128"/>
              </a:rPr>
              <a:t>list</a:t>
            </a:r>
          </a:p>
          <a:p>
            <a:pPr lvl="2"/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ea typeface="ＭＳ Ｐゴシック" panose="020B0600070205080204" pitchFamily="34" charset="-128"/>
              </a:rPr>
              <a:t>Social world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 (x8): list sorted by #prior downloads (</a:t>
            </a:r>
            <a:r>
              <a:rPr lang="en-US" altLang="ja-JP" sz="1800" b="1">
                <a:ea typeface="ＭＳ Ｐゴシック" panose="020B0600070205080204" pitchFamily="34" charset="-128"/>
              </a:rPr>
              <a:t>stronger signal</a:t>
            </a:r>
            <a:r>
              <a:rPr lang="en-US" altLang="ja-JP" sz="180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 sz="2400">
                <a:ea typeface="ＭＳ Ｐゴシック" panose="020B0600070205080204" pitchFamily="34" charset="-128"/>
              </a:rPr>
              <a:t>Results: </a:t>
            </a:r>
            <a:r>
              <a:rPr lang="en-US" altLang="en-US" sz="2000">
                <a:ea typeface="ＭＳ Ｐゴシック" panose="020B0600070205080204" pitchFamily="34" charset="-128"/>
              </a:rPr>
              <a:t>based on </a:t>
            </a:r>
            <a:r>
              <a:rPr lang="en-US" altLang="en-US" sz="2000" i="1">
                <a:ea typeface="ＭＳ Ｐゴシック" panose="020B0600070205080204" pitchFamily="34" charset="-128"/>
              </a:rPr>
              <a:t>average differences in market share</a:t>
            </a:r>
            <a:endParaRPr lang="en-US" altLang="en-US" sz="2400" i="1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Inequality: </a:t>
            </a:r>
            <a:r>
              <a:rPr lang="en-US" altLang="en-US" sz="1800">
                <a:ea typeface="ＭＳ Ｐゴシック" panose="020B0600070205080204" pitchFamily="34" charset="-128"/>
              </a:rPr>
              <a:t>compare </a:t>
            </a:r>
            <a:r>
              <a:rPr lang="en-US" altLang="en-US" sz="1800" i="1">
                <a:ea typeface="ＭＳ Ｐゴシック" panose="020B0600070205080204" pitchFamily="34" charset="-128"/>
              </a:rPr>
              <a:t>different songs in same </a:t>
            </a:r>
            <a:r>
              <a:rPr lang="ja-JP" altLang="en-US" sz="1800" i="1">
                <a:ea typeface="ＭＳ Ｐゴシック" panose="020B0600070205080204" pitchFamily="34" charset="-128"/>
              </a:rPr>
              <a:t>“</a:t>
            </a:r>
            <a:r>
              <a:rPr lang="en-US" altLang="ja-JP" sz="1800" i="1">
                <a:ea typeface="ＭＳ Ｐゴシック" panose="020B0600070205080204" pitchFamily="34" charset="-128"/>
              </a:rPr>
              <a:t>world</a:t>
            </a:r>
            <a:r>
              <a:rPr lang="ja-JP" altLang="en-US" sz="1800" i="1">
                <a:ea typeface="ＭＳ Ｐゴシック" panose="020B0600070205080204" pitchFamily="34" charset="-128"/>
              </a:rPr>
              <a:t>”</a:t>
            </a:r>
            <a:endParaRPr lang="en-US" altLang="ja-JP" sz="1600" i="1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Unpredictability: </a:t>
            </a:r>
            <a:r>
              <a:rPr lang="en-US" altLang="en-US" sz="1800">
                <a:ea typeface="ＭＳ Ｐゴシック" panose="020B0600070205080204" pitchFamily="34" charset="-128"/>
              </a:rPr>
              <a:t>compare </a:t>
            </a:r>
            <a:r>
              <a:rPr lang="en-US" altLang="en-US" sz="1800" i="1">
                <a:ea typeface="ＭＳ Ｐゴシック" panose="020B0600070205080204" pitchFamily="34" charset="-128"/>
              </a:rPr>
              <a:t>same songs in different </a:t>
            </a:r>
            <a:r>
              <a:rPr lang="ja-JP" altLang="en-US" sz="1800" i="1">
                <a:ea typeface="ＭＳ Ｐゴシック" panose="020B0600070205080204" pitchFamily="34" charset="-128"/>
              </a:rPr>
              <a:t>“</a:t>
            </a:r>
            <a:r>
              <a:rPr lang="en-US" altLang="ja-JP" sz="1800" i="1">
                <a:ea typeface="ＭＳ Ｐゴシック" panose="020B0600070205080204" pitchFamily="34" charset="-128"/>
              </a:rPr>
              <a:t>worlds</a:t>
            </a:r>
            <a:r>
              <a:rPr lang="ja-JP" altLang="en-US" sz="1800" i="1">
                <a:ea typeface="ＭＳ Ｐゴシック" panose="020B0600070205080204" pitchFamily="34" charset="-128"/>
              </a:rPr>
              <a:t>”</a:t>
            </a:r>
            <a:endParaRPr lang="en-US" altLang="ja-JP" sz="2000" i="1">
              <a:ea typeface="ＭＳ Ｐゴシック" panose="020B0600070205080204" pitchFamily="34" charset="-128"/>
            </a:endParaRPr>
          </a:p>
          <a:p>
            <a:pPr lvl="1" algn="r"/>
            <a:endParaRPr lang="en-US" altLang="en-US">
              <a:ea typeface="ＭＳ Ｐゴシック" panose="020B0600070205080204" pitchFamily="34" charset="-128"/>
            </a:endParaRP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3" name="TextBox 8">
            <a:extLst>
              <a:ext uri="{FF2B5EF4-FFF2-40B4-BE49-F238E27FC236}">
                <a16:creationId xmlns:a16="http://schemas.microsoft.com/office/drawing/2014/main" id="{613F9CF7-3AC8-1B45-1FB4-F4A5B3B3F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447800"/>
            <a:ext cx="435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[Salganic, Dodds, Watts – Science 2006]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EA7F8337-CDDF-E385-5BF5-26DB61C4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Making decisions with other people’</a:t>
            </a:r>
            <a:r>
              <a:rPr lang="en-US" altLang="ja-JP" sz="3600" dirty="0">
                <a:ea typeface="ＭＳ Ｐゴシック" panose="020B0600070205080204" pitchFamily="34" charset="-128"/>
              </a:rPr>
              <a:t>s choices as an input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31746" name="TextBox 8">
            <a:extLst>
              <a:ext uri="{FF2B5EF4-FFF2-40B4-BE49-F238E27FC236}">
                <a16:creationId xmlns:a16="http://schemas.microsoft.com/office/drawing/2014/main" id="{FBD836B2-7FB7-730E-81C2-2C070ED92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447800"/>
            <a:ext cx="435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[Salganic, Dodds, Watts – Science 2006]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B2E2A8A7-0C8D-3726-DFB5-CB8F623BB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t="23932" r="4167" b="8376"/>
          <a:stretch>
            <a:fillRect/>
          </a:stretch>
        </p:blipFill>
        <p:spPr bwMode="auto">
          <a:xfrm>
            <a:off x="0" y="1981200"/>
            <a:ext cx="9144000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748" name="Straight Connector 5">
            <a:extLst>
              <a:ext uri="{FF2B5EF4-FFF2-40B4-BE49-F238E27FC236}">
                <a16:creationId xmlns:a16="http://schemas.microsoft.com/office/drawing/2014/main" id="{F06B709E-8DF9-7EC6-7595-6428F84A07F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096000" y="2362200"/>
            <a:ext cx="1981200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E017AB-AC72-B6C4-13CC-8AFCB8439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6488113"/>
            <a:ext cx="6548437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More social influence </a:t>
            </a:r>
            <a:r>
              <a:rPr lang="en-US" altLang="en-US" sz="1800">
                <a:sym typeface="Wingdings" pitchFamily="2" charset="2"/>
              </a:rPr>
              <a:t> More skewed </a:t>
            </a:r>
            <a:r>
              <a:rPr lang="en-US" altLang="en-US" sz="1800" i="1">
                <a:sym typeface="Wingdings" pitchFamily="2" charset="2"/>
              </a:rPr>
              <a:t>distributions</a:t>
            </a:r>
            <a:r>
              <a:rPr lang="en-US" altLang="en-US" sz="1800">
                <a:sym typeface="Wingdings" pitchFamily="2" charset="2"/>
              </a:rPr>
              <a:t> of success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F60AA251-1D86-4D4C-654C-BBF246C0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Making decisions with other people’</a:t>
            </a:r>
            <a:r>
              <a:rPr lang="en-US" altLang="ja-JP" sz="3600" dirty="0">
                <a:ea typeface="ＭＳ Ｐゴシック" panose="020B0600070205080204" pitchFamily="34" charset="-128"/>
              </a:rPr>
              <a:t>s choices as an input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32770" name="TextBox 8">
            <a:extLst>
              <a:ext uri="{FF2B5EF4-FFF2-40B4-BE49-F238E27FC236}">
                <a16:creationId xmlns:a16="http://schemas.microsoft.com/office/drawing/2014/main" id="{CEC36E4F-4193-226A-B41D-48FD7C43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447800"/>
            <a:ext cx="435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[Salganic, Dodds, Watts – Science 2006]</a:t>
            </a:r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E61C916F-58C7-388C-9199-F3459D583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6" t="36240" r="35001" b="9061"/>
          <a:stretch>
            <a:fillRect/>
          </a:stretch>
        </p:blipFill>
        <p:spPr bwMode="auto">
          <a:xfrm>
            <a:off x="0" y="1905000"/>
            <a:ext cx="9144000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772" name="Straight Connector 4">
            <a:extLst>
              <a:ext uri="{FF2B5EF4-FFF2-40B4-BE49-F238E27FC236}">
                <a16:creationId xmlns:a16="http://schemas.microsoft.com/office/drawing/2014/main" id="{7B9C4D0D-55B2-097F-E1E8-9F3A7D9A361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838200" y="2286000"/>
            <a:ext cx="2514600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D5E1BC-FDC3-B904-85D2-0A93BE42B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71600"/>
            <a:ext cx="4191000" cy="646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More social influence </a:t>
            </a:r>
            <a:r>
              <a:rPr lang="en-US" altLang="en-US" sz="1800">
                <a:sym typeface="Wingdings" pitchFamily="2" charset="2"/>
              </a:rPr>
              <a:t> Less predictable </a:t>
            </a:r>
            <a:r>
              <a:rPr lang="en-US" altLang="en-US" sz="1800" i="1">
                <a:sym typeface="Wingdings" pitchFamily="2" charset="2"/>
              </a:rPr>
              <a:t>which</a:t>
            </a:r>
            <a:r>
              <a:rPr lang="en-US" altLang="en-US" sz="1800">
                <a:sym typeface="Wingdings" pitchFamily="2" charset="2"/>
              </a:rPr>
              <a:t> songs are successful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1FF5-68EC-D276-FCB7-682F1A4C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0E8E906E-5140-08EF-A95B-8902039B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3" y="274637"/>
            <a:ext cx="8518356" cy="1200329"/>
          </a:xfrm>
        </p:spPr>
        <p:txBody>
          <a:bodyPr>
            <a:normAutofit fontScale="90000"/>
          </a:bodyPr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Making decisions with other people’</a:t>
            </a:r>
            <a:r>
              <a:rPr lang="en-US" altLang="ja-JP" sz="3600" dirty="0">
                <a:ea typeface="ＭＳ Ｐゴシック" panose="020B0600070205080204" pitchFamily="34" charset="-128"/>
              </a:rPr>
              <a:t>s choices as an input: Schelling Segregation Model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02238-C556-3824-A685-D3826777DCDC}"/>
              </a:ext>
            </a:extLst>
          </p:cNvPr>
          <p:cNvSpPr txBox="1"/>
          <p:nvPr/>
        </p:nvSpPr>
        <p:spPr>
          <a:xfrm>
            <a:off x="814040" y="6088565"/>
            <a:ext cx="7237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http://nifty.stanford.edu/2014/mccown-schelling-model-segregation/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4DF16-82AC-3F8C-898F-78E00BC62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60" y="3176816"/>
            <a:ext cx="6591300" cy="1790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278A55-E6C7-0832-F819-18FDD4A5C091}"/>
              </a:ext>
            </a:extLst>
          </p:cNvPr>
          <p:cNvSpPr txBox="1"/>
          <p:nvPr/>
        </p:nvSpPr>
        <p:spPr>
          <a:xfrm>
            <a:off x="1126273" y="1493094"/>
            <a:ext cx="6924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Agents are two types of agents in a partially-filled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agent is satisfied if more than k% of its neighbors are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each cycle, unsatisfied agents move (randomly)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59FD6-CB42-E7BF-C344-4C30EBBDC656}"/>
              </a:ext>
            </a:extLst>
          </p:cNvPr>
          <p:cNvSpPr txBox="1"/>
          <p:nvPr/>
        </p:nvSpPr>
        <p:spPr>
          <a:xfrm>
            <a:off x="2002526" y="2836762"/>
            <a:ext cx="117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k=0.30</a:t>
            </a:r>
          </a:p>
        </p:txBody>
      </p:sp>
    </p:spTree>
    <p:extLst>
      <p:ext uri="{BB962C8B-B14F-4D97-AF65-F5344CB8AC3E}">
        <p14:creationId xmlns:p14="http://schemas.microsoft.com/office/powerpoint/2010/main" val="14662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5D553-B6D7-BEDF-AA22-D9281045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9DDE9ED3-8F38-CB0C-11FB-E572E93DB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>
                <a:ea typeface="ＭＳ Ｐゴシック" panose="020B0600070205080204" pitchFamily="34" charset="-128"/>
              </a:rPr>
              <a:t>Schelling Segregation Model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4A749-A484-8E07-E887-6A8C71ABE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3" y="1510872"/>
            <a:ext cx="4169961" cy="5347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642FED-4684-E0DA-5CB6-D4C12AACD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039" y="1459832"/>
            <a:ext cx="4169961" cy="539816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CD74D38C-3012-34F6-FEBE-0C94D9703DD2}"/>
              </a:ext>
            </a:extLst>
          </p:cNvPr>
          <p:cNvSpPr/>
          <p:nvPr/>
        </p:nvSpPr>
        <p:spPr>
          <a:xfrm>
            <a:off x="4233192" y="3429000"/>
            <a:ext cx="677615" cy="35693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103EA-B494-0C7C-47A9-D311A1C21FDE}"/>
              </a:ext>
            </a:extLst>
          </p:cNvPr>
          <p:cNvSpPr txBox="1"/>
          <p:nvPr/>
        </p:nvSpPr>
        <p:spPr>
          <a:xfrm>
            <a:off x="3583056" y="5710671"/>
            <a:ext cx="117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k=0.30</a:t>
            </a:r>
          </a:p>
          <a:p>
            <a:pPr algn="ctr"/>
            <a:r>
              <a:rPr lang="en-US" dirty="0"/>
              <a:t>13 rounds</a:t>
            </a:r>
          </a:p>
        </p:txBody>
      </p:sp>
    </p:spTree>
    <p:extLst>
      <p:ext uri="{BB962C8B-B14F-4D97-AF65-F5344CB8AC3E}">
        <p14:creationId xmlns:p14="http://schemas.microsoft.com/office/powerpoint/2010/main" val="320631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26C91-14CF-92EF-B46D-5B3CC6E4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9CA5CA4D-EAE9-840C-A50D-3C0FE63C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>
                <a:ea typeface="ＭＳ Ｐゴシック" panose="020B0600070205080204" pitchFamily="34" charset="-128"/>
              </a:rPr>
              <a:t>Schelling Segregation Model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E3767-CE8B-B74E-AC40-BC43D8425AFD}"/>
              </a:ext>
            </a:extLst>
          </p:cNvPr>
          <p:cNvSpPr txBox="1"/>
          <p:nvPr/>
        </p:nvSpPr>
        <p:spPr>
          <a:xfrm>
            <a:off x="1859044" y="5676900"/>
            <a:ext cx="117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k=0.30</a:t>
            </a:r>
          </a:p>
          <a:p>
            <a:pPr algn="ctr"/>
            <a:r>
              <a:rPr lang="en-US" dirty="0"/>
              <a:t>10 rounds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14C2E-37D7-4902-3D6E-B229F6857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01" y="1181100"/>
            <a:ext cx="4252099" cy="4370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35AC5-D274-78FF-4A84-3679B4E5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1100"/>
            <a:ext cx="3922275" cy="4245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3E51CD-0D3F-86BC-A7D3-E3A062F1B905}"/>
              </a:ext>
            </a:extLst>
          </p:cNvPr>
          <p:cNvSpPr txBox="1"/>
          <p:nvPr/>
        </p:nvSpPr>
        <p:spPr>
          <a:xfrm>
            <a:off x="5524240" y="5653938"/>
            <a:ext cx="117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k=0.50</a:t>
            </a:r>
          </a:p>
          <a:p>
            <a:pPr algn="ctr"/>
            <a:r>
              <a:rPr lang="en-US" dirty="0"/>
              <a:t>20 rounds</a:t>
            </a:r>
          </a:p>
        </p:txBody>
      </p:sp>
    </p:spTree>
    <p:extLst>
      <p:ext uri="{BB962C8B-B14F-4D97-AF65-F5344CB8AC3E}">
        <p14:creationId xmlns:p14="http://schemas.microsoft.com/office/powerpoint/2010/main" val="143874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8183-775F-0EBC-28F3-6E6A54CC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7030E69C-FC89-E265-7BFA-822CA26F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>
                <a:ea typeface="ＭＳ Ｐゴシック" panose="020B0600070205080204" pitchFamily="34" charset="-128"/>
              </a:rPr>
              <a:t>Schelling Segregation Model</a:t>
            </a:r>
            <a:endParaRPr lang="en-US" altLang="en-US" sz="3600" dirty="0"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3F75E-8EFB-DF96-AAFC-0F22C7A63F9E}"/>
              </a:ext>
            </a:extLst>
          </p:cNvPr>
          <p:cNvSpPr txBox="1"/>
          <p:nvPr/>
        </p:nvSpPr>
        <p:spPr>
          <a:xfrm>
            <a:off x="1927695" y="5614863"/>
            <a:ext cx="1173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k=0.50</a:t>
            </a:r>
          </a:p>
          <a:p>
            <a:pPr algn="ctr"/>
            <a:r>
              <a:rPr lang="en-US" dirty="0"/>
              <a:t>1/3 blue</a:t>
            </a:r>
          </a:p>
          <a:p>
            <a:pPr algn="ctr"/>
            <a:r>
              <a:rPr lang="en-US" dirty="0"/>
              <a:t>86 rounds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4073BB-8735-B265-6EC3-0C26E20D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175249"/>
            <a:ext cx="4114800" cy="4465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8308E6-EC3A-C875-7841-A3944C3C8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92" y="1175250"/>
            <a:ext cx="4426130" cy="4465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2C501-B179-79A3-FB6A-12BE647D1329}"/>
              </a:ext>
            </a:extLst>
          </p:cNvPr>
          <p:cNvSpPr txBox="1"/>
          <p:nvPr/>
        </p:nvSpPr>
        <p:spPr>
          <a:xfrm>
            <a:off x="6047874" y="5634624"/>
            <a:ext cx="1588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k=0.25</a:t>
            </a:r>
          </a:p>
          <a:p>
            <a:pPr algn="ctr"/>
            <a:r>
              <a:rPr lang="en-US" dirty="0"/>
              <a:t>0.15 blue</a:t>
            </a:r>
          </a:p>
          <a:p>
            <a:pPr algn="ctr"/>
            <a:r>
              <a:rPr lang="en-US" dirty="0"/>
              <a:t>253 rounds</a:t>
            </a:r>
          </a:p>
        </p:txBody>
      </p:sp>
    </p:spTree>
    <p:extLst>
      <p:ext uri="{BB962C8B-B14F-4D97-AF65-F5344CB8AC3E}">
        <p14:creationId xmlns:p14="http://schemas.microsoft.com/office/powerpoint/2010/main" val="69016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9AE4-06BF-B37A-1B4C-2220DF15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95228-0D08-9584-E5C5-447F7D78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Scalable Evaluation: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AAC1-BA01-740D-57C0-BB98184ED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96E814-DA85-F3EB-D645-A823AFA3FEDE}"/>
              </a:ext>
            </a:extLst>
          </p:cNvPr>
          <p:cNvSpPr txBox="1">
            <a:spLocks/>
          </p:cNvSpPr>
          <p:nvPr/>
        </p:nvSpPr>
        <p:spPr>
          <a:xfrm>
            <a:off x="279400" y="2181225"/>
            <a:ext cx="8121650" cy="19690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Arguments for:</a:t>
            </a:r>
          </a:p>
          <a:p>
            <a:r>
              <a:rPr lang="en-US" dirty="0"/>
              <a:t>much more data can be collected faster</a:t>
            </a:r>
          </a:p>
          <a:p>
            <a:r>
              <a:rPr lang="en-US" dirty="0"/>
              <a:t>my project is late / over budget</a:t>
            </a:r>
          </a:p>
          <a:p>
            <a:r>
              <a:rPr lang="en-US" dirty="0"/>
              <a:t>human labels are noisy</a:t>
            </a:r>
          </a:p>
          <a:p>
            <a:r>
              <a:rPr lang="en-US" dirty="0"/>
              <a:t>LLM-as-judge biases seem to be </a:t>
            </a:r>
            <a:r>
              <a:rPr lang="en-US" u="sng" dirty="0"/>
              <a:t>minor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A7C6D-1B66-CD7D-E072-9CC09E03E9EC}"/>
              </a:ext>
            </a:extLst>
          </p:cNvPr>
          <p:cNvSpPr txBox="1">
            <a:spLocks/>
          </p:cNvSpPr>
          <p:nvPr/>
        </p:nvSpPr>
        <p:spPr>
          <a:xfrm>
            <a:off x="279400" y="4271963"/>
            <a:ext cx="8121650" cy="2431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 against:  ML/</a:t>
            </a:r>
            <a:r>
              <a:rPr lang="en-US" dirty="0" err="1"/>
              <a:t>GenAI</a:t>
            </a:r>
            <a:r>
              <a:rPr lang="en-US" dirty="0"/>
              <a:t> systems are </a:t>
            </a:r>
            <a:r>
              <a:rPr lang="en-US" b="1" dirty="0"/>
              <a:t>interconnected</a:t>
            </a:r>
          </a:p>
          <a:p>
            <a:r>
              <a:rPr lang="en-US" dirty="0"/>
              <a:t>We generate data for ML with </a:t>
            </a:r>
            <a:r>
              <a:rPr lang="en-US" dirty="0" err="1"/>
              <a:t>GenAI</a:t>
            </a:r>
            <a:r>
              <a:rPr lang="en-US" dirty="0"/>
              <a:t> (data augmentation)</a:t>
            </a:r>
          </a:p>
          <a:p>
            <a:r>
              <a:rPr lang="en-US" dirty="0"/>
              <a:t>We evaluate ML systems with </a:t>
            </a:r>
            <a:r>
              <a:rPr lang="en-US" dirty="0" err="1"/>
              <a:t>GenAI</a:t>
            </a:r>
            <a:endParaRPr lang="en-US" dirty="0"/>
          </a:p>
          <a:p>
            <a:r>
              <a:rPr lang="en-US" dirty="0"/>
              <a:t>We pre-train ML systems on ML-filtered text</a:t>
            </a:r>
          </a:p>
          <a:p>
            <a:r>
              <a:rPr lang="en-US" dirty="0"/>
              <a:t>We pre-train ML systems on </a:t>
            </a:r>
            <a:r>
              <a:rPr lang="en-US" dirty="0" err="1"/>
              <a:t>GenAI</a:t>
            </a:r>
            <a:r>
              <a:rPr lang="en-US" dirty="0"/>
              <a:t>-produced text</a:t>
            </a:r>
          </a:p>
          <a:p>
            <a:r>
              <a:rPr lang="en-US" dirty="0"/>
              <a:t>Long-term, will subtle biases have subtle effects? or large effects?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AF2C4-90E2-32DB-B8AF-A0093A96472C}"/>
              </a:ext>
            </a:extLst>
          </p:cNvPr>
          <p:cNvSpPr txBox="1"/>
          <p:nvPr/>
        </p:nvSpPr>
        <p:spPr>
          <a:xfrm>
            <a:off x="2224867" y="6333888"/>
            <a:ext cx="491733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 idea but large effects are definitely possible</a:t>
            </a:r>
          </a:p>
        </p:txBody>
      </p:sp>
    </p:spTree>
    <p:extLst>
      <p:ext uri="{BB962C8B-B14F-4D97-AF65-F5344CB8AC3E}">
        <p14:creationId xmlns:p14="http://schemas.microsoft.com/office/powerpoint/2010/main" val="186451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67BC-8F97-B358-4F3C-690AB228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F9A2-79AF-8A25-0536-A2E6F53E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50AE-6E39-2BF0-B278-2C91040B1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4A68D8-1CFB-3855-C7DD-870A67242F61}"/>
              </a:ext>
            </a:extLst>
          </p:cNvPr>
          <p:cNvSpPr txBox="1">
            <a:spLocks/>
          </p:cNvSpPr>
          <p:nvPr/>
        </p:nvSpPr>
        <p:spPr>
          <a:xfrm>
            <a:off x="279400" y="2181225"/>
            <a:ext cx="8121650" cy="19690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Arguments for:</a:t>
            </a:r>
          </a:p>
          <a:p>
            <a:r>
              <a:rPr lang="en-US" dirty="0"/>
              <a:t>much more data can be collected faster</a:t>
            </a:r>
          </a:p>
          <a:p>
            <a:r>
              <a:rPr lang="en-US" dirty="0"/>
              <a:t>my project is late / over budget</a:t>
            </a:r>
          </a:p>
          <a:p>
            <a:r>
              <a:rPr lang="en-US" dirty="0"/>
              <a:t>human labels are noisy</a:t>
            </a:r>
          </a:p>
          <a:p>
            <a:r>
              <a:rPr lang="en-US" dirty="0"/>
              <a:t>LLM-as-judge biases seem to be </a:t>
            </a:r>
            <a:r>
              <a:rPr lang="en-US" u="sng" dirty="0"/>
              <a:t>minor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D51A40-7378-8335-AB7F-7D7F7B52D0BA}"/>
              </a:ext>
            </a:extLst>
          </p:cNvPr>
          <p:cNvSpPr txBox="1">
            <a:spLocks/>
          </p:cNvSpPr>
          <p:nvPr/>
        </p:nvSpPr>
        <p:spPr>
          <a:xfrm>
            <a:off x="279400" y="4249991"/>
            <a:ext cx="8121650" cy="135070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small amount of human-labeled data can be used to correct for biases in a judge/</a:t>
            </a:r>
            <a:r>
              <a:rPr lang="en-US" dirty="0" err="1"/>
              <a:t>autorater</a:t>
            </a:r>
            <a:endParaRPr lang="en-US" dirty="0"/>
          </a:p>
          <a:p>
            <a:r>
              <a:rPr lang="en-US" dirty="0"/>
              <a:t>statistical inference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prediction-powered inference</a:t>
            </a:r>
          </a:p>
        </p:txBody>
      </p:sp>
    </p:spTree>
    <p:extLst>
      <p:ext uri="{BB962C8B-B14F-4D97-AF65-F5344CB8AC3E}">
        <p14:creationId xmlns:p14="http://schemas.microsoft.com/office/powerpoint/2010/main" val="331919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E602-BAC1-B62B-87A1-50104790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550E-4637-6498-37AA-7E866E16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E089-DCA4-3ECA-2828-6FFC45A2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CD36A3-04E5-43AB-97E9-534A91C03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43443"/>
            <a:ext cx="8712200" cy="386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1994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8766-8A59-0922-E2E3-7AF56B9D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33B0-87F0-0633-06A0-0C4B2BDD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BB7-7EFD-74AE-61F7-F71B70F65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184703"/>
            <a:ext cx="8194040" cy="195473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 simple example: human labels to estimate the probability of some </a:t>
            </a:r>
            <a:r>
              <a:rPr lang="en-US" b="1" dirty="0"/>
              <a:t>binary</a:t>
            </a:r>
            <a:r>
              <a:rPr lang="en-US" dirty="0"/>
              <a:t> property of a generation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No factual errors</a:t>
            </a:r>
          </a:p>
          <a:p>
            <a:pPr lvl="1"/>
            <a:r>
              <a:rPr lang="en-US" dirty="0"/>
              <a:t>No image of a human non-celebrity</a:t>
            </a:r>
          </a:p>
          <a:p>
            <a:pPr lvl="1"/>
            <a:r>
              <a:rPr lang="en-US" dirty="0"/>
              <a:t>Some citation is from a low-quality source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04A0226C-3FC7-4763-83AE-41E984125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714" y="3516741"/>
            <a:ext cx="4441707" cy="298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F180351-F340-0F00-E651-DB318E611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048" y="3516741"/>
            <a:ext cx="4441707" cy="298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9E905-7303-AFA6-07ED-57E556997E12}"/>
              </a:ext>
            </a:extLst>
          </p:cNvPr>
          <p:cNvSpPr txBox="1"/>
          <p:nvPr/>
        </p:nvSpPr>
        <p:spPr>
          <a:xfrm>
            <a:off x="670559" y="3139439"/>
            <a:ext cx="313751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Arial" charset="0"/>
                <a:ea typeface="+mn-ea"/>
              </a:rPr>
              <a:t>100 simulated labels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2197A-EEEF-115B-65E6-1387F537C6C3}"/>
              </a:ext>
            </a:extLst>
          </p:cNvPr>
          <p:cNvSpPr txBox="1"/>
          <p:nvPr/>
        </p:nvSpPr>
        <p:spPr>
          <a:xfrm>
            <a:off x="5101145" y="3097963"/>
            <a:ext cx="313751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Arial" charset="0"/>
                <a:ea typeface="+mn-ea"/>
              </a:rPr>
              <a:t>10 similar simulated </a:t>
            </a:r>
            <a:r>
              <a:rPr lang="en-US" sz="1600" dirty="0" err="1">
                <a:latin typeface="Arial" charset="0"/>
                <a:ea typeface="+mn-ea"/>
              </a:rPr>
              <a:t>labelings</a:t>
            </a:r>
            <a:endParaRPr lang="en-US" sz="1600" dirty="0">
              <a:latin typeface="Arial" charset="0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FAE2A-2CA7-EB42-8BC2-00880BB8D3B3}"/>
              </a:ext>
            </a:extLst>
          </p:cNvPr>
          <p:cNvSpPr txBox="1"/>
          <p:nvPr/>
        </p:nvSpPr>
        <p:spPr>
          <a:xfrm>
            <a:off x="737249" y="6506004"/>
            <a:ext cx="3137512" cy="27699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rgbClr val="0070C0"/>
                </a:solidFill>
                <a:latin typeface="Arial" charset="0"/>
                <a:ea typeface="+mn-ea"/>
              </a:rPr>
              <a:t>blue</a:t>
            </a:r>
            <a:r>
              <a:rPr lang="en-US" sz="1200" dirty="0">
                <a:latin typeface="Arial" charset="0"/>
                <a:ea typeface="+mn-ea"/>
              </a:rPr>
              <a:t> and </a:t>
            </a:r>
            <a:r>
              <a:rPr lang="en-US" sz="1200" dirty="0">
                <a:solidFill>
                  <a:srgbClr val="FF0000"/>
                </a:solidFill>
                <a:latin typeface="Arial" charset="0"/>
                <a:ea typeface="+mn-ea"/>
              </a:rPr>
              <a:t>red</a:t>
            </a:r>
            <a:r>
              <a:rPr lang="en-US" sz="1200" dirty="0">
                <a:latin typeface="Arial" charset="0"/>
                <a:ea typeface="+mn-ea"/>
              </a:rPr>
              <a:t>: 95% confidence interval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D28E2-FA91-7E08-DE9F-212A55B27EB9}"/>
              </a:ext>
            </a:extLst>
          </p:cNvPr>
          <p:cNvSpPr txBox="1"/>
          <p:nvPr/>
        </p:nvSpPr>
        <p:spPr>
          <a:xfrm>
            <a:off x="5101145" y="6506004"/>
            <a:ext cx="3137512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dirty="0">
                <a:latin typeface="Arial" charset="0"/>
                <a:ea typeface="+mn-ea"/>
                <a:sym typeface="Wingdings" pitchFamily="2" charset="2"/>
              </a:rPr>
              <a:t> hill-climbing with small data is difficult</a:t>
            </a:r>
            <a:endParaRPr lang="en-US" sz="1200" dirty="0"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284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25F1-939C-8CCC-FCC9-1594FF89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D5B7-953C-D418-6223-DFF9A9C9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32FCE-FE12-3D00-B610-A1E35B5CFDC6}"/>
              </a:ext>
            </a:extLst>
          </p:cNvPr>
          <p:cNvSpPr txBox="1"/>
          <p:nvPr/>
        </p:nvSpPr>
        <p:spPr>
          <a:xfrm>
            <a:off x="832604" y="1553708"/>
            <a:ext cx="313751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Arial" charset="0"/>
                <a:ea typeface="+mn-ea"/>
              </a:rPr>
              <a:t>same 100 simulated labels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7D4C16-DA47-090E-B647-71369F638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16" y="2230815"/>
            <a:ext cx="4259484" cy="297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61276-A6A3-A438-5984-B67EB4AD9D66}"/>
              </a:ext>
            </a:extLst>
          </p:cNvPr>
          <p:cNvSpPr txBox="1"/>
          <p:nvPr/>
        </p:nvSpPr>
        <p:spPr>
          <a:xfrm>
            <a:off x="115746" y="1892262"/>
            <a:ext cx="4456254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Arial" charset="0"/>
                <a:ea typeface="+mn-ea"/>
              </a:rPr>
              <a:t>5000 </a:t>
            </a:r>
            <a:r>
              <a:rPr lang="en-US" sz="1600" dirty="0" err="1">
                <a:latin typeface="Arial" charset="0"/>
                <a:ea typeface="+mn-ea"/>
              </a:rPr>
              <a:t>autorated</a:t>
            </a:r>
            <a:r>
              <a:rPr lang="en-US" sz="1600" dirty="0">
                <a:latin typeface="Arial" charset="0"/>
                <a:ea typeface="+mn-ea"/>
              </a:rPr>
              <a:t> labels: 2% FP and 18% FN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7C0B3-3376-12B3-1121-56DAD45CF61B}"/>
              </a:ext>
            </a:extLst>
          </p:cNvPr>
          <p:cNvSpPr txBox="1"/>
          <p:nvPr/>
        </p:nvSpPr>
        <p:spPr>
          <a:xfrm>
            <a:off x="312516" y="5318279"/>
            <a:ext cx="4456254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latin typeface="Arial" charset="0"/>
              </a:rPr>
              <a:t>unequal FP and FN </a:t>
            </a:r>
            <a:r>
              <a:rPr lang="en-US" sz="1600" dirty="0">
                <a:latin typeface="Arial" charset="0"/>
                <a:sym typeface="Wingdings" pitchFamily="2" charset="2"/>
              </a:rPr>
              <a:t> </a:t>
            </a:r>
            <a:r>
              <a:rPr lang="en-US" sz="1600" dirty="0" err="1">
                <a:latin typeface="Arial" charset="0"/>
                <a:sym typeface="Wingdings" pitchFamily="2" charset="2"/>
              </a:rPr>
              <a:t>autorater</a:t>
            </a:r>
            <a:r>
              <a:rPr lang="en-US" sz="1600" dirty="0">
                <a:latin typeface="Arial" charset="0"/>
                <a:sym typeface="Wingdings" pitchFamily="2" charset="2"/>
              </a:rPr>
              <a:t> is </a:t>
            </a:r>
            <a:r>
              <a:rPr lang="en-US" sz="1600" b="1" dirty="0">
                <a:latin typeface="Arial" charset="0"/>
                <a:sym typeface="Wingdings" pitchFamily="2" charset="2"/>
              </a:rPr>
              <a:t>biased</a:t>
            </a:r>
            <a:endParaRPr lang="en-US" sz="1600" b="1" dirty="0">
              <a:latin typeface="Arial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2CE76A3-18FD-83FD-265E-47521F648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280" y="2287793"/>
            <a:ext cx="4099719" cy="275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3263E7-EE99-D340-0CA4-A4F8B2121DF1}"/>
              </a:ext>
            </a:extLst>
          </p:cNvPr>
          <p:cNvSpPr txBox="1"/>
          <p:nvPr/>
        </p:nvSpPr>
        <p:spPr>
          <a:xfrm>
            <a:off x="4916961" y="5195166"/>
            <a:ext cx="40997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PPI combination of 10,000 biased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autorater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labels and 100 unbiased human labels.  PPI 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CI are solid lines, human labels alone are dotted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F3759-E55F-8448-4786-F09178AD93B2}"/>
              </a:ext>
            </a:extLst>
          </p:cNvPr>
          <p:cNvSpPr txBox="1"/>
          <p:nvPr/>
        </p:nvSpPr>
        <p:spPr>
          <a:xfrm>
            <a:off x="4512196" y="6423604"/>
            <a:ext cx="463180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For PPI, true mean is in CI 95% of the time</a:t>
            </a:r>
          </a:p>
        </p:txBody>
      </p:sp>
    </p:spTree>
    <p:extLst>
      <p:ext uri="{BB962C8B-B14F-4D97-AF65-F5344CB8AC3E}">
        <p14:creationId xmlns:p14="http://schemas.microsoft.com/office/powerpoint/2010/main" val="40594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1" grpId="0" animBg="1"/>
      <p:bldP spid="14" grpId="0" animBg="1"/>
      <p:bldP spid="1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9A539-1FB5-B7D2-BF6F-6059A9A6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2D15-9A95-F5C9-62B2-7207E3CF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9AB53858-1FF2-D285-A902-47848B022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436" y="2260887"/>
            <a:ext cx="4360006" cy="293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590B38D0-4463-295D-10F8-92B872655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280" y="2287793"/>
            <a:ext cx="4099719" cy="275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6D632C-EF3D-E7A9-CB8D-AC16F364061F}"/>
              </a:ext>
            </a:extLst>
          </p:cNvPr>
          <p:cNvSpPr txBox="1"/>
          <p:nvPr/>
        </p:nvSpPr>
        <p:spPr>
          <a:xfrm>
            <a:off x="4916961" y="5195166"/>
            <a:ext cx="40997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PPI combination of 10,000 biased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autorater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labels and 100 unbiased human labels.  PPI </a:t>
            </a: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hi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CI are solid lines, human labels alone are dotted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2F36E-6264-F965-98B0-5239A15D4A0A}"/>
              </a:ext>
            </a:extLst>
          </p:cNvPr>
          <p:cNvSpPr txBox="1"/>
          <p:nvPr/>
        </p:nvSpPr>
        <p:spPr>
          <a:xfrm>
            <a:off x="4512196" y="6423604"/>
            <a:ext cx="463180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For PPI, true mean is in CI 95% of the time</a:t>
            </a:r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B3B33AAA-13EF-1682-CC63-5DDB42665B85}"/>
              </a:ext>
            </a:extLst>
          </p:cNvPr>
          <p:cNvSpPr/>
          <p:nvPr/>
        </p:nvSpPr>
        <p:spPr>
          <a:xfrm>
            <a:off x="4410635" y="3429000"/>
            <a:ext cx="633645" cy="49754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6347B1-ECE7-E1F6-B91E-74314067CB69}"/>
              </a:ext>
            </a:extLst>
          </p:cNvPr>
          <p:cNvSpPr txBox="1"/>
          <p:nvPr/>
        </p:nvSpPr>
        <p:spPr>
          <a:xfrm>
            <a:off x="279400" y="1201100"/>
            <a:ext cx="3902635" cy="936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Adding human labels until the human CI is the same width is the same as the PPI’s CI width.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E4F27-C609-EE78-9142-507E7E9BDEA3}"/>
              </a:ext>
            </a:extLst>
          </p:cNvPr>
          <p:cNvSpPr txBox="1"/>
          <p:nvPr/>
        </p:nvSpPr>
        <p:spPr>
          <a:xfrm>
            <a:off x="324405" y="5326839"/>
            <a:ext cx="390263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PPI + 100 labels = 270 human labels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991E22-6506-5DF7-F93C-A33A2651CED6}"/>
              </a:ext>
            </a:extLst>
          </p:cNvPr>
          <p:cNvSpPr txBox="1"/>
          <p:nvPr/>
        </p:nvSpPr>
        <p:spPr>
          <a:xfrm>
            <a:off x="1116106" y="5827845"/>
            <a:ext cx="2635623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PI lets you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scale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impact of human labels by nearly 3x!</a:t>
            </a:r>
          </a:p>
        </p:txBody>
      </p:sp>
    </p:spTree>
    <p:extLst>
      <p:ext uri="{BB962C8B-B14F-4D97-AF65-F5344CB8AC3E}">
        <p14:creationId xmlns:p14="http://schemas.microsoft.com/office/powerpoint/2010/main" val="427133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30850" y="2651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200" dirty="0"/>
              <a:t>Method used here: rewrite the p(H) using </a:t>
            </a:r>
            <a:r>
              <a:rPr lang="en" sz="3200" dirty="0" err="1"/>
              <a:t>autorater</a:t>
            </a:r>
            <a:r>
              <a:rPr lang="en" sz="3200" dirty="0"/>
              <a:t> labels and Bayes Rule</a:t>
            </a:r>
            <a:endParaRPr sz="3200" dirty="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316" y="4076150"/>
            <a:ext cx="6991258" cy="6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4439825" y="2043125"/>
            <a:ext cx="4294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chemeClr val="dk2"/>
                </a:solidFill>
              </a:rPr>
              <a:t>H = Human labels QA pair “acceptable”</a:t>
            </a:r>
            <a:endParaRPr>
              <a:solidFill>
                <a:schemeClr val="dk2"/>
              </a:solidFill>
            </a:endParaRPr>
          </a:p>
          <a:p>
            <a:r>
              <a:rPr lang="en">
                <a:solidFill>
                  <a:srgbClr val="0000FF"/>
                </a:solidFill>
              </a:rPr>
              <a:t>AR = Auto-rater ….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687325" y="3886800"/>
            <a:ext cx="275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511525" y="2972400"/>
            <a:ext cx="21921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>
                <a:solidFill>
                  <a:schemeClr val="dk2"/>
                </a:solidFill>
              </a:rPr>
              <a:t>Stdev</a:t>
            </a:r>
            <a:r>
              <a:rPr lang="en" dirty="0">
                <a:solidFill>
                  <a:schemeClr val="dk2"/>
                </a:solidFill>
              </a:rPr>
              <a:t> Bin(</a:t>
            </a:r>
            <a:r>
              <a:rPr lang="en" dirty="0" err="1">
                <a:solidFill>
                  <a:schemeClr val="dk2"/>
                </a:solidFill>
              </a:rPr>
              <a:t>n,p</a:t>
            </a:r>
            <a:r>
              <a:rPr lang="en" dirty="0">
                <a:solidFill>
                  <a:schemeClr val="dk2"/>
                </a:solidFill>
              </a:rPr>
              <a:t>)  ~= </a:t>
            </a:r>
            <a:endParaRPr dirty="0">
              <a:solidFill>
                <a:schemeClr val="dk2"/>
              </a:solidFill>
            </a:endParaRPr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430850" y="2091801"/>
          <a:ext cx="3715000" cy="1845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5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AR</a:t>
                      </a:r>
                      <a:endParaRPr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1212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baby at 100 in the bible</a:t>
                      </a:r>
                      <a:endParaRPr sz="1000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21212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abraham</a:t>
                      </a:r>
                      <a:endParaRPr sz="1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who is rose the fall season 1</a:t>
                      </a:r>
                      <a:endParaRPr sz="1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val kaine</a:t>
                      </a:r>
                      <a:endParaRPr sz="1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…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…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…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7325" y="2887774"/>
            <a:ext cx="1468850" cy="7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1169427" y="4926399"/>
            <a:ext cx="1681324" cy="627375"/>
          </a:xfrm>
          <a:prstGeom prst="wedgeRectCallout">
            <a:avLst>
              <a:gd name="adj1" fmla="val 49036"/>
              <a:gd name="adj2" fmla="val -106714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 dirty="0">
                <a:latin typeface="Cambria Math" panose="02040503050406030204" pitchFamily="18" charset="0"/>
                <a:ea typeface="Cambria Math" panose="02040503050406030204" pitchFamily="18" charset="0"/>
              </a:rPr>
              <a:t>1 - p ~= 0</a:t>
            </a:r>
            <a:endParaRPr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675763" y="5078800"/>
            <a:ext cx="1200601" cy="474974"/>
          </a:xfrm>
          <a:prstGeom prst="wedgeRectCallout">
            <a:avLst>
              <a:gd name="adj1" fmla="val 14979"/>
              <a:gd name="adj2" fmla="val -14987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 dirty="0">
                <a:latin typeface="Cambria Math" panose="02040503050406030204" pitchFamily="18" charset="0"/>
                <a:ea typeface="Cambria Math" panose="02040503050406030204" pitchFamily="18" charset="0"/>
              </a:rPr>
              <a:t>p ~= 0</a:t>
            </a:r>
            <a:endParaRPr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2945101" y="5078800"/>
            <a:ext cx="1636312" cy="474974"/>
          </a:xfrm>
          <a:prstGeom prst="wedgeRectCallout">
            <a:avLst>
              <a:gd name="adj1" fmla="val 7558"/>
              <a:gd name="adj2" fmla="val -17334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 can be large</a:t>
            </a: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198900" y="5078800"/>
            <a:ext cx="1775674" cy="516300"/>
          </a:xfrm>
          <a:prstGeom prst="wedgeRectCallout">
            <a:avLst>
              <a:gd name="adj1" fmla="val 1679"/>
              <a:gd name="adj2" fmla="val -15542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" dirty="0">
                <a:latin typeface="Cambria Math" panose="02040503050406030204" pitchFamily="18" charset="0"/>
                <a:ea typeface="Cambria Math" panose="02040503050406030204" pitchFamily="18" charset="0"/>
              </a:rPr>
              <a:t> can be large</a:t>
            </a: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C0C9AF2-163D-A23C-657E-B75AB147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D162C03B-9FE4-3D5C-0BE4-FDFB1380C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200" dirty="0"/>
              <a:t>General method for PPI</a:t>
            </a:r>
            <a:endParaRPr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67B03F-61F0-FA33-679F-D507E743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897718" cy="432322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small sample </a:t>
            </a:r>
            <a:r>
              <a:rPr lang="en-US" i="1" dirty="0"/>
              <a:t>S</a:t>
            </a:r>
            <a:r>
              <a:rPr lang="en-US" i="1" baseline="-25000" dirty="0"/>
              <a:t>n</a:t>
            </a:r>
            <a:r>
              <a:rPr lang="en-US" i="1" dirty="0"/>
              <a:t> = (x</a:t>
            </a:r>
            <a:r>
              <a:rPr lang="en-US" i="1" baseline="-25000" dirty="0"/>
              <a:t>1</a:t>
            </a:r>
            <a:r>
              <a:rPr lang="en-US" i="1" dirty="0"/>
              <a:t>,y</a:t>
            </a:r>
            <a:r>
              <a:rPr lang="en-US" i="1" baseline="-25000" dirty="0"/>
              <a:t>1</a:t>
            </a:r>
            <a:r>
              <a:rPr lang="en-US" i="1" dirty="0"/>
              <a:t>), …  (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 err="1"/>
              <a:t>,y</a:t>
            </a:r>
            <a:r>
              <a:rPr lang="en-US" i="1" baseline="-25000" dirty="0" err="1"/>
              <a:t>n</a:t>
            </a:r>
            <a:r>
              <a:rPr lang="en-US" i="1" dirty="0"/>
              <a:t>)</a:t>
            </a:r>
          </a:p>
          <a:p>
            <a:r>
              <a:rPr lang="en-US" dirty="0"/>
              <a:t>larger sample </a:t>
            </a:r>
            <a:r>
              <a:rPr lang="en-US" i="1" dirty="0"/>
              <a:t>S̃</a:t>
            </a:r>
            <a:r>
              <a:rPr lang="en-US" i="1" baseline="-25000" dirty="0"/>
              <a:t>N</a:t>
            </a:r>
            <a:r>
              <a:rPr lang="en-US" i="1" dirty="0"/>
              <a:t> = x̃</a:t>
            </a:r>
            <a:r>
              <a:rPr lang="en-US" i="1" baseline="-25000" dirty="0"/>
              <a:t>1</a:t>
            </a:r>
            <a:r>
              <a:rPr lang="en-US" i="1" dirty="0"/>
              <a:t>, …, </a:t>
            </a:r>
            <a:r>
              <a:rPr lang="en-US" i="1" dirty="0" err="1"/>
              <a:t>x̃</a:t>
            </a:r>
            <a:r>
              <a:rPr lang="en-US" i="1" baseline="-25000" dirty="0" err="1"/>
              <a:t>N</a:t>
            </a:r>
            <a:endParaRPr lang="en-US" i="1" baseline="-25000" dirty="0"/>
          </a:p>
          <a:p>
            <a:r>
              <a:rPr lang="en-US" dirty="0" err="1"/>
              <a:t>autorater</a:t>
            </a:r>
            <a:r>
              <a:rPr lang="en-US" dirty="0"/>
              <a:t> function </a:t>
            </a:r>
            <a:r>
              <a:rPr lang="en-US" i="1" dirty="0"/>
              <a:t>f(x)</a:t>
            </a:r>
          </a:p>
          <a:p>
            <a:r>
              <a:rPr lang="en-US" dirty="0"/>
              <a:t>an </a:t>
            </a:r>
            <a:r>
              <a:rPr lang="en-US" b="1" dirty="0" err="1"/>
              <a:t>estimand</a:t>
            </a:r>
            <a:r>
              <a:rPr lang="en-US" b="1" dirty="0"/>
              <a:t>,  </a:t>
            </a:r>
            <a:r>
              <a:rPr lang="en-US" i="1" dirty="0"/>
              <a:t>E[y] </a:t>
            </a:r>
          </a:p>
          <a:p>
            <a:r>
              <a:rPr lang="en-US" dirty="0"/>
              <a:t>a </a:t>
            </a:r>
            <a:r>
              <a:rPr lang="en-US" b="1" dirty="0"/>
              <a:t>proxy </a:t>
            </a:r>
            <a:r>
              <a:rPr lang="en-US" b="1" dirty="0" err="1"/>
              <a:t>estimand</a:t>
            </a:r>
            <a:r>
              <a:rPr lang="en-US" b="1" dirty="0"/>
              <a:t> </a:t>
            </a:r>
            <a:r>
              <a:rPr lang="en-US" i="1" dirty="0"/>
              <a:t>g(S</a:t>
            </a:r>
            <a:r>
              <a:rPr lang="en-US" i="1" baseline="-25000" dirty="0"/>
              <a:t>n</a:t>
            </a:r>
            <a:r>
              <a:rPr lang="en-US" i="1" dirty="0"/>
              <a:t> , S̃</a:t>
            </a:r>
            <a:r>
              <a:rPr lang="en-US" i="1" baseline="-25000" dirty="0"/>
              <a:t>N</a:t>
            </a:r>
            <a:r>
              <a:rPr lang="en-US" i="1" dirty="0"/>
              <a:t> , f)</a:t>
            </a:r>
          </a:p>
          <a:p>
            <a:pPr lvl="1"/>
            <a:r>
              <a:rPr lang="en-US" dirty="0"/>
              <a:t>method is correct </a:t>
            </a:r>
            <a:r>
              <a:rPr lang="en-US" dirty="0" err="1"/>
              <a:t>iff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i="1" dirty="0"/>
              <a:t>	E[y] = E[g(S</a:t>
            </a:r>
            <a:r>
              <a:rPr lang="en-US" i="1" baseline="-25000" dirty="0"/>
              <a:t>n</a:t>
            </a:r>
            <a:r>
              <a:rPr lang="en-US" i="1" dirty="0"/>
              <a:t> , S̃</a:t>
            </a:r>
            <a:r>
              <a:rPr lang="en-US" i="1" baseline="-25000" dirty="0"/>
              <a:t>N</a:t>
            </a:r>
            <a:r>
              <a:rPr lang="en-US" i="1" dirty="0"/>
              <a:t> , f)]</a:t>
            </a:r>
          </a:p>
          <a:p>
            <a:r>
              <a:rPr lang="en-US" dirty="0"/>
              <a:t>a way to compute</a:t>
            </a:r>
          </a:p>
          <a:p>
            <a:pPr lvl="1"/>
            <a:r>
              <a:rPr lang="en-US" dirty="0"/>
              <a:t>the expectation of the proxy </a:t>
            </a:r>
            <a:r>
              <a:rPr lang="en-US" dirty="0" err="1"/>
              <a:t>estimand</a:t>
            </a:r>
            <a:endParaRPr lang="en-US" dirty="0"/>
          </a:p>
          <a:p>
            <a:pPr lvl="1"/>
            <a:r>
              <a:rPr lang="en-US" dirty="0"/>
              <a:t>the variance of the proxy </a:t>
            </a:r>
            <a:r>
              <a:rPr lang="en-US" dirty="0" err="1"/>
              <a:t>estimand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D62C6D5-16D3-9AE1-043F-BC10A12958FF}"/>
              </a:ext>
            </a:extLst>
          </p:cNvPr>
          <p:cNvSpPr txBox="1">
            <a:spLocks/>
          </p:cNvSpPr>
          <p:nvPr/>
        </p:nvSpPr>
        <p:spPr>
          <a:xfrm>
            <a:off x="5177118" y="1096962"/>
            <a:ext cx="3966882" cy="4047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i="1" dirty="0"/>
              <a:t>S</a:t>
            </a:r>
            <a:r>
              <a:rPr lang="en-US" sz="2200" i="1" baseline="-25000" dirty="0"/>
              <a:t>n</a:t>
            </a:r>
            <a:r>
              <a:rPr lang="en-US" sz="2200" i="1" dirty="0"/>
              <a:t> = (x</a:t>
            </a:r>
            <a:r>
              <a:rPr lang="en-US" sz="2200" i="1" baseline="-25000" dirty="0"/>
              <a:t>1</a:t>
            </a:r>
            <a:r>
              <a:rPr lang="en-US" sz="2200" i="1" dirty="0"/>
              <a:t>,h</a:t>
            </a:r>
            <a:r>
              <a:rPr lang="en-US" sz="2200" i="1" baseline="-25000" dirty="0"/>
              <a:t>1</a:t>
            </a:r>
            <a:r>
              <a:rPr lang="en-US" sz="2200" i="1" dirty="0"/>
              <a:t>), …  (</a:t>
            </a:r>
            <a:r>
              <a:rPr lang="en-US" sz="2200" i="1" dirty="0" err="1"/>
              <a:t>x</a:t>
            </a:r>
            <a:r>
              <a:rPr lang="en-US" sz="2200" i="1" baseline="-25000" dirty="0" err="1"/>
              <a:t>n</a:t>
            </a:r>
            <a:r>
              <a:rPr lang="en-US" sz="2200" i="1" dirty="0" err="1"/>
              <a:t>,h</a:t>
            </a:r>
            <a:r>
              <a:rPr lang="en-US" sz="2200" i="1" baseline="-25000" dirty="0" err="1"/>
              <a:t>n</a:t>
            </a:r>
            <a:r>
              <a:rPr lang="en-US" sz="2200" i="1" dirty="0"/>
              <a:t>)</a:t>
            </a:r>
          </a:p>
          <a:p>
            <a:r>
              <a:rPr lang="en-US" sz="2200" i="1" dirty="0"/>
              <a:t>S̃</a:t>
            </a:r>
            <a:r>
              <a:rPr lang="en-US" sz="2200" i="1" baseline="-25000" dirty="0"/>
              <a:t>N</a:t>
            </a:r>
            <a:r>
              <a:rPr lang="en-US" sz="2200" i="1" dirty="0"/>
              <a:t> = x̃</a:t>
            </a:r>
            <a:r>
              <a:rPr lang="en-US" sz="2200" i="1" baseline="-25000" dirty="0"/>
              <a:t>1</a:t>
            </a:r>
            <a:r>
              <a:rPr lang="en-US" sz="2200" i="1" dirty="0"/>
              <a:t>, …, </a:t>
            </a:r>
            <a:r>
              <a:rPr lang="en-US" sz="2200" i="1" dirty="0" err="1"/>
              <a:t>x̃</a:t>
            </a:r>
            <a:r>
              <a:rPr lang="en-US" sz="2200" i="1" baseline="-25000" dirty="0" err="1"/>
              <a:t>N</a:t>
            </a:r>
            <a:endParaRPr lang="en-US" sz="2200" i="1" baseline="-25000" dirty="0"/>
          </a:p>
          <a:p>
            <a:r>
              <a:rPr lang="en-US" sz="2200" i="1" dirty="0"/>
              <a:t>f(x) = a</a:t>
            </a:r>
          </a:p>
          <a:p>
            <a:r>
              <a:rPr lang="en-US" sz="2200" i="1" dirty="0"/>
              <a:t>E[H] = Prop(H : H ∊ S</a:t>
            </a:r>
            <a:r>
              <a:rPr lang="en-US" sz="2200" i="1" baseline="-25000" dirty="0"/>
              <a:t>n</a:t>
            </a:r>
            <a:r>
              <a:rPr lang="en-US" sz="2200" i="1" dirty="0"/>
              <a:t> )</a:t>
            </a:r>
          </a:p>
          <a:p>
            <a:r>
              <a:rPr lang="en-US" sz="2200" i="1" dirty="0"/>
              <a:t>E[H] = </a:t>
            </a:r>
          </a:p>
          <a:p>
            <a:pPr marL="457200" lvl="1" indent="0">
              <a:buNone/>
            </a:pPr>
            <a:r>
              <a:rPr lang="en-US" sz="2200" i="1" dirty="0"/>
              <a:t>Prop(H|A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i="1" dirty="0"/>
              <a:t>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 +</a:t>
            </a:r>
          </a:p>
          <a:p>
            <a:pPr marL="457200" lvl="1" indent="0">
              <a:buNone/>
            </a:pPr>
            <a:r>
              <a:rPr lang="en-US" sz="2200" i="1" dirty="0"/>
              <a:t>Prop(H|¬A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i="1" dirty="0"/>
              <a:t>(1 - 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))</a:t>
            </a:r>
          </a:p>
          <a:p>
            <a:pPr marL="457200" lvl="1" indent="0">
              <a:buNone/>
            </a:pPr>
            <a:endParaRPr lang="en-US" sz="26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4AF75-5D6A-5D1C-9CB8-12F186BEADF0}"/>
              </a:ext>
            </a:extLst>
          </p:cNvPr>
          <p:cNvSpPr txBox="1"/>
          <p:nvPr/>
        </p:nvSpPr>
        <p:spPr>
          <a:xfrm>
            <a:off x="499217" y="5417701"/>
            <a:ext cx="467790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How do we compute the variance of the proxy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estimand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? The simple way is to be Bayesian…</a:t>
            </a:r>
          </a:p>
        </p:txBody>
      </p:sp>
    </p:spTree>
    <p:extLst>
      <p:ext uri="{BB962C8B-B14F-4D97-AF65-F5344CB8AC3E}">
        <p14:creationId xmlns:p14="http://schemas.microsoft.com/office/powerpoint/2010/main" val="382967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DFD474A-6FE8-B0F8-1CBF-9B77D779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474BBF1B-6331-828E-64C6-876637C92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200" dirty="0"/>
              <a:t>General method for PPI</a:t>
            </a:r>
            <a:endParaRPr sz="32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D1AB37C-B65B-E3C8-FEA5-D1AD10927EEF}"/>
              </a:ext>
            </a:extLst>
          </p:cNvPr>
          <p:cNvSpPr txBox="1">
            <a:spLocks/>
          </p:cNvSpPr>
          <p:nvPr/>
        </p:nvSpPr>
        <p:spPr>
          <a:xfrm>
            <a:off x="499217" y="1096962"/>
            <a:ext cx="6293224" cy="1847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i="1" dirty="0"/>
              <a:t>E[</a:t>
            </a:r>
            <a:r>
              <a:rPr lang="en-US" sz="2400" i="1" dirty="0"/>
              <a:t>g(S</a:t>
            </a:r>
            <a:r>
              <a:rPr lang="en-US" sz="2400" i="1" baseline="-25000" dirty="0"/>
              <a:t>n</a:t>
            </a:r>
            <a:r>
              <a:rPr lang="en-US" sz="2400" i="1" dirty="0"/>
              <a:t> , S̃</a:t>
            </a:r>
            <a:r>
              <a:rPr lang="en-US" sz="2400" i="1" baseline="-25000" dirty="0"/>
              <a:t>N</a:t>
            </a:r>
            <a:r>
              <a:rPr lang="en-US" sz="2400" i="1" dirty="0"/>
              <a:t> , f)] =</a:t>
            </a:r>
            <a:endParaRPr lang="en-US" sz="2200" i="1" dirty="0"/>
          </a:p>
          <a:p>
            <a:pPr marL="457200" lvl="1" indent="0">
              <a:buNone/>
            </a:pPr>
            <a:r>
              <a:rPr lang="en-US" sz="2200" i="1" dirty="0"/>
              <a:t>Prop(H|A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 * 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 +</a:t>
            </a:r>
          </a:p>
          <a:p>
            <a:pPr marL="457200" lvl="1" indent="0">
              <a:buNone/>
            </a:pPr>
            <a:r>
              <a:rPr lang="en-US" sz="2200" i="1" dirty="0"/>
              <a:t>Prop(H|¬A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 * (1 - 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))</a:t>
            </a:r>
          </a:p>
          <a:p>
            <a:pPr marL="457200" lvl="1" indent="0">
              <a:buNone/>
            </a:pPr>
            <a:endParaRPr lang="en-US" sz="26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23625-48F8-9966-D826-AF44085B7ECB}"/>
              </a:ext>
            </a:extLst>
          </p:cNvPr>
          <p:cNvSpPr txBox="1"/>
          <p:nvPr/>
        </p:nvSpPr>
        <p:spPr>
          <a:xfrm>
            <a:off x="3783288" y="2575574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E[H] = Prop(H : H ∊ S</a:t>
            </a:r>
            <a:r>
              <a:rPr lang="en-US" sz="22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0C877-6E8F-5041-099D-33EF59C53FC8}"/>
              </a:ext>
            </a:extLst>
          </p:cNvPr>
          <p:cNvSpPr txBox="1"/>
          <p:nvPr/>
        </p:nvSpPr>
        <p:spPr>
          <a:xfrm>
            <a:off x="393316" y="2575574"/>
            <a:ext cx="31701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Look at the simplest case: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EF61E2-2673-43E2-6EBE-2A6FE7754793}"/>
                  </a:ext>
                </a:extLst>
              </p:cNvPr>
              <p:cNvSpPr txBox="1"/>
              <p:nvPr/>
            </p:nvSpPr>
            <p:spPr>
              <a:xfrm>
                <a:off x="3783288" y="3318881"/>
                <a:ext cx="4572000" cy="483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E[H]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endParaRPr lang="en-US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EF61E2-2673-43E2-6EBE-2A6FE7754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288" y="3318881"/>
                <a:ext cx="4572000" cy="483209"/>
              </a:xfrm>
              <a:prstGeom prst="rect">
                <a:avLst/>
              </a:prstGeom>
              <a:blipFill>
                <a:blip r:embed="rId3"/>
                <a:stretch>
                  <a:fillRect l="-1939" t="-138462" b="-197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93E5EABE-2C02-B049-5B0A-E84A525CF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712" y="4052972"/>
            <a:ext cx="44450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7E3F97-950F-75E2-6F23-8A3CC0A779C8}"/>
              </a:ext>
            </a:extLst>
          </p:cNvPr>
          <p:cNvSpPr txBox="1"/>
          <p:nvPr/>
        </p:nvSpPr>
        <p:spPr>
          <a:xfrm>
            <a:off x="642277" y="4172972"/>
            <a:ext cx="267223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We construct a “credible interval” based on the parameter’s posterior given the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AB8C82-AD18-B896-DC47-6E875A70F34E}"/>
                  </a:ext>
                </a:extLst>
              </p:cNvPr>
              <p:cNvSpPr txBox="1"/>
              <p:nvPr/>
            </p:nvSpPr>
            <p:spPr>
              <a:xfrm>
                <a:off x="4572000" y="5947597"/>
                <a:ext cx="164932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AB8C82-AD18-B896-DC47-6E875A70F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947597"/>
                <a:ext cx="1649324" cy="430887"/>
              </a:xfrm>
              <a:prstGeom prst="rect">
                <a:avLst/>
              </a:prstGeom>
              <a:blipFill>
                <a:blip r:embed="rId5"/>
                <a:stretch>
                  <a:fillRect l="-763" t="-857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FBDEA79-6D12-9DF4-D1E5-DA21E0C7A668}"/>
              </a:ext>
            </a:extLst>
          </p:cNvPr>
          <p:cNvSpPr txBox="1"/>
          <p:nvPr/>
        </p:nvSpPr>
        <p:spPr>
          <a:xfrm>
            <a:off x="499217" y="5562875"/>
            <a:ext cx="281529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equal-tailed CI gives same weight to higher/lower values, like a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333176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3AD57F3-A8F3-EED2-0E9B-4AD9E28F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39DC6028-C318-BFAB-5D86-3A70F3EAE3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200" dirty="0"/>
              <a:t>General method for PPI</a:t>
            </a:r>
            <a:endParaRPr sz="32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E4A3107-9B40-6C1D-25A8-8AA2F0D42677}"/>
              </a:ext>
            </a:extLst>
          </p:cNvPr>
          <p:cNvSpPr txBox="1">
            <a:spLocks/>
          </p:cNvSpPr>
          <p:nvPr/>
        </p:nvSpPr>
        <p:spPr>
          <a:xfrm>
            <a:off x="499217" y="1096962"/>
            <a:ext cx="6293224" cy="1847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i="1" dirty="0"/>
              <a:t>E[</a:t>
            </a:r>
            <a:r>
              <a:rPr lang="en-US" sz="2400" i="1" dirty="0"/>
              <a:t>g(S</a:t>
            </a:r>
            <a:r>
              <a:rPr lang="en-US" sz="2400" i="1" baseline="-25000" dirty="0"/>
              <a:t>n</a:t>
            </a:r>
            <a:r>
              <a:rPr lang="en-US" sz="2400" i="1" dirty="0"/>
              <a:t> , S̃</a:t>
            </a:r>
            <a:r>
              <a:rPr lang="en-US" sz="2400" i="1" baseline="-25000" dirty="0"/>
              <a:t>N</a:t>
            </a:r>
            <a:r>
              <a:rPr lang="en-US" sz="2400" i="1" dirty="0"/>
              <a:t> , f)] =</a:t>
            </a:r>
            <a:endParaRPr lang="en-US" sz="2200" i="1" dirty="0"/>
          </a:p>
          <a:p>
            <a:pPr marL="457200" lvl="1" indent="0">
              <a:buNone/>
            </a:pPr>
            <a:r>
              <a:rPr lang="en-US" sz="2200" i="1" dirty="0"/>
              <a:t>Prop(H|A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 * 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 +</a:t>
            </a:r>
          </a:p>
          <a:p>
            <a:pPr marL="457200" lvl="1" indent="0">
              <a:buNone/>
            </a:pPr>
            <a:r>
              <a:rPr lang="en-US" sz="2200" i="1" dirty="0"/>
              <a:t>Prop(H|¬A : H,A ∊ S</a:t>
            </a:r>
            <a:r>
              <a:rPr lang="en-US" sz="2200" i="1" baseline="-25000" dirty="0"/>
              <a:t>n</a:t>
            </a:r>
            <a:r>
              <a:rPr lang="en-US" sz="2200" i="1" dirty="0"/>
              <a:t> ) * (1 - Prop(A : A ∊ S̃</a:t>
            </a:r>
            <a:r>
              <a:rPr lang="en-US" sz="2200" i="1" baseline="-25000" dirty="0"/>
              <a:t>N</a:t>
            </a:r>
            <a:r>
              <a:rPr lang="en-US" sz="2200" i="1" dirty="0"/>
              <a:t> ))</a:t>
            </a:r>
          </a:p>
          <a:p>
            <a:pPr marL="457200" lvl="1" indent="0">
              <a:buNone/>
            </a:pPr>
            <a:endParaRPr lang="en-US" sz="2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AFAF1-E6C4-139A-3835-80110C90D00C}"/>
              </a:ext>
            </a:extLst>
          </p:cNvPr>
          <p:cNvSpPr txBox="1"/>
          <p:nvPr/>
        </p:nvSpPr>
        <p:spPr>
          <a:xfrm>
            <a:off x="393316" y="2575574"/>
            <a:ext cx="182544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For this case: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9035A6-B016-784F-D793-45D226F0398D}"/>
                  </a:ext>
                </a:extLst>
              </p:cNvPr>
              <p:cNvSpPr txBox="1"/>
              <p:nvPr/>
            </p:nvSpPr>
            <p:spPr>
              <a:xfrm>
                <a:off x="739588" y="3375127"/>
                <a:ext cx="7217336" cy="537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E[</a:t>
                </a:r>
                <a:r>
                  <a:rPr lang="en-US" sz="2400" i="1" dirty="0">
                    <a:ea typeface="Cambria Math" panose="02040503050406030204" pitchFamily="18" charset="0"/>
                  </a:rPr>
                  <a:t>g]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|¬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((1−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|¬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9035A6-B016-784F-D793-45D226F03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88" y="3375127"/>
                <a:ext cx="7217336" cy="537968"/>
              </a:xfrm>
              <a:prstGeom prst="rect">
                <a:avLst/>
              </a:prstGeom>
              <a:blipFill>
                <a:blip r:embed="rId3"/>
                <a:stretch>
                  <a:fillRect l="-1406" t="-127273" b="-188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FEB8326-B385-D5ED-6509-49F4E4E7D18D}"/>
              </a:ext>
            </a:extLst>
          </p:cNvPr>
          <p:cNvSpPr txBox="1"/>
          <p:nvPr/>
        </p:nvSpPr>
        <p:spPr>
          <a:xfrm>
            <a:off x="393315" y="4158650"/>
            <a:ext cx="782283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We can use </a:t>
            </a:r>
            <a:r>
              <a:rPr lang="en-US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Monte Carlo integration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to solve this and similar integrals: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0C21D0-B93C-6DA2-1386-0702C16AC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94" y="4805538"/>
            <a:ext cx="6153424" cy="95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1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8AEC19B-2A41-E6B8-0285-C6A146FF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96F7F358-DF6D-F6D8-9FE4-E385D73DB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3200" dirty="0"/>
              <a:t>General method for PPI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DB397-D787-9D18-0F42-6E8BFC997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905" y="1136414"/>
            <a:ext cx="5267753" cy="817974"/>
          </a:xfrm>
          <a:prstGeom prst="rect">
            <a:avLst/>
          </a:prstGeom>
        </p:spPr>
      </p:pic>
      <p:pic>
        <p:nvPicPr>
          <p:cNvPr id="4" name="Google Shape;77;p14">
            <a:extLst>
              <a:ext uri="{FF2B5EF4-FFF2-40B4-BE49-F238E27FC236}">
                <a16:creationId xmlns:a16="http://schemas.microsoft.com/office/drawing/2014/main" id="{455AF35A-EB2C-4385-0287-E84CFEC51A5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750" y="3352800"/>
            <a:ext cx="2663724" cy="1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8;p14">
            <a:extLst>
              <a:ext uri="{FF2B5EF4-FFF2-40B4-BE49-F238E27FC236}">
                <a16:creationId xmlns:a16="http://schemas.microsoft.com/office/drawing/2014/main" id="{25B15B51-F1A3-C3B0-4FCA-AAD572FB035A}"/>
              </a:ext>
            </a:extLst>
          </p:cNvPr>
          <p:cNvSpPr/>
          <p:nvPr/>
        </p:nvSpPr>
        <p:spPr>
          <a:xfrm>
            <a:off x="5462225" y="3880825"/>
            <a:ext cx="505500" cy="3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9;p14">
            <a:extLst>
              <a:ext uri="{FF2B5EF4-FFF2-40B4-BE49-F238E27FC236}">
                <a16:creationId xmlns:a16="http://schemas.microsoft.com/office/drawing/2014/main" id="{BB509D41-AC74-FB55-F64C-E0EABCE20A2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25" y="3421425"/>
            <a:ext cx="1871602" cy="12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0;p14">
            <a:extLst>
              <a:ext uri="{FF2B5EF4-FFF2-40B4-BE49-F238E27FC236}">
                <a16:creationId xmlns:a16="http://schemas.microsoft.com/office/drawing/2014/main" id="{DBFFF6F5-6182-C260-2540-E2E70EFA2B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6700" y="3429000"/>
            <a:ext cx="2124300" cy="14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1;p14">
            <a:extLst>
              <a:ext uri="{FF2B5EF4-FFF2-40B4-BE49-F238E27FC236}">
                <a16:creationId xmlns:a16="http://schemas.microsoft.com/office/drawing/2014/main" id="{88FB57B8-2855-E0A1-FD7C-3D3B261D45C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9650" y="2967725"/>
            <a:ext cx="3389100" cy="350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2;p14">
            <a:extLst>
              <a:ext uri="{FF2B5EF4-FFF2-40B4-BE49-F238E27FC236}">
                <a16:creationId xmlns:a16="http://schemas.microsoft.com/office/drawing/2014/main" id="{491FD0EE-0FD8-A38A-4362-B26CDE87DE84}"/>
              </a:ext>
            </a:extLst>
          </p:cNvPr>
          <p:cNvSpPr/>
          <p:nvPr/>
        </p:nvSpPr>
        <p:spPr>
          <a:xfrm>
            <a:off x="650200" y="3508650"/>
            <a:ext cx="263100" cy="1203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3;p14">
            <a:extLst>
              <a:ext uri="{FF2B5EF4-FFF2-40B4-BE49-F238E27FC236}">
                <a16:creationId xmlns:a16="http://schemas.microsoft.com/office/drawing/2014/main" id="{4F65E0C4-0A33-1D3E-B354-1A1744000EB3}"/>
              </a:ext>
            </a:extLst>
          </p:cNvPr>
          <p:cNvSpPr/>
          <p:nvPr/>
        </p:nvSpPr>
        <p:spPr>
          <a:xfrm>
            <a:off x="4155400" y="3432450"/>
            <a:ext cx="936900" cy="371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4;p14">
            <a:extLst>
              <a:ext uri="{FF2B5EF4-FFF2-40B4-BE49-F238E27FC236}">
                <a16:creationId xmlns:a16="http://schemas.microsoft.com/office/drawing/2014/main" id="{31E4339F-5DC5-E92B-FCD8-C0449C4C2882}"/>
              </a:ext>
            </a:extLst>
          </p:cNvPr>
          <p:cNvSpPr/>
          <p:nvPr/>
        </p:nvSpPr>
        <p:spPr>
          <a:xfrm>
            <a:off x="1183600" y="3508650"/>
            <a:ext cx="263100" cy="12033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5;p14">
            <a:extLst>
              <a:ext uri="{FF2B5EF4-FFF2-40B4-BE49-F238E27FC236}">
                <a16:creationId xmlns:a16="http://schemas.microsoft.com/office/drawing/2014/main" id="{7E4A87FC-31EA-428D-1675-5F69411642D7}"/>
              </a:ext>
            </a:extLst>
          </p:cNvPr>
          <p:cNvSpPr/>
          <p:nvPr/>
        </p:nvSpPr>
        <p:spPr>
          <a:xfrm>
            <a:off x="4155400" y="4346850"/>
            <a:ext cx="1013100" cy="371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6;p14">
            <a:extLst>
              <a:ext uri="{FF2B5EF4-FFF2-40B4-BE49-F238E27FC236}">
                <a16:creationId xmlns:a16="http://schemas.microsoft.com/office/drawing/2014/main" id="{351585F3-A191-C234-A0BA-C066A7650F79}"/>
              </a:ext>
            </a:extLst>
          </p:cNvPr>
          <p:cNvSpPr/>
          <p:nvPr/>
        </p:nvSpPr>
        <p:spPr>
          <a:xfrm>
            <a:off x="2607550" y="3880825"/>
            <a:ext cx="505500" cy="371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4C2F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87;p14">
            <a:extLst>
              <a:ext uri="{FF2B5EF4-FFF2-40B4-BE49-F238E27FC236}">
                <a16:creationId xmlns:a16="http://schemas.microsoft.com/office/drawing/2014/main" id="{6BCDE600-6F2F-E92E-CB7A-B301C17F10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229"/>
          <a:stretch/>
        </p:blipFill>
        <p:spPr>
          <a:xfrm>
            <a:off x="279400" y="2967725"/>
            <a:ext cx="2412400" cy="3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8;p14">
            <a:extLst>
              <a:ext uri="{FF2B5EF4-FFF2-40B4-BE49-F238E27FC236}">
                <a16:creationId xmlns:a16="http://schemas.microsoft.com/office/drawing/2014/main" id="{C3104CF3-9BE7-B848-2454-8FB5D5A98E21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40800" y="2975575"/>
            <a:ext cx="1871600" cy="30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9;p14">
            <a:extLst>
              <a:ext uri="{FF2B5EF4-FFF2-40B4-BE49-F238E27FC236}">
                <a16:creationId xmlns:a16="http://schemas.microsoft.com/office/drawing/2014/main" id="{81DD02ED-9FD9-DE1B-2B98-39719BD8EEE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8914"/>
          <a:stretch/>
        </p:blipFill>
        <p:spPr>
          <a:xfrm>
            <a:off x="6724050" y="4948925"/>
            <a:ext cx="1487448" cy="3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46AE7E-2440-0729-7DD0-17173D358814}"/>
              </a:ext>
            </a:extLst>
          </p:cNvPr>
          <p:cNvSpPr txBox="1"/>
          <p:nvPr/>
        </p:nvSpPr>
        <p:spPr>
          <a:xfrm>
            <a:off x="279400" y="2248209"/>
            <a:ext cx="699345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To compute integral and upper and lower bounds of CI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A278B-23BF-3005-C3F8-D857A66258D1}"/>
              </a:ext>
            </a:extLst>
          </p:cNvPr>
          <p:cNvSpPr txBox="1"/>
          <p:nvPr/>
        </p:nvSpPr>
        <p:spPr>
          <a:xfrm>
            <a:off x="306684" y="5099437"/>
            <a:ext cx="2544483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Assumes: parameter posteriors are independent and you can sample from each posterior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8F81B-D7B8-E077-542B-06642501C38F}"/>
              </a:ext>
            </a:extLst>
          </p:cNvPr>
          <p:cNvSpPr txBox="1"/>
          <p:nvPr/>
        </p:nvSpPr>
        <p:spPr>
          <a:xfrm>
            <a:off x="3468467" y="5099437"/>
            <a:ext cx="2375774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Histogram is a numerical approximation of the integral</a:t>
            </a:r>
          </a:p>
        </p:txBody>
      </p:sp>
    </p:spTree>
    <p:extLst>
      <p:ext uri="{BB962C8B-B14F-4D97-AF65-F5344CB8AC3E}">
        <p14:creationId xmlns:p14="http://schemas.microsoft.com/office/powerpoint/2010/main" val="278046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CC42C0-5ABE-A536-9718-C34BFFC0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3776"/>
            <a:ext cx="7772400" cy="1685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3E2824-E7D8-6855-0E51-A31A9559F82B}"/>
              </a:ext>
            </a:extLst>
          </p:cNvPr>
          <p:cNvSpPr txBox="1"/>
          <p:nvPr/>
        </p:nvSpPr>
        <p:spPr>
          <a:xfrm>
            <a:off x="6508376" y="107576"/>
            <a:ext cx="2003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F4C36-D6D0-5CD1-9F79-E347310F53D9}"/>
              </a:ext>
            </a:extLst>
          </p:cNvPr>
          <p:cNvSpPr txBox="1"/>
          <p:nvPr/>
        </p:nvSpPr>
        <p:spPr>
          <a:xfrm>
            <a:off x="685800" y="2272552"/>
            <a:ext cx="285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Machinery we developed: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AEEF2-F7BC-F292-48BC-74609456356E}"/>
              </a:ext>
            </a:extLst>
          </p:cNvPr>
          <p:cNvSpPr txBox="1"/>
          <p:nvPr/>
        </p:nvSpPr>
        <p:spPr>
          <a:xfrm>
            <a:off x="685800" y="2899168"/>
            <a:ext cx="4020671" cy="91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 to do MCI over combinations of common posteriors for means and proportions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C9E49-C9D0-F82E-4888-FF89A8473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615" y="2441108"/>
            <a:ext cx="2921100" cy="83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3E2865-5CFB-1DBD-2335-2432E8BA8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110" y="3146613"/>
            <a:ext cx="2375799" cy="556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558E76-2E32-D016-0149-7D7455068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670" y="3761738"/>
            <a:ext cx="3007339" cy="541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BDF012-2449-683C-C39B-EADF4937451E}"/>
              </a:ext>
            </a:extLst>
          </p:cNvPr>
          <p:cNvSpPr txBox="1"/>
          <p:nvPr/>
        </p:nvSpPr>
        <p:spPr>
          <a:xfrm>
            <a:off x="721507" y="4683157"/>
            <a:ext cx="7155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these to explore old and new methods for PPI…</a:t>
            </a:r>
          </a:p>
        </p:txBody>
      </p:sp>
    </p:spTree>
    <p:extLst>
      <p:ext uri="{BB962C8B-B14F-4D97-AF65-F5344CB8AC3E}">
        <p14:creationId xmlns:p14="http://schemas.microsoft.com/office/powerpoint/2010/main" val="427026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F3B0-1346-02DE-CCF6-470B2667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66C58-A2A9-BCEC-F2B1-21073691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130" y="1446259"/>
            <a:ext cx="4330232" cy="21728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E10A75-FD6B-60AE-69A6-80E5C8AA12EA}"/>
              </a:ext>
            </a:extLst>
          </p:cNvPr>
          <p:cNvSpPr txBox="1"/>
          <p:nvPr/>
        </p:nvSpPr>
        <p:spPr>
          <a:xfrm>
            <a:off x="575626" y="1446259"/>
            <a:ext cx="254448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Difference estimate</a:t>
            </a:r>
          </a:p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(old)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ED236-22E0-1471-8152-7E6C17FB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603" y="3956000"/>
            <a:ext cx="6148276" cy="2172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5C3AB-49EB-8E81-F0C7-F0E699112E54}"/>
              </a:ext>
            </a:extLst>
          </p:cNvPr>
          <p:cNvSpPr txBox="1"/>
          <p:nvPr/>
        </p:nvSpPr>
        <p:spPr>
          <a:xfrm>
            <a:off x="457200" y="3956000"/>
            <a:ext cx="254448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Bayesian version</a:t>
            </a:r>
          </a:p>
        </p:txBody>
      </p:sp>
    </p:spTree>
    <p:extLst>
      <p:ext uri="{BB962C8B-B14F-4D97-AF65-F5344CB8AC3E}">
        <p14:creationId xmlns:p14="http://schemas.microsoft.com/office/powerpoint/2010/main" val="334424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AB28-3426-D54D-EFF4-819F9F60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6600-B242-1CC5-0E5C-A90B7AF6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54875-B03A-B65E-F680-61AC00F6BBBB}"/>
              </a:ext>
            </a:extLst>
          </p:cNvPr>
          <p:cNvSpPr txBox="1"/>
          <p:nvPr/>
        </p:nvSpPr>
        <p:spPr>
          <a:xfrm>
            <a:off x="575626" y="2504455"/>
            <a:ext cx="811117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Stratified distance estimate: divide data intro ”strata” and do Bayesian PPI separately in each strata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1EE687-140F-4030-2F0D-1B06F88094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009" b="58122"/>
          <a:stretch/>
        </p:blipFill>
        <p:spPr>
          <a:xfrm>
            <a:off x="891379" y="3325473"/>
            <a:ext cx="6963715" cy="906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55F275-36B8-C192-3FCC-95B63669BA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06" b="78243"/>
          <a:stretch/>
        </p:blipFill>
        <p:spPr>
          <a:xfrm>
            <a:off x="891379" y="4071125"/>
            <a:ext cx="4935183" cy="4644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A66A7E-A2A9-1743-294D-C2645BE58DF6}"/>
              </a:ext>
            </a:extLst>
          </p:cNvPr>
          <p:cNvSpPr txBox="1"/>
          <p:nvPr/>
        </p:nvSpPr>
        <p:spPr>
          <a:xfrm>
            <a:off x="3630706" y="3470148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B4E13E-39DF-BD40-9FCD-CF150A5D0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06" t="23323" b="21071"/>
          <a:stretch/>
        </p:blipFill>
        <p:spPr>
          <a:xfrm>
            <a:off x="1163114" y="4729787"/>
            <a:ext cx="4935183" cy="11869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D3DE5B-7B4D-3437-D78C-B8740742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39" t="77670" r="1"/>
          <a:stretch/>
        </p:blipFill>
        <p:spPr>
          <a:xfrm>
            <a:off x="3025588" y="5549066"/>
            <a:ext cx="4314320" cy="476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FCECBA-4EDE-AC34-ED18-20E24B5370B9}"/>
              </a:ext>
            </a:extLst>
          </p:cNvPr>
          <p:cNvSpPr txBox="1"/>
          <p:nvPr/>
        </p:nvSpPr>
        <p:spPr>
          <a:xfrm>
            <a:off x="516413" y="1277188"/>
            <a:ext cx="811117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Stratified sampling: separately sample disjoint “strata” of a population (e.g., college degrees vs no-college degrees) and combine estimates in each strata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FE517-03EB-4362-60F0-4BE4BC9E3383}"/>
              </a:ext>
            </a:extLst>
          </p:cNvPr>
          <p:cNvSpPr txBox="1"/>
          <p:nvPr/>
        </p:nvSpPr>
        <p:spPr>
          <a:xfrm>
            <a:off x="516413" y="1979226"/>
            <a:ext cx="811117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Lowers variance if individual strata have low variance</a:t>
            </a:r>
          </a:p>
        </p:txBody>
      </p:sp>
    </p:spTree>
    <p:extLst>
      <p:ext uri="{BB962C8B-B14F-4D97-AF65-F5344CB8AC3E}">
        <p14:creationId xmlns:p14="http://schemas.microsoft.com/office/powerpoint/2010/main" val="287785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7860-B437-C574-FB20-36F9EF77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3ACA9-E313-1B8B-580E-5E33AE5B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910D1-11FF-14F2-3FD3-74EF1D30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" y="1398679"/>
            <a:ext cx="8776565" cy="4585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6C2CA4-A774-87E4-8569-A2801A7C7053}"/>
              </a:ext>
            </a:extLst>
          </p:cNvPr>
          <p:cNvSpPr txBox="1"/>
          <p:nvPr/>
        </p:nvSpPr>
        <p:spPr>
          <a:xfrm>
            <a:off x="457199" y="6091518"/>
            <a:ext cx="5930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SeaHorse</a:t>
            </a:r>
            <a:r>
              <a:rPr lang="en-US" dirty="0"/>
              <a:t>: multilingual </a:t>
            </a:r>
            <a:r>
              <a:rPr lang="en-US" dirty="0" err="1"/>
              <a:t>genAI</a:t>
            </a:r>
            <a:r>
              <a:rPr lang="en-US" dirty="0"/>
              <a:t> labeling tasks</a:t>
            </a:r>
          </a:p>
          <a:p>
            <a:r>
              <a:rPr lang="en-US" dirty="0"/>
              <a:t>AQA: attributed question answering task</a:t>
            </a:r>
          </a:p>
        </p:txBody>
      </p:sp>
    </p:spTree>
    <p:extLst>
      <p:ext uri="{BB962C8B-B14F-4D97-AF65-F5344CB8AC3E}">
        <p14:creationId xmlns:p14="http://schemas.microsoft.com/office/powerpoint/2010/main" val="28613893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4A4B-D979-EC61-E98C-9CC443F3E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44FD-6FDF-8E7B-91A8-2250B036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Background: Power Tuning for Difference Estimates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687A9-59F3-D88C-46ED-F06CEB023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130" y="1446259"/>
            <a:ext cx="4330232" cy="21728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EB5034-0C31-5F05-2FD5-42690788B0F8}"/>
              </a:ext>
            </a:extLst>
          </p:cNvPr>
          <p:cNvSpPr txBox="1"/>
          <p:nvPr/>
        </p:nvSpPr>
        <p:spPr>
          <a:xfrm>
            <a:off x="575626" y="1446259"/>
            <a:ext cx="254448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Difference estimate</a:t>
            </a:r>
          </a:p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(old)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CBCDDE-D433-0EC9-F8EC-F7850977E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61" y="3951581"/>
            <a:ext cx="5185432" cy="14273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0557B9-45F7-4B80-731A-35883750BE2A}"/>
              </a:ext>
            </a:extLst>
          </p:cNvPr>
          <p:cNvSpPr txBox="1"/>
          <p:nvPr/>
        </p:nvSpPr>
        <p:spPr>
          <a:xfrm>
            <a:off x="575625" y="3619080"/>
            <a:ext cx="254448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Generalization (PPI++)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875751-BE8B-F9B1-3298-B7051D81C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388" b="71561"/>
          <a:stretch/>
        </p:blipFill>
        <p:spPr>
          <a:xfrm>
            <a:off x="457200" y="4391661"/>
            <a:ext cx="2251180" cy="7720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B1D062-C3FE-B555-203D-F0C7E1A1E348}"/>
              </a:ext>
            </a:extLst>
          </p:cNvPr>
          <p:cNvSpPr txBox="1"/>
          <p:nvPr/>
        </p:nvSpPr>
        <p:spPr>
          <a:xfrm>
            <a:off x="575624" y="5526763"/>
            <a:ext cx="661855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works for any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there is a good heuristic for setting it using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6861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8E87-77E5-AB10-CE46-60F40F73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B070-2F65-D906-4A2C-B7102B80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Coverage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1E2AA-0C09-C006-AF5E-B40639C5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0" y="1439271"/>
            <a:ext cx="50165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654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8D90-3638-BD40-991C-3B5501C5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1402-8719-B9D5-1E8A-72EC0819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97F05-2694-6149-675A-1A2E5C0B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7051"/>
            <a:ext cx="7772400" cy="240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271607-EDAE-4C35-C3DF-8CB4E249DAB0}"/>
              </a:ext>
            </a:extLst>
          </p:cNvPr>
          <p:cNvSpPr txBox="1"/>
          <p:nvPr/>
        </p:nvSpPr>
        <p:spPr>
          <a:xfrm>
            <a:off x="6468035" y="1304365"/>
            <a:ext cx="177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066F9-D00C-3AD2-2AF5-071D7E438696}"/>
              </a:ext>
            </a:extLst>
          </p:cNvPr>
          <p:cNvSpPr txBox="1"/>
          <p:nvPr/>
        </p:nvSpPr>
        <p:spPr>
          <a:xfrm>
            <a:off x="1896035" y="4225510"/>
            <a:ext cx="559397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Observation: automated evals for QA don’t reflect human judgements very well!</a:t>
            </a:r>
          </a:p>
        </p:txBody>
      </p:sp>
    </p:spTree>
    <p:extLst>
      <p:ext uri="{BB962C8B-B14F-4D97-AF65-F5344CB8AC3E}">
        <p14:creationId xmlns:p14="http://schemas.microsoft.com/office/powerpoint/2010/main" val="142771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A3E7-7C29-1F1E-D2D3-FD40D9AC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0824-B586-B323-8B3A-9F90DB09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3401EA-A9E9-198D-FB20-9E42543B5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2" y="1980599"/>
            <a:ext cx="5907368" cy="46027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24A453-425D-06C2-F625-0DCAC61ED742}"/>
              </a:ext>
            </a:extLst>
          </p:cNvPr>
          <p:cNvSpPr txBox="1"/>
          <p:nvPr/>
        </p:nvSpPr>
        <p:spPr>
          <a:xfrm>
            <a:off x="1514847" y="1181100"/>
            <a:ext cx="559397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Observation: automated evals for QA don’t reflect human judgements very well!</a:t>
            </a:r>
          </a:p>
        </p:txBody>
      </p:sp>
    </p:spTree>
    <p:extLst>
      <p:ext uri="{BB962C8B-B14F-4D97-AF65-F5344CB8AC3E}">
        <p14:creationId xmlns:p14="http://schemas.microsoft.com/office/powerpoint/2010/main" val="42847391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FD03-8335-0C32-F0E4-2BCFEC5B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1092-FCFF-6BA9-B33B-70C4A19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55A69-3559-84BB-2F2F-7DC02E42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25" y="1872969"/>
            <a:ext cx="7820350" cy="427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078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050C-69F1-1EEE-C663-C03EDB91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88E2-6637-4264-774D-97E3ADAC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E0E8B-96B6-520F-9FF2-C10BE3F7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324" y="1455421"/>
            <a:ext cx="5631352" cy="480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503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CBDE-B455-FEDE-A6AF-365696E3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9F17-284D-9C50-8ACC-53CA0715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EA7B6-E54A-EC56-C965-B78367CD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27" y="1181100"/>
            <a:ext cx="7699037" cy="512705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C88688-1A99-EF7D-359D-715058218F06}"/>
              </a:ext>
            </a:extLst>
          </p:cNvPr>
          <p:cNvCxnSpPr/>
          <p:nvPr/>
        </p:nvCxnSpPr>
        <p:spPr>
          <a:xfrm>
            <a:off x="1993392" y="5248656"/>
            <a:ext cx="576072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5202E4-B04D-0C70-7B93-615EA24A6227}"/>
              </a:ext>
            </a:extLst>
          </p:cNvPr>
          <p:cNvCxnSpPr>
            <a:cxnSpLocks/>
          </p:cNvCxnSpPr>
          <p:nvPr/>
        </p:nvCxnSpPr>
        <p:spPr>
          <a:xfrm>
            <a:off x="1993392" y="4779264"/>
            <a:ext cx="3078480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ACE4A4-BA24-4333-C356-C997D4B2D538}"/>
              </a:ext>
            </a:extLst>
          </p:cNvPr>
          <p:cNvSpPr txBox="1"/>
          <p:nvPr/>
        </p:nvSpPr>
        <p:spPr>
          <a:xfrm rot="16200000">
            <a:off x="-246677" y="1664208"/>
            <a:ext cx="166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C I width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1AB71-3C90-3EBC-56B6-1D64A8A63692}"/>
              </a:ext>
            </a:extLst>
          </p:cNvPr>
          <p:cNvSpPr txBox="1"/>
          <p:nvPr/>
        </p:nvSpPr>
        <p:spPr>
          <a:xfrm>
            <a:off x="5337258" y="6214030"/>
            <a:ext cx="3075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human labels: 3k AR labels</a:t>
            </a:r>
          </a:p>
        </p:txBody>
      </p:sp>
    </p:spTree>
    <p:extLst>
      <p:ext uri="{BB962C8B-B14F-4D97-AF65-F5344CB8AC3E}">
        <p14:creationId xmlns:p14="http://schemas.microsoft.com/office/powerpoint/2010/main" val="42322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940D-448C-4343-B51D-45890AFFF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CC33-62DB-7E2F-1EC6-A5D5D800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Bayesian PPI: for Side-by-Side Tests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A2CD61-658A-437B-5060-A0E59375B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62" y="1096962"/>
            <a:ext cx="5899898" cy="329474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873721-5C46-327F-2693-B12D45AD6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4391710"/>
            <a:ext cx="8524687" cy="235871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Attributed QA dataset: many systems evaluated, many human labels, strong </a:t>
            </a:r>
            <a:r>
              <a:rPr lang="en-US" dirty="0" err="1"/>
              <a:t>autoraters</a:t>
            </a:r>
            <a:r>
              <a:rPr lang="en-US" dirty="0"/>
              <a:t> with confidence intervals</a:t>
            </a:r>
          </a:p>
          <a:p>
            <a:r>
              <a:rPr lang="en-US" dirty="0"/>
              <a:t>Use human acceptable/unacceptable ratings for individual outputs to construct synthetic </a:t>
            </a:r>
            <a:r>
              <a:rPr lang="en-US" dirty="0" err="1"/>
              <a:t>SxS</a:t>
            </a:r>
            <a:r>
              <a:rPr lang="en-US" dirty="0"/>
              <a:t> datapoints (system A &lt;=&gt; system B for 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r>
              <a:rPr lang="en-US" dirty="0"/>
              <a:t>identify 59 systems pairs where A outperforms B with high confidence using all human-labeled data</a:t>
            </a:r>
          </a:p>
          <a:p>
            <a:r>
              <a:rPr lang="en-US" dirty="0"/>
              <a:t>determine how many pairs can be distinguished with classical </a:t>
            </a:r>
            <a:r>
              <a:rPr lang="en-US" i="1" dirty="0"/>
              <a:t>vs </a:t>
            </a:r>
            <a:r>
              <a:rPr lang="en-US" dirty="0"/>
              <a:t>PPI tests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311C89-DE2D-85CB-7A74-79A51B4D239A}"/>
              </a:ext>
            </a:extLst>
          </p:cNvPr>
          <p:cNvCxnSpPr>
            <a:cxnSpLocks/>
          </p:cNvCxnSpPr>
          <p:nvPr/>
        </p:nvCxnSpPr>
        <p:spPr>
          <a:xfrm>
            <a:off x="1847088" y="1847088"/>
            <a:ext cx="4956048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02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181F-804F-79C3-9D47-594F7381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F054-F0A3-0951-EE66-5C686A1E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QA evals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76D6D-1159-848C-2DAE-175CDC01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7051"/>
            <a:ext cx="7772400" cy="240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1B173-38DC-AA35-45A2-78FC4BE8189E}"/>
              </a:ext>
            </a:extLst>
          </p:cNvPr>
          <p:cNvSpPr txBox="1"/>
          <p:nvPr/>
        </p:nvSpPr>
        <p:spPr>
          <a:xfrm>
            <a:off x="6468035" y="1304365"/>
            <a:ext cx="177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5C2BBA-CABB-AC7B-2DEE-86E74D37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475041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Google Shape;139;p22">
            <a:extLst>
              <a:ext uri="{FF2B5EF4-FFF2-40B4-BE49-F238E27FC236}">
                <a16:creationId xmlns:a16="http://schemas.microsoft.com/office/drawing/2014/main" id="{7FF39642-9D11-CF65-8372-08EEE9A960D7}"/>
              </a:ext>
            </a:extLst>
          </p:cNvPr>
          <p:cNvGraphicFramePr/>
          <p:nvPr/>
        </p:nvGraphicFramePr>
        <p:xfrm>
          <a:off x="1057276" y="4128395"/>
          <a:ext cx="7400924" cy="23163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868">
                  <a:extLst>
                    <a:ext uri="{9D8B030D-6E8A-4147-A177-3AD203B41FA5}">
                      <a16:colId xmlns:a16="http://schemas.microsoft.com/office/drawing/2014/main" val="2284391669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7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Model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Examples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(std eval)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(Human)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Standard CI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4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FewShot InstructGPT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50.5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</a:t>
                      </a:r>
                      <a:endParaRPr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70.4 - 80.4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7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FiD-KD (best baseline)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61.2</a:t>
                      </a:r>
                      <a:endParaRPr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73.1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67.6 - 77.9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4BB3DD-C185-526D-D743-C20EB3505129}"/>
              </a:ext>
            </a:extLst>
          </p:cNvPr>
          <p:cNvSpPr txBox="1"/>
          <p:nvPr/>
        </p:nvSpPr>
        <p:spPr>
          <a:xfrm>
            <a:off x="7004304" y="3891771"/>
            <a:ext cx="1453896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One claim of </a:t>
            </a:r>
            <a:r>
              <a:rPr lang="en-US" dirty="0" err="1"/>
              <a:t>Kamaloo</a:t>
            </a:r>
            <a:r>
              <a:rPr lang="en-US" dirty="0"/>
              <a:t> et al paper: closed book models were </a:t>
            </a:r>
            <a:r>
              <a:rPr lang="en-US" b="1" dirty="0"/>
              <a:t>better</a:t>
            </a:r>
            <a:r>
              <a:rPr lang="en-US" dirty="0"/>
              <a:t> than best open-book baseline!</a:t>
            </a:r>
          </a:p>
        </p:txBody>
      </p:sp>
    </p:spTree>
    <p:extLst>
      <p:ext uri="{BB962C8B-B14F-4D97-AF65-F5344CB8AC3E}">
        <p14:creationId xmlns:p14="http://schemas.microsoft.com/office/powerpoint/2010/main" val="133024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1255-275C-701A-FE60-B3E2728D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56D0F5ED-9BBE-AFED-596F-624A13CAE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475041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Google Shape;139;p22">
            <a:extLst>
              <a:ext uri="{FF2B5EF4-FFF2-40B4-BE49-F238E27FC236}">
                <a16:creationId xmlns:a16="http://schemas.microsoft.com/office/drawing/2014/main" id="{E68E5AFD-970E-D58E-08BE-06FCFB82F2F8}"/>
              </a:ext>
            </a:extLst>
          </p:cNvPr>
          <p:cNvGraphicFramePr/>
          <p:nvPr/>
        </p:nvGraphicFramePr>
        <p:xfrm>
          <a:off x="1057276" y="4128395"/>
          <a:ext cx="7400924" cy="23163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868">
                  <a:extLst>
                    <a:ext uri="{9D8B030D-6E8A-4147-A177-3AD203B41FA5}">
                      <a16:colId xmlns:a16="http://schemas.microsoft.com/office/drawing/2014/main" val="2284391669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17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Model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Examples</a:t>
                      </a:r>
                      <a:endParaRPr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(std eval)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Acc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(Human)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Standard CI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4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FewShot InstructGPT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50.5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75.8</a:t>
                      </a:r>
                      <a:endParaRPr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70.4 - 80.4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76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FiD-KD (best baseline)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61.2</a:t>
                      </a:r>
                      <a:endParaRPr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73.1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67.6 - 77.9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oogle Shape;140;p22">
            <a:extLst>
              <a:ext uri="{FF2B5EF4-FFF2-40B4-BE49-F238E27FC236}">
                <a16:creationId xmlns:a16="http://schemas.microsoft.com/office/drawing/2014/main" id="{745ABDB3-C2E8-8864-30FD-BF2D8608F1B2}"/>
              </a:ext>
            </a:extLst>
          </p:cNvPr>
          <p:cNvGraphicFramePr/>
          <p:nvPr/>
        </p:nvGraphicFramePr>
        <p:xfrm>
          <a:off x="749141" y="1193245"/>
          <a:ext cx="7645718" cy="1920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77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Method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Confidence that </a:t>
                      </a:r>
                      <a:r>
                        <a:rPr lang="en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FewShot</a:t>
                      </a:r>
                      <a:r>
                        <a:rPr lang="e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&gt; Baseline</a:t>
                      </a:r>
                      <a:endParaRPr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Standard unpaired test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~= 0.36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Standard paired test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~= 0.55</a:t>
                      </a:r>
                      <a:endParaRPr sz="20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PPI test with GPT-3 judge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~= 0.88</a:t>
                      </a:r>
                      <a:endParaRPr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1253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3520-974E-AF73-63B4-4E293FC0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PPI: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9AEE1-BA81-3045-23B4-C2CF6758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864600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</a:t>
            </a:r>
            <a:r>
              <a:rPr lang="en-US" dirty="0">
                <a:solidFill>
                  <a:srgbClr val="00B050"/>
                </a:solidFill>
              </a:rPr>
              <a:t>favor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It’s easy to explore new PPI approaches</a:t>
            </a:r>
          </a:p>
          <a:p>
            <a:pPr lvl="2"/>
            <a:r>
              <a:rPr lang="en-US" dirty="0"/>
              <a:t>Define a proxy </a:t>
            </a:r>
            <a:r>
              <a:rPr lang="en-US" dirty="0" err="1"/>
              <a:t>estimand</a:t>
            </a:r>
            <a:r>
              <a:rPr lang="en-US" dirty="0"/>
              <a:t> that uses the </a:t>
            </a:r>
            <a:r>
              <a:rPr lang="en-US" dirty="0" err="1"/>
              <a:t>autorater</a:t>
            </a:r>
            <a:endParaRPr lang="en-US" dirty="0"/>
          </a:p>
          <a:p>
            <a:pPr lvl="2"/>
            <a:r>
              <a:rPr lang="en-US" dirty="0"/>
              <a:t>Use Monte Carlo integration to get the credible intervals</a:t>
            </a:r>
          </a:p>
          <a:p>
            <a:pPr lvl="2"/>
            <a:r>
              <a:rPr lang="en-US" dirty="0"/>
              <a:t>profit—e.g., 45% reduction in # labels</a:t>
            </a:r>
          </a:p>
          <a:p>
            <a:r>
              <a:rPr lang="en-US" dirty="0">
                <a:solidFill>
                  <a:srgbClr val="FF0000"/>
                </a:solidFill>
              </a:rPr>
              <a:t>Against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only useful new methods were variants of stratification</a:t>
            </a:r>
          </a:p>
          <a:p>
            <a:pPr lvl="1"/>
            <a:r>
              <a:rPr lang="en-US" dirty="0"/>
              <a:t>Credible intervals are technically different from confidence intervals</a:t>
            </a:r>
          </a:p>
          <a:p>
            <a:pPr lvl="2"/>
            <a:r>
              <a:rPr lang="en-US" dirty="0"/>
              <a:t>Confidence interval: probability taken over experiment (e.g.. the sample drawn)</a:t>
            </a:r>
          </a:p>
          <a:p>
            <a:pPr lvl="2"/>
            <a:r>
              <a:rPr lang="en-US" dirty="0"/>
              <a:t>Credible interval: probability take over unknown parameter values</a:t>
            </a:r>
          </a:p>
          <a:p>
            <a:pPr lvl="1"/>
            <a:r>
              <a:rPr lang="en-US" dirty="0"/>
              <a:t>This can be hard to explain to decision-makers</a:t>
            </a:r>
          </a:p>
        </p:txBody>
      </p:sp>
    </p:spTree>
    <p:extLst>
      <p:ext uri="{BB962C8B-B14F-4D97-AF65-F5344CB8AC3E}">
        <p14:creationId xmlns:p14="http://schemas.microsoft.com/office/powerpoint/2010/main" val="4918745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C1E56C-236B-0C2A-F7CF-1E3C727A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809938"/>
            <a:ext cx="7772400" cy="30801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49FBAA-8E71-F0BE-9025-C5751AB2B56C}"/>
              </a:ext>
            </a:extLst>
          </p:cNvPr>
          <p:cNvSpPr txBox="1"/>
          <p:nvPr/>
        </p:nvSpPr>
        <p:spPr>
          <a:xfrm>
            <a:off x="6473952" y="237744"/>
            <a:ext cx="186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3628469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A7CD-92B6-FE30-B201-7BAA3B44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CAC2-EA49-1D45-99A0-FAC2AF81E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PPI paper: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9843-9365-E5F8-DDB0-0DCC9FA3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" y="1115758"/>
            <a:ext cx="8648700" cy="545014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Change 1: use a standard frequentist analysis</a:t>
            </a:r>
          </a:p>
          <a:p>
            <a:pPr lvl="1"/>
            <a:r>
              <a:rPr lang="en-US" dirty="0"/>
              <a:t>Establish confidence intervals instead of credible intervals</a:t>
            </a:r>
          </a:p>
          <a:p>
            <a:r>
              <a:rPr lang="en-US" dirty="0"/>
              <a:t>Change 2: only evaluate the stratified variant of PPI</a:t>
            </a:r>
          </a:p>
          <a:p>
            <a:r>
              <a:rPr lang="en-US" dirty="0"/>
              <a:t>Change 3: combine with recent results on </a:t>
            </a:r>
            <a:r>
              <a:rPr lang="en-US" i="1" dirty="0"/>
              <a:t>active statistical inference </a:t>
            </a:r>
            <a:r>
              <a:rPr lang="en-US" dirty="0"/>
              <a:t>(</a:t>
            </a:r>
            <a:r>
              <a:rPr lang="en-US" dirty="0" err="1"/>
              <a:t>Zrnic</a:t>
            </a:r>
            <a:r>
              <a:rPr lang="en-US" dirty="0"/>
              <a:t> and </a:t>
            </a:r>
            <a:r>
              <a:rPr lang="en-US" dirty="0" err="1"/>
              <a:t>Candès</a:t>
            </a:r>
            <a:r>
              <a:rPr lang="en-US" dirty="0"/>
              <a:t>, ICML 2024):</a:t>
            </a:r>
          </a:p>
          <a:p>
            <a:pPr lvl="1"/>
            <a:r>
              <a:rPr lang="en-US" dirty="0"/>
              <a:t>Analysis of </a:t>
            </a:r>
            <a:r>
              <a:rPr lang="en-US" i="1" dirty="0"/>
              <a:t>which</a:t>
            </a:r>
            <a:r>
              <a:rPr lang="en-US" dirty="0"/>
              <a:t> human labels should be collected for PPI tests</a:t>
            </a:r>
          </a:p>
          <a:p>
            <a:pPr lvl="1"/>
            <a:r>
              <a:rPr lang="en-US" dirty="0"/>
              <a:t>Short story: optimal strategy is to let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approximate this to pick #human labels/strata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8ECB7B-8B4E-A4C8-8528-29658AA67C32}"/>
                  </a:ext>
                </a:extLst>
              </p:cNvPr>
              <p:cNvSpPr txBox="1"/>
              <p:nvPr/>
            </p:nvSpPr>
            <p:spPr>
              <a:xfrm>
                <a:off x="279400" y="5084064"/>
                <a:ext cx="8166100" cy="521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collect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label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[(</m:t>
                          </m:r>
                          <m:d>
                            <m:dPr>
                              <m:endChr m:val="|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8ECB7B-8B4E-A4C8-8528-29658AA67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5084064"/>
                <a:ext cx="8166100" cy="521810"/>
              </a:xfrm>
              <a:prstGeom prst="rect">
                <a:avLst/>
              </a:prstGeom>
              <a:blipFill>
                <a:blip r:embed="rId3"/>
                <a:stretch>
                  <a:fillRect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0908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7CD92-E33F-0943-4899-5FF14838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99" y="156213"/>
            <a:ext cx="8956475" cy="40866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7EA191-572B-AAB1-F585-7728A779E9F6}"/>
              </a:ext>
            </a:extLst>
          </p:cNvPr>
          <p:cNvSpPr txBox="1"/>
          <p:nvPr/>
        </p:nvSpPr>
        <p:spPr>
          <a:xfrm>
            <a:off x="1094223" y="4491228"/>
            <a:ext cx="212446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CI width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24860-2EB5-D419-034A-8A579525E475}"/>
              </a:ext>
            </a:extLst>
          </p:cNvPr>
          <p:cNvSpPr txBox="1"/>
          <p:nvPr/>
        </p:nvSpPr>
        <p:spPr>
          <a:xfrm>
            <a:off x="3800849" y="4491228"/>
            <a:ext cx="212446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% reduction in CI width vs classical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CB744-0052-E46B-36D8-F32DC79DB0BA}"/>
              </a:ext>
            </a:extLst>
          </p:cNvPr>
          <p:cNvSpPr txBox="1"/>
          <p:nvPr/>
        </p:nvSpPr>
        <p:spPr>
          <a:xfrm>
            <a:off x="6507475" y="4491227"/>
            <a:ext cx="212446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effective sample size </a:t>
            </a:r>
          </a:p>
        </p:txBody>
      </p:sp>
    </p:spTree>
    <p:extLst>
      <p:ext uri="{BB962C8B-B14F-4D97-AF65-F5344CB8AC3E}">
        <p14:creationId xmlns:p14="http://schemas.microsoft.com/office/powerpoint/2010/main" val="40781269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7E3A-C5C8-766C-0D84-33DB00A0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8FB9-E3F8-01EB-10C1-7669E34A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9782-C0D9-148D-FC6F-F9822BBC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CA8A78-2F73-1B91-FCB7-3595A903C02C}"/>
              </a:ext>
            </a:extLst>
          </p:cNvPr>
          <p:cNvSpPr txBox="1">
            <a:spLocks/>
          </p:cNvSpPr>
          <p:nvPr/>
        </p:nvSpPr>
        <p:spPr>
          <a:xfrm>
            <a:off x="279400" y="2181225"/>
            <a:ext cx="8121650" cy="19690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Arguments for:</a:t>
            </a:r>
          </a:p>
          <a:p>
            <a:r>
              <a:rPr lang="en-US" dirty="0"/>
              <a:t>much more data can be collected faster</a:t>
            </a:r>
          </a:p>
          <a:p>
            <a:r>
              <a:rPr lang="en-US" dirty="0"/>
              <a:t>my project is late / over budget</a:t>
            </a:r>
          </a:p>
          <a:p>
            <a:r>
              <a:rPr lang="en-US" dirty="0"/>
              <a:t>human labels are noisy</a:t>
            </a:r>
          </a:p>
          <a:p>
            <a:r>
              <a:rPr lang="en-US" dirty="0"/>
              <a:t>LLM-as-judge biases seem to be </a:t>
            </a:r>
            <a:r>
              <a:rPr lang="en-US" u="sng" dirty="0"/>
              <a:t>minor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69F80F-262A-182A-70F1-2BD2B233C293}"/>
              </a:ext>
            </a:extLst>
          </p:cNvPr>
          <p:cNvSpPr txBox="1">
            <a:spLocks/>
          </p:cNvSpPr>
          <p:nvPr/>
        </p:nvSpPr>
        <p:spPr>
          <a:xfrm>
            <a:off x="279400" y="4271963"/>
            <a:ext cx="8121650" cy="2431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 against:  ML/</a:t>
            </a:r>
            <a:r>
              <a:rPr lang="en-US" dirty="0" err="1"/>
              <a:t>GenAI</a:t>
            </a:r>
            <a:r>
              <a:rPr lang="en-US" dirty="0"/>
              <a:t> systems are </a:t>
            </a:r>
            <a:r>
              <a:rPr lang="en-US" b="1" dirty="0"/>
              <a:t>interconnected</a:t>
            </a:r>
          </a:p>
          <a:p>
            <a:r>
              <a:rPr lang="en-US" dirty="0"/>
              <a:t>We generate data for ML with </a:t>
            </a:r>
            <a:r>
              <a:rPr lang="en-US" dirty="0" err="1"/>
              <a:t>GenAI</a:t>
            </a:r>
            <a:r>
              <a:rPr lang="en-US" dirty="0"/>
              <a:t> (data augmentation)</a:t>
            </a:r>
          </a:p>
          <a:p>
            <a:r>
              <a:rPr lang="en-US" dirty="0"/>
              <a:t>We evaluate ML systems with </a:t>
            </a:r>
            <a:r>
              <a:rPr lang="en-US" dirty="0" err="1"/>
              <a:t>GenAI</a:t>
            </a:r>
            <a:endParaRPr lang="en-US" dirty="0"/>
          </a:p>
          <a:p>
            <a:r>
              <a:rPr lang="en-US" dirty="0"/>
              <a:t>We pre-train ML systems on ML-filtered text</a:t>
            </a:r>
          </a:p>
          <a:p>
            <a:r>
              <a:rPr lang="en-US" dirty="0"/>
              <a:t>We pre-train ML systems on </a:t>
            </a:r>
            <a:r>
              <a:rPr lang="en-US" dirty="0" err="1"/>
              <a:t>GenAI</a:t>
            </a:r>
            <a:r>
              <a:rPr lang="en-US" dirty="0"/>
              <a:t>-produced text</a:t>
            </a:r>
          </a:p>
          <a:p>
            <a:r>
              <a:rPr lang="en-US" dirty="0"/>
              <a:t>Long-term, will subtle biases have subtle effects? or large effects?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9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2E7D2-0455-949D-7BF2-90DC7055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B2CE-8D06-E78D-A156-EF02E946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PPI: Statistically Unbiased AI Judges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1D34-E18C-DF9C-B5D1-AF8C51BB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7707313" cy="9144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One solution: build an AI system to perform evaluation!</a:t>
            </a:r>
          </a:p>
          <a:p>
            <a:r>
              <a:rPr lang="en-US" dirty="0"/>
              <a:t>… but is this a good idea?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0A21F4-6953-1E65-7DF0-07C18E272CD9}"/>
              </a:ext>
            </a:extLst>
          </p:cNvPr>
          <p:cNvSpPr txBox="1">
            <a:spLocks/>
          </p:cNvSpPr>
          <p:nvPr/>
        </p:nvSpPr>
        <p:spPr>
          <a:xfrm>
            <a:off x="279400" y="2181225"/>
            <a:ext cx="8121650" cy="19690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Arguments for:</a:t>
            </a:r>
          </a:p>
          <a:p>
            <a:r>
              <a:rPr lang="en-US" dirty="0"/>
              <a:t>much more data can be collected faster</a:t>
            </a:r>
          </a:p>
          <a:p>
            <a:r>
              <a:rPr lang="en-US" dirty="0"/>
              <a:t>my project is late / over budget</a:t>
            </a:r>
          </a:p>
          <a:p>
            <a:r>
              <a:rPr lang="en-US" dirty="0"/>
              <a:t>human labels are noisy</a:t>
            </a:r>
          </a:p>
          <a:p>
            <a:r>
              <a:rPr lang="en-US" dirty="0"/>
              <a:t>LLM-as-judge biases seem to be </a:t>
            </a:r>
            <a:r>
              <a:rPr lang="en-US" u="sng" dirty="0"/>
              <a:t>minor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E5698F-12D9-357E-B322-4E102A1BC4C8}"/>
              </a:ext>
            </a:extLst>
          </p:cNvPr>
          <p:cNvSpPr txBox="1">
            <a:spLocks/>
          </p:cNvSpPr>
          <p:nvPr/>
        </p:nvSpPr>
        <p:spPr>
          <a:xfrm>
            <a:off x="279400" y="4249992"/>
            <a:ext cx="8121650" cy="15107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Cambria Math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Remember:</a:t>
            </a:r>
          </a:p>
          <a:p>
            <a:r>
              <a:rPr lang="en-US" dirty="0"/>
              <a:t>A small amount of human-labeled data can be used to correct for biases in a judge/</a:t>
            </a:r>
            <a:r>
              <a:rPr lang="en-US" dirty="0" err="1"/>
              <a:t>autorater</a:t>
            </a:r>
            <a:endParaRPr lang="en-US" dirty="0"/>
          </a:p>
          <a:p>
            <a:r>
              <a:rPr lang="en-US" dirty="0"/>
              <a:t>using prediction-powered inference / active inference</a:t>
            </a:r>
          </a:p>
        </p:txBody>
      </p:sp>
    </p:spTree>
    <p:extLst>
      <p:ext uri="{BB962C8B-B14F-4D97-AF65-F5344CB8AC3E}">
        <p14:creationId xmlns:p14="http://schemas.microsoft.com/office/powerpoint/2010/main" val="102741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2898</TotalTime>
  <Words>4870</Words>
  <Application>Microsoft Macintosh PowerPoint</Application>
  <PresentationFormat>On-screen Show (4:3)</PresentationFormat>
  <Paragraphs>723</Paragraphs>
  <Slides>89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7" baseType="lpstr">
      <vt:lpstr>ＭＳ Ｐゴシック</vt:lpstr>
      <vt:lpstr>Arial</vt:lpstr>
      <vt:lpstr>Calibri</vt:lpstr>
      <vt:lpstr>Cambria Math</vt:lpstr>
      <vt:lpstr>Gill Sans MT</vt:lpstr>
      <vt:lpstr>Lucida Grande</vt:lpstr>
      <vt:lpstr>Wingdings</vt:lpstr>
      <vt:lpstr>Office Theme</vt:lpstr>
      <vt:lpstr>10-605 / 10-405</vt:lpstr>
      <vt:lpstr>Outline – today</vt:lpstr>
      <vt:lpstr>Task vectors</vt:lpstr>
      <vt:lpstr>Recap: skip-gram embeddings (word2vec)</vt:lpstr>
      <vt:lpstr>Recap: Results from word2vec</vt:lpstr>
      <vt:lpstr>PowerPoint Presentation</vt:lpstr>
      <vt:lpstr>PowerPoint Presentation</vt:lpstr>
      <vt:lpstr>Recap: distributional clustering (with LSH)</vt:lpstr>
      <vt:lpstr>PowerPoint Presentation</vt:lpstr>
      <vt:lpstr>PowerPoint Presentation</vt:lpstr>
      <vt:lpstr>PowerPoint Presentation</vt:lpstr>
      <vt:lpstr>PowerPoint Presentation</vt:lpstr>
      <vt:lpstr>Discussion: Analogies</vt:lpstr>
      <vt:lpstr>PowerPoint Presentation</vt:lpstr>
      <vt:lpstr>Experiment with task negation</vt:lpstr>
      <vt:lpstr>Experiment with scaled task negation</vt:lpstr>
      <vt:lpstr>Experiment with scaled task negation</vt:lpstr>
      <vt:lpstr>Experiments with task analogies</vt:lpstr>
      <vt:lpstr>Experiments with task analogies</vt:lpstr>
      <vt:lpstr>Experiments with task analogies</vt:lpstr>
      <vt:lpstr>Experiments with task analogies</vt:lpstr>
      <vt:lpstr>Experiment: adding many  task vectors</vt:lpstr>
      <vt:lpstr>Experiment: adding different task vectors</vt:lpstr>
      <vt:lpstr>Experiment: adding different task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LoraHub: Method</vt:lpstr>
      <vt:lpstr>PowerPoint Presentation</vt:lpstr>
      <vt:lpstr>PHATGOOSE methods</vt:lpstr>
      <vt:lpstr>PHATGOOSE results</vt:lpstr>
      <vt:lpstr>Outline – today</vt:lpstr>
      <vt:lpstr>GenAI has changed how we evaluate ML</vt:lpstr>
      <vt:lpstr>GenAI has changed how we evaluate ML</vt:lpstr>
      <vt:lpstr>GenAI has changed how we evaluate ML</vt:lpstr>
      <vt:lpstr>GenAI has changed how we evaluate ML</vt:lpstr>
      <vt:lpstr>Scalable Evaluation: AI Judges</vt:lpstr>
      <vt:lpstr>Scalable Evaluation: AI Judges</vt:lpstr>
      <vt:lpstr>Scalable Evaluation: AI Judges</vt:lpstr>
      <vt:lpstr>Scalable Evaluation: AI Judges</vt:lpstr>
      <vt:lpstr>Information In Networks Is Weird</vt:lpstr>
      <vt:lpstr>Information In Networks Is Weird</vt:lpstr>
      <vt:lpstr>Making decisions with other people’s choices as an input</vt:lpstr>
      <vt:lpstr>Making decisions with other people’s choices as an input</vt:lpstr>
      <vt:lpstr>Making decisions with other people’s choices as an input</vt:lpstr>
      <vt:lpstr>Making decisions with other people’s choices as an input</vt:lpstr>
      <vt:lpstr>Making decisions with other people’s choices as an input: Schelling Segregation Model</vt:lpstr>
      <vt:lpstr>Schelling Segregation Model</vt:lpstr>
      <vt:lpstr>Schelling Segregation Model</vt:lpstr>
      <vt:lpstr>Schelling Segregation Model</vt:lpstr>
      <vt:lpstr>Scalable Evaluation: AI Judges</vt:lpstr>
      <vt:lpstr>PPI: Statistically Unbiased AI Judges</vt:lpstr>
      <vt:lpstr>PPI: Statistically Unbiased AI Judges</vt:lpstr>
      <vt:lpstr>PPI: Statistically Unbiased AI Judges</vt:lpstr>
      <vt:lpstr>PPI: Statistically Unbiased AI Judges</vt:lpstr>
      <vt:lpstr>PPI: Statistically Unbiased AI Judges</vt:lpstr>
      <vt:lpstr>Method used here: rewrite the p(H) using autorater labels and Bayes Rule</vt:lpstr>
      <vt:lpstr>General method for PPI</vt:lpstr>
      <vt:lpstr>General method for PPI</vt:lpstr>
      <vt:lpstr>General method for PPI</vt:lpstr>
      <vt:lpstr>General method for PPI</vt:lpstr>
      <vt:lpstr>PowerPoint Presentation</vt:lpstr>
      <vt:lpstr>Bayesian PPI</vt:lpstr>
      <vt:lpstr>Bayesian PPI</vt:lpstr>
      <vt:lpstr>Bayesian PPI: Results</vt:lpstr>
      <vt:lpstr>Background: Power Tuning for Difference Estimates</vt:lpstr>
      <vt:lpstr>Bayesian PPI: Coverage Results</vt:lpstr>
      <vt:lpstr>Bayesian PPI: QA evals</vt:lpstr>
      <vt:lpstr>Bayesian PPI: QA evals</vt:lpstr>
      <vt:lpstr>Bayesian PPI: QA evals</vt:lpstr>
      <vt:lpstr>Bayesian PPI: QA evals</vt:lpstr>
      <vt:lpstr>Bayesian PPI: QA evals</vt:lpstr>
      <vt:lpstr>Bayesian PPI: for Side-by-Side Tests</vt:lpstr>
      <vt:lpstr>Bayesian PPI: QA evals</vt:lpstr>
      <vt:lpstr>PowerPoint Presentation</vt:lpstr>
      <vt:lpstr>Bayesian PPI: Summary</vt:lpstr>
      <vt:lpstr>PowerPoint Presentation</vt:lpstr>
      <vt:lpstr>Stratified PPI paper: Summary</vt:lpstr>
      <vt:lpstr>PowerPoint Presentation</vt:lpstr>
      <vt:lpstr>PPI: Statistically Unbiased AI Judges</vt:lpstr>
      <vt:lpstr>PPI: Statistically Unbiased AI Judges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362</cp:revision>
  <dcterms:created xsi:type="dcterms:W3CDTF">2013-01-13T19:42:44Z</dcterms:created>
  <dcterms:modified xsi:type="dcterms:W3CDTF">2025-04-16T16:17:22Z</dcterms:modified>
</cp:coreProperties>
</file>