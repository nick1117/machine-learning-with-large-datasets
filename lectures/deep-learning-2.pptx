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8"/>
  </p:notesMasterIdLst>
  <p:sldIdLst>
    <p:sldId id="375" r:id="rId2"/>
    <p:sldId id="446" r:id="rId3"/>
    <p:sldId id="447" r:id="rId4"/>
    <p:sldId id="457" r:id="rId5"/>
    <p:sldId id="260" r:id="rId6"/>
    <p:sldId id="458" r:id="rId7"/>
    <p:sldId id="459" r:id="rId8"/>
    <p:sldId id="460" r:id="rId9"/>
    <p:sldId id="461" r:id="rId10"/>
    <p:sldId id="462" r:id="rId11"/>
    <p:sldId id="463" r:id="rId12"/>
    <p:sldId id="464" r:id="rId13"/>
    <p:sldId id="436" r:id="rId14"/>
    <p:sldId id="402" r:id="rId15"/>
    <p:sldId id="408" r:id="rId16"/>
    <p:sldId id="415" r:id="rId17"/>
    <p:sldId id="410" r:id="rId18"/>
    <p:sldId id="465" r:id="rId19"/>
    <p:sldId id="409" r:id="rId20"/>
    <p:sldId id="416" r:id="rId21"/>
    <p:sldId id="411" r:id="rId22"/>
    <p:sldId id="412" r:id="rId23"/>
    <p:sldId id="414" r:id="rId24"/>
    <p:sldId id="413" r:id="rId25"/>
    <p:sldId id="417" r:id="rId26"/>
    <p:sldId id="437" r:id="rId27"/>
    <p:sldId id="420" r:id="rId28"/>
    <p:sldId id="418" r:id="rId29"/>
    <p:sldId id="419" r:id="rId30"/>
    <p:sldId id="421" r:id="rId31"/>
    <p:sldId id="423" r:id="rId32"/>
    <p:sldId id="424" r:id="rId33"/>
    <p:sldId id="422" r:id="rId34"/>
    <p:sldId id="440" r:id="rId35"/>
    <p:sldId id="438" r:id="rId36"/>
    <p:sldId id="425" r:id="rId37"/>
    <p:sldId id="428" r:id="rId38"/>
    <p:sldId id="431" r:id="rId39"/>
    <p:sldId id="429" r:id="rId40"/>
    <p:sldId id="430" r:id="rId41"/>
    <p:sldId id="432" r:id="rId42"/>
    <p:sldId id="433" r:id="rId43"/>
    <p:sldId id="434" r:id="rId44"/>
    <p:sldId id="435" r:id="rId45"/>
    <p:sldId id="427" r:id="rId46"/>
    <p:sldId id="439" r:id="rId47"/>
    <p:sldId id="466" r:id="rId48"/>
    <p:sldId id="467" r:id="rId49"/>
    <p:sldId id="263" r:id="rId50"/>
    <p:sldId id="265" r:id="rId51"/>
    <p:sldId id="268" r:id="rId52"/>
    <p:sldId id="269" r:id="rId53"/>
    <p:sldId id="270" r:id="rId54"/>
    <p:sldId id="321" r:id="rId55"/>
    <p:sldId id="322" r:id="rId56"/>
    <p:sldId id="323" r:id="rId57"/>
    <p:sldId id="471" r:id="rId58"/>
    <p:sldId id="448" r:id="rId59"/>
    <p:sldId id="472" r:id="rId60"/>
    <p:sldId id="473" r:id="rId61"/>
    <p:sldId id="450" r:id="rId62"/>
    <p:sldId id="452" r:id="rId63"/>
    <p:sldId id="451" r:id="rId64"/>
    <p:sldId id="453" r:id="rId65"/>
    <p:sldId id="454" r:id="rId66"/>
    <p:sldId id="455" r:id="rId67"/>
    <p:sldId id="474" r:id="rId68"/>
    <p:sldId id="475" r:id="rId69"/>
    <p:sldId id="476" r:id="rId70"/>
    <p:sldId id="477" r:id="rId71"/>
    <p:sldId id="478" r:id="rId72"/>
    <p:sldId id="479" r:id="rId73"/>
    <p:sldId id="480" r:id="rId74"/>
    <p:sldId id="481" r:id="rId75"/>
    <p:sldId id="482" r:id="rId76"/>
    <p:sldId id="483" r:id="rId77"/>
    <p:sldId id="484" r:id="rId78"/>
    <p:sldId id="485" r:id="rId79"/>
    <p:sldId id="468" r:id="rId80"/>
    <p:sldId id="441" r:id="rId81"/>
    <p:sldId id="443" r:id="rId82"/>
    <p:sldId id="444" r:id="rId83"/>
    <p:sldId id="449" r:id="rId84"/>
    <p:sldId id="445" r:id="rId85"/>
    <p:sldId id="469" r:id="rId86"/>
    <p:sldId id="470" r:id="rId8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592"/>
    <p:restoredTop sz="88481" autoAdjust="0"/>
  </p:normalViewPr>
  <p:slideViewPr>
    <p:cSldViewPr snapToGrid="0" snapToObjects="1">
      <p:cViewPr varScale="1">
        <p:scale>
          <a:sx n="90" d="100"/>
          <a:sy n="90" d="100"/>
        </p:scale>
        <p:origin x="140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search/cs?searchtype=author&amp;query=Verwimp,+L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rxiv.org/search/cs?searchtype=author&amp;query=Wambacq,+P" TargetMode="External"/><Relationship Id="rId5" Type="http://schemas.openxmlformats.org/officeDocument/2006/relationships/hyperlink" Target="https://arxiv.org/search/cs?searchtype=author&amp;query=Van+hamme,+H" TargetMode="External"/><Relationship Id="rId4" Type="http://schemas.openxmlformats.org/officeDocument/2006/relationships/hyperlink" Target="https://arxiv.org/search/cs?searchtype=author&amp;query=Pelemans,+J" TargetMode="Externa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03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0FCB4-957F-4EAE-A37E-8ABE4C61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05021-9DFD-199B-A3E7-A60D13855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D65A7-BD71-AE32-2D67-D0EFF15C2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D9A50-75C1-0ED1-36F6-7DD6826B3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36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68061-F592-7162-429B-284D1B56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91E64-0633-6F50-42E3-354266522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4AF85-A63F-E263-8B16-37A1AADE5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40211-23ED-87BA-D8EF-15E8A33DC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44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80C3E-0BC2-A1D2-C200-B0A746518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8C7DC-6E0F-21D9-B84E-E6C13F210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14E32-DB4E-F970-1B0B-CE00197E7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84DAC-3767-48BA-B5BF-DF4DBAC56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1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CF265-9B20-BBC2-E2AA-E79D5BC9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20FC0-69AE-73EF-C4CD-43837C535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55DEE-C9EB-2A5E-C15F-E55696866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F618B-A279-D602-7659-A5581CA5A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17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is the bottleneck in the 2007 transformer?</a:t>
            </a:r>
          </a:p>
          <a:p>
            <a:r>
              <a:rPr lang="en-US" dirty="0"/>
              <a:t>is my interpretation of outputs correct here? or is an approximation based on masking?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71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B1AF8-A78F-A56A-8D15-5001B413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6B301-C8A8-9939-FE15-8EA43B537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66A2C-5429-1A62-3CDB-07F8371E4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is the bottleneck in the 207 transformer?</a:t>
            </a:r>
          </a:p>
          <a:p>
            <a:r>
              <a:rPr lang="en-US" dirty="0"/>
              <a:t>is my interpretation of outputs correct here? or is an approximation based on masking?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0BCE9-A1E2-08F1-7DA0-C6A7DC094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43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83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73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BE674-D8B6-5E8E-D104-B6BE03F56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20AA2-F72E-2DEA-BE54-81931A52B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7BAA2-ED20-B78B-C506-695ED8626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0E12D-BB22-EB5E-B0AD-56F11DC4D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7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5CAA2-5FBA-5422-5B57-5582955B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CFBBC-1193-874B-DB29-156426F32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DE971-9C7E-ABF0-25B8-2B0D1AAA7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43CD8-4772-AAEE-58D6-55CBB9142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06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F01F8-6B0F-3249-A926-866C582A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D766C-1529-82B2-4D56-A4C96046D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2B21B-7FD8-3529-03CA-7773F56BD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228DA-D77B-4C3F-5F5B-BB73C5CB6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07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7B2E8-6BEC-4EEE-EC41-5BC650A6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C3C55-6DE5-ADAD-3299-366F2BAE8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66082-3BC4-7F7F-E084-BDC061F83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625CE-1113-AA51-0822-E6F2D4C25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24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7EBDD-857B-0A1E-54B7-D62EFCB30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3728D-A754-5613-E4A3-A03165900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70DE7-8B7C-E3AE-77C8-F3C3148DF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5D740-4643-C1F8-357C-3952DEAB2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78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828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448D-2913-4668-E2DD-400004A3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6DDD8-97BF-A723-113F-A0801E967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06802-0DD9-863A-FB0E-0B7E892B9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5DB25-F0E3-9412-AF2D-BD7909E2B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96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3A05C-9D69-EB9E-BEFE-D0E8E83F3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FC31C-E8DE-F5D7-3A8F-3FAEAE5E4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B9CA3-DF47-567A-6BC3-D0714CC80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5A1A3-3390-5DBA-A1CE-253C00594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80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1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/pdf/2106.09685v1/1000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0DF44-CE92-DB40-9297-38DA1B65C2D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19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9E3E4-B271-0886-606B-7A7A600C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41624-E18D-B71B-680B-7FFB769EC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35449-682F-9458-9902-08EF9417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61FCC-16B6-2565-DAC8-27D1D38BB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129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B82D-829A-3478-ABBC-1C7B85FE3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8AA62-F157-2E7E-D2E6-0619F2A45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F3EEF-4A5A-42A7-DDDE-7F152D4AB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0D61D-6DC4-BF35-05A3-224341F2E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53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26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04CD-BF82-0087-582A-1924C5D0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90F66-A5F3-2249-AC09-43CC85402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B4A7C-9C01-DC8C-2A42-17781CDB0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F2174-7034-A174-DE86-1E7382A3F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215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4225D-29EB-922A-12AA-1954CBE9C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86556-918E-31B2-3BB7-4B13EF625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5831F-D924-C507-1C52-41AE0190F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2099"/>
              </a:lnSpc>
              <a:spcAft>
                <a:spcPts val="9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Character-Word LSTM Language Models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3"/>
              </a:rPr>
              <a:t>Lyan Verwimp</a:t>
            </a:r>
            <a:r>
              <a:rPr lang="en-US" b="0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,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4"/>
              </a:rPr>
              <a:t>Joris Pelemans</a:t>
            </a:r>
            <a:r>
              <a:rPr lang="en-US" b="0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,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5"/>
              </a:rPr>
              <a:t>Hugo Van hamme</a:t>
            </a:r>
            <a:r>
              <a:rPr lang="en-US" b="0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,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6"/>
              </a:rPr>
              <a:t>Patrick Wambacq</a:t>
            </a:r>
            <a:endParaRPr lang="en-US" b="0" i="0" dirty="0">
              <a:solidFill>
                <a:srgbClr val="000000"/>
              </a:solidFill>
              <a:effectLst/>
              <a:latin typeface="Lucida Grande" panose="020B06000405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5D3CE-8F78-9298-3A61-D80A1B500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015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A8023-2096-A665-E92B-FBDBE293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ECA51-2166-AC8A-F5FC-1DCE7197A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3CBBC-2122-4CAD-F183-4BD87B19F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525AC-9D45-A095-003E-616ED6490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545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D82E3-F714-13A8-2A5A-1DFF806E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E02C5-3A7D-BAE6-73B9-75875A1F5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2E493-39E0-9DFE-C847-75B77A678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  <a:p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/docs/transformers/</a:t>
            </a:r>
            <a:r>
              <a:rPr lang="en-US" dirty="0" err="1"/>
              <a:t>tokenizer_summary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04BA8-D304-DBAA-D202-91BCA0164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221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0B71F-C055-DBC0-8635-F03D7057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2D720-EFC8-743E-B5FE-6866C87DA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2C827-F6EE-FAA5-E841-E94658C2F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  <a:p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/docs/transformers/</a:t>
            </a:r>
            <a:r>
              <a:rPr lang="en-US" dirty="0" err="1"/>
              <a:t>tokenizer_summary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AAED7-C38E-AEBE-2D9E-1637F9BBF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800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7AE8-7496-7E31-FB1E-A44AA964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14F08-5F99-12E7-E86B-161FBD344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61D79-66C7-80EF-8AB2-C6ED9F6E9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48177-AB2B-B8CB-0C65-7B3877E7A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735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C5E0A-E9CB-FDC7-83FC-55F67719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B743D-FE25-1C82-7624-3D4F5E9EA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AC22D-8CEF-6072-6246-47AE1FCF7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DC30A-7F03-0B7C-215A-7D4D839B8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023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36BCF-7D93-EA5C-F62A-35963AFD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752B6-DC0E-09B6-7CC7-73D9B864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E004D-C7B5-FCE6-B4C8-89FE850E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20B98-02EE-05A7-04EC-0CB4E468A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785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3E5B-8636-A99C-FD58-016D5797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8260E-A4F2-AB01-8FA1-A42E875A7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9FB5-EC9A-9246-972D-BB60D0236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 for </a:t>
            </a:r>
            <a:r>
              <a:rPr lang="en-US" dirty="0" err="1"/>
              <a:t>sentencepieces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D1BB4-F061-DF83-4F5C-7E2332CFF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509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B0EB3-AB8B-8AE7-451D-A118488C4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33C58-3E68-8E11-1ADD-0C597D0ED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673C6-7D12-E157-81B8-CDC61D0A3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  <a:p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/docs/transformers/</a:t>
            </a:r>
            <a:r>
              <a:rPr lang="en-US" dirty="0" err="1"/>
              <a:t>tokenizer_summary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4037-AA0D-87AC-1C4E-5E501D8C1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735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7FD9D-558E-1709-F0D2-3B0F676C8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BBCE7-702E-3B98-D3A0-BD7A6F9B7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73BBB-DA35-A4F7-AA8B-5B78ABB02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  <a:p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/docs/transformers/</a:t>
            </a:r>
            <a:r>
              <a:rPr lang="en-US" dirty="0" err="1"/>
              <a:t>tokenizer_summary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337E3-E011-22CB-EF7C-3DE43F4DE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940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67B3-FAAB-E5B7-C3BC-4E3C7BEC7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99F78-B208-5550-7F13-96DFA97F6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176C3-A862-58D9-0FCF-90E0FF35B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/pdf/2010.11929/1000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28888-D3BE-A8DF-280E-5F42A1BAA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067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E706F-6335-1554-08DC-C15E40B48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F5895-7EB3-2355-0FFC-D0C3622B6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2EC82-456A-C594-54E7-A3C60CF1D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B1E85-DA83-89A1-D66D-8F6B994F4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639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AB34-9B39-250B-E77D-BEAA4EEA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0152B-4A59-4D42-59CD-5AE3E5D9B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4F39D-B933-EB68-03EE-B0D2992D5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E326E-BB08-7A2D-DE6C-D28428CCA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244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3164-AF63-B7F6-17A9-6B94ED43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3B586-4645-366E-686C-E04D2A1C5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2FA0B-B68B-10CB-F5EC-9CADBB837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is the bottleneck in the 2007 transformer?</a:t>
            </a:r>
          </a:p>
          <a:p>
            <a:r>
              <a:rPr lang="en-US" dirty="0"/>
              <a:t>is my interpretation of outputs correct here? or is an approximation based on masking?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FD8A3-9B83-769D-1A39-31AB62783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145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0270A-2855-AA0C-60B6-654D88E5C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6545B-F6F5-AA32-F6A0-79D5BE72A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777EA-4B4A-E4BE-CE8E-BA0E35969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is the bottleneck in the 2007 transformer?</a:t>
            </a:r>
          </a:p>
          <a:p>
            <a:r>
              <a:rPr lang="en-US" dirty="0"/>
              <a:t>is my interpretation of outputs correct here? or is an approximation based on masking?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B493A-1229-2FF2-5289-A53061587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7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22237" y="521967"/>
            <a:ext cx="5796880" cy="4619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2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3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96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2093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google/technology/research/makings-smart-cooki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2eml.school/transformers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hyperlink" Target="https://github.com/rasbt/LLMs-from-scratch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ilydoseofds.com/implementing-lora-from-scratch-for-fine-tuning-llms/" TargetMode="Externa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www.andrew.cmu.edu/course/11-667/lectures/W4L2_PETM.pptx.pdf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mniskin/another-annotated-transformer-1c7be3f99e23" TargetMode="Externa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97BB-6EC1-BD2E-BF98-D5BC234EE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Guest Speaker Monday!</a:t>
            </a:r>
            <a:br>
              <a:rPr lang="en-US" dirty="0"/>
            </a:br>
            <a:r>
              <a:rPr lang="en-US" sz="3100" dirty="0"/>
              <a:t>Greg Kochanski, Google DeepMind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EBD35-8509-EB5E-717E-6075AC333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181100"/>
            <a:ext cx="8274081" cy="4219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72A631-1346-9EBC-E26D-493F86313349}"/>
              </a:ext>
            </a:extLst>
          </p:cNvPr>
          <p:cNvSpPr txBox="1"/>
          <p:nvPr/>
        </p:nvSpPr>
        <p:spPr>
          <a:xfrm>
            <a:off x="957263" y="5986463"/>
            <a:ext cx="711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https://blog.google/technology/research/makings-smart-cookie/</a:t>
            </a:r>
            <a:r>
              <a:rPr lang="en-US" dirty="0"/>
              <a:t> </a:t>
            </a:r>
          </a:p>
        </p:txBody>
      </p:sp>
      <p:pic>
        <p:nvPicPr>
          <p:cNvPr id="1026" name="Picture 2" descr="None">
            <a:extLst>
              <a:ext uri="{FF2B5EF4-FFF2-40B4-BE49-F238E27FC236}">
                <a16:creationId xmlns:a16="http://schemas.microsoft.com/office/drawing/2014/main" id="{3628B422-3FAB-E136-AA66-DDDCE9D48B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0" b="31088"/>
          <a:stretch/>
        </p:blipFill>
        <p:spPr bwMode="auto">
          <a:xfrm>
            <a:off x="971550" y="1926432"/>
            <a:ext cx="7200900" cy="354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91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ansformer Neural Networks: A Step-by-Step Breakdown | Built In">
            <a:extLst>
              <a:ext uri="{FF2B5EF4-FFF2-40B4-BE49-F238E27FC236}">
                <a16:creationId xmlns:a16="http://schemas.microsoft.com/office/drawing/2014/main" id="{7168F3E8-F9B1-35A7-BE99-11BE13D0B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827" y="1264020"/>
            <a:ext cx="2159997" cy="311975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prstMaterial="metal">
            <a:bevelB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EFAE2F-793D-4E48-0E99-82C1732E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Evolution of Transformers: Summary</a:t>
            </a:r>
          </a:p>
        </p:txBody>
      </p:sp>
      <p:pic>
        <p:nvPicPr>
          <p:cNvPr id="3" name="Picture 4" descr="ascent of man monkey trump Men's T-Shirt">
            <a:extLst>
              <a:ext uri="{FF2B5EF4-FFF2-40B4-BE49-F238E27FC236}">
                <a16:creationId xmlns:a16="http://schemas.microsoft.com/office/drawing/2014/main" id="{4E86C087-00A0-80B7-80A4-57802333D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45" y="1812502"/>
            <a:ext cx="4341813" cy="434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Transformers Studio Series Deluxe Transformers: One 112 Optimus Prime 4.5”  Action Figure, 8+">
            <a:extLst>
              <a:ext uri="{FF2B5EF4-FFF2-40B4-BE49-F238E27FC236}">
                <a16:creationId xmlns:a16="http://schemas.microsoft.com/office/drawing/2014/main" id="{D806E724-CB46-65C0-56AF-ADF4E2744E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9" r="16166"/>
          <a:stretch/>
        </p:blipFill>
        <p:spPr bwMode="auto">
          <a:xfrm>
            <a:off x="4593540" y="1364373"/>
            <a:ext cx="3150286" cy="468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59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7A42-59D4-C024-62DF-8C3979E6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3AFCB-F9F4-494D-18F4-F6DF64F99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are deep MLPs interesting?</a:t>
            </a:r>
          </a:p>
          <a:p>
            <a:pPr lvl="1"/>
            <a:r>
              <a:rPr lang="en-US" dirty="0"/>
              <a:t>They are more expressive</a:t>
            </a:r>
          </a:p>
          <a:p>
            <a:r>
              <a:rPr lang="en-US" dirty="0"/>
              <a:t>Why are they hard to learn?</a:t>
            </a:r>
          </a:p>
          <a:p>
            <a:pPr lvl="1"/>
            <a:r>
              <a:rPr lang="en-US" dirty="0"/>
              <a:t>Vanishing gradients: gradients can get exponentially smaller with depth</a:t>
            </a:r>
          </a:p>
          <a:p>
            <a:pPr lvl="1"/>
            <a:r>
              <a:rPr lang="en-US" dirty="0"/>
              <a:t>Activation values need to stay in a narrow range or else sigmoid units get “stuck”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079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6-04-03 at 3.47.1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321"/>
            <a:ext cx="9144000" cy="22311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9547" y="1554955"/>
            <a:ext cx="1504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 Stats 2010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5</a:t>
            </a:fld>
            <a:endParaRPr lang="en-US"/>
          </a:p>
        </p:txBody>
      </p:sp>
      <p:pic>
        <p:nvPicPr>
          <p:cNvPr id="10" name="Picture 9" descr="A graph with colorful lines&#10;&#10;AI-generated content may be incorrect.">
            <a:extLst>
              <a:ext uri="{FF2B5EF4-FFF2-40B4-BE49-F238E27FC236}">
                <a16:creationId xmlns:a16="http://schemas.microsoft.com/office/drawing/2014/main" id="{11233339-FEF2-C644-7DC0-A390C5AF8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86" y="2696422"/>
            <a:ext cx="5689600" cy="381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553200" y="2829255"/>
            <a:ext cx="73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4871" y="4002881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875841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2279D-F332-CE42-8E74-CAB9D44A5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4-03 at 3.46.49 PM.png">
            <a:extLst>
              <a:ext uri="{FF2B5EF4-FFF2-40B4-BE49-F238E27FC236}">
                <a16:creationId xmlns:a16="http://schemas.microsoft.com/office/drawing/2014/main" id="{9C9D60AB-CD0A-B8A7-6EF1-0ECCC745C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6421"/>
            <a:ext cx="8754342" cy="3348435"/>
          </a:xfrm>
          <a:prstGeom prst="rect">
            <a:avLst/>
          </a:prstGeom>
        </p:spPr>
      </p:pic>
      <p:pic>
        <p:nvPicPr>
          <p:cNvPr id="5" name="Picture 4" descr="Screen Shot 2016-04-03 at 3.47.16 PM.png">
            <a:extLst>
              <a:ext uri="{FF2B5EF4-FFF2-40B4-BE49-F238E27FC236}">
                <a16:creationId xmlns:a16="http://schemas.microsoft.com/office/drawing/2014/main" id="{6861A978-787C-FFC6-C071-29CA5A666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321"/>
            <a:ext cx="9144000" cy="22311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D980F-A90E-64C4-1C79-DCBE4CC22A36}"/>
              </a:ext>
            </a:extLst>
          </p:cNvPr>
          <p:cNvSpPr txBox="1"/>
          <p:nvPr/>
        </p:nvSpPr>
        <p:spPr>
          <a:xfrm>
            <a:off x="7049547" y="1554955"/>
            <a:ext cx="1504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 Stats 2010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9883A-63F3-0B2C-A1C0-8B9EB4512EDA}"/>
              </a:ext>
            </a:extLst>
          </p:cNvPr>
          <p:cNvSpPr txBox="1"/>
          <p:nvPr/>
        </p:nvSpPr>
        <p:spPr>
          <a:xfrm>
            <a:off x="1580965" y="6044857"/>
            <a:ext cx="5468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Histogram of gradients in a 5-layer network for an artificial image recognition task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F152E9-8679-347E-A10D-580EA58E42D7}"/>
              </a:ext>
            </a:extLst>
          </p:cNvPr>
          <p:cNvSpPr txBox="1"/>
          <p:nvPr/>
        </p:nvSpPr>
        <p:spPr>
          <a:xfrm>
            <a:off x="7431863" y="2528491"/>
            <a:ext cx="73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B6126-A2CA-EF6E-2658-40C294570915}"/>
              </a:ext>
            </a:extLst>
          </p:cNvPr>
          <p:cNvSpPr txBox="1"/>
          <p:nvPr/>
        </p:nvSpPr>
        <p:spPr>
          <a:xfrm>
            <a:off x="7180798" y="4709678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A85378-A6F8-C7A2-7247-555D25D9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2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E975A-3EE7-0ECB-D82B-F561C735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9914-4FE4-1E1B-B101-8BE52B6E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A5E5-A0FC-4526-70ED-5908B53F4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5378450" cy="48577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tricks make learning easier/better ?</a:t>
            </a:r>
          </a:p>
          <a:p>
            <a:pPr lvl="1"/>
            <a:r>
              <a:rPr lang="en-US" dirty="0"/>
              <a:t>CNNs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CNNs using multiple parallel convolutions can are more expressive </a:t>
            </a:r>
          </a:p>
          <a:p>
            <a:pPr lvl="1"/>
            <a:endParaRPr lang="en-US" dirty="0"/>
          </a:p>
        </p:txBody>
      </p:sp>
      <p:pic>
        <p:nvPicPr>
          <p:cNvPr id="5" name="Picture 4" descr="Screen Shot 2016-04-03 at 6.28.04 PM.png">
            <a:extLst>
              <a:ext uri="{FF2B5EF4-FFF2-40B4-BE49-F238E27FC236}">
                <a16:creationId xmlns:a16="http://schemas.microsoft.com/office/drawing/2014/main" id="{02CD3E07-B600-5E95-67B1-604857319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11" b="67203"/>
          <a:stretch/>
        </p:blipFill>
        <p:spPr>
          <a:xfrm>
            <a:off x="989036" y="2701415"/>
            <a:ext cx="7165927" cy="1262063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BCD38F5D-8A9C-F11A-4C28-CDEA7E6D2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625" y="4524914"/>
            <a:ext cx="4119563" cy="2151572"/>
          </a:xfrm>
          <a:prstGeom prst="rect">
            <a:avLst/>
          </a:prstGeom>
        </p:spPr>
      </p:pic>
      <p:pic>
        <p:nvPicPr>
          <p:cNvPr id="8" name="Picture 7" descr="Screen Shot 2016-04-03 at 10.55.46 AM.png">
            <a:extLst>
              <a:ext uri="{FF2B5EF4-FFF2-40B4-BE49-F238E27FC236}">
                <a16:creationId xmlns:a16="http://schemas.microsoft.com/office/drawing/2014/main" id="{D0AA7B6A-2A83-42BB-148B-E2DA327CA9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881" y="49054"/>
            <a:ext cx="3734119" cy="138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1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1B04E-9232-DB17-4048-F7124E179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73A7-669F-61E7-FACF-AFA5C4175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EB0CA-E7A4-5662-80ED-F729A826C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5662019" cy="48720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What tricks make learning easier/better ?</a:t>
            </a:r>
          </a:p>
          <a:p>
            <a:pPr lvl="1"/>
            <a:r>
              <a:rPr lang="en-US" dirty="0" err="1"/>
              <a:t>softmax</a:t>
            </a:r>
            <a:r>
              <a:rPr lang="en-US" dirty="0"/>
              <a:t> loss</a:t>
            </a:r>
          </a:p>
          <a:p>
            <a:pPr lvl="1"/>
            <a:r>
              <a:rPr lang="en-US" dirty="0" err="1"/>
              <a:t>reLU</a:t>
            </a:r>
            <a:r>
              <a:rPr lang="en-US" dirty="0"/>
              <a:t> and variants instead of </a:t>
            </a:r>
            <a:r>
              <a:rPr lang="en-US" dirty="0" err="1"/>
              <a:t>sigmoids</a:t>
            </a:r>
            <a:endParaRPr lang="en-US" dirty="0"/>
          </a:p>
          <a:p>
            <a:pPr lvl="1"/>
            <a:r>
              <a:rPr lang="en-US" dirty="0"/>
              <a:t>better heuristics for weight initialization</a:t>
            </a:r>
          </a:p>
          <a:p>
            <a:pPr lvl="1"/>
            <a:r>
              <a:rPr lang="en-US" dirty="0"/>
              <a:t>residual/skip connections</a:t>
            </a:r>
          </a:p>
          <a:p>
            <a:pPr lvl="1"/>
            <a:r>
              <a:rPr lang="en-US" dirty="0"/>
              <a:t>“highway” networks like LSTMs</a:t>
            </a:r>
          </a:p>
          <a:p>
            <a:pPr lvl="2"/>
            <a:r>
              <a:rPr lang="en-US" dirty="0"/>
              <a:t>limited number of “deep” paths which pass through a limited number of kinds of nodes</a:t>
            </a:r>
          </a:p>
          <a:p>
            <a:pPr lvl="1"/>
            <a:endParaRPr lang="en-US" dirty="0"/>
          </a:p>
        </p:txBody>
      </p:sp>
      <p:pic>
        <p:nvPicPr>
          <p:cNvPr id="4" name="Picture 3" descr="Screen Shot 2016-04-03 at 5.38.04 PM.png">
            <a:extLst>
              <a:ext uri="{FF2B5EF4-FFF2-40B4-BE49-F238E27FC236}">
                <a16:creationId xmlns:a16="http://schemas.microsoft.com/office/drawing/2014/main" id="{45EDFC96-1175-2C56-3301-E3B27C41B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2" b="26459"/>
          <a:stretch/>
        </p:blipFill>
        <p:spPr>
          <a:xfrm>
            <a:off x="6057900" y="300037"/>
            <a:ext cx="2438802" cy="1914525"/>
          </a:xfrm>
          <a:prstGeom prst="rect">
            <a:avLst/>
          </a:prstGeom>
        </p:spPr>
      </p:pic>
      <p:pic>
        <p:nvPicPr>
          <p:cNvPr id="6" name="Picture 5" descr="Screen Shot 2016-04-03 at 5.53.27 PM.png">
            <a:extLst>
              <a:ext uri="{FF2B5EF4-FFF2-40B4-BE49-F238E27FC236}">
                <a16:creationId xmlns:a16="http://schemas.microsoft.com/office/drawing/2014/main" id="{CAC84EE4-4D6A-4531-3F2C-C064C2B06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278" y="2222499"/>
            <a:ext cx="2410672" cy="15862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52FEC7-87A5-F85D-92DD-C1B2539FB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551" y="3952425"/>
            <a:ext cx="2055151" cy="11116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Screen Shot 2016-04-10 at 6.28.28 PM.png">
            <a:extLst>
              <a:ext uri="{FF2B5EF4-FFF2-40B4-BE49-F238E27FC236}">
                <a16:creationId xmlns:a16="http://schemas.microsoft.com/office/drawing/2014/main" id="{3317EC08-021A-A735-75BC-B3236B81117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" r="9761"/>
          <a:stretch/>
        </p:blipFill>
        <p:spPr>
          <a:xfrm>
            <a:off x="5941419" y="5543232"/>
            <a:ext cx="2671763" cy="104620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8070AE-CD83-C124-6DF2-5194DF8E1C48}"/>
              </a:ext>
            </a:extLst>
          </p:cNvPr>
          <p:cNvCxnSpPr>
            <a:cxnSpLocks/>
          </p:cNvCxnSpPr>
          <p:nvPr/>
        </p:nvCxnSpPr>
        <p:spPr>
          <a:xfrm>
            <a:off x="5941419" y="5943600"/>
            <a:ext cx="2555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744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48C62-5063-A873-37D7-394E1B2C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E6B4-F46D-E23F-3F5B-2ED15F15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E5286-912E-3D18-2FA3-ADD45ADDB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5543445" cy="4986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How can we learn language?</a:t>
            </a:r>
          </a:p>
          <a:p>
            <a:pPr lvl="1"/>
            <a:r>
              <a:rPr lang="en-US" dirty="0"/>
              <a:t>LSTMs, GRUs,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word embeddings</a:t>
            </a:r>
          </a:p>
          <a:p>
            <a:pPr lvl="1"/>
            <a:r>
              <a:rPr lang="en-US" dirty="0"/>
              <a:t>using attention to</a:t>
            </a:r>
          </a:p>
          <a:p>
            <a:pPr lvl="2"/>
            <a:r>
              <a:rPr lang="en-US" dirty="0"/>
              <a:t>“classify” parts a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a</a:t>
            </a:r>
            <a:r>
              <a:rPr lang="en-US" baseline="-25000" dirty="0" err="1"/>
              <a:t>N</a:t>
            </a:r>
            <a:r>
              <a:rPr lang="en-US" dirty="0"/>
              <a:t> of a network (e.g. embeddings of words, or words-in-context) as relevant to some second representation B</a:t>
            </a:r>
          </a:p>
          <a:p>
            <a:pPr lvl="2"/>
            <a:r>
              <a:rPr lang="en-US" dirty="0"/>
              <a:t>import the parts A</a:t>
            </a:r>
            <a:r>
              <a:rPr lang="en-US" baseline="-25000" dirty="0"/>
              <a:t>i</a:t>
            </a:r>
            <a:r>
              <a:rPr lang="en-US" dirty="0"/>
              <a:t> considered relevant into B</a:t>
            </a:r>
          </a:p>
        </p:txBody>
      </p:sp>
      <p:pic>
        <p:nvPicPr>
          <p:cNvPr id="10" name="Picture 9" descr="Screen Shot 2016-04-10 at 6.28.28 PM.png">
            <a:extLst>
              <a:ext uri="{FF2B5EF4-FFF2-40B4-BE49-F238E27FC236}">
                <a16:creationId xmlns:a16="http://schemas.microsoft.com/office/drawing/2014/main" id="{3A820B7E-A081-7138-82AA-4F7B1687D3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" r="9761"/>
          <a:stretch/>
        </p:blipFill>
        <p:spPr>
          <a:xfrm>
            <a:off x="6256337" y="1039812"/>
            <a:ext cx="2671763" cy="104620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AF58B3-94C1-F728-D8E9-9A73CD350DDF}"/>
              </a:ext>
            </a:extLst>
          </p:cNvPr>
          <p:cNvCxnSpPr>
            <a:cxnSpLocks/>
          </p:cNvCxnSpPr>
          <p:nvPr/>
        </p:nvCxnSpPr>
        <p:spPr>
          <a:xfrm>
            <a:off x="6256337" y="1440180"/>
            <a:ext cx="2555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C372652-8BCC-E90B-2D8D-7BCCF98550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061" t="3792"/>
          <a:stretch/>
        </p:blipFill>
        <p:spPr>
          <a:xfrm>
            <a:off x="6247605" y="2301807"/>
            <a:ext cx="2232715" cy="2783024"/>
          </a:xfrm>
          <a:prstGeom prst="rect">
            <a:avLst/>
          </a:prstGeom>
        </p:spPr>
      </p:pic>
      <p:pic>
        <p:nvPicPr>
          <p:cNvPr id="7" name="Picture 6" descr="Screen Shot 2016-04-10 at 8.26.44 PM.png">
            <a:extLst>
              <a:ext uri="{FF2B5EF4-FFF2-40B4-BE49-F238E27FC236}">
                <a16:creationId xmlns:a16="http://schemas.microsoft.com/office/drawing/2014/main" id="{F07894B5-2F2B-A294-8074-5A24F193AD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169" y="5084831"/>
            <a:ext cx="3746481" cy="164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99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E33B2-C347-6D97-E574-1191B02D9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A66FD-557E-87D2-2A72-0F6172BB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708025"/>
          </a:xfrm>
        </p:spPr>
        <p:txBody>
          <a:bodyPr>
            <a:normAutofit fontScale="90000"/>
          </a:bodyPr>
          <a:lstStyle/>
          <a:p>
            <a:r>
              <a:rPr lang="en-US" dirty="0"/>
              <a:t>Recap: Attention for “question answering”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9151A-38D2-D82F-9EF9-DB6DF72FD9B0}"/>
              </a:ext>
            </a:extLst>
          </p:cNvPr>
          <p:cNvSpPr txBox="1"/>
          <p:nvPr/>
        </p:nvSpPr>
        <p:spPr>
          <a:xfrm>
            <a:off x="279400" y="1223010"/>
            <a:ext cx="84874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Adding </a:t>
            </a:r>
            <a:r>
              <a:rPr lang="en-US" sz="2000" b="1" dirty="0"/>
              <a:t>attention</a:t>
            </a:r>
            <a:r>
              <a:rPr lang="en-US" sz="2000" dirty="0"/>
              <a:t>: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000" b="1" dirty="0"/>
              <a:t>classify</a:t>
            </a:r>
            <a:r>
              <a:rPr lang="en-US" sz="2000" dirty="0"/>
              <a:t> the hidden states </a:t>
            </a:r>
            <a:r>
              <a:rPr lang="en-US" sz="2000" b="1" i="1" dirty="0"/>
              <a:t>h</a:t>
            </a:r>
            <a:r>
              <a:rPr lang="en-US" sz="2000" i="1" baseline="-25000" dirty="0"/>
              <a:t>1</a:t>
            </a:r>
            <a:r>
              <a:rPr lang="en-US" sz="2000" i="1" dirty="0"/>
              <a:t>, </a:t>
            </a:r>
            <a:r>
              <a:rPr lang="mr-IN" sz="2000" i="1" dirty="0"/>
              <a:t>…</a:t>
            </a:r>
            <a:r>
              <a:rPr lang="en-US" sz="2000" i="1" dirty="0"/>
              <a:t> </a:t>
            </a:r>
            <a:r>
              <a:rPr lang="en-US" sz="2000" b="1" i="1" dirty="0"/>
              <a:t>h</a:t>
            </a:r>
            <a:r>
              <a:rPr lang="en-US" sz="2000" i="1" baseline="-25000" dirty="0"/>
              <a:t>m </a:t>
            </a:r>
            <a:r>
              <a:rPr lang="en-US" sz="2000" dirty="0"/>
              <a:t>of the answer</a:t>
            </a:r>
            <a:r>
              <a:rPr lang="en-US" sz="2000" i="1" baseline="-25000" dirty="0"/>
              <a:t> </a:t>
            </a:r>
            <a:r>
              <a:rPr lang="en-US" sz="2000" dirty="0"/>
              <a:t>according to relevance to the question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000" dirty="0"/>
              <a:t>classifier is based on question representation </a:t>
            </a:r>
            <a:r>
              <a:rPr lang="en-US" sz="2000" i="1" dirty="0" err="1"/>
              <a:t>o</a:t>
            </a:r>
            <a:r>
              <a:rPr lang="en-US" sz="2000" i="1" baseline="-25000" dirty="0" err="1"/>
              <a:t>q</a:t>
            </a:r>
            <a:r>
              <a:rPr lang="en-US" sz="2000" i="1" dirty="0"/>
              <a:t> </a:t>
            </a:r>
            <a:r>
              <a:rPr lang="en-US" sz="2000" dirty="0"/>
              <a:t>and hidden state </a:t>
            </a:r>
            <a:r>
              <a:rPr lang="en-US" sz="2000" b="1" i="1" dirty="0"/>
              <a:t>h</a:t>
            </a:r>
            <a:r>
              <a:rPr lang="en-US" sz="2000" i="1" baseline="-25000" dirty="0"/>
              <a:t>i</a:t>
            </a:r>
            <a:endParaRPr lang="en-US" sz="2000" dirty="0"/>
          </a:p>
          <a:p>
            <a:pPr marL="914400" lvl="1" indent="-457200">
              <a:buFont typeface="Arial" charset="0"/>
              <a:buChar char="•"/>
            </a:pPr>
            <a:r>
              <a:rPr lang="en-US" sz="2000" dirty="0"/>
              <a:t>score of </a:t>
            </a:r>
            <a:r>
              <a:rPr lang="en-US" sz="2000" b="1" i="1" dirty="0"/>
              <a:t>h</a:t>
            </a:r>
            <a:r>
              <a:rPr lang="en-US" sz="2000" i="1" baseline="-25000" dirty="0"/>
              <a:t>i</a:t>
            </a:r>
            <a:r>
              <a:rPr lang="en-US" sz="2000" b="1" i="1" dirty="0"/>
              <a:t> </a:t>
            </a:r>
            <a:r>
              <a:rPr lang="en-US" sz="2000" dirty="0"/>
              <a:t>is </a:t>
            </a:r>
            <a:r>
              <a:rPr lang="en-US" sz="2000" dirty="0" err="1"/>
              <a:t>softmax</a:t>
            </a:r>
            <a:r>
              <a:rPr lang="en-US" sz="2000" dirty="0"/>
              <a:t> of similarities of question </a:t>
            </a:r>
            <a:r>
              <a:rPr lang="en-US" sz="2000" i="1" dirty="0" err="1"/>
              <a:t>o</a:t>
            </a:r>
            <a:r>
              <a:rPr lang="en-US" sz="2000" i="1" baseline="-25000" dirty="0" err="1"/>
              <a:t>q</a:t>
            </a:r>
            <a:r>
              <a:rPr lang="en-US" sz="2000" i="1" dirty="0"/>
              <a:t> </a:t>
            </a:r>
            <a:r>
              <a:rPr lang="en-US" sz="2000" dirty="0"/>
              <a:t>to answer-token encoding </a:t>
            </a:r>
            <a:r>
              <a:rPr lang="en-US" sz="2000" b="1" i="1" dirty="0"/>
              <a:t>h</a:t>
            </a:r>
            <a:r>
              <a:rPr lang="en-US" sz="2000" i="1" baseline="-25000" dirty="0"/>
              <a:t>i</a:t>
            </a:r>
            <a:endParaRPr lang="en-US" sz="2000" dirty="0"/>
          </a:p>
          <a:p>
            <a:pPr marL="914400" lvl="1" indent="-457200">
              <a:buFont typeface="Arial" charset="0"/>
              <a:buChar char="•"/>
            </a:pPr>
            <a:r>
              <a:rPr lang="en-US" sz="2000" dirty="0"/>
              <a:t>score ~= ”probability that answer token is useful”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000" dirty="0"/>
              <a:t>when you pool answer tokens reps, weight by the classifier’s score</a:t>
            </a:r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E9A6E-26B8-820C-3A65-8BBAA4A72A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5" t="2585" r="875" b="22296"/>
          <a:stretch/>
        </p:blipFill>
        <p:spPr>
          <a:xfrm>
            <a:off x="0" y="4023777"/>
            <a:ext cx="9144000" cy="265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D53B3-BB88-629A-3C88-01E2268E1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AD29-A4A2-32B1-A639-EFBCB6DCE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74A05-89CE-7E70-40C1-1A0202167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5649913" cy="5308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How can we learn language?</a:t>
            </a:r>
          </a:p>
          <a:p>
            <a:pPr lvl="1"/>
            <a:r>
              <a:rPr lang="en-US" dirty="0"/>
              <a:t>LSTMs, GRUs,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word embeddings</a:t>
            </a:r>
          </a:p>
          <a:p>
            <a:pPr lvl="1"/>
            <a:r>
              <a:rPr lang="en-US" dirty="0"/>
              <a:t>using attention</a:t>
            </a:r>
          </a:p>
          <a:p>
            <a:pPr lvl="1"/>
            <a:r>
              <a:rPr lang="en-US" dirty="0"/>
              <a:t>representing</a:t>
            </a:r>
          </a:p>
          <a:p>
            <a:pPr lvl="2"/>
            <a:r>
              <a:rPr lang="en-US" dirty="0"/>
              <a:t>words with embeddings</a:t>
            </a:r>
          </a:p>
          <a:p>
            <a:pPr lvl="2"/>
            <a:r>
              <a:rPr lang="en-US" dirty="0"/>
              <a:t>words in context with RNN hidden states</a:t>
            </a:r>
          </a:p>
          <a:p>
            <a:pPr lvl="2"/>
            <a:r>
              <a:rPr lang="en-US" dirty="0"/>
              <a:t>sequences with </a:t>
            </a:r>
            <a:r>
              <a:rPr lang="en-US" i="1" dirty="0"/>
              <a:t>last </a:t>
            </a:r>
            <a:r>
              <a:rPr lang="en-US" dirty="0"/>
              <a:t>RNN hidden state</a:t>
            </a:r>
          </a:p>
          <a:p>
            <a:pPr lvl="1"/>
            <a:r>
              <a:rPr lang="en-US" dirty="0"/>
              <a:t>training representations end-to-end on a task</a:t>
            </a:r>
          </a:p>
          <a:p>
            <a:pPr lvl="2"/>
            <a:r>
              <a:rPr lang="en-US" dirty="0"/>
              <a:t>but often starting with pre-trained representations of words</a:t>
            </a:r>
          </a:p>
        </p:txBody>
      </p:sp>
      <p:pic>
        <p:nvPicPr>
          <p:cNvPr id="10" name="Picture 9" descr="Screen Shot 2016-04-10 at 6.28.28 PM.png">
            <a:extLst>
              <a:ext uri="{FF2B5EF4-FFF2-40B4-BE49-F238E27FC236}">
                <a16:creationId xmlns:a16="http://schemas.microsoft.com/office/drawing/2014/main" id="{FA570FD8-AABC-DECA-D428-FBDE3B4E2C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" r="9761"/>
          <a:stretch/>
        </p:blipFill>
        <p:spPr>
          <a:xfrm>
            <a:off x="6256337" y="1039812"/>
            <a:ext cx="2671763" cy="104620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DF58FD-6531-3CD1-1B19-BF985523BC7A}"/>
              </a:ext>
            </a:extLst>
          </p:cNvPr>
          <p:cNvCxnSpPr>
            <a:cxnSpLocks/>
          </p:cNvCxnSpPr>
          <p:nvPr/>
        </p:nvCxnSpPr>
        <p:spPr>
          <a:xfrm>
            <a:off x="6256337" y="1440180"/>
            <a:ext cx="2555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8E1C67B-4001-9E26-124F-CEEECFF9CF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5" t="2585" r="51012" b="22296"/>
          <a:stretch/>
        </p:blipFill>
        <p:spPr>
          <a:xfrm>
            <a:off x="5822845" y="2760745"/>
            <a:ext cx="3321155" cy="19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933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EFD3A-81F7-DF07-E439-2ECA1794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0FA3-5869-B1D4-0A3C-874609EA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446FB-164B-52D3-F52F-044E54ADF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335963" cy="5308600"/>
          </a:xfrm>
        </p:spPr>
        <p:txBody>
          <a:bodyPr>
            <a:normAutofit/>
          </a:bodyPr>
          <a:lstStyle/>
          <a:p>
            <a:r>
              <a:rPr lang="en-US" dirty="0"/>
              <a:t>Utility of sequence-to-sequence learning</a:t>
            </a:r>
          </a:p>
          <a:p>
            <a:pPr lvl="1"/>
            <a:r>
              <a:rPr lang="en-US" dirty="0"/>
              <a:t>and encoder-decoder models</a:t>
            </a:r>
          </a:p>
        </p:txBody>
      </p:sp>
      <p:pic>
        <p:nvPicPr>
          <p:cNvPr id="5" name="Picture 4" descr="Screen Shot 2016-04-10 at 7.55.56 PM.png">
            <a:extLst>
              <a:ext uri="{FF2B5EF4-FFF2-40B4-BE49-F238E27FC236}">
                <a16:creationId xmlns:a16="http://schemas.microsoft.com/office/drawing/2014/main" id="{9672FA81-B512-054B-4A33-DA3F64190D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4"/>
          <a:stretch/>
        </p:blipFill>
        <p:spPr>
          <a:xfrm>
            <a:off x="669038" y="3348818"/>
            <a:ext cx="7805923" cy="2994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D1079D-CAF1-E6BC-EB57-235777D7D140}"/>
              </a:ext>
            </a:extLst>
          </p:cNvPr>
          <p:cNvSpPr txBox="1"/>
          <p:nvPr/>
        </p:nvSpPr>
        <p:spPr>
          <a:xfrm>
            <a:off x="2436190" y="2702487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89603-7E8F-BC81-A182-962EF21704B0}"/>
              </a:ext>
            </a:extLst>
          </p:cNvPr>
          <p:cNvSpPr txBox="1"/>
          <p:nvPr/>
        </p:nvSpPr>
        <p:spPr>
          <a:xfrm>
            <a:off x="4595706" y="2887153"/>
            <a:ext cx="154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E6F0E9-4B61-3DA4-8656-82F587D3CE59}"/>
              </a:ext>
            </a:extLst>
          </p:cNvPr>
          <p:cNvSpPr txBox="1"/>
          <p:nvPr/>
        </p:nvSpPr>
        <p:spPr>
          <a:xfrm>
            <a:off x="6732542" y="2773304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named entity recognition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D45FB-0E1A-1F94-4173-596CFDEEC6BB}"/>
              </a:ext>
            </a:extLst>
          </p:cNvPr>
          <p:cNvSpPr txBox="1"/>
          <p:nvPr/>
        </p:nvSpPr>
        <p:spPr>
          <a:xfrm>
            <a:off x="892167" y="2721071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captioning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407FA8-359F-6545-4519-3057A84120F3}"/>
              </a:ext>
            </a:extLst>
          </p:cNvPr>
          <p:cNvSpPr txBox="1"/>
          <p:nvPr/>
        </p:nvSpPr>
        <p:spPr>
          <a:xfrm>
            <a:off x="5052060" y="6336859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seq2seq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4D5AE9-6921-E8A9-367A-57C0D2124E14}"/>
              </a:ext>
            </a:extLst>
          </p:cNvPr>
          <p:cNvSpPr/>
          <p:nvPr/>
        </p:nvSpPr>
        <p:spPr>
          <a:xfrm>
            <a:off x="4314825" y="4442241"/>
            <a:ext cx="1214438" cy="170021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7CC69A-AA86-632D-A774-B320E9E67EB9}"/>
              </a:ext>
            </a:extLst>
          </p:cNvPr>
          <p:cNvSpPr/>
          <p:nvPr/>
        </p:nvSpPr>
        <p:spPr>
          <a:xfrm>
            <a:off x="5180455" y="3710373"/>
            <a:ext cx="1214438" cy="1700213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3F8F9A-C6F2-3BB0-3569-C4F2823E32A8}"/>
              </a:ext>
            </a:extLst>
          </p:cNvPr>
          <p:cNvSpPr txBox="1"/>
          <p:nvPr/>
        </p:nvSpPr>
        <p:spPr>
          <a:xfrm>
            <a:off x="3800283" y="6168728"/>
            <a:ext cx="138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Encoder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0318BD-EC0C-918B-2E15-E9B966089885}"/>
              </a:ext>
            </a:extLst>
          </p:cNvPr>
          <p:cNvSpPr txBox="1"/>
          <p:nvPr/>
        </p:nvSpPr>
        <p:spPr>
          <a:xfrm>
            <a:off x="5504233" y="3321883"/>
            <a:ext cx="138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B050"/>
                </a:solidFill>
              </a:rPr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2605409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8400E-7D28-E596-9D76-FC546402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326C07-8EB5-DAD9-4E7F-70882C26D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6962"/>
            <a:ext cx="7772400" cy="273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72B703-0B4C-A821-8989-37D2575A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Machine Translation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A2057C-BC93-E7EA-DC6C-089873BA55F7}"/>
              </a:ext>
            </a:extLst>
          </p:cNvPr>
          <p:cNvSpPr txBox="1"/>
          <p:nvPr/>
        </p:nvSpPr>
        <p:spPr>
          <a:xfrm>
            <a:off x="6012180" y="1025842"/>
            <a:ext cx="256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A12F87-E45B-5C66-E121-3FF9544BD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898" y="2463762"/>
            <a:ext cx="4292601" cy="42196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24AF8C-8B69-7EDC-CDF1-4BDC66BB0FB9}"/>
              </a:ext>
            </a:extLst>
          </p:cNvPr>
          <p:cNvSpPr txBox="1"/>
          <p:nvPr/>
        </p:nvSpPr>
        <p:spPr>
          <a:xfrm>
            <a:off x="279399" y="3980577"/>
            <a:ext cx="4292601" cy="2585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encodes the source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decodes to produce the target text while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using a </a:t>
            </a:r>
            <a:r>
              <a:rPr lang="en-US" b="1" dirty="0"/>
              <a:t>soft</a:t>
            </a:r>
            <a:r>
              <a:rPr lang="en-US" dirty="0"/>
              <a:t> </a:t>
            </a:r>
            <a:r>
              <a:rPr lang="en-US" b="1" dirty="0"/>
              <a:t>alignment</a:t>
            </a:r>
            <a:r>
              <a:rPr lang="en-US" dirty="0"/>
              <a:t> between the word to be generated and the encodings of the source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alignment is based on </a:t>
            </a:r>
            <a:r>
              <a:rPr lang="en-US" b="1" dirty="0"/>
              <a:t>attention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83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9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BD58CE-F200-EACA-033A-D790288E9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" y="446193"/>
            <a:ext cx="8902756" cy="38743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EF8740-567E-B88A-9B7F-C353DAE2A308}"/>
              </a:ext>
            </a:extLst>
          </p:cNvPr>
          <p:cNvSpPr txBox="1"/>
          <p:nvPr/>
        </p:nvSpPr>
        <p:spPr>
          <a:xfrm>
            <a:off x="6080760" y="4457700"/>
            <a:ext cx="2503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paper 2017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573A0-F748-983A-D723-EBF4B840F415}"/>
              </a:ext>
            </a:extLst>
          </p:cNvPr>
          <p:cNvSpPr txBox="1"/>
          <p:nvPr/>
        </p:nvSpPr>
        <p:spPr>
          <a:xfrm>
            <a:off x="937260" y="5120640"/>
            <a:ext cx="643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https://e2eml.school/transformers.html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7E022-D302-CF59-01B3-79234CFE8ADA}"/>
              </a:ext>
            </a:extLst>
          </p:cNvPr>
          <p:cNvSpPr txBox="1"/>
          <p:nvPr/>
        </p:nvSpPr>
        <p:spPr>
          <a:xfrm>
            <a:off x="937260" y="5627132"/>
            <a:ext cx="643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https://github.com/rasbt/LLMs-from-scratch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B1F92-7B45-994E-1065-5860CB443C2A}"/>
              </a:ext>
            </a:extLst>
          </p:cNvPr>
          <p:cNvSpPr txBox="1"/>
          <p:nvPr/>
        </p:nvSpPr>
        <p:spPr>
          <a:xfrm>
            <a:off x="6080760" y="4843641"/>
            <a:ext cx="269176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Will talk also about connections to other Transformer models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39685C0-E66F-E460-1D8D-80EDAC6A8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100" y="0"/>
            <a:ext cx="2075900" cy="305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03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A2B3-C6CE-796C-4ED7-54B5EF10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Inputs and Outputs</a:t>
            </a:r>
          </a:p>
        </p:txBody>
      </p:sp>
    </p:spTree>
    <p:extLst>
      <p:ext uri="{BB962C8B-B14F-4D97-AF65-F5344CB8AC3E}">
        <p14:creationId xmlns:p14="http://schemas.microsoft.com/office/powerpoint/2010/main" val="3383092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900F835-4996-CDDD-0C55-5ABE60D6F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" y="189291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665FB145-A71F-BFF8-6C94-578635F84FCD}"/>
              </a:ext>
            </a:extLst>
          </p:cNvPr>
          <p:cNvSpPr/>
          <p:nvPr/>
        </p:nvSpPr>
        <p:spPr>
          <a:xfrm>
            <a:off x="4457700" y="5857875"/>
            <a:ext cx="3920490" cy="920637"/>
          </a:xfrm>
          <a:prstGeom prst="wedgeEllipseCallout">
            <a:avLst>
              <a:gd name="adj1" fmla="val -110046"/>
              <a:gd name="adj2" fmla="val 45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input: sequence of tokens (int ids)</a:t>
            </a:r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A7C79612-2788-4CE7-FD57-03B8D1C57139}"/>
              </a:ext>
            </a:extLst>
          </p:cNvPr>
          <p:cNvSpPr/>
          <p:nvPr/>
        </p:nvSpPr>
        <p:spPr>
          <a:xfrm>
            <a:off x="5095875" y="995363"/>
            <a:ext cx="3920490" cy="920637"/>
          </a:xfrm>
          <a:prstGeom prst="wedgeEllipseCallout">
            <a:avLst>
              <a:gd name="adj1" fmla="val -80891"/>
              <a:gd name="adj2" fmla="val -10197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output: sequence of tokens (int ids)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D74774-38A5-0825-BA57-1E4CC279CA9B}"/>
              </a:ext>
            </a:extLst>
          </p:cNvPr>
          <p:cNvSpPr txBox="1"/>
          <p:nvPr/>
        </p:nvSpPr>
        <p:spPr>
          <a:xfrm>
            <a:off x="5344160" y="2054087"/>
            <a:ext cx="321691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Simplify: assume we output </a:t>
            </a:r>
            <a:r>
              <a:rPr lang="en-US" b="1" dirty="0"/>
              <a:t>one</a:t>
            </a:r>
            <a:r>
              <a:rPr lang="en-US" dirty="0"/>
              <a:t> output token at a time</a:t>
            </a:r>
          </a:p>
        </p:txBody>
      </p:sp>
    </p:spTree>
    <p:extLst>
      <p:ext uri="{BB962C8B-B14F-4D97-AF65-F5344CB8AC3E}">
        <p14:creationId xmlns:p14="http://schemas.microsoft.com/office/powerpoint/2010/main" val="23618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CC11A-5DC9-83F7-527C-BBBEF274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0F08EB8-0D1D-0EF3-510F-E3425A4BA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" y="189291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4AFF62-A0C0-B2B1-6247-1F055B83EB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079"/>
          <a:stretch/>
        </p:blipFill>
        <p:spPr>
          <a:xfrm>
            <a:off x="5344160" y="2366010"/>
            <a:ext cx="3216910" cy="38900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D72455-907A-012D-3B07-E38E6BA547AA}"/>
              </a:ext>
            </a:extLst>
          </p:cNvPr>
          <p:cNvSpPr txBox="1"/>
          <p:nvPr/>
        </p:nvSpPr>
        <p:spPr>
          <a:xfrm>
            <a:off x="5344160" y="674370"/>
            <a:ext cx="321691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Transformers are Encoder-Decoder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45A68-9B0D-BE4D-62D0-F3601E2391BC}"/>
              </a:ext>
            </a:extLst>
          </p:cNvPr>
          <p:cNvSpPr txBox="1"/>
          <p:nvPr/>
        </p:nvSpPr>
        <p:spPr>
          <a:xfrm>
            <a:off x="5679440" y="1320701"/>
            <a:ext cx="321691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… but decoder can also “attend” to encoder states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CA2AD-E0E4-1B34-888B-6577FD2AD518}"/>
              </a:ext>
            </a:extLst>
          </p:cNvPr>
          <p:cNvSpPr txBox="1"/>
          <p:nvPr/>
        </p:nvSpPr>
        <p:spPr>
          <a:xfrm>
            <a:off x="289242" y="351204"/>
            <a:ext cx="231330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BERT-like models have no decoder (encoder only)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09502-5CA3-F6E7-3235-11A4870F4318}"/>
              </a:ext>
            </a:extLst>
          </p:cNvPr>
          <p:cNvSpPr txBox="1"/>
          <p:nvPr/>
        </p:nvSpPr>
        <p:spPr>
          <a:xfrm>
            <a:off x="69215" y="1320701"/>
            <a:ext cx="231330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GPT models have no “bottleneck” (decoder-only)</a:t>
            </a:r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8D8B5E84-CC17-F49C-81D4-F72AACB2BE64}"/>
              </a:ext>
            </a:extLst>
          </p:cNvPr>
          <p:cNvSpPr/>
          <p:nvPr/>
        </p:nvSpPr>
        <p:spPr>
          <a:xfrm>
            <a:off x="4457700" y="6344172"/>
            <a:ext cx="3920490" cy="434340"/>
          </a:xfrm>
          <a:prstGeom prst="wedgeEllipseCallout">
            <a:avLst>
              <a:gd name="adj1" fmla="val -64856"/>
              <a:gd name="adj2" fmla="val -17960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“outputs” 1 ... n-1</a:t>
            </a:r>
          </a:p>
        </p:txBody>
      </p:sp>
      <p:sp>
        <p:nvSpPr>
          <p:cNvPr id="10" name="Oval Callout 9">
            <a:extLst>
              <a:ext uri="{FF2B5EF4-FFF2-40B4-BE49-F238E27FC236}">
                <a16:creationId xmlns:a16="http://schemas.microsoft.com/office/drawing/2014/main" id="{2B9447C1-4BE6-3A4E-EF15-BDE8292691C9}"/>
              </a:ext>
            </a:extLst>
          </p:cNvPr>
          <p:cNvSpPr/>
          <p:nvPr/>
        </p:nvSpPr>
        <p:spPr>
          <a:xfrm>
            <a:off x="5009833" y="79488"/>
            <a:ext cx="3920490" cy="434340"/>
          </a:xfrm>
          <a:prstGeom prst="wedgeEllipseCallout">
            <a:avLst>
              <a:gd name="adj1" fmla="val -77393"/>
              <a:gd name="adj2" fmla="val 1098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n, n+1, …</a:t>
            </a:r>
          </a:p>
        </p:txBody>
      </p:sp>
    </p:spTree>
    <p:extLst>
      <p:ext uri="{BB962C8B-B14F-4D97-AF65-F5344CB8AC3E}">
        <p14:creationId xmlns:p14="http://schemas.microsoft.com/office/powerpoint/2010/main" val="387894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3D005-7905-DB04-836A-BAA88056F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7832D1D-FC24-02E4-FAAE-0EA8AA659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6D5B983-F105-64CC-DC06-B1014E5AFA44}"/>
              </a:ext>
            </a:extLst>
          </p:cNvPr>
          <p:cNvSpPr/>
          <p:nvPr/>
        </p:nvSpPr>
        <p:spPr>
          <a:xfrm>
            <a:off x="2434590" y="560070"/>
            <a:ext cx="1885950" cy="948690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96F6D1-41D9-06D4-43FF-E28E3D6EE02B}"/>
              </a:ext>
            </a:extLst>
          </p:cNvPr>
          <p:cNvSpPr/>
          <p:nvPr/>
        </p:nvSpPr>
        <p:spPr>
          <a:xfrm>
            <a:off x="901479" y="5486400"/>
            <a:ext cx="3600450" cy="811530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7EB3F-C73F-91BD-F50E-A4BDA1242979}"/>
              </a:ext>
            </a:extLst>
          </p:cNvPr>
          <p:cNvSpPr txBox="1"/>
          <p:nvPr/>
        </p:nvSpPr>
        <p:spPr>
          <a:xfrm>
            <a:off x="5310505" y="5201900"/>
            <a:ext cx="37763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Start by mapping tokens to embeddings from an </a:t>
            </a:r>
            <a:r>
              <a:rPr lang="en-US" b="1" dirty="0"/>
              <a:t>embedding table</a:t>
            </a:r>
            <a:r>
              <a:rPr lang="en-US" dirty="0"/>
              <a:t>, like in word2vec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0240F-AF03-A3BB-3579-F09A71BEE193}"/>
              </a:ext>
            </a:extLst>
          </p:cNvPr>
          <p:cNvSpPr txBox="1"/>
          <p:nvPr/>
        </p:nvSpPr>
        <p:spPr>
          <a:xfrm>
            <a:off x="5367655" y="560070"/>
            <a:ext cx="321691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End by mapping </a:t>
            </a:r>
            <a:r>
              <a:rPr lang="en-US" b="1" dirty="0"/>
              <a:t>predicted token embedding </a:t>
            </a:r>
            <a:r>
              <a:rPr lang="en-US" dirty="0"/>
              <a:t>to most (dot-product) similar </a:t>
            </a:r>
            <a:r>
              <a:rPr lang="en-US" b="1" dirty="0"/>
              <a:t>legal embedding </a:t>
            </a:r>
            <a:r>
              <a:rPr lang="en-US" dirty="0"/>
              <a:t> in the same table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13D6AF-2511-5B81-A17E-1B73816FC82D}"/>
              </a:ext>
            </a:extLst>
          </p:cNvPr>
          <p:cNvSpPr txBox="1"/>
          <p:nvPr/>
        </p:nvSpPr>
        <p:spPr>
          <a:xfrm>
            <a:off x="5748655" y="1829872"/>
            <a:ext cx="321691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To get probability </a:t>
            </a:r>
            <a:r>
              <a:rPr lang="en-US" b="1" dirty="0"/>
              <a:t>distribution</a:t>
            </a:r>
            <a:r>
              <a:rPr lang="en-US" dirty="0"/>
              <a:t> on a predicted token take a </a:t>
            </a:r>
            <a:r>
              <a:rPr lang="en-US" b="1" dirty="0" err="1"/>
              <a:t>softmax</a:t>
            </a:r>
            <a:r>
              <a:rPr lang="en-US" dirty="0"/>
              <a:t> of the dot-product similarities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EDBF2A-7BCA-15AB-1420-16B66DAE00FB}"/>
              </a:ext>
            </a:extLst>
          </p:cNvPr>
          <p:cNvSpPr txBox="1"/>
          <p:nvPr/>
        </p:nvSpPr>
        <p:spPr>
          <a:xfrm>
            <a:off x="4890052" y="6125230"/>
            <a:ext cx="425394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 2017 paper embeddings were 512 floats/token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5A5D98-1728-0B65-6C16-E0B4D238F9DE}"/>
              </a:ext>
            </a:extLst>
          </p:cNvPr>
          <p:cNvSpPr txBox="1"/>
          <p:nvPr/>
        </p:nvSpPr>
        <p:spPr>
          <a:xfrm>
            <a:off x="5536248" y="3099674"/>
            <a:ext cx="321691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token embeddings are </a:t>
            </a:r>
            <a:r>
              <a:rPr lang="en-US" b="1" dirty="0"/>
              <a:t>learned parameters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42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E50A-4EC0-40C8-D7FE-7B82BAF8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C738AC7-C87E-379C-019E-94CD454BF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84B622C-F184-2F56-8216-8230C96FC307}"/>
              </a:ext>
            </a:extLst>
          </p:cNvPr>
          <p:cNvSpPr/>
          <p:nvPr/>
        </p:nvSpPr>
        <p:spPr>
          <a:xfrm>
            <a:off x="1298712" y="5526155"/>
            <a:ext cx="1007165" cy="31805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6494524-C3EE-B712-DE0E-91BC2E5C3456}"/>
              </a:ext>
            </a:extLst>
          </p:cNvPr>
          <p:cNvCxnSpPr>
            <a:stCxn id="5" idx="6"/>
          </p:cNvCxnSpPr>
          <p:nvPr/>
        </p:nvCxnSpPr>
        <p:spPr>
          <a:xfrm flipV="1">
            <a:off x="2305877" y="3429000"/>
            <a:ext cx="2849219" cy="225618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BB9F372-91D6-FBAE-6F83-C54BCB345713}"/>
              </a:ext>
            </a:extLst>
          </p:cNvPr>
          <p:cNvSpPr txBox="1"/>
          <p:nvPr/>
        </p:nvSpPr>
        <p:spPr>
          <a:xfrm>
            <a:off x="5310505" y="5201900"/>
            <a:ext cx="37763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Start by mapping tokens to embeddings from an </a:t>
            </a:r>
            <a:r>
              <a:rPr lang="en-US" b="1" dirty="0"/>
              <a:t>embedding table</a:t>
            </a:r>
            <a:r>
              <a:rPr lang="en-US" dirty="0"/>
              <a:t>, like in word2vec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78D1C5-0365-24BB-22B9-D65C383B2F9D}"/>
              </a:ext>
            </a:extLst>
          </p:cNvPr>
          <p:cNvGraphicFramePr>
            <a:graphicFrameLocks noGrp="1"/>
          </p:cNvGraphicFramePr>
          <p:nvPr/>
        </p:nvGraphicFramePr>
        <p:xfrm>
          <a:off x="4976815" y="1264478"/>
          <a:ext cx="3136428" cy="2164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73411">
                  <a:extLst>
                    <a:ext uri="{9D8B030D-6E8A-4147-A177-3AD203B41FA5}">
                      <a16:colId xmlns:a16="http://schemas.microsoft.com/office/drawing/2014/main" val="886657959"/>
                    </a:ext>
                  </a:extLst>
                </a:gridCol>
                <a:gridCol w="503583">
                  <a:extLst>
                    <a:ext uri="{9D8B030D-6E8A-4147-A177-3AD203B41FA5}">
                      <a16:colId xmlns:a16="http://schemas.microsoft.com/office/drawing/2014/main" val="2341239680"/>
                    </a:ext>
                  </a:extLst>
                </a:gridCol>
                <a:gridCol w="503582">
                  <a:extLst>
                    <a:ext uri="{9D8B030D-6E8A-4147-A177-3AD203B41FA5}">
                      <a16:colId xmlns:a16="http://schemas.microsoft.com/office/drawing/2014/main" val="692202242"/>
                    </a:ext>
                  </a:extLst>
                </a:gridCol>
                <a:gridCol w="432388">
                  <a:extLst>
                    <a:ext uri="{9D8B030D-6E8A-4147-A177-3AD203B41FA5}">
                      <a16:colId xmlns:a16="http://schemas.microsoft.com/office/drawing/2014/main" val="3739856147"/>
                    </a:ext>
                  </a:extLst>
                </a:gridCol>
                <a:gridCol w="723464">
                  <a:extLst>
                    <a:ext uri="{9D8B030D-6E8A-4147-A177-3AD203B41FA5}">
                      <a16:colId xmlns:a16="http://schemas.microsoft.com/office/drawing/2014/main" val="240265738"/>
                    </a:ext>
                  </a:extLst>
                </a:gridCol>
              </a:tblGrid>
              <a:tr h="432904">
                <a:tc>
                  <a:txBody>
                    <a:bodyPr/>
                    <a:lstStyle/>
                    <a:p>
                      <a:r>
                        <a:rPr lang="en-US" sz="1400" dirty="0"/>
                        <a:t>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124692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/>
                        <a:t>-1.67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1030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/>
                        <a:t>-12.31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713157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21101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/>
                        <a:t>0.145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688370"/>
                  </a:ext>
                </a:extLst>
              </a:tr>
            </a:tbl>
          </a:graphicData>
        </a:graphic>
      </p:graphicFrame>
      <p:sp>
        <p:nvSpPr>
          <p:cNvPr id="8" name="Right Brace 7">
            <a:extLst>
              <a:ext uri="{FF2B5EF4-FFF2-40B4-BE49-F238E27FC236}">
                <a16:creationId xmlns:a16="http://schemas.microsoft.com/office/drawing/2014/main" id="{915C3946-5803-0273-1731-E1F75814EE22}"/>
              </a:ext>
            </a:extLst>
          </p:cNvPr>
          <p:cNvSpPr/>
          <p:nvPr/>
        </p:nvSpPr>
        <p:spPr>
          <a:xfrm>
            <a:off x="8174214" y="1264478"/>
            <a:ext cx="257793" cy="2164520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4253F94C-93FE-D0FE-FD27-E17EE3BC1A9A}"/>
              </a:ext>
            </a:extLst>
          </p:cNvPr>
          <p:cNvSpPr/>
          <p:nvPr/>
        </p:nvSpPr>
        <p:spPr>
          <a:xfrm rot="16200000">
            <a:off x="6360051" y="-488714"/>
            <a:ext cx="369956" cy="3136428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BFF30A-2238-185B-99B6-401F08A2D210}"/>
              </a:ext>
            </a:extLst>
          </p:cNvPr>
          <p:cNvSpPr txBox="1"/>
          <p:nvPr/>
        </p:nvSpPr>
        <p:spPr>
          <a:xfrm>
            <a:off x="5843831" y="515525"/>
            <a:ext cx="1402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768 tokens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B116E-3573-BE56-D320-3997927729F8}"/>
              </a:ext>
            </a:extLst>
          </p:cNvPr>
          <p:cNvSpPr txBox="1"/>
          <p:nvPr/>
        </p:nvSpPr>
        <p:spPr>
          <a:xfrm rot="5400000">
            <a:off x="7694120" y="2148853"/>
            <a:ext cx="2012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512  floats/tokens</a:t>
            </a:r>
          </a:p>
        </p:txBody>
      </p:sp>
    </p:spTree>
    <p:extLst>
      <p:ext uri="{BB962C8B-B14F-4D97-AF65-F5344CB8AC3E}">
        <p14:creationId xmlns:p14="http://schemas.microsoft.com/office/powerpoint/2010/main" val="3583722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7E38B-852F-3C5B-9A4B-B1864258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32BCF54-334D-6AF0-3F74-2B03EF172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BF9B3B9-33F9-401D-9014-FF04538BB663}"/>
              </a:ext>
            </a:extLst>
          </p:cNvPr>
          <p:cNvSpPr/>
          <p:nvPr/>
        </p:nvSpPr>
        <p:spPr>
          <a:xfrm>
            <a:off x="132522" y="3618291"/>
            <a:ext cx="848139" cy="698887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6-04-10 at 6.15.11 PM.png">
            <a:extLst>
              <a:ext uri="{FF2B5EF4-FFF2-40B4-BE49-F238E27FC236}">
                <a16:creationId xmlns:a16="http://schemas.microsoft.com/office/drawing/2014/main" id="{21EC6FE1-93CC-FBDE-3FE5-C7C40B69B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320" y="4856723"/>
            <a:ext cx="3578132" cy="15468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2D07DD-B755-878A-B16B-2FCA62D669AB}"/>
              </a:ext>
            </a:extLst>
          </p:cNvPr>
          <p:cNvSpPr txBox="1"/>
          <p:nvPr/>
        </p:nvSpPr>
        <p:spPr>
          <a:xfrm>
            <a:off x="4976813" y="454399"/>
            <a:ext cx="377634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main block of the Transformer is repeated a </a:t>
            </a:r>
            <a:r>
              <a:rPr lang="en-US" b="1" dirty="0"/>
              <a:t>fixed</a:t>
            </a:r>
            <a:r>
              <a:rPr lang="en-US" dirty="0"/>
              <a:t> numbers of times, </a:t>
            </a:r>
            <a:r>
              <a:rPr lang="en-US" b="1" dirty="0"/>
              <a:t>independent </a:t>
            </a:r>
            <a:r>
              <a:rPr lang="en-US" dirty="0"/>
              <a:t>of how long the input is.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A82174-EF5A-E755-05C3-EA39127BBB8B}"/>
              </a:ext>
            </a:extLst>
          </p:cNvPr>
          <p:cNvSpPr/>
          <p:nvPr/>
        </p:nvSpPr>
        <p:spPr>
          <a:xfrm>
            <a:off x="848139" y="2540822"/>
            <a:ext cx="1868557" cy="2799804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648C33-16FA-783C-4FE3-73215BB3923D}"/>
              </a:ext>
            </a:extLst>
          </p:cNvPr>
          <p:cNvSpPr txBox="1"/>
          <p:nvPr/>
        </p:nvSpPr>
        <p:spPr>
          <a:xfrm>
            <a:off x="4976814" y="1868185"/>
            <a:ext cx="36673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 2017 paper 6 layers of encoder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1D5CB-5F8D-AA25-600C-A230CA3BDF7B}"/>
              </a:ext>
            </a:extLst>
          </p:cNvPr>
          <p:cNvSpPr txBox="1"/>
          <p:nvPr/>
        </p:nvSpPr>
        <p:spPr>
          <a:xfrm>
            <a:off x="5185082" y="2268547"/>
            <a:ext cx="36673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12 in BERT, 24 in BERT-large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705113-91D0-5124-634C-15001B4418F4}"/>
              </a:ext>
            </a:extLst>
          </p:cNvPr>
          <p:cNvSpPr txBox="1"/>
          <p:nvPr/>
        </p:nvSpPr>
        <p:spPr>
          <a:xfrm>
            <a:off x="5397117" y="2669196"/>
            <a:ext cx="36673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126 layers in Llama-3 405B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7FC21F-EFD7-CCC4-6971-21F7C0B71A84}"/>
              </a:ext>
            </a:extLst>
          </p:cNvPr>
          <p:cNvSpPr txBox="1"/>
          <p:nvPr/>
        </p:nvSpPr>
        <p:spPr>
          <a:xfrm>
            <a:off x="4867839" y="3617558"/>
            <a:ext cx="4143639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Recap: an LSTM is as </a:t>
            </a:r>
            <a:r>
              <a:rPr lang="en-US" b="1" dirty="0"/>
              <a:t>deep</a:t>
            </a:r>
            <a:r>
              <a:rPr lang="en-US" dirty="0"/>
              <a:t> as its input is </a:t>
            </a:r>
            <a:r>
              <a:rPr lang="en-US" b="1" dirty="0"/>
              <a:t>long, </a:t>
            </a:r>
            <a:r>
              <a:rPr lang="en-US" dirty="0"/>
              <a:t>and reads data </a:t>
            </a:r>
            <a:r>
              <a:rPr lang="en-US" b="1" dirty="0"/>
              <a:t>sequentially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B9D6A4-D68A-D519-6533-207514135AB5}"/>
              </a:ext>
            </a:extLst>
          </p:cNvPr>
          <p:cNvSpPr txBox="1"/>
          <p:nvPr/>
        </p:nvSpPr>
        <p:spPr>
          <a:xfrm>
            <a:off x="4572000" y="4210392"/>
            <a:ext cx="450893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Transformers don’t - they use </a:t>
            </a:r>
            <a:r>
              <a:rPr lang="en-US" b="1" dirty="0">
                <a:solidFill>
                  <a:srgbClr val="FF0000"/>
                </a:solidFill>
              </a:rPr>
              <a:t>feature engineering</a:t>
            </a:r>
            <a:r>
              <a:rPr lang="en-US" b="1" dirty="0"/>
              <a:t> </a:t>
            </a:r>
            <a:r>
              <a:rPr lang="en-US" dirty="0"/>
              <a:t>to encode token </a:t>
            </a:r>
            <a:r>
              <a:rPr lang="en-US" b="1" dirty="0"/>
              <a:t>sequence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C5959AA-1443-8D96-AE3D-E544333B5F48}"/>
              </a:ext>
            </a:extLst>
          </p:cNvPr>
          <p:cNvSpPr/>
          <p:nvPr/>
        </p:nvSpPr>
        <p:spPr>
          <a:xfrm>
            <a:off x="0" y="4991182"/>
            <a:ext cx="4976813" cy="92847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A345-307D-C7EC-95EA-E932B170B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9F03D0F-C788-4B3A-DC7A-06C0210C7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8443149-72E7-E204-429F-1336A5BE92B9}"/>
              </a:ext>
            </a:extLst>
          </p:cNvPr>
          <p:cNvSpPr/>
          <p:nvPr/>
        </p:nvSpPr>
        <p:spPr>
          <a:xfrm>
            <a:off x="0" y="4991182"/>
            <a:ext cx="4976813" cy="800018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207991-58DA-A507-7CD2-41D5A8124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444" y="158961"/>
            <a:ext cx="6538713" cy="2571315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74AE2F-BC06-10A8-F08E-B12CCE66F23A}"/>
              </a:ext>
            </a:extLst>
          </p:cNvPr>
          <p:cNvSpPr txBox="1"/>
          <p:nvPr/>
        </p:nvSpPr>
        <p:spPr>
          <a:xfrm>
            <a:off x="5177789" y="3618291"/>
            <a:ext cx="371327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PE </a:t>
            </a:r>
            <a:r>
              <a:rPr lang="en-US" b="1" dirty="0"/>
              <a:t>features</a:t>
            </a:r>
            <a:r>
              <a:rPr lang="en-US" dirty="0"/>
              <a:t> for a token’s position are just </a:t>
            </a:r>
            <a:r>
              <a:rPr lang="en-US" b="1" dirty="0"/>
              <a:t>added</a:t>
            </a:r>
            <a:r>
              <a:rPr lang="en-US" dirty="0"/>
              <a:t> to the </a:t>
            </a:r>
            <a:r>
              <a:rPr lang="en-US" b="1" dirty="0"/>
              <a:t>embedding</a:t>
            </a:r>
            <a:r>
              <a:rPr lang="en-US" dirty="0"/>
              <a:t> for that token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6089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ED0F-5BD9-16FF-609A-807C2600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71C5A62-A122-0C7F-CF0D-010A34955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E108E0F-883A-B2F9-D815-8B8AAF5A9CB4}"/>
              </a:ext>
            </a:extLst>
          </p:cNvPr>
          <p:cNvSpPr/>
          <p:nvPr/>
        </p:nvSpPr>
        <p:spPr>
          <a:xfrm>
            <a:off x="0" y="4991184"/>
            <a:ext cx="4976813" cy="810171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D45C9C3-24C4-BEFB-BF73-9BAB06CBA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96" y="378583"/>
            <a:ext cx="8964378" cy="3358530"/>
          </a:xfrm>
          <a:prstGeom prst="rect">
            <a:avLst/>
          </a:prstGeom>
          <a:noFill/>
          <a:ln w="571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4A7F5F-1A52-F27C-322E-C4EA943DD541}"/>
              </a:ext>
            </a:extLst>
          </p:cNvPr>
          <p:cNvGraphicFramePr>
            <a:graphicFrameLocks noGrp="1"/>
          </p:cNvGraphicFramePr>
          <p:nvPr/>
        </p:nvGraphicFramePr>
        <p:xfrm>
          <a:off x="2955234" y="3737113"/>
          <a:ext cx="572966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932">
                  <a:extLst>
                    <a:ext uri="{9D8B030D-6E8A-4147-A177-3AD203B41FA5}">
                      <a16:colId xmlns:a16="http://schemas.microsoft.com/office/drawing/2014/main" val="3619605180"/>
                    </a:ext>
                  </a:extLst>
                </a:gridCol>
                <a:gridCol w="1145932">
                  <a:extLst>
                    <a:ext uri="{9D8B030D-6E8A-4147-A177-3AD203B41FA5}">
                      <a16:colId xmlns:a16="http://schemas.microsoft.com/office/drawing/2014/main" val="341239709"/>
                    </a:ext>
                  </a:extLst>
                </a:gridCol>
                <a:gridCol w="1145932">
                  <a:extLst>
                    <a:ext uri="{9D8B030D-6E8A-4147-A177-3AD203B41FA5}">
                      <a16:colId xmlns:a16="http://schemas.microsoft.com/office/drawing/2014/main" val="1057639100"/>
                    </a:ext>
                  </a:extLst>
                </a:gridCol>
                <a:gridCol w="1145932">
                  <a:extLst>
                    <a:ext uri="{9D8B030D-6E8A-4147-A177-3AD203B41FA5}">
                      <a16:colId xmlns:a16="http://schemas.microsoft.com/office/drawing/2014/main" val="3876642234"/>
                    </a:ext>
                  </a:extLst>
                </a:gridCol>
                <a:gridCol w="1145932">
                  <a:extLst>
                    <a:ext uri="{9D8B030D-6E8A-4147-A177-3AD203B41FA5}">
                      <a16:colId xmlns:a16="http://schemas.microsoft.com/office/drawing/2014/main" val="1090826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i="0" dirty="0"/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681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i="0" dirty="0"/>
                        <a:t>pos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509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i="0" dirty="0"/>
                        <a:t>pos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472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i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96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i="0" dirty="0"/>
                        <a:t>pos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08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i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336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i="0" dirty="0"/>
                        <a:t>pos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12507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A408F7-8C61-BC9F-A12F-AD85942EBE35}"/>
              </a:ext>
            </a:extLst>
          </p:cNvPr>
          <p:cNvCxnSpPr/>
          <p:nvPr/>
        </p:nvCxnSpPr>
        <p:spPr>
          <a:xfrm>
            <a:off x="3048000" y="5539409"/>
            <a:ext cx="5459895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A5536-4758-3F02-A55D-FB36837452A1}"/>
              </a:ext>
            </a:extLst>
          </p:cNvPr>
          <p:cNvCxnSpPr>
            <a:cxnSpLocks/>
          </p:cNvCxnSpPr>
          <p:nvPr/>
        </p:nvCxnSpPr>
        <p:spPr>
          <a:xfrm flipV="1">
            <a:off x="1007788" y="418339"/>
            <a:ext cx="0" cy="292783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5D1B4-7D51-8E05-783A-1DA1C7B5616F}"/>
              </a:ext>
            </a:extLst>
          </p:cNvPr>
          <p:cNvCxnSpPr>
            <a:cxnSpLocks/>
          </p:cNvCxnSpPr>
          <p:nvPr/>
        </p:nvCxnSpPr>
        <p:spPr>
          <a:xfrm>
            <a:off x="3048000" y="6338073"/>
            <a:ext cx="5552660" cy="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B678C8-6D73-ED28-6056-52A4A3E6A970}"/>
              </a:ext>
            </a:extLst>
          </p:cNvPr>
          <p:cNvCxnSpPr>
            <a:cxnSpLocks/>
          </p:cNvCxnSpPr>
          <p:nvPr/>
        </p:nvCxnSpPr>
        <p:spPr>
          <a:xfrm flipV="1">
            <a:off x="2180605" y="458095"/>
            <a:ext cx="0" cy="2913037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CE5E97A-120E-EF14-3916-BFEF558F97D0}"/>
              </a:ext>
            </a:extLst>
          </p:cNvPr>
          <p:cNvSpPr txBox="1"/>
          <p:nvPr/>
        </p:nvSpPr>
        <p:spPr>
          <a:xfrm>
            <a:off x="4465983" y="6493565"/>
            <a:ext cx="421891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vectors for </a:t>
            </a:r>
            <a:r>
              <a:rPr lang="en-US" b="1" dirty="0"/>
              <a:t>nearby</a:t>
            </a:r>
            <a:r>
              <a:rPr lang="en-US" dirty="0"/>
              <a:t> positions are </a:t>
            </a:r>
            <a:r>
              <a:rPr lang="en-US" b="1" dirty="0"/>
              <a:t>similar</a:t>
            </a:r>
          </a:p>
        </p:txBody>
      </p:sp>
    </p:spTree>
    <p:extLst>
      <p:ext uri="{BB962C8B-B14F-4D97-AF65-F5344CB8AC3E}">
        <p14:creationId xmlns:p14="http://schemas.microsoft.com/office/powerpoint/2010/main" val="280647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1BF1D-C030-EADC-0A99-AE3E4DCBA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408B0A7-4EF5-FA5A-56F4-679A0FEC2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C5DD33D-419F-0705-914B-5632ED3C6824}"/>
              </a:ext>
            </a:extLst>
          </p:cNvPr>
          <p:cNvSpPr/>
          <p:nvPr/>
        </p:nvSpPr>
        <p:spPr>
          <a:xfrm>
            <a:off x="1267840" y="5207551"/>
            <a:ext cx="1007165" cy="31805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F6B049-B524-1130-90E6-1972139D2779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2275005" y="4001604"/>
            <a:ext cx="2511943" cy="136497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A02639-D685-24C2-56C6-AFA17A07F8A8}"/>
              </a:ext>
            </a:extLst>
          </p:cNvPr>
          <p:cNvGraphicFramePr>
            <a:graphicFrameLocks noGrp="1"/>
          </p:cNvGraphicFramePr>
          <p:nvPr/>
        </p:nvGraphicFramePr>
        <p:xfrm>
          <a:off x="4976814" y="1264478"/>
          <a:ext cx="2815462" cy="2164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13521">
                  <a:extLst>
                    <a:ext uri="{9D8B030D-6E8A-4147-A177-3AD203B41FA5}">
                      <a16:colId xmlns:a16="http://schemas.microsoft.com/office/drawing/2014/main" val="886657959"/>
                    </a:ext>
                  </a:extLst>
                </a:gridCol>
                <a:gridCol w="745105">
                  <a:extLst>
                    <a:ext uri="{9D8B030D-6E8A-4147-A177-3AD203B41FA5}">
                      <a16:colId xmlns:a16="http://schemas.microsoft.com/office/drawing/2014/main" val="2341239680"/>
                    </a:ext>
                  </a:extLst>
                </a:gridCol>
                <a:gridCol w="486995">
                  <a:extLst>
                    <a:ext uri="{9D8B030D-6E8A-4147-A177-3AD203B41FA5}">
                      <a16:colId xmlns:a16="http://schemas.microsoft.com/office/drawing/2014/main" val="692202242"/>
                    </a:ext>
                  </a:extLst>
                </a:gridCol>
                <a:gridCol w="569841">
                  <a:extLst>
                    <a:ext uri="{9D8B030D-6E8A-4147-A177-3AD203B41FA5}">
                      <a16:colId xmlns:a16="http://schemas.microsoft.com/office/drawing/2014/main" val="240265738"/>
                    </a:ext>
                  </a:extLst>
                </a:gridCol>
              </a:tblGrid>
              <a:tr h="432904">
                <a:tc>
                  <a:txBody>
                    <a:bodyPr/>
                    <a:lstStyle/>
                    <a:p>
                      <a:r>
                        <a:rPr lang="en-US" sz="1400" dirty="0"/>
                        <a:t>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124692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/>
                        <a:t>-0.67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1030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/>
                        <a:t>-1.31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713157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21101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/>
                        <a:t>0.145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6883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9B0831A-CD15-AB9B-0DE3-90497AC914CD}"/>
              </a:ext>
            </a:extLst>
          </p:cNvPr>
          <p:cNvSpPr txBox="1"/>
          <p:nvPr/>
        </p:nvSpPr>
        <p:spPr>
          <a:xfrm>
            <a:off x="5843831" y="515525"/>
            <a:ext cx="1402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768 tokens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8A93A19-6EC8-F493-5D22-A392460EB34C}"/>
              </a:ext>
            </a:extLst>
          </p:cNvPr>
          <p:cNvGraphicFramePr>
            <a:graphicFrameLocks noGrp="1"/>
          </p:cNvGraphicFramePr>
          <p:nvPr/>
        </p:nvGraphicFramePr>
        <p:xfrm>
          <a:off x="4965561" y="3887304"/>
          <a:ext cx="2910599" cy="224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005">
                  <a:extLst>
                    <a:ext uri="{9D8B030D-6E8A-4147-A177-3AD203B41FA5}">
                      <a16:colId xmlns:a16="http://schemas.microsoft.com/office/drawing/2014/main" val="886657959"/>
                    </a:ext>
                  </a:extLst>
                </a:gridCol>
                <a:gridCol w="677025">
                  <a:extLst>
                    <a:ext uri="{9D8B030D-6E8A-4147-A177-3AD203B41FA5}">
                      <a16:colId xmlns:a16="http://schemas.microsoft.com/office/drawing/2014/main" val="2341239680"/>
                    </a:ext>
                  </a:extLst>
                </a:gridCol>
                <a:gridCol w="543339">
                  <a:extLst>
                    <a:ext uri="{9D8B030D-6E8A-4147-A177-3AD203B41FA5}">
                      <a16:colId xmlns:a16="http://schemas.microsoft.com/office/drawing/2014/main" val="692202242"/>
                    </a:ext>
                  </a:extLst>
                </a:gridCol>
                <a:gridCol w="680230">
                  <a:extLst>
                    <a:ext uri="{9D8B030D-6E8A-4147-A177-3AD203B41FA5}">
                      <a16:colId xmlns:a16="http://schemas.microsoft.com/office/drawing/2014/main" val="240265738"/>
                    </a:ext>
                  </a:extLst>
                </a:gridCol>
              </a:tblGrid>
              <a:tr h="432904">
                <a:tc>
                  <a:txBody>
                    <a:bodyPr/>
                    <a:lstStyle/>
                    <a:p>
                      <a:r>
                        <a:rPr lang="en-US" sz="1400" dirty="0"/>
                        <a:t>pos 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pos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124692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1030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713157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21101"/>
                  </a:ext>
                </a:extLst>
              </a:tr>
              <a:tr h="43290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F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F0"/>
                          </a:solidFill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F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F0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688370"/>
                  </a:ext>
                </a:extLst>
              </a:tr>
            </a:tbl>
          </a:graphicData>
        </a:graphic>
      </p:graphicFrame>
      <p:sp>
        <p:nvSpPr>
          <p:cNvPr id="19" name="Plus 18">
            <a:extLst>
              <a:ext uri="{FF2B5EF4-FFF2-40B4-BE49-F238E27FC236}">
                <a16:creationId xmlns:a16="http://schemas.microsoft.com/office/drawing/2014/main" id="{B5538184-CDE9-E324-164C-AAF4C3AEA3C6}"/>
              </a:ext>
            </a:extLst>
          </p:cNvPr>
          <p:cNvSpPr/>
          <p:nvPr/>
        </p:nvSpPr>
        <p:spPr>
          <a:xfrm>
            <a:off x="6138776" y="3372522"/>
            <a:ext cx="491537" cy="491537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F8838E6-93C2-43E8-275B-8627ACAEF411}"/>
              </a:ext>
            </a:extLst>
          </p:cNvPr>
          <p:cNvSpPr/>
          <p:nvPr/>
        </p:nvSpPr>
        <p:spPr>
          <a:xfrm>
            <a:off x="4786947" y="884857"/>
            <a:ext cx="3387267" cy="552919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42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267F-3C54-5BD7-CDE7-5A95E073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BB250-AF92-FE3C-1F3B-91F361F3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37591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FD81E-BAA6-31D7-73D7-BD86E816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032F9CD-7BB7-2B03-9BE3-1BF6D9581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375B878-18B2-4568-AE41-DADDBB19B64D}"/>
              </a:ext>
            </a:extLst>
          </p:cNvPr>
          <p:cNvSpPr/>
          <p:nvPr/>
        </p:nvSpPr>
        <p:spPr>
          <a:xfrm>
            <a:off x="1078147" y="4161182"/>
            <a:ext cx="1413262" cy="63610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ack text with a square and a square formula&#10;&#10;AI-generated content may be incorrect.">
            <a:extLst>
              <a:ext uri="{FF2B5EF4-FFF2-40B4-BE49-F238E27FC236}">
                <a16:creationId xmlns:a16="http://schemas.microsoft.com/office/drawing/2014/main" id="{F8E62549-4A19-8B54-1E25-C3A15E982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456" y="46371"/>
            <a:ext cx="4826544" cy="913963"/>
          </a:xfrm>
          <a:prstGeom prst="rect">
            <a:avLst/>
          </a:prstGeom>
        </p:spPr>
      </p:pic>
      <p:pic>
        <p:nvPicPr>
          <p:cNvPr id="10" name="Picture 9" descr="A diagram of software coding&#10;&#10;AI-generated content may be incorrect.">
            <a:extLst>
              <a:ext uri="{FF2B5EF4-FFF2-40B4-BE49-F238E27FC236}">
                <a16:creationId xmlns:a16="http://schemas.microsoft.com/office/drawing/2014/main" id="{9FFB4A54-C582-14BE-5F79-110660955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23" y="960782"/>
            <a:ext cx="2540000" cy="32004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778DD9-1F34-9317-D205-3A7D3A1A1A7D}"/>
              </a:ext>
            </a:extLst>
          </p:cNvPr>
          <p:cNvSpPr txBox="1"/>
          <p:nvPr/>
        </p:nvSpPr>
        <p:spPr>
          <a:xfrm>
            <a:off x="5148023" y="4426226"/>
            <a:ext cx="3081577" cy="2215991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for a single attention “head”:</a:t>
            </a:r>
          </a:p>
          <a:p>
            <a:endParaRPr lang="en-US" i="1" dirty="0"/>
          </a:p>
          <a:p>
            <a:r>
              <a:rPr lang="en-US" dirty="0"/>
              <a:t>Q = </a:t>
            </a:r>
            <a:r>
              <a:rPr lang="en-US" dirty="0" err="1"/>
              <a:t>L</a:t>
            </a:r>
            <a:r>
              <a:rPr lang="en-US" baseline="-25000" dirty="0" err="1"/>
              <a:t>j</a:t>
            </a:r>
            <a:r>
              <a:rPr lang="en-US" dirty="0"/>
              <a:t> W</a:t>
            </a:r>
            <a:r>
              <a:rPr lang="en-US" baseline="30000" dirty="0"/>
              <a:t>Q    </a:t>
            </a:r>
            <a:r>
              <a:rPr lang="en-US" sz="1200" dirty="0"/>
              <a:t># usually smaller</a:t>
            </a: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 = </a:t>
            </a:r>
            <a:r>
              <a:rPr lang="en-US" dirty="0" err="1"/>
              <a:t>L</a:t>
            </a:r>
            <a:r>
              <a:rPr lang="en-US" baseline="-25000" dirty="0" err="1"/>
              <a:t>j</a:t>
            </a:r>
            <a:r>
              <a:rPr lang="en-US" dirty="0"/>
              <a:t> W</a:t>
            </a:r>
            <a:r>
              <a:rPr lang="en-US" baseline="30000" dirty="0"/>
              <a:t>K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+mn-cs"/>
              </a:rPr>
              <a:t># usually smaller</a:t>
            </a:r>
            <a:endParaRPr lang="en-US" baseline="30000" dirty="0"/>
          </a:p>
          <a:p>
            <a:r>
              <a:rPr lang="en-US" dirty="0"/>
              <a:t>V = </a:t>
            </a:r>
            <a:r>
              <a:rPr lang="en-US" dirty="0" err="1"/>
              <a:t>L</a:t>
            </a:r>
            <a:r>
              <a:rPr lang="en-US" baseline="-25000" dirty="0" err="1"/>
              <a:t>j</a:t>
            </a:r>
            <a:r>
              <a:rPr lang="en-US" dirty="0"/>
              <a:t> W</a:t>
            </a:r>
            <a:r>
              <a:rPr lang="en-US" baseline="30000" dirty="0"/>
              <a:t>V</a:t>
            </a:r>
          </a:p>
          <a:p>
            <a:endParaRPr lang="en-US" baseline="30000" dirty="0"/>
          </a:p>
          <a:p>
            <a:r>
              <a:rPr lang="en-US" dirty="0" err="1"/>
              <a:t>L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US" i="1" dirty="0"/>
              <a:t>is layer input (initially embedding + PE)</a:t>
            </a:r>
            <a:endParaRPr lang="en-US" i="1" baseline="30000" dirty="0"/>
          </a:p>
        </p:txBody>
      </p:sp>
    </p:spTree>
    <p:extLst>
      <p:ext uri="{BB962C8B-B14F-4D97-AF65-F5344CB8AC3E}">
        <p14:creationId xmlns:p14="http://schemas.microsoft.com/office/powerpoint/2010/main" val="170522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DCB5C-B607-529F-4853-FECB6E1AC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E3514AA-A4D7-DDEE-79A8-6536F7FB7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179F517-9F27-79FA-B36E-660535F30CE4}"/>
              </a:ext>
            </a:extLst>
          </p:cNvPr>
          <p:cNvSpPr/>
          <p:nvPr/>
        </p:nvSpPr>
        <p:spPr>
          <a:xfrm>
            <a:off x="1078147" y="4161182"/>
            <a:ext cx="1413262" cy="63610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ack text with a square and a square formula&#10;&#10;AI-generated content may be incorrect.">
            <a:extLst>
              <a:ext uri="{FF2B5EF4-FFF2-40B4-BE49-F238E27FC236}">
                <a16:creationId xmlns:a16="http://schemas.microsoft.com/office/drawing/2014/main" id="{5BD01593-9E79-CB41-3E14-AAFA66CED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456" y="46371"/>
            <a:ext cx="4826544" cy="913963"/>
          </a:xfrm>
          <a:prstGeom prst="rect">
            <a:avLst/>
          </a:prstGeom>
        </p:spPr>
      </p:pic>
      <p:pic>
        <p:nvPicPr>
          <p:cNvPr id="10" name="Picture 9" descr="A diagram of software coding&#10;&#10;AI-generated content may be incorrect.">
            <a:extLst>
              <a:ext uri="{FF2B5EF4-FFF2-40B4-BE49-F238E27FC236}">
                <a16:creationId xmlns:a16="http://schemas.microsoft.com/office/drawing/2014/main" id="{EECE5FFD-AF4D-8389-17AE-0CF7FA770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23" y="960782"/>
            <a:ext cx="2540000" cy="32004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AE9FA1-88FC-79A9-FE26-E76C984DCDC9}"/>
              </a:ext>
            </a:extLst>
          </p:cNvPr>
          <p:cNvSpPr txBox="1"/>
          <p:nvPr/>
        </p:nvSpPr>
        <p:spPr>
          <a:xfrm>
            <a:off x="5148023" y="4426226"/>
            <a:ext cx="3081577" cy="2215991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for a single attention “head”:</a:t>
            </a:r>
          </a:p>
          <a:p>
            <a:endParaRPr lang="en-US" i="1" dirty="0"/>
          </a:p>
          <a:p>
            <a:r>
              <a:rPr lang="en-US" dirty="0"/>
              <a:t>Q = </a:t>
            </a:r>
            <a:r>
              <a:rPr lang="en-US" dirty="0" err="1"/>
              <a:t>L</a:t>
            </a:r>
            <a:r>
              <a:rPr lang="en-US" baseline="-25000" dirty="0" err="1"/>
              <a:t>j</a:t>
            </a:r>
            <a:r>
              <a:rPr lang="en-US" dirty="0"/>
              <a:t> W</a:t>
            </a:r>
            <a:r>
              <a:rPr lang="en-US" baseline="30000" dirty="0"/>
              <a:t>Q    </a:t>
            </a:r>
            <a:r>
              <a:rPr lang="en-US" sz="1200" dirty="0"/>
              <a:t># usually smaller</a:t>
            </a: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 = </a:t>
            </a:r>
            <a:r>
              <a:rPr lang="en-US" dirty="0" err="1"/>
              <a:t>L</a:t>
            </a:r>
            <a:r>
              <a:rPr lang="en-US" baseline="-25000" dirty="0" err="1"/>
              <a:t>j</a:t>
            </a:r>
            <a:r>
              <a:rPr lang="en-US" dirty="0"/>
              <a:t> W</a:t>
            </a:r>
            <a:r>
              <a:rPr lang="en-US" baseline="30000" dirty="0"/>
              <a:t>K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+mn-cs"/>
              </a:rPr>
              <a:t># usually smaller</a:t>
            </a:r>
            <a:endParaRPr lang="en-US" baseline="30000" dirty="0"/>
          </a:p>
          <a:p>
            <a:r>
              <a:rPr lang="en-US" dirty="0"/>
              <a:t>V = </a:t>
            </a:r>
            <a:r>
              <a:rPr lang="en-US" dirty="0" err="1"/>
              <a:t>L</a:t>
            </a:r>
            <a:r>
              <a:rPr lang="en-US" baseline="-25000" dirty="0" err="1"/>
              <a:t>j</a:t>
            </a:r>
            <a:r>
              <a:rPr lang="en-US" dirty="0"/>
              <a:t> W</a:t>
            </a:r>
            <a:r>
              <a:rPr lang="en-US" baseline="30000" dirty="0"/>
              <a:t>V</a:t>
            </a:r>
          </a:p>
          <a:p>
            <a:endParaRPr lang="en-US" baseline="30000" dirty="0"/>
          </a:p>
          <a:p>
            <a:r>
              <a:rPr lang="en-US" dirty="0" err="1"/>
              <a:t>L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US" i="1" dirty="0"/>
              <a:t>is layer input (initially embedding + PE)</a:t>
            </a:r>
            <a:endParaRPr lang="en-US" i="1" baseline="30000" dirty="0"/>
          </a:p>
        </p:txBody>
      </p:sp>
      <p:pic>
        <p:nvPicPr>
          <p:cNvPr id="11266" name="Picture 2" descr="Transformer architecture showing single head attention">
            <a:extLst>
              <a:ext uri="{FF2B5EF4-FFF2-40B4-BE49-F238E27FC236}">
                <a16:creationId xmlns:a16="http://schemas.microsoft.com/office/drawing/2014/main" id="{2BA30A3D-A093-D0FA-DE24-B57388694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178" y="153429"/>
            <a:ext cx="6835309" cy="423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26F0F6-CB23-34BA-9D3B-CD8BB099C86B}"/>
              </a:ext>
            </a:extLst>
          </p:cNvPr>
          <p:cNvSpPr txBox="1"/>
          <p:nvPr/>
        </p:nvSpPr>
        <p:spPr>
          <a:xfrm>
            <a:off x="29766" y="716917"/>
            <a:ext cx="3031486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for each token </a:t>
            </a:r>
            <a:r>
              <a:rPr lang="en-US" sz="1400" dirty="0" err="1"/>
              <a:t>i</a:t>
            </a:r>
            <a:r>
              <a:rPr lang="en-US" sz="1400" dirty="0"/>
              <a:t>, </a:t>
            </a:r>
          </a:p>
          <a:p>
            <a:r>
              <a:rPr lang="en-US" sz="1400" dirty="0"/>
              <a:t>sum(value[j] * P(key[j] | query[</a:t>
            </a:r>
            <a:r>
              <a:rPr lang="en-US" sz="1400" dirty="0" err="1"/>
              <a:t>i</a:t>
            </a:r>
            <a:r>
              <a:rPr lang="en-US" sz="1400" dirty="0"/>
              <a:t>])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D5244-AC46-2985-998F-22FEC5DA130C}"/>
              </a:ext>
            </a:extLst>
          </p:cNvPr>
          <p:cNvSpPr txBox="1"/>
          <p:nvPr/>
        </p:nvSpPr>
        <p:spPr>
          <a:xfrm>
            <a:off x="104062" y="1522298"/>
            <a:ext cx="2411896" cy="7386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~ </a:t>
            </a:r>
            <a:r>
              <a:rPr lang="en-US" sz="1400" dirty="0" err="1"/>
              <a:t>Pr</a:t>
            </a:r>
            <a:r>
              <a:rPr lang="en-US" sz="1400" dirty="0"/>
              <a:t>(</a:t>
            </a:r>
            <a:r>
              <a:rPr lang="en-US" sz="1400" dirty="0" err="1"/>
              <a:t>key|query</a:t>
            </a:r>
            <a:r>
              <a:rPr lang="en-US" sz="1400" dirty="0"/>
              <a:t>) for each key, query … if each query is attending to a single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BA6837-F87A-D553-20B3-B0A2D4AA1CFA}"/>
              </a:ext>
            </a:extLst>
          </p:cNvPr>
          <p:cNvSpPr txBox="1"/>
          <p:nvPr/>
        </p:nvSpPr>
        <p:spPr>
          <a:xfrm>
            <a:off x="128256" y="2962853"/>
            <a:ext cx="2411896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dot-product similarity of each key to each query</a:t>
            </a:r>
          </a:p>
        </p:txBody>
      </p:sp>
    </p:spTree>
    <p:extLst>
      <p:ext uri="{BB962C8B-B14F-4D97-AF65-F5344CB8AC3E}">
        <p14:creationId xmlns:p14="http://schemas.microsoft.com/office/powerpoint/2010/main" val="295880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13D40-4D77-C574-108A-4AB7477F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9028017-B871-8325-07C2-C1055BB08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BBA57A2-ADBE-908D-8511-9D726325B223}"/>
              </a:ext>
            </a:extLst>
          </p:cNvPr>
          <p:cNvSpPr/>
          <p:nvPr/>
        </p:nvSpPr>
        <p:spPr>
          <a:xfrm>
            <a:off x="1078147" y="4161182"/>
            <a:ext cx="1413262" cy="63610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ack text with a square and a square formula&#10;&#10;AI-generated content may be incorrect.">
            <a:extLst>
              <a:ext uri="{FF2B5EF4-FFF2-40B4-BE49-F238E27FC236}">
                <a16:creationId xmlns:a16="http://schemas.microsoft.com/office/drawing/2014/main" id="{0A69CE04-72D4-F01D-06DB-D909691CF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456" y="46371"/>
            <a:ext cx="4826544" cy="913963"/>
          </a:xfrm>
          <a:prstGeom prst="rect">
            <a:avLst/>
          </a:prstGeom>
        </p:spPr>
      </p:pic>
      <p:pic>
        <p:nvPicPr>
          <p:cNvPr id="10" name="Picture 9" descr="A diagram of software coding&#10;&#10;AI-generated content may be incorrect.">
            <a:extLst>
              <a:ext uri="{FF2B5EF4-FFF2-40B4-BE49-F238E27FC236}">
                <a16:creationId xmlns:a16="http://schemas.microsoft.com/office/drawing/2014/main" id="{AC1B6495-EF87-EF49-D1A4-DDA9148E5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23" y="960782"/>
            <a:ext cx="2540000" cy="32004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8F8D3C-61AD-3FF0-AA80-C58F719E3181}"/>
              </a:ext>
            </a:extLst>
          </p:cNvPr>
          <p:cNvSpPr txBox="1"/>
          <p:nvPr/>
        </p:nvSpPr>
        <p:spPr>
          <a:xfrm>
            <a:off x="5148023" y="4426226"/>
            <a:ext cx="3081577" cy="2215991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for a single attention “head”:</a:t>
            </a:r>
          </a:p>
          <a:p>
            <a:endParaRPr lang="en-US" i="1" dirty="0"/>
          </a:p>
          <a:p>
            <a:r>
              <a:rPr lang="en-US" dirty="0"/>
              <a:t>Q = L</a:t>
            </a:r>
            <a:r>
              <a:rPr lang="en-US" baseline="-25000" dirty="0"/>
              <a:t>j-1</a:t>
            </a:r>
            <a:r>
              <a:rPr lang="en-US" dirty="0"/>
              <a:t> W</a:t>
            </a:r>
            <a:r>
              <a:rPr lang="en-US" baseline="30000" dirty="0"/>
              <a:t>Q</a:t>
            </a:r>
          </a:p>
          <a:p>
            <a:r>
              <a:rPr lang="en-US" dirty="0"/>
              <a:t>K = L</a:t>
            </a:r>
            <a:r>
              <a:rPr lang="en-US" baseline="-25000" dirty="0"/>
              <a:t>j-1</a:t>
            </a:r>
            <a:r>
              <a:rPr lang="en-US" dirty="0"/>
              <a:t> W</a:t>
            </a:r>
            <a:r>
              <a:rPr lang="en-US" baseline="30000" dirty="0"/>
              <a:t>K</a:t>
            </a:r>
          </a:p>
          <a:p>
            <a:r>
              <a:rPr lang="en-US" dirty="0"/>
              <a:t>V = L</a:t>
            </a:r>
            <a:r>
              <a:rPr lang="en-US" baseline="-25000" dirty="0"/>
              <a:t>j-1</a:t>
            </a:r>
            <a:r>
              <a:rPr lang="en-US" dirty="0"/>
              <a:t> W</a:t>
            </a:r>
            <a:r>
              <a:rPr lang="en-US" baseline="30000" dirty="0"/>
              <a:t>V</a:t>
            </a:r>
          </a:p>
          <a:p>
            <a:endParaRPr lang="en-US" baseline="30000" dirty="0"/>
          </a:p>
          <a:p>
            <a:r>
              <a:rPr lang="en-US" dirty="0"/>
              <a:t>L</a:t>
            </a:r>
            <a:r>
              <a:rPr lang="en-US" baseline="-25000" dirty="0"/>
              <a:t>j-1</a:t>
            </a:r>
            <a:r>
              <a:rPr lang="en-US" dirty="0"/>
              <a:t> </a:t>
            </a:r>
            <a:r>
              <a:rPr lang="en-US" i="1" dirty="0"/>
              <a:t>is previous layer output (or embedding + PE)</a:t>
            </a:r>
            <a:endParaRPr lang="en-US" i="1" baseline="30000" dirty="0"/>
          </a:p>
        </p:txBody>
      </p:sp>
    </p:spTree>
    <p:extLst>
      <p:ext uri="{BB962C8B-B14F-4D97-AF65-F5344CB8AC3E}">
        <p14:creationId xmlns:p14="http://schemas.microsoft.com/office/powerpoint/2010/main" val="737974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1E5D9-1795-E3D7-7D2A-40DA7F3D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032D21A-D608-F002-66A0-6820677ED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6A03038-29CB-4B64-829D-71D12E97AD03}"/>
              </a:ext>
            </a:extLst>
          </p:cNvPr>
          <p:cNvSpPr/>
          <p:nvPr/>
        </p:nvSpPr>
        <p:spPr>
          <a:xfrm>
            <a:off x="1078147" y="4161182"/>
            <a:ext cx="1413262" cy="63610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 Shot 2016-04-03 at 10.55.46 AM.png">
            <a:extLst>
              <a:ext uri="{FF2B5EF4-FFF2-40B4-BE49-F238E27FC236}">
                <a16:creationId xmlns:a16="http://schemas.microsoft.com/office/drawing/2014/main" id="{19F9D9E2-06A0-C9F8-0377-2914F0345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5" r="2657" b="11714"/>
          <a:stretch/>
        </p:blipFill>
        <p:spPr>
          <a:xfrm>
            <a:off x="1435658" y="378583"/>
            <a:ext cx="6976822" cy="218537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7DB56D1-CA98-06F5-92FF-FFC0B25FC2D1}"/>
              </a:ext>
            </a:extLst>
          </p:cNvPr>
          <p:cNvCxnSpPr>
            <a:cxnSpLocks/>
          </p:cNvCxnSpPr>
          <p:nvPr/>
        </p:nvCxnSpPr>
        <p:spPr>
          <a:xfrm flipV="1">
            <a:off x="2060057" y="2331720"/>
            <a:ext cx="1208923" cy="182946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DC6DA09-0FA4-939A-5A82-097141A299D8}"/>
              </a:ext>
            </a:extLst>
          </p:cNvPr>
          <p:cNvSpPr txBox="1"/>
          <p:nvPr/>
        </p:nvSpPr>
        <p:spPr>
          <a:xfrm>
            <a:off x="4938195" y="2960853"/>
            <a:ext cx="3776345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Multi-head </a:t>
            </a:r>
            <a:r>
              <a:rPr lang="en-US" dirty="0"/>
              <a:t>attention is the same idea as used with CNNs – use multiple </a:t>
            </a:r>
            <a:r>
              <a:rPr lang="en-US" b="1" dirty="0"/>
              <a:t>copies</a:t>
            </a:r>
            <a:r>
              <a:rPr lang="en-US" dirty="0"/>
              <a:t> of the same trick in </a:t>
            </a:r>
            <a:r>
              <a:rPr lang="en-US" b="1" dirty="0"/>
              <a:t>parallel</a:t>
            </a:r>
            <a:r>
              <a:rPr lang="en-US" dirty="0"/>
              <a:t> with different trainable parameters and then later compress them back to one representation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412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B7BD2-11F3-2285-95EC-B20B5A7E4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9332521-1276-37D7-F2E8-61ED05E06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9673E8F-6271-B3E3-FF30-8731DC0DAC43}"/>
              </a:ext>
            </a:extLst>
          </p:cNvPr>
          <p:cNvSpPr/>
          <p:nvPr/>
        </p:nvSpPr>
        <p:spPr>
          <a:xfrm>
            <a:off x="1078147" y="4161182"/>
            <a:ext cx="1413262" cy="63610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E5FC5051-866C-8ECA-0D66-DC7540EB3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763" y="1882810"/>
            <a:ext cx="2819717" cy="4324167"/>
          </a:xfrm>
          <a:prstGeom prst="rect">
            <a:avLst/>
          </a:prstGeom>
          <a:noFill/>
          <a:ln w="571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EA2C44-D593-7062-0B31-865229DE6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238" y="378583"/>
            <a:ext cx="7658100" cy="10160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0F829B2-9AC9-E74B-23F4-75AE916A0003}"/>
              </a:ext>
            </a:extLst>
          </p:cNvPr>
          <p:cNvSpPr/>
          <p:nvPr/>
        </p:nvSpPr>
        <p:spPr>
          <a:xfrm>
            <a:off x="6059722" y="1882810"/>
            <a:ext cx="1413262" cy="636105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CCC4EA-458B-2DE3-ED39-C3B9C40804CE}"/>
              </a:ext>
            </a:extLst>
          </p:cNvPr>
          <p:cNvSpPr/>
          <p:nvPr/>
        </p:nvSpPr>
        <p:spPr>
          <a:xfrm>
            <a:off x="7801762" y="393457"/>
            <a:ext cx="951396" cy="636105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C3E4F0-F434-ED57-C3EC-B1C583030B74}"/>
              </a:ext>
            </a:extLst>
          </p:cNvPr>
          <p:cNvCxnSpPr>
            <a:stCxn id="8" idx="7"/>
            <a:endCxn id="9" idx="4"/>
          </p:cNvCxnSpPr>
          <p:nvPr/>
        </p:nvCxnSpPr>
        <p:spPr>
          <a:xfrm flipV="1">
            <a:off x="7266017" y="1029562"/>
            <a:ext cx="1011443" cy="94640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51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89DE3-1B74-3FD0-FF86-4963894E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8B69-1F86-18B3-C363-6C5758B5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Layers in the Transformer Block</a:t>
            </a:r>
          </a:p>
        </p:txBody>
      </p:sp>
    </p:spTree>
    <p:extLst>
      <p:ext uri="{BB962C8B-B14F-4D97-AF65-F5344CB8AC3E}">
        <p14:creationId xmlns:p14="http://schemas.microsoft.com/office/powerpoint/2010/main" val="27394839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EF1F8-2E82-1809-B6F0-EE573D8A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49196464-75D0-C83D-E39C-E4A9E62BE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0045B2-0706-0F9C-DAB9-407928AE2D1A}"/>
              </a:ext>
            </a:extLst>
          </p:cNvPr>
          <p:cNvSpPr txBox="1"/>
          <p:nvPr/>
        </p:nvSpPr>
        <p:spPr>
          <a:xfrm>
            <a:off x="4976813" y="3252341"/>
            <a:ext cx="37763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Layer normalization </a:t>
            </a:r>
            <a:r>
              <a:rPr lang="en-US" dirty="0"/>
              <a:t>normalizes the outputs of a layer so that mean is zero and variance is 1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E293A-3908-E6E6-E62B-D32AE12FE372}"/>
              </a:ext>
            </a:extLst>
          </p:cNvPr>
          <p:cNvSpPr txBox="1"/>
          <p:nvPr/>
        </p:nvSpPr>
        <p:spPr>
          <a:xfrm>
            <a:off x="5354003" y="4175671"/>
            <a:ext cx="339915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…and also adds </a:t>
            </a:r>
            <a:r>
              <a:rPr lang="en-US" b="1" dirty="0"/>
              <a:t>gain </a:t>
            </a:r>
            <a:r>
              <a:rPr lang="en-US" dirty="0"/>
              <a:t>and </a:t>
            </a:r>
            <a:r>
              <a:rPr lang="en-US" b="1" dirty="0"/>
              <a:t>bias</a:t>
            </a:r>
            <a:r>
              <a:rPr lang="en-US" dirty="0"/>
              <a:t> vectors (gain is multiplicative, bias is additive)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F405D9-ECA3-F2F5-17A3-1D385D163026}"/>
              </a:ext>
            </a:extLst>
          </p:cNvPr>
          <p:cNvSpPr/>
          <p:nvPr/>
        </p:nvSpPr>
        <p:spPr>
          <a:xfrm>
            <a:off x="1078147" y="3761862"/>
            <a:ext cx="1413262" cy="63610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77C525-B965-A8D7-2F9A-7ECBF7829D29}"/>
              </a:ext>
            </a:extLst>
          </p:cNvPr>
          <p:cNvSpPr txBox="1"/>
          <p:nvPr/>
        </p:nvSpPr>
        <p:spPr>
          <a:xfrm>
            <a:off x="4976812" y="962659"/>
            <a:ext cx="37763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 </a:t>
            </a:r>
            <a:r>
              <a:rPr lang="en-US" dirty="0"/>
              <a:t>is a skip connection (aka residual connection)</a:t>
            </a:r>
            <a:endParaRPr lang="en-US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C0BCC4-8B47-B336-DF4D-C2E70D7B8D68}"/>
              </a:ext>
            </a:extLst>
          </p:cNvPr>
          <p:cNvSpPr/>
          <p:nvPr/>
        </p:nvSpPr>
        <p:spPr>
          <a:xfrm>
            <a:off x="1146139" y="2662239"/>
            <a:ext cx="1413262" cy="63610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63F15-02A6-1889-A592-227B5775C80F}"/>
              </a:ext>
            </a:extLst>
          </p:cNvPr>
          <p:cNvSpPr txBox="1"/>
          <p:nvPr/>
        </p:nvSpPr>
        <p:spPr>
          <a:xfrm>
            <a:off x="5354002" y="5376000"/>
            <a:ext cx="339915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It helps with vanishing gradients</a:t>
            </a:r>
          </a:p>
        </p:txBody>
      </p:sp>
    </p:spTree>
    <p:extLst>
      <p:ext uri="{BB962C8B-B14F-4D97-AF65-F5344CB8AC3E}">
        <p14:creationId xmlns:p14="http://schemas.microsoft.com/office/powerpoint/2010/main" val="315936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272AC-BB27-FF1A-9973-182BE18B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F0974F9-855D-55CA-6C12-16312B1DA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C449AD-BB2E-F860-6D15-EA74B1621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264" y="1045496"/>
            <a:ext cx="4396106" cy="596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724ED9-EBD5-2219-A8E9-8017F35CF747}"/>
              </a:ext>
            </a:extLst>
          </p:cNvPr>
          <p:cNvSpPr txBox="1"/>
          <p:nvPr/>
        </p:nvSpPr>
        <p:spPr>
          <a:xfrm>
            <a:off x="4889817" y="1662692"/>
            <a:ext cx="37763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same </a:t>
            </a:r>
            <a:r>
              <a:rPr lang="en-US" b="1" dirty="0"/>
              <a:t>feed-forward MLP is </a:t>
            </a:r>
            <a:r>
              <a:rPr lang="en-US" dirty="0"/>
              <a:t>applied to </a:t>
            </a:r>
            <a:r>
              <a:rPr lang="en-US" b="1" dirty="0"/>
              <a:t>every</a:t>
            </a:r>
            <a:r>
              <a:rPr lang="en-US" dirty="0"/>
              <a:t> token encoding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F1AB6-8BDE-6171-D4BA-D6031089AD69}"/>
              </a:ext>
            </a:extLst>
          </p:cNvPr>
          <p:cNvSpPr txBox="1"/>
          <p:nvPr/>
        </p:nvSpPr>
        <p:spPr>
          <a:xfrm>
            <a:off x="4889816" y="2478195"/>
            <a:ext cx="37763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Different FFN parameters are used in different layers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E83FBF-5F57-EE19-1B1E-C06E116F1C94}"/>
              </a:ext>
            </a:extLst>
          </p:cNvPr>
          <p:cNvSpPr/>
          <p:nvPr/>
        </p:nvSpPr>
        <p:spPr>
          <a:xfrm>
            <a:off x="1089577" y="3110947"/>
            <a:ext cx="1413262" cy="63610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11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D77D7-B7DD-0D44-F156-69B16C36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5095A0A-7C75-F13F-01C1-4B0F66B95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D3CCC9-12C0-6D60-5CFF-F8E2F209E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264" y="1045496"/>
            <a:ext cx="4396106" cy="596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C63A03-B827-BBAD-A4B1-CF535DA0F6DA}"/>
              </a:ext>
            </a:extLst>
          </p:cNvPr>
          <p:cNvSpPr txBox="1"/>
          <p:nvPr/>
        </p:nvSpPr>
        <p:spPr>
          <a:xfrm>
            <a:off x="4889817" y="1662692"/>
            <a:ext cx="37763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There is also a </a:t>
            </a:r>
            <a:r>
              <a:rPr lang="en-US" b="1" dirty="0"/>
              <a:t>dropout</a:t>
            </a:r>
            <a:r>
              <a:rPr lang="en-US" dirty="0"/>
              <a:t> layer after the FFN (another “trick” from 2014)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F163F3-C6EC-E8C4-74FE-D8BB357ED1C1}"/>
              </a:ext>
            </a:extLst>
          </p:cNvPr>
          <p:cNvSpPr/>
          <p:nvPr/>
        </p:nvSpPr>
        <p:spPr>
          <a:xfrm>
            <a:off x="1089577" y="3110947"/>
            <a:ext cx="1413262" cy="63610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A7282-07BA-1B40-36A3-C311A28798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18" t="3185" r="47573"/>
          <a:stretch/>
        </p:blipFill>
        <p:spPr>
          <a:xfrm>
            <a:off x="5323372" y="2576110"/>
            <a:ext cx="3342790" cy="2084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26D4E2-454E-2582-BBA1-DEBD9E39C4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306" t="3185" r="7961"/>
          <a:stretch/>
        </p:blipFill>
        <p:spPr>
          <a:xfrm>
            <a:off x="5587296" y="4660472"/>
            <a:ext cx="3165862" cy="208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70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9A853-698E-3FE5-BEE3-EDF90FCB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8CFDD0C-97C8-4C6E-E75C-578294DC0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6F1171-FD0F-572D-B7CB-03CB55F1E81C}"/>
              </a:ext>
            </a:extLst>
          </p:cNvPr>
          <p:cNvSpPr txBox="1"/>
          <p:nvPr/>
        </p:nvSpPr>
        <p:spPr>
          <a:xfrm>
            <a:off x="4889816" y="2478195"/>
            <a:ext cx="37763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That’s the whole story for the encoder side!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61CB0E3-4CF9-1086-685B-0F6FDB13F484}"/>
              </a:ext>
            </a:extLst>
          </p:cNvPr>
          <p:cNvSpPr/>
          <p:nvPr/>
        </p:nvSpPr>
        <p:spPr>
          <a:xfrm>
            <a:off x="185738" y="1328738"/>
            <a:ext cx="2471737" cy="5529262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0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7AB45-2448-6A96-68C0-E6CA0A20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CFA5-0CC3-7C1A-F38D-2F11502C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BERT: An Encoder-Only Transformer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82B331-83AB-A3C2-1F28-2F2B3D8E98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211"/>
          <a:stretch/>
        </p:blipFill>
        <p:spPr>
          <a:xfrm>
            <a:off x="685800" y="1325588"/>
            <a:ext cx="7163972" cy="1459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BB5AF7-B524-EE8B-F8F9-031237B113C5}"/>
              </a:ext>
            </a:extLst>
          </p:cNvPr>
          <p:cNvSpPr txBox="1"/>
          <p:nvPr/>
        </p:nvSpPr>
        <p:spPr>
          <a:xfrm>
            <a:off x="7137595" y="2055495"/>
            <a:ext cx="1424354" cy="376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0E0F9-A6C2-6C32-2F4A-83CBE2B78F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522"/>
          <a:stretch/>
        </p:blipFill>
        <p:spPr>
          <a:xfrm>
            <a:off x="685801" y="2835093"/>
            <a:ext cx="3886200" cy="402290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9F2FD54-583F-48BA-61A9-225252F0D607}"/>
              </a:ext>
            </a:extLst>
          </p:cNvPr>
          <p:cNvGrpSpPr/>
          <p:nvPr/>
        </p:nvGrpSpPr>
        <p:grpSpPr>
          <a:xfrm>
            <a:off x="934832" y="2513953"/>
            <a:ext cx="7751968" cy="4367102"/>
            <a:chOff x="934832" y="2513953"/>
            <a:chExt cx="7751968" cy="436710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9ED4DBDE-C9A0-A490-04AE-75329B5437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3842" y="2513953"/>
              <a:ext cx="2962958" cy="4367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E938F98-3D1F-A3C4-230C-AC7AD4DD190F}"/>
                </a:ext>
              </a:extLst>
            </p:cNvPr>
            <p:cNvSpPr/>
            <p:nvPr/>
          </p:nvSpPr>
          <p:spPr>
            <a:xfrm>
              <a:off x="5380223" y="3830055"/>
              <a:ext cx="2188195" cy="2050239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4AF553-47C1-1FE0-842A-F97A58219846}"/>
                </a:ext>
              </a:extLst>
            </p:cNvPr>
            <p:cNvSpPr txBox="1"/>
            <p:nvPr/>
          </p:nvSpPr>
          <p:spPr>
            <a:xfrm>
              <a:off x="4698609" y="4580817"/>
              <a:ext cx="67524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00B050"/>
                  </a:solidFill>
                </a:rPr>
                <a:t>=</a:t>
              </a:r>
              <a:endParaRPr lang="en-US" b="1" dirty="0">
                <a:solidFill>
                  <a:srgbClr val="00B050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892B929-4436-477E-D0AC-6AC5E5481628}"/>
                </a:ext>
              </a:extLst>
            </p:cNvPr>
            <p:cNvSpPr/>
            <p:nvPr/>
          </p:nvSpPr>
          <p:spPr>
            <a:xfrm>
              <a:off x="934832" y="4527500"/>
              <a:ext cx="3763777" cy="638092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A59399A5-FB77-82B4-FD80-A2138600F893}"/>
              </a:ext>
            </a:extLst>
          </p:cNvPr>
          <p:cNvSpPr/>
          <p:nvPr/>
        </p:nvSpPr>
        <p:spPr>
          <a:xfrm>
            <a:off x="7360954" y="2181018"/>
            <a:ext cx="823610" cy="1295147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FF2BD56-E0C7-8D44-021F-6F6AAA28ED22}"/>
              </a:ext>
            </a:extLst>
          </p:cNvPr>
          <p:cNvSpPr/>
          <p:nvPr/>
        </p:nvSpPr>
        <p:spPr>
          <a:xfrm>
            <a:off x="2957513" y="3257550"/>
            <a:ext cx="1128712" cy="403086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8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6E4C5-6B57-0838-4F96-D64CAC91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E8058-D3C9-D0E1-3770-54587318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BERT: An Encoder-Only Transformer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1AAA9D-94B5-60C6-53B2-7BB0C51408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211"/>
          <a:stretch/>
        </p:blipFill>
        <p:spPr>
          <a:xfrm>
            <a:off x="685800" y="1325588"/>
            <a:ext cx="7163972" cy="1459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D378AE-C1F0-EA5B-9A3A-A9B105FCCD9B}"/>
              </a:ext>
            </a:extLst>
          </p:cNvPr>
          <p:cNvSpPr txBox="1"/>
          <p:nvPr/>
        </p:nvSpPr>
        <p:spPr>
          <a:xfrm>
            <a:off x="7137595" y="2055495"/>
            <a:ext cx="1424354" cy="376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53DF7-1D06-48E3-081C-EEF5369725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522"/>
          <a:stretch/>
        </p:blipFill>
        <p:spPr>
          <a:xfrm>
            <a:off x="685801" y="2835093"/>
            <a:ext cx="3886200" cy="402290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BF26AAE-823F-91BA-E779-A47A4D670AB7}"/>
              </a:ext>
            </a:extLst>
          </p:cNvPr>
          <p:cNvSpPr/>
          <p:nvPr/>
        </p:nvSpPr>
        <p:spPr>
          <a:xfrm>
            <a:off x="1215638" y="5711483"/>
            <a:ext cx="1443155" cy="457034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D5AA25-F7EA-1C32-FF9D-CEE594EEF359}"/>
              </a:ext>
            </a:extLst>
          </p:cNvPr>
          <p:cNvSpPr/>
          <p:nvPr/>
        </p:nvSpPr>
        <p:spPr>
          <a:xfrm>
            <a:off x="2893819" y="5711483"/>
            <a:ext cx="1443155" cy="457034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CAD975-71A6-CA89-7493-6DED74350F41}"/>
              </a:ext>
            </a:extLst>
          </p:cNvPr>
          <p:cNvSpPr txBox="1"/>
          <p:nvPr/>
        </p:nvSpPr>
        <p:spPr>
          <a:xfrm>
            <a:off x="4885615" y="4976663"/>
            <a:ext cx="3776345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15% of the </a:t>
            </a:r>
            <a:r>
              <a:rPr lang="en-US" b="1" dirty="0"/>
              <a:t>input token embeddings </a:t>
            </a:r>
            <a:r>
              <a:rPr lang="en-US" dirty="0"/>
              <a:t>are selected randomly and replaced with zero vectors….by a component-wise </a:t>
            </a:r>
            <a:r>
              <a:rPr lang="en-US" b="1" dirty="0"/>
              <a:t>multiply</a:t>
            </a:r>
            <a:r>
              <a:rPr lang="en-US" dirty="0"/>
              <a:t> with a “</a:t>
            </a:r>
            <a:r>
              <a:rPr lang="en-US" b="1" dirty="0"/>
              <a:t>mask</a:t>
            </a:r>
            <a:r>
              <a:rPr lang="en-US" dirty="0"/>
              <a:t>” vector of 0’s and 1’s.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40ACCD-CEBF-DCC5-7399-017AAD042E29}"/>
              </a:ext>
            </a:extLst>
          </p:cNvPr>
          <p:cNvSpPr txBox="1"/>
          <p:nvPr/>
        </p:nvSpPr>
        <p:spPr>
          <a:xfrm>
            <a:off x="4910455" y="3053645"/>
            <a:ext cx="37763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model tries to predict the </a:t>
            </a:r>
            <a:r>
              <a:rPr lang="en-US" b="1" dirty="0"/>
              <a:t>masked tokens </a:t>
            </a:r>
            <a:r>
              <a:rPr lang="en-US" dirty="0"/>
              <a:t>in the </a:t>
            </a:r>
            <a:r>
              <a:rPr lang="en-US" b="1" dirty="0"/>
              <a:t>output</a:t>
            </a:r>
            <a:r>
              <a:rPr lang="en-US" dirty="0"/>
              <a:t> layer.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BC38AB-0508-5D7A-D271-0975D9E2EA4E}"/>
              </a:ext>
            </a:extLst>
          </p:cNvPr>
          <p:cNvSpPr txBox="1"/>
          <p:nvPr/>
        </p:nvSpPr>
        <p:spPr>
          <a:xfrm>
            <a:off x="5241290" y="268336"/>
            <a:ext cx="321691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Recall</a:t>
            </a:r>
            <a:r>
              <a:rPr lang="en-US" dirty="0"/>
              <a:t>: produce a </a:t>
            </a:r>
            <a:r>
              <a:rPr lang="en-US" b="1" dirty="0"/>
              <a:t>predicted token embedding </a:t>
            </a:r>
            <a:r>
              <a:rPr lang="en-US" dirty="0"/>
              <a:t>to most (dot-product) similar </a:t>
            </a:r>
            <a:r>
              <a:rPr lang="en-US" b="1" dirty="0"/>
              <a:t>legal embedding </a:t>
            </a:r>
            <a:r>
              <a:rPr lang="en-US" dirty="0"/>
              <a:t> in the same table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1D8618-F9E6-CF73-A563-117171E8F4DF}"/>
              </a:ext>
            </a:extLst>
          </p:cNvPr>
          <p:cNvSpPr txBox="1"/>
          <p:nvPr/>
        </p:nvSpPr>
        <p:spPr>
          <a:xfrm>
            <a:off x="5622290" y="1538138"/>
            <a:ext cx="321691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To get probability </a:t>
            </a:r>
            <a:r>
              <a:rPr lang="en-US" b="1" dirty="0"/>
              <a:t>distribution</a:t>
            </a:r>
            <a:r>
              <a:rPr lang="en-US" dirty="0"/>
              <a:t> on a predicted token take a </a:t>
            </a:r>
            <a:r>
              <a:rPr lang="en-US" b="1" dirty="0" err="1"/>
              <a:t>softmax</a:t>
            </a:r>
            <a:r>
              <a:rPr lang="en-US" dirty="0"/>
              <a:t> of the dot-product similarities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EFE741-851C-AD2A-A5FB-EB4252AED2C6}"/>
              </a:ext>
            </a:extLst>
          </p:cNvPr>
          <p:cNvGrpSpPr/>
          <p:nvPr/>
        </p:nvGrpSpPr>
        <p:grpSpPr>
          <a:xfrm>
            <a:off x="1733800" y="3349628"/>
            <a:ext cx="2317695" cy="457034"/>
            <a:chOff x="1733800" y="3349628"/>
            <a:chExt cx="2317695" cy="45703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E131CC-591B-97EC-5FE7-02F849B5AA03}"/>
                </a:ext>
              </a:extLst>
            </p:cNvPr>
            <p:cNvSpPr/>
            <p:nvPr/>
          </p:nvSpPr>
          <p:spPr>
            <a:xfrm>
              <a:off x="1733800" y="3349628"/>
              <a:ext cx="766124" cy="457034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EB73698-28FA-80EF-6E71-5ED3CEA86164}"/>
                </a:ext>
              </a:extLst>
            </p:cNvPr>
            <p:cNvSpPr/>
            <p:nvPr/>
          </p:nvSpPr>
          <p:spPr>
            <a:xfrm>
              <a:off x="3285371" y="3349628"/>
              <a:ext cx="766124" cy="457034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A459C50-0C58-BD66-1B5B-573FAF4219D8}"/>
              </a:ext>
            </a:extLst>
          </p:cNvPr>
          <p:cNvSpPr txBox="1"/>
          <p:nvPr/>
        </p:nvSpPr>
        <p:spPr>
          <a:xfrm>
            <a:off x="275150" y="1002736"/>
            <a:ext cx="37763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What does the encoder do?</a:t>
            </a:r>
          </a:p>
        </p:txBody>
      </p:sp>
    </p:spTree>
    <p:extLst>
      <p:ext uri="{BB962C8B-B14F-4D97-AF65-F5344CB8AC3E}">
        <p14:creationId xmlns:p14="http://schemas.microsoft.com/office/powerpoint/2010/main" val="126775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77EF8-9691-36D5-65D2-F2A796099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22BFD-F86C-AA93-9A71-982D4866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BERT: An Encoder-Only Transformer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14A9EA-2682-9781-7E81-3511D9692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211"/>
          <a:stretch/>
        </p:blipFill>
        <p:spPr>
          <a:xfrm>
            <a:off x="685800" y="1325588"/>
            <a:ext cx="7163972" cy="1459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63E9DC-DE5B-A4DE-BE0A-ACD6ED4F0C33}"/>
              </a:ext>
            </a:extLst>
          </p:cNvPr>
          <p:cNvSpPr txBox="1"/>
          <p:nvPr/>
        </p:nvSpPr>
        <p:spPr>
          <a:xfrm>
            <a:off x="7137595" y="2055495"/>
            <a:ext cx="1424354" cy="376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780C5-BDDE-84C9-7A7D-3A72423E32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522"/>
          <a:stretch/>
        </p:blipFill>
        <p:spPr>
          <a:xfrm>
            <a:off x="685801" y="2835093"/>
            <a:ext cx="3886200" cy="402290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26B4A17F-96BD-AD75-A185-067BDD75BAFB}"/>
              </a:ext>
            </a:extLst>
          </p:cNvPr>
          <p:cNvSpPr/>
          <p:nvPr/>
        </p:nvSpPr>
        <p:spPr>
          <a:xfrm>
            <a:off x="1215638" y="5711483"/>
            <a:ext cx="1443155" cy="457034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34BE1A-1098-0347-E7B0-0A579C8E7F4D}"/>
              </a:ext>
            </a:extLst>
          </p:cNvPr>
          <p:cNvSpPr/>
          <p:nvPr/>
        </p:nvSpPr>
        <p:spPr>
          <a:xfrm>
            <a:off x="2893819" y="5711483"/>
            <a:ext cx="1443155" cy="457034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8B5B57-A924-17BF-24B3-7ED2732BB3B2}"/>
              </a:ext>
            </a:extLst>
          </p:cNvPr>
          <p:cNvSpPr txBox="1"/>
          <p:nvPr/>
        </p:nvSpPr>
        <p:spPr>
          <a:xfrm>
            <a:off x="4910455" y="5284956"/>
            <a:ext cx="37763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15% of the </a:t>
            </a:r>
            <a:r>
              <a:rPr lang="en-US" b="1" dirty="0"/>
              <a:t>input token embeddings </a:t>
            </a:r>
            <a:r>
              <a:rPr lang="en-US" dirty="0"/>
              <a:t>are selected randomly and replaced with zero vectors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0155FF-2E69-1A21-10E4-15FC00F7644D}"/>
              </a:ext>
            </a:extLst>
          </p:cNvPr>
          <p:cNvGrpSpPr/>
          <p:nvPr/>
        </p:nvGrpSpPr>
        <p:grpSpPr>
          <a:xfrm>
            <a:off x="1733800" y="3349628"/>
            <a:ext cx="2317695" cy="457034"/>
            <a:chOff x="1733800" y="3349628"/>
            <a:chExt cx="2317695" cy="45703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245DD7F-B2CB-700C-74B4-93EB3081DACF}"/>
                </a:ext>
              </a:extLst>
            </p:cNvPr>
            <p:cNvSpPr/>
            <p:nvPr/>
          </p:nvSpPr>
          <p:spPr>
            <a:xfrm>
              <a:off x="1733800" y="3349628"/>
              <a:ext cx="766124" cy="457034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46B7E9C-BAAE-57BD-338E-CEC2A62E2730}"/>
                </a:ext>
              </a:extLst>
            </p:cNvPr>
            <p:cNvSpPr/>
            <p:nvPr/>
          </p:nvSpPr>
          <p:spPr>
            <a:xfrm>
              <a:off x="3285371" y="3349628"/>
              <a:ext cx="766124" cy="457034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17507B6-2818-5FCD-3A7C-B5006BCD44FD}"/>
              </a:ext>
            </a:extLst>
          </p:cNvPr>
          <p:cNvSpPr txBox="1"/>
          <p:nvPr/>
        </p:nvSpPr>
        <p:spPr>
          <a:xfrm>
            <a:off x="4910454" y="4015154"/>
            <a:ext cx="37763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model tries to predict the </a:t>
            </a:r>
            <a:r>
              <a:rPr lang="en-US" b="1" dirty="0"/>
              <a:t>masked tokens </a:t>
            </a:r>
            <a:r>
              <a:rPr lang="en-US" dirty="0"/>
              <a:t>in the </a:t>
            </a:r>
            <a:r>
              <a:rPr lang="en-US" b="1" dirty="0"/>
              <a:t>output</a:t>
            </a:r>
            <a:r>
              <a:rPr lang="en-US" dirty="0"/>
              <a:t> layer.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BBF26-01F6-D666-FBCF-8CE83C5B74C4}"/>
              </a:ext>
            </a:extLst>
          </p:cNvPr>
          <p:cNvSpPr txBox="1"/>
          <p:nvPr/>
        </p:nvSpPr>
        <p:spPr>
          <a:xfrm>
            <a:off x="4832203" y="2520852"/>
            <a:ext cx="3776345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If there are 512 tokens in each input passage then there are </a:t>
            </a:r>
            <a:r>
              <a:rPr lang="en-US" b="1" dirty="0"/>
              <a:t>about 75 prediction tasks</a:t>
            </a:r>
            <a:r>
              <a:rPr lang="en-US" dirty="0"/>
              <a:t> for model to learn from that passage</a:t>
            </a:r>
          </a:p>
        </p:txBody>
      </p:sp>
    </p:spTree>
    <p:extLst>
      <p:ext uri="{BB962C8B-B14F-4D97-AF65-F5344CB8AC3E}">
        <p14:creationId xmlns:p14="http://schemas.microsoft.com/office/powerpoint/2010/main" val="402596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B625A-CF20-2772-F2F2-E5C8DED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2593-55E5-99C2-28BA-D3A03E0E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BERT: An Encoder-Only Transformer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0AF4DA-86A3-81F1-94FD-A46D1534AF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211"/>
          <a:stretch/>
        </p:blipFill>
        <p:spPr>
          <a:xfrm>
            <a:off x="685800" y="1325588"/>
            <a:ext cx="7163972" cy="1459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F53DE8-8C71-D677-3099-C299CE587560}"/>
              </a:ext>
            </a:extLst>
          </p:cNvPr>
          <p:cNvSpPr txBox="1"/>
          <p:nvPr/>
        </p:nvSpPr>
        <p:spPr>
          <a:xfrm>
            <a:off x="7137595" y="2055495"/>
            <a:ext cx="1424354" cy="376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4486C-ED0F-6B84-EEAE-4CE6950594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522"/>
          <a:stretch/>
        </p:blipFill>
        <p:spPr>
          <a:xfrm>
            <a:off x="685801" y="2835093"/>
            <a:ext cx="3886200" cy="402290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D762B0C-FBB3-EDB4-D71F-7E206379949B}"/>
              </a:ext>
            </a:extLst>
          </p:cNvPr>
          <p:cNvSpPr/>
          <p:nvPr/>
        </p:nvSpPr>
        <p:spPr>
          <a:xfrm>
            <a:off x="1215638" y="5711483"/>
            <a:ext cx="1443155" cy="457034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6985BD-BA77-DBE3-4640-27C7AE8A02B2}"/>
              </a:ext>
            </a:extLst>
          </p:cNvPr>
          <p:cNvSpPr/>
          <p:nvPr/>
        </p:nvSpPr>
        <p:spPr>
          <a:xfrm>
            <a:off x="2893819" y="5711483"/>
            <a:ext cx="1443155" cy="457034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A959D8-0DA3-0DCE-9E04-534AA7FDBFBD}"/>
              </a:ext>
            </a:extLst>
          </p:cNvPr>
          <p:cNvSpPr txBox="1"/>
          <p:nvPr/>
        </p:nvSpPr>
        <p:spPr>
          <a:xfrm>
            <a:off x="4910455" y="3053645"/>
            <a:ext cx="377634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model also </a:t>
            </a:r>
            <a:r>
              <a:rPr lang="en-US" b="1" dirty="0"/>
              <a:t>predicts</a:t>
            </a:r>
            <a:r>
              <a:rPr lang="en-US" dirty="0"/>
              <a:t> if sentence B is the “</a:t>
            </a:r>
            <a:r>
              <a:rPr lang="en-US" b="1" dirty="0"/>
              <a:t>next sentence</a:t>
            </a:r>
            <a:r>
              <a:rPr lang="en-US" dirty="0"/>
              <a:t>” after sentence A in the original document.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7A5B16A-2232-7E67-DC02-7DB469E7CF23}"/>
              </a:ext>
            </a:extLst>
          </p:cNvPr>
          <p:cNvSpPr/>
          <p:nvPr/>
        </p:nvSpPr>
        <p:spPr>
          <a:xfrm>
            <a:off x="832576" y="3286793"/>
            <a:ext cx="911818" cy="457034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3531B-7891-E6F3-49E2-CEE8180FDC46}"/>
              </a:ext>
            </a:extLst>
          </p:cNvPr>
          <p:cNvSpPr txBox="1"/>
          <p:nvPr/>
        </p:nvSpPr>
        <p:spPr>
          <a:xfrm>
            <a:off x="5062855" y="4332083"/>
            <a:ext cx="377634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Prediction was done based on the </a:t>
            </a:r>
            <a:r>
              <a:rPr lang="en-US" b="1" dirty="0"/>
              <a:t>output</a:t>
            </a:r>
            <a:r>
              <a:rPr lang="en-US" dirty="0"/>
              <a:t> embedding of a special [CLS] </a:t>
            </a:r>
            <a:r>
              <a:rPr lang="en-US" b="1" dirty="0"/>
              <a:t>token</a:t>
            </a:r>
            <a:r>
              <a:rPr lang="en-US" dirty="0"/>
              <a:t> that was prepended to the input text.</a:t>
            </a:r>
          </a:p>
        </p:txBody>
      </p:sp>
    </p:spTree>
    <p:extLst>
      <p:ext uri="{BB962C8B-B14F-4D97-AF65-F5344CB8AC3E}">
        <p14:creationId xmlns:p14="http://schemas.microsoft.com/office/powerpoint/2010/main" val="26009272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79EC9-A51B-FC46-54B7-664A23375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8437-95D5-FB39-8420-320C2E9B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BERT: An Encoder-Only Transformer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A6E49E-F990-01E4-69EE-8AE3413D28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211"/>
          <a:stretch/>
        </p:blipFill>
        <p:spPr>
          <a:xfrm>
            <a:off x="685800" y="1325588"/>
            <a:ext cx="7163972" cy="1459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F7F413-0346-616F-2678-ABE81FCE84AB}"/>
              </a:ext>
            </a:extLst>
          </p:cNvPr>
          <p:cNvSpPr txBox="1"/>
          <p:nvPr/>
        </p:nvSpPr>
        <p:spPr>
          <a:xfrm>
            <a:off x="7137595" y="2055495"/>
            <a:ext cx="1424354" cy="376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2019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A195C66C-71AD-E0A3-27F0-9F355811E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29000"/>
            <a:ext cx="7772400" cy="314013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ABF746B-3ECE-93DA-9D19-7AF58AF64AD6}"/>
              </a:ext>
            </a:extLst>
          </p:cNvPr>
          <p:cNvSpPr/>
          <p:nvPr/>
        </p:nvSpPr>
        <p:spPr>
          <a:xfrm>
            <a:off x="685800" y="3554373"/>
            <a:ext cx="589824" cy="457034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21CA1-34D0-D3AD-CC72-BEF68E224F94}"/>
              </a:ext>
            </a:extLst>
          </p:cNvPr>
          <p:cNvSpPr txBox="1"/>
          <p:nvPr/>
        </p:nvSpPr>
        <p:spPr>
          <a:xfrm>
            <a:off x="3819915" y="2323738"/>
            <a:ext cx="43859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Then the model could be naturally fine-tuned for </a:t>
            </a:r>
            <a:r>
              <a:rPr lang="en-US" b="1" dirty="0"/>
              <a:t>sentence-pair classification </a:t>
            </a:r>
            <a:r>
              <a:rPr lang="en-US" dirty="0"/>
              <a:t>tasks (as well as other NLP tasks).</a:t>
            </a:r>
          </a:p>
        </p:txBody>
      </p:sp>
    </p:spTree>
    <p:extLst>
      <p:ext uri="{BB962C8B-B14F-4D97-AF65-F5344CB8AC3E}">
        <p14:creationId xmlns:p14="http://schemas.microsoft.com/office/powerpoint/2010/main" val="124879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1B24C-C05C-36A7-DE0E-EB85F664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DE95-21DA-D2C8-CB4F-46061CE3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 to: Encoder-Decoder Transformers</a:t>
            </a:r>
          </a:p>
        </p:txBody>
      </p:sp>
    </p:spTree>
    <p:extLst>
      <p:ext uri="{BB962C8B-B14F-4D97-AF65-F5344CB8AC3E}">
        <p14:creationId xmlns:p14="http://schemas.microsoft.com/office/powerpoint/2010/main" val="2051379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188AE-2AC7-66FA-C420-21990C561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A46F4F87-5C7A-599A-F0D2-A5243CAB0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4282661-E5BA-0425-15F7-49F4324DEFFB}"/>
              </a:ext>
            </a:extLst>
          </p:cNvPr>
          <p:cNvSpPr/>
          <p:nvPr/>
        </p:nvSpPr>
        <p:spPr>
          <a:xfrm>
            <a:off x="2688907" y="3946870"/>
            <a:ext cx="1311594" cy="83944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7BA9955-F815-10AA-0863-53167D24E8FD}"/>
              </a:ext>
            </a:extLst>
          </p:cNvPr>
          <p:cNvSpPr/>
          <p:nvPr/>
        </p:nvSpPr>
        <p:spPr>
          <a:xfrm>
            <a:off x="1271588" y="2628899"/>
            <a:ext cx="3128962" cy="111442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E3D28-2D92-B74A-D189-03E74F4A05E8}"/>
              </a:ext>
            </a:extLst>
          </p:cNvPr>
          <p:cNvSpPr txBox="1"/>
          <p:nvPr/>
        </p:nvSpPr>
        <p:spPr>
          <a:xfrm>
            <a:off x="4957763" y="4043425"/>
            <a:ext cx="3571875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Masked</a:t>
            </a:r>
            <a:r>
              <a:rPr lang="en-US" dirty="0"/>
              <a:t> self-attention is used in the decoder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D2D18-A0D5-6895-D58E-436AD9051F51}"/>
              </a:ext>
            </a:extLst>
          </p:cNvPr>
          <p:cNvSpPr txBox="1"/>
          <p:nvPr/>
        </p:nvSpPr>
        <p:spPr>
          <a:xfrm>
            <a:off x="4957763" y="2862945"/>
            <a:ext cx="3571875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Encoder-decoder cross-attention </a:t>
            </a:r>
            <a:r>
              <a:rPr lang="en-US" dirty="0"/>
              <a:t>is also used in each layer if the decoder</a:t>
            </a:r>
          </a:p>
        </p:txBody>
      </p:sp>
    </p:spTree>
    <p:extLst>
      <p:ext uri="{BB962C8B-B14F-4D97-AF65-F5344CB8AC3E}">
        <p14:creationId xmlns:p14="http://schemas.microsoft.com/office/powerpoint/2010/main" val="240199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3553-5C74-6886-2527-07E1C103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FDE6114-6AD6-48A0-6F09-CDA27E33A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CB60D31-F8B0-3DE9-803A-4C3A1D48A7F8}"/>
              </a:ext>
            </a:extLst>
          </p:cNvPr>
          <p:cNvSpPr/>
          <p:nvPr/>
        </p:nvSpPr>
        <p:spPr>
          <a:xfrm>
            <a:off x="2688907" y="3946870"/>
            <a:ext cx="1311594" cy="83944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3BA1C-C129-4152-E92B-AACE86B952D7}"/>
              </a:ext>
            </a:extLst>
          </p:cNvPr>
          <p:cNvSpPr txBox="1"/>
          <p:nvPr/>
        </p:nvSpPr>
        <p:spPr>
          <a:xfrm>
            <a:off x="4957763" y="4043425"/>
            <a:ext cx="3571875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Masked</a:t>
            </a:r>
            <a:r>
              <a:rPr lang="en-US" dirty="0"/>
              <a:t> self-attention is used in the decoder</a:t>
            </a:r>
          </a:p>
        </p:txBody>
      </p:sp>
      <p:pic>
        <p:nvPicPr>
          <p:cNvPr id="6" name="Picture 5" descr="A black text with a square and a square formula&#10;&#10;AI-generated content may be incorrect.">
            <a:extLst>
              <a:ext uri="{FF2B5EF4-FFF2-40B4-BE49-F238E27FC236}">
                <a16:creationId xmlns:a16="http://schemas.microsoft.com/office/drawing/2014/main" id="{897F2294-DB0A-B2B2-5622-230469689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456" y="46371"/>
            <a:ext cx="4826544" cy="913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0D0F09-71B0-8541-CF70-A58CD83812AC}"/>
              </a:ext>
            </a:extLst>
          </p:cNvPr>
          <p:cNvSpPr txBox="1"/>
          <p:nvPr/>
        </p:nvSpPr>
        <p:spPr>
          <a:xfrm>
            <a:off x="4537755" y="960334"/>
            <a:ext cx="43859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 </a:t>
            </a:r>
            <a:r>
              <a:rPr lang="en-US" b="1" dirty="0"/>
              <a:t>masked</a:t>
            </a:r>
            <a:r>
              <a:rPr lang="en-US" dirty="0"/>
              <a:t> self-attention, the </a:t>
            </a:r>
            <a:r>
              <a:rPr lang="en-US" b="1" dirty="0"/>
              <a:t>query</a:t>
            </a:r>
            <a:r>
              <a:rPr lang="en-US" dirty="0"/>
              <a:t> for token at </a:t>
            </a:r>
            <a:r>
              <a:rPr lang="en-US" b="1" dirty="0"/>
              <a:t>position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dirty="0"/>
              <a:t>can only attend to </a:t>
            </a:r>
            <a:r>
              <a:rPr lang="en-US" dirty="0" err="1"/>
              <a:t>thr</a:t>
            </a:r>
            <a:r>
              <a:rPr lang="en-US" dirty="0"/>
              <a:t> </a:t>
            </a:r>
            <a:r>
              <a:rPr lang="en-US" b="1" dirty="0"/>
              <a:t>keys</a:t>
            </a:r>
            <a:r>
              <a:rPr lang="en-US" dirty="0"/>
              <a:t> for tokens at positions </a:t>
            </a:r>
            <a:r>
              <a:rPr lang="en-US" b="1" dirty="0"/>
              <a:t>0,1,…,</a:t>
            </a:r>
            <a:r>
              <a:rPr lang="en-US" b="1" dirty="0" err="1"/>
              <a:t>i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24BE0-1B17-936D-6261-34E080634115}"/>
              </a:ext>
            </a:extLst>
          </p:cNvPr>
          <p:cNvSpPr txBox="1"/>
          <p:nvPr/>
        </p:nvSpPr>
        <p:spPr>
          <a:xfrm>
            <a:off x="4662351" y="1891245"/>
            <a:ext cx="43859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This is done with another </a:t>
            </a:r>
            <a:r>
              <a:rPr lang="en-US" b="1" dirty="0"/>
              <a:t>mask</a:t>
            </a:r>
            <a:r>
              <a:rPr lang="en-US" dirty="0"/>
              <a:t> </a:t>
            </a:r>
            <a:endParaRPr lang="en-US" b="1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683999D-0DF9-50CC-38D5-74AFD06B7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633" y="2465415"/>
            <a:ext cx="4157663" cy="301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32D992-0B04-835B-068F-8AEAA4B09D0D}"/>
              </a:ext>
            </a:extLst>
          </p:cNvPr>
          <p:cNvSpPr txBox="1"/>
          <p:nvPr/>
        </p:nvSpPr>
        <p:spPr>
          <a:xfrm>
            <a:off x="4662350" y="5642902"/>
            <a:ext cx="43859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Prediction for token at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b="1" dirty="0"/>
              <a:t>not affec</a:t>
            </a:r>
            <a:r>
              <a:rPr lang="en-US" dirty="0"/>
              <a:t>ted by “future” tokens at i+1,i+2, …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A4E5E-95B2-BBFA-58FF-E2D394AEB1D7}"/>
              </a:ext>
            </a:extLst>
          </p:cNvPr>
          <p:cNvSpPr txBox="1"/>
          <p:nvPr/>
        </p:nvSpPr>
        <p:spPr>
          <a:xfrm>
            <a:off x="4537754" y="6337426"/>
            <a:ext cx="43859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aka ”causal LM” or “causal masking”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386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E4470-AC76-C37E-AB3C-88B68A46F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9E662F0-B5C9-6869-5C9D-655DE2A6D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ack text with a square and a square formula&#10;&#10;AI-generated content may be incorrect.">
            <a:extLst>
              <a:ext uri="{FF2B5EF4-FFF2-40B4-BE49-F238E27FC236}">
                <a16:creationId xmlns:a16="http://schemas.microsoft.com/office/drawing/2014/main" id="{129B2E8C-980F-CE2E-17D5-80A61B150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456" y="46371"/>
            <a:ext cx="4826544" cy="913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8BFE5D-BADA-7BCA-B602-0D32E1AF2434}"/>
              </a:ext>
            </a:extLst>
          </p:cNvPr>
          <p:cNvSpPr txBox="1"/>
          <p:nvPr/>
        </p:nvSpPr>
        <p:spPr>
          <a:xfrm>
            <a:off x="4537755" y="960334"/>
            <a:ext cx="43859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 decoder </a:t>
            </a:r>
            <a:r>
              <a:rPr lang="en-US" b="1" dirty="0"/>
              <a:t>cross-attention </a:t>
            </a:r>
            <a:r>
              <a:rPr lang="en-US" dirty="0"/>
              <a:t>the keys are always the </a:t>
            </a:r>
            <a:r>
              <a:rPr lang="en-US" b="1" dirty="0"/>
              <a:t>highest </a:t>
            </a:r>
            <a:r>
              <a:rPr lang="en-US" dirty="0"/>
              <a:t>(closest to output) layer of the </a:t>
            </a:r>
            <a:r>
              <a:rPr lang="en-US" b="1" dirty="0"/>
              <a:t>encoder.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536ECC3-5B58-1E06-35C6-C6942331802E}"/>
              </a:ext>
            </a:extLst>
          </p:cNvPr>
          <p:cNvSpPr/>
          <p:nvPr/>
        </p:nvSpPr>
        <p:spPr>
          <a:xfrm>
            <a:off x="1271588" y="2628899"/>
            <a:ext cx="3128962" cy="111442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7F0DD-AD52-108F-A0E0-BFFF5C33E84A}"/>
              </a:ext>
            </a:extLst>
          </p:cNvPr>
          <p:cNvSpPr txBox="1"/>
          <p:nvPr/>
        </p:nvSpPr>
        <p:spPr>
          <a:xfrm>
            <a:off x="4957763" y="2862945"/>
            <a:ext cx="3571875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Encoder-decoder cross-attention </a:t>
            </a:r>
            <a:r>
              <a:rPr lang="en-US" dirty="0"/>
              <a:t>is also used in each layer if the decoder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C200E3-5B02-23E4-3BFA-B3E693BD9385}"/>
              </a:ext>
            </a:extLst>
          </p:cNvPr>
          <p:cNvSpPr txBox="1"/>
          <p:nvPr/>
        </p:nvSpPr>
        <p:spPr>
          <a:xfrm>
            <a:off x="4647905" y="1847671"/>
            <a:ext cx="43859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Very similar to the attention used in early attentive variants of LSTM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10648F-D05D-9384-1E19-2349F79FF59C}"/>
              </a:ext>
            </a:extLst>
          </p:cNvPr>
          <p:cNvSpPr txBox="1"/>
          <p:nvPr/>
        </p:nvSpPr>
        <p:spPr>
          <a:xfrm>
            <a:off x="4957763" y="4075836"/>
            <a:ext cx="4086542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b="1" dirty="0"/>
              <a:t>highest</a:t>
            </a:r>
            <a:r>
              <a:rPr lang="en-US" dirty="0"/>
              <a:t> layer of the encoder is a </a:t>
            </a:r>
            <a:r>
              <a:rPr lang="en-US" b="1" dirty="0"/>
              <a:t>bottleneck</a:t>
            </a:r>
            <a:r>
              <a:rPr lang="en-US" dirty="0"/>
              <a:t> – the decoder doesn’t see anything else computer by the encoder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920DC5-D97C-DA3C-CAF6-1B1B274B8270}"/>
              </a:ext>
            </a:extLst>
          </p:cNvPr>
          <p:cNvSpPr txBox="1"/>
          <p:nvPr/>
        </p:nvSpPr>
        <p:spPr>
          <a:xfrm>
            <a:off x="5057458" y="5551670"/>
            <a:ext cx="4086542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All the </a:t>
            </a:r>
            <a:r>
              <a:rPr lang="en-US" b="1" dirty="0"/>
              <a:t>parameters</a:t>
            </a:r>
            <a:r>
              <a:rPr lang="en-US" dirty="0"/>
              <a:t> for the encoder and decoder are </a:t>
            </a:r>
            <a:r>
              <a:rPr lang="en-US" b="1" dirty="0"/>
              <a:t>separate – </a:t>
            </a:r>
            <a:r>
              <a:rPr lang="en-US" dirty="0"/>
              <a:t>nothing is shared but the word embeddings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2411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1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3EBA-C811-7A8F-43EB-BED43F0E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8C15-8990-447E-4F60-733E3C72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1924" y="24964"/>
            <a:ext cx="5124450" cy="1358965"/>
          </a:xfrm>
        </p:spPr>
        <p:txBody>
          <a:bodyPr>
            <a:normAutofit/>
          </a:bodyPr>
          <a:lstStyle/>
          <a:p>
            <a:r>
              <a:rPr lang="en-US" dirty="0"/>
              <a:t>Decoder-Only Transformers</a:t>
            </a:r>
          </a:p>
        </p:txBody>
      </p:sp>
      <p:pic>
        <p:nvPicPr>
          <p:cNvPr id="16386" name="Picture 2" descr="Architecture of the GPT family of models">
            <a:extLst>
              <a:ext uri="{FF2B5EF4-FFF2-40B4-BE49-F238E27FC236}">
                <a16:creationId xmlns:a16="http://schemas.microsoft.com/office/drawing/2014/main" id="{470F2B51-9D26-1126-7C70-23B84D4F8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669" y="384285"/>
            <a:ext cx="3400410" cy="64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A85C30-EC7C-F382-BD9F-50E319881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3" y="1771650"/>
            <a:ext cx="3450948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CCF7711-E9B3-6D32-94D9-5998DF15BCD6}"/>
              </a:ext>
            </a:extLst>
          </p:cNvPr>
          <p:cNvSpPr/>
          <p:nvPr/>
        </p:nvSpPr>
        <p:spPr>
          <a:xfrm>
            <a:off x="1739820" y="5407818"/>
            <a:ext cx="1939992" cy="992982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0A586E-147D-6914-DA2D-782431975F10}"/>
              </a:ext>
            </a:extLst>
          </p:cNvPr>
          <p:cNvSpPr/>
          <p:nvPr/>
        </p:nvSpPr>
        <p:spPr>
          <a:xfrm>
            <a:off x="5457825" y="5757862"/>
            <a:ext cx="2897254" cy="1100137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99953-75A8-8F95-B2E7-3D4A20C5B26B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3679812" y="5904309"/>
            <a:ext cx="1778013" cy="403622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89CAFF-DC59-0FD9-5696-26E9F488FD06}"/>
              </a:ext>
            </a:extLst>
          </p:cNvPr>
          <p:cNvGrpSpPr/>
          <p:nvPr/>
        </p:nvGrpSpPr>
        <p:grpSpPr>
          <a:xfrm>
            <a:off x="1901799" y="3721045"/>
            <a:ext cx="6577105" cy="1879655"/>
            <a:chOff x="1901799" y="3721045"/>
            <a:chExt cx="6577105" cy="187965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8E7C24-3152-B053-E794-6EAAEBC8674C}"/>
                </a:ext>
              </a:extLst>
            </p:cNvPr>
            <p:cNvSpPr/>
            <p:nvPr/>
          </p:nvSpPr>
          <p:spPr>
            <a:xfrm>
              <a:off x="1901799" y="4250127"/>
              <a:ext cx="1939992" cy="1064822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3FC80FD-7860-ACC2-CEA9-A8DBBAB821CE}"/>
                </a:ext>
              </a:extLst>
            </p:cNvPr>
            <p:cNvSpPr/>
            <p:nvPr/>
          </p:nvSpPr>
          <p:spPr>
            <a:xfrm>
              <a:off x="5581650" y="3721045"/>
              <a:ext cx="2897254" cy="1879655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9BEB7CC-1E15-EB6C-56DD-46D2705E2802}"/>
                </a:ext>
              </a:extLst>
            </p:cNvPr>
            <p:cNvCxnSpPr>
              <a:cxnSpLocks/>
              <a:stCxn id="8" idx="6"/>
              <a:endCxn id="9" idx="2"/>
            </p:cNvCxnSpPr>
            <p:nvPr/>
          </p:nvCxnSpPr>
          <p:spPr>
            <a:xfrm flipV="1">
              <a:off x="3841791" y="4660873"/>
              <a:ext cx="1739859" cy="121665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CE4D238-A3F8-99DF-1E47-3EE63D073BFB}"/>
              </a:ext>
            </a:extLst>
          </p:cNvPr>
          <p:cNvGrpSpPr/>
          <p:nvPr/>
        </p:nvGrpSpPr>
        <p:grpSpPr>
          <a:xfrm>
            <a:off x="2037410" y="1498994"/>
            <a:ext cx="6529602" cy="2553216"/>
            <a:chOff x="1901799" y="3065396"/>
            <a:chExt cx="6529602" cy="2553216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EAD764B-07E5-0F80-3BFF-A2511FE35740}"/>
                </a:ext>
              </a:extLst>
            </p:cNvPr>
            <p:cNvSpPr/>
            <p:nvPr/>
          </p:nvSpPr>
          <p:spPr>
            <a:xfrm>
              <a:off x="1901799" y="4250127"/>
              <a:ext cx="1939992" cy="906462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4A9A0DC-DE1A-5BE4-5C79-CD5834B77FF0}"/>
                </a:ext>
              </a:extLst>
            </p:cNvPr>
            <p:cNvSpPr/>
            <p:nvPr/>
          </p:nvSpPr>
          <p:spPr>
            <a:xfrm>
              <a:off x="5534147" y="3065396"/>
              <a:ext cx="2897254" cy="2553216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11398F7-7CD1-382B-7AE4-52183D7D4DAD}"/>
                </a:ext>
              </a:extLst>
            </p:cNvPr>
            <p:cNvCxnSpPr>
              <a:cxnSpLocks/>
              <a:stCxn id="28" idx="6"/>
              <a:endCxn id="29" idx="2"/>
            </p:cNvCxnSpPr>
            <p:nvPr/>
          </p:nvCxnSpPr>
          <p:spPr>
            <a:xfrm flipV="1">
              <a:off x="3841791" y="4342004"/>
              <a:ext cx="1692356" cy="361354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2EBA40-3E19-E908-9261-3847B8A2549F}"/>
              </a:ext>
            </a:extLst>
          </p:cNvPr>
          <p:cNvGrpSpPr/>
          <p:nvPr/>
        </p:nvGrpSpPr>
        <p:grpSpPr>
          <a:xfrm>
            <a:off x="1901799" y="367612"/>
            <a:ext cx="5270526" cy="2371109"/>
            <a:chOff x="1901799" y="2785480"/>
            <a:chExt cx="5866918" cy="2371109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21352E8-5A7B-0CFB-90A7-F55D51B523B9}"/>
                </a:ext>
              </a:extLst>
            </p:cNvPr>
            <p:cNvSpPr/>
            <p:nvPr/>
          </p:nvSpPr>
          <p:spPr>
            <a:xfrm>
              <a:off x="1901799" y="4250127"/>
              <a:ext cx="1939992" cy="906462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FA76543-872D-4924-32EF-B421B0132886}"/>
                </a:ext>
              </a:extLst>
            </p:cNvPr>
            <p:cNvSpPr/>
            <p:nvPr/>
          </p:nvSpPr>
          <p:spPr>
            <a:xfrm>
              <a:off x="5534147" y="2785480"/>
              <a:ext cx="2234570" cy="1167363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716A10F-CB14-13F6-2144-E2B3D1EDBAA5}"/>
                </a:ext>
              </a:extLst>
            </p:cNvPr>
            <p:cNvCxnSpPr>
              <a:cxnSpLocks/>
              <a:stCxn id="38" idx="6"/>
              <a:endCxn id="39" idx="2"/>
            </p:cNvCxnSpPr>
            <p:nvPr/>
          </p:nvCxnSpPr>
          <p:spPr>
            <a:xfrm flipV="1">
              <a:off x="3841791" y="3369162"/>
              <a:ext cx="1692357" cy="1334196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itle 1">
            <a:extLst>
              <a:ext uri="{FF2B5EF4-FFF2-40B4-BE49-F238E27FC236}">
                <a16:creationId xmlns:a16="http://schemas.microsoft.com/office/drawing/2014/main" id="{C321215B-887E-DD2B-1076-08C049E65FD7}"/>
              </a:ext>
            </a:extLst>
          </p:cNvPr>
          <p:cNvSpPr txBox="1">
            <a:spLocks/>
          </p:cNvSpPr>
          <p:nvPr/>
        </p:nvSpPr>
        <p:spPr>
          <a:xfrm>
            <a:off x="5669758" y="-143475"/>
            <a:ext cx="4399834" cy="772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dirty="0"/>
              <a:t>GPT-1</a:t>
            </a:r>
          </a:p>
        </p:txBody>
      </p:sp>
    </p:spTree>
    <p:extLst>
      <p:ext uri="{BB962C8B-B14F-4D97-AF65-F5344CB8AC3E}">
        <p14:creationId xmlns:p14="http://schemas.microsoft.com/office/powerpoint/2010/main" val="16154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66B9F-1310-5DB7-4CF3-9FF9252D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CC590-5BD2-F205-B459-47EC7776D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1924" y="24964"/>
            <a:ext cx="5124450" cy="1358965"/>
          </a:xfrm>
        </p:spPr>
        <p:txBody>
          <a:bodyPr>
            <a:normAutofit/>
          </a:bodyPr>
          <a:lstStyle/>
          <a:p>
            <a:r>
              <a:rPr lang="en-US" dirty="0"/>
              <a:t>Decoder-Only Transformers</a:t>
            </a:r>
          </a:p>
        </p:txBody>
      </p:sp>
      <p:pic>
        <p:nvPicPr>
          <p:cNvPr id="16386" name="Picture 2" descr="Architecture of the GPT family of models">
            <a:extLst>
              <a:ext uri="{FF2B5EF4-FFF2-40B4-BE49-F238E27FC236}">
                <a16:creationId xmlns:a16="http://schemas.microsoft.com/office/drawing/2014/main" id="{4C5001BF-4487-B0E5-1635-7AAFF3CC0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669" y="384285"/>
            <a:ext cx="3400410" cy="64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itle 1">
            <a:extLst>
              <a:ext uri="{FF2B5EF4-FFF2-40B4-BE49-F238E27FC236}">
                <a16:creationId xmlns:a16="http://schemas.microsoft.com/office/drawing/2014/main" id="{C8BB011E-C869-FA08-14B5-8D02CEA13E2E}"/>
              </a:ext>
            </a:extLst>
          </p:cNvPr>
          <p:cNvSpPr txBox="1">
            <a:spLocks/>
          </p:cNvSpPr>
          <p:nvPr/>
        </p:nvSpPr>
        <p:spPr>
          <a:xfrm>
            <a:off x="5669758" y="-143475"/>
            <a:ext cx="4399834" cy="772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dirty="0"/>
              <a:t>GPT-1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029B2-3530-7D1A-FE21-7A48669493FC}"/>
              </a:ext>
            </a:extLst>
          </p:cNvPr>
          <p:cNvSpPr txBox="1"/>
          <p:nvPr/>
        </p:nvSpPr>
        <p:spPr>
          <a:xfrm>
            <a:off x="406252" y="1631846"/>
            <a:ext cx="416574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GPT-1 was a </a:t>
            </a:r>
            <a:r>
              <a:rPr lang="en-US" b="1" dirty="0"/>
              <a:t>decoder-onl</a:t>
            </a:r>
            <a:r>
              <a:rPr lang="en-US" dirty="0"/>
              <a:t>y Transformer pre-trained for </a:t>
            </a:r>
            <a:r>
              <a:rPr lang="en-US" b="1" dirty="0"/>
              <a:t>next word prediction</a:t>
            </a:r>
            <a:r>
              <a:rPr lang="en-US" dirty="0"/>
              <a:t> on books and then </a:t>
            </a:r>
            <a:r>
              <a:rPr lang="en-US" b="1" dirty="0"/>
              <a:t>fine-tuned</a:t>
            </a:r>
            <a:r>
              <a:rPr lang="en-US" dirty="0"/>
              <a:t> for various NLP tasks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BA73BC-CFA2-A06F-4735-CAB0E465FF62}"/>
              </a:ext>
            </a:extLst>
          </p:cNvPr>
          <p:cNvSpPr txBox="1"/>
          <p:nvPr/>
        </p:nvSpPr>
        <p:spPr>
          <a:xfrm>
            <a:off x="597587" y="2941202"/>
            <a:ext cx="4165748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GPT-2 was bigger, trained on more text, and could do some tasks zero-shot (e.g., summarize a document by prompting it with the document + “</a:t>
            </a:r>
            <a:r>
              <a:rPr lang="en-US" dirty="0" err="1"/>
              <a:t>tld;dr</a:t>
            </a:r>
            <a:r>
              <a:rPr lang="en-US" dirty="0"/>
              <a:t>: “ and then taking the first 100 words as a summary.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54BAD-DAEB-69B4-1003-734B9DE1CC25}"/>
              </a:ext>
            </a:extLst>
          </p:cNvPr>
          <p:cNvSpPr txBox="1"/>
          <p:nvPr/>
        </p:nvSpPr>
        <p:spPr>
          <a:xfrm>
            <a:off x="788921" y="4804555"/>
            <a:ext cx="416574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GPT-3 was still bigger and was tested on in-context learning tasks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E25CFD-BA76-2E88-63EE-3857668613E6}"/>
              </a:ext>
            </a:extLst>
          </p:cNvPr>
          <p:cNvSpPr txBox="1"/>
          <p:nvPr/>
        </p:nvSpPr>
        <p:spPr>
          <a:xfrm>
            <a:off x="984183" y="5606470"/>
            <a:ext cx="416574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Decoder-only models are believed to do better on in-context learning tasks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5284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B004-C1F2-C971-D847-5D02C7FBD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Comments: Fine-Tuning Transformers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B1782-0A43-0747-3B57-830A9E5814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384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080" y="862417"/>
            <a:ext cx="7143644" cy="621095"/>
          </a:xfrm>
          <a:prstGeom prst="rect">
            <a:avLst/>
          </a:prstGeom>
        </p:spPr>
        <p:txBody>
          <a:bodyPr vert="horz" wrap="square" lIns="0" tIns="5488" rIns="0" bIns="0" rtlCol="0" anchor="ctr">
            <a:spAutoFit/>
          </a:bodyPr>
          <a:lstStyle/>
          <a:p>
            <a:pPr marL="5776">
              <a:spcBef>
                <a:spcPts val="43"/>
              </a:spcBef>
            </a:pPr>
            <a:r>
              <a:rPr spc="-475" dirty="0"/>
              <a:t>How</a:t>
            </a:r>
            <a:r>
              <a:rPr spc="-139" dirty="0"/>
              <a:t> </a:t>
            </a:r>
            <a:r>
              <a:rPr spc="-293" dirty="0"/>
              <a:t>do</a:t>
            </a:r>
            <a:r>
              <a:rPr spc="-136" dirty="0"/>
              <a:t> </a:t>
            </a:r>
            <a:r>
              <a:rPr spc="-341" dirty="0"/>
              <a:t>we</a:t>
            </a:r>
            <a:r>
              <a:rPr spc="-139" dirty="0"/>
              <a:t> </a:t>
            </a:r>
            <a:r>
              <a:rPr spc="-197" dirty="0"/>
              <a:t>‘finetune’</a:t>
            </a:r>
            <a:r>
              <a:rPr spc="-136" dirty="0"/>
              <a:t> </a:t>
            </a:r>
            <a:r>
              <a:rPr spc="-184" dirty="0"/>
              <a:t>models?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643" y="3109265"/>
            <a:ext cx="5540889" cy="2519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1247" y="1931041"/>
            <a:ext cx="8126492" cy="872817"/>
          </a:xfrm>
          <a:prstGeom prst="rect">
            <a:avLst/>
          </a:prstGeom>
        </p:spPr>
        <p:txBody>
          <a:bodyPr vert="horz" wrap="square" lIns="0" tIns="49099" rIns="0" bIns="0" rtlCol="0">
            <a:spAutoFit/>
          </a:bodyPr>
          <a:lstStyle/>
          <a:p>
            <a:pPr marL="5776">
              <a:spcBef>
                <a:spcPts val="387"/>
              </a:spcBef>
            </a:pPr>
            <a:r>
              <a:rPr sz="1683" spc="-9" dirty="0">
                <a:latin typeface="Gill Sans MT"/>
                <a:cs typeface="Gill Sans MT"/>
              </a:rPr>
              <a:t>Start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7" dirty="0">
                <a:latin typeface="Gill Sans MT"/>
                <a:cs typeface="Gill Sans MT"/>
              </a:rPr>
              <a:t>with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-34" dirty="0">
                <a:latin typeface="Gill Sans MT"/>
                <a:cs typeface="Gill Sans MT"/>
              </a:rPr>
              <a:t>model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-36" dirty="0">
                <a:latin typeface="Gill Sans MT"/>
                <a:cs typeface="Gill Sans MT"/>
              </a:rPr>
              <a:t>trained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7" dirty="0">
                <a:latin typeface="Gill Sans MT"/>
                <a:cs typeface="Gill Sans MT"/>
              </a:rPr>
              <a:t>on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-48" dirty="0">
                <a:latin typeface="Gill Sans MT"/>
                <a:cs typeface="Gill Sans MT"/>
              </a:rPr>
              <a:t>lot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9" dirty="0">
                <a:latin typeface="Gill Sans MT"/>
                <a:cs typeface="Gill Sans MT"/>
              </a:rPr>
              <a:t>data</a:t>
            </a:r>
            <a:endParaRPr sz="1683">
              <a:latin typeface="Gill Sans MT"/>
              <a:cs typeface="Gill Sans MT"/>
            </a:endParaRPr>
          </a:p>
          <a:p>
            <a:pPr marL="5776" marR="2310">
              <a:lnSpc>
                <a:spcPts val="1987"/>
              </a:lnSpc>
              <a:spcBef>
                <a:spcPts val="421"/>
              </a:spcBef>
            </a:pPr>
            <a:r>
              <a:rPr sz="1683" dirty="0">
                <a:latin typeface="Gill Sans MT"/>
                <a:cs typeface="Gill Sans MT"/>
              </a:rPr>
              <a:t>Using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8" dirty="0">
                <a:latin typeface="Gill Sans MT"/>
                <a:cs typeface="Gill Sans MT"/>
              </a:rPr>
              <a:t>pretrained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34" dirty="0">
                <a:latin typeface="Gill Sans MT"/>
                <a:cs typeface="Gill Sans MT"/>
              </a:rPr>
              <a:t>model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102" dirty="0">
                <a:latin typeface="Gill Sans MT"/>
                <a:cs typeface="Gill Sans MT"/>
              </a:rPr>
              <a:t>as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starting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1" dirty="0">
                <a:latin typeface="Gill Sans MT"/>
                <a:cs typeface="Gill Sans MT"/>
              </a:rPr>
              <a:t>point,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11" dirty="0">
                <a:latin typeface="Gill Sans MT"/>
                <a:cs typeface="Gill Sans MT"/>
              </a:rPr>
              <a:t>update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weights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30" dirty="0">
                <a:latin typeface="Gill Sans MT"/>
                <a:cs typeface="Gill Sans MT"/>
              </a:rPr>
              <a:t>by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fitting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34" dirty="0">
                <a:latin typeface="Gill Sans MT"/>
                <a:cs typeface="Gill Sans MT"/>
              </a:rPr>
              <a:t>model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89" dirty="0">
                <a:latin typeface="Gill Sans MT"/>
                <a:cs typeface="Gill Sans MT"/>
              </a:rPr>
              <a:t>to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32" dirty="0">
                <a:latin typeface="Gill Sans MT"/>
                <a:cs typeface="Gill Sans MT"/>
              </a:rPr>
              <a:t>small </a:t>
            </a:r>
            <a:r>
              <a:rPr sz="1683" spc="-23" dirty="0">
                <a:latin typeface="Gill Sans MT"/>
                <a:cs typeface="Gill Sans MT"/>
              </a:rPr>
              <a:t>amount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finetuning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data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30" dirty="0">
                <a:latin typeface="Gill Sans MT"/>
                <a:cs typeface="Gill Sans MT"/>
              </a:rPr>
              <a:t>(e.g.,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-18" dirty="0">
                <a:latin typeface="Gill Sans MT"/>
                <a:cs typeface="Gill Sans MT"/>
              </a:rPr>
              <a:t>running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36" dirty="0">
                <a:latin typeface="Gill Sans MT"/>
                <a:cs typeface="Gill Sans MT"/>
              </a:rPr>
              <a:t>small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spc="-52" dirty="0">
                <a:latin typeface="Gill Sans MT"/>
                <a:cs typeface="Gill Sans MT"/>
              </a:rPr>
              <a:t>number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23" dirty="0">
                <a:latin typeface="Gill Sans MT"/>
                <a:cs typeface="Gill Sans MT"/>
              </a:rPr>
              <a:t>steps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-14" dirty="0">
                <a:latin typeface="Gill Sans MT"/>
                <a:cs typeface="Gill Sans MT"/>
              </a:rPr>
              <a:t>gradient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descent)</a:t>
            </a:r>
            <a:endParaRPr sz="1683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70724" y="5755670"/>
            <a:ext cx="181147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dirty="0">
                <a:solidFill>
                  <a:srgbClr val="535353"/>
                </a:solidFill>
                <a:latin typeface="Arial"/>
                <a:cs typeface="Arial"/>
              </a:rPr>
              <a:t>Credit:</a:t>
            </a:r>
            <a:r>
              <a:rPr sz="1114" spc="1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114" dirty="0">
                <a:solidFill>
                  <a:srgbClr val="535353"/>
                </a:solidFill>
                <a:latin typeface="Arial"/>
                <a:cs typeface="Arial"/>
              </a:rPr>
              <a:t>Prasad</a:t>
            </a:r>
            <a:r>
              <a:rPr sz="1114" spc="132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114" spc="18" dirty="0">
                <a:solidFill>
                  <a:srgbClr val="535353"/>
                </a:solidFill>
                <a:latin typeface="Arial"/>
                <a:cs typeface="Arial"/>
              </a:rPr>
              <a:t>Mahamulkar</a:t>
            </a:r>
            <a:endParaRPr sz="111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080" y="246864"/>
            <a:ext cx="3933711" cy="1852201"/>
          </a:xfrm>
          <a:prstGeom prst="rect">
            <a:avLst/>
          </a:prstGeom>
        </p:spPr>
        <p:txBody>
          <a:bodyPr vert="horz" wrap="square" lIns="0" tIns="5488" rIns="0" bIns="0" rtlCol="0" anchor="ctr">
            <a:spAutoFit/>
          </a:bodyPr>
          <a:lstStyle/>
          <a:p>
            <a:pPr marL="5776">
              <a:spcBef>
                <a:spcPts val="43"/>
              </a:spcBef>
            </a:pPr>
            <a:r>
              <a:rPr spc="-227" dirty="0"/>
              <a:t>Potential</a:t>
            </a:r>
            <a:r>
              <a:rPr spc="-134" dirty="0"/>
              <a:t> </a:t>
            </a:r>
            <a:r>
              <a:rPr spc="-70" dirty="0"/>
              <a:t>issue:</a:t>
            </a:r>
            <a:r>
              <a:rPr spc="-134" dirty="0"/>
              <a:t> </a:t>
            </a:r>
            <a:r>
              <a:rPr spc="-246" dirty="0"/>
              <a:t>models</a:t>
            </a:r>
            <a:r>
              <a:rPr spc="-134" dirty="0"/>
              <a:t> </a:t>
            </a:r>
            <a:r>
              <a:rPr spc="-273" dirty="0"/>
              <a:t>are</a:t>
            </a:r>
            <a:r>
              <a:rPr spc="-134" dirty="0"/>
              <a:t> </a:t>
            </a:r>
            <a:r>
              <a:rPr spc="-207" dirty="0"/>
              <a:t>getting</a:t>
            </a:r>
            <a:r>
              <a:rPr spc="-134" dirty="0"/>
              <a:t> </a:t>
            </a:r>
            <a:r>
              <a:rPr spc="-177" dirty="0"/>
              <a:t>large!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rcRect t="5906"/>
          <a:stretch/>
        </p:blipFill>
        <p:spPr>
          <a:xfrm>
            <a:off x="709636" y="2146645"/>
            <a:ext cx="7505700" cy="32309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7100" y="5477972"/>
            <a:ext cx="1168272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dirty="0">
                <a:latin typeface="Arial"/>
                <a:cs typeface="Arial"/>
              </a:rPr>
              <a:t>340M</a:t>
            </a:r>
            <a:r>
              <a:rPr sz="1114" spc="82" dirty="0">
                <a:latin typeface="Arial"/>
                <a:cs typeface="Arial"/>
              </a:rPr>
              <a:t> </a:t>
            </a:r>
            <a:r>
              <a:rPr sz="1114" spc="23" dirty="0">
                <a:latin typeface="Arial"/>
                <a:cs typeface="Arial"/>
              </a:rPr>
              <a:t>parameters</a:t>
            </a:r>
            <a:endParaRPr sz="1114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2818" y="5477972"/>
            <a:ext cx="1141989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dirty="0">
                <a:latin typeface="Arial"/>
                <a:cs typeface="Arial"/>
              </a:rPr>
              <a:t>175B</a:t>
            </a:r>
            <a:r>
              <a:rPr sz="1114" spc="50" dirty="0">
                <a:latin typeface="Arial"/>
                <a:cs typeface="Arial"/>
              </a:rPr>
              <a:t> </a:t>
            </a:r>
            <a:r>
              <a:rPr sz="1114" spc="23" dirty="0">
                <a:latin typeface="Arial"/>
                <a:cs typeface="Arial"/>
              </a:rPr>
              <a:t>parameters</a:t>
            </a:r>
            <a:endParaRPr sz="1114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8604" y="5477973"/>
            <a:ext cx="4876917" cy="462958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824229">
              <a:spcBef>
                <a:spcPts val="55"/>
              </a:spcBef>
            </a:pPr>
            <a:r>
              <a:rPr lang="en-US" sz="1114" dirty="0">
                <a:latin typeface="Arial"/>
                <a:cs typeface="Arial"/>
              </a:rPr>
              <a:t>				???</a:t>
            </a:r>
            <a:endParaRPr sz="1114" dirty="0">
              <a:latin typeface="Arial"/>
              <a:cs typeface="Arial"/>
            </a:endParaRPr>
          </a:p>
          <a:p>
            <a:pPr marL="5776">
              <a:spcBef>
                <a:spcPts val="1114"/>
              </a:spcBef>
            </a:pPr>
            <a:r>
              <a:rPr sz="932" spc="32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https://www.dailydoseofds.com/implementing-</a:t>
            </a:r>
            <a:r>
              <a:rPr sz="932" spc="25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lora-</a:t>
            </a:r>
            <a:r>
              <a:rPr sz="932" spc="30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from-</a:t>
            </a:r>
            <a:r>
              <a:rPr sz="932" spc="32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scratch-</a:t>
            </a:r>
            <a:r>
              <a:rPr sz="932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for-</a:t>
            </a:r>
            <a:r>
              <a:rPr sz="932" spc="25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fine-</a:t>
            </a:r>
            <a:r>
              <a:rPr sz="932" spc="27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tuning-</a:t>
            </a:r>
            <a:r>
              <a:rPr sz="932" spc="20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llms/</a:t>
            </a:r>
            <a:endParaRPr sz="932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080" y="554641"/>
            <a:ext cx="3933711" cy="1236648"/>
          </a:xfrm>
          <a:prstGeom prst="rect">
            <a:avLst/>
          </a:prstGeom>
        </p:spPr>
        <p:txBody>
          <a:bodyPr vert="horz" wrap="square" lIns="0" tIns="5488" rIns="0" bIns="0" rtlCol="0" anchor="ctr">
            <a:spAutoFit/>
          </a:bodyPr>
          <a:lstStyle/>
          <a:p>
            <a:pPr marL="5776">
              <a:spcBef>
                <a:spcPts val="43"/>
              </a:spcBef>
            </a:pPr>
            <a:r>
              <a:rPr spc="-262" dirty="0"/>
              <a:t>Types</a:t>
            </a:r>
            <a:r>
              <a:rPr spc="-139" dirty="0"/>
              <a:t> </a:t>
            </a:r>
            <a:r>
              <a:rPr spc="-116" dirty="0"/>
              <a:t>of</a:t>
            </a:r>
            <a:r>
              <a:rPr spc="-136" dirty="0"/>
              <a:t> </a:t>
            </a:r>
            <a:r>
              <a:rPr spc="-407" dirty="0"/>
              <a:t>PEFT</a:t>
            </a:r>
            <a:r>
              <a:rPr spc="-227" dirty="0"/>
              <a:t> </a:t>
            </a:r>
            <a:r>
              <a:rPr spc="-289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866" y="2023777"/>
            <a:ext cx="7949157" cy="982994"/>
          </a:xfrm>
          <a:prstGeom prst="rect">
            <a:avLst/>
          </a:prstGeom>
        </p:spPr>
        <p:txBody>
          <a:bodyPr vert="horz" wrap="square" lIns="0" tIns="50832" rIns="0" bIns="0" rtlCol="0">
            <a:spAutoFit/>
          </a:bodyPr>
          <a:lstStyle/>
          <a:p>
            <a:pPr marL="174723" indent="-168947">
              <a:spcBef>
                <a:spcPts val="400"/>
              </a:spcBef>
              <a:buFont typeface="Gill Sans MT"/>
              <a:buChar char="•"/>
              <a:tabLst>
                <a:tab pos="174723" algn="l"/>
              </a:tabLst>
            </a:pPr>
            <a:r>
              <a:rPr sz="1796" b="1" spc="-82" dirty="0">
                <a:latin typeface="Gill Sans MT"/>
                <a:cs typeface="Gill Sans MT"/>
              </a:rPr>
              <a:t>specification</a:t>
            </a:r>
            <a:r>
              <a:rPr sz="1796" spc="-82" dirty="0">
                <a:latin typeface="Gill Sans MT"/>
                <a:cs typeface="Gill Sans MT"/>
              </a:rPr>
              <a:t>: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pick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spc="91" dirty="0">
                <a:latin typeface="Gill Sans MT"/>
                <a:cs typeface="Gill Sans MT"/>
              </a:rPr>
              <a:t>a</a:t>
            </a:r>
            <a:r>
              <a:rPr sz="1796" spc="-64" dirty="0">
                <a:latin typeface="Gill Sans MT"/>
                <a:cs typeface="Gill Sans MT"/>
              </a:rPr>
              <a:t> </a:t>
            </a:r>
            <a:r>
              <a:rPr sz="1796" spc="41" dirty="0">
                <a:latin typeface="Gill Sans MT"/>
                <a:cs typeface="Gill Sans MT"/>
              </a:rPr>
              <a:t>small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subset</a:t>
            </a:r>
            <a:r>
              <a:rPr sz="1796" spc="-64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of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spc="-41" dirty="0">
                <a:latin typeface="Gill Sans MT"/>
                <a:cs typeface="Gill Sans MT"/>
              </a:rPr>
              <a:t>the</a:t>
            </a:r>
            <a:r>
              <a:rPr sz="1796" spc="-64" dirty="0">
                <a:latin typeface="Gill Sans MT"/>
                <a:cs typeface="Gill Sans MT"/>
              </a:rPr>
              <a:t> </a:t>
            </a:r>
            <a:r>
              <a:rPr sz="1796" spc="-23" dirty="0">
                <a:latin typeface="Gill Sans MT"/>
                <a:cs typeface="Gill Sans MT"/>
              </a:rPr>
              <a:t>parameters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and</a:t>
            </a:r>
            <a:r>
              <a:rPr sz="1796" spc="-64" dirty="0">
                <a:latin typeface="Gill Sans MT"/>
                <a:cs typeface="Gill Sans MT"/>
              </a:rPr>
              <a:t> </a:t>
            </a:r>
            <a:r>
              <a:rPr sz="1796" spc="-41" dirty="0">
                <a:latin typeface="Gill Sans MT"/>
                <a:cs typeface="Gill Sans MT"/>
              </a:rPr>
              <a:t>tune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spc="-9" dirty="0">
                <a:latin typeface="Gill Sans MT"/>
                <a:cs typeface="Gill Sans MT"/>
              </a:rPr>
              <a:t>those</a:t>
            </a:r>
            <a:endParaRPr sz="1796">
              <a:latin typeface="Gill Sans MT"/>
              <a:cs typeface="Gill Sans MT"/>
            </a:endParaRPr>
          </a:p>
          <a:p>
            <a:pPr marL="174723" indent="-168947">
              <a:spcBef>
                <a:spcPts val="357"/>
              </a:spcBef>
              <a:buFont typeface="Gill Sans MT"/>
              <a:buChar char="•"/>
              <a:tabLst>
                <a:tab pos="174723" algn="l"/>
              </a:tabLst>
            </a:pPr>
            <a:r>
              <a:rPr sz="1796" b="1" spc="-116" dirty="0">
                <a:latin typeface="Gill Sans MT"/>
                <a:cs typeface="Gill Sans MT"/>
              </a:rPr>
              <a:t>addition</a:t>
            </a:r>
            <a:r>
              <a:rPr sz="1796" spc="-116" dirty="0">
                <a:latin typeface="Gill Sans MT"/>
                <a:cs typeface="Gill Sans MT"/>
              </a:rPr>
              <a:t>:</a:t>
            </a:r>
            <a:r>
              <a:rPr sz="1796" spc="-75" dirty="0">
                <a:latin typeface="Gill Sans MT"/>
                <a:cs typeface="Gill Sans MT"/>
              </a:rPr>
              <a:t> </a:t>
            </a:r>
            <a:r>
              <a:rPr sz="1796" spc="-48" dirty="0">
                <a:latin typeface="Gill Sans MT"/>
                <a:cs typeface="Gill Sans MT"/>
              </a:rPr>
              <a:t>introduce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additional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spc="-11" dirty="0">
                <a:latin typeface="Gill Sans MT"/>
                <a:cs typeface="Gill Sans MT"/>
              </a:rPr>
              <a:t>trainable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spc="-25" dirty="0">
                <a:latin typeface="Gill Sans MT"/>
                <a:cs typeface="Gill Sans MT"/>
              </a:rPr>
              <a:t>parameters,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and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just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spc="-39" dirty="0">
                <a:latin typeface="Gill Sans MT"/>
                <a:cs typeface="Gill Sans MT"/>
              </a:rPr>
              <a:t>train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spc="-9" dirty="0">
                <a:latin typeface="Gill Sans MT"/>
                <a:cs typeface="Gill Sans MT"/>
              </a:rPr>
              <a:t>those</a:t>
            </a:r>
            <a:endParaRPr sz="1796">
              <a:latin typeface="Gill Sans MT"/>
              <a:cs typeface="Gill Sans MT"/>
            </a:endParaRPr>
          </a:p>
          <a:p>
            <a:pPr marL="174723" indent="-168947">
              <a:spcBef>
                <a:spcPts val="357"/>
              </a:spcBef>
              <a:buFont typeface="Gill Sans MT"/>
              <a:buChar char="•"/>
              <a:tabLst>
                <a:tab pos="174723" algn="l"/>
              </a:tabLst>
            </a:pPr>
            <a:r>
              <a:rPr sz="1796" b="1" spc="-155" dirty="0">
                <a:latin typeface="Gill Sans MT"/>
                <a:cs typeface="Gill Sans MT"/>
              </a:rPr>
              <a:t>reparameterization</a:t>
            </a:r>
            <a:r>
              <a:rPr sz="1796" spc="-155" dirty="0">
                <a:latin typeface="Gill Sans MT"/>
                <a:cs typeface="Gill Sans MT"/>
              </a:rPr>
              <a:t>: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spc="-89" dirty="0">
                <a:latin typeface="Gill Sans MT"/>
                <a:cs typeface="Gill Sans MT"/>
              </a:rPr>
              <a:t>re-</a:t>
            </a:r>
            <a:r>
              <a:rPr sz="1796" spc="-34" dirty="0">
                <a:latin typeface="Gill Sans MT"/>
                <a:cs typeface="Gill Sans MT"/>
              </a:rPr>
              <a:t>parameterize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spc="-41" dirty="0">
                <a:latin typeface="Gill Sans MT"/>
                <a:cs typeface="Gill Sans MT"/>
              </a:rPr>
              <a:t>the</a:t>
            </a:r>
            <a:r>
              <a:rPr sz="1796" spc="-59" dirty="0">
                <a:latin typeface="Gill Sans MT"/>
                <a:cs typeface="Gill Sans MT"/>
              </a:rPr>
              <a:t> </a:t>
            </a:r>
            <a:r>
              <a:rPr sz="1796" spc="-82" dirty="0">
                <a:latin typeface="Gill Sans MT"/>
                <a:cs typeface="Gill Sans MT"/>
              </a:rPr>
              <a:t>network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spc="-50" dirty="0">
                <a:latin typeface="Gill Sans MT"/>
                <a:cs typeface="Gill Sans MT"/>
              </a:rPr>
              <a:t>into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something</a:t>
            </a:r>
            <a:r>
              <a:rPr sz="1796" spc="-59" dirty="0">
                <a:latin typeface="Gill Sans MT"/>
                <a:cs typeface="Gill Sans MT"/>
              </a:rPr>
              <a:t> </a:t>
            </a:r>
            <a:r>
              <a:rPr sz="1796" spc="-84" dirty="0">
                <a:latin typeface="Gill Sans MT"/>
                <a:cs typeface="Gill Sans MT"/>
              </a:rPr>
              <a:t>more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efficient</a:t>
            </a:r>
            <a:r>
              <a:rPr sz="1796" spc="-59" dirty="0">
                <a:latin typeface="Gill Sans MT"/>
                <a:cs typeface="Gill Sans MT"/>
              </a:rPr>
              <a:t> </a:t>
            </a:r>
            <a:r>
              <a:rPr sz="1796" spc="-91" dirty="0">
                <a:latin typeface="Gill Sans MT"/>
                <a:cs typeface="Gill Sans MT"/>
              </a:rPr>
              <a:t>to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spc="-9" dirty="0">
                <a:latin typeface="Gill Sans MT"/>
                <a:cs typeface="Gill Sans MT"/>
              </a:rPr>
              <a:t>train</a:t>
            </a:r>
            <a:endParaRPr sz="1796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7150" y="5718261"/>
            <a:ext cx="5019380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spc="34" dirty="0">
                <a:solidFill>
                  <a:srgbClr val="A7A7A7"/>
                </a:solidFill>
                <a:latin typeface="Arial"/>
                <a:cs typeface="Arial"/>
                <a:hlinkClick r:id="rId2"/>
              </a:rPr>
              <a:t>https://www.andrew.cmu.edu/course/11-</a:t>
            </a:r>
            <a:r>
              <a:rPr sz="1114" spc="20" dirty="0">
                <a:solidFill>
                  <a:srgbClr val="A7A7A7"/>
                </a:solidFill>
                <a:latin typeface="Arial"/>
                <a:cs typeface="Arial"/>
                <a:hlinkClick r:id="rId2"/>
              </a:rPr>
              <a:t>667/lectures/W4L2_PETM.pptx.pdf</a:t>
            </a:r>
            <a:endParaRPr sz="1114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0486" y="3273627"/>
            <a:ext cx="6025664" cy="192936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080" y="862416"/>
            <a:ext cx="8202256" cy="621095"/>
          </a:xfrm>
          <a:prstGeom prst="rect">
            <a:avLst/>
          </a:prstGeom>
        </p:spPr>
        <p:txBody>
          <a:bodyPr vert="horz" wrap="square" lIns="0" tIns="5488" rIns="0" bIns="0" rtlCol="0" anchor="ctr">
            <a:spAutoFit/>
          </a:bodyPr>
          <a:lstStyle/>
          <a:p>
            <a:pPr marL="5776">
              <a:spcBef>
                <a:spcPts val="43"/>
              </a:spcBef>
            </a:pPr>
            <a:r>
              <a:rPr spc="-421" dirty="0"/>
              <a:t>LoRA</a:t>
            </a:r>
            <a:r>
              <a:rPr spc="-134" dirty="0"/>
              <a:t> </a:t>
            </a:r>
            <a:r>
              <a:rPr spc="-250" dirty="0"/>
              <a:t>(low</a:t>
            </a:r>
            <a:r>
              <a:rPr spc="-134" dirty="0"/>
              <a:t> </a:t>
            </a:r>
            <a:r>
              <a:rPr spc="-280" dirty="0"/>
              <a:t>rank</a:t>
            </a:r>
            <a:r>
              <a:rPr spc="-134" dirty="0"/>
              <a:t> </a:t>
            </a:r>
            <a:r>
              <a:rPr spc="-236" dirty="0"/>
              <a:t>adaptation)</a:t>
            </a:r>
            <a:r>
              <a:rPr spc="-134" dirty="0"/>
              <a:t> </a:t>
            </a:r>
            <a:r>
              <a:rPr spc="-189" dirty="0"/>
              <a:t>finetuning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7251" y="2816384"/>
            <a:ext cx="7655717" cy="2738579"/>
            <a:chOff x="1818803" y="4307770"/>
            <a:chExt cx="16831945" cy="60210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6185" y="4309412"/>
              <a:ext cx="8526786" cy="60174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8803" y="4307770"/>
              <a:ext cx="6892120" cy="60207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54501" y="6481826"/>
              <a:ext cx="3422650" cy="2123440"/>
            </a:xfrm>
            <a:custGeom>
              <a:avLst/>
              <a:gdLst/>
              <a:ahLst/>
              <a:cxnLst/>
              <a:rect l="l" t="t" r="r" b="b"/>
              <a:pathLst>
                <a:path w="3422650" h="2123440">
                  <a:moveTo>
                    <a:pt x="0" y="0"/>
                  </a:moveTo>
                  <a:lnTo>
                    <a:pt x="3422431" y="0"/>
                  </a:lnTo>
                  <a:lnTo>
                    <a:pt x="3422431" y="2122856"/>
                  </a:lnTo>
                  <a:lnTo>
                    <a:pt x="0" y="2122856"/>
                  </a:lnTo>
                  <a:lnTo>
                    <a:pt x="0" y="0"/>
                  </a:lnTo>
                  <a:close/>
                </a:path>
              </a:pathLst>
            </a:custGeom>
            <a:ln w="62825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7" name="object 7"/>
            <p:cNvSpPr/>
            <p:nvPr/>
          </p:nvSpPr>
          <p:spPr>
            <a:xfrm>
              <a:off x="14438303" y="6335466"/>
              <a:ext cx="4180840" cy="2286635"/>
            </a:xfrm>
            <a:custGeom>
              <a:avLst/>
              <a:gdLst/>
              <a:ahLst/>
              <a:cxnLst/>
              <a:rect l="l" t="t" r="r" b="b"/>
              <a:pathLst>
                <a:path w="4180840" h="2286634">
                  <a:moveTo>
                    <a:pt x="0" y="0"/>
                  </a:moveTo>
                  <a:lnTo>
                    <a:pt x="4180734" y="0"/>
                  </a:lnTo>
                  <a:lnTo>
                    <a:pt x="4180734" y="2286221"/>
                  </a:lnTo>
                  <a:lnTo>
                    <a:pt x="0" y="2286221"/>
                  </a:lnTo>
                  <a:lnTo>
                    <a:pt x="0" y="0"/>
                  </a:lnTo>
                  <a:close/>
                </a:path>
              </a:pathLst>
            </a:custGeom>
            <a:ln w="62825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8" name="object 8"/>
            <p:cNvSpPr/>
            <p:nvPr/>
          </p:nvSpPr>
          <p:spPr>
            <a:xfrm>
              <a:off x="7956931" y="6881735"/>
              <a:ext cx="2105660" cy="1193800"/>
            </a:xfrm>
            <a:custGeom>
              <a:avLst/>
              <a:gdLst/>
              <a:ahLst/>
              <a:cxnLst/>
              <a:rect l="l" t="t" r="r" b="b"/>
              <a:pathLst>
                <a:path w="2105659" h="1193800">
                  <a:moveTo>
                    <a:pt x="2105368" y="0"/>
                  </a:moveTo>
                  <a:lnTo>
                    <a:pt x="0" y="0"/>
                  </a:lnTo>
                  <a:lnTo>
                    <a:pt x="0" y="1193680"/>
                  </a:lnTo>
                  <a:lnTo>
                    <a:pt x="2105368" y="1193680"/>
                  </a:lnTo>
                  <a:lnTo>
                    <a:pt x="21053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37556" y="1946944"/>
            <a:ext cx="6244260" cy="529293"/>
          </a:xfrm>
          <a:prstGeom prst="rect">
            <a:avLst/>
          </a:prstGeom>
        </p:spPr>
        <p:txBody>
          <a:bodyPr vert="horz" wrap="square" lIns="0" tIns="16174" rIns="0" bIns="0" rtlCol="0">
            <a:spAutoFit/>
          </a:bodyPr>
          <a:lstStyle/>
          <a:p>
            <a:pPr marL="5776" marR="2310">
              <a:lnSpc>
                <a:spcPts val="1987"/>
              </a:lnSpc>
              <a:spcBef>
                <a:spcPts val="127"/>
              </a:spcBef>
            </a:pPr>
            <a:r>
              <a:rPr sz="1683" spc="-98" dirty="0">
                <a:latin typeface="Gill Sans MT"/>
                <a:cs typeface="Gill Sans MT"/>
              </a:rPr>
              <a:t>Key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idea: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66" dirty="0">
                <a:latin typeface="Gill Sans MT"/>
                <a:cs typeface="Gill Sans MT"/>
              </a:rPr>
              <a:t>don’t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spc="-23" dirty="0">
                <a:latin typeface="Gill Sans MT"/>
                <a:cs typeface="Gill Sans MT"/>
              </a:rPr>
              <a:t>learn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25" dirty="0">
                <a:latin typeface="Gill Sans MT"/>
                <a:cs typeface="Gill Sans MT"/>
              </a:rPr>
              <a:t>full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d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104" dirty="0">
                <a:latin typeface="Gill Sans MT"/>
                <a:cs typeface="Gill Sans MT"/>
              </a:rPr>
              <a:t>x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d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5" dirty="0">
                <a:latin typeface="Gill Sans MT"/>
                <a:cs typeface="Gill Sans MT"/>
              </a:rPr>
              <a:t>matrix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weights,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instead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spc="-23" dirty="0">
                <a:latin typeface="Gill Sans MT"/>
                <a:cs typeface="Gill Sans MT"/>
              </a:rPr>
              <a:t>learn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spc="-86" dirty="0">
                <a:solidFill>
                  <a:srgbClr val="FF644E"/>
                </a:solidFill>
                <a:latin typeface="Gill Sans MT"/>
                <a:cs typeface="Gill Sans MT"/>
              </a:rPr>
              <a:t>low-</a:t>
            </a:r>
            <a:r>
              <a:rPr sz="1683" spc="-9" dirty="0">
                <a:solidFill>
                  <a:srgbClr val="FF644E"/>
                </a:solidFill>
                <a:latin typeface="Gill Sans MT"/>
                <a:cs typeface="Gill Sans MT"/>
              </a:rPr>
              <a:t>rank </a:t>
            </a:r>
            <a:r>
              <a:rPr sz="1683" spc="-34" dirty="0">
                <a:solidFill>
                  <a:srgbClr val="FF644E"/>
                </a:solidFill>
                <a:latin typeface="Gill Sans MT"/>
                <a:cs typeface="Gill Sans MT"/>
              </a:rPr>
              <a:t>approximation</a:t>
            </a:r>
            <a:r>
              <a:rPr sz="1683" spc="-64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683" spc="-89" dirty="0">
                <a:latin typeface="Gill Sans MT"/>
                <a:cs typeface="Gill Sans MT"/>
              </a:rPr>
              <a:t>to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this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matrix!</a:t>
            </a:r>
            <a:endParaRPr sz="1683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3943" y="3986158"/>
            <a:ext cx="887828" cy="529293"/>
          </a:xfrm>
          <a:prstGeom prst="rect">
            <a:avLst/>
          </a:prstGeom>
        </p:spPr>
        <p:txBody>
          <a:bodyPr vert="horz" wrap="square" lIns="0" tIns="16174" rIns="0" bIns="0" rtlCol="0">
            <a:spAutoFit/>
          </a:bodyPr>
          <a:lstStyle/>
          <a:p>
            <a:pPr marL="5776" marR="2310" indent="296018">
              <a:lnSpc>
                <a:spcPts val="1987"/>
              </a:lnSpc>
              <a:spcBef>
                <a:spcPts val="127"/>
              </a:spcBef>
            </a:pPr>
            <a:r>
              <a:rPr sz="1683" b="1" spc="-9" dirty="0">
                <a:latin typeface="Gill Sans MT"/>
                <a:cs typeface="Gill Sans MT"/>
              </a:rPr>
              <a:t>full </a:t>
            </a:r>
            <a:r>
              <a:rPr sz="1683" b="1" spc="-102" dirty="0">
                <a:latin typeface="Gill Sans MT"/>
                <a:cs typeface="Gill Sans MT"/>
              </a:rPr>
              <a:t>finetuning</a:t>
            </a:r>
            <a:endParaRPr sz="1683">
              <a:latin typeface="Gill Sans MT"/>
              <a:cs typeface="Gill Sans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81450" y="4016525"/>
            <a:ext cx="957723" cy="542979"/>
          </a:xfrm>
          <a:custGeom>
            <a:avLst/>
            <a:gdLst/>
            <a:ahLst/>
            <a:cxnLst/>
            <a:rect l="l" t="t" r="r" b="b"/>
            <a:pathLst>
              <a:path w="2105659" h="1193800">
                <a:moveTo>
                  <a:pt x="2105368" y="0"/>
                </a:moveTo>
                <a:lnTo>
                  <a:pt x="0" y="0"/>
                </a:lnTo>
                <a:lnTo>
                  <a:pt x="0" y="1193680"/>
                </a:lnTo>
                <a:lnTo>
                  <a:pt x="2105368" y="1193680"/>
                </a:lnTo>
                <a:lnTo>
                  <a:pt x="2105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sp>
        <p:nvSpPr>
          <p:cNvPr id="12" name="object 12"/>
          <p:cNvSpPr txBox="1"/>
          <p:nvPr/>
        </p:nvSpPr>
        <p:spPr>
          <a:xfrm>
            <a:off x="8016322" y="4015577"/>
            <a:ext cx="887828" cy="519377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algn="ctr">
              <a:lnSpc>
                <a:spcPts val="2003"/>
              </a:lnSpc>
              <a:spcBef>
                <a:spcPts val="50"/>
              </a:spcBef>
            </a:pPr>
            <a:r>
              <a:rPr sz="1683" b="1" spc="-241" dirty="0">
                <a:latin typeface="Gill Sans MT"/>
                <a:cs typeface="Gill Sans MT"/>
              </a:rPr>
              <a:t>LoRA</a:t>
            </a:r>
            <a:endParaRPr sz="1683">
              <a:latin typeface="Gill Sans MT"/>
              <a:cs typeface="Gill Sans MT"/>
            </a:endParaRPr>
          </a:p>
          <a:p>
            <a:pPr algn="ctr">
              <a:lnSpc>
                <a:spcPts val="2003"/>
              </a:lnSpc>
            </a:pPr>
            <a:r>
              <a:rPr sz="1683" b="1" spc="-93" dirty="0">
                <a:latin typeface="Gill Sans MT"/>
                <a:cs typeface="Gill Sans MT"/>
              </a:rPr>
              <a:t>finetuning</a:t>
            </a:r>
            <a:endParaRPr sz="1683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7556" y="1946944"/>
            <a:ext cx="7642143" cy="529293"/>
          </a:xfrm>
          <a:prstGeom prst="rect">
            <a:avLst/>
          </a:prstGeom>
        </p:spPr>
        <p:txBody>
          <a:bodyPr vert="horz" wrap="square" lIns="0" tIns="16174" rIns="0" bIns="0" rtlCol="0">
            <a:spAutoFit/>
          </a:bodyPr>
          <a:lstStyle/>
          <a:p>
            <a:pPr marL="5776" marR="2310">
              <a:lnSpc>
                <a:spcPts val="1987"/>
              </a:lnSpc>
              <a:spcBef>
                <a:spcPts val="127"/>
              </a:spcBef>
            </a:pPr>
            <a:r>
              <a:rPr sz="1683" spc="-39" dirty="0"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sz="1683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45" dirty="0">
                <a:latin typeface="Calibri" panose="020F0502020204030204" pitchFamily="34" charset="0"/>
                <a:cs typeface="Calibri" panose="020F0502020204030204" pitchFamily="34" charset="0"/>
              </a:rPr>
              <a:t>scaling:</a:t>
            </a:r>
            <a:r>
              <a:rPr sz="1683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dirty="0">
                <a:latin typeface="Calibri" panose="020F0502020204030204" pitchFamily="34" charset="0"/>
                <a:cs typeface="Calibri" panose="020F0502020204030204" pitchFamily="34" charset="0"/>
              </a:rPr>
              <a:t>default</a:t>
            </a:r>
            <a:r>
              <a:rPr sz="1683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dirty="0"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sz="1683" spc="-5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683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dirty="0">
                <a:latin typeface="Calibri" panose="020F0502020204030204" pitchFamily="34" charset="0"/>
                <a:cs typeface="Calibri" panose="020F0502020204030204" pitchFamily="34" charset="0"/>
              </a:rPr>
              <a:t>alpha/r</a:t>
            </a:r>
            <a:r>
              <a:rPr sz="1683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66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1683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32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sz="1683" spc="-5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-102" dirty="0">
                <a:latin typeface="Calibri" panose="020F0502020204030204" pitchFamily="34" charset="0"/>
                <a:cs typeface="Calibri" panose="020F0502020204030204" pitchFamily="34" charset="0"/>
              </a:rPr>
              <a:t>However,</a:t>
            </a:r>
            <a:r>
              <a:rPr sz="1683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32" dirty="0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z="1683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-9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1683" spc="-5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-36" dirty="0">
                <a:latin typeface="Calibri" panose="020F0502020204030204" pitchFamily="34" charset="0"/>
                <a:cs typeface="Calibri" panose="020F0502020204030204" pitchFamily="34" charset="0"/>
              </a:rPr>
              <a:t>tuned</a:t>
            </a:r>
            <a:r>
              <a:rPr sz="1683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-89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1683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-45" dirty="0">
                <a:latin typeface="Calibri" panose="020F0502020204030204" pitchFamily="34" charset="0"/>
                <a:cs typeface="Calibri" panose="020F0502020204030204" pitchFamily="34" charset="0"/>
              </a:rPr>
              <a:t>trade-</a:t>
            </a:r>
            <a:r>
              <a:rPr sz="1683" dirty="0">
                <a:latin typeface="Calibri" panose="020F0502020204030204" pitchFamily="34" charset="0"/>
                <a:cs typeface="Calibri" panose="020F0502020204030204" pitchFamily="34" charset="0"/>
              </a:rPr>
              <a:t>off</a:t>
            </a:r>
            <a:r>
              <a:rPr sz="1683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27" dirty="0">
                <a:latin typeface="Calibri" panose="020F0502020204030204" pitchFamily="34" charset="0"/>
                <a:cs typeface="Calibri" panose="020F0502020204030204" pitchFamily="34" charset="0"/>
              </a:rPr>
              <a:t>emphasis</a:t>
            </a:r>
            <a:r>
              <a:rPr sz="1683" spc="-5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-11" dirty="0">
                <a:latin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sz="1683" spc="-48" dirty="0">
                <a:latin typeface="Calibri" panose="020F0502020204030204" pitchFamily="34" charset="0"/>
                <a:cs typeface="Calibri" panose="020F0502020204030204" pitchFamily="34" charset="0"/>
              </a:rPr>
              <a:t>pretrained</a:t>
            </a:r>
            <a:r>
              <a:rPr sz="1683" spc="-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dirty="0">
                <a:latin typeface="Calibri" panose="020F0502020204030204" pitchFamily="34" charset="0"/>
                <a:cs typeface="Calibri" panose="020F0502020204030204" pitchFamily="34" charset="0"/>
              </a:rPr>
              <a:t>weights</a:t>
            </a:r>
            <a:r>
              <a:rPr sz="1683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55" dirty="0">
                <a:latin typeface="Calibri" panose="020F0502020204030204" pitchFamily="34" charset="0"/>
                <a:cs typeface="Calibri" panose="020F0502020204030204" pitchFamily="34" charset="0"/>
              </a:rPr>
              <a:t>vs.</a:t>
            </a:r>
            <a:r>
              <a:rPr sz="1683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-14" dirty="0">
                <a:latin typeface="Calibri" panose="020F0502020204030204" pitchFamily="34" charset="0"/>
                <a:cs typeface="Calibri" panose="020F0502020204030204" pitchFamily="34" charset="0"/>
              </a:rPr>
              <a:t>updated</a:t>
            </a:r>
            <a:r>
              <a:rPr sz="1683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83" spc="-5" dirty="0">
                <a:latin typeface="Calibri" panose="020F0502020204030204" pitchFamily="34" charset="0"/>
                <a:cs typeface="Calibri" panose="020F0502020204030204" pitchFamily="34" charset="0"/>
              </a:rPr>
              <a:t>weights</a:t>
            </a:r>
            <a:endParaRPr sz="168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5254" y="2967282"/>
            <a:ext cx="3667125" cy="1685925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FCB9133A-0292-7DC2-A066-D1623E41AEC3}"/>
              </a:ext>
            </a:extLst>
          </p:cNvPr>
          <p:cNvSpPr txBox="1">
            <a:spLocks/>
          </p:cNvSpPr>
          <p:nvPr/>
        </p:nvSpPr>
        <p:spPr>
          <a:xfrm>
            <a:off x="127080" y="862416"/>
            <a:ext cx="8202256" cy="621095"/>
          </a:xfrm>
          <a:prstGeom prst="rect">
            <a:avLst/>
          </a:prstGeom>
        </p:spPr>
        <p:txBody>
          <a:bodyPr vert="horz" wrap="square" lIns="0" tIns="5488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2" b="1" i="0" kern="1200">
                <a:solidFill>
                  <a:schemeClr val="tx1"/>
                </a:solidFill>
                <a:latin typeface="Gill Sans MT"/>
                <a:ea typeface="+mj-ea"/>
                <a:cs typeface="Gill Sans MT"/>
              </a:defRPr>
            </a:lvl1pPr>
          </a:lstStyle>
          <a:p>
            <a:pPr marL="5776">
              <a:spcBef>
                <a:spcPts val="43"/>
              </a:spcBef>
            </a:pPr>
            <a:r>
              <a:rPr lang="en-US" spc="-421" dirty="0" err="1"/>
              <a:t>LoRA</a:t>
            </a:r>
            <a:r>
              <a:rPr lang="en-US" spc="-134" dirty="0"/>
              <a:t> </a:t>
            </a:r>
            <a:r>
              <a:rPr lang="en-US" spc="-250" dirty="0"/>
              <a:t>(low</a:t>
            </a:r>
            <a:r>
              <a:rPr lang="en-US" spc="-134" dirty="0"/>
              <a:t> </a:t>
            </a:r>
            <a:r>
              <a:rPr lang="en-US" spc="-280" dirty="0"/>
              <a:t>rank</a:t>
            </a:r>
            <a:r>
              <a:rPr lang="en-US" spc="-134" dirty="0"/>
              <a:t> </a:t>
            </a:r>
            <a:r>
              <a:rPr lang="en-US" spc="-236" dirty="0"/>
              <a:t>adaptation)</a:t>
            </a:r>
            <a:r>
              <a:rPr lang="en-US" spc="-134" dirty="0"/>
              <a:t> </a:t>
            </a:r>
            <a:r>
              <a:rPr lang="en-US" spc="-189" dirty="0"/>
              <a:t>finetuning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71DBD-8589-19C7-A088-F77459DD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E4E3866-68C6-B0AA-B2C4-AEB17FD2CAD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2237" y="1187437"/>
            <a:ext cx="4092371" cy="467528"/>
          </a:xfrm>
          <a:prstGeom prst="rect">
            <a:avLst/>
          </a:prstGeom>
        </p:spPr>
        <p:txBody>
          <a:bodyPr vert="horz" wrap="square" lIns="0" tIns="5488" rIns="0" bIns="0" rtlCol="0" anchor="ctr">
            <a:spAutoFit/>
          </a:bodyPr>
          <a:lstStyle/>
          <a:p>
            <a:pPr marL="5776">
              <a:spcBef>
                <a:spcPts val="43"/>
              </a:spcBef>
            </a:pPr>
            <a:r>
              <a:rPr spc="-421" dirty="0" err="1"/>
              <a:t>LoRA</a:t>
            </a:r>
            <a:r>
              <a:rPr spc="-134" dirty="0"/>
              <a:t> </a:t>
            </a:r>
            <a:r>
              <a:rPr spc="-189" dirty="0"/>
              <a:t>finetuning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086A7D9-ECB8-DFB1-EBDF-8B41ECCBA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722" y="1141027"/>
            <a:ext cx="3297310" cy="4859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E65852-E26B-918D-8422-2A6D16007ADD}"/>
              </a:ext>
            </a:extLst>
          </p:cNvPr>
          <p:cNvSpPr/>
          <p:nvPr/>
        </p:nvSpPr>
        <p:spPr>
          <a:xfrm>
            <a:off x="7279176" y="1140249"/>
            <a:ext cx="1799340" cy="4859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9B1676-E42F-8A40-42D3-8CE2024E626E}"/>
              </a:ext>
            </a:extLst>
          </p:cNvPr>
          <p:cNvSpPr/>
          <p:nvPr/>
        </p:nvSpPr>
        <p:spPr>
          <a:xfrm>
            <a:off x="6697817" y="2730799"/>
            <a:ext cx="1333120" cy="188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5529E-12E2-D8A8-55C9-26D2CE0FD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709" y="2024236"/>
            <a:ext cx="5554319" cy="143005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2F951416-6CD5-2617-74F8-AB7442FD93BA}"/>
              </a:ext>
            </a:extLst>
          </p:cNvPr>
          <p:cNvSpPr/>
          <p:nvPr/>
        </p:nvSpPr>
        <p:spPr>
          <a:xfrm>
            <a:off x="6225367" y="3964353"/>
            <a:ext cx="1119293" cy="450419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F06EE0-80DF-8B42-7674-AFB1695954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99"/>
          <a:stretch/>
        </p:blipFill>
        <p:spPr>
          <a:xfrm>
            <a:off x="-50707" y="3589998"/>
            <a:ext cx="5621910" cy="1675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33A5A8-40B2-AF1F-F414-4F6CDAD893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9522" b="64141"/>
          <a:stretch/>
        </p:blipFill>
        <p:spPr>
          <a:xfrm>
            <a:off x="5814032" y="2168872"/>
            <a:ext cx="1767570" cy="65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1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mbria Math" charset="0"/>
              </a:rPr>
              <a:t>recap: k-means as MF</a:t>
            </a:r>
          </a:p>
        </p:txBody>
      </p:sp>
      <p:sp>
        <p:nvSpPr>
          <p:cNvPr id="5" name="Double Bracket 4"/>
          <p:cNvSpPr/>
          <p:nvPr/>
        </p:nvSpPr>
        <p:spPr>
          <a:xfrm>
            <a:off x="1969112" y="2668137"/>
            <a:ext cx="820398" cy="216113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6" name="Double Bracket 5"/>
          <p:cNvSpPr/>
          <p:nvPr/>
        </p:nvSpPr>
        <p:spPr>
          <a:xfrm>
            <a:off x="3257458" y="2659803"/>
            <a:ext cx="1728909" cy="546535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7" name="Multiply 6"/>
          <p:cNvSpPr/>
          <p:nvPr/>
        </p:nvSpPr>
        <p:spPr>
          <a:xfrm>
            <a:off x="2874050" y="2845553"/>
            <a:ext cx="166699" cy="210756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Equal 7"/>
          <p:cNvSpPr/>
          <p:nvPr/>
        </p:nvSpPr>
        <p:spPr>
          <a:xfrm>
            <a:off x="5136396" y="2739581"/>
            <a:ext cx="210756" cy="210755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5654355" y="2668137"/>
            <a:ext cx="1908705" cy="216113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2776" name="TextBox 9"/>
          <p:cNvSpPr txBox="1">
            <a:spLocks noChangeArrowheads="1"/>
          </p:cNvSpPr>
          <p:nvPr/>
        </p:nvSpPr>
        <p:spPr bwMode="auto">
          <a:xfrm>
            <a:off x="3687304" y="2039444"/>
            <a:ext cx="108420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350" i="1">
                <a:solidFill>
                  <a:srgbClr val="000000"/>
                </a:solidFill>
                <a:latin typeface="Gill Sans MT" charset="0"/>
              </a:rPr>
              <a:t>cluster means</a:t>
            </a:r>
            <a:endParaRPr lang="en-US" sz="1350">
              <a:solidFill>
                <a:srgbClr val="000000"/>
              </a:solidFill>
              <a:latin typeface="Gill Sans MT" charset="0"/>
            </a:endParaRPr>
          </a:p>
        </p:txBody>
      </p:sp>
      <p:sp>
        <p:nvSpPr>
          <p:cNvPr id="11" name="Right Brace 10"/>
          <p:cNvSpPr/>
          <p:nvPr/>
        </p:nvSpPr>
        <p:spPr>
          <a:xfrm rot="16200000">
            <a:off x="4000460" y="1594118"/>
            <a:ext cx="242905" cy="1728909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800989" y="3585568"/>
            <a:ext cx="96693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42905">
              <a:defRPr/>
            </a:pPr>
            <a:r>
              <a:rPr lang="en-US" sz="1350" i="1" dirty="0">
                <a:solidFill>
                  <a:prstClr val="black"/>
                </a:solidFill>
                <a:latin typeface="Gill Sans MT"/>
              </a:rPr>
              <a:t>n </a:t>
            </a:r>
            <a:r>
              <a:rPr lang="en-US" sz="1350" dirty="0">
                <a:solidFill>
                  <a:prstClr val="black"/>
                </a:solidFill>
                <a:latin typeface="Gill Sans MT"/>
              </a:rPr>
              <a:t>examples</a:t>
            </a:r>
          </a:p>
        </p:txBody>
      </p:sp>
      <p:sp>
        <p:nvSpPr>
          <p:cNvPr id="13" name="Right Brace 12"/>
          <p:cNvSpPr/>
          <p:nvPr/>
        </p:nvSpPr>
        <p:spPr>
          <a:xfrm rot="16200000">
            <a:off x="6522381" y="1560780"/>
            <a:ext cx="264337" cy="1817021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Right Brace 13"/>
          <p:cNvSpPr/>
          <p:nvPr/>
        </p:nvSpPr>
        <p:spPr>
          <a:xfrm rot="10800000">
            <a:off x="1485683" y="2668138"/>
            <a:ext cx="242905" cy="217066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059605" y="2739580"/>
          <a:ext cx="729905" cy="2072180"/>
        </p:xfrm>
        <a:graphic>
          <a:graphicData uri="http://schemas.openxmlformats.org/drawingml/2006/table">
            <a:tbl>
              <a:tblPr/>
              <a:tblGrid>
                <a:gridCol w="365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0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1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1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0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xn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yn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319374" y="2707430"/>
          <a:ext cx="1553873" cy="426274"/>
        </p:xfrm>
        <a:graphic>
          <a:graphicData uri="http://schemas.openxmlformats.org/drawingml/2006/table">
            <a:tbl>
              <a:tblPr/>
              <a:tblGrid>
                <a:gridCol w="3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a1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a2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am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b1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b2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bm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834151" y="2781254"/>
          <a:ext cx="1553873" cy="426274"/>
        </p:xfrm>
        <a:graphic>
          <a:graphicData uri="http://schemas.openxmlformats.org/drawingml/2006/table">
            <a:tbl>
              <a:tblPr/>
              <a:tblGrid>
                <a:gridCol w="3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v11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charset="0"/>
                          <a:ea typeface="ＭＳ Ｐゴシック" charset="0"/>
                          <a:cs typeface="ＭＳ Ｐゴシック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834151" y="3363511"/>
          <a:ext cx="1553873" cy="426274"/>
        </p:xfrm>
        <a:graphic>
          <a:graphicData uri="http://schemas.openxmlformats.org/drawingml/2006/table">
            <a:tbl>
              <a:tblPr/>
              <a:tblGrid>
                <a:gridCol w="3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vij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834152" y="4348227"/>
          <a:ext cx="1632461" cy="426274"/>
        </p:xfrm>
        <a:graphic>
          <a:graphicData uri="http://schemas.openxmlformats.org/drawingml/2006/table">
            <a:tbl>
              <a:tblPr/>
              <a:tblGrid>
                <a:gridCol w="32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3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vnm</a:t>
                      </a: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846" name="TextBox 22"/>
          <p:cNvSpPr txBox="1">
            <a:spLocks noChangeArrowheads="1"/>
          </p:cNvSpPr>
          <p:nvPr/>
        </p:nvSpPr>
        <p:spPr bwMode="auto">
          <a:xfrm>
            <a:off x="5088768" y="2440713"/>
            <a:ext cx="3642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>
                <a:solidFill>
                  <a:srgbClr val="4F81BD"/>
                </a:solidFill>
                <a:latin typeface="Gill Sans MT" charset="0"/>
              </a:rPr>
              <a:t>~</a:t>
            </a:r>
            <a:endParaRPr lang="en-US" sz="1350" b="1">
              <a:solidFill>
                <a:srgbClr val="4F81BD"/>
              </a:solidFill>
              <a:latin typeface="Gill Sans MT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54296" y="2031108"/>
            <a:ext cx="2646945" cy="3000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342905">
              <a:defRPr/>
            </a:pPr>
            <a:r>
              <a:rPr lang="en-US" sz="1350" dirty="0">
                <a:solidFill>
                  <a:prstClr val="black"/>
                </a:solidFill>
                <a:latin typeface="Gill Sans MT"/>
              </a:rPr>
              <a:t>original data set</a:t>
            </a:r>
          </a:p>
        </p:txBody>
      </p:sp>
      <p:sp>
        <p:nvSpPr>
          <p:cNvPr id="32848" name="TextBox 24"/>
          <p:cNvSpPr txBox="1">
            <a:spLocks noChangeArrowheads="1"/>
          </p:cNvSpPr>
          <p:nvPr/>
        </p:nvSpPr>
        <p:spPr bwMode="auto">
          <a:xfrm>
            <a:off x="1582131" y="1727478"/>
            <a:ext cx="167532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b="1" i="1">
                <a:solidFill>
                  <a:srgbClr val="008000"/>
                </a:solidFill>
                <a:latin typeface="Gill Sans MT" charset="0"/>
              </a:rPr>
              <a:t>indicators for r clusters</a:t>
            </a:r>
            <a:endParaRPr lang="en-US" sz="1800" b="1">
              <a:solidFill>
                <a:srgbClr val="008000"/>
              </a:solidFill>
              <a:latin typeface="Gill Sans MT" charset="0"/>
            </a:endParaRPr>
          </a:p>
        </p:txBody>
      </p:sp>
      <p:sp>
        <p:nvSpPr>
          <p:cNvPr id="26" name="Right Brace 25"/>
          <p:cNvSpPr/>
          <p:nvPr/>
        </p:nvSpPr>
        <p:spPr>
          <a:xfrm rot="16200000">
            <a:off x="2272742" y="2076355"/>
            <a:ext cx="242905" cy="70728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2850" name="TextBox 26"/>
          <p:cNvSpPr txBox="1">
            <a:spLocks noChangeArrowheads="1"/>
          </p:cNvSpPr>
          <p:nvPr/>
        </p:nvSpPr>
        <p:spPr bwMode="auto">
          <a:xfrm>
            <a:off x="2240593" y="3513541"/>
            <a:ext cx="3322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1">
                <a:solidFill>
                  <a:srgbClr val="008000"/>
                </a:solidFill>
                <a:latin typeface="Gill Sans MT" charset="0"/>
              </a:rPr>
              <a:t>Z</a:t>
            </a:r>
            <a:endParaRPr lang="en-US" sz="1800" b="1">
              <a:solidFill>
                <a:srgbClr val="008000"/>
              </a:solidFill>
              <a:latin typeface="Gill Sans MT" charset="0"/>
            </a:endParaRPr>
          </a:p>
        </p:txBody>
      </p:sp>
      <p:sp>
        <p:nvSpPr>
          <p:cNvPr id="32851" name="TextBox 27"/>
          <p:cNvSpPr txBox="1">
            <a:spLocks noChangeArrowheads="1"/>
          </p:cNvSpPr>
          <p:nvPr/>
        </p:nvSpPr>
        <p:spPr bwMode="auto">
          <a:xfrm>
            <a:off x="3920683" y="2659802"/>
            <a:ext cx="5477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1">
                <a:solidFill>
                  <a:srgbClr val="008000"/>
                </a:solidFill>
                <a:latin typeface="Gill Sans MT" charset="0"/>
              </a:rPr>
              <a:t>M</a:t>
            </a:r>
            <a:endParaRPr lang="en-US" sz="1800" b="1">
              <a:solidFill>
                <a:srgbClr val="008000"/>
              </a:solidFill>
              <a:latin typeface="Gill Sans MT" charset="0"/>
            </a:endParaRPr>
          </a:p>
        </p:txBody>
      </p:sp>
      <p:sp>
        <p:nvSpPr>
          <p:cNvPr id="32852" name="TextBox 28"/>
          <p:cNvSpPr txBox="1">
            <a:spLocks noChangeArrowheads="1"/>
          </p:cNvSpPr>
          <p:nvPr/>
        </p:nvSpPr>
        <p:spPr bwMode="auto">
          <a:xfrm>
            <a:off x="6478325" y="3513541"/>
            <a:ext cx="5465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1">
                <a:solidFill>
                  <a:srgbClr val="008000"/>
                </a:solidFill>
                <a:latin typeface="Gill Sans MT" charset="0"/>
              </a:rPr>
              <a:t>X</a:t>
            </a:r>
            <a:endParaRPr lang="en-US" sz="1800" b="1">
              <a:solidFill>
                <a:srgbClr val="008000"/>
              </a:solidFill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892433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EF47-9E3E-9719-8677-19B7A8CD4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703792F3-67EA-0977-F4A5-6698E34E5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mbria Math" charset="0"/>
              </a:rPr>
              <a:t>MF to adjust weights</a:t>
            </a:r>
          </a:p>
        </p:txBody>
      </p:sp>
      <p:sp>
        <p:nvSpPr>
          <p:cNvPr id="5" name="Double Bracket 4">
            <a:extLst>
              <a:ext uri="{FF2B5EF4-FFF2-40B4-BE49-F238E27FC236}">
                <a16:creationId xmlns:a16="http://schemas.microsoft.com/office/drawing/2014/main" id="{896A7B15-5481-82A8-AED0-D9D2DF673212}"/>
              </a:ext>
            </a:extLst>
          </p:cNvPr>
          <p:cNvSpPr/>
          <p:nvPr/>
        </p:nvSpPr>
        <p:spPr>
          <a:xfrm>
            <a:off x="1969112" y="2668137"/>
            <a:ext cx="820398" cy="216113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6" name="Double Bracket 5">
            <a:extLst>
              <a:ext uri="{FF2B5EF4-FFF2-40B4-BE49-F238E27FC236}">
                <a16:creationId xmlns:a16="http://schemas.microsoft.com/office/drawing/2014/main" id="{E315B9A9-6355-CEA0-D1C2-0DF400EC04AE}"/>
              </a:ext>
            </a:extLst>
          </p:cNvPr>
          <p:cNvSpPr/>
          <p:nvPr/>
        </p:nvSpPr>
        <p:spPr>
          <a:xfrm>
            <a:off x="3257458" y="2659803"/>
            <a:ext cx="1728909" cy="546535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7" name="Multiply 6">
            <a:extLst>
              <a:ext uri="{FF2B5EF4-FFF2-40B4-BE49-F238E27FC236}">
                <a16:creationId xmlns:a16="http://schemas.microsoft.com/office/drawing/2014/main" id="{87146993-9BFE-293F-9173-78C057E8F974}"/>
              </a:ext>
            </a:extLst>
          </p:cNvPr>
          <p:cNvSpPr/>
          <p:nvPr/>
        </p:nvSpPr>
        <p:spPr>
          <a:xfrm>
            <a:off x="2874050" y="2845553"/>
            <a:ext cx="166699" cy="210756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Equal 7">
            <a:extLst>
              <a:ext uri="{FF2B5EF4-FFF2-40B4-BE49-F238E27FC236}">
                <a16:creationId xmlns:a16="http://schemas.microsoft.com/office/drawing/2014/main" id="{6E09B1DB-7B66-73E9-2F92-B9096FE199DD}"/>
              </a:ext>
            </a:extLst>
          </p:cNvPr>
          <p:cNvSpPr/>
          <p:nvPr/>
        </p:nvSpPr>
        <p:spPr>
          <a:xfrm>
            <a:off x="5136396" y="2739581"/>
            <a:ext cx="210756" cy="210755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9" name="Double Bracket 8">
            <a:extLst>
              <a:ext uri="{FF2B5EF4-FFF2-40B4-BE49-F238E27FC236}">
                <a16:creationId xmlns:a16="http://schemas.microsoft.com/office/drawing/2014/main" id="{82490DA3-1952-7703-5E40-AE369AAFF310}"/>
              </a:ext>
            </a:extLst>
          </p:cNvPr>
          <p:cNvSpPr/>
          <p:nvPr/>
        </p:nvSpPr>
        <p:spPr>
          <a:xfrm>
            <a:off x="5654355" y="2668137"/>
            <a:ext cx="1908705" cy="216113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2776" name="TextBox 9">
            <a:extLst>
              <a:ext uri="{FF2B5EF4-FFF2-40B4-BE49-F238E27FC236}">
                <a16:creationId xmlns:a16="http://schemas.microsoft.com/office/drawing/2014/main" id="{3BB826B0-279E-285A-A0EC-B95C7F2C0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2957" y="1562262"/>
            <a:ext cx="1675326" cy="848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37" dirty="0">
                <a:solidFill>
                  <a:srgbClr val="008000"/>
                </a:solidFill>
                <a:latin typeface="Gill Sans MT" charset="0"/>
              </a:rPr>
              <a:t>cluster specific weight adjustment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F8DAC2D-BF8E-118F-657F-39BF48197F52}"/>
              </a:ext>
            </a:extLst>
          </p:cNvPr>
          <p:cNvSpPr/>
          <p:nvPr/>
        </p:nvSpPr>
        <p:spPr>
          <a:xfrm rot="16200000">
            <a:off x="4000460" y="1594118"/>
            <a:ext cx="242905" cy="1728909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512C2D-ECDA-3BFE-2219-5FC4DC750637}"/>
              </a:ext>
            </a:extLst>
          </p:cNvPr>
          <p:cNvSpPr txBox="1"/>
          <p:nvPr/>
        </p:nvSpPr>
        <p:spPr>
          <a:xfrm rot="16200000">
            <a:off x="800989" y="3585568"/>
            <a:ext cx="96693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42905">
              <a:defRPr/>
            </a:pPr>
            <a:r>
              <a:rPr lang="en-US" sz="1350" i="1" dirty="0">
                <a:solidFill>
                  <a:prstClr val="black"/>
                </a:solidFill>
                <a:latin typeface="Gill Sans MT"/>
              </a:rPr>
              <a:t>n </a:t>
            </a:r>
            <a:r>
              <a:rPr lang="en-US" sz="1350" dirty="0">
                <a:solidFill>
                  <a:prstClr val="black"/>
                </a:solidFill>
                <a:latin typeface="Gill Sans MT"/>
              </a:rPr>
              <a:t>examples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DFC2141E-ADCD-FB58-3D97-D9A75FC95541}"/>
              </a:ext>
            </a:extLst>
          </p:cNvPr>
          <p:cNvSpPr/>
          <p:nvPr/>
        </p:nvSpPr>
        <p:spPr>
          <a:xfrm rot="16200000">
            <a:off x="6522381" y="1560780"/>
            <a:ext cx="264337" cy="1817021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0C34C3F2-D32E-257F-F2B1-FE97E62B8F63}"/>
              </a:ext>
            </a:extLst>
          </p:cNvPr>
          <p:cNvSpPr/>
          <p:nvPr/>
        </p:nvSpPr>
        <p:spPr>
          <a:xfrm rot="10800000">
            <a:off x="1485683" y="2668138"/>
            <a:ext cx="242905" cy="217066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66D567E-F05F-98EA-3F64-65D34FA27A1A}"/>
              </a:ext>
            </a:extLst>
          </p:cNvPr>
          <p:cNvGraphicFramePr>
            <a:graphicFrameLocks noGrp="1"/>
          </p:cNvGraphicFramePr>
          <p:nvPr/>
        </p:nvGraphicFramePr>
        <p:xfrm>
          <a:off x="2059605" y="2739580"/>
          <a:ext cx="729905" cy="2072180"/>
        </p:xfrm>
        <a:graphic>
          <a:graphicData uri="http://schemas.openxmlformats.org/drawingml/2006/table">
            <a:tbl>
              <a:tblPr/>
              <a:tblGrid>
                <a:gridCol w="365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0.1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0.9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0.8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0.1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xn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yn</a:t>
                      </a: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4334D20-A386-F80D-8C15-3EA7373E8154}"/>
              </a:ext>
            </a:extLst>
          </p:cNvPr>
          <p:cNvGraphicFramePr>
            <a:graphicFrameLocks noGrp="1"/>
          </p:cNvGraphicFramePr>
          <p:nvPr/>
        </p:nvGraphicFramePr>
        <p:xfrm>
          <a:off x="3319374" y="2707430"/>
          <a:ext cx="1553873" cy="426274"/>
        </p:xfrm>
        <a:graphic>
          <a:graphicData uri="http://schemas.openxmlformats.org/drawingml/2006/table">
            <a:tbl>
              <a:tblPr/>
              <a:tblGrid>
                <a:gridCol w="3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a1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a2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am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b1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b2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bm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5E50DF9-80EA-8675-AB5B-015847CC26BD}"/>
              </a:ext>
            </a:extLst>
          </p:cNvPr>
          <p:cNvGraphicFramePr>
            <a:graphicFrameLocks noGrp="1"/>
          </p:cNvGraphicFramePr>
          <p:nvPr/>
        </p:nvGraphicFramePr>
        <p:xfrm>
          <a:off x="5834151" y="2781254"/>
          <a:ext cx="1553873" cy="426274"/>
        </p:xfrm>
        <a:graphic>
          <a:graphicData uri="http://schemas.openxmlformats.org/drawingml/2006/table">
            <a:tbl>
              <a:tblPr/>
              <a:tblGrid>
                <a:gridCol w="3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v11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charset="0"/>
                          <a:ea typeface="ＭＳ Ｐゴシック" charset="0"/>
                          <a:cs typeface="ＭＳ Ｐゴシック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580545D-6EE5-3045-D2CE-F6B58018EB81}"/>
              </a:ext>
            </a:extLst>
          </p:cNvPr>
          <p:cNvGraphicFramePr>
            <a:graphicFrameLocks noGrp="1"/>
          </p:cNvGraphicFramePr>
          <p:nvPr/>
        </p:nvGraphicFramePr>
        <p:xfrm>
          <a:off x="5834151" y="3363511"/>
          <a:ext cx="1553873" cy="426274"/>
        </p:xfrm>
        <a:graphic>
          <a:graphicData uri="http://schemas.openxmlformats.org/drawingml/2006/table">
            <a:tbl>
              <a:tblPr/>
              <a:tblGrid>
                <a:gridCol w="3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vij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64F2DA1-B5CB-EAB2-FF78-33980289E97C}"/>
              </a:ext>
            </a:extLst>
          </p:cNvPr>
          <p:cNvGraphicFramePr>
            <a:graphicFrameLocks noGrp="1"/>
          </p:cNvGraphicFramePr>
          <p:nvPr/>
        </p:nvGraphicFramePr>
        <p:xfrm>
          <a:off x="5834152" y="4348227"/>
          <a:ext cx="1632461" cy="426274"/>
        </p:xfrm>
        <a:graphic>
          <a:graphicData uri="http://schemas.openxmlformats.org/drawingml/2006/table">
            <a:tbl>
              <a:tblPr/>
              <a:tblGrid>
                <a:gridCol w="32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3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vnm</a:t>
                      </a:r>
                    </a:p>
                  </a:txBody>
                  <a:tcPr marL="68605" marR="68605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846" name="TextBox 22">
            <a:extLst>
              <a:ext uri="{FF2B5EF4-FFF2-40B4-BE49-F238E27FC236}">
                <a16:creationId xmlns:a16="http://schemas.microsoft.com/office/drawing/2014/main" id="{C515C829-2534-153F-EB8F-CBB7E40A7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8768" y="2440713"/>
            <a:ext cx="3642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>
                <a:solidFill>
                  <a:srgbClr val="4F81BD"/>
                </a:solidFill>
                <a:latin typeface="Gill Sans MT" charset="0"/>
              </a:rPr>
              <a:t>~</a:t>
            </a:r>
            <a:endParaRPr lang="en-US" sz="1350" b="1">
              <a:solidFill>
                <a:srgbClr val="4F81BD"/>
              </a:solidFill>
              <a:latin typeface="Gill Sans MT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C330B2-F6BA-7BA6-C7BC-2BAA67DE7F8F}"/>
              </a:ext>
            </a:extLst>
          </p:cNvPr>
          <p:cNvSpPr txBox="1"/>
          <p:nvPr/>
        </p:nvSpPr>
        <p:spPr>
          <a:xfrm>
            <a:off x="5354296" y="2031108"/>
            <a:ext cx="2646945" cy="3000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342905">
              <a:defRPr/>
            </a:pPr>
            <a:r>
              <a:rPr lang="en-US" sz="1350" dirty="0">
                <a:solidFill>
                  <a:prstClr val="black"/>
                </a:solidFill>
                <a:latin typeface="Gill Sans MT"/>
              </a:rPr>
              <a:t>original data set</a:t>
            </a:r>
          </a:p>
        </p:txBody>
      </p:sp>
      <p:sp>
        <p:nvSpPr>
          <p:cNvPr id="32848" name="TextBox 24">
            <a:extLst>
              <a:ext uri="{FF2B5EF4-FFF2-40B4-BE49-F238E27FC236}">
                <a16:creationId xmlns:a16="http://schemas.microsoft.com/office/drawing/2014/main" id="{745BBE2A-A66A-F43F-56F4-69128FFF9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047" y="1500141"/>
            <a:ext cx="1675327" cy="596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37" dirty="0">
                <a:solidFill>
                  <a:srgbClr val="008000"/>
                </a:solidFill>
                <a:latin typeface="Gill Sans MT" charset="0"/>
              </a:rPr>
              <a:t>soft indicators for r clusters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A3278259-1D9C-F122-003A-072B4FEB5284}"/>
              </a:ext>
            </a:extLst>
          </p:cNvPr>
          <p:cNvSpPr/>
          <p:nvPr/>
        </p:nvSpPr>
        <p:spPr>
          <a:xfrm rot="16200000">
            <a:off x="2272742" y="2076355"/>
            <a:ext cx="242905" cy="70728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2850" name="TextBox 26">
            <a:extLst>
              <a:ext uri="{FF2B5EF4-FFF2-40B4-BE49-F238E27FC236}">
                <a16:creationId xmlns:a16="http://schemas.microsoft.com/office/drawing/2014/main" id="{20AF3DB9-7CE3-2A91-116B-4009202FA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0593" y="3513541"/>
            <a:ext cx="3322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1" dirty="0">
                <a:solidFill>
                  <a:srgbClr val="008000"/>
                </a:solidFill>
                <a:latin typeface="Gill Sans MT" charset="0"/>
              </a:rPr>
              <a:t>A</a:t>
            </a:r>
            <a:endParaRPr lang="en-US" sz="1800" b="1" dirty="0">
              <a:solidFill>
                <a:srgbClr val="008000"/>
              </a:solidFill>
              <a:latin typeface="Gill Sans MT" charset="0"/>
            </a:endParaRPr>
          </a:p>
        </p:txBody>
      </p:sp>
      <p:sp>
        <p:nvSpPr>
          <p:cNvPr id="32851" name="TextBox 27">
            <a:extLst>
              <a:ext uri="{FF2B5EF4-FFF2-40B4-BE49-F238E27FC236}">
                <a16:creationId xmlns:a16="http://schemas.microsoft.com/office/drawing/2014/main" id="{C1F284A1-0261-20E7-35AE-2DE477A23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0683" y="2659802"/>
            <a:ext cx="5477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1" dirty="0">
                <a:solidFill>
                  <a:srgbClr val="008000"/>
                </a:solidFill>
                <a:latin typeface="Gill Sans MT" charset="0"/>
              </a:rPr>
              <a:t>B</a:t>
            </a:r>
            <a:endParaRPr lang="en-US" sz="1800" b="1" dirty="0">
              <a:solidFill>
                <a:srgbClr val="008000"/>
              </a:solidFill>
              <a:latin typeface="Gill Sans MT" charset="0"/>
            </a:endParaRPr>
          </a:p>
        </p:txBody>
      </p:sp>
      <p:sp>
        <p:nvSpPr>
          <p:cNvPr id="32852" name="TextBox 28">
            <a:extLst>
              <a:ext uri="{FF2B5EF4-FFF2-40B4-BE49-F238E27FC236}">
                <a16:creationId xmlns:a16="http://schemas.microsoft.com/office/drawing/2014/main" id="{BEF531C2-E5DA-E287-072D-3861A1F1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8325" y="3513541"/>
            <a:ext cx="5465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1" dirty="0">
                <a:solidFill>
                  <a:srgbClr val="008000"/>
                </a:solidFill>
                <a:latin typeface="Gill Sans MT" charset="0"/>
              </a:rPr>
              <a:t>ΔW</a:t>
            </a:r>
            <a:endParaRPr lang="en-US" sz="1800" b="1" dirty="0">
              <a:solidFill>
                <a:srgbClr val="008000"/>
              </a:solidFill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716310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6D737-C5D7-7B8A-80E7-3C6C12023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28A48EB7-BC74-14A7-1A2E-3E93E7DBD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mbria Math" charset="0"/>
              </a:rPr>
              <a:t>rank-1 MF to adjust weights</a:t>
            </a:r>
          </a:p>
        </p:txBody>
      </p:sp>
      <p:sp>
        <p:nvSpPr>
          <p:cNvPr id="5" name="Double Bracket 4">
            <a:extLst>
              <a:ext uri="{FF2B5EF4-FFF2-40B4-BE49-F238E27FC236}">
                <a16:creationId xmlns:a16="http://schemas.microsoft.com/office/drawing/2014/main" id="{DBFAA304-E501-C040-D0BD-485DEB5FDDE6}"/>
              </a:ext>
            </a:extLst>
          </p:cNvPr>
          <p:cNvSpPr/>
          <p:nvPr/>
        </p:nvSpPr>
        <p:spPr>
          <a:xfrm>
            <a:off x="1969112" y="2668137"/>
            <a:ext cx="583447" cy="216113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6" name="Double Bracket 5">
            <a:extLst>
              <a:ext uri="{FF2B5EF4-FFF2-40B4-BE49-F238E27FC236}">
                <a16:creationId xmlns:a16="http://schemas.microsoft.com/office/drawing/2014/main" id="{290581B0-6953-2BFC-2E07-288415B30BCF}"/>
              </a:ext>
            </a:extLst>
          </p:cNvPr>
          <p:cNvSpPr/>
          <p:nvPr/>
        </p:nvSpPr>
        <p:spPr>
          <a:xfrm>
            <a:off x="3257458" y="2659803"/>
            <a:ext cx="1728909" cy="39650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7" name="Multiply 6">
            <a:extLst>
              <a:ext uri="{FF2B5EF4-FFF2-40B4-BE49-F238E27FC236}">
                <a16:creationId xmlns:a16="http://schemas.microsoft.com/office/drawing/2014/main" id="{A41A3ECA-0A4E-1DBE-E98B-58913F76C06F}"/>
              </a:ext>
            </a:extLst>
          </p:cNvPr>
          <p:cNvSpPr/>
          <p:nvPr/>
        </p:nvSpPr>
        <p:spPr>
          <a:xfrm>
            <a:off x="2874050" y="2845553"/>
            <a:ext cx="166699" cy="210756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Equal 7">
            <a:extLst>
              <a:ext uri="{FF2B5EF4-FFF2-40B4-BE49-F238E27FC236}">
                <a16:creationId xmlns:a16="http://schemas.microsoft.com/office/drawing/2014/main" id="{DF0D9787-2D34-4B51-3487-FEBAA2094FA5}"/>
              </a:ext>
            </a:extLst>
          </p:cNvPr>
          <p:cNvSpPr/>
          <p:nvPr/>
        </p:nvSpPr>
        <p:spPr>
          <a:xfrm>
            <a:off x="5136396" y="2739581"/>
            <a:ext cx="210756" cy="210755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9" name="Double Bracket 8">
            <a:extLst>
              <a:ext uri="{FF2B5EF4-FFF2-40B4-BE49-F238E27FC236}">
                <a16:creationId xmlns:a16="http://schemas.microsoft.com/office/drawing/2014/main" id="{150949C4-108A-167E-7AEC-E6A6B5C10AAC}"/>
              </a:ext>
            </a:extLst>
          </p:cNvPr>
          <p:cNvSpPr/>
          <p:nvPr/>
        </p:nvSpPr>
        <p:spPr>
          <a:xfrm>
            <a:off x="5654355" y="2668137"/>
            <a:ext cx="1908705" cy="216113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2776" name="TextBox 9">
            <a:extLst>
              <a:ext uri="{FF2B5EF4-FFF2-40B4-BE49-F238E27FC236}">
                <a16:creationId xmlns:a16="http://schemas.microsoft.com/office/drawing/2014/main" id="{C04F05C1-5D7A-D9F2-8FED-5F3BEB137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041" y="1789599"/>
            <a:ext cx="1675326" cy="596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37" dirty="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weight adjustment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60451BB-1D21-15E3-512C-C6E3EB99A957}"/>
              </a:ext>
            </a:extLst>
          </p:cNvPr>
          <p:cNvSpPr/>
          <p:nvPr/>
        </p:nvSpPr>
        <p:spPr>
          <a:xfrm rot="16200000">
            <a:off x="4000460" y="1594118"/>
            <a:ext cx="242905" cy="1728909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6CB912-2446-9184-7A81-C5BFFAE68978}"/>
              </a:ext>
            </a:extLst>
          </p:cNvPr>
          <p:cNvSpPr txBox="1"/>
          <p:nvPr/>
        </p:nvSpPr>
        <p:spPr>
          <a:xfrm rot="16200000">
            <a:off x="800989" y="3585568"/>
            <a:ext cx="96693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42905">
              <a:defRPr/>
            </a:pPr>
            <a:r>
              <a:rPr lang="en-US" sz="1350" i="1" dirty="0">
                <a:solidFill>
                  <a:prstClr val="black"/>
                </a:solidFill>
                <a:latin typeface="Gill Sans MT"/>
              </a:rPr>
              <a:t>n </a:t>
            </a:r>
            <a:r>
              <a:rPr lang="en-US" sz="1350" dirty="0">
                <a:solidFill>
                  <a:prstClr val="black"/>
                </a:solidFill>
                <a:latin typeface="Gill Sans MT"/>
              </a:rPr>
              <a:t>examples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E60D81B5-0AB1-500C-3C89-15E822F7F8F1}"/>
              </a:ext>
            </a:extLst>
          </p:cNvPr>
          <p:cNvSpPr/>
          <p:nvPr/>
        </p:nvSpPr>
        <p:spPr>
          <a:xfrm rot="16200000">
            <a:off x="6522381" y="1560780"/>
            <a:ext cx="264337" cy="1817021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C9AA383-3A91-60AA-3409-8F1D450CCA48}"/>
              </a:ext>
            </a:extLst>
          </p:cNvPr>
          <p:cNvSpPr/>
          <p:nvPr/>
        </p:nvSpPr>
        <p:spPr>
          <a:xfrm rot="10800000">
            <a:off x="1485683" y="2668138"/>
            <a:ext cx="242905" cy="217066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E7A6D53-7FB9-94E5-B1EC-D963EA0596BC}"/>
              </a:ext>
            </a:extLst>
          </p:cNvPr>
          <p:cNvGraphicFramePr>
            <a:graphicFrameLocks noGrp="1"/>
          </p:cNvGraphicFramePr>
          <p:nvPr/>
        </p:nvGraphicFramePr>
        <p:xfrm>
          <a:off x="2059605" y="2739580"/>
          <a:ext cx="314816" cy="2072180"/>
        </p:xfrm>
        <a:graphic>
          <a:graphicData uri="http://schemas.openxmlformats.org/drawingml/2006/table">
            <a:tbl>
              <a:tblPr/>
              <a:tblGrid>
                <a:gridCol w="314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0.1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0.8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21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xn</a:t>
                      </a: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96" marR="68596"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5F18906-344B-0F5A-A195-AB58CE66B05D}"/>
              </a:ext>
            </a:extLst>
          </p:cNvPr>
          <p:cNvGraphicFramePr>
            <a:graphicFrameLocks noGrp="1"/>
          </p:cNvGraphicFramePr>
          <p:nvPr/>
        </p:nvGraphicFramePr>
        <p:xfrm>
          <a:off x="3319375" y="2707431"/>
          <a:ext cx="1475959" cy="213137"/>
        </p:xfrm>
        <a:graphic>
          <a:graphicData uri="http://schemas.openxmlformats.org/drawingml/2006/table">
            <a:tbl>
              <a:tblPr/>
              <a:tblGrid>
                <a:gridCol w="26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</a:t>
                      </a:r>
                      <a:r>
                        <a:rPr kumimoji="0" lang="en-US" sz="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1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</a:t>
                      </a:r>
                      <a:r>
                        <a:rPr kumimoji="0" lang="en-US" sz="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2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</a:t>
                      </a:r>
                      <a:r>
                        <a:rPr kumimoji="0" lang="en-US" sz="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m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BB1C14F-9458-F029-9D37-FB77C2377FCB}"/>
              </a:ext>
            </a:extLst>
          </p:cNvPr>
          <p:cNvGraphicFramePr>
            <a:graphicFrameLocks noGrp="1"/>
          </p:cNvGraphicFramePr>
          <p:nvPr/>
        </p:nvGraphicFramePr>
        <p:xfrm>
          <a:off x="5834151" y="2781254"/>
          <a:ext cx="1571597" cy="426274"/>
        </p:xfrm>
        <a:graphic>
          <a:graphicData uri="http://schemas.openxmlformats.org/drawingml/2006/table">
            <a:tbl>
              <a:tblPr/>
              <a:tblGrid>
                <a:gridCol w="328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</a:t>
                      </a:r>
                      <a:r>
                        <a:rPr kumimoji="0" lang="en-US" sz="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11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charset="0"/>
                          <a:ea typeface="ＭＳ Ｐゴシック" charset="0"/>
                          <a:cs typeface="ＭＳ Ｐゴシック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</a:t>
                      </a:r>
                      <a:r>
                        <a:rPr kumimoji="0" lang="en-US" sz="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12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</a:t>
                      </a:r>
                      <a:r>
                        <a:rPr kumimoji="0" lang="en-US" sz="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m2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E7BFF98-191F-06BE-B8E0-5A6C2D7E6AC5}"/>
              </a:ext>
            </a:extLst>
          </p:cNvPr>
          <p:cNvGraphicFramePr>
            <a:graphicFrameLocks noGrp="1"/>
          </p:cNvGraphicFramePr>
          <p:nvPr/>
        </p:nvGraphicFramePr>
        <p:xfrm>
          <a:off x="5834151" y="3363511"/>
          <a:ext cx="1553873" cy="426274"/>
        </p:xfrm>
        <a:graphic>
          <a:graphicData uri="http://schemas.openxmlformats.org/drawingml/2006/table">
            <a:tbl>
              <a:tblPr/>
              <a:tblGrid>
                <a:gridCol w="3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846" name="TextBox 22">
            <a:extLst>
              <a:ext uri="{FF2B5EF4-FFF2-40B4-BE49-F238E27FC236}">
                <a16:creationId xmlns:a16="http://schemas.microsoft.com/office/drawing/2014/main" id="{EB065381-8E20-7650-9268-B90C2EBA4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8768" y="2440713"/>
            <a:ext cx="3642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>
                <a:solidFill>
                  <a:srgbClr val="4F81BD"/>
                </a:solidFill>
                <a:latin typeface="Gill Sans MT" charset="0"/>
              </a:rPr>
              <a:t>~</a:t>
            </a:r>
            <a:endParaRPr lang="en-US" sz="1350" b="1">
              <a:solidFill>
                <a:srgbClr val="4F81BD"/>
              </a:solidFill>
              <a:latin typeface="Gill Sans MT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5D3A18-3795-4C0B-3CB5-E1EFC990B72B}"/>
              </a:ext>
            </a:extLst>
          </p:cNvPr>
          <p:cNvSpPr txBox="1"/>
          <p:nvPr/>
        </p:nvSpPr>
        <p:spPr>
          <a:xfrm>
            <a:off x="5354296" y="2031108"/>
            <a:ext cx="2646945" cy="3000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342905">
              <a:defRPr/>
            </a:pPr>
            <a:r>
              <a:rPr lang="en-US" sz="1350" dirty="0">
                <a:solidFill>
                  <a:prstClr val="black"/>
                </a:solidFill>
                <a:latin typeface="Gill Sans MT"/>
              </a:rPr>
              <a:t>original data set</a:t>
            </a:r>
          </a:p>
        </p:txBody>
      </p:sp>
      <p:sp>
        <p:nvSpPr>
          <p:cNvPr id="32848" name="TextBox 24">
            <a:extLst>
              <a:ext uri="{FF2B5EF4-FFF2-40B4-BE49-F238E27FC236}">
                <a16:creationId xmlns:a16="http://schemas.microsoft.com/office/drawing/2014/main" id="{59E8550D-1ED3-D9A6-BD67-B49957973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320" y="1727478"/>
            <a:ext cx="1848138" cy="596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37" dirty="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adjustment scaling factor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F1AD50C9-6705-F4A6-7DD6-02D403CC86FA}"/>
              </a:ext>
            </a:extLst>
          </p:cNvPr>
          <p:cNvSpPr/>
          <p:nvPr/>
        </p:nvSpPr>
        <p:spPr>
          <a:xfrm rot="16200000">
            <a:off x="2272742" y="2076355"/>
            <a:ext cx="242905" cy="70728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342905">
              <a:defRPr/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2850" name="TextBox 26">
            <a:extLst>
              <a:ext uri="{FF2B5EF4-FFF2-40B4-BE49-F238E27FC236}">
                <a16:creationId xmlns:a16="http://schemas.microsoft.com/office/drawing/2014/main" id="{D47364D0-8382-40D1-5B3E-868EB114E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639" y="3513541"/>
            <a:ext cx="3322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1" dirty="0">
                <a:solidFill>
                  <a:srgbClr val="008000"/>
                </a:solidFill>
                <a:latin typeface="Gill Sans MT" charset="0"/>
              </a:rPr>
              <a:t>A</a:t>
            </a:r>
            <a:endParaRPr lang="en-US" sz="1800" b="1" dirty="0">
              <a:solidFill>
                <a:srgbClr val="008000"/>
              </a:solidFill>
              <a:latin typeface="Gill Sans MT" charset="0"/>
            </a:endParaRPr>
          </a:p>
        </p:txBody>
      </p:sp>
      <p:sp>
        <p:nvSpPr>
          <p:cNvPr id="32851" name="TextBox 27">
            <a:extLst>
              <a:ext uri="{FF2B5EF4-FFF2-40B4-BE49-F238E27FC236}">
                <a16:creationId xmlns:a16="http://schemas.microsoft.com/office/drawing/2014/main" id="{EF342E41-789A-17C3-FF51-36063AFC4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0683" y="2659802"/>
            <a:ext cx="5477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1" dirty="0">
                <a:solidFill>
                  <a:srgbClr val="008000"/>
                </a:solidFill>
                <a:latin typeface="Gill Sans MT" charset="0"/>
              </a:rPr>
              <a:t>B</a:t>
            </a:r>
            <a:endParaRPr lang="en-US" sz="1800" b="1" dirty="0">
              <a:solidFill>
                <a:srgbClr val="008000"/>
              </a:solidFill>
              <a:latin typeface="Gill Sans MT" charset="0"/>
            </a:endParaRPr>
          </a:p>
        </p:txBody>
      </p:sp>
      <p:sp>
        <p:nvSpPr>
          <p:cNvPr id="32852" name="TextBox 28">
            <a:extLst>
              <a:ext uri="{FF2B5EF4-FFF2-40B4-BE49-F238E27FC236}">
                <a16:creationId xmlns:a16="http://schemas.microsoft.com/office/drawing/2014/main" id="{39649A4E-C83E-A016-43D9-5673CCC33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8325" y="3513541"/>
            <a:ext cx="5465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1" dirty="0">
                <a:solidFill>
                  <a:srgbClr val="008000"/>
                </a:solidFill>
                <a:latin typeface="Gill Sans MT" charset="0"/>
              </a:rPr>
              <a:t>ΔW</a:t>
            </a:r>
            <a:endParaRPr lang="en-US" sz="1800" b="1" dirty="0">
              <a:solidFill>
                <a:srgbClr val="008000"/>
              </a:solidFill>
              <a:latin typeface="Gill Sans MT" charset="0"/>
            </a:endParaRPr>
          </a:p>
        </p:txBody>
      </p:sp>
      <p:pic>
        <p:nvPicPr>
          <p:cNvPr id="2" name="Picture 1" descr="A black text with a square and a square formula&#10;&#10;AI-generated content may be incorrect.">
            <a:extLst>
              <a:ext uri="{FF2B5EF4-FFF2-40B4-BE49-F238E27FC236}">
                <a16:creationId xmlns:a16="http://schemas.microsoft.com/office/drawing/2014/main" id="{6B1F2AC5-FE9F-64EF-B8C1-5C3BCD6AF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418" y="979978"/>
            <a:ext cx="3640884" cy="68944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A4A777-6D40-C82C-33F5-A48529F14BBD}"/>
              </a:ext>
            </a:extLst>
          </p:cNvPr>
          <p:cNvGraphicFramePr>
            <a:graphicFrameLocks noGrp="1"/>
          </p:cNvGraphicFramePr>
          <p:nvPr/>
        </p:nvGraphicFramePr>
        <p:xfrm>
          <a:off x="5816428" y="4267853"/>
          <a:ext cx="1571597" cy="426274"/>
        </p:xfrm>
        <a:graphic>
          <a:graphicData uri="http://schemas.openxmlformats.org/drawingml/2006/table">
            <a:tbl>
              <a:tblPr/>
              <a:tblGrid>
                <a:gridCol w="328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4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charset="0"/>
                          <a:ea typeface="ＭＳ Ｐゴシック" charset="0"/>
                          <a:cs typeface="ＭＳ Ｐゴシック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</a:t>
                      </a:r>
                      <a:r>
                        <a:rPr kumimoji="0" lang="en-US" sz="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n2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</a:t>
                      </a:r>
                      <a:r>
                        <a:rPr kumimoji="0" lang="en-US" sz="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mn</a:t>
                      </a:r>
                      <a:endParaRPr kumimoji="0" lang="en-US" sz="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68578" marR="68578" marT="34304" marB="343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03923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Transformers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48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FF53E-81B4-D1EB-324B-77E5EE22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57F1095-8068-087D-B031-7009979FF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" y="189291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72304F-A418-D044-1ACB-4A1396EED224}"/>
              </a:ext>
            </a:extLst>
          </p:cNvPr>
          <p:cNvSpPr txBox="1"/>
          <p:nvPr/>
        </p:nvSpPr>
        <p:spPr>
          <a:xfrm>
            <a:off x="5344885" y="384631"/>
            <a:ext cx="291690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token vocabulary that is used is </a:t>
            </a:r>
            <a:r>
              <a:rPr lang="en-US" b="1" dirty="0"/>
              <a:t>important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68753-6CE3-C2D8-EC1D-D54C18B9EF43}"/>
              </a:ext>
            </a:extLst>
          </p:cNvPr>
          <p:cNvSpPr txBox="1"/>
          <p:nvPr/>
        </p:nvSpPr>
        <p:spPr>
          <a:xfrm>
            <a:off x="5344885" y="1451431"/>
            <a:ext cx="2916908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 NLP, current approaches use techniques like Byte Pair Encoding, </a:t>
            </a:r>
            <a:r>
              <a:rPr lang="en-US" dirty="0" err="1"/>
              <a:t>wordpieces</a:t>
            </a:r>
            <a:r>
              <a:rPr lang="en-US" dirty="0"/>
              <a:t>, or sentence pieces---which are all quite similar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A3AF8-948D-E9F3-98AB-0D5D3AF60844}"/>
              </a:ext>
            </a:extLst>
          </p:cNvPr>
          <p:cNvSpPr txBox="1"/>
          <p:nvPr/>
        </p:nvSpPr>
        <p:spPr>
          <a:xfrm>
            <a:off x="5344885" y="3349228"/>
            <a:ext cx="291690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BPE tokenizers (and the rest) are </a:t>
            </a:r>
            <a:r>
              <a:rPr lang="en-US" b="1" dirty="0"/>
              <a:t>trained</a:t>
            </a:r>
            <a:r>
              <a:rPr lang="en-US" dirty="0"/>
              <a:t> on a corpus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7522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AA6B5-D132-6A2B-CAA3-B941DF09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4084-D13A-CB3A-ECA0-F163E022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NLP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E859CB99-36AE-4CFD-24ED-DF1DCE2C93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8472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73C8-F461-D02C-1BDC-F36496E5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71685-CB13-2C17-D167-DBB87C64D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2" y="1257300"/>
            <a:ext cx="4241799" cy="5308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1990’s NLP: English tokenization was spaces and a few special rules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“don’t” </a:t>
            </a:r>
            <a:r>
              <a:rPr lang="en-US" dirty="0">
                <a:sym typeface="Wingdings" pitchFamily="2" charset="2"/>
              </a:rPr>
              <a:t> “do” + “</a:t>
            </a:r>
            <a:r>
              <a:rPr lang="en-US" dirty="0" err="1">
                <a:sym typeface="Wingdings" pitchFamily="2" charset="2"/>
              </a:rPr>
              <a:t>n’t</a:t>
            </a:r>
            <a:r>
              <a:rPr lang="en-US" dirty="0">
                <a:sym typeface="Wingdings" pitchFamily="2" charset="2"/>
              </a:rPr>
              <a:t>”</a:t>
            </a:r>
          </a:p>
          <a:p>
            <a:pPr lvl="1"/>
            <a:r>
              <a:rPr lang="en-US" dirty="0">
                <a:sym typeface="Wingdings" pitchFamily="2" charset="2"/>
              </a:rPr>
              <a:t>This never worked well for other languages</a:t>
            </a:r>
            <a:endParaRPr lang="en-US" dirty="0"/>
          </a:p>
          <a:p>
            <a:pPr lvl="1"/>
            <a:r>
              <a:rPr lang="en-US" dirty="0">
                <a:sym typeface="Wingdings" pitchFamily="2" charset="2"/>
              </a:rPr>
              <a:t>This also leads to many many tokens for English</a:t>
            </a:r>
          </a:p>
          <a:p>
            <a:pPr lvl="1"/>
            <a:r>
              <a:rPr lang="en-US" dirty="0">
                <a:sym typeface="Wingdings" pitchFamily="2" charset="2"/>
              </a:rPr>
              <a:t>In practice you always need an UNK token for words not seen in training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814C0797-C219-8E35-3CA7-7107F08AE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667C43-9A1E-F4FB-27DA-D0A90DDC7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514" y="5319272"/>
            <a:ext cx="3559629" cy="927209"/>
          </a:xfrm>
          <a:prstGeom prst="rect">
            <a:avLst/>
          </a:prstGeom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A5691332-85E7-3E5F-6481-F79459DB3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798" y="1096961"/>
            <a:ext cx="4241800" cy="418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8584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F6841-F073-C69B-456A-D2C7363B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56CD-1759-68B1-6AB5-43A89BC7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DD3F-3AAC-9F6E-C6DD-9855ABBAC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2" y="1257300"/>
            <a:ext cx="4241799" cy="5308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1990’s NLP: English tokenization was spaces and a few special rules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“don’t” </a:t>
            </a:r>
            <a:r>
              <a:rPr lang="en-US" dirty="0">
                <a:sym typeface="Wingdings" pitchFamily="2" charset="2"/>
              </a:rPr>
              <a:t> “do” + “</a:t>
            </a:r>
            <a:r>
              <a:rPr lang="en-US" dirty="0" err="1">
                <a:sym typeface="Wingdings" pitchFamily="2" charset="2"/>
              </a:rPr>
              <a:t>n’t</a:t>
            </a:r>
            <a:r>
              <a:rPr lang="en-US" dirty="0">
                <a:sym typeface="Wingdings" pitchFamily="2" charset="2"/>
              </a:rPr>
              <a:t>”</a:t>
            </a:r>
          </a:p>
          <a:p>
            <a:pPr lvl="1"/>
            <a:r>
              <a:rPr lang="en-US" dirty="0">
                <a:sym typeface="Wingdings" pitchFamily="2" charset="2"/>
              </a:rPr>
              <a:t>This never worked well for other languages</a:t>
            </a:r>
            <a:endParaRPr lang="en-US" dirty="0"/>
          </a:p>
          <a:p>
            <a:pPr lvl="1"/>
            <a:r>
              <a:rPr lang="en-US" dirty="0">
                <a:sym typeface="Wingdings" pitchFamily="2" charset="2"/>
              </a:rPr>
              <a:t>This also leads to many many tokens for English</a:t>
            </a:r>
          </a:p>
          <a:p>
            <a:pPr lvl="1"/>
            <a:r>
              <a:rPr lang="en-US" dirty="0">
                <a:sym typeface="Wingdings" pitchFamily="2" charset="2"/>
              </a:rPr>
              <a:t>In practice you always need an UNK token for words not seen in training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40E0EC73-679C-8AC4-9A06-4CB5020AE3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35D040-667A-CCEB-19B0-A189C919528B}"/>
              </a:ext>
            </a:extLst>
          </p:cNvPr>
          <p:cNvSpPr txBox="1">
            <a:spLocks/>
          </p:cNvSpPr>
          <p:nvPr/>
        </p:nvSpPr>
        <p:spPr>
          <a:xfrm>
            <a:off x="4947557" y="1283267"/>
            <a:ext cx="3753757" cy="429146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UNK token might mean many different things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a new emerging entity/phrase (e.g. LSTM, FAFO, </a:t>
            </a:r>
            <a:r>
              <a:rPr lang="en-US" dirty="0" err="1">
                <a:sym typeface="Wingdings" pitchFamily="2" charset="2"/>
              </a:rPr>
              <a:t>Groq</a:t>
            </a:r>
            <a:r>
              <a:rPr lang="en-US" dirty="0">
                <a:sym typeface="Wingdings" pitchFamily="2" charset="2"/>
              </a:rPr>
              <a:t>, …)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a </a:t>
            </a:r>
            <a:r>
              <a:rPr lang="en-US" dirty="0" err="1">
                <a:sym typeface="Wingdings" pitchFamily="2" charset="2"/>
              </a:rPr>
              <a:t>missspelling</a:t>
            </a:r>
            <a:endParaRPr lang="en-US" dirty="0">
              <a:sym typeface="Wingdings" pitchFamily="2" charset="2"/>
            </a:endParaRPr>
          </a:p>
          <a:p>
            <a:pPr marL="514350" indent="-457200"/>
            <a:r>
              <a:rPr lang="en-US" dirty="0">
                <a:sym typeface="Wingdings" pitchFamily="2" charset="2"/>
              </a:rPr>
              <a:t>a big number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…</a:t>
            </a:r>
          </a:p>
          <a:p>
            <a:pPr marL="57150" indent="0">
              <a:buNone/>
            </a:pPr>
            <a:endParaRPr lang="en-US" dirty="0">
              <a:sym typeface="Wingdings" pitchFamily="2" charset="2"/>
            </a:endParaRPr>
          </a:p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TFIDF suggests rare entity names are </a:t>
            </a:r>
            <a:r>
              <a:rPr lang="en-US" b="1" dirty="0">
                <a:sym typeface="Wingdings" pitchFamily="2" charset="2"/>
              </a:rPr>
              <a:t>important.</a:t>
            </a:r>
          </a:p>
        </p:txBody>
      </p:sp>
    </p:spTree>
    <p:extLst>
      <p:ext uri="{BB962C8B-B14F-4D97-AF65-F5344CB8AC3E}">
        <p14:creationId xmlns:p14="http://schemas.microsoft.com/office/powerpoint/2010/main" val="12701689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E81BA-CE88-848A-08A0-B6B2C0E8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F478-90A5-17B2-5073-344623E03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A7706-0E6E-F022-AC73-14079FFAE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2" y="1257300"/>
            <a:ext cx="4292598" cy="47189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Mid-2000’s: character-level LSTM models and hybrid token-level/character-level models</a:t>
            </a:r>
          </a:p>
          <a:p>
            <a:pPr lvl="1"/>
            <a:r>
              <a:rPr lang="en-US" dirty="0">
                <a:sym typeface="Wingdings" pitchFamily="2" charset="2"/>
              </a:rPr>
              <a:t>But Transformers get very large with longer sequences.</a:t>
            </a:r>
          </a:p>
          <a:p>
            <a:pPr lvl="1"/>
            <a:r>
              <a:rPr lang="en-US" dirty="0">
                <a:sym typeface="Wingdings" pitchFamily="2" charset="2"/>
              </a:rPr>
              <a:t>Also: revival of old 1990’s approaches to compressing text by finding frequent </a:t>
            </a:r>
            <a:r>
              <a:rPr lang="en-US" dirty="0" err="1">
                <a:sym typeface="Wingdings" pitchFamily="2" charset="2"/>
              </a:rPr>
              <a:t>subwords</a:t>
            </a:r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DF038711-2B77-8A0E-BE00-7C5D4B34A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F21E84-14A7-35BD-7CFB-FA95E73E85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53"/>
          <a:stretch/>
        </p:blipFill>
        <p:spPr>
          <a:xfrm>
            <a:off x="5127170" y="1096962"/>
            <a:ext cx="3536949" cy="4444957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1448844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34473-000D-96B5-C55C-4143AEC1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7F91-3F1D-C771-E595-CC0A0E8A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BERT / GPT2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054F7-D540-97FF-A219-6CA86CB03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3" y="1257300"/>
            <a:ext cx="4032248" cy="5308600"/>
          </a:xfrm>
        </p:spPr>
        <p:txBody>
          <a:bodyPr>
            <a:normAutofit/>
          </a:bodyPr>
          <a:lstStyle/>
          <a:p>
            <a:r>
              <a:rPr lang="en-US" dirty="0"/>
              <a:t>Idea: reduce the number of tokens by finding meaningful </a:t>
            </a:r>
            <a:r>
              <a:rPr lang="en-US" b="1" dirty="0" err="1"/>
              <a:t>subwords</a:t>
            </a:r>
            <a:endParaRPr lang="en-US" b="1" dirty="0"/>
          </a:p>
          <a:p>
            <a:r>
              <a:rPr lang="en-US" dirty="0">
                <a:sym typeface="Wingdings" pitchFamily="2" charset="2"/>
              </a:rPr>
              <a:t>Simplest version of this is Byte Pair Encoding (BPE)</a:t>
            </a:r>
          </a:p>
          <a:p>
            <a:r>
              <a:rPr lang="en-US" dirty="0">
                <a:sym typeface="Wingdings" pitchFamily="2" charset="2"/>
              </a:rPr>
              <a:t>BERT used a variant called </a:t>
            </a:r>
            <a:r>
              <a:rPr lang="en-US" b="1" dirty="0" err="1">
                <a:sym typeface="Wingdings" pitchFamily="2" charset="2"/>
              </a:rPr>
              <a:t>wordpieces</a:t>
            </a:r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4720724E-2FEE-6684-7B9A-C79EA06CCC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904744-208F-4E64-50F7-D5AB0A891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350" y="1096962"/>
            <a:ext cx="3808782" cy="568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746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3092-9F2F-6A36-BF95-9B853EA01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ED51-D097-4CBD-5BC8-26FFF8880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BERT / GPT2: BPE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825E2B4E-1C57-A364-9D84-2560F13B7B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CDC5EAE-BBE4-CFA1-1B97-8804DEF0AB03}"/>
              </a:ext>
            </a:extLst>
          </p:cNvPr>
          <p:cNvSpPr txBox="1">
            <a:spLocks/>
          </p:cNvSpPr>
          <p:nvPr/>
        </p:nvSpPr>
        <p:spPr>
          <a:xfrm>
            <a:off x="279401" y="1283268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Step 1: Find all tokens in the corpus and save their frequency.</a:t>
            </a:r>
            <a:endParaRPr lang="en-US" b="1" dirty="0">
              <a:sym typeface="Wingdings" pitchFamily="2" charset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2D371-A551-85FD-4FF0-A5F5453B2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1" y="1905844"/>
            <a:ext cx="7632700" cy="66040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68199A0-B065-4A49-4EBC-C6595032112E}"/>
              </a:ext>
            </a:extLst>
          </p:cNvPr>
          <p:cNvSpPr txBox="1">
            <a:spLocks/>
          </p:cNvSpPr>
          <p:nvPr/>
        </p:nvSpPr>
        <p:spPr>
          <a:xfrm>
            <a:off x="279400" y="2750806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2: Break all the tokens into </a:t>
            </a:r>
            <a:r>
              <a:rPr lang="en-US" sz="2200" b="1" dirty="0">
                <a:sym typeface="Wingdings" pitchFamily="2" charset="2"/>
              </a:rPr>
              <a:t>characters</a:t>
            </a:r>
            <a:r>
              <a:rPr lang="en-US" sz="2200" dirty="0">
                <a:sym typeface="Wingdings" pitchFamily="2" charset="2"/>
              </a:rPr>
              <a:t> (the initial vocabulary)</a:t>
            </a:r>
            <a:endParaRPr lang="en-US" sz="2200" b="1" dirty="0">
              <a:sym typeface="Wingdings" pitchFamily="2" charset="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E53C7E-99E0-95D7-0D92-2477CB0DFB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55" t="20810" b="21302"/>
          <a:stretch/>
        </p:blipFill>
        <p:spPr>
          <a:xfrm>
            <a:off x="326568" y="3417323"/>
            <a:ext cx="11664950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DF6DABB-3D4E-B4A1-78B1-BE69D43F038C}"/>
              </a:ext>
            </a:extLst>
          </p:cNvPr>
          <p:cNvSpPr txBox="1">
            <a:spLocks/>
          </p:cNvSpPr>
          <p:nvPr/>
        </p:nvSpPr>
        <p:spPr>
          <a:xfrm>
            <a:off x="326568" y="4135391"/>
            <a:ext cx="7632700" cy="16441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3: Repeat for </a:t>
            </a:r>
            <a:r>
              <a:rPr lang="en-US" sz="2200" dirty="0" err="1">
                <a:sym typeface="Wingdings" pitchFamily="2" charset="2"/>
              </a:rPr>
              <a:t>i</a:t>
            </a:r>
            <a:r>
              <a:rPr lang="en-US" sz="2200" dirty="0">
                <a:sym typeface="Wingdings" pitchFamily="2" charset="2"/>
              </a:rPr>
              <a:t> = 1, … </a:t>
            </a:r>
            <a:r>
              <a:rPr lang="en-US" sz="2200" dirty="0" err="1">
                <a:sym typeface="Wingdings" pitchFamily="2" charset="2"/>
              </a:rPr>
              <a:t>max_merges</a:t>
            </a:r>
            <a:r>
              <a:rPr lang="en-US" sz="2200" dirty="0">
                <a:sym typeface="Wingdings" pitchFamily="2" charset="2"/>
              </a:rPr>
              <a:t>: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Find the ordered pair that occurs most frequently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Add that pair to the vocabulary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Replace that pair with the new word everywhere</a:t>
            </a:r>
          </a:p>
          <a:p>
            <a:pPr marL="57150" indent="0">
              <a:buNone/>
            </a:pPr>
            <a:endParaRPr lang="en-US" sz="2200" b="1" dirty="0">
              <a:sym typeface="Wingdings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FC448-3AB2-397E-E348-607D9913B361}"/>
              </a:ext>
            </a:extLst>
          </p:cNvPr>
          <p:cNvSpPr txBox="1"/>
          <p:nvPr/>
        </p:nvSpPr>
        <p:spPr>
          <a:xfrm>
            <a:off x="6760028" y="4541970"/>
            <a:ext cx="1714500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u,g</a:t>
            </a:r>
            <a:r>
              <a:rPr lang="en-US" dirty="0"/>
              <a:t> occurs 20x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003BB8-AAB8-899B-F1FE-B95DB1778022}"/>
              </a:ext>
            </a:extLst>
          </p:cNvPr>
          <p:cNvSpPr txBox="1"/>
          <p:nvPr/>
        </p:nvSpPr>
        <p:spPr>
          <a:xfrm>
            <a:off x="6569528" y="4911302"/>
            <a:ext cx="2574472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“ug” is a new </a:t>
            </a:r>
            <a:r>
              <a:rPr lang="en-US" dirty="0" err="1"/>
              <a:t>subword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2808D2-C42F-181B-5423-49D78780AE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567" y="6072894"/>
            <a:ext cx="10776919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0A6C6F35-81E0-4C13-9340-E59C1CD5EE70}"/>
              </a:ext>
            </a:extLst>
          </p:cNvPr>
          <p:cNvSpPr/>
          <p:nvPr/>
        </p:nvSpPr>
        <p:spPr>
          <a:xfrm>
            <a:off x="5078186" y="3959834"/>
            <a:ext cx="489857" cy="211306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22D392E-53CB-A1E1-9686-DEB5FEB96DA8}"/>
              </a:ext>
            </a:extLst>
          </p:cNvPr>
          <p:cNvSpPr/>
          <p:nvPr/>
        </p:nvSpPr>
        <p:spPr>
          <a:xfrm>
            <a:off x="3233057" y="4153633"/>
            <a:ext cx="2188029" cy="43123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4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D4AC1-A555-55C4-90F7-8C05E289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CF913-6B45-BB2B-2913-D848C38C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BERT / GPT2: BPE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07E057BC-BC23-575B-220B-1A8579AE9A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1C2CB2C-7FDD-7E9F-810F-AFD3CB3C250E}"/>
              </a:ext>
            </a:extLst>
          </p:cNvPr>
          <p:cNvSpPr txBox="1">
            <a:spLocks/>
          </p:cNvSpPr>
          <p:nvPr/>
        </p:nvSpPr>
        <p:spPr>
          <a:xfrm>
            <a:off x="279401" y="1220241"/>
            <a:ext cx="7632700" cy="16441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3: Repeat for </a:t>
            </a:r>
            <a:r>
              <a:rPr lang="en-US" sz="2200" dirty="0" err="1">
                <a:sym typeface="Wingdings" pitchFamily="2" charset="2"/>
              </a:rPr>
              <a:t>i</a:t>
            </a:r>
            <a:r>
              <a:rPr lang="en-US" sz="2200" dirty="0">
                <a:sym typeface="Wingdings" pitchFamily="2" charset="2"/>
              </a:rPr>
              <a:t> = 1, … </a:t>
            </a:r>
            <a:r>
              <a:rPr lang="en-US" sz="2200" dirty="0" err="1">
                <a:sym typeface="Wingdings" pitchFamily="2" charset="2"/>
              </a:rPr>
              <a:t>max_merges</a:t>
            </a:r>
            <a:r>
              <a:rPr lang="en-US" sz="2200" dirty="0">
                <a:sym typeface="Wingdings" pitchFamily="2" charset="2"/>
              </a:rPr>
              <a:t>: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Find the ordered pair that occurs most frequently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Add that pair to the vocabulary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Replace that pair with the new word everywhere</a:t>
            </a:r>
          </a:p>
          <a:p>
            <a:pPr marL="57150" indent="0">
              <a:buNone/>
            </a:pPr>
            <a:endParaRPr lang="en-US" sz="2200" b="1" dirty="0">
              <a:sym typeface="Wingdings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8C988-A08F-7354-4FD7-D24D905318DD}"/>
              </a:ext>
            </a:extLst>
          </p:cNvPr>
          <p:cNvSpPr txBox="1"/>
          <p:nvPr/>
        </p:nvSpPr>
        <p:spPr>
          <a:xfrm>
            <a:off x="6712861" y="1708464"/>
            <a:ext cx="1714500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u,n</a:t>
            </a:r>
            <a:r>
              <a:rPr lang="en-US" dirty="0"/>
              <a:t> occurs 16x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54FCD6-117A-BC58-7891-DC9F04AC134B}"/>
              </a:ext>
            </a:extLst>
          </p:cNvPr>
          <p:cNvSpPr txBox="1"/>
          <p:nvPr/>
        </p:nvSpPr>
        <p:spPr>
          <a:xfrm>
            <a:off x="6353628" y="2091229"/>
            <a:ext cx="2574472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“un” is a new </a:t>
            </a:r>
            <a:r>
              <a:rPr lang="en-US" dirty="0" err="1"/>
              <a:t>subword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DA82BE-E2E9-1400-5E1A-E3684C9EE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3157744"/>
            <a:ext cx="10776919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6C615C-00E9-B99D-529E-DFC2C1724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4490365"/>
            <a:ext cx="8666617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34BD3434-C179-D147-7FF5-1895723B40E0}"/>
              </a:ext>
            </a:extLst>
          </p:cNvPr>
          <p:cNvSpPr/>
          <p:nvPr/>
        </p:nvSpPr>
        <p:spPr>
          <a:xfrm>
            <a:off x="4572000" y="3698585"/>
            <a:ext cx="408214" cy="79178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2A804-8A51-1D11-3D4E-EC4F60764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BA5F-A21B-9A50-FB19-DB41FBE0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BERT / GPT2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5CB2-91FB-AE38-94FF-31A79B49B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3" y="1257301"/>
            <a:ext cx="3989840" cy="3669874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ym typeface="Wingdings" pitchFamily="2" charset="2"/>
              </a:rPr>
              <a:t>BPE is simple and very efficient when you apply it </a:t>
            </a:r>
            <a:r>
              <a:rPr lang="en-US" i="1" dirty="0">
                <a:sym typeface="Wingdings" pitchFamily="2" charset="2"/>
              </a:rPr>
              <a:t>reduce </a:t>
            </a:r>
            <a:r>
              <a:rPr lang="en-US" dirty="0">
                <a:sym typeface="Wingdings" pitchFamily="2" charset="2"/>
              </a:rPr>
              <a:t>the number of tokens</a:t>
            </a:r>
          </a:p>
          <a:p>
            <a:pPr lvl="1"/>
            <a:r>
              <a:rPr lang="en-US" dirty="0">
                <a:sym typeface="Wingdings" pitchFamily="2" charset="2"/>
              </a:rPr>
              <a:t>use a </a:t>
            </a:r>
            <a:r>
              <a:rPr lang="en-US" b="1" dirty="0" err="1">
                <a:sym typeface="Wingdings" pitchFamily="2" charset="2"/>
              </a:rPr>
              <a:t>trie</a:t>
            </a:r>
            <a:r>
              <a:rPr lang="en-US" dirty="0">
                <a:sym typeface="Wingdings" pitchFamily="2" charset="2"/>
              </a:rPr>
              <a:t> to store the weighted corpus and update all the counts incrementally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D770F0C5-BFBF-F8AB-1202-2DDE4FC01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A31CD6-B8C1-6EA8-C283-28A3BFF1BDBA}"/>
              </a:ext>
            </a:extLst>
          </p:cNvPr>
          <p:cNvSpPr txBox="1"/>
          <p:nvPr/>
        </p:nvSpPr>
        <p:spPr>
          <a:xfrm>
            <a:off x="6613071" y="1518557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&lt;s&gt;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F26834-4988-AE71-FDE1-C7CC890FA6D1}"/>
              </a:ext>
            </a:extLst>
          </p:cNvPr>
          <p:cNvSpPr txBox="1"/>
          <p:nvPr/>
        </p:nvSpPr>
        <p:spPr>
          <a:xfrm>
            <a:off x="6079671" y="235342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4EABE-A7C9-3581-2805-020B5EC3018E}"/>
              </a:ext>
            </a:extLst>
          </p:cNvPr>
          <p:cNvSpPr txBox="1"/>
          <p:nvPr/>
        </p:nvSpPr>
        <p:spPr>
          <a:xfrm>
            <a:off x="7234010" y="235342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72E9D-36C2-751B-0A0A-793181081CDF}"/>
              </a:ext>
            </a:extLst>
          </p:cNvPr>
          <p:cNvSpPr txBox="1"/>
          <p:nvPr/>
        </p:nvSpPr>
        <p:spPr>
          <a:xfrm>
            <a:off x="6079671" y="3144347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DD461-5EA2-F634-361D-9F2E666CC3E2}"/>
              </a:ext>
            </a:extLst>
          </p:cNvPr>
          <p:cNvSpPr txBox="1"/>
          <p:nvPr/>
        </p:nvSpPr>
        <p:spPr>
          <a:xfrm>
            <a:off x="7234010" y="3144347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5F4C50-E382-8495-2FE2-2537EF17B42A}"/>
              </a:ext>
            </a:extLst>
          </p:cNvPr>
          <p:cNvSpPr txBox="1"/>
          <p:nvPr/>
        </p:nvSpPr>
        <p:spPr>
          <a:xfrm>
            <a:off x="6079671" y="392132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4A6CA-6A7C-8368-3FE2-8E7F6FDC4B46}"/>
              </a:ext>
            </a:extLst>
          </p:cNvPr>
          <p:cNvSpPr txBox="1"/>
          <p:nvPr/>
        </p:nvSpPr>
        <p:spPr>
          <a:xfrm>
            <a:off x="6948260" y="3935274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7ED034-81E8-3877-AD0D-99DA11B37C42}"/>
              </a:ext>
            </a:extLst>
          </p:cNvPr>
          <p:cNvSpPr txBox="1"/>
          <p:nvPr/>
        </p:nvSpPr>
        <p:spPr>
          <a:xfrm>
            <a:off x="7653110" y="3935274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B78027-16E2-7E36-2108-F05E1B8EED63}"/>
              </a:ext>
            </a:extLst>
          </p:cNvPr>
          <p:cNvSpPr txBox="1"/>
          <p:nvPr/>
        </p:nvSpPr>
        <p:spPr>
          <a:xfrm>
            <a:off x="5535159" y="4727979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EBCEEE-1404-059D-7C6E-FDF870EFF622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6289221" y="1887889"/>
            <a:ext cx="609600" cy="465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8CD9D0-CB7B-D73A-80A2-6A06AF6A8BB5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6898821" y="1887889"/>
            <a:ext cx="544739" cy="465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8B97A7-0A90-E609-FCC0-4ED874858C0C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289221" y="2736706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4E2B9C-5CC5-E5A4-B107-4335A31D377E}"/>
              </a:ext>
            </a:extLst>
          </p:cNvPr>
          <p:cNvCxnSpPr>
            <a:cxnSpLocks/>
          </p:cNvCxnSpPr>
          <p:nvPr/>
        </p:nvCxnSpPr>
        <p:spPr>
          <a:xfrm>
            <a:off x="7440839" y="2736706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EED07A5-D4F1-F1AC-5767-9FC3B193EEEC}"/>
              </a:ext>
            </a:extLst>
          </p:cNvPr>
          <p:cNvCxnSpPr>
            <a:cxnSpLocks/>
          </p:cNvCxnSpPr>
          <p:nvPr/>
        </p:nvCxnSpPr>
        <p:spPr>
          <a:xfrm>
            <a:off x="6289221" y="3513679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88F257-C482-D44E-C845-605C3E7B41F0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157810" y="3513679"/>
            <a:ext cx="283029" cy="421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4378EC-74CC-B7D7-1755-C6210E8B09FD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440839" y="3513679"/>
            <a:ext cx="421821" cy="421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FBCF3A-23C2-C4D3-1047-F1CDAB04E3A7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5744709" y="4304606"/>
            <a:ext cx="552676" cy="423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B0E3C54-4CCE-9CB3-AEE6-07037047E010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6318476" y="4325538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697CFDC-094B-7F2F-FF04-9073C9DEE6A4}"/>
              </a:ext>
            </a:extLst>
          </p:cNvPr>
          <p:cNvSpPr txBox="1"/>
          <p:nvPr/>
        </p:nvSpPr>
        <p:spPr>
          <a:xfrm>
            <a:off x="6254295" y="4741933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39103E-814F-5AF4-E9C1-4DCCEDE0684C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7157810" y="4319011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4177E67-DC75-788B-8D29-81336ECC7FAC}"/>
              </a:ext>
            </a:extLst>
          </p:cNvPr>
          <p:cNvSpPr txBox="1"/>
          <p:nvPr/>
        </p:nvSpPr>
        <p:spPr>
          <a:xfrm>
            <a:off x="7093629" y="4735406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8DA6A1-AFDC-37F8-1833-F6EBDDD80988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7896903" y="4319011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9036E6A-4680-6DFC-D46D-11F55C57DB56}"/>
              </a:ext>
            </a:extLst>
          </p:cNvPr>
          <p:cNvSpPr txBox="1"/>
          <p:nvPr/>
        </p:nvSpPr>
        <p:spPr>
          <a:xfrm>
            <a:off x="7832722" y="4735406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993EB9-E3B6-C6A6-2B44-D176AD13F709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5732690" y="5114527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9DB1413-F628-4481-0F19-6AD5B551E54A}"/>
              </a:ext>
            </a:extLst>
          </p:cNvPr>
          <p:cNvSpPr txBox="1"/>
          <p:nvPr/>
        </p:nvSpPr>
        <p:spPr>
          <a:xfrm>
            <a:off x="5668509" y="5530922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D8F664-8C7F-EE00-47B4-9476921EAD84}"/>
              </a:ext>
            </a:extLst>
          </p:cNvPr>
          <p:cNvSpPr txBox="1"/>
          <p:nvPr/>
        </p:nvSpPr>
        <p:spPr>
          <a:xfrm>
            <a:off x="8092164" y="235435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2C9A21F-8BC8-98CA-29CF-77B0D663B52D}"/>
              </a:ext>
            </a:extLst>
          </p:cNvPr>
          <p:cNvCxnSpPr>
            <a:cxnSpLocks/>
            <a:stCxn id="5" idx="2"/>
            <a:endCxn id="40" idx="0"/>
          </p:cNvCxnSpPr>
          <p:nvPr/>
        </p:nvCxnSpPr>
        <p:spPr>
          <a:xfrm>
            <a:off x="6898821" y="1887889"/>
            <a:ext cx="1402893" cy="466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1233CD3-643D-0EC4-553B-EB54814D7E93}"/>
              </a:ext>
            </a:extLst>
          </p:cNvPr>
          <p:cNvSpPr txBox="1"/>
          <p:nvPr/>
        </p:nvSpPr>
        <p:spPr>
          <a:xfrm>
            <a:off x="8145689" y="3154482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D4C41E-01DA-6037-B0F6-FC46711B547C}"/>
              </a:ext>
            </a:extLst>
          </p:cNvPr>
          <p:cNvSpPr txBox="1"/>
          <p:nvPr/>
        </p:nvSpPr>
        <p:spPr>
          <a:xfrm>
            <a:off x="8455483" y="3911600"/>
            <a:ext cx="36557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87DC060-1D9D-632B-F4B5-8634C6007943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8355239" y="2746841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9929DCA-D738-679A-2CD0-BF5E880C7ED1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8355239" y="3523814"/>
            <a:ext cx="283030" cy="38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3F7B54A-70D3-9259-F116-A4DF79C3D621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8615360" y="4325538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679CB38-E91F-A976-C432-7C25E7C37554}"/>
              </a:ext>
            </a:extLst>
          </p:cNvPr>
          <p:cNvSpPr txBox="1"/>
          <p:nvPr/>
        </p:nvSpPr>
        <p:spPr>
          <a:xfrm>
            <a:off x="8551179" y="4741933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17D281-2070-D9F3-A167-D8336379990C}"/>
              </a:ext>
            </a:extLst>
          </p:cNvPr>
          <p:cNvSpPr txBox="1"/>
          <p:nvPr/>
        </p:nvSpPr>
        <p:spPr>
          <a:xfrm>
            <a:off x="5668509" y="6041571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2964B2-6DFC-9057-6C17-B1A57166133A}"/>
              </a:ext>
            </a:extLst>
          </p:cNvPr>
          <p:cNvSpPr txBox="1"/>
          <p:nvPr/>
        </p:nvSpPr>
        <p:spPr>
          <a:xfrm>
            <a:off x="6240461" y="525174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03CB8B-C032-AE9D-C1D3-8898D0F44021}"/>
              </a:ext>
            </a:extLst>
          </p:cNvPr>
          <p:cNvSpPr txBox="1"/>
          <p:nvPr/>
        </p:nvSpPr>
        <p:spPr>
          <a:xfrm>
            <a:off x="7806870" y="520650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500D86-C697-E0AB-E9FB-65832AA8B6B8}"/>
              </a:ext>
            </a:extLst>
          </p:cNvPr>
          <p:cNvSpPr txBox="1"/>
          <p:nvPr/>
        </p:nvSpPr>
        <p:spPr>
          <a:xfrm>
            <a:off x="6988968" y="524711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0421D7-28AA-B366-AF6B-78CEBC6F8D5E}"/>
              </a:ext>
            </a:extLst>
          </p:cNvPr>
          <p:cNvSpPr txBox="1"/>
          <p:nvPr/>
        </p:nvSpPr>
        <p:spPr>
          <a:xfrm>
            <a:off x="8496754" y="5214799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1D7B90-6702-DDDF-E7D9-192689553CAA}"/>
              </a:ext>
            </a:extLst>
          </p:cNvPr>
          <p:cNvSpPr txBox="1"/>
          <p:nvPr/>
        </p:nvSpPr>
        <p:spPr>
          <a:xfrm>
            <a:off x="5472904" y="3918207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4CA502-511D-E8F9-6601-6AC0E179DF0D}"/>
              </a:ext>
            </a:extLst>
          </p:cNvPr>
          <p:cNvSpPr txBox="1"/>
          <p:nvPr/>
        </p:nvSpPr>
        <p:spPr>
          <a:xfrm>
            <a:off x="6684054" y="3123788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D3547D-D7DE-6F6D-5FBA-1C6FBEE152F7}"/>
              </a:ext>
            </a:extLst>
          </p:cNvPr>
          <p:cNvSpPr txBox="1"/>
          <p:nvPr/>
        </p:nvSpPr>
        <p:spPr>
          <a:xfrm>
            <a:off x="5431067" y="2322017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C88744-7BD4-B381-4C18-682ED332F454}"/>
              </a:ext>
            </a:extLst>
          </p:cNvPr>
          <p:cNvSpPr txBox="1"/>
          <p:nvPr/>
        </p:nvSpPr>
        <p:spPr>
          <a:xfrm>
            <a:off x="6652533" y="237759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C160F5-1B21-D4B6-845C-8854D31F4661}"/>
              </a:ext>
            </a:extLst>
          </p:cNvPr>
          <p:cNvSpPr txBox="1"/>
          <p:nvPr/>
        </p:nvSpPr>
        <p:spPr>
          <a:xfrm>
            <a:off x="8424862" y="236064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BAAC95-34C0-E6FE-E673-C5CC193DA136}"/>
              </a:ext>
            </a:extLst>
          </p:cNvPr>
          <p:cNvSpPr txBox="1"/>
          <p:nvPr/>
        </p:nvSpPr>
        <p:spPr>
          <a:xfrm>
            <a:off x="5013665" y="4741933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4B126B-FA81-1B28-39D7-C55AFAED6BD2}"/>
              </a:ext>
            </a:extLst>
          </p:cNvPr>
          <p:cNvSpPr txBox="1"/>
          <p:nvPr/>
        </p:nvSpPr>
        <p:spPr>
          <a:xfrm>
            <a:off x="5420859" y="3111848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8AED14-C8A8-BF66-F358-E43CFDFE133C}"/>
              </a:ext>
            </a:extLst>
          </p:cNvPr>
          <p:cNvSpPr txBox="1"/>
          <p:nvPr/>
        </p:nvSpPr>
        <p:spPr>
          <a:xfrm>
            <a:off x="6493105" y="397921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EEFFA4-B4BB-2890-E84A-7F5B70D1A032}"/>
              </a:ext>
            </a:extLst>
          </p:cNvPr>
          <p:cNvSpPr txBox="1"/>
          <p:nvPr/>
        </p:nvSpPr>
        <p:spPr>
          <a:xfrm>
            <a:off x="8526573" y="3149723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308870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D184B-FED8-351F-277D-687568D60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2ACB-F0D0-60EE-5F42-ABDE3E0F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BERT / GPT2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356FC-3A4D-C596-86DC-0A24C5897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2" y="1257301"/>
            <a:ext cx="4074885" cy="489668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ym typeface="Wingdings" pitchFamily="2" charset="2"/>
              </a:rPr>
              <a:t>BPE is simple and very efficient when you apply it </a:t>
            </a:r>
            <a:r>
              <a:rPr lang="en-US" i="1" dirty="0">
                <a:sym typeface="Wingdings" pitchFamily="2" charset="2"/>
              </a:rPr>
              <a:t>reduce </a:t>
            </a:r>
            <a:r>
              <a:rPr lang="en-US" dirty="0">
                <a:sym typeface="Wingdings" pitchFamily="2" charset="2"/>
              </a:rPr>
              <a:t>the number of tokens</a:t>
            </a:r>
          </a:p>
          <a:p>
            <a:pPr lvl="1"/>
            <a:r>
              <a:rPr lang="en-US" dirty="0">
                <a:sym typeface="Wingdings" pitchFamily="2" charset="2"/>
              </a:rPr>
              <a:t>use a </a:t>
            </a:r>
            <a:r>
              <a:rPr lang="en-US" b="1" dirty="0" err="1">
                <a:sym typeface="Wingdings" pitchFamily="2" charset="2"/>
              </a:rPr>
              <a:t>trie</a:t>
            </a:r>
            <a:r>
              <a:rPr lang="en-US" dirty="0">
                <a:sym typeface="Wingdings" pitchFamily="2" charset="2"/>
              </a:rPr>
              <a:t> to store the weighted corpus and update all the counts incrementally</a:t>
            </a:r>
          </a:p>
          <a:p>
            <a:r>
              <a:rPr lang="en-US" dirty="0">
                <a:sym typeface="Wingdings" pitchFamily="2" charset="2"/>
              </a:rPr>
              <a:t>The </a:t>
            </a:r>
            <a:r>
              <a:rPr lang="en-US" dirty="0" err="1">
                <a:sym typeface="Wingdings" pitchFamily="2" charset="2"/>
              </a:rPr>
              <a:t>trie</a:t>
            </a:r>
            <a:r>
              <a:rPr lang="en-US" dirty="0">
                <a:sym typeface="Wingdings" pitchFamily="2" charset="2"/>
              </a:rPr>
              <a:t> of tokens is much </a:t>
            </a:r>
            <a:r>
              <a:rPr lang="en-US" b="1" dirty="0">
                <a:sym typeface="Wingdings" pitchFamily="2" charset="2"/>
              </a:rPr>
              <a:t>smaller</a:t>
            </a:r>
            <a:r>
              <a:rPr lang="en-US" dirty="0">
                <a:sym typeface="Wingdings" pitchFamily="2" charset="2"/>
              </a:rPr>
              <a:t> than the full corpus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33E8CB4C-CDEA-9031-012C-4EB5A399E1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1CA84D-511A-8DE6-173E-ED89A5B910B3}"/>
              </a:ext>
            </a:extLst>
          </p:cNvPr>
          <p:cNvSpPr txBox="1"/>
          <p:nvPr/>
        </p:nvSpPr>
        <p:spPr>
          <a:xfrm>
            <a:off x="6613071" y="1518557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&lt;s&gt;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94625E-108A-F7BA-4A14-C457790C327A}"/>
              </a:ext>
            </a:extLst>
          </p:cNvPr>
          <p:cNvSpPr txBox="1"/>
          <p:nvPr/>
        </p:nvSpPr>
        <p:spPr>
          <a:xfrm>
            <a:off x="6079671" y="235342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018D5-2620-68C4-CCB5-265B33FDFC4F}"/>
              </a:ext>
            </a:extLst>
          </p:cNvPr>
          <p:cNvSpPr txBox="1"/>
          <p:nvPr/>
        </p:nvSpPr>
        <p:spPr>
          <a:xfrm>
            <a:off x="7234010" y="235342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03A54-664D-3EC2-D4AE-E00BFFA142DF}"/>
              </a:ext>
            </a:extLst>
          </p:cNvPr>
          <p:cNvSpPr txBox="1"/>
          <p:nvPr/>
        </p:nvSpPr>
        <p:spPr>
          <a:xfrm>
            <a:off x="7234010" y="3144347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E143C9-C956-FCB6-DC22-85A500F4D358}"/>
              </a:ext>
            </a:extLst>
          </p:cNvPr>
          <p:cNvSpPr txBox="1"/>
          <p:nvPr/>
        </p:nvSpPr>
        <p:spPr>
          <a:xfrm>
            <a:off x="5996217" y="3921320"/>
            <a:ext cx="502554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D125E-E65F-9FE3-1347-9068E7D5C26A}"/>
              </a:ext>
            </a:extLst>
          </p:cNvPr>
          <p:cNvSpPr txBox="1"/>
          <p:nvPr/>
        </p:nvSpPr>
        <p:spPr>
          <a:xfrm>
            <a:off x="6877502" y="3948809"/>
            <a:ext cx="57150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25186-36FA-3C8D-3EE4-056638DE00A9}"/>
              </a:ext>
            </a:extLst>
          </p:cNvPr>
          <p:cNvSpPr txBox="1"/>
          <p:nvPr/>
        </p:nvSpPr>
        <p:spPr>
          <a:xfrm>
            <a:off x="7653110" y="3935274"/>
            <a:ext cx="51480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232375-8BEF-9BDB-A1AB-7078B9EF14EA}"/>
              </a:ext>
            </a:extLst>
          </p:cNvPr>
          <p:cNvSpPr txBox="1"/>
          <p:nvPr/>
        </p:nvSpPr>
        <p:spPr>
          <a:xfrm>
            <a:off x="5535159" y="4727979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1E6621-CD34-405C-A5E9-A7DDC36CE32E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6289221" y="1887889"/>
            <a:ext cx="609600" cy="465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537B15-6081-6814-7778-9711F8169098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6898821" y="1887889"/>
            <a:ext cx="544739" cy="465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C8600A-9960-7411-FC86-46C6528C997B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247494" y="2736706"/>
            <a:ext cx="41727" cy="1184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F3B930-C5A3-57DD-CCA1-FDFF74CD4E1C}"/>
              </a:ext>
            </a:extLst>
          </p:cNvPr>
          <p:cNvCxnSpPr>
            <a:cxnSpLocks/>
          </p:cNvCxnSpPr>
          <p:nvPr/>
        </p:nvCxnSpPr>
        <p:spPr>
          <a:xfrm>
            <a:off x="7440839" y="2736706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F817FE-E5D5-6E27-B87F-77EC2EF59BF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536545" y="3513679"/>
            <a:ext cx="373968" cy="421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DCD5EA-E000-032A-8430-17A47A09653B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5744709" y="4304606"/>
            <a:ext cx="552676" cy="423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8628BE-9FA9-503D-CFA0-C03F4D798742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6318476" y="4325538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6B5EA58-A5C0-3A7C-058B-48896973AE7E}"/>
              </a:ext>
            </a:extLst>
          </p:cNvPr>
          <p:cNvSpPr txBox="1"/>
          <p:nvPr/>
        </p:nvSpPr>
        <p:spPr>
          <a:xfrm>
            <a:off x="6254295" y="4741933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9F9D5E-C67E-4053-8759-31707C208759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7157810" y="4319011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0EEE1E9-9B13-05BA-1538-67102860641B}"/>
              </a:ext>
            </a:extLst>
          </p:cNvPr>
          <p:cNvSpPr txBox="1"/>
          <p:nvPr/>
        </p:nvSpPr>
        <p:spPr>
          <a:xfrm>
            <a:off x="7093629" y="4735406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D1B7B40-D2B2-D4A6-34DF-2184F547C86A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7896903" y="4319011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70888FC-8BC3-2127-7133-A4E2905EEA05}"/>
              </a:ext>
            </a:extLst>
          </p:cNvPr>
          <p:cNvSpPr txBox="1"/>
          <p:nvPr/>
        </p:nvSpPr>
        <p:spPr>
          <a:xfrm>
            <a:off x="7832722" y="4735406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4210AB9-50BD-316B-401C-AFD5D8D05A27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5732690" y="5114527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1CD64D4-1988-DD76-ED9D-ACD432E72119}"/>
              </a:ext>
            </a:extLst>
          </p:cNvPr>
          <p:cNvSpPr txBox="1"/>
          <p:nvPr/>
        </p:nvSpPr>
        <p:spPr>
          <a:xfrm>
            <a:off x="5668509" y="5530922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E87697-9811-4535-2ECA-E8501E22AB36}"/>
              </a:ext>
            </a:extLst>
          </p:cNvPr>
          <p:cNvSpPr txBox="1"/>
          <p:nvPr/>
        </p:nvSpPr>
        <p:spPr>
          <a:xfrm>
            <a:off x="8092164" y="235435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7EF97BB-9D5B-8DAE-B6B7-5B33FDCB1422}"/>
              </a:ext>
            </a:extLst>
          </p:cNvPr>
          <p:cNvCxnSpPr>
            <a:cxnSpLocks/>
            <a:stCxn id="5" idx="2"/>
            <a:endCxn id="40" idx="0"/>
          </p:cNvCxnSpPr>
          <p:nvPr/>
        </p:nvCxnSpPr>
        <p:spPr>
          <a:xfrm>
            <a:off x="6898821" y="1887889"/>
            <a:ext cx="1402893" cy="466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00D0062-6A97-301A-B6D1-E0C7485FA656}"/>
              </a:ext>
            </a:extLst>
          </p:cNvPr>
          <p:cNvSpPr txBox="1"/>
          <p:nvPr/>
        </p:nvSpPr>
        <p:spPr>
          <a:xfrm>
            <a:off x="8145689" y="3154482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081CA8-238D-7037-8269-78E15E05611A}"/>
              </a:ext>
            </a:extLst>
          </p:cNvPr>
          <p:cNvSpPr txBox="1"/>
          <p:nvPr/>
        </p:nvSpPr>
        <p:spPr>
          <a:xfrm>
            <a:off x="8455483" y="3911600"/>
            <a:ext cx="36557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116154-C208-3EB3-3933-275930FD235A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8355239" y="2746841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658F280-E052-2F3D-E8AB-FDF89BCA53A3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8355239" y="3523814"/>
            <a:ext cx="283030" cy="38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661853C-B0B4-056A-AEA5-FCCDE30EA671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8615360" y="4325538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5F4FE15-9012-E397-2293-E108189B320A}"/>
              </a:ext>
            </a:extLst>
          </p:cNvPr>
          <p:cNvSpPr txBox="1"/>
          <p:nvPr/>
        </p:nvSpPr>
        <p:spPr>
          <a:xfrm>
            <a:off x="8551179" y="4741933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F12B84-8724-0D1B-19A1-B4BEC97F3F66}"/>
              </a:ext>
            </a:extLst>
          </p:cNvPr>
          <p:cNvSpPr txBox="1"/>
          <p:nvPr/>
        </p:nvSpPr>
        <p:spPr>
          <a:xfrm>
            <a:off x="5668509" y="6041571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BC714C-9A51-71D8-81D4-0629C2AA27C1}"/>
              </a:ext>
            </a:extLst>
          </p:cNvPr>
          <p:cNvSpPr txBox="1"/>
          <p:nvPr/>
        </p:nvSpPr>
        <p:spPr>
          <a:xfrm>
            <a:off x="6240461" y="525174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648E38-F76B-E805-716D-1ED97B6B668C}"/>
              </a:ext>
            </a:extLst>
          </p:cNvPr>
          <p:cNvSpPr txBox="1"/>
          <p:nvPr/>
        </p:nvSpPr>
        <p:spPr>
          <a:xfrm>
            <a:off x="7806870" y="520650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8DDE04-F56C-37CE-284E-6BEC0DACE489}"/>
              </a:ext>
            </a:extLst>
          </p:cNvPr>
          <p:cNvSpPr txBox="1"/>
          <p:nvPr/>
        </p:nvSpPr>
        <p:spPr>
          <a:xfrm>
            <a:off x="6988968" y="524711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2ACE9C-9B45-5143-3AA2-27F62875B191}"/>
              </a:ext>
            </a:extLst>
          </p:cNvPr>
          <p:cNvSpPr txBox="1"/>
          <p:nvPr/>
        </p:nvSpPr>
        <p:spPr>
          <a:xfrm>
            <a:off x="8496754" y="5214799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3AF7DA-E310-E4E8-13E8-FEA5AB76B001}"/>
              </a:ext>
            </a:extLst>
          </p:cNvPr>
          <p:cNvSpPr txBox="1"/>
          <p:nvPr/>
        </p:nvSpPr>
        <p:spPr>
          <a:xfrm>
            <a:off x="5472904" y="3918207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D551C0-EA4B-2259-F076-765E64F41D52}"/>
              </a:ext>
            </a:extLst>
          </p:cNvPr>
          <p:cNvSpPr txBox="1"/>
          <p:nvPr/>
        </p:nvSpPr>
        <p:spPr>
          <a:xfrm>
            <a:off x="6684054" y="3123788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AA23D0-3D9B-499A-0D15-098D05C1334E}"/>
              </a:ext>
            </a:extLst>
          </p:cNvPr>
          <p:cNvSpPr txBox="1"/>
          <p:nvPr/>
        </p:nvSpPr>
        <p:spPr>
          <a:xfrm>
            <a:off x="5431067" y="2322017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55BC64-C6A4-DA4B-C3F2-39E12702C6AD}"/>
              </a:ext>
            </a:extLst>
          </p:cNvPr>
          <p:cNvSpPr txBox="1"/>
          <p:nvPr/>
        </p:nvSpPr>
        <p:spPr>
          <a:xfrm>
            <a:off x="6652533" y="237759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C1BBB2-FB41-9186-C324-3A5C5326224A}"/>
              </a:ext>
            </a:extLst>
          </p:cNvPr>
          <p:cNvSpPr txBox="1"/>
          <p:nvPr/>
        </p:nvSpPr>
        <p:spPr>
          <a:xfrm>
            <a:off x="8424862" y="236064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8478D2-7AAB-F7E2-41A3-1B0D8DD27FEE}"/>
              </a:ext>
            </a:extLst>
          </p:cNvPr>
          <p:cNvSpPr txBox="1"/>
          <p:nvPr/>
        </p:nvSpPr>
        <p:spPr>
          <a:xfrm>
            <a:off x="5013665" y="4741933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A8C1B3-5977-EFFE-FAD3-6E90C0ACDDF8}"/>
              </a:ext>
            </a:extLst>
          </p:cNvPr>
          <p:cNvSpPr txBox="1"/>
          <p:nvPr/>
        </p:nvSpPr>
        <p:spPr>
          <a:xfrm>
            <a:off x="5420859" y="3111848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755C93-7C70-94A7-2E05-08C83845314D}"/>
              </a:ext>
            </a:extLst>
          </p:cNvPr>
          <p:cNvSpPr txBox="1"/>
          <p:nvPr/>
        </p:nvSpPr>
        <p:spPr>
          <a:xfrm>
            <a:off x="6476776" y="397921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0804FD-5F82-5AE7-7F2E-88C62E984F12}"/>
              </a:ext>
            </a:extLst>
          </p:cNvPr>
          <p:cNvSpPr txBox="1"/>
          <p:nvPr/>
        </p:nvSpPr>
        <p:spPr>
          <a:xfrm>
            <a:off x="8526573" y="3149723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A927D823-994D-55F0-837A-F2B80E798101}"/>
              </a:ext>
            </a:extLst>
          </p:cNvPr>
          <p:cNvCxnSpPr>
            <a:stCxn id="58" idx="3"/>
            <a:endCxn id="62" idx="0"/>
          </p:cNvCxnSpPr>
          <p:nvPr/>
        </p:nvCxnSpPr>
        <p:spPr>
          <a:xfrm flipH="1">
            <a:off x="6787132" y="2565374"/>
            <a:ext cx="486113" cy="1413836"/>
          </a:xfrm>
          <a:prstGeom prst="curvedConnector4">
            <a:avLst>
              <a:gd name="adj1" fmla="val 188104"/>
              <a:gd name="adj2" fmla="val 912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3869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356C-03D3-5C7B-0B4C-D535CC39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08E8-0B51-7241-F21D-3BCE1791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Later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CB723-E1A8-74BF-3432-E31BD04E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2" y="1257300"/>
            <a:ext cx="4144737" cy="530859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ym typeface="Wingdings" pitchFamily="2" charset="2"/>
              </a:rPr>
              <a:t>BPE is simple and very efficient when you apply it </a:t>
            </a:r>
            <a:r>
              <a:rPr lang="en-US" i="1" dirty="0">
                <a:sym typeface="Wingdings" pitchFamily="2" charset="2"/>
              </a:rPr>
              <a:t>reduce </a:t>
            </a:r>
            <a:r>
              <a:rPr lang="en-US" dirty="0">
                <a:sym typeface="Wingdings" pitchFamily="2" charset="2"/>
              </a:rPr>
              <a:t>the number of tokens</a:t>
            </a:r>
          </a:p>
          <a:p>
            <a:pPr lvl="1"/>
            <a:r>
              <a:rPr lang="en-US" dirty="0">
                <a:sym typeface="Wingdings" pitchFamily="2" charset="2"/>
              </a:rPr>
              <a:t>use a </a:t>
            </a:r>
            <a:r>
              <a:rPr lang="en-US" b="1" dirty="0" err="1">
                <a:sym typeface="Wingdings" pitchFamily="2" charset="2"/>
              </a:rPr>
              <a:t>trie</a:t>
            </a:r>
            <a:r>
              <a:rPr lang="en-US" dirty="0">
                <a:sym typeface="Wingdings" pitchFamily="2" charset="2"/>
              </a:rPr>
              <a:t> to store the weighted corpus and update all the counts incrementally</a:t>
            </a:r>
          </a:p>
          <a:p>
            <a:r>
              <a:rPr lang="en-US" dirty="0">
                <a:sym typeface="Wingdings" pitchFamily="2" charset="2"/>
              </a:rPr>
              <a:t>The </a:t>
            </a:r>
            <a:r>
              <a:rPr lang="en-US" dirty="0" err="1">
                <a:sym typeface="Wingdings" pitchFamily="2" charset="2"/>
              </a:rPr>
              <a:t>trie</a:t>
            </a:r>
            <a:r>
              <a:rPr lang="en-US" dirty="0">
                <a:sym typeface="Wingdings" pitchFamily="2" charset="2"/>
              </a:rPr>
              <a:t> of tokens is much </a:t>
            </a:r>
            <a:r>
              <a:rPr lang="en-US" b="1" dirty="0">
                <a:sym typeface="Wingdings" pitchFamily="2" charset="2"/>
              </a:rPr>
              <a:t>smaller</a:t>
            </a:r>
            <a:r>
              <a:rPr lang="en-US" dirty="0">
                <a:sym typeface="Wingdings" pitchFamily="2" charset="2"/>
              </a:rPr>
              <a:t> than the full corpus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58842F6B-2BCD-A662-E463-288A9C86F9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E2301D8-9C55-EA65-E426-592C1C35525E}"/>
              </a:ext>
            </a:extLst>
          </p:cNvPr>
          <p:cNvSpPr txBox="1">
            <a:spLocks/>
          </p:cNvSpPr>
          <p:nvPr/>
        </p:nvSpPr>
        <p:spPr>
          <a:xfrm>
            <a:off x="4947558" y="1283267"/>
            <a:ext cx="3461656" cy="31845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b="1" dirty="0" err="1">
                <a:sym typeface="Wingdings" pitchFamily="2" charset="2"/>
              </a:rPr>
              <a:t>Wordpieces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was used in BERT: much like </a:t>
            </a:r>
            <a:r>
              <a:rPr lang="en-US" b="1" dirty="0">
                <a:sym typeface="Wingdings" pitchFamily="2" charset="2"/>
              </a:rPr>
              <a:t>BPE</a:t>
            </a:r>
            <a:r>
              <a:rPr lang="en-US" dirty="0">
                <a:sym typeface="Wingdings" pitchFamily="2" charset="2"/>
              </a:rPr>
              <a:t> but tries to maximize the probability of the corpus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under a naïve Bayes-like model of probability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main difference: instead of scoring pairs by </a:t>
            </a:r>
            <a:r>
              <a:rPr lang="en-US" b="1" dirty="0">
                <a:sym typeface="Wingdings" pitchFamily="2" charset="2"/>
              </a:rPr>
              <a:t>frequency</a:t>
            </a:r>
            <a:r>
              <a:rPr lang="en-US" dirty="0">
                <a:sym typeface="Wingdings" pitchFamily="2" charset="2"/>
              </a:rPr>
              <a:t> score of </a:t>
            </a:r>
            <a:r>
              <a:rPr lang="en-US" b="1" dirty="0">
                <a:sym typeface="Wingdings" pitchFamily="2" charset="2"/>
              </a:rPr>
              <a:t>pointwise mutual information</a:t>
            </a:r>
            <a:endParaRPr lang="en-US" dirty="0">
              <a:sym typeface="Wingdings" pitchFamily="2" charset="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2F7C65-8F4C-C631-CECE-C059133A46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1094"/>
          <a:stretch/>
        </p:blipFill>
        <p:spPr>
          <a:xfrm>
            <a:off x="4947558" y="5297005"/>
            <a:ext cx="3685321" cy="83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6093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F141-7497-CE03-669C-24A804F9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9001-DAC9-23AD-DD69-12777A44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Later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86D3263F-C035-63D7-F5A7-9655BD0DCC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C7F63AF-4DA8-B050-E43B-5AB574BF77E3}"/>
              </a:ext>
            </a:extLst>
          </p:cNvPr>
          <p:cNvSpPr txBox="1">
            <a:spLocks/>
          </p:cNvSpPr>
          <p:nvPr/>
        </p:nvSpPr>
        <p:spPr>
          <a:xfrm>
            <a:off x="4947558" y="1283267"/>
            <a:ext cx="3461656" cy="31845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b="1" dirty="0" err="1">
                <a:sym typeface="Wingdings" pitchFamily="2" charset="2"/>
              </a:rPr>
              <a:t>Wordpieces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was used in BERT: much like </a:t>
            </a:r>
            <a:r>
              <a:rPr lang="en-US" b="1" dirty="0">
                <a:sym typeface="Wingdings" pitchFamily="2" charset="2"/>
              </a:rPr>
              <a:t>BPE</a:t>
            </a:r>
            <a:r>
              <a:rPr lang="en-US" dirty="0">
                <a:sym typeface="Wingdings" pitchFamily="2" charset="2"/>
              </a:rPr>
              <a:t> but tries to maximize the probability of the corpus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under a naïve Bayes-like model of probability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main difference: instead of scoring pairs by </a:t>
            </a:r>
            <a:r>
              <a:rPr lang="en-US" b="1" dirty="0">
                <a:sym typeface="Wingdings" pitchFamily="2" charset="2"/>
              </a:rPr>
              <a:t>frequency</a:t>
            </a:r>
            <a:r>
              <a:rPr lang="en-US" dirty="0">
                <a:sym typeface="Wingdings" pitchFamily="2" charset="2"/>
              </a:rPr>
              <a:t> score of </a:t>
            </a:r>
            <a:r>
              <a:rPr lang="en-US" b="1" dirty="0">
                <a:sym typeface="Wingdings" pitchFamily="2" charset="2"/>
              </a:rPr>
              <a:t>pointwise mutual information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C7320B-C522-86F2-1878-CD0789137AFF}"/>
              </a:ext>
            </a:extLst>
          </p:cNvPr>
          <p:cNvSpPr txBox="1">
            <a:spLocks/>
          </p:cNvSpPr>
          <p:nvPr/>
        </p:nvSpPr>
        <p:spPr>
          <a:xfrm>
            <a:off x="734788" y="1283267"/>
            <a:ext cx="3837212" cy="386023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b="1" dirty="0" err="1">
                <a:sym typeface="Wingdings" pitchFamily="2" charset="2"/>
              </a:rPr>
              <a:t>Wordpieces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and </a:t>
            </a:r>
            <a:r>
              <a:rPr lang="en-US" b="1" dirty="0">
                <a:sym typeface="Wingdings" pitchFamily="2" charset="2"/>
              </a:rPr>
              <a:t>BPE </a:t>
            </a:r>
            <a:r>
              <a:rPr lang="en-US" dirty="0">
                <a:sym typeface="Wingdings" pitchFamily="2" charset="2"/>
              </a:rPr>
              <a:t>are constrained by the initial tokenization.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Could be a problem, e.g., if you tokenized Python code naively.</a:t>
            </a:r>
          </a:p>
          <a:p>
            <a:pPr marL="57150" indent="0">
              <a:buNone/>
            </a:pPr>
            <a:endParaRPr lang="en-US" b="1" dirty="0">
              <a:sym typeface="Wingdings" pitchFamily="2" charset="2"/>
            </a:endParaRPr>
          </a:p>
          <a:p>
            <a:pPr marL="57150" indent="0">
              <a:buNone/>
            </a:pPr>
            <a:r>
              <a:rPr lang="en-US" b="1" dirty="0" err="1">
                <a:sym typeface="Wingdings" pitchFamily="2" charset="2"/>
              </a:rPr>
              <a:t>SentencePieces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starts with “sentences” instead of words.</a:t>
            </a:r>
          </a:p>
          <a:p>
            <a:pPr marL="57150" indent="0">
              <a:buNone/>
            </a:pPr>
            <a:endParaRPr lang="en-US" dirty="0">
              <a:sym typeface="Wingdings" pitchFamily="2" charset="2"/>
            </a:endParaRPr>
          </a:p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Common approach now is to use BPE on a </a:t>
            </a:r>
            <a:r>
              <a:rPr lang="en-US" b="1" dirty="0">
                <a:sym typeface="Wingdings" pitchFamily="2" charset="2"/>
              </a:rPr>
              <a:t>large</a:t>
            </a:r>
            <a:r>
              <a:rPr lang="en-US" dirty="0">
                <a:sym typeface="Wingdings" pitchFamily="2" charset="2"/>
              </a:rPr>
              <a:t> corpus with </a:t>
            </a:r>
            <a:r>
              <a:rPr lang="en-US" b="1" dirty="0">
                <a:sym typeface="Wingdings" pitchFamily="2" charset="2"/>
              </a:rPr>
              <a:t>minimal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b="1" dirty="0">
                <a:sym typeface="Wingdings" pitchFamily="2" charset="2"/>
              </a:rPr>
              <a:t>pre-splitting</a:t>
            </a:r>
            <a:r>
              <a:rPr lang="en-US" dirty="0">
                <a:sym typeface="Wingdings" pitchFamily="2" charset="2"/>
              </a:rPr>
              <a:t>.</a:t>
            </a:r>
          </a:p>
          <a:p>
            <a:pPr marL="57150" indent="0">
              <a:buNone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DCF56B-126A-953E-FC34-2D224BA85206}"/>
              </a:ext>
            </a:extLst>
          </p:cNvPr>
          <p:cNvSpPr txBox="1">
            <a:spLocks/>
          </p:cNvSpPr>
          <p:nvPr/>
        </p:nvSpPr>
        <p:spPr>
          <a:xfrm>
            <a:off x="4947558" y="4699862"/>
            <a:ext cx="3461656" cy="11980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Other approaches start with lots of proposed tokens and </a:t>
            </a:r>
            <a:r>
              <a:rPr lang="en-US" dirty="0" err="1">
                <a:sym typeface="Wingdings" pitchFamily="2" charset="2"/>
              </a:rPr>
              <a:t>subtokens</a:t>
            </a:r>
            <a:r>
              <a:rPr lang="en-US" dirty="0">
                <a:sym typeface="Wingdings" pitchFamily="2" charset="2"/>
              </a:rPr>
              <a:t> and repeatedly </a:t>
            </a:r>
            <a:r>
              <a:rPr lang="en-US" b="1" dirty="0">
                <a:sym typeface="Wingdings" pitchFamily="2" charset="2"/>
              </a:rPr>
              <a:t>prune away </a:t>
            </a:r>
            <a:r>
              <a:rPr lang="en-US" dirty="0" err="1">
                <a:sym typeface="Wingdings" pitchFamily="2" charset="2"/>
              </a:rPr>
              <a:t>subtokens</a:t>
            </a:r>
            <a:r>
              <a:rPr lang="en-US" dirty="0">
                <a:sym typeface="Wingdings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949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C7E2B-FD61-1F9C-1AF1-240BCE635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D2C7-3CD4-B81D-31B1-ADC5D0644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Later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C38147FD-3137-2216-EEE4-6919D9BDB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7102F1-43AD-BFC6-9E32-46EBA9C3F580}"/>
              </a:ext>
            </a:extLst>
          </p:cNvPr>
          <p:cNvSpPr txBox="1">
            <a:spLocks/>
          </p:cNvSpPr>
          <p:nvPr/>
        </p:nvSpPr>
        <p:spPr>
          <a:xfrm>
            <a:off x="279401" y="1283268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Step 1: Find all tokens in the corpus and save their frequency.</a:t>
            </a:r>
            <a:endParaRPr lang="en-US" b="1" dirty="0">
              <a:sym typeface="Wingdings" pitchFamily="2" charset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2E5915-A915-74FD-05B8-A5C4E2841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1" y="1905844"/>
            <a:ext cx="7632700" cy="66040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5754FB5-AD28-33DE-00D4-DDADEA1A8405}"/>
              </a:ext>
            </a:extLst>
          </p:cNvPr>
          <p:cNvSpPr txBox="1">
            <a:spLocks/>
          </p:cNvSpPr>
          <p:nvPr/>
        </p:nvSpPr>
        <p:spPr>
          <a:xfrm>
            <a:off x="279400" y="2750806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2: Break all the tokens into </a:t>
            </a:r>
            <a:r>
              <a:rPr lang="en-US" sz="2200" b="1" dirty="0">
                <a:sym typeface="Wingdings" pitchFamily="2" charset="2"/>
              </a:rPr>
              <a:t>characters</a:t>
            </a:r>
            <a:r>
              <a:rPr lang="en-US" sz="2200" dirty="0">
                <a:sym typeface="Wingdings" pitchFamily="2" charset="2"/>
              </a:rPr>
              <a:t> (the initial vocabulary)</a:t>
            </a:r>
            <a:endParaRPr lang="en-US" sz="2200" b="1" dirty="0">
              <a:sym typeface="Wingdings" pitchFamily="2" charset="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D850C8-233A-8851-0096-F8529556D0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55" t="20810" b="21302"/>
          <a:stretch/>
        </p:blipFill>
        <p:spPr>
          <a:xfrm>
            <a:off x="326568" y="3417323"/>
            <a:ext cx="11664950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C8A9FDE-B167-5500-C6FB-69054392C959}"/>
              </a:ext>
            </a:extLst>
          </p:cNvPr>
          <p:cNvSpPr txBox="1">
            <a:spLocks/>
          </p:cNvSpPr>
          <p:nvPr/>
        </p:nvSpPr>
        <p:spPr>
          <a:xfrm>
            <a:off x="326568" y="4135391"/>
            <a:ext cx="7632700" cy="16441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3: Repeat for </a:t>
            </a:r>
            <a:r>
              <a:rPr lang="en-US" sz="2200" dirty="0" err="1">
                <a:sym typeface="Wingdings" pitchFamily="2" charset="2"/>
              </a:rPr>
              <a:t>i</a:t>
            </a:r>
            <a:r>
              <a:rPr lang="en-US" sz="2200" dirty="0">
                <a:sym typeface="Wingdings" pitchFamily="2" charset="2"/>
              </a:rPr>
              <a:t> = 1, … </a:t>
            </a:r>
            <a:r>
              <a:rPr lang="en-US" sz="2200" dirty="0" err="1">
                <a:sym typeface="Wingdings" pitchFamily="2" charset="2"/>
              </a:rPr>
              <a:t>max_merges</a:t>
            </a:r>
            <a:r>
              <a:rPr lang="en-US" sz="2200" dirty="0">
                <a:sym typeface="Wingdings" pitchFamily="2" charset="2"/>
              </a:rPr>
              <a:t>: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Find the ordered pair that occurs most frequently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Add that pair to the vocabulary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Replace that pair with the new word everywhere</a:t>
            </a:r>
          </a:p>
          <a:p>
            <a:pPr marL="57150" indent="0">
              <a:buNone/>
            </a:pPr>
            <a:endParaRPr lang="en-US" sz="2200" b="1" dirty="0">
              <a:sym typeface="Wingdings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A3D93C-2A62-1DE0-6FFA-5AE7A0A954A7}"/>
              </a:ext>
            </a:extLst>
          </p:cNvPr>
          <p:cNvSpPr txBox="1"/>
          <p:nvPr/>
        </p:nvSpPr>
        <p:spPr>
          <a:xfrm>
            <a:off x="6760028" y="4541970"/>
            <a:ext cx="1714500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u,g</a:t>
            </a:r>
            <a:r>
              <a:rPr lang="en-US" dirty="0"/>
              <a:t> occurs 20x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990BC-E269-5F14-7003-C025511F31FA}"/>
              </a:ext>
            </a:extLst>
          </p:cNvPr>
          <p:cNvSpPr txBox="1"/>
          <p:nvPr/>
        </p:nvSpPr>
        <p:spPr>
          <a:xfrm>
            <a:off x="6569528" y="4911302"/>
            <a:ext cx="2574472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“ug” is a new </a:t>
            </a:r>
            <a:r>
              <a:rPr lang="en-US" dirty="0" err="1"/>
              <a:t>subword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83D4F43-206A-6B01-01F5-DF7CA7C5A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567" y="6072894"/>
            <a:ext cx="10776919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CD92A06-CDB3-1676-B009-B75DB3DA14C2}"/>
              </a:ext>
            </a:extLst>
          </p:cNvPr>
          <p:cNvSpPr/>
          <p:nvPr/>
        </p:nvSpPr>
        <p:spPr>
          <a:xfrm>
            <a:off x="5078186" y="3959834"/>
            <a:ext cx="489857" cy="211306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DFBDB3-E61E-1CE4-8F54-31EEEFE0C4CB}"/>
              </a:ext>
            </a:extLst>
          </p:cNvPr>
          <p:cNvSpPr/>
          <p:nvPr/>
        </p:nvSpPr>
        <p:spPr>
          <a:xfrm>
            <a:off x="3657600" y="2566244"/>
            <a:ext cx="3775075" cy="85107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6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D054-7512-E1CF-4830-FF0C54F2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100C-1E22-2390-5812-5A2387A1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Later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9AE49DC4-032B-93ED-B493-2726D1572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57AF25-F9C1-CB02-12CB-E6C6E663AD2F}"/>
              </a:ext>
            </a:extLst>
          </p:cNvPr>
          <p:cNvSpPr txBox="1">
            <a:spLocks/>
          </p:cNvSpPr>
          <p:nvPr/>
        </p:nvSpPr>
        <p:spPr>
          <a:xfrm>
            <a:off x="279401" y="1283268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Step 1: Find all tokens in the corpus and save their frequency.</a:t>
            </a:r>
            <a:endParaRPr lang="en-US" b="1" dirty="0">
              <a:sym typeface="Wingdings" pitchFamily="2" charset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C271F1-3B42-8CA2-9961-D409E11B5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1" y="1905844"/>
            <a:ext cx="7632700" cy="66040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5718335-E958-0724-BFED-6E051F5B0440}"/>
              </a:ext>
            </a:extLst>
          </p:cNvPr>
          <p:cNvSpPr txBox="1">
            <a:spLocks/>
          </p:cNvSpPr>
          <p:nvPr/>
        </p:nvSpPr>
        <p:spPr>
          <a:xfrm>
            <a:off x="279400" y="2750806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2: Break all the tokens into </a:t>
            </a:r>
            <a:r>
              <a:rPr lang="en-US" sz="2200" b="1" dirty="0">
                <a:sym typeface="Wingdings" pitchFamily="2" charset="2"/>
              </a:rPr>
              <a:t>characters</a:t>
            </a:r>
            <a:r>
              <a:rPr lang="en-US" sz="2200" dirty="0">
                <a:sym typeface="Wingdings" pitchFamily="2" charset="2"/>
              </a:rPr>
              <a:t> (the initial vocabulary)</a:t>
            </a:r>
            <a:endParaRPr lang="en-US" sz="2200" b="1" dirty="0">
              <a:sym typeface="Wingdings" pitchFamily="2" charset="2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97EB3C-3808-09BA-0B8D-8C62CDF4FFB5}"/>
              </a:ext>
            </a:extLst>
          </p:cNvPr>
          <p:cNvSpPr/>
          <p:nvPr/>
        </p:nvSpPr>
        <p:spPr>
          <a:xfrm>
            <a:off x="3657600" y="2566244"/>
            <a:ext cx="3775075" cy="85107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2920CDE-16EB-0848-D94B-16AAF623E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4218344"/>
            <a:ext cx="7772400" cy="2417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7C54F5-6606-645D-FC98-0D86B9D2C426}"/>
              </a:ext>
            </a:extLst>
          </p:cNvPr>
          <p:cNvSpPr txBox="1"/>
          <p:nvPr/>
        </p:nvSpPr>
        <p:spPr>
          <a:xfrm>
            <a:off x="7781471" y="4907683"/>
            <a:ext cx="1016000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ascii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80EA4-ADF0-9E0B-A9DD-331E6FDA2D0D}"/>
              </a:ext>
            </a:extLst>
          </p:cNvPr>
          <p:cNvSpPr txBox="1"/>
          <p:nvPr/>
        </p:nvSpPr>
        <p:spPr>
          <a:xfrm>
            <a:off x="5535386" y="5306858"/>
            <a:ext cx="360861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 Latin alphabets, Greek, Hebrew, …,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F3676-B7E2-B6B5-E725-8502595DB2CF}"/>
              </a:ext>
            </a:extLst>
          </p:cNvPr>
          <p:cNvSpPr txBox="1"/>
          <p:nvPr/>
        </p:nvSpPr>
        <p:spPr>
          <a:xfrm>
            <a:off x="7233557" y="5685882"/>
            <a:ext cx="156391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mostly CJK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550F22-072B-8B38-C931-329391743304}"/>
              </a:ext>
            </a:extLst>
          </p:cNvPr>
          <p:cNvSpPr txBox="1"/>
          <p:nvPr/>
        </p:nvSpPr>
        <p:spPr>
          <a:xfrm>
            <a:off x="7781470" y="6068223"/>
            <a:ext cx="1152979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emojis …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F53A67-6AFD-AA40-3FCA-E86A1CBE0060}"/>
              </a:ext>
            </a:extLst>
          </p:cNvPr>
          <p:cNvSpPr txBox="1"/>
          <p:nvPr/>
        </p:nvSpPr>
        <p:spPr>
          <a:xfrm>
            <a:off x="5963557" y="3553804"/>
            <a:ext cx="2938236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All the </a:t>
            </a:r>
            <a:r>
              <a:rPr lang="en-US" sz="1600" b="1" dirty="0"/>
              <a:t>bytes</a:t>
            </a:r>
            <a:r>
              <a:rPr lang="en-US" sz="1600" dirty="0"/>
              <a:t> from UTF-8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7FE78B-4BFC-E212-5C3C-7EEEB1FCBDFB}"/>
              </a:ext>
            </a:extLst>
          </p:cNvPr>
          <p:cNvSpPr/>
          <p:nvPr/>
        </p:nvSpPr>
        <p:spPr>
          <a:xfrm>
            <a:off x="3608615" y="4907683"/>
            <a:ext cx="963385" cy="43123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950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EC5D5-5909-CA01-FD02-96B291B6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1CB6-13C7-A378-247B-E185F2B7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Vision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0F535E0D-19A3-4E06-0B6D-6043FDDBC8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5C1142F0-B2BD-9B9E-92CB-2363D16C5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21" y="2093005"/>
            <a:ext cx="7772400" cy="380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216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14ACA-B6B4-7E38-954A-9853278A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6347-A048-2CA6-24ED-6F1C0E32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Vision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F538DD68-76DF-D5F5-904A-ED6E49A6E3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iagram of a transformer&#10;&#10;AI-generated content may be incorrect.">
            <a:extLst>
              <a:ext uri="{FF2B5EF4-FFF2-40B4-BE49-F238E27FC236}">
                <a16:creationId xmlns:a16="http://schemas.microsoft.com/office/drawing/2014/main" id="{040A1C8B-1CDD-728A-57EA-70EC8860C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99" y="1096961"/>
            <a:ext cx="8261507" cy="500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554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F12FC-846C-557A-2C3A-D33971EC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0AEE-4B68-D1FC-9E6E-D0A4C757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Vision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697C3CDB-A58B-CFE7-4DF3-328B1EFDE8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D02E15-5AEA-5A35-B349-CA0BE12E8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" y="1362528"/>
            <a:ext cx="7302500" cy="233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1DD165-528D-8A63-FCAB-1B233EF06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49561"/>
            <a:ext cx="7772400" cy="3308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E4DAF0-F7E0-2727-FDB6-1BFB6ED3C3BF}"/>
              </a:ext>
            </a:extLst>
          </p:cNvPr>
          <p:cNvSpPr txBox="1"/>
          <p:nvPr/>
        </p:nvSpPr>
        <p:spPr>
          <a:xfrm>
            <a:off x="2916917" y="3549560"/>
            <a:ext cx="302668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JFT = 300M images @ Google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D4A9B-C250-2861-C816-B161621C469A}"/>
              </a:ext>
            </a:extLst>
          </p:cNvPr>
          <p:cNvSpPr txBox="1"/>
          <p:nvPr/>
        </p:nvSpPr>
        <p:spPr>
          <a:xfrm>
            <a:off x="6688816" y="3528885"/>
            <a:ext cx="200433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Also trained on JFT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1620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52F8-D362-E8B4-1131-31E8EDB3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Transformers – 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91DA1-B915-2A26-B802-F0C500BDE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40057" cy="38862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ViTs</a:t>
            </a:r>
            <a:r>
              <a:rPr lang="en-US" dirty="0"/>
              <a:t> have a weaker bias than CNNs and usually need more data to train</a:t>
            </a:r>
          </a:p>
          <a:p>
            <a:pPr lvl="1"/>
            <a:r>
              <a:rPr lang="en-US" dirty="0"/>
              <a:t>They don’t “know” that local-area features matter</a:t>
            </a:r>
          </a:p>
          <a:p>
            <a:r>
              <a:rPr lang="en-US" dirty="0"/>
              <a:t>Transformers are not the </a:t>
            </a:r>
            <a:r>
              <a:rPr lang="en-US" dirty="0" err="1"/>
              <a:t>SoTA</a:t>
            </a:r>
            <a:r>
              <a:rPr lang="en-US" dirty="0"/>
              <a:t> way of </a:t>
            </a:r>
            <a:r>
              <a:rPr lang="en-US" b="1" dirty="0"/>
              <a:t>generating</a:t>
            </a:r>
            <a:r>
              <a:rPr lang="en-US" i="1" dirty="0"/>
              <a:t> </a:t>
            </a:r>
            <a:r>
              <a:rPr lang="en-US" dirty="0"/>
              <a:t>images</a:t>
            </a:r>
          </a:p>
          <a:p>
            <a:pPr lvl="1"/>
            <a:r>
              <a:rPr lang="en-US" dirty="0"/>
              <a:t>Although they often do quite well!</a:t>
            </a:r>
          </a:p>
          <a:p>
            <a:r>
              <a:rPr lang="en-US" dirty="0" err="1"/>
              <a:t>ViTs</a:t>
            </a:r>
            <a:r>
              <a:rPr lang="en-US" dirty="0"/>
              <a:t> are excellent for multimodal vision/language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40702245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F087-5CD0-64A7-5B9C-4A26FB452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46A30-6575-07A0-7F0A-846CBDD8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Multi-Model Transformer: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1CBF0-9CE8-B356-29FE-2297F0C7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96963"/>
            <a:ext cx="7380514" cy="23745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558024-2195-44CA-B581-75944EDECD6A}"/>
              </a:ext>
            </a:extLst>
          </p:cNvPr>
          <p:cNvSpPr txBox="1"/>
          <p:nvPr/>
        </p:nvSpPr>
        <p:spPr>
          <a:xfrm>
            <a:off x="7527471" y="10969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42504884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0F67-5240-EF65-5000-D1C093BE8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7DE-AF98-36BE-5A75-D81C76EF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Multi-Model Transformer: 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D4F955-BC44-5714-6151-3FD9A4AD3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5" y="1183724"/>
            <a:ext cx="4468015" cy="3564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89A77C-37AD-BC3B-E2D8-4AD0BA60A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357" y="1096962"/>
            <a:ext cx="4263908" cy="400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680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3F3B8-B00C-C5A4-F040-182078A7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B764-174E-255D-7051-0A7BFEC1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Transformers – Pros and Cons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DD4B0C-DEEC-A651-4D74-284B8E8EE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00" y="3304081"/>
            <a:ext cx="1794328" cy="1431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3227DE-4BBC-12A2-3152-93AA86BC4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008" y="1523916"/>
            <a:ext cx="3796393" cy="35648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65E5B3-3A27-32A8-C98E-65B919AAF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64" y="1767292"/>
            <a:ext cx="3466944" cy="1399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F457B8-23BA-3573-6A84-3C24042C7CAA}"/>
              </a:ext>
            </a:extLst>
          </p:cNvPr>
          <p:cNvSpPr txBox="1"/>
          <p:nvPr/>
        </p:nvSpPr>
        <p:spPr>
          <a:xfrm>
            <a:off x="279401" y="2053153"/>
            <a:ext cx="53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D6521-E4C1-54A2-8486-98372C581D61}"/>
              </a:ext>
            </a:extLst>
          </p:cNvPr>
          <p:cNvSpPr txBox="1"/>
          <p:nvPr/>
        </p:nvSpPr>
        <p:spPr>
          <a:xfrm>
            <a:off x="279400" y="3634771"/>
            <a:ext cx="73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FT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BA7B06-DA32-20C8-63D3-3DC3A9E8F7DA}"/>
              </a:ext>
            </a:extLst>
          </p:cNvPr>
          <p:cNvSpPr txBox="1"/>
          <p:nvPr/>
        </p:nvSpPr>
        <p:spPr>
          <a:xfrm>
            <a:off x="279400" y="1260248"/>
            <a:ext cx="225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   </a:t>
            </a:r>
            <a:r>
              <a:rPr lang="en-US" dirty="0" err="1"/>
              <a:t>ViT</a:t>
            </a:r>
            <a:r>
              <a:rPr lang="en-US" dirty="0"/>
              <a:t> and T5</a:t>
            </a:r>
          </a:p>
        </p:txBody>
      </p:sp>
    </p:spTree>
    <p:extLst>
      <p:ext uri="{BB962C8B-B14F-4D97-AF65-F5344CB8AC3E}">
        <p14:creationId xmlns:p14="http://schemas.microsoft.com/office/powerpoint/2010/main" val="27782026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Transformers: Some Comments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103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DD191-9C50-7B44-2B42-20D5AB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F79754F-A8FD-A790-0653-63AA70139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" y="189291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2A56DB6-0009-6A6C-0BFC-FC513C440693}"/>
              </a:ext>
            </a:extLst>
          </p:cNvPr>
          <p:cNvGrpSpPr/>
          <p:nvPr/>
        </p:nvGrpSpPr>
        <p:grpSpPr>
          <a:xfrm>
            <a:off x="5416812" y="2342170"/>
            <a:ext cx="3084122" cy="3216177"/>
            <a:chOff x="3800283" y="3321883"/>
            <a:chExt cx="3084122" cy="3216177"/>
          </a:xfrm>
        </p:grpSpPr>
        <p:pic>
          <p:nvPicPr>
            <p:cNvPr id="2" name="Picture 1" descr="Screen Shot 2016-04-10 at 7.55.56 PM.png">
              <a:extLst>
                <a:ext uri="{FF2B5EF4-FFF2-40B4-BE49-F238E27FC236}">
                  <a16:creationId xmlns:a16="http://schemas.microsoft.com/office/drawing/2014/main" id="{0ECDBB68-1B21-E922-7FA6-15328ADE39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923" r="20185"/>
            <a:stretch/>
          </p:blipFill>
          <p:spPr>
            <a:xfrm>
              <a:off x="4078856" y="3348818"/>
              <a:ext cx="2550543" cy="299483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CEF379A-3195-7D71-F3F5-EE6C93ACC2C9}"/>
                </a:ext>
              </a:extLst>
            </p:cNvPr>
            <p:cNvSpPr/>
            <p:nvPr/>
          </p:nvSpPr>
          <p:spPr>
            <a:xfrm>
              <a:off x="4314825" y="4442241"/>
              <a:ext cx="1214438" cy="1700213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B768AE-696B-D890-6BF8-1D2B7C2B3669}"/>
                </a:ext>
              </a:extLst>
            </p:cNvPr>
            <p:cNvSpPr/>
            <p:nvPr/>
          </p:nvSpPr>
          <p:spPr>
            <a:xfrm>
              <a:off x="5180455" y="3710373"/>
              <a:ext cx="1214438" cy="1700213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40E80A3-7703-80A3-24A0-A2EB0C0D3B39}"/>
                </a:ext>
              </a:extLst>
            </p:cNvPr>
            <p:cNvSpPr txBox="1"/>
            <p:nvPr/>
          </p:nvSpPr>
          <p:spPr>
            <a:xfrm>
              <a:off x="3800283" y="6168728"/>
              <a:ext cx="1380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Encoder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0E57C4-18DE-6991-FB3E-65B2685758E4}"/>
                </a:ext>
              </a:extLst>
            </p:cNvPr>
            <p:cNvSpPr txBox="1"/>
            <p:nvPr/>
          </p:nvSpPr>
          <p:spPr>
            <a:xfrm>
              <a:off x="5504233" y="3321883"/>
              <a:ext cx="1380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00B050"/>
                  </a:solidFill>
                </a:rPr>
                <a:t>Decoder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3AA9D7D-2F58-75F8-024B-5B605EA3A8E4}"/>
              </a:ext>
            </a:extLst>
          </p:cNvPr>
          <p:cNvSpPr txBox="1"/>
          <p:nvPr/>
        </p:nvSpPr>
        <p:spPr>
          <a:xfrm>
            <a:off x="5094514" y="400959"/>
            <a:ext cx="291690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Attention is all you need – and all you get</a:t>
            </a:r>
          </a:p>
        </p:txBody>
      </p:sp>
    </p:spTree>
    <p:extLst>
      <p:ext uri="{BB962C8B-B14F-4D97-AF65-F5344CB8AC3E}">
        <p14:creationId xmlns:p14="http://schemas.microsoft.com/office/powerpoint/2010/main" val="376539750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47BA5-EF2B-4828-08FD-3273B153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1995378-CB38-DF0D-3ED4-3944FBD28B44}"/>
              </a:ext>
            </a:extLst>
          </p:cNvPr>
          <p:cNvGrpSpPr/>
          <p:nvPr/>
        </p:nvGrpSpPr>
        <p:grpSpPr>
          <a:xfrm>
            <a:off x="5335169" y="2815698"/>
            <a:ext cx="3084122" cy="3216177"/>
            <a:chOff x="3800283" y="3321883"/>
            <a:chExt cx="3084122" cy="3216177"/>
          </a:xfrm>
        </p:grpSpPr>
        <p:pic>
          <p:nvPicPr>
            <p:cNvPr id="2" name="Picture 1" descr="Screen Shot 2016-04-10 at 7.55.56 PM.png">
              <a:extLst>
                <a:ext uri="{FF2B5EF4-FFF2-40B4-BE49-F238E27FC236}">
                  <a16:creationId xmlns:a16="http://schemas.microsoft.com/office/drawing/2014/main" id="{E5E575A0-C19A-97DD-93CC-890A94DCB7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923" r="20185"/>
            <a:stretch/>
          </p:blipFill>
          <p:spPr>
            <a:xfrm>
              <a:off x="4078856" y="3348818"/>
              <a:ext cx="2550543" cy="299483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5F96712-C712-7736-3B45-87AAC6426608}"/>
                </a:ext>
              </a:extLst>
            </p:cNvPr>
            <p:cNvSpPr/>
            <p:nvPr/>
          </p:nvSpPr>
          <p:spPr>
            <a:xfrm>
              <a:off x="4314825" y="4442241"/>
              <a:ext cx="1214438" cy="1700213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BEA7304-B186-9C3E-FFAB-D50428D100AC}"/>
                </a:ext>
              </a:extLst>
            </p:cNvPr>
            <p:cNvSpPr/>
            <p:nvPr/>
          </p:nvSpPr>
          <p:spPr>
            <a:xfrm>
              <a:off x="5180455" y="3710373"/>
              <a:ext cx="1214438" cy="1700213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4FE268E-9E5C-74DB-1788-D732F07E3956}"/>
                </a:ext>
              </a:extLst>
            </p:cNvPr>
            <p:cNvSpPr txBox="1"/>
            <p:nvPr/>
          </p:nvSpPr>
          <p:spPr>
            <a:xfrm>
              <a:off x="3800283" y="6168728"/>
              <a:ext cx="1380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Encoder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769459-3C53-1164-74BB-6AEC97C3B3CF}"/>
                </a:ext>
              </a:extLst>
            </p:cNvPr>
            <p:cNvSpPr txBox="1"/>
            <p:nvPr/>
          </p:nvSpPr>
          <p:spPr>
            <a:xfrm>
              <a:off x="5504233" y="3321883"/>
              <a:ext cx="1380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00B050"/>
                  </a:solidFill>
                </a:rPr>
                <a:t>Decoder</a:t>
              </a:r>
            </a:p>
          </p:txBody>
        </p:sp>
      </p:grpSp>
      <p:pic>
        <p:nvPicPr>
          <p:cNvPr id="9" name="Picture 2" descr="Architecture of the GPT family of models">
            <a:extLst>
              <a:ext uri="{FF2B5EF4-FFF2-40B4-BE49-F238E27FC236}">
                <a16:creationId xmlns:a16="http://schemas.microsoft.com/office/drawing/2014/main" id="{122584E0-7DBF-7D67-50BC-856AE2550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66" y="234007"/>
            <a:ext cx="3400410" cy="64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700562-B565-79AC-8A5A-7146C1AFEDED}"/>
              </a:ext>
            </a:extLst>
          </p:cNvPr>
          <p:cNvSpPr txBox="1"/>
          <p:nvPr/>
        </p:nvSpPr>
        <p:spPr>
          <a:xfrm>
            <a:off x="5094514" y="400959"/>
            <a:ext cx="291690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Attention is all you need – and all you get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F86DD-810D-8B36-46AE-BC23E6D335BE}"/>
              </a:ext>
            </a:extLst>
          </p:cNvPr>
          <p:cNvSpPr txBox="1"/>
          <p:nvPr/>
        </p:nvSpPr>
        <p:spPr>
          <a:xfrm>
            <a:off x="0" y="249516"/>
            <a:ext cx="1539141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depth: 12 “layers”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9454A-2A08-50B9-2714-B654D2C955CF}"/>
              </a:ext>
            </a:extLst>
          </p:cNvPr>
          <p:cNvSpPr txBox="1"/>
          <p:nvPr/>
        </p:nvSpPr>
        <p:spPr>
          <a:xfrm>
            <a:off x="0" y="971314"/>
            <a:ext cx="153914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really O(12)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1ECC5F-DEC7-E37E-C24C-89622FB1CF46}"/>
              </a:ext>
            </a:extLst>
          </p:cNvPr>
          <p:cNvSpPr txBox="1"/>
          <p:nvPr/>
        </p:nvSpPr>
        <p:spPr>
          <a:xfrm>
            <a:off x="5363944" y="2188844"/>
            <a:ext cx="340041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O(|input| + |output|) = O(n)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384A9E-598E-F67F-A712-6BA42705E200}"/>
              </a:ext>
            </a:extLst>
          </p:cNvPr>
          <p:cNvSpPr txBox="1"/>
          <p:nvPr/>
        </p:nvSpPr>
        <p:spPr>
          <a:xfrm>
            <a:off x="30175" y="1706915"/>
            <a:ext cx="1539141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every self-attention layer is O(n</a:t>
            </a:r>
            <a:r>
              <a:rPr lang="en-US" baseline="30000" dirty="0"/>
              <a:t>2</a:t>
            </a:r>
            <a:r>
              <a:rPr lang="en-US" dirty="0"/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C3A39F-D843-710A-6017-BE1EBFAD6E78}"/>
              </a:ext>
            </a:extLst>
          </p:cNvPr>
          <p:cNvSpPr txBox="1"/>
          <p:nvPr/>
        </p:nvSpPr>
        <p:spPr>
          <a:xfrm>
            <a:off x="0" y="5098806"/>
            <a:ext cx="1847611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layer-to-layer is </a:t>
            </a:r>
            <a:r>
              <a:rPr lang="en-US" b="1" dirty="0"/>
              <a:t>sequential</a:t>
            </a:r>
            <a:r>
              <a:rPr lang="en-US" dirty="0"/>
              <a:t>, individual layers can be done in </a:t>
            </a:r>
            <a:r>
              <a:rPr lang="en-US" b="1" dirty="0"/>
              <a:t>parallel</a:t>
            </a:r>
          </a:p>
        </p:txBody>
      </p:sp>
    </p:spTree>
    <p:extLst>
      <p:ext uri="{BB962C8B-B14F-4D97-AF65-F5344CB8AC3E}">
        <p14:creationId xmlns:p14="http://schemas.microsoft.com/office/powerpoint/2010/main" val="8811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F21FEB-92FF-7BE1-465E-5C22A567F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2857501"/>
            <a:ext cx="6972300" cy="3606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551177-7B9F-C2F7-D4A2-363D0EA6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E844A-FC31-A9B9-53A6-EF62F1881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8325757" cy="1600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O(depth * n</a:t>
            </a:r>
            <a:r>
              <a:rPr lang="en-US" baseline="30000" dirty="0"/>
              <a:t>2</a:t>
            </a:r>
            <a:r>
              <a:rPr lang="en-US" dirty="0"/>
              <a:t>) means</a:t>
            </a:r>
          </a:p>
          <a:p>
            <a:pPr lvl="1"/>
            <a:r>
              <a:rPr lang="en-US" dirty="0"/>
              <a:t>Transformers are highly parallel – ideally O(depth)</a:t>
            </a:r>
          </a:p>
          <a:p>
            <a:pPr lvl="2"/>
            <a:r>
              <a:rPr lang="en-US" dirty="0"/>
              <a:t>Most of the computation in BERT is </a:t>
            </a:r>
            <a:r>
              <a:rPr lang="en-US" dirty="0" err="1"/>
              <a:t>matmul</a:t>
            </a:r>
            <a:endParaRPr lang="en-US" dirty="0"/>
          </a:p>
          <a:p>
            <a:pPr lvl="1"/>
            <a:r>
              <a:rPr lang="en-US" dirty="0"/>
              <a:t>Transformers are huge</a:t>
            </a:r>
          </a:p>
          <a:p>
            <a:pPr lvl="3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B2FEC7-6933-35FC-A1F3-16FB8D301052}"/>
              </a:ext>
            </a:extLst>
          </p:cNvPr>
          <p:cNvSpPr txBox="1"/>
          <p:nvPr/>
        </p:nvSpPr>
        <p:spPr>
          <a:xfrm>
            <a:off x="3376386" y="5937712"/>
            <a:ext cx="5551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https://medium.com/@amniskin/another-annotated-transformer-1c7be3f99e23</a:t>
            </a:r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43DAD8-E1C7-947B-513E-4AA1FEC4A589}"/>
              </a:ext>
            </a:extLst>
          </p:cNvPr>
          <p:cNvSpPr txBox="1"/>
          <p:nvPr/>
        </p:nvSpPr>
        <p:spPr>
          <a:xfrm>
            <a:off x="3837214" y="4768280"/>
            <a:ext cx="3118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vocab = 26 letters + 2 special</a:t>
            </a:r>
          </a:p>
        </p:txBody>
      </p:sp>
    </p:spTree>
    <p:extLst>
      <p:ext uri="{BB962C8B-B14F-4D97-AF65-F5344CB8AC3E}">
        <p14:creationId xmlns:p14="http://schemas.microsoft.com/office/powerpoint/2010/main" val="23679230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F0797-544B-64A3-D52E-2E698749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D305D-E76E-B244-16A6-621C7A4E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DC464-7C50-371C-0125-3D924AFD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0"/>
            <a:ext cx="8178800" cy="195942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O(depth * n</a:t>
            </a:r>
            <a:r>
              <a:rPr lang="en-US" baseline="30000" dirty="0"/>
              <a:t>2</a:t>
            </a:r>
            <a:r>
              <a:rPr lang="en-US" dirty="0"/>
              <a:t>) means</a:t>
            </a:r>
          </a:p>
          <a:p>
            <a:pPr lvl="1"/>
            <a:r>
              <a:rPr lang="en-US" dirty="0"/>
              <a:t>Transformers are highly parallel – ideally O(depth)</a:t>
            </a:r>
          </a:p>
          <a:p>
            <a:pPr lvl="2"/>
            <a:r>
              <a:rPr lang="en-US" dirty="0"/>
              <a:t>Most of the computation in BERT is </a:t>
            </a:r>
            <a:r>
              <a:rPr lang="en-US" dirty="0" err="1"/>
              <a:t>matmul</a:t>
            </a:r>
            <a:endParaRPr lang="en-US" dirty="0"/>
          </a:p>
          <a:p>
            <a:pPr lvl="1"/>
            <a:r>
              <a:rPr lang="en-US" dirty="0"/>
              <a:t>Transformers are huge</a:t>
            </a:r>
          </a:p>
          <a:p>
            <a:pPr lvl="2"/>
            <a:r>
              <a:rPr lang="en-US" dirty="0"/>
              <a:t>Well-suited to being pre-trained and fine-tuned</a:t>
            </a:r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05728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BEBF8-F48C-22F8-9C5B-B8A2E75CB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88D9-1C10-0A93-E25A-70047113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83905-283D-87FD-AAEB-58454C199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3663564" cy="517615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Transformers are highly parallel</a:t>
            </a:r>
          </a:p>
          <a:p>
            <a:r>
              <a:rPr lang="en-US" dirty="0"/>
              <a:t>Transformers are huge</a:t>
            </a:r>
          </a:p>
          <a:p>
            <a:r>
              <a:rPr lang="en-US" dirty="0"/>
              <a:t>Transformers haven’t changed much since 2017</a:t>
            </a:r>
          </a:p>
          <a:p>
            <a:pPr lvl="1"/>
            <a:r>
              <a:rPr lang="en-US" dirty="0"/>
              <a:t>RMS Norm vs </a:t>
            </a:r>
            <a:r>
              <a:rPr lang="en-US" dirty="0" err="1"/>
              <a:t>LayerNorm</a:t>
            </a:r>
            <a:endParaRPr lang="en-US" dirty="0"/>
          </a:p>
          <a:p>
            <a:pPr lvl="1"/>
            <a:r>
              <a:rPr lang="en-US" dirty="0" err="1"/>
              <a:t>ReLU</a:t>
            </a:r>
            <a:r>
              <a:rPr lang="en-US" dirty="0"/>
              <a:t> variants</a:t>
            </a:r>
          </a:p>
          <a:p>
            <a:pPr lvl="1"/>
            <a:r>
              <a:rPr lang="en-US" dirty="0"/>
              <a:t>Positional encoding (PE) – more late – for longer contexts</a:t>
            </a:r>
          </a:p>
          <a:p>
            <a:pPr lvl="1"/>
            <a:r>
              <a:rPr lang="en-US" b="1" dirty="0"/>
              <a:t>Grouped query attention</a:t>
            </a:r>
          </a:p>
          <a:p>
            <a:pPr lvl="1"/>
            <a:r>
              <a:rPr lang="en-US" dirty="0"/>
              <a:t>combined with </a:t>
            </a:r>
            <a:r>
              <a:rPr lang="en-US" dirty="0" err="1"/>
              <a:t>MoE</a:t>
            </a:r>
            <a:r>
              <a:rPr lang="en-US" dirty="0"/>
              <a:t> which is another old ANN idea</a:t>
            </a:r>
          </a:p>
          <a:p>
            <a:pPr lvl="1"/>
            <a:endParaRPr lang="en-US" dirty="0"/>
          </a:p>
          <a:p>
            <a:pPr lvl="3"/>
            <a:endParaRPr lang="en-US" dirty="0"/>
          </a:p>
        </p:txBody>
      </p:sp>
      <p:pic>
        <p:nvPicPr>
          <p:cNvPr id="6" name="Picture 5" descr="A diagram of a software algorithm&#10;&#10;AI-generated content may be incorrect.">
            <a:extLst>
              <a:ext uri="{FF2B5EF4-FFF2-40B4-BE49-F238E27FC236}">
                <a16:creationId xmlns:a16="http://schemas.microsoft.com/office/drawing/2014/main" id="{0B1D781C-9A0A-A122-CD3B-1C4C768D1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964" y="625022"/>
            <a:ext cx="5114552" cy="560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8637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A55B0-22CF-3375-2CDB-C91AC9ADB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58F19-C2ED-F542-7633-E8291AAD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FED30-9B75-3CE4-BB6D-4D8BB6E1D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99" y="1257299"/>
            <a:ext cx="8211457" cy="1453244"/>
          </a:xfrm>
        </p:spPr>
        <p:txBody>
          <a:bodyPr>
            <a:normAutofit fontScale="85000" lnSpcReduction="10000"/>
          </a:bodyPr>
          <a:lstStyle/>
          <a:p>
            <a:pPr marL="57150" indent="0">
              <a:buNone/>
            </a:pPr>
            <a:r>
              <a:rPr lang="en-US" b="1" dirty="0"/>
              <a:t>Grouped query attention: </a:t>
            </a:r>
            <a:r>
              <a:rPr lang="en-US" dirty="0"/>
              <a:t>don’t require that every attention head have its own keys, values, and queries – instead re-use keys and values in “groups”</a:t>
            </a:r>
          </a:p>
          <a:p>
            <a:pPr lvl="3"/>
            <a:endParaRPr lang="en-US" dirty="0"/>
          </a:p>
        </p:txBody>
      </p:sp>
      <p:pic>
        <p:nvPicPr>
          <p:cNvPr id="1026" name="Picture 2" descr="Klu: What is Grouped-query Attention?">
            <a:extLst>
              <a:ext uri="{FF2B5EF4-FFF2-40B4-BE49-F238E27FC236}">
                <a16:creationId xmlns:a16="http://schemas.microsoft.com/office/drawing/2014/main" id="{F2977027-A732-0453-55C4-15CA45D57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79914"/>
            <a:ext cx="9144000" cy="375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39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3C508-C7FD-2646-914C-2390B1A45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3C56-5E56-D268-CA49-003F0781D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8F3A5-2FE2-A1EF-C452-FF4A6A532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99" y="1257299"/>
            <a:ext cx="8146144" cy="385354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Transformers haven’t changed much since 2017</a:t>
            </a:r>
          </a:p>
          <a:p>
            <a:pPr lvl="1"/>
            <a:r>
              <a:rPr lang="en-US" dirty="0"/>
              <a:t>as an architecture</a:t>
            </a:r>
          </a:p>
          <a:p>
            <a:r>
              <a:rPr lang="en-US" dirty="0"/>
              <a:t>There are some important </a:t>
            </a:r>
            <a:r>
              <a:rPr lang="en-US" i="1" dirty="0"/>
              <a:t>algorithmic </a:t>
            </a:r>
            <a:r>
              <a:rPr lang="en-US" dirty="0"/>
              <a:t>changes</a:t>
            </a:r>
          </a:p>
          <a:p>
            <a:pPr lvl="1"/>
            <a:r>
              <a:rPr lang="en-US" dirty="0" err="1"/>
              <a:t>FlashAttention</a:t>
            </a:r>
            <a:r>
              <a:rPr lang="en-US" dirty="0"/>
              <a:t>: better algorithm than vanilla matrix multiplication</a:t>
            </a:r>
          </a:p>
          <a:p>
            <a:pPr lvl="1"/>
            <a:r>
              <a:rPr lang="en-US" dirty="0" err="1"/>
              <a:t>KeyValue</a:t>
            </a:r>
            <a:r>
              <a:rPr lang="en-US" dirty="0"/>
              <a:t> caches: reduce re-computation and help allow longer contexts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179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5190</TotalTime>
  <Words>3512</Words>
  <Application>Microsoft Macintosh PowerPoint</Application>
  <PresentationFormat>On-screen Show (4:3)</PresentationFormat>
  <Paragraphs>688</Paragraphs>
  <Slides>86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4" baseType="lpstr">
      <vt:lpstr>Arial</vt:lpstr>
      <vt:lpstr>Book Antiqua</vt:lpstr>
      <vt:lpstr>Calibri</vt:lpstr>
      <vt:lpstr>Cambria Math</vt:lpstr>
      <vt:lpstr>Gill Sans MT</vt:lpstr>
      <vt:lpstr>Lucida Grande</vt:lpstr>
      <vt:lpstr>Wingdings</vt:lpstr>
      <vt:lpstr>Office Theme</vt:lpstr>
      <vt:lpstr>10-605 / 10-405</vt:lpstr>
      <vt:lpstr>Guest Speaker Monday! Greg Kochanski, Google DeepMind</vt:lpstr>
      <vt:lpstr>The Evolution of Transformers: Summary</vt:lpstr>
      <vt:lpstr>Topics</vt:lpstr>
      <vt:lpstr>PowerPoint Presentation</vt:lpstr>
      <vt:lpstr>PowerPoint Presentation</vt:lpstr>
      <vt:lpstr>Topics</vt:lpstr>
      <vt:lpstr>Topics</vt:lpstr>
      <vt:lpstr>Topics</vt:lpstr>
      <vt:lpstr>Recap: Attention for “question answering”</vt:lpstr>
      <vt:lpstr>Topics</vt:lpstr>
      <vt:lpstr>Topics</vt:lpstr>
      <vt:lpstr>Example: Machine Translation</vt:lpstr>
      <vt:lpstr>Transformers</vt:lpstr>
      <vt:lpstr>PowerPoint Presentation</vt:lpstr>
      <vt:lpstr>Inputs and Outputs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Attention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Layers in the Transformer Block</vt:lpstr>
      <vt:lpstr>PowerPoint Presentation</vt:lpstr>
      <vt:lpstr>PowerPoint Presentation</vt:lpstr>
      <vt:lpstr>PowerPoint Presentation</vt:lpstr>
      <vt:lpstr>PowerPoint Presentation</vt:lpstr>
      <vt:lpstr>BERT: An Encoder-Only Transformer</vt:lpstr>
      <vt:lpstr>BERT: An Encoder-Only Transformer</vt:lpstr>
      <vt:lpstr>BERT: An Encoder-Only Transformer</vt:lpstr>
      <vt:lpstr>BERT: An Encoder-Only Transformer</vt:lpstr>
      <vt:lpstr>BERT: An Encoder-Only Transformer</vt:lpstr>
      <vt:lpstr>Back to: Encoder-Decoder Transformers</vt:lpstr>
      <vt:lpstr>PowerPoint Presentation</vt:lpstr>
      <vt:lpstr>PowerPoint Presentation</vt:lpstr>
      <vt:lpstr>PowerPoint Presentation</vt:lpstr>
      <vt:lpstr>Decoder-Only Transformers</vt:lpstr>
      <vt:lpstr>Decoder-Only Transformers</vt:lpstr>
      <vt:lpstr>Comments: Fine-Tuning Transformers</vt:lpstr>
      <vt:lpstr>How do we ‘finetune’ models?</vt:lpstr>
      <vt:lpstr>Potential issue: models are getting large!</vt:lpstr>
      <vt:lpstr>Types of PEFT methods</vt:lpstr>
      <vt:lpstr>LoRA (low rank adaptation) finetuning</vt:lpstr>
      <vt:lpstr>PowerPoint Presentation</vt:lpstr>
      <vt:lpstr>LoRA finetuning</vt:lpstr>
      <vt:lpstr>recap: k-means as MF</vt:lpstr>
      <vt:lpstr>MF to adjust weights</vt:lpstr>
      <vt:lpstr>rank-1 MF to adjust weights</vt:lpstr>
      <vt:lpstr>Tokenization for Transformers</vt:lpstr>
      <vt:lpstr>PowerPoint Presentation</vt:lpstr>
      <vt:lpstr>Tokenization for NLP Transformers</vt:lpstr>
      <vt:lpstr>Tokenization for NLP</vt:lpstr>
      <vt:lpstr>Tokenization for NLP</vt:lpstr>
      <vt:lpstr>Tokenization for NLP</vt:lpstr>
      <vt:lpstr>Tokenization in BERT / GPT2</vt:lpstr>
      <vt:lpstr>Tokenization in BERT / GPT2: BPE</vt:lpstr>
      <vt:lpstr>Tokenization in BERT / GPT2: BPE</vt:lpstr>
      <vt:lpstr>Tokenization in BERT / GPT2</vt:lpstr>
      <vt:lpstr>Tokenization in BERT / GPT2</vt:lpstr>
      <vt:lpstr>Tokenization in Later Transformers</vt:lpstr>
      <vt:lpstr>Tokenization in Later Transformers</vt:lpstr>
      <vt:lpstr>Tokenization in Later Transformers</vt:lpstr>
      <vt:lpstr>Tokenization in Later Transformers</vt:lpstr>
      <vt:lpstr>Tokenization for Vision Transformers</vt:lpstr>
      <vt:lpstr>Tokenization for Vision Transformers</vt:lpstr>
      <vt:lpstr>Tokenization for Vision Transformers</vt:lpstr>
      <vt:lpstr>Vision Transformers – Pros and Cons</vt:lpstr>
      <vt:lpstr>Multi-Model Transformer: Example</vt:lpstr>
      <vt:lpstr>Multi-Model Transformer: Example</vt:lpstr>
      <vt:lpstr>Vision Transformers – Pros and Cons</vt:lpstr>
      <vt:lpstr>Transformers: Some Comments</vt:lpstr>
      <vt:lpstr>PowerPoint Presentation</vt:lpstr>
      <vt:lpstr>PowerPoint Presentation</vt:lpstr>
      <vt:lpstr>Comments</vt:lpstr>
      <vt:lpstr>Comments</vt:lpstr>
      <vt:lpstr>Comments</vt:lpstr>
      <vt:lpstr>Comments</vt:lpstr>
      <vt:lpstr>Comments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391</cp:revision>
  <dcterms:created xsi:type="dcterms:W3CDTF">2013-01-13T19:42:44Z</dcterms:created>
  <dcterms:modified xsi:type="dcterms:W3CDTF">2025-03-12T14:22:43Z</dcterms:modified>
</cp:coreProperties>
</file>