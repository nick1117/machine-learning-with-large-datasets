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375" r:id="rId2"/>
    <p:sldId id="471" r:id="rId3"/>
    <p:sldId id="402" r:id="rId4"/>
    <p:sldId id="448" r:id="rId5"/>
    <p:sldId id="451" r:id="rId6"/>
    <p:sldId id="460" r:id="rId7"/>
    <p:sldId id="463" r:id="rId8"/>
    <p:sldId id="464" r:id="rId9"/>
    <p:sldId id="466" r:id="rId10"/>
    <p:sldId id="492" r:id="rId11"/>
    <p:sldId id="490" r:id="rId12"/>
    <p:sldId id="465" r:id="rId13"/>
    <p:sldId id="467" r:id="rId14"/>
    <p:sldId id="469" r:id="rId15"/>
    <p:sldId id="468" r:id="rId16"/>
    <p:sldId id="493" r:id="rId17"/>
    <p:sldId id="495" r:id="rId18"/>
    <p:sldId id="496" r:id="rId19"/>
    <p:sldId id="494" r:id="rId20"/>
    <p:sldId id="473" r:id="rId21"/>
    <p:sldId id="472" r:id="rId22"/>
    <p:sldId id="434" r:id="rId23"/>
    <p:sldId id="427" r:id="rId24"/>
    <p:sldId id="435" r:id="rId25"/>
    <p:sldId id="437" r:id="rId26"/>
    <p:sldId id="436" r:id="rId27"/>
    <p:sldId id="438" r:id="rId28"/>
    <p:sldId id="440" r:id="rId29"/>
    <p:sldId id="439" r:id="rId30"/>
    <p:sldId id="441" r:id="rId31"/>
    <p:sldId id="474" r:id="rId32"/>
    <p:sldId id="470" r:id="rId33"/>
    <p:sldId id="403" r:id="rId34"/>
    <p:sldId id="405" r:id="rId35"/>
    <p:sldId id="406" r:id="rId36"/>
    <p:sldId id="410" r:id="rId37"/>
    <p:sldId id="416" r:id="rId38"/>
    <p:sldId id="407" r:id="rId39"/>
    <p:sldId id="408" r:id="rId40"/>
    <p:sldId id="257" r:id="rId41"/>
    <p:sldId id="259" r:id="rId42"/>
    <p:sldId id="411" r:id="rId43"/>
    <p:sldId id="418" r:id="rId44"/>
    <p:sldId id="409" r:id="rId45"/>
    <p:sldId id="417" r:id="rId46"/>
    <p:sldId id="415" r:id="rId47"/>
    <p:sldId id="294" r:id="rId48"/>
    <p:sldId id="295" r:id="rId49"/>
    <p:sldId id="296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497" r:id="rId66"/>
    <p:sldId id="412" r:id="rId67"/>
    <p:sldId id="413" r:id="rId68"/>
    <p:sldId id="475" r:id="rId69"/>
    <p:sldId id="476" r:id="rId70"/>
    <p:sldId id="477" r:id="rId71"/>
    <p:sldId id="404" r:id="rId72"/>
    <p:sldId id="478" r:id="rId73"/>
    <p:sldId id="419" r:id="rId74"/>
    <p:sldId id="420" r:id="rId75"/>
    <p:sldId id="479" r:id="rId76"/>
    <p:sldId id="480" r:id="rId77"/>
    <p:sldId id="481" r:id="rId78"/>
    <p:sldId id="482" r:id="rId79"/>
    <p:sldId id="483" r:id="rId80"/>
    <p:sldId id="484" r:id="rId81"/>
    <p:sldId id="485" r:id="rId82"/>
    <p:sldId id="486" r:id="rId83"/>
    <p:sldId id="487" r:id="rId84"/>
    <p:sldId id="414" r:id="rId85"/>
    <p:sldId id="488" r:id="rId86"/>
    <p:sldId id="489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7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7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E3E4-B271-0886-606B-7A7A600C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41624-E18D-B71B-680B-7FFB769EC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35449-682F-9458-9902-08EF9417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61FCC-16B6-2565-DAC8-27D1D38BB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12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8023-2096-A665-E92B-FBDBE29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ECA51-2166-AC8A-F5FC-1DCE7197A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3CBBC-2122-4CAD-F183-4BD87B19F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25AC-9D45-A095-003E-616ED6490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54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3E5B-8636-A99C-FD58-016D5797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8260E-A4F2-AB01-8FA1-A42E875A7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9FB5-EC9A-9246-972D-BB60D0236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 for </a:t>
            </a:r>
            <a:r>
              <a:rPr lang="en-US" dirty="0" err="1"/>
              <a:t>sentencepieces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1BB4-F061-DF83-4F5C-7E2332CFF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0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67B3-FAAB-E5B7-C3BC-4E3C7BEC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9F78-B208-5550-7F13-96DFA97F6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176C3-A862-58D9-0FCF-90E0FF35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/pdf/2010.11929/1000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28888-D3BE-A8DF-280E-5F42A1BAA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6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706F-6335-1554-08DC-C15E40B4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F5895-7EB3-2355-0FFC-D0C3622B6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2EC82-456A-C594-54E7-A3C60CF1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B1E85-DA83-89A1-D66D-8F6B994F4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63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AB34-9B39-250B-E77D-BEAA4EEA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0152B-4A59-4D42-59CD-5AE3E5D9B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4F39D-B933-EB68-03EE-B0D2992D5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E326E-BB08-7A2D-DE6C-D28428CC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2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8460-F510-E67E-D0A0-D30FECB9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DECC7-280C-AB21-0481-F7DC3E3CD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8DA2F-5A9A-2F0E-C7E9-E662F01A7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1B163-4F84-320D-CB61-910732496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1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38B4-9A75-9C75-E009-04540E4C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4C2B6-0422-5F7D-3154-FE56FBE4F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F610B-33B0-9C11-C3D1-CCD9F57C4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9B5AA-1DDC-83FF-C366-6D21994F0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15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448D-2913-4668-E2DD-400004A3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6DDD8-97BF-A723-113F-A0801E967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6802-0DD9-863A-FB0E-0B7E892B9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DB25-F0E3-9412-AF2D-BD7909E2B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6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joaolages</a:t>
            </a:r>
            <a:r>
              <a:rPr lang="en-US" dirty="0"/>
              <a:t>/kv-caching-explained-276520203249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89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37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D7B4-8048-8667-173A-D91BEBE6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FEEA3-0C6E-705F-0FA7-471BC5F1F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AAC7A-A76C-E335-D6BC-72129EAB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C2DC-10DA-D987-15F2-60548B51B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1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FA4B-D200-2870-C3BB-28770D96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01D3B-EE71-77FD-CE7D-35875707D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38795-F39F-3D4E-B3CF-9CE43DFCC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07026-A779-D352-435E-EB24F8A84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78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80E3-20D7-1C24-A6A5-9225146B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7A14A-89C2-5373-3400-CA9C7F30F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7AF80-969F-87BB-BE1D-C926B2D9A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FFBF3-1734-4FD9-4083-77D0F5822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03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6346-2CE4-9ECA-290B-1641BCDC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A4F2B-FA1A-C3D2-3AB4-DC9FF965A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AC09D-3F2C-C38E-5374-620A4BD6C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83C6-527D-A5C8-352C-CBA3A12E9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27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6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10**21 is a billion trillion FLOPS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38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39B0-FB40-AF90-0EA3-8BC7B31F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BC920-64A2-79EE-ED7E-2F86CE525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FDCB7-F357-52F7-BA8C-CB1A8A163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2DBFE-F811-F8F0-5808-8E309953B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90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75B8-CF0A-8C8D-83FD-1C80AB06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00E11-BBC4-E1A0-2DB8-94197D726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19146-1CF9-B9AD-CD0D-804F76313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78C67-5C00-ECC0-46C6-C2CD4B4D3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7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19EA-60E3-A02B-D68B-20453B2F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584E2-BFEF-B657-47C2-588031FF5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FDB56-06DA-9EF2-E410-FD603CB8D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DE7C-91B4-615A-2D05-80F4D04FB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40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Shape 14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2" name="Shape 14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Shape 18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04" name="Shape 18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Shape 18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4" name="Shape 18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Shape 20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27" name="Shape 20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Shape 21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7" name="Shape 21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Shape 23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2" name="Shape 23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Shape 25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1" name="Shape 25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Shape 27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15" name="Shape 27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Shape 28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89" name="Shape 28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Shape 30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74" name="Shape 30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Shape 32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60" name="Shape 3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Shape 34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9" name="Shape 34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Shape 36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30" name="Shape 36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Shape 38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22" name="Shape 38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2" name="Shape 40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13" name="Shape 40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7" name="Shape 42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08" name="Shape 42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60269" marR="60269" defTabSz="12954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defRPr sz="1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Laplace defined science as a predicting tool. 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/pdf/1503.02531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242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BA07-4BE9-4609-CCD4-F608E773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B9389-15E4-E3F9-5FCF-E39286FAE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52549-8174-B308-4BDC-66932E167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/pdf/1503.02531 – </a:t>
            </a:r>
            <a:r>
              <a:rPr lang="en-US" dirty="0" err="1"/>
              <a:t>hinton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/pdf/10.1145/1150402.1150464?casa_token=ZxtFG3fO6mEAAAAA:IdLIREL8pvqky67MmXOnwomiq0HI8LnFL2LltZIZZG1OsjRENg6fQh1aqpbiPbRKg8k4LqXHcRLC - </a:t>
            </a:r>
            <a:r>
              <a:rPr lang="en-US" dirty="0" err="1"/>
              <a:t>caruana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5DEC2-D113-88DB-6147-28184321C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55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E986-C1D4-D282-AE30-37B57AC2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ABAFF-3F75-FF8F-913B-616FE8076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ACA94-C0B4-B962-89B7-8EBBC6AD6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/pdf/1503.02531 – </a:t>
            </a:r>
            <a:r>
              <a:rPr lang="en-US" dirty="0" err="1"/>
              <a:t>hinton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/pdf/10.1145/1150402.1150464?casa_token=ZxtFG3fO6mEAAAAA:IdLIREL8pvqky67MmXOnwomiq0HI8LnFL2LltZIZZG1OsjRENg6fQh1aqpbiPbRKg8k4LqXHcRLC - </a:t>
            </a:r>
            <a:r>
              <a:rPr lang="en-US" dirty="0" err="1"/>
              <a:t>caruana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99008-7112-C136-504E-7CE9FEAD1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4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725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5AE3-9529-4CD4-D850-630806C3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EC6E8-6232-052A-C8FC-DB737AF0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FA82F-A86D-1AF9-E0C8-13F4B7201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A7A56-1007-1F48-2C06-7FD9643C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785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69E4-6885-3337-0F20-3252D81C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C0B79-C65A-4CA8-A1DB-A76C7C9CA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3299-3246-6B35-7111-101B25768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7C8D1-66DE-A332-17EE-9A055CB82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300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4100-598A-9102-60DE-0D9274B8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21A24-0B5C-5F3F-F123-394DBE5F1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B839-5768-EC83-5197-93603C5DC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63977-E4FF-8E25-8B4B-9152953F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853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7425-C5A5-4B1D-1DE1-E23E0710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59919-A486-DA52-06AE-E407025DF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BF4EB-62D1-11B7-27AA-DB7B1AA2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sebastianraschka.com</a:t>
            </a:r>
            <a:r>
              <a:rPr lang="en-US" dirty="0"/>
              <a:t>/blog/2023/</a:t>
            </a:r>
            <a:r>
              <a:rPr lang="en-US" dirty="0" err="1"/>
              <a:t>llm</a:t>
            </a:r>
            <a:r>
              <a:rPr lang="en-US" dirty="0"/>
              <a:t>-mixed-precision-</a:t>
            </a:r>
            <a:r>
              <a:rPr lang="en-US" dirty="0" err="1"/>
              <a:t>copy.html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1E35-D4DE-CBCF-9A5D-A9868453E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34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E170-50E1-104D-D696-81F1D1E9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92D41-904E-B1DC-EC4A-36DD5AC17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A7361-E825-B5A3-F6F5-B4F986E72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leimao.github.io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/article/Neural-Networks-Quantization/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2C531-400D-85E8-C0FE-DD836E54C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750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7684-E6FD-7D31-5780-8DF6953B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41164-81E8-79FD-71AF-1DF4830F5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58541-F39C-8132-A4AB-8302A08BC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leimao.github.io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/article/Neural-Networks-Quantization/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E20D1-70FC-30FA-CEA6-E7E60CA7D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793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FD38-3684-33B3-018F-13DEE058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A768-ABEB-18C8-5D24-FFC4DEFD4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89227-971B-D639-A5E3-D51DF0DB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5872C-BD1D-E79B-FAB5-23C9484C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002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9FCD-CFC9-C06D-C865-C9F3F1A7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E7E09-84D5-D11F-E425-E4E545B1B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53CA-7D26-2568-97C8-70E59973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A73C-E71D-6809-6649-2BCFC544C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514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76A0-6D7F-A647-3FA0-1A7B1D32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DCF01-7EED-D851-8E8B-C21A72232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CC3DE-286D-7372-7B1C-FAB44551D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604E4-7ED9-40E3-FAE2-77E17F4B3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861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85DA-658C-EE08-F02E-11880F23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4A8-8C7E-5A0F-65A5-A2D3313D1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5C377-25F5-1A81-3EBF-A1AF73211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69F6C-4892-E113-2512-92C4FB36B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38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63369" y="6384727"/>
            <a:ext cx="320600" cy="317394"/>
          </a:xfrm>
          <a:prstGeom prst="rect">
            <a:avLst/>
          </a:prstGeom>
        </p:spPr>
        <p:txBody>
          <a:bodyPr lIns="71437" tIns="71437" rIns="71437" bIns="71437"/>
          <a:lstStyle>
            <a:lvl1pPr defTabSz="435322">
              <a:defRPr sz="1125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90151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dium.com/@joaolages/kv-caching-explained-276520203249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jmlr.org/papers/volume18/16-558/16-558.pdf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DFC9-BC85-3F05-3FE4-67504068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C3D08-C8C5-1C3E-F18F-696B0A23B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Finish up Transformer details</a:t>
            </a:r>
          </a:p>
          <a:p>
            <a:pPr lvl="1"/>
            <a:r>
              <a:rPr lang="en-US" dirty="0"/>
              <a:t>Tokenization for VLMs</a:t>
            </a:r>
          </a:p>
          <a:p>
            <a:pPr lvl="1"/>
            <a:r>
              <a:rPr lang="en-US" dirty="0"/>
              <a:t>Key-value caching for Decoders</a:t>
            </a:r>
          </a:p>
          <a:p>
            <a:pPr lvl="2"/>
            <a:r>
              <a:rPr lang="en-US" dirty="0"/>
              <a:t>More on this later!</a:t>
            </a:r>
          </a:p>
          <a:p>
            <a:r>
              <a:rPr lang="en-US" dirty="0"/>
              <a:t>Even more on hyperparameter tuning</a:t>
            </a:r>
          </a:p>
          <a:p>
            <a:pPr lvl="1"/>
            <a:r>
              <a:rPr lang="en-US" dirty="0"/>
              <a:t>bandits and early stopping (for upcoming HW)</a:t>
            </a:r>
          </a:p>
          <a:p>
            <a:r>
              <a:rPr lang="en-US" dirty="0"/>
              <a:t>Methods for making big models smaller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pruning (for mini-project)</a:t>
            </a:r>
          </a:p>
          <a:p>
            <a:pPr lvl="1"/>
            <a:r>
              <a:rPr lang="en-US" dirty="0"/>
              <a:t>quantization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66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F53E-81B4-D1EB-324B-77E5EE22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57F1095-8068-087D-B031-7009979F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72304F-A418-D044-1ACB-4A1396EED224}"/>
              </a:ext>
            </a:extLst>
          </p:cNvPr>
          <p:cNvSpPr txBox="1"/>
          <p:nvPr/>
        </p:nvSpPr>
        <p:spPr>
          <a:xfrm>
            <a:off x="5344885" y="384631"/>
            <a:ext cx="29169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token vocabulary that is used is </a:t>
            </a:r>
            <a:r>
              <a:rPr lang="en-US" b="1" dirty="0"/>
              <a:t>important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68753-6CE3-C2D8-EC1D-D54C18B9EF43}"/>
              </a:ext>
            </a:extLst>
          </p:cNvPr>
          <p:cNvSpPr txBox="1"/>
          <p:nvPr/>
        </p:nvSpPr>
        <p:spPr>
          <a:xfrm>
            <a:off x="5344885" y="1451431"/>
            <a:ext cx="2916908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 NLP, current approaches use techniques like Byte Pair Encoding, </a:t>
            </a:r>
            <a:r>
              <a:rPr lang="en-US" dirty="0" err="1"/>
              <a:t>wordpieces</a:t>
            </a:r>
            <a:r>
              <a:rPr lang="en-US" dirty="0"/>
              <a:t>, or sentence pieces---which are all quite similar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52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34473-000D-96B5-C55C-4143AEC1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7F91-3F1D-C771-E595-CC0A0E8A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54F7-D540-97FF-A219-6CA86CB0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3" y="1257300"/>
            <a:ext cx="4149722" cy="30803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Idea: reduce the number of tokens by finding meaningful </a:t>
            </a:r>
            <a:r>
              <a:rPr lang="en-US" b="1" dirty="0" err="1"/>
              <a:t>subwords</a:t>
            </a:r>
            <a:endParaRPr lang="en-US" b="1" dirty="0"/>
          </a:p>
          <a:p>
            <a:r>
              <a:rPr lang="en-US" dirty="0">
                <a:sym typeface="Wingdings" pitchFamily="2" charset="2"/>
              </a:rPr>
              <a:t>Simplest version of this is Byte Pair Encoding (BPE)</a:t>
            </a:r>
          </a:p>
          <a:p>
            <a:r>
              <a:rPr lang="en-US" dirty="0" err="1">
                <a:sym typeface="Wingdings" pitchFamily="2" charset="2"/>
              </a:rPr>
              <a:t>Wordpieces</a:t>
            </a:r>
            <a:r>
              <a:rPr lang="en-US" dirty="0">
                <a:sym typeface="Wingdings" pitchFamily="2" charset="2"/>
              </a:rPr>
              <a:t> is BERT’s variant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4720724E-2FEE-6684-7B9A-C79EA06CCC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04744-208F-4E64-50F7-D5AB0A891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350" y="1096962"/>
            <a:ext cx="3808782" cy="5685249"/>
          </a:xfrm>
          <a:prstGeom prst="rect">
            <a:avLst/>
          </a:prstGeom>
        </p:spPr>
      </p:pic>
      <p:pic>
        <p:nvPicPr>
          <p:cNvPr id="7" name="Picture 6" descr="A group of orange rectangular boxes with black text&#10;&#10;AI-generated content may be incorrect.">
            <a:extLst>
              <a:ext uri="{FF2B5EF4-FFF2-40B4-BE49-F238E27FC236}">
                <a16:creationId xmlns:a16="http://schemas.microsoft.com/office/drawing/2014/main" id="{3535EF34-3981-BDB9-8899-43E7D89DB4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577"/>
          <a:stretch/>
        </p:blipFill>
        <p:spPr>
          <a:xfrm>
            <a:off x="502868" y="5393583"/>
            <a:ext cx="3225800" cy="779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F8C6AC-295B-3979-BA7A-8CD7F2C34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397" y="4610253"/>
            <a:ext cx="2297734" cy="565596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7C089DC0-4687-40E2-8030-7DC78DBCE312}"/>
              </a:ext>
            </a:extLst>
          </p:cNvPr>
          <p:cNvSpPr/>
          <p:nvPr/>
        </p:nvSpPr>
        <p:spPr>
          <a:xfrm>
            <a:off x="2173857" y="5175849"/>
            <a:ext cx="224286" cy="42485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7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1FF141-7497-CE03-669C-24A804F9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9001-DAC9-23AD-DD69-12777A44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6D3263F-C035-63D7-F5A7-9655BD0DC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7F63AF-4DA8-B050-E43B-5AB574BF77E3}"/>
              </a:ext>
            </a:extLst>
          </p:cNvPr>
          <p:cNvSpPr txBox="1">
            <a:spLocks/>
          </p:cNvSpPr>
          <p:nvPr/>
        </p:nvSpPr>
        <p:spPr>
          <a:xfrm>
            <a:off x="4947558" y="1283267"/>
            <a:ext cx="3461656" cy="318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was used in BERT: much like </a:t>
            </a:r>
            <a:r>
              <a:rPr lang="en-US" b="1" dirty="0">
                <a:sym typeface="Wingdings" pitchFamily="2" charset="2"/>
              </a:rPr>
              <a:t>BPE</a:t>
            </a:r>
            <a:r>
              <a:rPr lang="en-US" dirty="0">
                <a:sym typeface="Wingdings" pitchFamily="2" charset="2"/>
              </a:rPr>
              <a:t> but tries to maximize the probability of the corpus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under a naïve Bayes-like model of probability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main difference: instead of scoring pairs by </a:t>
            </a:r>
            <a:r>
              <a:rPr lang="en-US" b="1" dirty="0">
                <a:sym typeface="Wingdings" pitchFamily="2" charset="2"/>
              </a:rPr>
              <a:t>frequency</a:t>
            </a:r>
            <a:r>
              <a:rPr lang="en-US" dirty="0">
                <a:sym typeface="Wingdings" pitchFamily="2" charset="2"/>
              </a:rPr>
              <a:t> score of </a:t>
            </a:r>
            <a:r>
              <a:rPr lang="en-US" b="1" dirty="0">
                <a:sym typeface="Wingdings" pitchFamily="2" charset="2"/>
              </a:rPr>
              <a:t>pointwise mutual information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C7320B-C522-86F2-1878-CD0789137AFF}"/>
              </a:ext>
            </a:extLst>
          </p:cNvPr>
          <p:cNvSpPr txBox="1">
            <a:spLocks/>
          </p:cNvSpPr>
          <p:nvPr/>
        </p:nvSpPr>
        <p:spPr>
          <a:xfrm>
            <a:off x="734788" y="1283267"/>
            <a:ext cx="3837212" cy="38602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and </a:t>
            </a:r>
            <a:r>
              <a:rPr lang="en-US" b="1" dirty="0">
                <a:sym typeface="Wingdings" pitchFamily="2" charset="2"/>
              </a:rPr>
              <a:t>BPE </a:t>
            </a:r>
            <a:r>
              <a:rPr lang="en-US" dirty="0">
                <a:sym typeface="Wingdings" pitchFamily="2" charset="2"/>
              </a:rPr>
              <a:t>are constrained by the initial tokenization.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Could be a problem, e.g., if you tokenized Python code naively.</a:t>
            </a:r>
          </a:p>
          <a:p>
            <a:pPr marL="57150" indent="0">
              <a:buNone/>
            </a:pPr>
            <a:endParaRPr lang="en-US" b="1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SentencePieces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starts with “sentences” instead of words.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Common approach now is to use BPE on a </a:t>
            </a:r>
            <a:r>
              <a:rPr lang="en-US" b="1" dirty="0">
                <a:sym typeface="Wingdings" pitchFamily="2" charset="2"/>
              </a:rPr>
              <a:t>large</a:t>
            </a:r>
            <a:r>
              <a:rPr lang="en-US" dirty="0">
                <a:sym typeface="Wingdings" pitchFamily="2" charset="2"/>
              </a:rPr>
              <a:t> corpus in </a:t>
            </a:r>
            <a:r>
              <a:rPr lang="en-US" b="1" dirty="0">
                <a:sym typeface="Wingdings" pitchFamily="2" charset="2"/>
              </a:rPr>
              <a:t>UTF-8 </a:t>
            </a:r>
            <a:r>
              <a:rPr lang="en-US" dirty="0">
                <a:sym typeface="Wingdings" pitchFamily="2" charset="2"/>
              </a:rPr>
              <a:t>with </a:t>
            </a:r>
            <a:r>
              <a:rPr lang="en-US" b="1" dirty="0">
                <a:sym typeface="Wingdings" pitchFamily="2" charset="2"/>
              </a:rPr>
              <a:t>minimal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ym typeface="Wingdings" pitchFamily="2" charset="2"/>
              </a:rPr>
              <a:t>pre-splitting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8CF0-028C-4B4D-9044-7A77C2E88AF7}"/>
              </a:ext>
            </a:extLst>
          </p:cNvPr>
          <p:cNvSpPr txBox="1">
            <a:spLocks/>
          </p:cNvSpPr>
          <p:nvPr/>
        </p:nvSpPr>
        <p:spPr>
          <a:xfrm>
            <a:off x="2549980" y="4970411"/>
            <a:ext cx="6378120" cy="162995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Transformers are used for other modalities of input as well: images, audio, …</a:t>
            </a:r>
          </a:p>
        </p:txBody>
      </p:sp>
    </p:spTree>
    <p:extLst>
      <p:ext uri="{BB962C8B-B14F-4D97-AF65-F5344CB8AC3E}">
        <p14:creationId xmlns:p14="http://schemas.microsoft.com/office/powerpoint/2010/main" val="8694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C5D5-5909-CA01-FD02-96B291B6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1CB6-13C7-A378-247B-E185F2B7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F535E0D-19A3-4E06-0B6D-6043FDDBC8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5C1142F0-B2BD-9B9E-92CB-2363D16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21" y="2093005"/>
            <a:ext cx="7772400" cy="38012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84B88-94E2-6816-80C6-F4E74D847788}"/>
              </a:ext>
            </a:extLst>
          </p:cNvPr>
          <p:cNvSpPr txBox="1">
            <a:spLocks/>
          </p:cNvSpPr>
          <p:nvPr/>
        </p:nvSpPr>
        <p:spPr>
          <a:xfrm>
            <a:off x="3964796" y="1096962"/>
            <a:ext cx="4899804" cy="1100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Transformers are used for other modalities of input as well: images, audio, …</a:t>
            </a:r>
          </a:p>
        </p:txBody>
      </p:sp>
    </p:spTree>
    <p:extLst>
      <p:ext uri="{BB962C8B-B14F-4D97-AF65-F5344CB8AC3E}">
        <p14:creationId xmlns:p14="http://schemas.microsoft.com/office/powerpoint/2010/main" val="90212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4ACA-B6B4-7E38-954A-9853278A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6347-A048-2CA6-24ED-6F1C0E32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F538DD68-76DF-D5F5-904A-ED6E49A6E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transformer&#10;&#10;AI-generated content may be incorrect.">
            <a:extLst>
              <a:ext uri="{FF2B5EF4-FFF2-40B4-BE49-F238E27FC236}">
                <a16:creationId xmlns:a16="http://schemas.microsoft.com/office/drawing/2014/main" id="{040A1C8B-1CDD-728A-57EA-70EC8860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20" y="1096961"/>
            <a:ext cx="9096843" cy="55056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180F-CD0C-E0F3-0ED8-555E716DBB25}"/>
              </a:ext>
            </a:extLst>
          </p:cNvPr>
          <p:cNvSpPr txBox="1">
            <a:spLocks/>
          </p:cNvSpPr>
          <p:nvPr/>
        </p:nvSpPr>
        <p:spPr>
          <a:xfrm>
            <a:off x="279400" y="292099"/>
            <a:ext cx="2697941" cy="11080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1800" dirty="0">
                <a:sym typeface="Wingdings" pitchFamily="2" charset="2"/>
              </a:rPr>
              <a:t>2D positional encoding is not better than 1D positional encoding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883FA1-4E44-5150-C693-A3F3B6E10EBA}"/>
              </a:ext>
            </a:extLst>
          </p:cNvPr>
          <p:cNvCxnSpPr/>
          <p:nvPr/>
        </p:nvCxnSpPr>
        <p:spPr>
          <a:xfrm>
            <a:off x="728663" y="1400175"/>
            <a:ext cx="899707" cy="202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15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F12FC-846C-557A-2C3A-D33971EC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0AEE-4B68-D1FC-9E6E-D0A4C757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697C3CDB-A58B-CFE7-4DF3-328B1EFDE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D02E15-5AEA-5A35-B349-CA0BE12E8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1405390"/>
            <a:ext cx="73025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6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7D8F-F85F-3BDB-1343-B1AF1975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362D-08DE-8E7E-97E0-71E82F51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18FD7A2D-B93C-F95F-90A1-872641C90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5E7B50-61B6-E6E9-6656-DF00CDFDF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49561"/>
            <a:ext cx="7772400" cy="330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AB3E75-B3E8-3681-B472-2793EAE9F079}"/>
              </a:ext>
            </a:extLst>
          </p:cNvPr>
          <p:cNvSpPr txBox="1"/>
          <p:nvPr/>
        </p:nvSpPr>
        <p:spPr>
          <a:xfrm>
            <a:off x="2916917" y="3549560"/>
            <a:ext cx="302668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JFT = 300M images @ Google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71AE2-8514-F035-B395-5AD80FA56165}"/>
              </a:ext>
            </a:extLst>
          </p:cNvPr>
          <p:cNvSpPr txBox="1"/>
          <p:nvPr/>
        </p:nvSpPr>
        <p:spPr>
          <a:xfrm>
            <a:off x="6688816" y="3528885"/>
            <a:ext cx="200433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Also trained on JFT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BC00F-5797-5C7D-4985-909E523FB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" y="1037871"/>
            <a:ext cx="6832600" cy="21864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9563F2-D713-79FE-68EC-2DF6AFAAFB2F}"/>
              </a:ext>
            </a:extLst>
          </p:cNvPr>
          <p:cNvSpPr txBox="1"/>
          <p:nvPr/>
        </p:nvSpPr>
        <p:spPr>
          <a:xfrm>
            <a:off x="4961616" y="3102886"/>
            <a:ext cx="302668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21k classes and 14M images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478CC6-E851-A8B8-5F51-9A1B154A3DBE}"/>
              </a:ext>
            </a:extLst>
          </p:cNvPr>
          <p:cNvCxnSpPr>
            <a:stCxn id="9" idx="2"/>
          </p:cNvCxnSpPr>
          <p:nvPr/>
        </p:nvCxnSpPr>
        <p:spPr>
          <a:xfrm flipH="1">
            <a:off x="6257925" y="3472218"/>
            <a:ext cx="217033" cy="4158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1F05A-6444-AA31-47CC-7E59320E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3333-17B9-3BB1-F74C-EAE417AC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10352A6-03AE-2D6B-110B-9D60FFB2B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0B466-8503-334F-EBC3-E6849258D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49561"/>
            <a:ext cx="7772400" cy="330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0BC8C6-B2E3-03EA-8A94-91FCFCE83972}"/>
              </a:ext>
            </a:extLst>
          </p:cNvPr>
          <p:cNvSpPr txBox="1"/>
          <p:nvPr/>
        </p:nvSpPr>
        <p:spPr>
          <a:xfrm>
            <a:off x="2916917" y="3549560"/>
            <a:ext cx="302668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JFT = 300M images @ Google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0FE3F-4CF3-771C-603B-4C6B093A8BB1}"/>
              </a:ext>
            </a:extLst>
          </p:cNvPr>
          <p:cNvSpPr txBox="1"/>
          <p:nvPr/>
        </p:nvSpPr>
        <p:spPr>
          <a:xfrm>
            <a:off x="6688816" y="3528885"/>
            <a:ext cx="200433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Also trained on JFT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87197-52F6-5691-7BD6-33878C86A333}"/>
              </a:ext>
            </a:extLst>
          </p:cNvPr>
          <p:cNvSpPr txBox="1"/>
          <p:nvPr/>
        </p:nvSpPr>
        <p:spPr>
          <a:xfrm>
            <a:off x="895460" y="1321070"/>
            <a:ext cx="7562740" cy="16312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TPUv3 – 2 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16Gb/core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1024 TPUs per pod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L/16 trains on 14M images with 8 cores in 30days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71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52F8-D362-E8B4-1131-31E8EDB3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Transformers – 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1DA1-B915-2A26-B802-F0C500BD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40057" cy="38862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ViTs</a:t>
            </a:r>
            <a:r>
              <a:rPr lang="en-US" dirty="0"/>
              <a:t> have a weaker bias than CNNs and usually need more data to train</a:t>
            </a:r>
          </a:p>
          <a:p>
            <a:pPr lvl="1"/>
            <a:r>
              <a:rPr lang="en-US" dirty="0"/>
              <a:t>They don’t “know” that local-area features matter</a:t>
            </a:r>
          </a:p>
          <a:p>
            <a:pPr lvl="1"/>
            <a:r>
              <a:rPr lang="en-US" dirty="0"/>
              <a:t>“For example, </a:t>
            </a:r>
            <a:r>
              <a:rPr lang="en-US" dirty="0" err="1"/>
              <a:t>ViT</a:t>
            </a:r>
            <a:r>
              <a:rPr lang="en-US" dirty="0"/>
              <a:t>-B/32 is slightly faster than ResNet50; it performs much worse on the 9M subset, but better on 90M+ subsets.”</a:t>
            </a:r>
          </a:p>
          <a:p>
            <a:r>
              <a:rPr lang="en-US" dirty="0"/>
              <a:t>Transformers are not the </a:t>
            </a:r>
            <a:r>
              <a:rPr lang="en-US" dirty="0" err="1"/>
              <a:t>SoTA</a:t>
            </a:r>
            <a:r>
              <a:rPr lang="en-US" dirty="0"/>
              <a:t> way of </a:t>
            </a:r>
            <a:r>
              <a:rPr lang="en-US" b="1" dirty="0"/>
              <a:t>generating</a:t>
            </a:r>
            <a:r>
              <a:rPr lang="en-US" i="1" dirty="0"/>
              <a:t> </a:t>
            </a:r>
            <a:r>
              <a:rPr lang="en-US" dirty="0"/>
              <a:t>images</a:t>
            </a:r>
          </a:p>
          <a:p>
            <a:pPr lvl="1"/>
            <a:r>
              <a:rPr lang="en-US" dirty="0"/>
              <a:t>Although they often do quite well!</a:t>
            </a:r>
          </a:p>
          <a:p>
            <a:r>
              <a:rPr lang="en-US" dirty="0" err="1"/>
              <a:t>ViTs</a:t>
            </a:r>
            <a:r>
              <a:rPr lang="en-US" dirty="0"/>
              <a:t> are excellent for multimodal vision/language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07022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F087-5CD0-64A7-5B9C-4A26FB45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6A30-6575-07A0-7F0A-846CBDD8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1CBF0-9CE8-B356-29FE-2297F0C7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6963"/>
            <a:ext cx="7380514" cy="2374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58024-2195-44CA-B581-75944EDECD6A}"/>
              </a:ext>
            </a:extLst>
          </p:cNvPr>
          <p:cNvSpPr txBox="1"/>
          <p:nvPr/>
        </p:nvSpPr>
        <p:spPr>
          <a:xfrm>
            <a:off x="7527471" y="10969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250488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F67-5240-EF65-5000-D1C093B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7DE-AF98-36BE-5A75-D81C76EF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4F955-BC44-5714-6151-3FD9A4AD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5" y="1183724"/>
            <a:ext cx="4468015" cy="3564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A77C-37AD-BC3B-E2D8-4AD0BA60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357" y="1096962"/>
            <a:ext cx="4263908" cy="400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68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F3B8-B00C-C5A4-F040-182078A7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B764-174E-255D-7051-0A7BFEC1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D4B0C-DEEC-A651-4D74-284B8E8E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00" y="3304081"/>
            <a:ext cx="1794328" cy="1431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227DE-4BBC-12A2-3152-93AA86BC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08" y="1260248"/>
            <a:ext cx="4380591" cy="4113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65E5B3-3A27-32A8-C98E-65B919AAF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64" y="1767292"/>
            <a:ext cx="3466944" cy="139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F457B8-23BA-3573-6A84-3C24042C7CAA}"/>
              </a:ext>
            </a:extLst>
          </p:cNvPr>
          <p:cNvSpPr txBox="1"/>
          <p:nvPr/>
        </p:nvSpPr>
        <p:spPr>
          <a:xfrm>
            <a:off x="279401" y="2053153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D6521-E4C1-54A2-8486-98372C581D61}"/>
              </a:ext>
            </a:extLst>
          </p:cNvPr>
          <p:cNvSpPr txBox="1"/>
          <p:nvPr/>
        </p:nvSpPr>
        <p:spPr>
          <a:xfrm>
            <a:off x="279400" y="3634771"/>
            <a:ext cx="73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A7B06-DA32-20C8-63D3-3DC3A9E8F7DA}"/>
              </a:ext>
            </a:extLst>
          </p:cNvPr>
          <p:cNvSpPr txBox="1"/>
          <p:nvPr/>
        </p:nvSpPr>
        <p:spPr>
          <a:xfrm>
            <a:off x="279400" y="1260248"/>
            <a:ext cx="225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0. 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T5</a:t>
            </a:r>
          </a:p>
        </p:txBody>
      </p:sp>
    </p:spTree>
    <p:extLst>
      <p:ext uri="{BB962C8B-B14F-4D97-AF65-F5344CB8AC3E}">
        <p14:creationId xmlns:p14="http://schemas.microsoft.com/office/powerpoint/2010/main" val="277820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0139-269D-7B9E-04A3-E54F936A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27E4-FFC6-B887-3A62-AFAE4F2B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28B919-2762-297C-B703-FE47E6880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64" y="1767292"/>
            <a:ext cx="3466944" cy="139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AF063A-DC8B-4084-D115-0600EAE2434B}"/>
              </a:ext>
            </a:extLst>
          </p:cNvPr>
          <p:cNvSpPr txBox="1"/>
          <p:nvPr/>
        </p:nvSpPr>
        <p:spPr>
          <a:xfrm>
            <a:off x="279401" y="2053153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DC241-4237-19C2-E793-A75FE8C83E7F}"/>
              </a:ext>
            </a:extLst>
          </p:cNvPr>
          <p:cNvSpPr txBox="1"/>
          <p:nvPr/>
        </p:nvSpPr>
        <p:spPr>
          <a:xfrm>
            <a:off x="279400" y="1260248"/>
            <a:ext cx="225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0. 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T5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1DE46-A488-9C38-0465-939EFB58C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08" y="2004292"/>
            <a:ext cx="4606925" cy="3664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458DE4-E82B-2C4E-EC89-BBFC95F7A8A6}"/>
              </a:ext>
            </a:extLst>
          </p:cNvPr>
          <p:cNvSpPr txBox="1"/>
          <p:nvPr/>
        </p:nvSpPr>
        <p:spPr>
          <a:xfrm>
            <a:off x="447074" y="3954296"/>
            <a:ext cx="346694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One encoder is used for two purposes – retrieval and generation</a:t>
            </a:r>
          </a:p>
        </p:txBody>
      </p:sp>
    </p:spTree>
    <p:extLst>
      <p:ext uri="{BB962C8B-B14F-4D97-AF65-F5344CB8AC3E}">
        <p14:creationId xmlns:p14="http://schemas.microsoft.com/office/powerpoint/2010/main" val="34023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119D-903E-6487-9C4E-793FA132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9DDE-B8C1-E236-058E-4E90A403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2FE54-35EB-9011-6538-ACF25F9E1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1096962"/>
            <a:ext cx="9148598" cy="2703513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0C10BC46-5E3F-729F-F4CD-BBFD55D1C7C4}"/>
              </a:ext>
            </a:extLst>
          </p:cNvPr>
          <p:cNvSpPr/>
          <p:nvPr/>
        </p:nvSpPr>
        <p:spPr>
          <a:xfrm rot="5400000">
            <a:off x="3201473" y="1446728"/>
            <a:ext cx="369332" cy="52006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ED012-E3BC-0451-D8F4-0B7B9379EBBF}"/>
              </a:ext>
            </a:extLst>
          </p:cNvPr>
          <p:cNvSpPr txBox="1"/>
          <p:nvPr/>
        </p:nvSpPr>
        <p:spPr>
          <a:xfrm>
            <a:off x="1671638" y="4313303"/>
            <a:ext cx="3529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“Contrastive loss”: CLS embeddings of “positive pairs” are dot-product closer than CLS embeddings of “negative pairs”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072B298-302E-91AC-48D0-3DD53BA5A963}"/>
              </a:ext>
            </a:extLst>
          </p:cNvPr>
          <p:cNvSpPr/>
          <p:nvPr/>
        </p:nvSpPr>
        <p:spPr>
          <a:xfrm rot="5400000">
            <a:off x="7428435" y="2581979"/>
            <a:ext cx="353945" cy="297667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E8A7A-9FD6-3A56-9EFB-B08765C0C064}"/>
              </a:ext>
            </a:extLst>
          </p:cNvPr>
          <p:cNvSpPr txBox="1"/>
          <p:nvPr/>
        </p:nvSpPr>
        <p:spPr>
          <a:xfrm>
            <a:off x="5986466" y="4349198"/>
            <a:ext cx="2941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“Generative loss”: generated tokens are high-probability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17D83-9144-CB86-160E-60900421E99F}"/>
              </a:ext>
            </a:extLst>
          </p:cNvPr>
          <p:cNvSpPr txBox="1"/>
          <p:nvPr/>
        </p:nvSpPr>
        <p:spPr>
          <a:xfrm>
            <a:off x="42862" y="5225883"/>
            <a:ext cx="89281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Image-caption pairs: ignore memory, train for image + prompt “generate caption:” </a:t>
            </a:r>
            <a:r>
              <a:rPr lang="en-US" dirty="0">
                <a:sym typeface="Wingdings" pitchFamily="2" charset="2"/>
              </a:rPr>
              <a:t> caption</a:t>
            </a:r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72E7BD-68C7-5449-1B74-53DC6920CED3}"/>
              </a:ext>
            </a:extLst>
          </p:cNvPr>
          <p:cNvSpPr txBox="1"/>
          <p:nvPr/>
        </p:nvSpPr>
        <p:spPr>
          <a:xfrm>
            <a:off x="556727" y="5761038"/>
            <a:ext cx="853701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Visual QA: memory is captions, train for image + prompt=question </a:t>
            </a:r>
            <a:r>
              <a:rPr lang="en-US" dirty="0">
                <a:sym typeface="Wingdings" pitchFamily="2" charset="2"/>
              </a:rPr>
              <a:t> answer</a:t>
            </a:r>
            <a:r>
              <a:rPr lang="en-US" dirty="0"/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FC28F-D884-3DA1-F1FF-A7330C3E1D17}"/>
              </a:ext>
            </a:extLst>
          </p:cNvPr>
          <p:cNvSpPr txBox="1"/>
          <p:nvPr/>
        </p:nvSpPr>
        <p:spPr>
          <a:xfrm>
            <a:off x="428625" y="6244349"/>
            <a:ext cx="801809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PAQ (question, passage, answer): memory is passages, train for </a:t>
            </a:r>
            <a:r>
              <a:rPr lang="en-US" dirty="0" err="1"/>
              <a:t>question</a:t>
            </a:r>
            <a:r>
              <a:rPr lang="en-US" dirty="0" err="1">
                <a:sym typeface="Wingdings" pitchFamily="2" charset="2"/>
              </a:rPr>
              <a:t>answer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2052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7071-0A23-817B-6AFD-60D351AE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AD1D-EC1E-2099-E1AC-FD26A741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B857725-9770-2AE1-03A6-5872682B42B8}"/>
              </a:ext>
            </a:extLst>
          </p:cNvPr>
          <p:cNvSpPr/>
          <p:nvPr/>
        </p:nvSpPr>
        <p:spPr>
          <a:xfrm rot="5400000">
            <a:off x="2972387" y="1289429"/>
            <a:ext cx="369332" cy="52006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0AC59-FDC7-486D-D157-168E38DD45C5}"/>
              </a:ext>
            </a:extLst>
          </p:cNvPr>
          <p:cNvSpPr txBox="1"/>
          <p:nvPr/>
        </p:nvSpPr>
        <p:spPr>
          <a:xfrm>
            <a:off x="1163947" y="4213310"/>
            <a:ext cx="398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Retrieve from memory using encodings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41DA3EE-4067-79CF-C4BD-30FADF01027B}"/>
              </a:ext>
            </a:extLst>
          </p:cNvPr>
          <p:cNvSpPr/>
          <p:nvPr/>
        </p:nvSpPr>
        <p:spPr>
          <a:xfrm rot="5400000">
            <a:off x="7337971" y="2434647"/>
            <a:ext cx="353945" cy="297667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F906F-85B2-3556-2035-0C94432276EC}"/>
              </a:ext>
            </a:extLst>
          </p:cNvPr>
          <p:cNvSpPr txBox="1"/>
          <p:nvPr/>
        </p:nvSpPr>
        <p:spPr>
          <a:xfrm>
            <a:off x="6019946" y="4239858"/>
            <a:ext cx="294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7291FF-AAB3-F0D2-5F22-637C4D4D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95267"/>
            <a:ext cx="8574656" cy="243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72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5E25-DFF6-0DB0-BF2D-A821D851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5A44-24DD-EAAC-E2AD-4C48537B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Vision Transformers – Pros and Cons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70AE4-5D76-E3AC-0B65-0509801F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37" y="1104900"/>
            <a:ext cx="5565445" cy="546100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774CEEAA-55EB-5D9C-167F-FE1C0F9D5A97}"/>
              </a:ext>
            </a:extLst>
          </p:cNvPr>
          <p:cNvSpPr/>
          <p:nvPr/>
        </p:nvSpPr>
        <p:spPr>
          <a:xfrm>
            <a:off x="7382930" y="1410405"/>
            <a:ext cx="289458" cy="20185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F51A0F6-35C4-4F92-D6E9-9286505FF5DA}"/>
              </a:ext>
            </a:extLst>
          </p:cNvPr>
          <p:cNvSpPr/>
          <p:nvPr/>
        </p:nvSpPr>
        <p:spPr>
          <a:xfrm>
            <a:off x="7382930" y="3577343"/>
            <a:ext cx="289458" cy="133755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222A9-B1AE-A5C2-AD3A-9E31E8D52A78}"/>
              </a:ext>
            </a:extLst>
          </p:cNvPr>
          <p:cNvSpPr txBox="1"/>
          <p:nvPr/>
        </p:nvSpPr>
        <p:spPr>
          <a:xfrm rot="5400000">
            <a:off x="7350047" y="2327642"/>
            <a:ext cx="158538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retrieval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A86D69-4060-0AA7-6E63-C63C28BD51F4}"/>
              </a:ext>
            </a:extLst>
          </p:cNvPr>
          <p:cNvSpPr txBox="1"/>
          <p:nvPr/>
        </p:nvSpPr>
        <p:spPr>
          <a:xfrm rot="5400000">
            <a:off x="7350047" y="3898527"/>
            <a:ext cx="15853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Retrieval at test time </a:t>
            </a:r>
          </a:p>
        </p:txBody>
      </p:sp>
    </p:spTree>
    <p:extLst>
      <p:ext uri="{BB962C8B-B14F-4D97-AF65-F5344CB8AC3E}">
        <p14:creationId xmlns:p14="http://schemas.microsoft.com/office/powerpoint/2010/main" val="3666171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7D38-F5C9-CAC8-FE15-48EC10C0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23E0-D313-046A-B52A-F91613C8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5D0BC-CD7B-FEC7-E1FA-DDF539A7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Finish up Transformer details</a:t>
            </a:r>
          </a:p>
          <a:p>
            <a:pPr lvl="1"/>
            <a:r>
              <a:rPr lang="en-US" dirty="0"/>
              <a:t>Tokenization for Vision Transformers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Key-value caching for Decoders</a:t>
            </a:r>
          </a:p>
          <a:p>
            <a:pPr lvl="2"/>
            <a:r>
              <a:rPr lang="en-US" dirty="0"/>
              <a:t>More on this later!</a:t>
            </a:r>
          </a:p>
          <a:p>
            <a:r>
              <a:rPr lang="en-US" dirty="0"/>
              <a:t>Even more on hyperparameter tuning</a:t>
            </a:r>
          </a:p>
          <a:p>
            <a:pPr lvl="1"/>
            <a:r>
              <a:rPr lang="en-US" dirty="0"/>
              <a:t>bandits and early stopping (for upcoming HW)</a:t>
            </a:r>
          </a:p>
          <a:p>
            <a:r>
              <a:rPr lang="en-US" dirty="0"/>
              <a:t>Methods for making big models smaller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pruning (for mini-project)</a:t>
            </a:r>
          </a:p>
          <a:p>
            <a:pPr lvl="1"/>
            <a:r>
              <a:rPr lang="en-US" dirty="0"/>
              <a:t>quantization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04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Caching for 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5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3553-5C74-6886-2527-07E1C103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FDE6114-6AD6-48A0-6F09-CDA27E33A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CB60D31-F8B0-3DE9-803A-4C3A1D48A7F8}"/>
              </a:ext>
            </a:extLst>
          </p:cNvPr>
          <p:cNvSpPr/>
          <p:nvPr/>
        </p:nvSpPr>
        <p:spPr>
          <a:xfrm>
            <a:off x="2688907" y="3946870"/>
            <a:ext cx="1311594" cy="83944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BA1C-C129-4152-E92B-AACE86B952D7}"/>
              </a:ext>
            </a:extLst>
          </p:cNvPr>
          <p:cNvSpPr txBox="1"/>
          <p:nvPr/>
        </p:nvSpPr>
        <p:spPr>
          <a:xfrm>
            <a:off x="4957763" y="4043425"/>
            <a:ext cx="35718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Masked</a:t>
            </a:r>
            <a:r>
              <a:rPr lang="en-US" dirty="0"/>
              <a:t> self-attention is used in the decoder</a:t>
            </a:r>
          </a:p>
        </p:txBody>
      </p:sp>
      <p:pic>
        <p:nvPicPr>
          <p:cNvPr id="6" name="Picture 5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897F2294-DB0A-B2B2-5622-23046968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D0F09-71B0-8541-CF70-A58CD83812AC}"/>
              </a:ext>
            </a:extLst>
          </p:cNvPr>
          <p:cNvSpPr txBox="1"/>
          <p:nvPr/>
        </p:nvSpPr>
        <p:spPr>
          <a:xfrm>
            <a:off x="4537755" y="96033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</a:t>
            </a:r>
            <a:r>
              <a:rPr lang="en-US" b="1" dirty="0"/>
              <a:t>masked</a:t>
            </a:r>
            <a:r>
              <a:rPr lang="en-US" dirty="0"/>
              <a:t> self-attention, the </a:t>
            </a:r>
            <a:r>
              <a:rPr lang="en-US" b="1" dirty="0"/>
              <a:t>query</a:t>
            </a:r>
            <a:r>
              <a:rPr lang="en-US" dirty="0"/>
              <a:t> for token at </a:t>
            </a:r>
            <a:r>
              <a:rPr lang="en-US" b="1" dirty="0"/>
              <a:t>position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can only attend to </a:t>
            </a:r>
            <a:r>
              <a:rPr lang="en-US" dirty="0" err="1"/>
              <a:t>thr</a:t>
            </a:r>
            <a:r>
              <a:rPr lang="en-US" dirty="0"/>
              <a:t> </a:t>
            </a:r>
            <a:r>
              <a:rPr lang="en-US" b="1" dirty="0"/>
              <a:t>keys</a:t>
            </a:r>
            <a:r>
              <a:rPr lang="en-US" dirty="0"/>
              <a:t> for tokens at positions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0,1,…,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4BE0-1B17-936D-6261-34E080634115}"/>
              </a:ext>
            </a:extLst>
          </p:cNvPr>
          <p:cNvSpPr txBox="1"/>
          <p:nvPr/>
        </p:nvSpPr>
        <p:spPr>
          <a:xfrm>
            <a:off x="4662351" y="1891245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done with a </a:t>
            </a:r>
            <a:r>
              <a:rPr lang="en-US" b="1" dirty="0"/>
              <a:t>mask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683999D-0DF9-50CC-38D5-74AFD06B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33" y="2465415"/>
            <a:ext cx="4157663" cy="301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32D992-0B04-835B-068F-8AEAA4B09D0D}"/>
              </a:ext>
            </a:extLst>
          </p:cNvPr>
          <p:cNvSpPr txBox="1"/>
          <p:nvPr/>
        </p:nvSpPr>
        <p:spPr>
          <a:xfrm>
            <a:off x="4662350" y="5642902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Prediction for token at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not affec</a:t>
            </a:r>
            <a:r>
              <a:rPr lang="en-US" dirty="0"/>
              <a:t>ted by “future” tokens 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i+1,i+2, …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A4E5E-95B2-BBFA-58FF-E2D394AEB1D7}"/>
              </a:ext>
            </a:extLst>
          </p:cNvPr>
          <p:cNvSpPr txBox="1"/>
          <p:nvPr/>
        </p:nvSpPr>
        <p:spPr>
          <a:xfrm>
            <a:off x="4537754" y="6337426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aka ”causal LM” or “causal masking”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CDA5-BECF-89A4-DC84-D6DC8FC891B5}"/>
              </a:ext>
            </a:extLst>
          </p:cNvPr>
          <p:cNvSpPr txBox="1"/>
          <p:nvPr/>
        </p:nvSpPr>
        <p:spPr>
          <a:xfrm>
            <a:off x="381476" y="207793"/>
            <a:ext cx="2149453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</a:t>
            </a:r>
          </a:p>
        </p:txBody>
      </p:sp>
    </p:spTree>
    <p:extLst>
      <p:ext uri="{BB962C8B-B14F-4D97-AF65-F5344CB8AC3E}">
        <p14:creationId xmlns:p14="http://schemas.microsoft.com/office/powerpoint/2010/main" val="140386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3EBA-C811-7A8F-43EB-BED43F0E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470F2B51-9D26-1126-7C70-23B84D4F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C321215B-887E-DD2B-1076-08C049E65FD7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6679E9-3121-3E6D-3B0A-597F2235754B}"/>
              </a:ext>
            </a:extLst>
          </p:cNvPr>
          <p:cNvSpPr/>
          <p:nvPr/>
        </p:nvSpPr>
        <p:spPr>
          <a:xfrm>
            <a:off x="5999077" y="4632670"/>
            <a:ext cx="2083566" cy="101701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F1D99-24A3-EDAD-0714-A4C3D58B97AE}"/>
              </a:ext>
            </a:extLst>
          </p:cNvPr>
          <p:cNvSpPr txBox="1"/>
          <p:nvPr/>
        </p:nvSpPr>
        <p:spPr>
          <a:xfrm>
            <a:off x="381476" y="207793"/>
            <a:ext cx="4399834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 is </a:t>
            </a:r>
            <a:r>
              <a:rPr lang="en-US" sz="2800" b="1" dirty="0"/>
              <a:t>always </a:t>
            </a:r>
            <a:r>
              <a:rPr lang="en-US" sz="2800" dirty="0"/>
              <a:t>used in decoder-only Transformers</a:t>
            </a:r>
          </a:p>
        </p:txBody>
      </p:sp>
      <p:pic>
        <p:nvPicPr>
          <p:cNvPr id="18" name="Picture 17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326DB01F-7793-72F3-EA38-9871E23FE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443" y="3429000"/>
            <a:ext cx="2151225" cy="2824843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85678144-0464-35D5-FC5A-1CEBC7EC0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3" b="6173"/>
          <a:stretch/>
        </p:blipFill>
        <p:spPr bwMode="auto">
          <a:xfrm>
            <a:off x="278278" y="3869872"/>
            <a:ext cx="2355847" cy="21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44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9B94-B64D-55FC-84C6-8F73F263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A49CB87D-36B3-A521-354B-5B0E8A045032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F9201-7C29-6041-1932-D9D4CCA6F00E}"/>
              </a:ext>
            </a:extLst>
          </p:cNvPr>
          <p:cNvSpPr txBox="1"/>
          <p:nvPr/>
        </p:nvSpPr>
        <p:spPr>
          <a:xfrm>
            <a:off x="381475" y="207793"/>
            <a:ext cx="7080681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generation</a:t>
            </a:r>
            <a:r>
              <a:rPr lang="en-US" sz="2800" b="1" dirty="0"/>
              <a:t> </a:t>
            </a:r>
            <a:r>
              <a:rPr lang="en-US" sz="2800" dirty="0"/>
              <a:t>is </a:t>
            </a:r>
            <a:r>
              <a:rPr lang="en-US" sz="2800" b="1" dirty="0"/>
              <a:t>auto-regressive</a:t>
            </a: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E22721-AB65-6D41-AAF1-0BC509FBA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319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F0DD2-C6DE-217B-759A-4C1262CD8B85}"/>
              </a:ext>
            </a:extLst>
          </p:cNvPr>
          <p:cNvSpPr txBox="1"/>
          <p:nvPr/>
        </p:nvSpPr>
        <p:spPr>
          <a:xfrm>
            <a:off x="381475" y="5372100"/>
            <a:ext cx="86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https://medium.com/@joaolages/kv-caching-explained-276520203249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013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7A6A-0560-1339-AF0E-606F2A3A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813B-DD92-09EA-E7FB-1CB3C300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09C3F2-3446-117E-F3E3-A18B8860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5707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B89D9CA-627E-4853-4A00-E74291283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486" y="1108983"/>
            <a:ext cx="3284493" cy="121647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ECB4A1-C8CC-3F57-8968-7634DDA3C69A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298812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7032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690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E2CFCD-D57B-547B-0C87-D7833B384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" r="1890"/>
          <a:stretch/>
        </p:blipFill>
        <p:spPr>
          <a:xfrm>
            <a:off x="0" y="1690771"/>
            <a:ext cx="9144000" cy="5167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2E0B6E-36C8-306A-9B86-D595D5D4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9BCE2-29BB-1035-EF65-051B85ED3E8F}"/>
              </a:ext>
            </a:extLst>
          </p:cNvPr>
          <p:cNvSpPr txBox="1"/>
          <p:nvPr/>
        </p:nvSpPr>
        <p:spPr>
          <a:xfrm>
            <a:off x="2367643" y="1347106"/>
            <a:ext cx="57150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Transformers the QK</a:t>
            </a:r>
            <a:r>
              <a:rPr lang="en-US" baseline="30000" dirty="0"/>
              <a:t>T</a:t>
            </a:r>
            <a:r>
              <a:rPr lang="en-US" dirty="0"/>
              <a:t> </a:t>
            </a:r>
            <a:r>
              <a:rPr lang="en-US" dirty="0" err="1"/>
              <a:t>matmul</a:t>
            </a:r>
            <a:r>
              <a:rPr lang="en-US" dirty="0"/>
              <a:t> is the only place where information from one </a:t>
            </a:r>
            <a:r>
              <a:rPr lang="en-US" b="1" dirty="0"/>
              <a:t>token’s representation </a:t>
            </a:r>
            <a:r>
              <a:rPr lang="en-US" dirty="0"/>
              <a:t>is moved to </a:t>
            </a:r>
            <a:r>
              <a:rPr lang="en-US" b="1" dirty="0"/>
              <a:t>another token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F08F-FB38-31EC-98D2-AB3E27336D39}"/>
              </a:ext>
            </a:extLst>
          </p:cNvPr>
          <p:cNvSpPr txBox="1"/>
          <p:nvPr/>
        </p:nvSpPr>
        <p:spPr>
          <a:xfrm>
            <a:off x="4572000" y="2276234"/>
            <a:ext cx="375012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x</a:t>
            </a:r>
            <a:r>
              <a:rPr lang="en-US" baseline="-25000" dirty="0"/>
              <a:t>i</a:t>
            </a:r>
            <a:r>
              <a:rPr lang="en-US" b="1" dirty="0"/>
              <a:t> </a:t>
            </a:r>
            <a:r>
              <a:rPr lang="en-US" dirty="0"/>
              <a:t>is token representation</a:t>
            </a:r>
          </a:p>
          <a:p>
            <a:r>
              <a:rPr lang="en-US" b="1" dirty="0"/>
              <a:t>q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Q.  </a:t>
            </a:r>
            <a:r>
              <a:rPr lang="en-US" dirty="0"/>
              <a:t>; </a:t>
            </a:r>
            <a:r>
              <a:rPr lang="en-US" b="1" dirty="0"/>
              <a:t>k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K. </a:t>
            </a:r>
            <a:r>
              <a:rPr lang="en-US" dirty="0"/>
              <a:t>; </a:t>
            </a:r>
            <a:r>
              <a:rPr lang="en-US" b="1" dirty="0"/>
              <a:t>v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V.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04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6065F-918C-2A5B-EC3C-93951FDA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5E485-0019-DE4E-5438-CD5B382B3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6884"/>
          <a:stretch/>
        </p:blipFill>
        <p:spPr>
          <a:xfrm>
            <a:off x="-179614" y="3677807"/>
            <a:ext cx="9144000" cy="231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7FC0B-615F-58F3-1BF2-E9A8A3E0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A98ABF19-F6BA-041D-44D6-8FFCD03516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25FF0E-274C-1748-265F-D5BC8ED7368D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5929E8-9D16-43E2-D357-65F261C98DE6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5372B1-6B47-2DC8-BB92-D13B9D72A6B9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21F3CD-2301-55AB-F1A1-4A96500624F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98758A-12B4-8232-2379-4401C7DB79C7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855C21-58F4-3EE9-8937-82BD92CF16EC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6193FDF-0B47-8E22-17D3-5ED796867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37" b="77461"/>
          <a:stretch/>
        </p:blipFill>
        <p:spPr bwMode="auto">
          <a:xfrm>
            <a:off x="3046242" y="1634331"/>
            <a:ext cx="1503022" cy="90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A336D1-12FE-3F2A-8DF2-331BEFC2FC66}"/>
              </a:ext>
            </a:extLst>
          </p:cNvPr>
          <p:cNvSpPr/>
          <p:nvPr/>
        </p:nvSpPr>
        <p:spPr>
          <a:xfrm>
            <a:off x="3484927" y="1680890"/>
            <a:ext cx="450260" cy="4086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D5E584-03AF-A033-AF46-71CA6555B802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224AC0-DD59-1FB4-518D-84F172F0FF8D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</p:spTree>
    <p:extLst>
      <p:ext uri="{BB962C8B-B14F-4D97-AF65-F5344CB8AC3E}">
        <p14:creationId xmlns:p14="http://schemas.microsoft.com/office/powerpoint/2010/main" val="2516071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A024-B0C4-5867-3992-AFC118B5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FF19C-B6F0-BD74-7969-DDC64A53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8373"/>
          <a:stretch/>
        </p:blipFill>
        <p:spPr>
          <a:xfrm>
            <a:off x="-179614" y="3677807"/>
            <a:ext cx="9144000" cy="1204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38549-C9E0-DA1F-EBC0-8CEAC6FB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FD05748-1BF0-7F94-F4A2-7A14C05FB1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385B71-CC00-2C2D-FACB-8F0809F33601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385018-1335-E7CE-B9D7-B601996896C1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088DD8-8B62-23F9-5DCC-9BE504ACE5C6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042B09-D1A0-96C9-56B2-D1A57F753E1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BD334E-37C0-309D-418D-754EC8D236CA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A1AF04-6203-DA14-054C-8E781DB4B3EF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C46FA61-0DC9-2231-233D-E4F6E719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00" b="88682"/>
          <a:stretch/>
        </p:blipFill>
        <p:spPr bwMode="auto">
          <a:xfrm>
            <a:off x="3046242" y="1634331"/>
            <a:ext cx="905273" cy="45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76B5AF-9285-5D04-5917-CB0C23F2BB5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16691-C778-578A-DFF6-27BCBC964960}"/>
              </a:ext>
            </a:extLst>
          </p:cNvPr>
          <p:cNvSpPr/>
          <p:nvPr/>
        </p:nvSpPr>
        <p:spPr>
          <a:xfrm>
            <a:off x="2824843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45375-E064-785B-C6C4-7D9AD0C5C69B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50F9CF-92D5-75D0-DB1B-9B16633F6F86}"/>
              </a:ext>
            </a:extLst>
          </p:cNvPr>
          <p:cNvSpPr/>
          <p:nvPr/>
        </p:nvSpPr>
        <p:spPr>
          <a:xfrm>
            <a:off x="4658825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06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0AC02-582F-B85A-8C1D-7B890602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B83C9-53EF-584B-4CB6-87EEC96E6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3948"/>
          <a:stretch/>
        </p:blipFill>
        <p:spPr>
          <a:xfrm>
            <a:off x="-179614" y="3677807"/>
            <a:ext cx="9144000" cy="1433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2C7D1A-A34B-2D51-1D8F-195F6303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Caching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407E35AD-A10F-BC4D-4292-99CF438E9C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73591B-382B-B8E7-9CD5-A67EB7C30FC8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57E540-EEAB-1B31-4AC4-6509C7B3705B}"/>
              </a:ext>
            </a:extLst>
          </p:cNvPr>
          <p:cNvSpPr/>
          <p:nvPr/>
        </p:nvSpPr>
        <p:spPr>
          <a:xfrm>
            <a:off x="7787711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6D492D-C417-240F-ABCC-8C808E4882D3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1ACE91-856C-E90C-4C90-50F92255BA42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AA87BD-5979-893D-3CD5-03BED9C62F0A}"/>
              </a:ext>
            </a:extLst>
          </p:cNvPr>
          <p:cNvSpPr/>
          <p:nvPr/>
        </p:nvSpPr>
        <p:spPr>
          <a:xfrm>
            <a:off x="2076450" y="4072616"/>
            <a:ext cx="734923" cy="143303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03530B-A7C7-665F-D600-ADB1CC711191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D340377-1E28-D8C0-4A98-B69713306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72" b="84997"/>
          <a:stretch/>
        </p:blipFill>
        <p:spPr bwMode="auto">
          <a:xfrm>
            <a:off x="3046242" y="1634331"/>
            <a:ext cx="1101215" cy="6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CD58D9-7314-5F34-FE38-0136EB4768AC}"/>
              </a:ext>
            </a:extLst>
          </p:cNvPr>
          <p:cNvSpPr/>
          <p:nvPr/>
        </p:nvSpPr>
        <p:spPr>
          <a:xfrm>
            <a:off x="3484926" y="1680890"/>
            <a:ext cx="793160" cy="60339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481BA8-73D2-03CC-D537-613578EA926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1C43A-0042-851D-E342-4C551E1A57ED}"/>
              </a:ext>
            </a:extLst>
          </p:cNvPr>
          <p:cNvSpPr/>
          <p:nvPr/>
        </p:nvSpPr>
        <p:spPr>
          <a:xfrm>
            <a:off x="3124200" y="4147457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A21F8-7EE4-157B-4062-3C404B1ACD5E}"/>
              </a:ext>
            </a:extLst>
          </p:cNvPr>
          <p:cNvSpPr txBox="1"/>
          <p:nvPr/>
        </p:nvSpPr>
        <p:spPr>
          <a:xfrm>
            <a:off x="1577407" y="5786911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F0C788-6A89-7F98-B084-3530851B29AC}"/>
              </a:ext>
            </a:extLst>
          </p:cNvPr>
          <p:cNvSpPr txBox="1"/>
          <p:nvPr/>
        </p:nvSpPr>
        <p:spPr>
          <a:xfrm>
            <a:off x="1798526" y="6214030"/>
            <a:ext cx="670764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Fourth output</a:t>
            </a:r>
            <a:r>
              <a:rPr lang="en-US" dirty="0"/>
              <a:t> output depends only on the first </a:t>
            </a:r>
            <a:r>
              <a:rPr lang="en-US" b="1" dirty="0"/>
              <a:t>three</a:t>
            </a:r>
            <a:r>
              <a:rPr lang="en-US" dirty="0"/>
              <a:t> tokens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385600-380B-64C1-446F-5FB407930338}"/>
              </a:ext>
            </a:extLst>
          </p:cNvPr>
          <p:cNvSpPr txBox="1"/>
          <p:nvPr/>
        </p:nvSpPr>
        <p:spPr>
          <a:xfrm>
            <a:off x="777307" y="2792408"/>
            <a:ext cx="67076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Stuff in green boxes has not changed since step 3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9590B0-2361-1255-A817-E5B2D150BEA9}"/>
              </a:ext>
            </a:extLst>
          </p:cNvPr>
          <p:cNvSpPr txBox="1"/>
          <p:nvPr/>
        </p:nvSpPr>
        <p:spPr>
          <a:xfrm>
            <a:off x="777307" y="3319855"/>
            <a:ext cx="780703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keys </a:t>
            </a:r>
            <a:r>
              <a:rPr lang="en-US" sz="2000" dirty="0"/>
              <a:t>and </a:t>
            </a:r>
            <a:r>
              <a:rPr lang="en-US" sz="2000" b="1" dirty="0"/>
              <a:t>values </a:t>
            </a:r>
            <a:r>
              <a:rPr lang="en-US" sz="2000" dirty="0"/>
              <a:t>can be </a:t>
            </a:r>
            <a:r>
              <a:rPr lang="en-US" sz="2000" b="1" dirty="0"/>
              <a:t>cached and re-used </a:t>
            </a:r>
            <a:r>
              <a:rPr lang="en-US" sz="2000" dirty="0"/>
              <a:t>in forward pass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A5C1FB-C28E-15E0-2571-BB55B9D1E580}"/>
              </a:ext>
            </a:extLst>
          </p:cNvPr>
          <p:cNvSpPr/>
          <p:nvPr/>
        </p:nvSpPr>
        <p:spPr>
          <a:xfrm>
            <a:off x="4971984" y="4198583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0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1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E418-C172-35BF-A2C8-7C3FD941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27F64460-2B53-6C24-8CB0-EC9B711B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750123BC-9337-547C-8F6A-5FFEAF1656A0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326D87-1DD8-B9FE-55A3-510BA25EEEDC}"/>
              </a:ext>
            </a:extLst>
          </p:cNvPr>
          <p:cNvSpPr/>
          <p:nvPr/>
        </p:nvSpPr>
        <p:spPr>
          <a:xfrm>
            <a:off x="5999077" y="4632670"/>
            <a:ext cx="2083566" cy="101701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A68116-B3C4-9EED-934A-ACDB77271126}"/>
              </a:ext>
            </a:extLst>
          </p:cNvPr>
          <p:cNvSpPr txBox="1"/>
          <p:nvPr/>
        </p:nvSpPr>
        <p:spPr>
          <a:xfrm>
            <a:off x="381476" y="207793"/>
            <a:ext cx="4399834" cy="35394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Important point</a:t>
            </a:r>
            <a:r>
              <a:rPr lang="en-US" sz="2800" dirty="0"/>
              <a:t>: the FFN and </a:t>
            </a:r>
            <a:r>
              <a:rPr lang="en-US" sz="2800" dirty="0" err="1"/>
              <a:t>LayerNorms</a:t>
            </a:r>
            <a:r>
              <a:rPr lang="en-US" sz="2800" dirty="0"/>
              <a:t> are applied independently to each token position, so there MSA is the </a:t>
            </a:r>
            <a:r>
              <a:rPr lang="en-US" sz="2800" b="1" dirty="0"/>
              <a:t>only </a:t>
            </a:r>
            <a:r>
              <a:rPr lang="en-US" sz="2800" dirty="0"/>
              <a:t>place where information moves from one token position to another.</a:t>
            </a:r>
          </a:p>
        </p:txBody>
      </p:sp>
    </p:spTree>
    <p:extLst>
      <p:ext uri="{BB962C8B-B14F-4D97-AF65-F5344CB8AC3E}">
        <p14:creationId xmlns:p14="http://schemas.microsoft.com/office/powerpoint/2010/main" val="3513738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0106-7807-D186-33F4-E5C2EF6F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E9E4-D91B-87C9-FE57-B756A452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AD620-1135-9CBB-213C-641C3FAE1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Finish up Transformer details</a:t>
            </a:r>
          </a:p>
          <a:p>
            <a:pPr lvl="1"/>
            <a:r>
              <a:rPr lang="en-US" dirty="0"/>
              <a:t>Tokenization for Vision Transformers</a:t>
            </a:r>
          </a:p>
          <a:p>
            <a:pPr lvl="1"/>
            <a:r>
              <a:rPr lang="en-US" dirty="0"/>
              <a:t>Key-value caching for Decoders</a:t>
            </a:r>
          </a:p>
          <a:p>
            <a:pPr lvl="2"/>
            <a:r>
              <a:rPr lang="en-US" dirty="0"/>
              <a:t>More on this later!</a:t>
            </a:r>
          </a:p>
          <a:p>
            <a:r>
              <a:rPr lang="en-US" b="1" dirty="0">
                <a:solidFill>
                  <a:srgbClr val="0070C0"/>
                </a:solidFill>
              </a:rPr>
              <a:t>Even more on hyperparameter tuning</a:t>
            </a:r>
          </a:p>
          <a:p>
            <a:pPr lvl="1"/>
            <a:r>
              <a:rPr lang="en-US" dirty="0"/>
              <a:t>bandits and early stopping (for upcoming HW)</a:t>
            </a:r>
          </a:p>
          <a:p>
            <a:r>
              <a:rPr lang="en-US" dirty="0"/>
              <a:t>Methods for making big models smaller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pruning (for mini-project)</a:t>
            </a:r>
          </a:p>
          <a:p>
            <a:pPr lvl="1"/>
            <a:r>
              <a:rPr lang="en-US" dirty="0"/>
              <a:t>quantization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56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Selection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80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1796-8A8B-68B6-67ED-802B6F7C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A5ECE-72AB-32A7-43F6-658DA9AB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7835900" cy="27268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a set of </a:t>
            </a:r>
            <a:r>
              <a:rPr lang="en-US" b="1" dirty="0"/>
              <a:t>hyperparameters</a:t>
            </a:r>
          </a:p>
          <a:p>
            <a:pPr lvl="2"/>
            <a:r>
              <a:rPr lang="en-US" dirty="0"/>
              <a:t>which leads to a </a:t>
            </a:r>
            <a:r>
              <a:rPr lang="en-US" b="1" dirty="0"/>
              <a:t>space</a:t>
            </a:r>
            <a:r>
              <a:rPr lang="en-US" dirty="0"/>
              <a:t> of possible </a:t>
            </a:r>
            <a:r>
              <a:rPr lang="en-US" b="1" dirty="0"/>
              <a:t>configurations</a:t>
            </a:r>
          </a:p>
          <a:p>
            <a:r>
              <a:rPr lang="en-US" dirty="0"/>
              <a:t>Find:</a:t>
            </a:r>
          </a:p>
          <a:p>
            <a:pPr lvl="1"/>
            <a:r>
              <a:rPr lang="en-US" dirty="0"/>
              <a:t>the configuration </a:t>
            </a:r>
            <a:r>
              <a:rPr lang="en-US" i="1" dirty="0"/>
              <a:t>c  </a:t>
            </a:r>
            <a:r>
              <a:rPr lang="en-US" dirty="0"/>
              <a:t>that gives the best possible result </a:t>
            </a:r>
            <a:r>
              <a:rPr lang="en-US" i="1" dirty="0"/>
              <a:t>f(c)</a:t>
            </a:r>
            <a:r>
              <a:rPr lang="en-US" dirty="0"/>
              <a:t> for some task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: minimize validation loss after training with </a:t>
            </a:r>
            <a:r>
              <a:rPr lang="en-US" i="1" dirty="0"/>
              <a:t>c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0DE56-9E7A-0E6D-AE4F-015B553A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43" y="3984171"/>
            <a:ext cx="70612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53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2354-AFC1-7F73-AA3E-8EF82998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D789-DDA3-1CAB-7969-959E966D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6DE67-DF63-3B4F-196E-D3842762A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43" y="3984171"/>
            <a:ext cx="70612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736F32-AFA0-D468-C182-DBF384AF8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7" y="1096962"/>
            <a:ext cx="76581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44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2F60-882B-51DD-F0D1-54C7998C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F8C9-7E88-F4D7-D4A7-A377EF58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21CAF-E213-78DA-BA19-328FCE98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43" y="3984171"/>
            <a:ext cx="70612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05E5E-DDFE-6D6F-91FF-15574E30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11"/>
          <a:stretch/>
        </p:blipFill>
        <p:spPr>
          <a:xfrm>
            <a:off x="5600699" y="1096962"/>
            <a:ext cx="2648857" cy="314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CA570-7C08-20EE-B0C8-8CA760CB7C82}"/>
              </a:ext>
            </a:extLst>
          </p:cNvPr>
          <p:cNvSpPr txBox="1"/>
          <p:nvPr/>
        </p:nvSpPr>
        <p:spPr>
          <a:xfrm>
            <a:off x="522514" y="1453243"/>
            <a:ext cx="5078185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Adaptive selection </a:t>
            </a:r>
            <a:r>
              <a:rPr lang="en-US" sz="2000" b="1" dirty="0"/>
              <a:t>loop</a:t>
            </a:r>
            <a:r>
              <a:rPr lang="en-US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a model of </a:t>
            </a:r>
            <a:r>
              <a:rPr lang="en-US" sz="2000" i="1" dirty="0"/>
              <a:t>f</a:t>
            </a:r>
            <a:r>
              <a:rPr lang="en-US" sz="2000" dirty="0"/>
              <a:t> from past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“Surrogate”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Pick the next experiment to do based on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Repeat…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FB58E-584D-81F5-9DEA-35491D98288D}"/>
              </a:ext>
            </a:extLst>
          </p:cNvPr>
          <p:cNvSpPr txBox="1"/>
          <p:nvPr/>
        </p:nvSpPr>
        <p:spPr>
          <a:xfrm>
            <a:off x="567875" y="3638572"/>
            <a:ext cx="507818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What if experiments have differing costs?</a:t>
            </a:r>
          </a:p>
        </p:txBody>
      </p:sp>
    </p:spTree>
    <p:extLst>
      <p:ext uri="{BB962C8B-B14F-4D97-AF65-F5344CB8AC3E}">
        <p14:creationId xmlns:p14="http://schemas.microsoft.com/office/powerpoint/2010/main" val="334324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38E9-86F7-B2B7-991E-98D9068E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6E69-8AC4-CFEA-28A9-D1728585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Theory: Bandit Problems in 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2EC41-0314-46DA-9607-DF04A8D6A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2641"/>
            <a:ext cx="7772400" cy="4412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BD5EA-1CDA-B20E-A89E-AC4411236102}"/>
              </a:ext>
            </a:extLst>
          </p:cNvPr>
          <p:cNvSpPr txBox="1"/>
          <p:nvPr/>
        </p:nvSpPr>
        <p:spPr>
          <a:xfrm>
            <a:off x="4572000" y="4927472"/>
            <a:ext cx="4504418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Goal: (1) discover which arm has the lowest loss, so you can </a:t>
            </a:r>
            <a:r>
              <a:rPr lang="en-US" sz="2000" b="1" dirty="0"/>
              <a:t>exploit </a:t>
            </a:r>
            <a:r>
              <a:rPr lang="en-US" sz="2000" dirty="0"/>
              <a:t>this information (2) discover the best arm </a:t>
            </a:r>
            <a:r>
              <a:rPr lang="en-US" sz="2000" b="1" dirty="0"/>
              <a:t>quickly</a:t>
            </a:r>
            <a:r>
              <a:rPr lang="en-US" sz="2000" dirty="0"/>
              <a:t> so you can start winning!</a:t>
            </a:r>
          </a:p>
        </p:txBody>
      </p:sp>
    </p:spTree>
    <p:extLst>
      <p:ext uri="{BB962C8B-B14F-4D97-AF65-F5344CB8AC3E}">
        <p14:creationId xmlns:p14="http://schemas.microsoft.com/office/powerpoint/2010/main" val="348391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4C4B-6A10-3B65-6B78-995CBBDA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65B7-B6E9-651F-6CAC-9F257BE4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Theory: Bandit Problems in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3D0C5-3B26-9B0D-3FB6-A20A48C6F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96962"/>
            <a:ext cx="7571014" cy="25715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common sampling strategies</a:t>
            </a:r>
          </a:p>
          <a:p>
            <a:pPr lvl="1"/>
            <a:r>
              <a:rPr lang="en-US" dirty="0"/>
              <a:t>𝜺-greedy:  Pick a random arm with probability 𝜺 and the best arm with probability 1- 𝜺</a:t>
            </a:r>
          </a:p>
          <a:p>
            <a:pPr lvl="1"/>
            <a:r>
              <a:rPr lang="en-US" dirty="0"/>
              <a:t>Upper confidence bound (UCB): Compute confidence intervals on the expected loss of each arm, and pick the arm with best UCB 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F56668-63A3-CF78-2AFC-4841D4B70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86" y="3782786"/>
            <a:ext cx="6333672" cy="290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961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C4FA-1F0C-D9DC-8242-5E55518B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5094-39FA-8BC2-0551-1276CC72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 Selection: Early Stopping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8411E5-F99E-7166-E641-B18A7210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11"/>
          <a:stretch/>
        </p:blipFill>
        <p:spPr>
          <a:xfrm>
            <a:off x="5600699" y="1096962"/>
            <a:ext cx="2648857" cy="314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3A1E6-0DF3-221C-953C-FFC108F835EF}"/>
              </a:ext>
            </a:extLst>
          </p:cNvPr>
          <p:cNvSpPr txBox="1"/>
          <p:nvPr/>
        </p:nvSpPr>
        <p:spPr>
          <a:xfrm>
            <a:off x="522514" y="1466357"/>
            <a:ext cx="507818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What if experiments have differing costs?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60F74-AAC7-BC72-6CF8-EC08967A031E}"/>
              </a:ext>
            </a:extLst>
          </p:cNvPr>
          <p:cNvSpPr txBox="1"/>
          <p:nvPr/>
        </p:nvSpPr>
        <p:spPr>
          <a:xfrm>
            <a:off x="614589" y="2021305"/>
            <a:ext cx="507818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Example: #iterations of training is a hyperparameter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E1EB76-4E3C-C09D-37B8-D56541116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89" y="2869463"/>
            <a:ext cx="5080000" cy="3771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D558EC-36ED-667A-9BEF-B301C555924F}"/>
              </a:ext>
            </a:extLst>
          </p:cNvPr>
          <p:cNvSpPr/>
          <p:nvPr/>
        </p:nvSpPr>
        <p:spPr>
          <a:xfrm>
            <a:off x="3269796" y="3827999"/>
            <a:ext cx="1943100" cy="14134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57EB70E4-4C99-7BF4-8441-CF803E90AF8B}"/>
              </a:ext>
            </a:extLst>
          </p:cNvPr>
          <p:cNvSpPr/>
          <p:nvPr/>
        </p:nvSpPr>
        <p:spPr>
          <a:xfrm>
            <a:off x="3061606" y="3853543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45243044-35A7-C313-1D1F-89326285F933}"/>
              </a:ext>
            </a:extLst>
          </p:cNvPr>
          <p:cNvSpPr/>
          <p:nvPr/>
        </p:nvSpPr>
        <p:spPr>
          <a:xfrm>
            <a:off x="3061606" y="4246562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A6B9F-8428-0C3B-F18A-C00E01D1EED6}"/>
              </a:ext>
            </a:extLst>
          </p:cNvPr>
          <p:cNvSpPr txBox="1"/>
          <p:nvPr/>
        </p:nvSpPr>
        <p:spPr>
          <a:xfrm>
            <a:off x="5810703" y="4401469"/>
            <a:ext cx="2539093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We can </a:t>
            </a:r>
            <a:r>
              <a:rPr lang="en-US" sz="2000" b="1" dirty="0"/>
              <a:t>save computation </a:t>
            </a:r>
            <a:r>
              <a:rPr lang="en-US" sz="2000" dirty="0"/>
              <a:t>if we cut off unpromising experiments </a:t>
            </a:r>
            <a:r>
              <a:rPr lang="en-US" sz="2000" b="1" dirty="0"/>
              <a:t>early</a:t>
            </a:r>
          </a:p>
        </p:txBody>
      </p:sp>
    </p:spTree>
    <p:extLst>
      <p:ext uri="{BB962C8B-B14F-4D97-AF65-F5344CB8AC3E}">
        <p14:creationId xmlns:p14="http://schemas.microsoft.com/office/powerpoint/2010/main" val="109866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9" grpId="0" animBg="1"/>
      <p:bldP spid="10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A00D-A963-3F0D-20AB-A0B9D819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31F2-6499-FC87-7FA6-510C3553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 Selection: Early Stopping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2F917-1A5B-5867-DCD4-E154ED4B5B11}"/>
              </a:ext>
            </a:extLst>
          </p:cNvPr>
          <p:cNvSpPr txBox="1"/>
          <p:nvPr/>
        </p:nvSpPr>
        <p:spPr>
          <a:xfrm>
            <a:off x="522514" y="1466357"/>
            <a:ext cx="507818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What can we </a:t>
            </a:r>
            <a:r>
              <a:rPr lang="en-US" sz="2000" b="1" dirty="0"/>
              <a:t>prove</a:t>
            </a:r>
            <a:r>
              <a:rPr lang="en-US" sz="2000" dirty="0"/>
              <a:t> about this?</a:t>
            </a:r>
          </a:p>
          <a:p>
            <a:r>
              <a:rPr lang="en-US" sz="2000" dirty="0"/>
              <a:t>What do we need to </a:t>
            </a:r>
            <a:r>
              <a:rPr lang="en-US" sz="2000" b="1" dirty="0"/>
              <a:t>assume</a:t>
            </a:r>
            <a:r>
              <a:rPr lang="en-US" sz="2000" dirty="0"/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85B04D-5B68-703A-CC73-EF4A154F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89" y="2869463"/>
            <a:ext cx="5080000" cy="3771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75C4CA-706B-C4A8-5799-BCF3102CFE19}"/>
              </a:ext>
            </a:extLst>
          </p:cNvPr>
          <p:cNvSpPr/>
          <p:nvPr/>
        </p:nvSpPr>
        <p:spPr>
          <a:xfrm>
            <a:off x="3269796" y="3828000"/>
            <a:ext cx="1943100" cy="418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EB4B91-B372-5690-DDA8-EA3593E4FBE5}"/>
              </a:ext>
            </a:extLst>
          </p:cNvPr>
          <p:cNvSpPr/>
          <p:nvPr/>
        </p:nvSpPr>
        <p:spPr>
          <a:xfrm>
            <a:off x="3269796" y="3827999"/>
            <a:ext cx="1943100" cy="14134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3A3D10C8-538A-0192-2371-3A7616A7A920}"/>
              </a:ext>
            </a:extLst>
          </p:cNvPr>
          <p:cNvSpPr/>
          <p:nvPr/>
        </p:nvSpPr>
        <p:spPr>
          <a:xfrm>
            <a:off x="3061606" y="3853543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A9A50E64-0B97-FB01-6D9D-065C9D62DFAE}"/>
              </a:ext>
            </a:extLst>
          </p:cNvPr>
          <p:cNvSpPr/>
          <p:nvPr/>
        </p:nvSpPr>
        <p:spPr>
          <a:xfrm>
            <a:off x="3061606" y="4246562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525A4-E1A3-AAD9-1E74-E31448F66818}"/>
              </a:ext>
            </a:extLst>
          </p:cNvPr>
          <p:cNvSpPr txBox="1"/>
          <p:nvPr/>
        </p:nvSpPr>
        <p:spPr>
          <a:xfrm>
            <a:off x="459017" y="2224797"/>
            <a:ext cx="507818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In general we don’t know where a learning curve will  end up…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FC5CE732-C32B-AF8E-B7E1-BC2C6E737F44}"/>
              </a:ext>
            </a:extLst>
          </p:cNvPr>
          <p:cNvCxnSpPr>
            <a:cxnSpLocks/>
          </p:cNvCxnSpPr>
          <p:nvPr/>
        </p:nvCxnSpPr>
        <p:spPr>
          <a:xfrm>
            <a:off x="3061606" y="4401468"/>
            <a:ext cx="2267406" cy="1745283"/>
          </a:xfrm>
          <a:prstGeom prst="curvedConnector3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87FE86-B40C-E2EE-495C-37A308616BF1}"/>
              </a:ext>
            </a:extLst>
          </p:cNvPr>
          <p:cNvSpPr txBox="1"/>
          <p:nvPr/>
        </p:nvSpPr>
        <p:spPr>
          <a:xfrm>
            <a:off x="5694589" y="1380702"/>
            <a:ext cx="3136900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In practice there are often big jumps in discrete eval metrics like error rate, win ratios, …</a:t>
            </a:r>
          </a:p>
        </p:txBody>
      </p:sp>
      <p:pic>
        <p:nvPicPr>
          <p:cNvPr id="17" name="Picture 1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81E952F-E7AC-43DD-9FB7-5FE99D4A9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796" y="2987881"/>
            <a:ext cx="2906486" cy="204202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1AA19D-EE24-687A-D67F-9BF30E1E8EDC}"/>
              </a:ext>
            </a:extLst>
          </p:cNvPr>
          <p:cNvSpPr txBox="1"/>
          <p:nvPr/>
        </p:nvSpPr>
        <p:spPr>
          <a:xfrm>
            <a:off x="5600699" y="5174537"/>
            <a:ext cx="3136900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losses you train and test on are often fairly smooth … and sometimes there are models for them</a:t>
            </a:r>
          </a:p>
        </p:txBody>
      </p:sp>
    </p:spTree>
    <p:extLst>
      <p:ext uri="{BB962C8B-B14F-4D97-AF65-F5344CB8AC3E}">
        <p14:creationId xmlns:p14="http://schemas.microsoft.com/office/powerpoint/2010/main" val="409258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692F7-AE03-5DDA-9FE0-3C44483A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Chinchilla Scaling Laws</a:t>
            </a:r>
          </a:p>
        </p:txBody>
      </p:sp>
      <p:pic>
        <p:nvPicPr>
          <p:cNvPr id="6" name="Picture 5" descr="A close-up of a paper&#10;&#10;Description automatically generated">
            <a:extLst>
              <a:ext uri="{FF2B5EF4-FFF2-40B4-BE49-F238E27FC236}">
                <a16:creationId xmlns:a16="http://schemas.microsoft.com/office/drawing/2014/main" id="{06299390-71ED-8B2A-9A6F-06628B768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1100"/>
            <a:ext cx="7772400" cy="2744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C1398A-D747-5A2B-3BC1-CBF7CA11DBFC}"/>
              </a:ext>
            </a:extLst>
          </p:cNvPr>
          <p:cNvSpPr txBox="1"/>
          <p:nvPr/>
        </p:nvSpPr>
        <p:spPr>
          <a:xfrm>
            <a:off x="7515225" y="1471613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8313F-DA00-01B7-33C0-903B36E3C551}"/>
              </a:ext>
            </a:extLst>
          </p:cNvPr>
          <p:cNvSpPr txBox="1"/>
          <p:nvPr/>
        </p:nvSpPr>
        <p:spPr>
          <a:xfrm>
            <a:off x="6143625" y="95702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10-605 lecture!</a:t>
            </a:r>
          </a:p>
        </p:txBody>
      </p:sp>
    </p:spTree>
    <p:extLst>
      <p:ext uri="{BB962C8B-B14F-4D97-AF65-F5344CB8AC3E}">
        <p14:creationId xmlns:p14="http://schemas.microsoft.com/office/powerpoint/2010/main" val="3487590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D049-1EA5-6F66-6FAB-6A8F3FCC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B38F06-F985-850E-636E-F3F37285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Chinchilla Scaling Laws</a:t>
            </a:r>
          </a:p>
        </p:txBody>
      </p:sp>
      <p:pic>
        <p:nvPicPr>
          <p:cNvPr id="6" name="Picture 5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082688DF-A740-5856-20DB-75BC40830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1100"/>
            <a:ext cx="9201064" cy="4248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28BA23-53C4-D347-6D43-40B541A25B48}"/>
              </a:ext>
            </a:extLst>
          </p:cNvPr>
          <p:cNvSpPr txBox="1"/>
          <p:nvPr/>
        </p:nvSpPr>
        <p:spPr>
          <a:xfrm>
            <a:off x="3700463" y="1581150"/>
            <a:ext cx="104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63B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6BE24-3F50-32F0-5389-477A7B9CEB4F}"/>
              </a:ext>
            </a:extLst>
          </p:cNvPr>
          <p:cNvSpPr txBox="1"/>
          <p:nvPr/>
        </p:nvSpPr>
        <p:spPr>
          <a:xfrm>
            <a:off x="6493625" y="1428750"/>
            <a:ext cx="104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1.4T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3DA70-D409-3A21-6D9B-5269E2F7E872}"/>
              </a:ext>
            </a:extLst>
          </p:cNvPr>
          <p:cNvGrpSpPr/>
          <p:nvPr/>
        </p:nvGrpSpPr>
        <p:grpSpPr>
          <a:xfrm>
            <a:off x="5572125" y="3529013"/>
            <a:ext cx="3114675" cy="2517219"/>
            <a:chOff x="5572125" y="3529013"/>
            <a:chExt cx="3114675" cy="25172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5822FC-DCBA-9D4B-2343-7057233DE1E5}"/>
                </a:ext>
              </a:extLst>
            </p:cNvPr>
            <p:cNvSpPr txBox="1"/>
            <p:nvPr/>
          </p:nvSpPr>
          <p:spPr>
            <a:xfrm>
              <a:off x="5757863" y="5676900"/>
              <a:ext cx="2928937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Constraint = Budget = $$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9DBF20-BF68-8C6E-8739-E1966690E3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2125" y="3529013"/>
              <a:ext cx="1200150" cy="21478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AE3ABF1-3ED6-93D0-82A1-80E05338F056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222332" y="3657600"/>
              <a:ext cx="950118" cy="201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84CD0A-3110-BF66-FAE0-8ACF960CD445}"/>
              </a:ext>
            </a:extLst>
          </p:cNvPr>
          <p:cNvSpPr txBox="1"/>
          <p:nvPr/>
        </p:nvSpPr>
        <p:spPr>
          <a:xfrm>
            <a:off x="0" y="5458628"/>
            <a:ext cx="55721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Idea: fit a simple </a:t>
            </a:r>
            <a:r>
              <a:rPr lang="en-US" sz="2000" b="1" dirty="0"/>
              <a:t>model</a:t>
            </a:r>
            <a:r>
              <a:rPr lang="en-US" sz="2000" dirty="0"/>
              <a:t> to the data that relates compute, parameters, and loss, and use that to optimize loss given a total compute budget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446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15AC-AD53-01D9-1720-39741334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5B0063-0CD9-B1D1-0AB2-6C36132F1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16" r="8405"/>
          <a:stretch/>
        </p:blipFill>
        <p:spPr>
          <a:xfrm>
            <a:off x="4479161" y="3121707"/>
            <a:ext cx="4223968" cy="3544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B877C-C3E2-B96A-7FBA-6326177F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 Selection: Early Stopping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26F81497-69C2-B99B-1BA6-FB24E0ECE39C}"/>
              </a:ext>
            </a:extLst>
          </p:cNvPr>
          <p:cNvSpPr/>
          <p:nvPr/>
        </p:nvSpPr>
        <p:spPr>
          <a:xfrm>
            <a:off x="3061606" y="4246562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844076-A800-FC53-314D-2AD7A7F3BF26}"/>
              </a:ext>
            </a:extLst>
          </p:cNvPr>
          <p:cNvGrpSpPr/>
          <p:nvPr/>
        </p:nvGrpSpPr>
        <p:grpSpPr>
          <a:xfrm>
            <a:off x="-14998" y="3086100"/>
            <a:ext cx="4749888" cy="3771900"/>
            <a:chOff x="614589" y="2869463"/>
            <a:chExt cx="5080000" cy="37719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35AFFDB-54D8-DB64-4396-1EB079A36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589" y="2869463"/>
              <a:ext cx="5080000" cy="37719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5994B1F-14AE-6CE3-0BC0-E0A74645904E}"/>
                </a:ext>
              </a:extLst>
            </p:cNvPr>
            <p:cNvSpPr/>
            <p:nvPr/>
          </p:nvSpPr>
          <p:spPr>
            <a:xfrm>
              <a:off x="3269796" y="3827999"/>
              <a:ext cx="1943100" cy="1413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Multiply 8">
              <a:extLst>
                <a:ext uri="{FF2B5EF4-FFF2-40B4-BE49-F238E27FC236}">
                  <a16:creationId xmlns:a16="http://schemas.microsoft.com/office/drawing/2014/main" id="{23A977DA-43D7-CBC0-6C80-7ED1D60E40A6}"/>
                </a:ext>
              </a:extLst>
            </p:cNvPr>
            <p:cNvSpPr/>
            <p:nvPr/>
          </p:nvSpPr>
          <p:spPr>
            <a:xfrm>
              <a:off x="3061606" y="3853543"/>
              <a:ext cx="416380" cy="393019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61D0255-907C-6F18-E5BB-3E566757612A}"/>
              </a:ext>
            </a:extLst>
          </p:cNvPr>
          <p:cNvSpPr txBox="1"/>
          <p:nvPr/>
        </p:nvSpPr>
        <p:spPr>
          <a:xfrm>
            <a:off x="2226952" y="2235991"/>
            <a:ext cx="4504418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If we know where we are </a:t>
            </a:r>
            <a:r>
              <a:rPr lang="en-US" sz="2000" b="1" dirty="0"/>
              <a:t>converging</a:t>
            </a:r>
            <a:r>
              <a:rPr lang="en-US" sz="2000" dirty="0"/>
              <a:t> to then we can be </a:t>
            </a:r>
            <a:r>
              <a:rPr lang="en-US" sz="2000" b="1" dirty="0"/>
              <a:t>confident</a:t>
            </a:r>
            <a:r>
              <a:rPr lang="en-US" sz="2000" dirty="0"/>
              <a:t> when two curves </a:t>
            </a:r>
            <a:r>
              <a:rPr lang="en-US" sz="2000" b="1" dirty="0"/>
              <a:t>separate</a:t>
            </a:r>
            <a:r>
              <a:rPr lang="en-US" sz="20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8D705-D46F-8A0D-2FD5-A55C30A73D14}"/>
              </a:ext>
            </a:extLst>
          </p:cNvPr>
          <p:cNvSpPr txBox="1"/>
          <p:nvPr/>
        </p:nvSpPr>
        <p:spPr>
          <a:xfrm>
            <a:off x="522514" y="1466357"/>
            <a:ext cx="507818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What can we </a:t>
            </a:r>
            <a:r>
              <a:rPr lang="en-US" sz="2000" b="1" dirty="0"/>
              <a:t>prove</a:t>
            </a:r>
            <a:r>
              <a:rPr lang="en-US" sz="2000" dirty="0"/>
              <a:t> about this?</a:t>
            </a:r>
          </a:p>
          <a:p>
            <a:r>
              <a:rPr lang="en-US" sz="2000" dirty="0"/>
              <a:t>What do we need to </a:t>
            </a:r>
            <a:r>
              <a:rPr lang="en-US" sz="2000" b="1" dirty="0"/>
              <a:t>assume</a:t>
            </a:r>
            <a:r>
              <a:rPr lang="en-US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754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899A-4DB2-6181-336F-BBB97642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 About Scaling Laws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4A0FBC-D637-25F2-B73A-481F6855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7926"/>
            <a:ext cx="7772400" cy="2663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25639-0001-B5F9-98A5-D7A8DF91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97457"/>
            <a:ext cx="7772400" cy="15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4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4D40-82B5-2449-5CAE-E92C207D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0D0F-A213-A8FB-A425-3BD53B6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 Selection: Early Stopping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9AFAF0-B7AA-C628-EC1B-57D37395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89" y="2869463"/>
            <a:ext cx="5080000" cy="3771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639E-A64A-1920-DCEE-0DF1E0D60752}"/>
              </a:ext>
            </a:extLst>
          </p:cNvPr>
          <p:cNvSpPr/>
          <p:nvPr/>
        </p:nvSpPr>
        <p:spPr>
          <a:xfrm>
            <a:off x="3269796" y="3828000"/>
            <a:ext cx="1943100" cy="418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504E34-28D2-84DD-629D-7AF5BCA7F5DE}"/>
              </a:ext>
            </a:extLst>
          </p:cNvPr>
          <p:cNvSpPr/>
          <p:nvPr/>
        </p:nvSpPr>
        <p:spPr>
          <a:xfrm>
            <a:off x="3269796" y="3827999"/>
            <a:ext cx="1943100" cy="14134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FB438637-A3DC-8ACB-8E1D-FCBEB04A8B2D}"/>
              </a:ext>
            </a:extLst>
          </p:cNvPr>
          <p:cNvSpPr/>
          <p:nvPr/>
        </p:nvSpPr>
        <p:spPr>
          <a:xfrm>
            <a:off x="3061606" y="3853543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F9264537-0553-B01D-AC2C-FB36D6A2BFE3}"/>
              </a:ext>
            </a:extLst>
          </p:cNvPr>
          <p:cNvSpPr/>
          <p:nvPr/>
        </p:nvSpPr>
        <p:spPr>
          <a:xfrm>
            <a:off x="3061606" y="4246562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E86B50B3-4D2B-B197-970A-CDE866BDBE30}"/>
              </a:ext>
            </a:extLst>
          </p:cNvPr>
          <p:cNvCxnSpPr>
            <a:cxnSpLocks/>
          </p:cNvCxnSpPr>
          <p:nvPr/>
        </p:nvCxnSpPr>
        <p:spPr>
          <a:xfrm>
            <a:off x="3061606" y="4401468"/>
            <a:ext cx="2267406" cy="1745283"/>
          </a:xfrm>
          <a:prstGeom prst="curvedConnector3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9E0119-52B6-3723-F5C0-2D6263244636}"/>
              </a:ext>
            </a:extLst>
          </p:cNvPr>
          <p:cNvSpPr txBox="1"/>
          <p:nvPr/>
        </p:nvSpPr>
        <p:spPr>
          <a:xfrm>
            <a:off x="4423682" y="2393073"/>
            <a:ext cx="450441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If we can’t do everything what is most likely to be helpful?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A0570-F486-F9C4-7B99-E6BFEBC726EC}"/>
              </a:ext>
            </a:extLst>
          </p:cNvPr>
          <p:cNvSpPr txBox="1"/>
          <p:nvPr/>
        </p:nvSpPr>
        <p:spPr>
          <a:xfrm>
            <a:off x="522514" y="1466357"/>
            <a:ext cx="507818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What can we </a:t>
            </a:r>
            <a:r>
              <a:rPr lang="en-US" sz="2000" b="1" dirty="0"/>
              <a:t>prove</a:t>
            </a:r>
            <a:r>
              <a:rPr lang="en-US" sz="2000" dirty="0"/>
              <a:t> about this?</a:t>
            </a:r>
          </a:p>
          <a:p>
            <a:r>
              <a:rPr lang="en-US" sz="2000" dirty="0"/>
              <a:t>What do we need to </a:t>
            </a:r>
            <a:r>
              <a:rPr lang="en-US" sz="2000" b="1" dirty="0"/>
              <a:t>assume</a:t>
            </a:r>
            <a:r>
              <a:rPr lang="en-US" sz="2000" dirty="0"/>
              <a:t>?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DD7916F4-C230-D607-427E-AA3F2B1B9F15}"/>
              </a:ext>
            </a:extLst>
          </p:cNvPr>
          <p:cNvSpPr/>
          <p:nvPr/>
        </p:nvSpPr>
        <p:spPr>
          <a:xfrm>
            <a:off x="5678033" y="5557245"/>
            <a:ext cx="1620611" cy="3930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E6F012F0-84C1-23AE-44AF-1BF314A04DD0}"/>
              </a:ext>
            </a:extLst>
          </p:cNvPr>
          <p:cNvSpPr/>
          <p:nvPr/>
        </p:nvSpPr>
        <p:spPr>
          <a:xfrm>
            <a:off x="5661477" y="4004051"/>
            <a:ext cx="1620611" cy="393019"/>
          </a:xfrm>
          <a:prstGeom prst="left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6490-CF00-947A-0763-3D4D347E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9328-15C8-41A3-8EBB-5C17D504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Stopping Heuristics Without Parametric Scaling Curves?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A09707-05AA-EF23-D1C5-20556FBEE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89" y="2869463"/>
            <a:ext cx="5080000" cy="3771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150220-EAD7-5C0B-9787-EBCC052C4BAC}"/>
              </a:ext>
            </a:extLst>
          </p:cNvPr>
          <p:cNvSpPr/>
          <p:nvPr/>
        </p:nvSpPr>
        <p:spPr>
          <a:xfrm>
            <a:off x="3269796" y="3828000"/>
            <a:ext cx="1943100" cy="418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01D0E3-AECF-8803-3378-C82A00426A5F}"/>
              </a:ext>
            </a:extLst>
          </p:cNvPr>
          <p:cNvSpPr/>
          <p:nvPr/>
        </p:nvSpPr>
        <p:spPr>
          <a:xfrm>
            <a:off x="3269796" y="3827999"/>
            <a:ext cx="1943100" cy="14134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BF57A645-7E95-9AE9-B496-4777C10042EA}"/>
              </a:ext>
            </a:extLst>
          </p:cNvPr>
          <p:cNvSpPr/>
          <p:nvPr/>
        </p:nvSpPr>
        <p:spPr>
          <a:xfrm>
            <a:off x="3061606" y="3853543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C63EFEF3-53BE-0E48-1F9B-959C66142D4A}"/>
              </a:ext>
            </a:extLst>
          </p:cNvPr>
          <p:cNvSpPr/>
          <p:nvPr/>
        </p:nvSpPr>
        <p:spPr>
          <a:xfrm>
            <a:off x="3061606" y="4246562"/>
            <a:ext cx="416380" cy="393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789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A6DAB-CAA3-CDE0-CD88-C6D94376C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15" y="311394"/>
            <a:ext cx="7772400" cy="42512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C80147-5025-AF7D-8A73-F591766B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743" y="4719465"/>
            <a:ext cx="5199744" cy="21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123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1287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288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289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290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291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292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293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294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295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pic>
        <p:nvPicPr>
          <p:cNvPr id="1296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297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pic>
        <p:nvPicPr>
          <p:cNvPr id="1298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sp>
        <p:nvSpPr>
          <p:cNvPr id="1299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1302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303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304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305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306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307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308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309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310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pic>
        <p:nvPicPr>
          <p:cNvPr id="1311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1312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313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1314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15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16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17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18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19" name="3, 3, …"/>
          <p:cNvSpPr txBox="1"/>
          <p:nvPr/>
        </p:nvSpPr>
        <p:spPr>
          <a:xfrm>
            <a:off x="2931170" y="1888629"/>
            <a:ext cx="673502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3, 3, …</a:t>
            </a:r>
          </a:p>
        </p:txBody>
      </p:sp>
      <p:sp>
        <p:nvSpPr>
          <p:cNvPr id="1320" name="5, 4, …"/>
          <p:cNvSpPr txBox="1"/>
          <p:nvPr/>
        </p:nvSpPr>
        <p:spPr>
          <a:xfrm>
            <a:off x="2931170" y="2853035"/>
            <a:ext cx="673502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5, 4, …</a:t>
            </a:r>
          </a:p>
        </p:txBody>
      </p:sp>
      <p:sp>
        <p:nvSpPr>
          <p:cNvPr id="1321" name="5, 4, …"/>
          <p:cNvSpPr txBox="1"/>
          <p:nvPr/>
        </p:nvSpPr>
        <p:spPr>
          <a:xfrm>
            <a:off x="2931170" y="4205883"/>
            <a:ext cx="673502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5, 4, …</a:t>
            </a:r>
          </a:p>
        </p:txBody>
      </p:sp>
      <p:sp>
        <p:nvSpPr>
          <p:cNvPr id="1322" name="2, 1, …"/>
          <p:cNvSpPr txBox="1"/>
          <p:nvPr/>
        </p:nvSpPr>
        <p:spPr>
          <a:xfrm>
            <a:off x="2931170" y="5150197"/>
            <a:ext cx="673502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2, 1, …</a:t>
            </a:r>
          </a:p>
        </p:txBody>
      </p:sp>
      <p:sp>
        <p:nvSpPr>
          <p:cNvPr id="1323" name="Rectangle"/>
          <p:cNvSpPr/>
          <p:nvPr/>
        </p:nvSpPr>
        <p:spPr>
          <a:xfrm>
            <a:off x="5777508" y="2437805"/>
            <a:ext cx="1727895" cy="709911"/>
          </a:xfrm>
          <a:prstGeom prst="rect">
            <a:avLst/>
          </a:prstGeom>
          <a:solidFill>
            <a:srgbClr val="FFFFFF"/>
          </a:solidFill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324" name="1"/>
          <p:cNvSpPr txBox="1"/>
          <p:nvPr/>
        </p:nvSpPr>
        <p:spPr>
          <a:xfrm>
            <a:off x="5831086" y="2417713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325" name="2"/>
          <p:cNvSpPr txBox="1"/>
          <p:nvPr/>
        </p:nvSpPr>
        <p:spPr>
          <a:xfrm>
            <a:off x="6018609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26" name="3"/>
          <p:cNvSpPr txBox="1"/>
          <p:nvPr/>
        </p:nvSpPr>
        <p:spPr>
          <a:xfrm>
            <a:off x="6206133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27" name="4"/>
          <p:cNvSpPr txBox="1"/>
          <p:nvPr/>
        </p:nvSpPr>
        <p:spPr>
          <a:xfrm>
            <a:off x="6386959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28" name="5"/>
          <p:cNvSpPr txBox="1"/>
          <p:nvPr/>
        </p:nvSpPr>
        <p:spPr>
          <a:xfrm>
            <a:off x="6561088" y="2417713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329" name="6"/>
          <p:cNvSpPr txBox="1"/>
          <p:nvPr/>
        </p:nvSpPr>
        <p:spPr>
          <a:xfrm>
            <a:off x="6748611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330" name="7"/>
          <p:cNvSpPr txBox="1"/>
          <p:nvPr/>
        </p:nvSpPr>
        <p:spPr>
          <a:xfrm>
            <a:off x="6936135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31" name="n"/>
          <p:cNvSpPr txBox="1"/>
          <p:nvPr/>
        </p:nvSpPr>
        <p:spPr>
          <a:xfrm>
            <a:off x="7337970" y="2411016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332" name="Uniform Judge Allocation"/>
          <p:cNvSpPr txBox="1"/>
          <p:nvPr/>
        </p:nvSpPr>
        <p:spPr>
          <a:xfrm>
            <a:off x="5569892" y="1393031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Uniform Judge Allocation</a:t>
            </a:r>
          </a:p>
        </p:txBody>
      </p:sp>
      <p:sp>
        <p:nvSpPr>
          <p:cNvPr id="1333" name="Line"/>
          <p:cNvSpPr/>
          <p:nvPr/>
        </p:nvSpPr>
        <p:spPr>
          <a:xfrm>
            <a:off x="5799274" y="1726450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34" name="Line"/>
          <p:cNvSpPr/>
          <p:nvPr/>
        </p:nvSpPr>
        <p:spPr>
          <a:xfrm flipH="1" flipV="1">
            <a:off x="5797542" y="2405106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35" name="judges…"/>
          <p:cNvSpPr txBox="1"/>
          <p:nvPr/>
        </p:nvSpPr>
        <p:spPr>
          <a:xfrm>
            <a:off x="5168057" y="1781472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1352" name="Group"/>
          <p:cNvGrpSpPr/>
          <p:nvPr/>
        </p:nvGrpSpPr>
        <p:grpSpPr>
          <a:xfrm>
            <a:off x="5891361" y="1989088"/>
            <a:ext cx="1560464" cy="423225"/>
            <a:chOff x="0" y="0"/>
            <a:chExt cx="4161234" cy="1128599"/>
          </a:xfrm>
        </p:grpSpPr>
        <p:sp>
          <p:nvSpPr>
            <p:cNvPr id="1336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37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8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39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0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41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2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43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4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45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6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47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8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49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0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351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53" name=". . ."/>
          <p:cNvSpPr txBox="1"/>
          <p:nvPr/>
        </p:nvSpPr>
        <p:spPr>
          <a:xfrm>
            <a:off x="7049988" y="202257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354" name="average…"/>
          <p:cNvSpPr txBox="1"/>
          <p:nvPr/>
        </p:nvSpPr>
        <p:spPr>
          <a:xfrm>
            <a:off x="5141267" y="2772668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1355" name="Line"/>
          <p:cNvSpPr/>
          <p:nvPr/>
        </p:nvSpPr>
        <p:spPr>
          <a:xfrm>
            <a:off x="5949725" y="322808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56" name="Line"/>
          <p:cNvSpPr/>
          <p:nvPr/>
        </p:nvSpPr>
        <p:spPr>
          <a:xfrm>
            <a:off x="6137248" y="322808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57" name="Line"/>
          <p:cNvSpPr/>
          <p:nvPr/>
        </p:nvSpPr>
        <p:spPr>
          <a:xfrm>
            <a:off x="6324772" y="322808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58" name="Line"/>
          <p:cNvSpPr/>
          <p:nvPr/>
        </p:nvSpPr>
        <p:spPr>
          <a:xfrm>
            <a:off x="6505598" y="322808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59" name="Line"/>
          <p:cNvSpPr/>
          <p:nvPr/>
        </p:nvSpPr>
        <p:spPr>
          <a:xfrm>
            <a:off x="6666332" y="322808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0" name="Line"/>
          <p:cNvSpPr/>
          <p:nvPr/>
        </p:nvSpPr>
        <p:spPr>
          <a:xfrm>
            <a:off x="6853855" y="322808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1" name="Line"/>
          <p:cNvSpPr/>
          <p:nvPr/>
        </p:nvSpPr>
        <p:spPr>
          <a:xfrm>
            <a:off x="7041379" y="322808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2" name="Line"/>
          <p:cNvSpPr/>
          <p:nvPr/>
        </p:nvSpPr>
        <p:spPr>
          <a:xfrm>
            <a:off x="7443214" y="322808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3" name=". . ."/>
          <p:cNvSpPr txBox="1"/>
          <p:nvPr/>
        </p:nvSpPr>
        <p:spPr>
          <a:xfrm>
            <a:off x="7070080" y="323477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364" name="Line"/>
          <p:cNvSpPr/>
          <p:nvPr/>
        </p:nvSpPr>
        <p:spPr>
          <a:xfrm>
            <a:off x="5810994" y="2558355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5" name="Line"/>
          <p:cNvSpPr/>
          <p:nvPr/>
        </p:nvSpPr>
        <p:spPr>
          <a:xfrm flipH="1" flipV="1">
            <a:off x="5810994" y="3234973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66" name="Rectangle"/>
          <p:cNvSpPr/>
          <p:nvPr/>
        </p:nvSpPr>
        <p:spPr>
          <a:xfrm>
            <a:off x="5797599" y="3274963"/>
            <a:ext cx="1727895" cy="709911"/>
          </a:xfrm>
          <a:prstGeom prst="rect">
            <a:avLst/>
          </a:prstGeom>
          <a:solidFill>
            <a:srgbClr val="FFFFFF"/>
          </a:solidFill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367" name="1"/>
          <p:cNvSpPr txBox="1"/>
          <p:nvPr/>
        </p:nvSpPr>
        <p:spPr>
          <a:xfrm>
            <a:off x="5851178" y="3254871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368" name="2"/>
          <p:cNvSpPr txBox="1"/>
          <p:nvPr/>
        </p:nvSpPr>
        <p:spPr>
          <a:xfrm>
            <a:off x="6038701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69" name="3"/>
          <p:cNvSpPr txBox="1"/>
          <p:nvPr/>
        </p:nvSpPr>
        <p:spPr>
          <a:xfrm>
            <a:off x="6226224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70" name="4"/>
          <p:cNvSpPr txBox="1"/>
          <p:nvPr/>
        </p:nvSpPr>
        <p:spPr>
          <a:xfrm>
            <a:off x="6407051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71" name="5"/>
          <p:cNvSpPr txBox="1"/>
          <p:nvPr/>
        </p:nvSpPr>
        <p:spPr>
          <a:xfrm>
            <a:off x="6581180" y="3254871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372" name="6"/>
          <p:cNvSpPr txBox="1"/>
          <p:nvPr/>
        </p:nvSpPr>
        <p:spPr>
          <a:xfrm>
            <a:off x="6768703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373" name="7"/>
          <p:cNvSpPr txBox="1"/>
          <p:nvPr/>
        </p:nvSpPr>
        <p:spPr>
          <a:xfrm>
            <a:off x="6956226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74" name="n"/>
          <p:cNvSpPr txBox="1"/>
          <p:nvPr/>
        </p:nvSpPr>
        <p:spPr>
          <a:xfrm>
            <a:off x="7358063" y="3248174"/>
            <a:ext cx="174968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375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roup"/>
          <p:cNvGrpSpPr/>
          <p:nvPr/>
        </p:nvGrpSpPr>
        <p:grpSpPr>
          <a:xfrm>
            <a:off x="5777508" y="2411016"/>
            <a:ext cx="1735431" cy="736700"/>
            <a:chOff x="0" y="0"/>
            <a:chExt cx="4627815" cy="1964532"/>
          </a:xfrm>
        </p:grpSpPr>
        <p:sp>
          <p:nvSpPr>
            <p:cNvPr id="1377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8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79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80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81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82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83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84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385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387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1388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389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390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391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392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393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394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395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396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1397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398" name="Uniform Judge Allocation"/>
          <p:cNvSpPr txBox="1"/>
          <p:nvPr/>
        </p:nvSpPr>
        <p:spPr>
          <a:xfrm>
            <a:off x="5569892" y="1393031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Uniform Judge Allocation</a:t>
            </a:r>
          </a:p>
        </p:txBody>
      </p:sp>
      <p:sp>
        <p:nvSpPr>
          <p:cNvPr id="1399" name="Line"/>
          <p:cNvSpPr/>
          <p:nvPr/>
        </p:nvSpPr>
        <p:spPr>
          <a:xfrm>
            <a:off x="5799274" y="1726450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0" name="Line"/>
          <p:cNvSpPr/>
          <p:nvPr/>
        </p:nvSpPr>
        <p:spPr>
          <a:xfrm flipH="1" flipV="1">
            <a:off x="5797542" y="2405106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1" name="judges…"/>
          <p:cNvSpPr txBox="1"/>
          <p:nvPr/>
        </p:nvSpPr>
        <p:spPr>
          <a:xfrm>
            <a:off x="5168057" y="1781472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1402" name="Line"/>
          <p:cNvSpPr/>
          <p:nvPr/>
        </p:nvSpPr>
        <p:spPr>
          <a:xfrm>
            <a:off x="5927601" y="2014580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3" name="Circle"/>
          <p:cNvSpPr/>
          <p:nvPr/>
        </p:nvSpPr>
        <p:spPr>
          <a:xfrm>
            <a:off x="5891361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04" name="Line"/>
          <p:cNvSpPr/>
          <p:nvPr/>
        </p:nvSpPr>
        <p:spPr>
          <a:xfrm>
            <a:off x="6117156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5" name="Circle"/>
          <p:cNvSpPr/>
          <p:nvPr/>
        </p:nvSpPr>
        <p:spPr>
          <a:xfrm>
            <a:off x="6078885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06" name="Line"/>
          <p:cNvSpPr/>
          <p:nvPr/>
        </p:nvSpPr>
        <p:spPr>
          <a:xfrm>
            <a:off x="6304680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7" name="Circle"/>
          <p:cNvSpPr/>
          <p:nvPr/>
        </p:nvSpPr>
        <p:spPr>
          <a:xfrm>
            <a:off x="6266408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08" name="Line"/>
          <p:cNvSpPr/>
          <p:nvPr/>
        </p:nvSpPr>
        <p:spPr>
          <a:xfrm>
            <a:off x="6485506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09" name="Circle"/>
          <p:cNvSpPr/>
          <p:nvPr/>
        </p:nvSpPr>
        <p:spPr>
          <a:xfrm>
            <a:off x="6447234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10" name="Line"/>
          <p:cNvSpPr/>
          <p:nvPr/>
        </p:nvSpPr>
        <p:spPr>
          <a:xfrm>
            <a:off x="6646241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11" name="Circle"/>
          <p:cNvSpPr/>
          <p:nvPr/>
        </p:nvSpPr>
        <p:spPr>
          <a:xfrm>
            <a:off x="6607969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12" name="Line"/>
          <p:cNvSpPr/>
          <p:nvPr/>
        </p:nvSpPr>
        <p:spPr>
          <a:xfrm>
            <a:off x="683376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13" name="Circle"/>
          <p:cNvSpPr/>
          <p:nvPr/>
        </p:nvSpPr>
        <p:spPr>
          <a:xfrm>
            <a:off x="679549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14" name="Line"/>
          <p:cNvSpPr/>
          <p:nvPr/>
        </p:nvSpPr>
        <p:spPr>
          <a:xfrm>
            <a:off x="7021287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15" name="Circle"/>
          <p:cNvSpPr/>
          <p:nvPr/>
        </p:nvSpPr>
        <p:spPr>
          <a:xfrm>
            <a:off x="6983016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16" name="Line"/>
          <p:cNvSpPr/>
          <p:nvPr/>
        </p:nvSpPr>
        <p:spPr>
          <a:xfrm>
            <a:off x="742312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17" name="Circle"/>
          <p:cNvSpPr/>
          <p:nvPr/>
        </p:nvSpPr>
        <p:spPr>
          <a:xfrm>
            <a:off x="738485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418" name=". . ."/>
          <p:cNvSpPr txBox="1"/>
          <p:nvPr/>
        </p:nvSpPr>
        <p:spPr>
          <a:xfrm>
            <a:off x="7049988" y="202257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grpSp>
        <p:nvGrpSpPr>
          <p:cNvPr id="1423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1419" name="2.1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2.1</a:t>
              </a:r>
            </a:p>
          </p:txBody>
        </p:sp>
        <p:sp>
          <p:nvSpPr>
            <p:cNvPr id="1420" name="3.3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3.3</a:t>
              </a:r>
            </a:p>
          </p:txBody>
        </p:sp>
        <p:sp>
          <p:nvSpPr>
            <p:cNvPr id="1421" name="4.5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4.5</a:t>
              </a:r>
            </a:p>
          </p:txBody>
        </p:sp>
        <p:sp>
          <p:nvSpPr>
            <p:cNvPr id="1422" name="4.5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4.5</a:t>
              </a:r>
            </a:p>
          </p:txBody>
        </p:sp>
      </p:grpSp>
      <p:grpSp>
        <p:nvGrpSpPr>
          <p:cNvPr id="1452" name="Group"/>
          <p:cNvGrpSpPr/>
          <p:nvPr/>
        </p:nvGrpSpPr>
        <p:grpSpPr>
          <a:xfrm>
            <a:off x="5141267" y="2551658"/>
            <a:ext cx="2706440" cy="1172766"/>
            <a:chOff x="0" y="0"/>
            <a:chExt cx="7217172" cy="3127375"/>
          </a:xfrm>
        </p:grpSpPr>
        <p:sp>
          <p:nvSpPr>
            <p:cNvPr id="1424" name="Line"/>
            <p:cNvSpPr/>
            <p:nvPr/>
          </p:nvSpPr>
          <p:spPr>
            <a:xfrm>
              <a:off x="2138026" y="121443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25" name="Circle"/>
            <p:cNvSpPr/>
            <p:nvPr/>
          </p:nvSpPr>
          <p:spPr>
            <a:xfrm>
              <a:off x="2035968" y="1143000"/>
              <a:ext cx="178595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6" name="Line"/>
            <p:cNvSpPr/>
            <p:nvPr/>
          </p:nvSpPr>
          <p:spPr>
            <a:xfrm>
              <a:off x="2620228" y="750093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27" name="Circle"/>
            <p:cNvSpPr/>
            <p:nvPr/>
          </p:nvSpPr>
          <p:spPr>
            <a:xfrm>
              <a:off x="2518171" y="660796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8" name="Line"/>
            <p:cNvSpPr/>
            <p:nvPr/>
          </p:nvSpPr>
          <p:spPr>
            <a:xfrm>
              <a:off x="3156010" y="1535906"/>
              <a:ext cx="11" cy="2857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29" name="Circle"/>
            <p:cNvSpPr/>
            <p:nvPr/>
          </p:nvSpPr>
          <p:spPr>
            <a:xfrm>
              <a:off x="3053953" y="1464468"/>
              <a:ext cx="178594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0" name="Line"/>
            <p:cNvSpPr/>
            <p:nvPr/>
          </p:nvSpPr>
          <p:spPr>
            <a:xfrm>
              <a:off x="3620353" y="750093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31" name="Circle"/>
            <p:cNvSpPr/>
            <p:nvPr/>
          </p:nvSpPr>
          <p:spPr>
            <a:xfrm>
              <a:off x="3518296" y="660796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2" name="Line"/>
            <p:cNvSpPr/>
            <p:nvPr/>
          </p:nvSpPr>
          <p:spPr>
            <a:xfrm>
              <a:off x="4066840" y="1285874"/>
              <a:ext cx="10" cy="53578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33" name="Circle"/>
            <p:cNvSpPr/>
            <p:nvPr/>
          </p:nvSpPr>
          <p:spPr>
            <a:xfrm>
              <a:off x="3964781" y="1214437"/>
              <a:ext cx="178594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4" name="Line"/>
            <p:cNvSpPr/>
            <p:nvPr/>
          </p:nvSpPr>
          <p:spPr>
            <a:xfrm>
              <a:off x="4566900" y="1625202"/>
              <a:ext cx="10" cy="19645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35" name="Circle"/>
            <p:cNvSpPr/>
            <p:nvPr/>
          </p:nvSpPr>
          <p:spPr>
            <a:xfrm>
              <a:off x="4464843" y="1553765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6" name="Line"/>
            <p:cNvSpPr/>
            <p:nvPr/>
          </p:nvSpPr>
          <p:spPr>
            <a:xfrm>
              <a:off x="6138525" y="1357312"/>
              <a:ext cx="10" cy="46434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37" name="Circle"/>
            <p:cNvSpPr/>
            <p:nvPr/>
          </p:nvSpPr>
          <p:spPr>
            <a:xfrm>
              <a:off x="6036468" y="1285875"/>
              <a:ext cx="178595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8" name=". . ."/>
            <p:cNvSpPr txBox="1"/>
            <p:nvPr/>
          </p:nvSpPr>
          <p:spPr>
            <a:xfrm>
              <a:off x="5197079" y="80367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1439" name="Line"/>
            <p:cNvSpPr/>
            <p:nvPr/>
          </p:nvSpPr>
          <p:spPr>
            <a:xfrm flipH="1" flipV="1">
              <a:off x="1785937" y="1822174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40" name="Circle"/>
            <p:cNvSpPr/>
            <p:nvPr/>
          </p:nvSpPr>
          <p:spPr>
            <a:xfrm>
              <a:off x="4964906" y="1732359"/>
              <a:ext cx="178594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449" name="Group"/>
            <p:cNvGrpSpPr/>
            <p:nvPr/>
          </p:nvGrpSpPr>
          <p:grpSpPr>
            <a:xfrm>
              <a:off x="1928812" y="1839515"/>
              <a:ext cx="5288360" cy="1287860"/>
              <a:chOff x="0" y="0"/>
              <a:chExt cx="5288359" cy="1287859"/>
            </a:xfrm>
          </p:grpSpPr>
          <p:sp>
            <p:nvSpPr>
              <p:cNvPr id="1441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442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1443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1444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1445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1446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1447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1448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1450" name="Line"/>
            <p:cNvSpPr/>
            <p:nvPr/>
          </p:nvSpPr>
          <p:spPr>
            <a:xfrm>
              <a:off x="1785937" y="0"/>
              <a:ext cx="13395" cy="18076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451" name="average…"/>
            <p:cNvSpPr txBox="1"/>
            <p:nvPr/>
          </p:nvSpPr>
          <p:spPr>
            <a:xfrm>
              <a:off x="0" y="589360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</p:grpSp>
      <p:pic>
        <p:nvPicPr>
          <p:cNvPr id="1453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1454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455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1456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57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58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59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460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5" name="Group"/>
          <p:cNvGrpSpPr/>
          <p:nvPr/>
        </p:nvGrpSpPr>
        <p:grpSpPr>
          <a:xfrm>
            <a:off x="5777508" y="2411016"/>
            <a:ext cx="1735431" cy="736700"/>
            <a:chOff x="0" y="0"/>
            <a:chExt cx="4627815" cy="1964532"/>
          </a:xfrm>
        </p:grpSpPr>
        <p:sp>
          <p:nvSpPr>
            <p:cNvPr id="1696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7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698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699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00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01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702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703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704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70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1707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708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709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710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711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712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713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714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715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1716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17" name="Uniform Judge Allocation"/>
          <p:cNvSpPr txBox="1"/>
          <p:nvPr/>
        </p:nvSpPr>
        <p:spPr>
          <a:xfrm>
            <a:off x="5569892" y="1393031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Uniform Judge Allocation</a:t>
            </a:r>
          </a:p>
        </p:txBody>
      </p:sp>
      <p:sp>
        <p:nvSpPr>
          <p:cNvPr id="1718" name="Line"/>
          <p:cNvSpPr/>
          <p:nvPr/>
        </p:nvSpPr>
        <p:spPr>
          <a:xfrm>
            <a:off x="5799274" y="1726450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19" name="Line"/>
          <p:cNvSpPr/>
          <p:nvPr/>
        </p:nvSpPr>
        <p:spPr>
          <a:xfrm flipH="1" flipV="1">
            <a:off x="5797542" y="2405106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20" name="judges…"/>
          <p:cNvSpPr txBox="1"/>
          <p:nvPr/>
        </p:nvSpPr>
        <p:spPr>
          <a:xfrm>
            <a:off x="5168057" y="1781472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1721" name="Line"/>
          <p:cNvSpPr/>
          <p:nvPr/>
        </p:nvSpPr>
        <p:spPr>
          <a:xfrm>
            <a:off x="5927601" y="2014580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22" name="Circle"/>
          <p:cNvSpPr/>
          <p:nvPr/>
        </p:nvSpPr>
        <p:spPr>
          <a:xfrm>
            <a:off x="5891361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23" name="Line"/>
          <p:cNvSpPr/>
          <p:nvPr/>
        </p:nvSpPr>
        <p:spPr>
          <a:xfrm>
            <a:off x="6117156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24" name="Circle"/>
          <p:cNvSpPr/>
          <p:nvPr/>
        </p:nvSpPr>
        <p:spPr>
          <a:xfrm>
            <a:off x="6078885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25" name="Line"/>
          <p:cNvSpPr/>
          <p:nvPr/>
        </p:nvSpPr>
        <p:spPr>
          <a:xfrm>
            <a:off x="6304680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26" name="Circle"/>
          <p:cNvSpPr/>
          <p:nvPr/>
        </p:nvSpPr>
        <p:spPr>
          <a:xfrm>
            <a:off x="6266408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27" name="Line"/>
          <p:cNvSpPr/>
          <p:nvPr/>
        </p:nvSpPr>
        <p:spPr>
          <a:xfrm>
            <a:off x="6485506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28" name="Circle"/>
          <p:cNvSpPr/>
          <p:nvPr/>
        </p:nvSpPr>
        <p:spPr>
          <a:xfrm>
            <a:off x="6447234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29" name="Line"/>
          <p:cNvSpPr/>
          <p:nvPr/>
        </p:nvSpPr>
        <p:spPr>
          <a:xfrm>
            <a:off x="6646241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30" name="Circle"/>
          <p:cNvSpPr/>
          <p:nvPr/>
        </p:nvSpPr>
        <p:spPr>
          <a:xfrm>
            <a:off x="6607969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31" name="Line"/>
          <p:cNvSpPr/>
          <p:nvPr/>
        </p:nvSpPr>
        <p:spPr>
          <a:xfrm>
            <a:off x="683376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32" name="Circle"/>
          <p:cNvSpPr/>
          <p:nvPr/>
        </p:nvSpPr>
        <p:spPr>
          <a:xfrm>
            <a:off x="679549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33" name="Line"/>
          <p:cNvSpPr/>
          <p:nvPr/>
        </p:nvSpPr>
        <p:spPr>
          <a:xfrm>
            <a:off x="7021287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34" name="Circle"/>
          <p:cNvSpPr/>
          <p:nvPr/>
        </p:nvSpPr>
        <p:spPr>
          <a:xfrm>
            <a:off x="6983016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35" name="Line"/>
          <p:cNvSpPr/>
          <p:nvPr/>
        </p:nvSpPr>
        <p:spPr>
          <a:xfrm>
            <a:off x="742312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36" name="Circle"/>
          <p:cNvSpPr/>
          <p:nvPr/>
        </p:nvSpPr>
        <p:spPr>
          <a:xfrm>
            <a:off x="738485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37" name=". . ."/>
          <p:cNvSpPr txBox="1"/>
          <p:nvPr/>
        </p:nvSpPr>
        <p:spPr>
          <a:xfrm>
            <a:off x="7049988" y="202257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grpSp>
        <p:nvGrpSpPr>
          <p:cNvPr id="1742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1738" name="2.1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2.1</a:t>
              </a:r>
            </a:p>
          </p:txBody>
        </p:sp>
        <p:sp>
          <p:nvSpPr>
            <p:cNvPr id="1739" name="3.3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3.3</a:t>
              </a:r>
            </a:p>
          </p:txBody>
        </p:sp>
        <p:sp>
          <p:nvSpPr>
            <p:cNvPr id="1740" name="4.5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4.5</a:t>
              </a:r>
            </a:p>
          </p:txBody>
        </p:sp>
        <p:sp>
          <p:nvSpPr>
            <p:cNvPr id="1741" name="4.5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4.5</a:t>
              </a:r>
            </a:p>
          </p:txBody>
        </p:sp>
      </p:grpSp>
      <p:grpSp>
        <p:nvGrpSpPr>
          <p:cNvPr id="1759" name="Group"/>
          <p:cNvGrpSpPr/>
          <p:nvPr/>
        </p:nvGrpSpPr>
        <p:grpSpPr>
          <a:xfrm>
            <a:off x="1497954" y="1868537"/>
            <a:ext cx="445880" cy="3959880"/>
            <a:chOff x="-1" y="0"/>
            <a:chExt cx="1189008" cy="10559679"/>
          </a:xfrm>
        </p:grpSpPr>
        <p:grpSp>
          <p:nvGrpSpPr>
            <p:cNvPr id="1746" name="Group"/>
            <p:cNvGrpSpPr/>
            <p:nvPr/>
          </p:nvGrpSpPr>
          <p:grpSpPr>
            <a:xfrm>
              <a:off x="-1" y="0"/>
              <a:ext cx="996749" cy="915616"/>
              <a:chOff x="0" y="0"/>
              <a:chExt cx="996747" cy="915615"/>
            </a:xfrm>
          </p:grpSpPr>
          <p:sp>
            <p:nvSpPr>
              <p:cNvPr id="1743" name="+"/>
              <p:cNvSpPr txBox="1"/>
              <p:nvPr/>
            </p:nvSpPr>
            <p:spPr>
              <a:xfrm>
                <a:off x="0" y="0"/>
                <a:ext cx="577721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1744" name="-"/>
              <p:cNvSpPr txBox="1"/>
              <p:nvPr/>
            </p:nvSpPr>
            <p:spPr>
              <a:xfrm>
                <a:off x="35717" y="125016"/>
                <a:ext cx="487953" cy="790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1745" name=".3"/>
              <p:cNvSpPr txBox="1"/>
              <p:nvPr/>
            </p:nvSpPr>
            <p:spPr>
              <a:xfrm>
                <a:off x="303610" y="71437"/>
                <a:ext cx="693137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.3</a:t>
                </a:r>
              </a:p>
            </p:txBody>
          </p:sp>
        </p:grpSp>
        <p:grpSp>
          <p:nvGrpSpPr>
            <p:cNvPr id="1750" name="Group"/>
            <p:cNvGrpSpPr/>
            <p:nvPr/>
          </p:nvGrpSpPr>
          <p:grpSpPr>
            <a:xfrm>
              <a:off x="49386" y="2643187"/>
              <a:ext cx="996746" cy="915617"/>
              <a:chOff x="0" y="0"/>
              <a:chExt cx="996744" cy="915616"/>
            </a:xfrm>
          </p:grpSpPr>
          <p:sp>
            <p:nvSpPr>
              <p:cNvPr id="1747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1748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1749" name=".3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.3</a:t>
                </a:r>
              </a:p>
            </p:txBody>
          </p:sp>
        </p:grpSp>
        <p:grpSp>
          <p:nvGrpSpPr>
            <p:cNvPr id="1754" name="Group"/>
            <p:cNvGrpSpPr/>
            <p:nvPr/>
          </p:nvGrpSpPr>
          <p:grpSpPr>
            <a:xfrm>
              <a:off x="85105" y="6786562"/>
              <a:ext cx="996746" cy="915617"/>
              <a:chOff x="0" y="0"/>
              <a:chExt cx="996744" cy="915616"/>
            </a:xfrm>
          </p:grpSpPr>
          <p:sp>
            <p:nvSpPr>
              <p:cNvPr id="1751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1752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1753" name=".3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.3</a:t>
                </a:r>
              </a:p>
            </p:txBody>
          </p:sp>
        </p:grpSp>
        <p:grpSp>
          <p:nvGrpSpPr>
            <p:cNvPr id="1758" name="Group"/>
            <p:cNvGrpSpPr/>
            <p:nvPr/>
          </p:nvGrpSpPr>
          <p:grpSpPr>
            <a:xfrm>
              <a:off x="192261" y="9644062"/>
              <a:ext cx="996746" cy="915617"/>
              <a:chOff x="0" y="0"/>
              <a:chExt cx="996744" cy="915616"/>
            </a:xfrm>
          </p:grpSpPr>
          <p:sp>
            <p:nvSpPr>
              <p:cNvPr id="1755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1756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1757" name=".3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.3</a:t>
                </a:r>
              </a:p>
            </p:txBody>
          </p:sp>
        </p:grpSp>
      </p:grpSp>
      <p:sp>
        <p:nvSpPr>
          <p:cNvPr id="1760" name="[    ]"/>
          <p:cNvSpPr txBox="1"/>
          <p:nvPr/>
        </p:nvSpPr>
        <p:spPr>
          <a:xfrm rot="16200000">
            <a:off x="5742457" y="2901497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761" name="[    ]"/>
          <p:cNvSpPr txBox="1"/>
          <p:nvPr/>
        </p:nvSpPr>
        <p:spPr>
          <a:xfrm rot="16200000">
            <a:off x="5925879" y="2724773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762" name="[    ]"/>
          <p:cNvSpPr txBox="1"/>
          <p:nvPr/>
        </p:nvSpPr>
        <p:spPr>
          <a:xfrm rot="16200000">
            <a:off x="6307623" y="271137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763" name="[    ]"/>
          <p:cNvSpPr txBox="1"/>
          <p:nvPr/>
        </p:nvSpPr>
        <p:spPr>
          <a:xfrm rot="16200000">
            <a:off x="6461660" y="289890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764" name="Line"/>
          <p:cNvSpPr/>
          <p:nvPr/>
        </p:nvSpPr>
        <p:spPr>
          <a:xfrm>
            <a:off x="5943028" y="3007072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65" name="Circle"/>
          <p:cNvSpPr/>
          <p:nvPr/>
        </p:nvSpPr>
        <p:spPr>
          <a:xfrm>
            <a:off x="5904756" y="2980283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66" name="Line"/>
          <p:cNvSpPr/>
          <p:nvPr/>
        </p:nvSpPr>
        <p:spPr>
          <a:xfrm>
            <a:off x="6123854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67" name="Circle"/>
          <p:cNvSpPr/>
          <p:nvPr/>
        </p:nvSpPr>
        <p:spPr>
          <a:xfrm>
            <a:off x="6085582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68" name="Line"/>
          <p:cNvSpPr/>
          <p:nvPr/>
        </p:nvSpPr>
        <p:spPr>
          <a:xfrm>
            <a:off x="6498901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69" name="Circle"/>
          <p:cNvSpPr/>
          <p:nvPr/>
        </p:nvSpPr>
        <p:spPr>
          <a:xfrm>
            <a:off x="6460629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70" name="Line"/>
          <p:cNvSpPr/>
          <p:nvPr/>
        </p:nvSpPr>
        <p:spPr>
          <a:xfrm>
            <a:off x="6666332" y="3033862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71" name="Circle"/>
          <p:cNvSpPr/>
          <p:nvPr/>
        </p:nvSpPr>
        <p:spPr>
          <a:xfrm>
            <a:off x="6628060" y="3007072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772" name=". . ."/>
          <p:cNvSpPr txBox="1"/>
          <p:nvPr/>
        </p:nvSpPr>
        <p:spPr>
          <a:xfrm>
            <a:off x="7090172" y="285303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773" name="Line"/>
          <p:cNvSpPr/>
          <p:nvPr/>
        </p:nvSpPr>
        <p:spPr>
          <a:xfrm flipH="1" flipV="1">
            <a:off x="5810994" y="3234974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1782" name="Group"/>
          <p:cNvGrpSpPr/>
          <p:nvPr/>
        </p:nvGrpSpPr>
        <p:grpSpPr>
          <a:xfrm>
            <a:off x="5864572" y="3241476"/>
            <a:ext cx="1983135" cy="482948"/>
            <a:chOff x="0" y="0"/>
            <a:chExt cx="5288359" cy="1287859"/>
          </a:xfrm>
        </p:grpSpPr>
        <p:sp>
          <p:nvSpPr>
            <p:cNvPr id="1774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75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76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77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78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779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780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781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783" name="Line"/>
          <p:cNvSpPr/>
          <p:nvPr/>
        </p:nvSpPr>
        <p:spPr>
          <a:xfrm>
            <a:off x="5810994" y="2551658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84" name="average…"/>
          <p:cNvSpPr txBox="1"/>
          <p:nvPr/>
        </p:nvSpPr>
        <p:spPr>
          <a:xfrm>
            <a:off x="5141267" y="2772668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grpSp>
        <p:nvGrpSpPr>
          <p:cNvPr id="1787" name="Group"/>
          <p:cNvGrpSpPr/>
          <p:nvPr/>
        </p:nvGrpSpPr>
        <p:grpSpPr>
          <a:xfrm>
            <a:off x="1426911" y="5043041"/>
            <a:ext cx="1387812" cy="845628"/>
            <a:chOff x="0" y="0"/>
            <a:chExt cx="3700830" cy="2255008"/>
          </a:xfrm>
        </p:grpSpPr>
        <p:sp>
          <p:nvSpPr>
            <p:cNvPr id="1785" name="Line"/>
            <p:cNvSpPr/>
            <p:nvPr/>
          </p:nvSpPr>
          <p:spPr>
            <a:xfrm>
              <a:off x="118012" y="0"/>
              <a:ext cx="3582819" cy="2255009"/>
            </a:xfrm>
            <a:prstGeom prst="line">
              <a:avLst/>
            </a:prstGeom>
            <a:noFill/>
            <a:ln w="3683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786" name="Line"/>
            <p:cNvSpPr/>
            <p:nvPr/>
          </p:nvSpPr>
          <p:spPr>
            <a:xfrm flipH="1">
              <a:off x="0" y="63821"/>
              <a:ext cx="3683497" cy="2066784"/>
            </a:xfrm>
            <a:prstGeom prst="line">
              <a:avLst/>
            </a:prstGeom>
            <a:noFill/>
            <a:ln w="3683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sp>
        <p:nvSpPr>
          <p:cNvPr id="1788" name="X"/>
          <p:cNvSpPr txBox="1"/>
          <p:nvPr/>
        </p:nvSpPr>
        <p:spPr>
          <a:xfrm>
            <a:off x="6219527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789" name="X"/>
          <p:cNvSpPr txBox="1"/>
          <p:nvPr/>
        </p:nvSpPr>
        <p:spPr>
          <a:xfrm>
            <a:off x="6741914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790" name="X"/>
          <p:cNvSpPr txBox="1"/>
          <p:nvPr/>
        </p:nvSpPr>
        <p:spPr>
          <a:xfrm>
            <a:off x="6942832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791" name="X"/>
          <p:cNvSpPr txBox="1"/>
          <p:nvPr/>
        </p:nvSpPr>
        <p:spPr>
          <a:xfrm>
            <a:off x="7351365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1792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1793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794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1795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96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97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98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799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1800" name="Line"/>
          <p:cNvSpPr/>
          <p:nvPr/>
        </p:nvSpPr>
        <p:spPr>
          <a:xfrm>
            <a:off x="6127342" y="3424535"/>
            <a:ext cx="423734" cy="449834"/>
          </a:xfrm>
          <a:prstGeom prst="line">
            <a:avLst/>
          </a:prstGeom>
          <a:ln w="25400">
            <a:solidFill>
              <a:srgbClr val="FF26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01" name="Line"/>
          <p:cNvSpPr/>
          <p:nvPr/>
        </p:nvSpPr>
        <p:spPr>
          <a:xfrm flipH="1">
            <a:off x="6561055" y="3418888"/>
            <a:ext cx="35752" cy="463589"/>
          </a:xfrm>
          <a:prstGeom prst="line">
            <a:avLst/>
          </a:prstGeom>
          <a:ln w="25400">
            <a:solidFill>
              <a:srgbClr val="FF26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02" name="Statistically indistinguishable!"/>
          <p:cNvSpPr txBox="1"/>
          <p:nvPr/>
        </p:nvSpPr>
        <p:spPr>
          <a:xfrm>
            <a:off x="5690443" y="3904506"/>
            <a:ext cx="231055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60D1A"/>
                </a:solidFill>
                <a:uFill>
                  <a:solidFill>
                    <a:srgbClr val="F60D1A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Statistically indistinguishable!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roup"/>
          <p:cNvGrpSpPr/>
          <p:nvPr/>
        </p:nvGrpSpPr>
        <p:grpSpPr>
          <a:xfrm>
            <a:off x="5777508" y="2411016"/>
            <a:ext cx="1735431" cy="736700"/>
            <a:chOff x="0" y="0"/>
            <a:chExt cx="4627815" cy="1964532"/>
          </a:xfrm>
        </p:grpSpPr>
        <p:sp>
          <p:nvSpPr>
            <p:cNvPr id="1806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7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08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09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10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811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812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813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814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81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sp>
        <p:nvSpPr>
          <p:cNvPr id="1817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18" name="Uniform Judge Allocation"/>
          <p:cNvSpPr txBox="1"/>
          <p:nvPr/>
        </p:nvSpPr>
        <p:spPr>
          <a:xfrm>
            <a:off x="5569892" y="1393031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Uniform Judge Allocation</a:t>
            </a:r>
          </a:p>
        </p:txBody>
      </p:sp>
      <p:sp>
        <p:nvSpPr>
          <p:cNvPr id="1819" name="Line"/>
          <p:cNvSpPr/>
          <p:nvPr/>
        </p:nvSpPr>
        <p:spPr>
          <a:xfrm>
            <a:off x="5799274" y="1726450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0" name="Line"/>
          <p:cNvSpPr/>
          <p:nvPr/>
        </p:nvSpPr>
        <p:spPr>
          <a:xfrm flipH="1" flipV="1">
            <a:off x="5797542" y="2405106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1" name="judges…"/>
          <p:cNvSpPr txBox="1"/>
          <p:nvPr/>
        </p:nvSpPr>
        <p:spPr>
          <a:xfrm>
            <a:off x="5168057" y="1781472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1822" name="Line"/>
          <p:cNvSpPr/>
          <p:nvPr/>
        </p:nvSpPr>
        <p:spPr>
          <a:xfrm>
            <a:off x="5927601" y="2014580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3" name="Circle"/>
          <p:cNvSpPr/>
          <p:nvPr/>
        </p:nvSpPr>
        <p:spPr>
          <a:xfrm>
            <a:off x="5891361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24" name="Line"/>
          <p:cNvSpPr/>
          <p:nvPr/>
        </p:nvSpPr>
        <p:spPr>
          <a:xfrm>
            <a:off x="6117156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5" name="Circle"/>
          <p:cNvSpPr/>
          <p:nvPr/>
        </p:nvSpPr>
        <p:spPr>
          <a:xfrm>
            <a:off x="6078885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26" name="Line"/>
          <p:cNvSpPr/>
          <p:nvPr/>
        </p:nvSpPr>
        <p:spPr>
          <a:xfrm>
            <a:off x="6304680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7" name="Circle"/>
          <p:cNvSpPr/>
          <p:nvPr/>
        </p:nvSpPr>
        <p:spPr>
          <a:xfrm>
            <a:off x="6266408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28" name="Line"/>
          <p:cNvSpPr/>
          <p:nvPr/>
        </p:nvSpPr>
        <p:spPr>
          <a:xfrm>
            <a:off x="6485506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29" name="Circle"/>
          <p:cNvSpPr/>
          <p:nvPr/>
        </p:nvSpPr>
        <p:spPr>
          <a:xfrm>
            <a:off x="6447234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30" name="Line"/>
          <p:cNvSpPr/>
          <p:nvPr/>
        </p:nvSpPr>
        <p:spPr>
          <a:xfrm>
            <a:off x="6646241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31" name="Circle"/>
          <p:cNvSpPr/>
          <p:nvPr/>
        </p:nvSpPr>
        <p:spPr>
          <a:xfrm>
            <a:off x="6607969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32" name="Line"/>
          <p:cNvSpPr/>
          <p:nvPr/>
        </p:nvSpPr>
        <p:spPr>
          <a:xfrm>
            <a:off x="683376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33" name="Circle"/>
          <p:cNvSpPr/>
          <p:nvPr/>
        </p:nvSpPr>
        <p:spPr>
          <a:xfrm>
            <a:off x="679549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34" name="Line"/>
          <p:cNvSpPr/>
          <p:nvPr/>
        </p:nvSpPr>
        <p:spPr>
          <a:xfrm>
            <a:off x="7021287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35" name="Circle"/>
          <p:cNvSpPr/>
          <p:nvPr/>
        </p:nvSpPr>
        <p:spPr>
          <a:xfrm>
            <a:off x="6983016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36" name="Line"/>
          <p:cNvSpPr/>
          <p:nvPr/>
        </p:nvSpPr>
        <p:spPr>
          <a:xfrm>
            <a:off x="742312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37" name="Circle"/>
          <p:cNvSpPr/>
          <p:nvPr/>
        </p:nvSpPr>
        <p:spPr>
          <a:xfrm>
            <a:off x="738485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38" name=". . ."/>
          <p:cNvSpPr txBox="1"/>
          <p:nvPr/>
        </p:nvSpPr>
        <p:spPr>
          <a:xfrm>
            <a:off x="7049988" y="202257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839" name="[    ]"/>
          <p:cNvSpPr txBox="1"/>
          <p:nvPr/>
        </p:nvSpPr>
        <p:spPr>
          <a:xfrm rot="16200000">
            <a:off x="5742457" y="2901497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840" name="[    ]"/>
          <p:cNvSpPr txBox="1"/>
          <p:nvPr/>
        </p:nvSpPr>
        <p:spPr>
          <a:xfrm rot="16200000">
            <a:off x="5925879" y="2724773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841" name="[    ]"/>
          <p:cNvSpPr txBox="1"/>
          <p:nvPr/>
        </p:nvSpPr>
        <p:spPr>
          <a:xfrm rot="16200000">
            <a:off x="6307623" y="271137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842" name="[    ]"/>
          <p:cNvSpPr txBox="1"/>
          <p:nvPr/>
        </p:nvSpPr>
        <p:spPr>
          <a:xfrm rot="16200000">
            <a:off x="6461660" y="289890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1843" name="Line"/>
          <p:cNvSpPr/>
          <p:nvPr/>
        </p:nvSpPr>
        <p:spPr>
          <a:xfrm>
            <a:off x="5943028" y="3007072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44" name="Circle"/>
          <p:cNvSpPr/>
          <p:nvPr/>
        </p:nvSpPr>
        <p:spPr>
          <a:xfrm>
            <a:off x="5904756" y="2980283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45" name="Line"/>
          <p:cNvSpPr/>
          <p:nvPr/>
        </p:nvSpPr>
        <p:spPr>
          <a:xfrm>
            <a:off x="6123854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46" name="Circle"/>
          <p:cNvSpPr/>
          <p:nvPr/>
        </p:nvSpPr>
        <p:spPr>
          <a:xfrm>
            <a:off x="6085582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47" name="Line"/>
          <p:cNvSpPr/>
          <p:nvPr/>
        </p:nvSpPr>
        <p:spPr>
          <a:xfrm>
            <a:off x="6498901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48" name="Circle"/>
          <p:cNvSpPr/>
          <p:nvPr/>
        </p:nvSpPr>
        <p:spPr>
          <a:xfrm>
            <a:off x="6460629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49" name="Line"/>
          <p:cNvSpPr/>
          <p:nvPr/>
        </p:nvSpPr>
        <p:spPr>
          <a:xfrm>
            <a:off x="6666332" y="3033862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50" name="Circle"/>
          <p:cNvSpPr/>
          <p:nvPr/>
        </p:nvSpPr>
        <p:spPr>
          <a:xfrm>
            <a:off x="6628060" y="3007072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51" name=". . ."/>
          <p:cNvSpPr txBox="1"/>
          <p:nvPr/>
        </p:nvSpPr>
        <p:spPr>
          <a:xfrm>
            <a:off x="7090172" y="285303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852" name="Line"/>
          <p:cNvSpPr/>
          <p:nvPr/>
        </p:nvSpPr>
        <p:spPr>
          <a:xfrm flipH="1" flipV="1">
            <a:off x="5810994" y="3234974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1861" name="Group"/>
          <p:cNvGrpSpPr/>
          <p:nvPr/>
        </p:nvGrpSpPr>
        <p:grpSpPr>
          <a:xfrm>
            <a:off x="5864572" y="3241476"/>
            <a:ext cx="1983135" cy="482948"/>
            <a:chOff x="0" y="0"/>
            <a:chExt cx="5288359" cy="1287859"/>
          </a:xfrm>
        </p:grpSpPr>
        <p:sp>
          <p:nvSpPr>
            <p:cNvPr id="1853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54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55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56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857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858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859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860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862" name="Line"/>
          <p:cNvSpPr/>
          <p:nvPr/>
        </p:nvSpPr>
        <p:spPr>
          <a:xfrm>
            <a:off x="5810994" y="2551658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63" name="average…"/>
          <p:cNvSpPr txBox="1"/>
          <p:nvPr/>
        </p:nvSpPr>
        <p:spPr>
          <a:xfrm>
            <a:off x="5141267" y="2772668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1864" name="X"/>
          <p:cNvSpPr txBox="1"/>
          <p:nvPr/>
        </p:nvSpPr>
        <p:spPr>
          <a:xfrm>
            <a:off x="6219527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865" name="X"/>
          <p:cNvSpPr txBox="1"/>
          <p:nvPr/>
        </p:nvSpPr>
        <p:spPr>
          <a:xfrm>
            <a:off x="6741914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866" name="X"/>
          <p:cNvSpPr txBox="1"/>
          <p:nvPr/>
        </p:nvSpPr>
        <p:spPr>
          <a:xfrm>
            <a:off x="6942832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867" name="X"/>
          <p:cNvSpPr txBox="1"/>
          <p:nvPr/>
        </p:nvSpPr>
        <p:spPr>
          <a:xfrm>
            <a:off x="7351365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1868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1869" name="Rectangle"/>
          <p:cNvSpPr/>
          <p:nvPr/>
        </p:nvSpPr>
        <p:spPr>
          <a:xfrm>
            <a:off x="5168057" y="1272480"/>
            <a:ext cx="2538264" cy="2203401"/>
          </a:xfrm>
          <a:prstGeom prst="rect">
            <a:avLst/>
          </a:prstGeom>
          <a:solidFill>
            <a:srgbClr val="FFFFFF">
              <a:alpha val="68000"/>
            </a:srgbClr>
          </a:solidFill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1870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pic>
        <p:nvPicPr>
          <p:cNvPr id="1871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872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873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874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875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876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877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878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879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pic>
        <p:nvPicPr>
          <p:cNvPr id="1880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881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pic>
        <p:nvPicPr>
          <p:cNvPr id="1882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1887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1888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1889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1890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1891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1892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93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1894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95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896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1913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1897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898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9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00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1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02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3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04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5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06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7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08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9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10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1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12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914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915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1925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1916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7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918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919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920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921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922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923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924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1926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1927" name="Line"/>
          <p:cNvSpPr/>
          <p:nvPr/>
        </p:nvSpPr>
        <p:spPr>
          <a:xfrm>
            <a:off x="5949725" y="5619006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28" name="Line"/>
          <p:cNvSpPr/>
          <p:nvPr/>
        </p:nvSpPr>
        <p:spPr>
          <a:xfrm>
            <a:off x="6137248" y="561900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29" name="Line"/>
          <p:cNvSpPr/>
          <p:nvPr/>
        </p:nvSpPr>
        <p:spPr>
          <a:xfrm>
            <a:off x="6324772" y="5619006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0" name="Line"/>
          <p:cNvSpPr/>
          <p:nvPr/>
        </p:nvSpPr>
        <p:spPr>
          <a:xfrm>
            <a:off x="6505598" y="5619006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1" name="Line"/>
          <p:cNvSpPr/>
          <p:nvPr/>
        </p:nvSpPr>
        <p:spPr>
          <a:xfrm>
            <a:off x="6666332" y="5619006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2" name="Line"/>
          <p:cNvSpPr/>
          <p:nvPr/>
        </p:nvSpPr>
        <p:spPr>
          <a:xfrm>
            <a:off x="6853855" y="561900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3" name="Line"/>
          <p:cNvSpPr/>
          <p:nvPr/>
        </p:nvSpPr>
        <p:spPr>
          <a:xfrm>
            <a:off x="7041379" y="5619006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4" name="Line"/>
          <p:cNvSpPr/>
          <p:nvPr/>
        </p:nvSpPr>
        <p:spPr>
          <a:xfrm>
            <a:off x="7443214" y="561900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5" name=". . ."/>
          <p:cNvSpPr txBox="1"/>
          <p:nvPr/>
        </p:nvSpPr>
        <p:spPr>
          <a:xfrm>
            <a:off x="7070080" y="5625703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1936" name="Line"/>
          <p:cNvSpPr/>
          <p:nvPr/>
        </p:nvSpPr>
        <p:spPr>
          <a:xfrm>
            <a:off x="5810994" y="4949280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37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1947" name="Group"/>
          <p:cNvGrpSpPr/>
          <p:nvPr/>
        </p:nvGrpSpPr>
        <p:grpSpPr>
          <a:xfrm>
            <a:off x="5797600" y="5639098"/>
            <a:ext cx="1735431" cy="736700"/>
            <a:chOff x="0" y="0"/>
            <a:chExt cx="4627815" cy="1964532"/>
          </a:xfrm>
        </p:grpSpPr>
        <p:sp>
          <p:nvSpPr>
            <p:cNvPr id="1938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9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940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941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942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943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944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945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946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pic>
        <p:nvPicPr>
          <p:cNvPr id="1948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1949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1950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1951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52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53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54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955" name="2, 4"/>
          <p:cNvSpPr txBox="1"/>
          <p:nvPr/>
        </p:nvSpPr>
        <p:spPr>
          <a:xfrm>
            <a:off x="2864197" y="1955601"/>
            <a:ext cx="45228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2, 4 </a:t>
            </a:r>
          </a:p>
        </p:txBody>
      </p:sp>
      <p:sp>
        <p:nvSpPr>
          <p:cNvPr id="1956" name="5, 4"/>
          <p:cNvSpPr txBox="1"/>
          <p:nvPr/>
        </p:nvSpPr>
        <p:spPr>
          <a:xfrm>
            <a:off x="2864197" y="2920008"/>
            <a:ext cx="40419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5, 4</a:t>
            </a:r>
          </a:p>
        </p:txBody>
      </p:sp>
      <p:sp>
        <p:nvSpPr>
          <p:cNvPr id="1957" name="5, 4"/>
          <p:cNvSpPr txBox="1"/>
          <p:nvPr/>
        </p:nvSpPr>
        <p:spPr>
          <a:xfrm>
            <a:off x="2864197" y="4272855"/>
            <a:ext cx="40419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5, 4</a:t>
            </a:r>
          </a:p>
        </p:txBody>
      </p:sp>
      <p:sp>
        <p:nvSpPr>
          <p:cNvPr id="1958" name="2, 1"/>
          <p:cNvSpPr txBox="1"/>
          <p:nvPr/>
        </p:nvSpPr>
        <p:spPr>
          <a:xfrm>
            <a:off x="2864197" y="5217170"/>
            <a:ext cx="40419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2, 1</a:t>
            </a:r>
          </a:p>
        </p:txBody>
      </p:sp>
      <p:sp>
        <p:nvSpPr>
          <p:cNvPr id="1959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1960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1961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1962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1963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grpSp>
        <p:nvGrpSpPr>
          <p:cNvPr id="2025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1973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1964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966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1967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1968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1969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1970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1971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1972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1974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1975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76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77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1978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79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0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81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2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83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4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85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6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87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8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89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0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91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2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993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4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1995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1996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1997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1998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1999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00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1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02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3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04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5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06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7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008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017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009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010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011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012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013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014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015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016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018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19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020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021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022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023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024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030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031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032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033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034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035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036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037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38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039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40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41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2058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2042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43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4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45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6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47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8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49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0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51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2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53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4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55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6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57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059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060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2070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061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2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063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064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65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066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067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068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069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071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072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73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74" name="Line"/>
          <p:cNvSpPr/>
          <p:nvPr/>
        </p:nvSpPr>
        <p:spPr>
          <a:xfrm>
            <a:off x="6123854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75" name="Circle"/>
          <p:cNvSpPr/>
          <p:nvPr/>
        </p:nvSpPr>
        <p:spPr>
          <a:xfrm>
            <a:off x="6085582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76" name="Line"/>
          <p:cNvSpPr/>
          <p:nvPr/>
        </p:nvSpPr>
        <p:spPr>
          <a:xfrm>
            <a:off x="6324771" y="5518547"/>
            <a:ext cx="4" cy="10715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77" name="Circle"/>
          <p:cNvSpPr/>
          <p:nvPr/>
        </p:nvSpPr>
        <p:spPr>
          <a:xfrm>
            <a:off x="6286500" y="5491758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78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79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80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81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82" name="Line"/>
          <p:cNvSpPr/>
          <p:nvPr/>
        </p:nvSpPr>
        <p:spPr>
          <a:xfrm>
            <a:off x="6853855" y="5552033"/>
            <a:ext cx="4" cy="7367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83" name="Circle"/>
          <p:cNvSpPr/>
          <p:nvPr/>
        </p:nvSpPr>
        <p:spPr>
          <a:xfrm>
            <a:off x="6815584" y="5525244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84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85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086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087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088" name="Circle"/>
          <p:cNvSpPr/>
          <p:nvPr/>
        </p:nvSpPr>
        <p:spPr>
          <a:xfrm>
            <a:off x="7003107" y="559221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grpSp>
        <p:nvGrpSpPr>
          <p:cNvPr id="2097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089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090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091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92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093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094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095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096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098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103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2099" name="2.2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2.2</a:t>
              </a:r>
            </a:p>
          </p:txBody>
        </p:sp>
        <p:sp>
          <p:nvSpPr>
            <p:cNvPr id="2100" name="3.1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3.1</a:t>
              </a:r>
            </a:p>
          </p:txBody>
        </p:sp>
        <p:sp>
          <p:nvSpPr>
            <p:cNvPr id="2101" name="4.8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4.8</a:t>
              </a:r>
            </a:p>
          </p:txBody>
        </p:sp>
        <p:sp>
          <p:nvSpPr>
            <p:cNvPr id="2102" name="4.7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4.7</a:t>
              </a:r>
            </a:p>
          </p:txBody>
        </p:sp>
      </p:grpSp>
      <p:pic>
        <p:nvPicPr>
          <p:cNvPr id="2104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2105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2106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2107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08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09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10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11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2112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2113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2175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2123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2114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116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117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118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119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120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121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122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124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2125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26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27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2128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29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0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31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2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33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4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35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6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37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8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39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0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41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2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43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4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145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146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147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148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149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50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1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52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3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54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5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56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7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158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167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159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160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161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162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163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164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165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166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168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69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170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171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172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173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174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180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181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182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183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184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185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186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187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88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189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90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191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2208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2192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93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4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95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6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97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8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199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0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201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2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203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4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205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6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207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09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210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2220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211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2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13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214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215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216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217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218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219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221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222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23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24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25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26" name="Line"/>
          <p:cNvSpPr/>
          <p:nvPr/>
        </p:nvSpPr>
        <p:spPr>
          <a:xfrm>
            <a:off x="6324771" y="5518547"/>
            <a:ext cx="4" cy="10715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27" name="Circle"/>
          <p:cNvSpPr/>
          <p:nvPr/>
        </p:nvSpPr>
        <p:spPr>
          <a:xfrm>
            <a:off x="6286500" y="5491758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28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29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30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31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32" name="Line"/>
          <p:cNvSpPr/>
          <p:nvPr/>
        </p:nvSpPr>
        <p:spPr>
          <a:xfrm>
            <a:off x="6853855" y="5552033"/>
            <a:ext cx="4" cy="7367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33" name="Circle"/>
          <p:cNvSpPr/>
          <p:nvPr/>
        </p:nvSpPr>
        <p:spPr>
          <a:xfrm>
            <a:off x="6815584" y="5525244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34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35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236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237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38" name="Circle"/>
          <p:cNvSpPr/>
          <p:nvPr/>
        </p:nvSpPr>
        <p:spPr>
          <a:xfrm>
            <a:off x="7003107" y="559221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grpSp>
        <p:nvGrpSpPr>
          <p:cNvPr id="2247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239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40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241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242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243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244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245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246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248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253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2249" name="2.2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2.2</a:t>
              </a:r>
            </a:p>
          </p:txBody>
        </p:sp>
        <p:sp>
          <p:nvSpPr>
            <p:cNvPr id="2250" name="3.1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3.1</a:t>
              </a:r>
            </a:p>
          </p:txBody>
        </p:sp>
        <p:sp>
          <p:nvSpPr>
            <p:cNvPr id="2251" name="4.8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4.8</a:t>
              </a:r>
            </a:p>
          </p:txBody>
        </p:sp>
        <p:sp>
          <p:nvSpPr>
            <p:cNvPr id="2252" name="4.7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4.7</a:t>
              </a:r>
            </a:p>
          </p:txBody>
        </p:sp>
      </p:grpSp>
      <p:grpSp>
        <p:nvGrpSpPr>
          <p:cNvPr id="2270" name="Group"/>
          <p:cNvGrpSpPr/>
          <p:nvPr/>
        </p:nvGrpSpPr>
        <p:grpSpPr>
          <a:xfrm>
            <a:off x="1497954" y="1868537"/>
            <a:ext cx="445880" cy="3959880"/>
            <a:chOff x="-1" y="0"/>
            <a:chExt cx="1189008" cy="10559679"/>
          </a:xfrm>
        </p:grpSpPr>
        <p:grpSp>
          <p:nvGrpSpPr>
            <p:cNvPr id="2257" name="Group"/>
            <p:cNvGrpSpPr/>
            <p:nvPr/>
          </p:nvGrpSpPr>
          <p:grpSpPr>
            <a:xfrm>
              <a:off x="-1" y="0"/>
              <a:ext cx="996749" cy="915616"/>
              <a:chOff x="0" y="0"/>
              <a:chExt cx="996747" cy="915615"/>
            </a:xfrm>
          </p:grpSpPr>
          <p:sp>
            <p:nvSpPr>
              <p:cNvPr id="2254" name="+"/>
              <p:cNvSpPr txBox="1"/>
              <p:nvPr/>
            </p:nvSpPr>
            <p:spPr>
              <a:xfrm>
                <a:off x="0" y="0"/>
                <a:ext cx="577721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255" name="-"/>
              <p:cNvSpPr txBox="1"/>
              <p:nvPr/>
            </p:nvSpPr>
            <p:spPr>
              <a:xfrm>
                <a:off x="35717" y="125016"/>
                <a:ext cx="487953" cy="790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256" name=".5"/>
              <p:cNvSpPr txBox="1"/>
              <p:nvPr/>
            </p:nvSpPr>
            <p:spPr>
              <a:xfrm>
                <a:off x="303610" y="71437"/>
                <a:ext cx="693137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261" name="Group"/>
            <p:cNvGrpSpPr/>
            <p:nvPr/>
          </p:nvGrpSpPr>
          <p:grpSpPr>
            <a:xfrm>
              <a:off x="49386" y="2643187"/>
              <a:ext cx="996746" cy="915617"/>
              <a:chOff x="0" y="0"/>
              <a:chExt cx="996744" cy="915616"/>
            </a:xfrm>
          </p:grpSpPr>
          <p:sp>
            <p:nvSpPr>
              <p:cNvPr id="2258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259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260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265" name="Group"/>
            <p:cNvGrpSpPr/>
            <p:nvPr/>
          </p:nvGrpSpPr>
          <p:grpSpPr>
            <a:xfrm>
              <a:off x="85105" y="6786562"/>
              <a:ext cx="996746" cy="915617"/>
              <a:chOff x="0" y="0"/>
              <a:chExt cx="996744" cy="915616"/>
            </a:xfrm>
          </p:grpSpPr>
          <p:sp>
            <p:nvSpPr>
              <p:cNvPr id="2262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263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264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269" name="Group"/>
            <p:cNvGrpSpPr/>
            <p:nvPr/>
          </p:nvGrpSpPr>
          <p:grpSpPr>
            <a:xfrm>
              <a:off x="192261" y="9644062"/>
              <a:ext cx="996746" cy="915617"/>
              <a:chOff x="0" y="0"/>
              <a:chExt cx="996744" cy="915616"/>
            </a:xfrm>
          </p:grpSpPr>
          <p:sp>
            <p:nvSpPr>
              <p:cNvPr id="2266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267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268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</p:grpSp>
      <p:sp>
        <p:nvSpPr>
          <p:cNvPr id="2271" name="[        ]"/>
          <p:cNvSpPr txBox="1"/>
          <p:nvPr/>
        </p:nvSpPr>
        <p:spPr>
          <a:xfrm rot="16200000">
            <a:off x="5663296" y="5283632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2" name="[        ]"/>
          <p:cNvSpPr txBox="1"/>
          <p:nvPr/>
        </p:nvSpPr>
        <p:spPr>
          <a:xfrm rot="16200000">
            <a:off x="5857517" y="503214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3" name="[        ]"/>
          <p:cNvSpPr txBox="1"/>
          <p:nvPr/>
        </p:nvSpPr>
        <p:spPr>
          <a:xfrm rot="16200000">
            <a:off x="6219169" y="509242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4" name="[        ]"/>
          <p:cNvSpPr txBox="1"/>
          <p:nvPr/>
        </p:nvSpPr>
        <p:spPr>
          <a:xfrm rot="16200000">
            <a:off x="6386601" y="531343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5" name="[        ]"/>
          <p:cNvSpPr txBox="1"/>
          <p:nvPr/>
        </p:nvSpPr>
        <p:spPr>
          <a:xfrm rot="16200000">
            <a:off x="6580822" y="5454073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6" name="[        ]"/>
          <p:cNvSpPr txBox="1"/>
          <p:nvPr/>
        </p:nvSpPr>
        <p:spPr>
          <a:xfrm rot="16200000">
            <a:off x="6754951" y="5507651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77" name="[        ]"/>
          <p:cNvSpPr txBox="1"/>
          <p:nvPr/>
        </p:nvSpPr>
        <p:spPr>
          <a:xfrm rot="16200000">
            <a:off x="7170181" y="532682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pic>
        <p:nvPicPr>
          <p:cNvPr id="2278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2279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2280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2281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82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83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84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285" name="[        ]"/>
          <p:cNvSpPr txBox="1"/>
          <p:nvPr/>
        </p:nvSpPr>
        <p:spPr>
          <a:xfrm rot="16200000">
            <a:off x="6058435" y="5440678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286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2287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2288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2350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2298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2289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291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292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293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294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295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296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297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299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2300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01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02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2303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04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5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06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7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08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9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10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1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12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3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14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5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16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7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18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9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320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321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322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323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324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25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6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27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8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29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0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31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2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333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342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334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335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336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337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338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339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340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341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343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44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345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346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347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348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349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355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356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357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358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359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360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361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362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363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364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365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366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2383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2367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68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9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70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1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72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3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74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5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76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7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78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9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80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1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382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384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385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2395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386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7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388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389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390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391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392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393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394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396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397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398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399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00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01" name="Line"/>
          <p:cNvSpPr/>
          <p:nvPr/>
        </p:nvSpPr>
        <p:spPr>
          <a:xfrm>
            <a:off x="6324771" y="5518547"/>
            <a:ext cx="4" cy="10715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02" name="Circle"/>
          <p:cNvSpPr/>
          <p:nvPr/>
        </p:nvSpPr>
        <p:spPr>
          <a:xfrm>
            <a:off x="6286500" y="5491758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03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04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05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06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07" name="Line"/>
          <p:cNvSpPr/>
          <p:nvPr/>
        </p:nvSpPr>
        <p:spPr>
          <a:xfrm>
            <a:off x="6853855" y="5552033"/>
            <a:ext cx="4" cy="7367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08" name="Circle"/>
          <p:cNvSpPr/>
          <p:nvPr/>
        </p:nvSpPr>
        <p:spPr>
          <a:xfrm>
            <a:off x="6815584" y="5525244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09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10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11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412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13" name="Circle"/>
          <p:cNvSpPr/>
          <p:nvPr/>
        </p:nvSpPr>
        <p:spPr>
          <a:xfrm>
            <a:off x="7003107" y="559221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grpSp>
        <p:nvGrpSpPr>
          <p:cNvPr id="2422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414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415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416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417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418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419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420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421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423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428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2424" name="2.2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2.2</a:t>
              </a:r>
            </a:p>
          </p:txBody>
        </p:sp>
        <p:sp>
          <p:nvSpPr>
            <p:cNvPr id="2425" name="3.1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3.1</a:t>
              </a:r>
            </a:p>
          </p:txBody>
        </p:sp>
        <p:sp>
          <p:nvSpPr>
            <p:cNvPr id="2426" name="4.8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4.8</a:t>
              </a:r>
            </a:p>
          </p:txBody>
        </p:sp>
        <p:sp>
          <p:nvSpPr>
            <p:cNvPr id="2427" name="4.7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4.7</a:t>
              </a:r>
            </a:p>
          </p:txBody>
        </p:sp>
      </p:grpSp>
      <p:grpSp>
        <p:nvGrpSpPr>
          <p:cNvPr id="2445" name="Group"/>
          <p:cNvGrpSpPr/>
          <p:nvPr/>
        </p:nvGrpSpPr>
        <p:grpSpPr>
          <a:xfrm>
            <a:off x="1497954" y="1868537"/>
            <a:ext cx="445880" cy="3959880"/>
            <a:chOff x="-1" y="0"/>
            <a:chExt cx="1189008" cy="10559679"/>
          </a:xfrm>
        </p:grpSpPr>
        <p:grpSp>
          <p:nvGrpSpPr>
            <p:cNvPr id="2432" name="Group"/>
            <p:cNvGrpSpPr/>
            <p:nvPr/>
          </p:nvGrpSpPr>
          <p:grpSpPr>
            <a:xfrm>
              <a:off x="-1" y="0"/>
              <a:ext cx="996749" cy="915616"/>
              <a:chOff x="0" y="0"/>
              <a:chExt cx="996747" cy="915615"/>
            </a:xfrm>
          </p:grpSpPr>
          <p:sp>
            <p:nvSpPr>
              <p:cNvPr id="2429" name="+"/>
              <p:cNvSpPr txBox="1"/>
              <p:nvPr/>
            </p:nvSpPr>
            <p:spPr>
              <a:xfrm>
                <a:off x="0" y="0"/>
                <a:ext cx="577721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430" name="-"/>
              <p:cNvSpPr txBox="1"/>
              <p:nvPr/>
            </p:nvSpPr>
            <p:spPr>
              <a:xfrm>
                <a:off x="35717" y="125016"/>
                <a:ext cx="487953" cy="790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431" name=".5"/>
              <p:cNvSpPr txBox="1"/>
              <p:nvPr/>
            </p:nvSpPr>
            <p:spPr>
              <a:xfrm>
                <a:off x="303610" y="71437"/>
                <a:ext cx="693137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436" name="Group"/>
            <p:cNvGrpSpPr/>
            <p:nvPr/>
          </p:nvGrpSpPr>
          <p:grpSpPr>
            <a:xfrm>
              <a:off x="49386" y="2643187"/>
              <a:ext cx="996746" cy="915617"/>
              <a:chOff x="0" y="0"/>
              <a:chExt cx="996744" cy="915616"/>
            </a:xfrm>
          </p:grpSpPr>
          <p:sp>
            <p:nvSpPr>
              <p:cNvPr id="2433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434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435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440" name="Group"/>
            <p:cNvGrpSpPr/>
            <p:nvPr/>
          </p:nvGrpSpPr>
          <p:grpSpPr>
            <a:xfrm>
              <a:off x="85105" y="6786562"/>
              <a:ext cx="996746" cy="915617"/>
              <a:chOff x="0" y="0"/>
              <a:chExt cx="996744" cy="915616"/>
            </a:xfrm>
          </p:grpSpPr>
          <p:sp>
            <p:nvSpPr>
              <p:cNvPr id="2437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438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439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444" name="Group"/>
            <p:cNvGrpSpPr/>
            <p:nvPr/>
          </p:nvGrpSpPr>
          <p:grpSpPr>
            <a:xfrm>
              <a:off x="192261" y="9644062"/>
              <a:ext cx="996746" cy="915617"/>
              <a:chOff x="0" y="0"/>
              <a:chExt cx="996744" cy="915616"/>
            </a:xfrm>
          </p:grpSpPr>
          <p:sp>
            <p:nvSpPr>
              <p:cNvPr id="2441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442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443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</p:grpSp>
      <p:sp>
        <p:nvSpPr>
          <p:cNvPr id="2446" name="[        ]"/>
          <p:cNvSpPr txBox="1"/>
          <p:nvPr/>
        </p:nvSpPr>
        <p:spPr>
          <a:xfrm rot="16200000">
            <a:off x="5663296" y="5283632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47" name="[        ]"/>
          <p:cNvSpPr txBox="1"/>
          <p:nvPr/>
        </p:nvSpPr>
        <p:spPr>
          <a:xfrm rot="16200000">
            <a:off x="5857517" y="503214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48" name="[        ]"/>
          <p:cNvSpPr txBox="1"/>
          <p:nvPr/>
        </p:nvSpPr>
        <p:spPr>
          <a:xfrm rot="16200000">
            <a:off x="6219169" y="509242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49" name="[        ]"/>
          <p:cNvSpPr txBox="1"/>
          <p:nvPr/>
        </p:nvSpPr>
        <p:spPr>
          <a:xfrm rot="16200000">
            <a:off x="6386601" y="531343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50" name="[        ]"/>
          <p:cNvSpPr txBox="1"/>
          <p:nvPr/>
        </p:nvSpPr>
        <p:spPr>
          <a:xfrm rot="16200000">
            <a:off x="6580822" y="5454073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51" name="[        ]"/>
          <p:cNvSpPr txBox="1"/>
          <p:nvPr/>
        </p:nvSpPr>
        <p:spPr>
          <a:xfrm rot="16200000">
            <a:off x="6754951" y="5507651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52" name="[        ]"/>
          <p:cNvSpPr txBox="1"/>
          <p:nvPr/>
        </p:nvSpPr>
        <p:spPr>
          <a:xfrm rot="16200000">
            <a:off x="7170181" y="532682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53" name="Oval"/>
          <p:cNvSpPr/>
          <p:nvPr/>
        </p:nvSpPr>
        <p:spPr>
          <a:xfrm>
            <a:off x="5998517" y="4788545"/>
            <a:ext cx="254497" cy="669727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54" name="Oval"/>
          <p:cNvSpPr/>
          <p:nvPr/>
        </p:nvSpPr>
        <p:spPr>
          <a:xfrm>
            <a:off x="6715125" y="5203775"/>
            <a:ext cx="502295" cy="669727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455" name="Line"/>
          <p:cNvSpPr/>
          <p:nvPr/>
        </p:nvSpPr>
        <p:spPr>
          <a:xfrm flipV="1">
            <a:off x="5823160" y="5353101"/>
            <a:ext cx="1648769" cy="1"/>
          </a:xfrm>
          <a:prstGeom prst="line">
            <a:avLst/>
          </a:prstGeom>
          <a:ln w="508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pic>
        <p:nvPicPr>
          <p:cNvPr id="2456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2457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2458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2459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60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61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62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463" name="[        ]"/>
          <p:cNvSpPr txBox="1"/>
          <p:nvPr/>
        </p:nvSpPr>
        <p:spPr>
          <a:xfrm rot="16200000">
            <a:off x="6058435" y="546077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464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2465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2466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2528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2476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2467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68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469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470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471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472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473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474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475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477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2478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79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80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2481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82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3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84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5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86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7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88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9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90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1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92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3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94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5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496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7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498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499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500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501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502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03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4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05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6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07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8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09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0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511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520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512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513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514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515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516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517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518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519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521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22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523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524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525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526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527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529" name="Oval"/>
          <p:cNvSpPr/>
          <p:nvPr/>
        </p:nvSpPr>
        <p:spPr>
          <a:xfrm>
            <a:off x="6152555" y="5310932"/>
            <a:ext cx="350124" cy="486718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534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535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536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537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538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539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540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541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42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543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44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45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2562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2546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47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8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49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0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51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2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53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4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55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6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57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8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59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0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561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563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564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2574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565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6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567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68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569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570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571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572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573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575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576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77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78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79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80" name="Line"/>
          <p:cNvSpPr/>
          <p:nvPr/>
        </p:nvSpPr>
        <p:spPr>
          <a:xfrm>
            <a:off x="6324771" y="5518547"/>
            <a:ext cx="4" cy="10715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81" name="Circle"/>
          <p:cNvSpPr/>
          <p:nvPr/>
        </p:nvSpPr>
        <p:spPr>
          <a:xfrm>
            <a:off x="6286500" y="5491758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82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83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84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85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86" name="Line"/>
          <p:cNvSpPr/>
          <p:nvPr/>
        </p:nvSpPr>
        <p:spPr>
          <a:xfrm>
            <a:off x="6853855" y="5552033"/>
            <a:ext cx="4" cy="7367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87" name="Circle"/>
          <p:cNvSpPr/>
          <p:nvPr/>
        </p:nvSpPr>
        <p:spPr>
          <a:xfrm>
            <a:off x="6815584" y="5525244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88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89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590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591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92" name="Circle"/>
          <p:cNvSpPr/>
          <p:nvPr/>
        </p:nvSpPr>
        <p:spPr>
          <a:xfrm>
            <a:off x="7003107" y="559221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grpSp>
        <p:nvGrpSpPr>
          <p:cNvPr id="2601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593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594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95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596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597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598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599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600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602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607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2603" name="2.2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2.2</a:t>
              </a:r>
            </a:p>
          </p:txBody>
        </p:sp>
        <p:sp>
          <p:nvSpPr>
            <p:cNvPr id="2604" name="3.1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3.1</a:t>
              </a:r>
            </a:p>
          </p:txBody>
        </p:sp>
        <p:sp>
          <p:nvSpPr>
            <p:cNvPr id="2605" name="4.8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4.8</a:t>
              </a:r>
            </a:p>
          </p:txBody>
        </p:sp>
        <p:sp>
          <p:nvSpPr>
            <p:cNvPr id="2606" name="4.7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4.7</a:t>
              </a:r>
            </a:p>
          </p:txBody>
        </p:sp>
      </p:grpSp>
      <p:grpSp>
        <p:nvGrpSpPr>
          <p:cNvPr id="2624" name="Group"/>
          <p:cNvGrpSpPr/>
          <p:nvPr/>
        </p:nvGrpSpPr>
        <p:grpSpPr>
          <a:xfrm>
            <a:off x="1497954" y="1868537"/>
            <a:ext cx="445880" cy="3959880"/>
            <a:chOff x="-1" y="0"/>
            <a:chExt cx="1189008" cy="10559679"/>
          </a:xfrm>
        </p:grpSpPr>
        <p:grpSp>
          <p:nvGrpSpPr>
            <p:cNvPr id="2611" name="Group"/>
            <p:cNvGrpSpPr/>
            <p:nvPr/>
          </p:nvGrpSpPr>
          <p:grpSpPr>
            <a:xfrm>
              <a:off x="-1" y="0"/>
              <a:ext cx="996749" cy="915616"/>
              <a:chOff x="0" y="0"/>
              <a:chExt cx="996747" cy="915615"/>
            </a:xfrm>
          </p:grpSpPr>
          <p:sp>
            <p:nvSpPr>
              <p:cNvPr id="2608" name="+"/>
              <p:cNvSpPr txBox="1"/>
              <p:nvPr/>
            </p:nvSpPr>
            <p:spPr>
              <a:xfrm>
                <a:off x="0" y="0"/>
                <a:ext cx="577721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609" name="-"/>
              <p:cNvSpPr txBox="1"/>
              <p:nvPr/>
            </p:nvSpPr>
            <p:spPr>
              <a:xfrm>
                <a:off x="35717" y="125016"/>
                <a:ext cx="487953" cy="790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610" name=".5"/>
              <p:cNvSpPr txBox="1"/>
              <p:nvPr/>
            </p:nvSpPr>
            <p:spPr>
              <a:xfrm>
                <a:off x="303610" y="71437"/>
                <a:ext cx="693137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615" name="Group"/>
            <p:cNvGrpSpPr/>
            <p:nvPr/>
          </p:nvGrpSpPr>
          <p:grpSpPr>
            <a:xfrm>
              <a:off x="49386" y="2643187"/>
              <a:ext cx="996746" cy="915617"/>
              <a:chOff x="0" y="0"/>
              <a:chExt cx="996744" cy="915616"/>
            </a:xfrm>
          </p:grpSpPr>
          <p:sp>
            <p:nvSpPr>
              <p:cNvPr id="2612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613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614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619" name="Group"/>
            <p:cNvGrpSpPr/>
            <p:nvPr/>
          </p:nvGrpSpPr>
          <p:grpSpPr>
            <a:xfrm>
              <a:off x="85105" y="6786562"/>
              <a:ext cx="996746" cy="915617"/>
              <a:chOff x="0" y="0"/>
              <a:chExt cx="996744" cy="915616"/>
            </a:xfrm>
          </p:grpSpPr>
          <p:sp>
            <p:nvSpPr>
              <p:cNvPr id="2616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617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618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623" name="Group"/>
            <p:cNvGrpSpPr/>
            <p:nvPr/>
          </p:nvGrpSpPr>
          <p:grpSpPr>
            <a:xfrm>
              <a:off x="192261" y="9644062"/>
              <a:ext cx="996746" cy="915617"/>
              <a:chOff x="0" y="0"/>
              <a:chExt cx="996744" cy="915616"/>
            </a:xfrm>
          </p:grpSpPr>
          <p:sp>
            <p:nvSpPr>
              <p:cNvPr id="2620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621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622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</p:grpSp>
      <p:sp>
        <p:nvSpPr>
          <p:cNvPr id="2625" name="[        ]"/>
          <p:cNvSpPr txBox="1"/>
          <p:nvPr/>
        </p:nvSpPr>
        <p:spPr>
          <a:xfrm rot="16200000">
            <a:off x="5663296" y="5283632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26" name="[        ]"/>
          <p:cNvSpPr txBox="1"/>
          <p:nvPr/>
        </p:nvSpPr>
        <p:spPr>
          <a:xfrm rot="16200000">
            <a:off x="5857517" y="503214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27" name="[        ]"/>
          <p:cNvSpPr txBox="1"/>
          <p:nvPr/>
        </p:nvSpPr>
        <p:spPr>
          <a:xfrm rot="16200000">
            <a:off x="6058435" y="546077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28" name="[        ]"/>
          <p:cNvSpPr txBox="1"/>
          <p:nvPr/>
        </p:nvSpPr>
        <p:spPr>
          <a:xfrm rot="16200000">
            <a:off x="6219169" y="509242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29" name="[        ]"/>
          <p:cNvSpPr txBox="1"/>
          <p:nvPr/>
        </p:nvSpPr>
        <p:spPr>
          <a:xfrm rot="16200000">
            <a:off x="6386601" y="531343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30" name="[        ]"/>
          <p:cNvSpPr txBox="1"/>
          <p:nvPr/>
        </p:nvSpPr>
        <p:spPr>
          <a:xfrm rot="16200000">
            <a:off x="6580822" y="5454073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31" name="[        ]"/>
          <p:cNvSpPr txBox="1"/>
          <p:nvPr/>
        </p:nvSpPr>
        <p:spPr>
          <a:xfrm rot="16200000">
            <a:off x="6754951" y="5507651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32" name="[        ]"/>
          <p:cNvSpPr txBox="1"/>
          <p:nvPr/>
        </p:nvSpPr>
        <p:spPr>
          <a:xfrm rot="16200000">
            <a:off x="7170181" y="532682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633" name="Oval"/>
          <p:cNvSpPr/>
          <p:nvPr/>
        </p:nvSpPr>
        <p:spPr>
          <a:xfrm>
            <a:off x="5998517" y="4788545"/>
            <a:ext cx="254497" cy="669727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634" name="Oval"/>
          <p:cNvSpPr/>
          <p:nvPr/>
        </p:nvSpPr>
        <p:spPr>
          <a:xfrm>
            <a:off x="6715125" y="5203775"/>
            <a:ext cx="502295" cy="669727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635" name="Line"/>
          <p:cNvSpPr/>
          <p:nvPr/>
        </p:nvSpPr>
        <p:spPr>
          <a:xfrm flipV="1">
            <a:off x="5823160" y="5353101"/>
            <a:ext cx="1648769" cy="1"/>
          </a:xfrm>
          <a:prstGeom prst="line">
            <a:avLst/>
          </a:prstGeom>
          <a:ln w="508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638" name="Group"/>
          <p:cNvGrpSpPr/>
          <p:nvPr/>
        </p:nvGrpSpPr>
        <p:grpSpPr>
          <a:xfrm>
            <a:off x="1426911" y="5043041"/>
            <a:ext cx="1387812" cy="845628"/>
            <a:chOff x="0" y="0"/>
            <a:chExt cx="3700830" cy="2255008"/>
          </a:xfrm>
        </p:grpSpPr>
        <p:sp>
          <p:nvSpPr>
            <p:cNvPr id="2636" name="Line"/>
            <p:cNvSpPr/>
            <p:nvPr/>
          </p:nvSpPr>
          <p:spPr>
            <a:xfrm>
              <a:off x="118012" y="0"/>
              <a:ext cx="3582819" cy="2255009"/>
            </a:xfrm>
            <a:prstGeom prst="line">
              <a:avLst/>
            </a:prstGeom>
            <a:noFill/>
            <a:ln w="3683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37" name="Line"/>
            <p:cNvSpPr/>
            <p:nvPr/>
          </p:nvSpPr>
          <p:spPr>
            <a:xfrm flipH="1">
              <a:off x="0" y="63821"/>
              <a:ext cx="3683497" cy="2066784"/>
            </a:xfrm>
            <a:prstGeom prst="line">
              <a:avLst/>
            </a:prstGeom>
            <a:noFill/>
            <a:ln w="3683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sp>
        <p:nvSpPr>
          <p:cNvPr id="2639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640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pic>
        <p:nvPicPr>
          <p:cNvPr id="2641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2642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2643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2644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645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646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647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648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2649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2650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2712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2660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2651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653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654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655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656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657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658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659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661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2662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63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64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2665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66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68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70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72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74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76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78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80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682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683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684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685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686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87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89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91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693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695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704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696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697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698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699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700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701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702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703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705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06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707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708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709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710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711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13" name="Oval"/>
          <p:cNvSpPr/>
          <p:nvPr/>
        </p:nvSpPr>
        <p:spPr>
          <a:xfrm>
            <a:off x="6152555" y="5310932"/>
            <a:ext cx="350124" cy="486718"/>
          </a:xfrm>
          <a:prstGeom prst="ellipse">
            <a:avLst/>
          </a:prstGeom>
          <a:ln w="88900">
            <a:solidFill>
              <a:srgbClr val="0433FF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718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719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720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721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722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723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724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725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26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727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28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29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grpSp>
        <p:nvGrpSpPr>
          <p:cNvPr id="2746" name="Group"/>
          <p:cNvGrpSpPr/>
          <p:nvPr/>
        </p:nvGrpSpPr>
        <p:grpSpPr>
          <a:xfrm>
            <a:off x="5891361" y="4694783"/>
            <a:ext cx="1560464" cy="423225"/>
            <a:chOff x="0" y="0"/>
            <a:chExt cx="4161234" cy="1128599"/>
          </a:xfrm>
        </p:grpSpPr>
        <p:sp>
          <p:nvSpPr>
            <p:cNvPr id="2730" name="Line"/>
            <p:cNvSpPr/>
            <p:nvPr/>
          </p:nvSpPr>
          <p:spPr>
            <a:xfrm>
              <a:off x="96639" y="67979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31" name="Circle"/>
            <p:cNvSpPr/>
            <p:nvPr/>
          </p:nvSpPr>
          <p:spPr>
            <a:xfrm>
              <a:off x="0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2" name="Line"/>
            <p:cNvSpPr/>
            <p:nvPr/>
          </p:nvSpPr>
          <p:spPr>
            <a:xfrm>
              <a:off x="602119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33" name="Circle"/>
            <p:cNvSpPr/>
            <p:nvPr/>
          </p:nvSpPr>
          <p:spPr>
            <a:xfrm>
              <a:off x="500062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4" name="Line"/>
            <p:cNvSpPr/>
            <p:nvPr/>
          </p:nvSpPr>
          <p:spPr>
            <a:xfrm>
              <a:off x="1102182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35" name="Circle"/>
            <p:cNvSpPr/>
            <p:nvPr/>
          </p:nvSpPr>
          <p:spPr>
            <a:xfrm>
              <a:off x="1000125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6" name="Line"/>
            <p:cNvSpPr/>
            <p:nvPr/>
          </p:nvSpPr>
          <p:spPr>
            <a:xfrm>
              <a:off x="158438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37" name="Circle"/>
            <p:cNvSpPr/>
            <p:nvPr/>
          </p:nvSpPr>
          <p:spPr>
            <a:xfrm>
              <a:off x="148232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8" name="Line"/>
            <p:cNvSpPr/>
            <p:nvPr/>
          </p:nvSpPr>
          <p:spPr>
            <a:xfrm>
              <a:off x="2013010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39" name="Circle"/>
            <p:cNvSpPr/>
            <p:nvPr/>
          </p:nvSpPr>
          <p:spPr>
            <a:xfrm>
              <a:off x="1910953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0" name="Line"/>
            <p:cNvSpPr/>
            <p:nvPr/>
          </p:nvSpPr>
          <p:spPr>
            <a:xfrm>
              <a:off x="2513072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41" name="Circle"/>
            <p:cNvSpPr/>
            <p:nvPr/>
          </p:nvSpPr>
          <p:spPr>
            <a:xfrm>
              <a:off x="2411015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2" name="Line"/>
            <p:cNvSpPr/>
            <p:nvPr/>
          </p:nvSpPr>
          <p:spPr>
            <a:xfrm>
              <a:off x="3013135" y="71437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43" name="Circle"/>
            <p:cNvSpPr/>
            <p:nvPr/>
          </p:nvSpPr>
          <p:spPr>
            <a:xfrm>
              <a:off x="2911078" y="0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4" name="Line"/>
            <p:cNvSpPr/>
            <p:nvPr/>
          </p:nvSpPr>
          <p:spPr>
            <a:xfrm>
              <a:off x="4084697" y="71437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745" name="Circle"/>
            <p:cNvSpPr/>
            <p:nvPr/>
          </p:nvSpPr>
          <p:spPr>
            <a:xfrm>
              <a:off x="3982640" y="0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47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748" name="Proceed in rounds: Round 1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1</a:t>
            </a:r>
          </a:p>
        </p:txBody>
      </p:sp>
      <p:grpSp>
        <p:nvGrpSpPr>
          <p:cNvPr id="2758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749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0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751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752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753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754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755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756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757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759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760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61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762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63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764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65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766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67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768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769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770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771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780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772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773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774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775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776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777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778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779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781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786" name="Group"/>
          <p:cNvGrpSpPr/>
          <p:nvPr/>
        </p:nvGrpSpPr>
        <p:grpSpPr>
          <a:xfrm>
            <a:off x="1223367" y="1895326"/>
            <a:ext cx="570012" cy="4099471"/>
            <a:chOff x="0" y="0"/>
            <a:chExt cx="1520031" cy="10931921"/>
          </a:xfrm>
        </p:grpSpPr>
        <p:sp>
          <p:nvSpPr>
            <p:cNvPr id="2782" name="2.2"/>
            <p:cNvSpPr/>
            <p:nvPr/>
          </p:nvSpPr>
          <p:spPr>
            <a:xfrm>
              <a:off x="250031" y="96619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2.2</a:t>
              </a:r>
            </a:p>
          </p:txBody>
        </p:sp>
        <p:sp>
          <p:nvSpPr>
            <p:cNvPr id="2783" name="3.1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3.1</a:t>
              </a:r>
            </a:p>
          </p:txBody>
        </p:sp>
        <p:sp>
          <p:nvSpPr>
            <p:cNvPr id="2784" name="4.8"/>
            <p:cNvSpPr/>
            <p:nvPr/>
          </p:nvSpPr>
          <p:spPr>
            <a:xfrm>
              <a:off x="35718" y="26431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4.8</a:t>
              </a:r>
            </a:p>
          </p:txBody>
        </p:sp>
        <p:sp>
          <p:nvSpPr>
            <p:cNvPr id="2785" name="4.7"/>
            <p:cNvSpPr/>
            <p:nvPr/>
          </p:nvSpPr>
          <p:spPr>
            <a:xfrm>
              <a:off x="106958" y="6786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4.7</a:t>
              </a:r>
            </a:p>
          </p:txBody>
        </p:sp>
      </p:grpSp>
      <p:grpSp>
        <p:nvGrpSpPr>
          <p:cNvPr id="2803" name="Group"/>
          <p:cNvGrpSpPr/>
          <p:nvPr/>
        </p:nvGrpSpPr>
        <p:grpSpPr>
          <a:xfrm>
            <a:off x="1497954" y="1868537"/>
            <a:ext cx="445880" cy="3959880"/>
            <a:chOff x="-1" y="0"/>
            <a:chExt cx="1189008" cy="10559679"/>
          </a:xfrm>
        </p:grpSpPr>
        <p:grpSp>
          <p:nvGrpSpPr>
            <p:cNvPr id="2790" name="Group"/>
            <p:cNvGrpSpPr/>
            <p:nvPr/>
          </p:nvGrpSpPr>
          <p:grpSpPr>
            <a:xfrm>
              <a:off x="-1" y="0"/>
              <a:ext cx="996749" cy="915616"/>
              <a:chOff x="0" y="0"/>
              <a:chExt cx="996747" cy="915615"/>
            </a:xfrm>
          </p:grpSpPr>
          <p:sp>
            <p:nvSpPr>
              <p:cNvPr id="2787" name="+"/>
              <p:cNvSpPr txBox="1"/>
              <p:nvPr/>
            </p:nvSpPr>
            <p:spPr>
              <a:xfrm>
                <a:off x="0" y="0"/>
                <a:ext cx="577721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788" name="-"/>
              <p:cNvSpPr txBox="1"/>
              <p:nvPr/>
            </p:nvSpPr>
            <p:spPr>
              <a:xfrm>
                <a:off x="35717" y="125016"/>
                <a:ext cx="487953" cy="790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789" name=".5"/>
              <p:cNvSpPr txBox="1"/>
              <p:nvPr/>
            </p:nvSpPr>
            <p:spPr>
              <a:xfrm>
                <a:off x="303610" y="71437"/>
                <a:ext cx="693137" cy="6982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794" name="Group"/>
            <p:cNvGrpSpPr/>
            <p:nvPr/>
          </p:nvGrpSpPr>
          <p:grpSpPr>
            <a:xfrm>
              <a:off x="49386" y="2643187"/>
              <a:ext cx="996746" cy="915617"/>
              <a:chOff x="0" y="0"/>
              <a:chExt cx="996744" cy="915616"/>
            </a:xfrm>
          </p:grpSpPr>
          <p:sp>
            <p:nvSpPr>
              <p:cNvPr id="2791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792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793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798" name="Group"/>
            <p:cNvGrpSpPr/>
            <p:nvPr/>
          </p:nvGrpSpPr>
          <p:grpSpPr>
            <a:xfrm>
              <a:off x="85105" y="6786562"/>
              <a:ext cx="996746" cy="915617"/>
              <a:chOff x="0" y="0"/>
              <a:chExt cx="996744" cy="915616"/>
            </a:xfrm>
          </p:grpSpPr>
          <p:sp>
            <p:nvSpPr>
              <p:cNvPr id="2795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796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797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  <p:grpSp>
          <p:nvGrpSpPr>
            <p:cNvPr id="2802" name="Group"/>
            <p:cNvGrpSpPr/>
            <p:nvPr/>
          </p:nvGrpSpPr>
          <p:grpSpPr>
            <a:xfrm>
              <a:off x="192261" y="9644062"/>
              <a:ext cx="996746" cy="915617"/>
              <a:chOff x="0" y="0"/>
              <a:chExt cx="996744" cy="915616"/>
            </a:xfrm>
          </p:grpSpPr>
          <p:sp>
            <p:nvSpPr>
              <p:cNvPr id="2799" name="+"/>
              <p:cNvSpPr txBox="1"/>
              <p:nvPr/>
            </p:nvSpPr>
            <p:spPr>
              <a:xfrm>
                <a:off x="0" y="0"/>
                <a:ext cx="577719" cy="698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+</a:t>
                </a:r>
              </a:p>
            </p:txBody>
          </p:sp>
          <p:sp>
            <p:nvSpPr>
              <p:cNvPr id="2800" name="-"/>
              <p:cNvSpPr txBox="1"/>
              <p:nvPr/>
            </p:nvSpPr>
            <p:spPr>
              <a:xfrm>
                <a:off x="35717" y="125016"/>
                <a:ext cx="487952" cy="7906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4200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575" kern="0"/>
                  <a:t>-</a:t>
                </a:r>
              </a:p>
            </p:txBody>
          </p:sp>
          <p:sp>
            <p:nvSpPr>
              <p:cNvPr id="2801" name=".5"/>
              <p:cNvSpPr txBox="1"/>
              <p:nvPr/>
            </p:nvSpPr>
            <p:spPr>
              <a:xfrm>
                <a:off x="303609" y="71437"/>
                <a:ext cx="693135" cy="6982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3600" b="1" i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1350" kern="0"/>
                  <a:t>.5</a:t>
                </a:r>
              </a:p>
            </p:txBody>
          </p:sp>
        </p:grpSp>
      </p:grpSp>
      <p:sp>
        <p:nvSpPr>
          <p:cNvPr id="2804" name="[        ]"/>
          <p:cNvSpPr txBox="1"/>
          <p:nvPr/>
        </p:nvSpPr>
        <p:spPr>
          <a:xfrm rot="16200000">
            <a:off x="5663296" y="5283632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805" name="[        ]"/>
          <p:cNvSpPr txBox="1"/>
          <p:nvPr/>
        </p:nvSpPr>
        <p:spPr>
          <a:xfrm rot="16200000">
            <a:off x="5857517" y="503214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806" name="[        ]"/>
          <p:cNvSpPr txBox="1"/>
          <p:nvPr/>
        </p:nvSpPr>
        <p:spPr>
          <a:xfrm rot="16200000">
            <a:off x="6219169" y="509242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807" name="[        ]"/>
          <p:cNvSpPr txBox="1"/>
          <p:nvPr/>
        </p:nvSpPr>
        <p:spPr>
          <a:xfrm rot="16200000">
            <a:off x="6386601" y="5313430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808" name="[        ]"/>
          <p:cNvSpPr txBox="1"/>
          <p:nvPr/>
        </p:nvSpPr>
        <p:spPr>
          <a:xfrm rot="16200000">
            <a:off x="7170181" y="5326825"/>
            <a:ext cx="5164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    ]</a:t>
            </a:r>
          </a:p>
        </p:txBody>
      </p:sp>
      <p:sp>
        <p:nvSpPr>
          <p:cNvPr id="2809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10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11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12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13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2814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2815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2816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2817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2818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2819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20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21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22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823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2824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2825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2887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2835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2826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27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828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829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830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831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832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833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834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836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2837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38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39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2840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41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2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43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4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45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6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47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8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49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0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51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2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53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4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55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6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857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858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859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860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2861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62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3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64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5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66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7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68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9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2870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2879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2871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872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2873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2874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2875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2876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2877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2878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2880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881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2882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883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884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885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2886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2892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2893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2894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2895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2896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2897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2898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2899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0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2901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2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3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2904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5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06" name="Line"/>
          <p:cNvSpPr/>
          <p:nvPr/>
        </p:nvSpPr>
        <p:spPr>
          <a:xfrm>
            <a:off x="6117156" y="4580929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7" name="Circle"/>
          <p:cNvSpPr/>
          <p:nvPr/>
        </p:nvSpPr>
        <p:spPr>
          <a:xfrm>
            <a:off x="6078885" y="4554141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08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09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10" name="Line"/>
          <p:cNvSpPr/>
          <p:nvPr/>
        </p:nvSpPr>
        <p:spPr>
          <a:xfrm>
            <a:off x="6485506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11" name="Circle"/>
          <p:cNvSpPr/>
          <p:nvPr/>
        </p:nvSpPr>
        <p:spPr>
          <a:xfrm>
            <a:off x="6447234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12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13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14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15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16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17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18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19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20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921" name="Proceed in rounds: Round 2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2</a:t>
            </a:r>
          </a:p>
        </p:txBody>
      </p:sp>
      <p:grpSp>
        <p:nvGrpSpPr>
          <p:cNvPr id="2931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2922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3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924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925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926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927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928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929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930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932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933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34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35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36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37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38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39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40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41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42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2943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2944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953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2945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946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947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948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949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950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951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2952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2954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55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2956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2957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2958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2962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2959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60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61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2966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2963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64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65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2970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2967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68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69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2974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2971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72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73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2975" name="[    ]"/>
          <p:cNvSpPr txBox="1"/>
          <p:nvPr/>
        </p:nvSpPr>
        <p:spPr>
          <a:xfrm rot="16200000">
            <a:off x="5937666" y="502695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2976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77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78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79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80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2984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2981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82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83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2985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2989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2986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2987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2988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2990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2991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2992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2993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2994" name="[    ]"/>
          <p:cNvSpPr txBox="1"/>
          <p:nvPr/>
        </p:nvSpPr>
        <p:spPr>
          <a:xfrm rot="16200000">
            <a:off x="5743446" y="529183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2995" name="[    ]"/>
          <p:cNvSpPr txBox="1"/>
          <p:nvPr/>
        </p:nvSpPr>
        <p:spPr>
          <a:xfrm rot="16200000">
            <a:off x="6306016" y="511770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2996" name="[    ]"/>
          <p:cNvSpPr txBox="1"/>
          <p:nvPr/>
        </p:nvSpPr>
        <p:spPr>
          <a:xfrm rot="16200000">
            <a:off x="6473448" y="533871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2997" name="[    ]"/>
          <p:cNvSpPr txBox="1"/>
          <p:nvPr/>
        </p:nvSpPr>
        <p:spPr>
          <a:xfrm rot="16200000">
            <a:off x="7250331" y="534541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2998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2999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000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3001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002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003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004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05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06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07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08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3009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010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3072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020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011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12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13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014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015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016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017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018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019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021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022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23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24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025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26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7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28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9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30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1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32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3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34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5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36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7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38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9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40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1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042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043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044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045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046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47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8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49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0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51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2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53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4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055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3064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056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57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058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059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060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061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062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063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065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066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3067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068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069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070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071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3077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3078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3079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3080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3081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3082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3083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3084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85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3086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87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88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3089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90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091" name="Line"/>
          <p:cNvSpPr/>
          <p:nvPr/>
        </p:nvSpPr>
        <p:spPr>
          <a:xfrm>
            <a:off x="6117156" y="4580929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92" name="Circle"/>
          <p:cNvSpPr/>
          <p:nvPr/>
        </p:nvSpPr>
        <p:spPr>
          <a:xfrm>
            <a:off x="6078885" y="4554141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093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94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095" name="Line"/>
          <p:cNvSpPr/>
          <p:nvPr/>
        </p:nvSpPr>
        <p:spPr>
          <a:xfrm>
            <a:off x="6485506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96" name="Circle"/>
          <p:cNvSpPr/>
          <p:nvPr/>
        </p:nvSpPr>
        <p:spPr>
          <a:xfrm>
            <a:off x="6447234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097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098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099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00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01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02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03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04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05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106" name="Proceed in rounds: Round 2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2</a:t>
            </a:r>
          </a:p>
        </p:txBody>
      </p:sp>
      <p:grpSp>
        <p:nvGrpSpPr>
          <p:cNvPr id="3116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3107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8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109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110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111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112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113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114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115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117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3118" name="Line"/>
          <p:cNvSpPr/>
          <p:nvPr/>
        </p:nvSpPr>
        <p:spPr>
          <a:xfrm>
            <a:off x="5943028" y="5397995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19" name="Circle"/>
          <p:cNvSpPr/>
          <p:nvPr/>
        </p:nvSpPr>
        <p:spPr>
          <a:xfrm>
            <a:off x="5904756" y="537120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20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21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22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23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24" name="Line"/>
          <p:cNvSpPr/>
          <p:nvPr/>
        </p:nvSpPr>
        <p:spPr>
          <a:xfrm>
            <a:off x="6666332" y="5424785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25" name="Circle"/>
          <p:cNvSpPr/>
          <p:nvPr/>
        </p:nvSpPr>
        <p:spPr>
          <a:xfrm>
            <a:off x="6628060" y="539799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26" name="Line"/>
          <p:cNvSpPr/>
          <p:nvPr/>
        </p:nvSpPr>
        <p:spPr>
          <a:xfrm>
            <a:off x="7443214" y="5451574"/>
            <a:ext cx="4" cy="174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27" name="Circle"/>
          <p:cNvSpPr/>
          <p:nvPr/>
        </p:nvSpPr>
        <p:spPr>
          <a:xfrm>
            <a:off x="7404943" y="5424785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128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129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3138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3130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131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132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133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134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135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136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137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139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40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3141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3142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3143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147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3144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45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46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151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3148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49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50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155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3152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53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54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159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315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5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58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3160" name="[    ]"/>
          <p:cNvSpPr txBox="1"/>
          <p:nvPr/>
        </p:nvSpPr>
        <p:spPr>
          <a:xfrm rot="16200000">
            <a:off x="5937666" y="502695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161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62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63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64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65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169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316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6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68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170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3174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3171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172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173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175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176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177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178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179" name="[    ]"/>
          <p:cNvSpPr txBox="1"/>
          <p:nvPr/>
        </p:nvSpPr>
        <p:spPr>
          <a:xfrm rot="16200000">
            <a:off x="5743446" y="529183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180" name="[    ]"/>
          <p:cNvSpPr txBox="1"/>
          <p:nvPr/>
        </p:nvSpPr>
        <p:spPr>
          <a:xfrm rot="16200000">
            <a:off x="6306016" y="511770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181" name="[    ]"/>
          <p:cNvSpPr txBox="1"/>
          <p:nvPr/>
        </p:nvSpPr>
        <p:spPr>
          <a:xfrm rot="16200000">
            <a:off x="6473448" y="533871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182" name="[    ]"/>
          <p:cNvSpPr txBox="1"/>
          <p:nvPr/>
        </p:nvSpPr>
        <p:spPr>
          <a:xfrm rot="16200000">
            <a:off x="7250331" y="534541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183" name="Line"/>
          <p:cNvSpPr/>
          <p:nvPr/>
        </p:nvSpPr>
        <p:spPr>
          <a:xfrm flipV="1">
            <a:off x="5823160" y="5266036"/>
            <a:ext cx="1648769" cy="1"/>
          </a:xfrm>
          <a:prstGeom prst="line">
            <a:avLst/>
          </a:prstGeom>
          <a:ln w="508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84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185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186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3187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188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189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190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91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92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93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94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3195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196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3258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206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197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8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199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200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201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202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203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204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205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207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208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09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10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211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12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3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14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5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16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7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18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9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20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1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22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3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24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5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26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7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228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229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230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231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232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33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34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35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36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37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38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39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40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241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3250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242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243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244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245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246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247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248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249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251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252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3253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254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255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256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257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3263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3264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3265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3266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3267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3268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3269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3270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71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3272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73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74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3275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76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77" name="Line"/>
          <p:cNvSpPr/>
          <p:nvPr/>
        </p:nvSpPr>
        <p:spPr>
          <a:xfrm>
            <a:off x="6117156" y="4580929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78" name="Circle"/>
          <p:cNvSpPr/>
          <p:nvPr/>
        </p:nvSpPr>
        <p:spPr>
          <a:xfrm>
            <a:off x="6078885" y="4554141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79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80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81" name="Line"/>
          <p:cNvSpPr/>
          <p:nvPr/>
        </p:nvSpPr>
        <p:spPr>
          <a:xfrm>
            <a:off x="6485506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82" name="Circle"/>
          <p:cNvSpPr/>
          <p:nvPr/>
        </p:nvSpPr>
        <p:spPr>
          <a:xfrm>
            <a:off x="6447234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83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84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85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86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87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88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89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290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291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292" name="Proceed in rounds: Round 2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2</a:t>
            </a:r>
          </a:p>
        </p:txBody>
      </p:sp>
      <p:grpSp>
        <p:nvGrpSpPr>
          <p:cNvPr id="3302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3293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94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295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296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297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298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99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300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301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303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3304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05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306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07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308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309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3318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3310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311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312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313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14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315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316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317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319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20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3321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3322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3323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327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3324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25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26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331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3328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29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30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335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3332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33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34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339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333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3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38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3340" name="[    ]"/>
          <p:cNvSpPr txBox="1"/>
          <p:nvPr/>
        </p:nvSpPr>
        <p:spPr>
          <a:xfrm rot="16200000">
            <a:off x="5937666" y="502695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341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42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43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44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45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349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334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4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48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350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3354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3351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352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353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355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356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357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358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359" name="[    ]"/>
          <p:cNvSpPr txBox="1"/>
          <p:nvPr/>
        </p:nvSpPr>
        <p:spPr>
          <a:xfrm rot="16200000">
            <a:off x="6306016" y="511770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3360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361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362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363" name="X"/>
          <p:cNvSpPr txBox="1"/>
          <p:nvPr/>
        </p:nvSpPr>
        <p:spPr>
          <a:xfrm>
            <a:off x="5837783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364" name="X"/>
          <p:cNvSpPr txBox="1"/>
          <p:nvPr/>
        </p:nvSpPr>
        <p:spPr>
          <a:xfrm>
            <a:off x="658787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365" name="X"/>
          <p:cNvSpPr txBox="1"/>
          <p:nvPr/>
        </p:nvSpPr>
        <p:spPr>
          <a:xfrm>
            <a:off x="735806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3366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367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368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369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70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71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72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373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3374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375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3437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385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376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77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378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379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380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381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382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383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384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386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387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88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89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390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91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2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93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4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95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6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97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8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99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0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01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2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03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4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05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6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407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408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409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410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411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12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3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14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5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16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7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18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9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420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3429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421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422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423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424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425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426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427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428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430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431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3432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433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434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435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436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3442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3443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3444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3445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3446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3447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3448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3449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0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3451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2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3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3454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5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56" name="Line"/>
          <p:cNvSpPr/>
          <p:nvPr/>
        </p:nvSpPr>
        <p:spPr>
          <a:xfrm>
            <a:off x="6117156" y="4125516"/>
            <a:ext cx="4" cy="66972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7" name="Circle"/>
          <p:cNvSpPr/>
          <p:nvPr/>
        </p:nvSpPr>
        <p:spPr>
          <a:xfrm>
            <a:off x="6078885" y="4098727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58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59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60" name="Line"/>
          <p:cNvSpPr/>
          <p:nvPr/>
        </p:nvSpPr>
        <p:spPr>
          <a:xfrm>
            <a:off x="6485506" y="4112121"/>
            <a:ext cx="4" cy="68312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61" name="Circle"/>
          <p:cNvSpPr/>
          <p:nvPr/>
        </p:nvSpPr>
        <p:spPr>
          <a:xfrm>
            <a:off x="6447234" y="4085332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62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63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64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65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66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67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68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69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70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471" name="Proceed in rounds: Round 3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3</a:t>
            </a:r>
          </a:p>
        </p:txBody>
      </p:sp>
      <p:grpSp>
        <p:nvGrpSpPr>
          <p:cNvPr id="3481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3472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73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74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75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476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77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78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479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480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482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3483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84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85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86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487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488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3497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3489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90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91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492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93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94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495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496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498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499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3500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3501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3502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506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3503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04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05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510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3507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08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09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514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3511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12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13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518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3515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16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17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3519" name="[]"/>
          <p:cNvSpPr txBox="1"/>
          <p:nvPr/>
        </p:nvSpPr>
        <p:spPr>
          <a:xfrm rot="16200000">
            <a:off x="6017816" y="5028456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3520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21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22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23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24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528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3525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26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27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529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3533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3530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31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32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534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535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536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537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538" name="[]"/>
          <p:cNvSpPr txBox="1"/>
          <p:nvPr/>
        </p:nvSpPr>
        <p:spPr>
          <a:xfrm rot="16200000">
            <a:off x="6386166" y="5119209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3539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0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1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2" name="X"/>
          <p:cNvSpPr txBox="1"/>
          <p:nvPr/>
        </p:nvSpPr>
        <p:spPr>
          <a:xfrm>
            <a:off x="5837783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3" name="X"/>
          <p:cNvSpPr txBox="1"/>
          <p:nvPr/>
        </p:nvSpPr>
        <p:spPr>
          <a:xfrm>
            <a:off x="658787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4" name="X"/>
          <p:cNvSpPr txBox="1"/>
          <p:nvPr/>
        </p:nvSpPr>
        <p:spPr>
          <a:xfrm>
            <a:off x="735806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545" name="4.9"/>
          <p:cNvSpPr txBox="1"/>
          <p:nvPr/>
        </p:nvSpPr>
        <p:spPr>
          <a:xfrm>
            <a:off x="1236762" y="332184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4.9</a:t>
            </a:r>
          </a:p>
        </p:txBody>
      </p:sp>
      <p:grpSp>
        <p:nvGrpSpPr>
          <p:cNvPr id="3549" name="Group"/>
          <p:cNvGrpSpPr/>
          <p:nvPr/>
        </p:nvGrpSpPr>
        <p:grpSpPr>
          <a:xfrm>
            <a:off x="1518047" y="3295054"/>
            <a:ext cx="373781" cy="343356"/>
            <a:chOff x="0" y="0"/>
            <a:chExt cx="996748" cy="915613"/>
          </a:xfrm>
        </p:grpSpPr>
        <p:sp>
          <p:nvSpPr>
            <p:cNvPr id="3546" name="+"/>
            <p:cNvSpPr txBox="1"/>
            <p:nvPr/>
          </p:nvSpPr>
          <p:spPr>
            <a:xfrm>
              <a:off x="0" y="0"/>
              <a:ext cx="577722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47" name="-"/>
            <p:cNvSpPr txBox="1"/>
            <p:nvPr/>
          </p:nvSpPr>
          <p:spPr>
            <a:xfrm>
              <a:off x="35717" y="125016"/>
              <a:ext cx="487954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48" name=".1"/>
            <p:cNvSpPr txBox="1"/>
            <p:nvPr/>
          </p:nvSpPr>
          <p:spPr>
            <a:xfrm>
              <a:off x="303610" y="71437"/>
              <a:ext cx="693138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550" name="3."/>
          <p:cNvSpPr txBox="1"/>
          <p:nvPr/>
        </p:nvSpPr>
        <p:spPr>
          <a:xfrm>
            <a:off x="1109514" y="335533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3551" name="4.7"/>
          <p:cNvSpPr txBox="1"/>
          <p:nvPr/>
        </p:nvSpPr>
        <p:spPr>
          <a:xfrm>
            <a:off x="1256854" y="480863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555" name="Group"/>
          <p:cNvGrpSpPr/>
          <p:nvPr/>
        </p:nvGrpSpPr>
        <p:grpSpPr>
          <a:xfrm>
            <a:off x="1524744" y="4781847"/>
            <a:ext cx="373780" cy="343356"/>
            <a:chOff x="0" y="0"/>
            <a:chExt cx="996747" cy="915613"/>
          </a:xfrm>
        </p:grpSpPr>
        <p:sp>
          <p:nvSpPr>
            <p:cNvPr id="3552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553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554" name=".1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556" name="3."/>
          <p:cNvSpPr txBox="1"/>
          <p:nvPr/>
        </p:nvSpPr>
        <p:spPr>
          <a:xfrm>
            <a:off x="1143000" y="488900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pic>
        <p:nvPicPr>
          <p:cNvPr id="3557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558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559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560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61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62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63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564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3565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566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3628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576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567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68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569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570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571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572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573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574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575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577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578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79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80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581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82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3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84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5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86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7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88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9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90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1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92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3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94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5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596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7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598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599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600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601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602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03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4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05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6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07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8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09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0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611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3620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612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613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614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615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616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617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618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619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621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22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3623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624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625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626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627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3633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3634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3635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3636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3637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3638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3639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3640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41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3642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43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44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3645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46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47" name="Line"/>
          <p:cNvSpPr/>
          <p:nvPr/>
        </p:nvSpPr>
        <p:spPr>
          <a:xfrm>
            <a:off x="6117156" y="4125516"/>
            <a:ext cx="4" cy="66972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48" name="Circle"/>
          <p:cNvSpPr/>
          <p:nvPr/>
        </p:nvSpPr>
        <p:spPr>
          <a:xfrm>
            <a:off x="6078885" y="4098727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49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50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51" name="Line"/>
          <p:cNvSpPr/>
          <p:nvPr/>
        </p:nvSpPr>
        <p:spPr>
          <a:xfrm>
            <a:off x="6485506" y="4112121"/>
            <a:ext cx="4" cy="68312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52" name="Circle"/>
          <p:cNvSpPr/>
          <p:nvPr/>
        </p:nvSpPr>
        <p:spPr>
          <a:xfrm>
            <a:off x="6447234" y="4085332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53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54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55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56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57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58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59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60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61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662" name="Proceed in rounds: Round 3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3</a:t>
            </a:r>
          </a:p>
        </p:txBody>
      </p:sp>
      <p:grpSp>
        <p:nvGrpSpPr>
          <p:cNvPr id="3672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3663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4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65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666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667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668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69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70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671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673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3674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75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76" name="Line"/>
          <p:cNvSpPr/>
          <p:nvPr/>
        </p:nvSpPr>
        <p:spPr>
          <a:xfrm>
            <a:off x="6498901" y="522386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77" name="Circle"/>
          <p:cNvSpPr/>
          <p:nvPr/>
        </p:nvSpPr>
        <p:spPr>
          <a:xfrm>
            <a:off x="6460629" y="5190381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678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679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3688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3680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1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682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683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684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85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86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687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689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690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3691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3692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3693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697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3694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695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696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701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3698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699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00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705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3702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03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04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709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370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0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08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3710" name="[]"/>
          <p:cNvSpPr txBox="1"/>
          <p:nvPr/>
        </p:nvSpPr>
        <p:spPr>
          <a:xfrm rot="16200000">
            <a:off x="6017816" y="5028456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3711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12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13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14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15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719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3716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17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18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720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3724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3721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22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23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725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726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727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728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729" name="[]"/>
          <p:cNvSpPr txBox="1"/>
          <p:nvPr/>
        </p:nvSpPr>
        <p:spPr>
          <a:xfrm rot="16200000">
            <a:off x="6386166" y="5119209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3730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1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2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3" name="X"/>
          <p:cNvSpPr txBox="1"/>
          <p:nvPr/>
        </p:nvSpPr>
        <p:spPr>
          <a:xfrm>
            <a:off x="5837783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4" name="X"/>
          <p:cNvSpPr txBox="1"/>
          <p:nvPr/>
        </p:nvSpPr>
        <p:spPr>
          <a:xfrm>
            <a:off x="658787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5" name="X"/>
          <p:cNvSpPr txBox="1"/>
          <p:nvPr/>
        </p:nvSpPr>
        <p:spPr>
          <a:xfrm>
            <a:off x="735806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736" name="4.9"/>
          <p:cNvSpPr txBox="1"/>
          <p:nvPr/>
        </p:nvSpPr>
        <p:spPr>
          <a:xfrm>
            <a:off x="1236762" y="332184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4.9</a:t>
            </a:r>
          </a:p>
        </p:txBody>
      </p:sp>
      <p:grpSp>
        <p:nvGrpSpPr>
          <p:cNvPr id="3740" name="Group"/>
          <p:cNvGrpSpPr/>
          <p:nvPr/>
        </p:nvGrpSpPr>
        <p:grpSpPr>
          <a:xfrm>
            <a:off x="1518047" y="3295054"/>
            <a:ext cx="373781" cy="343356"/>
            <a:chOff x="0" y="0"/>
            <a:chExt cx="996748" cy="915613"/>
          </a:xfrm>
        </p:grpSpPr>
        <p:sp>
          <p:nvSpPr>
            <p:cNvPr id="3737" name="+"/>
            <p:cNvSpPr txBox="1"/>
            <p:nvPr/>
          </p:nvSpPr>
          <p:spPr>
            <a:xfrm>
              <a:off x="0" y="0"/>
              <a:ext cx="577722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38" name="-"/>
            <p:cNvSpPr txBox="1"/>
            <p:nvPr/>
          </p:nvSpPr>
          <p:spPr>
            <a:xfrm>
              <a:off x="35717" y="125016"/>
              <a:ext cx="487954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39" name=".1"/>
            <p:cNvSpPr txBox="1"/>
            <p:nvPr/>
          </p:nvSpPr>
          <p:spPr>
            <a:xfrm>
              <a:off x="303610" y="71437"/>
              <a:ext cx="693138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741" name="3."/>
          <p:cNvSpPr txBox="1"/>
          <p:nvPr/>
        </p:nvSpPr>
        <p:spPr>
          <a:xfrm>
            <a:off x="1109514" y="335533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3742" name="4.7"/>
          <p:cNvSpPr txBox="1"/>
          <p:nvPr/>
        </p:nvSpPr>
        <p:spPr>
          <a:xfrm>
            <a:off x="1256854" y="480863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746" name="Group"/>
          <p:cNvGrpSpPr/>
          <p:nvPr/>
        </p:nvGrpSpPr>
        <p:grpSpPr>
          <a:xfrm>
            <a:off x="1524744" y="4781847"/>
            <a:ext cx="373780" cy="343356"/>
            <a:chOff x="0" y="0"/>
            <a:chExt cx="996747" cy="915613"/>
          </a:xfrm>
        </p:grpSpPr>
        <p:sp>
          <p:nvSpPr>
            <p:cNvPr id="3743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744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745" name=".1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747" name="3."/>
          <p:cNvSpPr txBox="1"/>
          <p:nvPr/>
        </p:nvSpPr>
        <p:spPr>
          <a:xfrm>
            <a:off x="1143000" y="488900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3748" name="Line"/>
          <p:cNvSpPr/>
          <p:nvPr/>
        </p:nvSpPr>
        <p:spPr>
          <a:xfrm flipV="1">
            <a:off x="5823160" y="5178972"/>
            <a:ext cx="1648769" cy="1"/>
          </a:xfrm>
          <a:prstGeom prst="line">
            <a:avLst/>
          </a:prstGeom>
          <a:ln w="508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pic>
        <p:nvPicPr>
          <p:cNvPr id="3749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750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751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752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53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54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55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756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sp>
        <p:nvSpPr>
          <p:cNvPr id="3757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758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grpSp>
        <p:nvGrpSpPr>
          <p:cNvPr id="3820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768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759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60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761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762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763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764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765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766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767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769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770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71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72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773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74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75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76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77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78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79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80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1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82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3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84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5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86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7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88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9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790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791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792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793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794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95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96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97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98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799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0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801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2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803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3812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804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805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806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807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808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809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810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811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813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814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3815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816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817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818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3819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3825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3826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3827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3828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3829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3830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3831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3832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3833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3834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35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3836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37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38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3839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40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41" name="Line"/>
          <p:cNvSpPr/>
          <p:nvPr/>
        </p:nvSpPr>
        <p:spPr>
          <a:xfrm>
            <a:off x="6117156" y="4125516"/>
            <a:ext cx="4" cy="66972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42" name="Circle"/>
          <p:cNvSpPr/>
          <p:nvPr/>
        </p:nvSpPr>
        <p:spPr>
          <a:xfrm>
            <a:off x="6078885" y="4098727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43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44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45" name="Line"/>
          <p:cNvSpPr/>
          <p:nvPr/>
        </p:nvSpPr>
        <p:spPr>
          <a:xfrm>
            <a:off x="6485506" y="4112121"/>
            <a:ext cx="4" cy="68312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46" name="Circle"/>
          <p:cNvSpPr/>
          <p:nvPr/>
        </p:nvSpPr>
        <p:spPr>
          <a:xfrm>
            <a:off x="6447234" y="4085332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47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48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49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50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51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52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53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54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55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856" name="Proceed in rounds: Round 3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3</a:t>
            </a:r>
          </a:p>
        </p:txBody>
      </p:sp>
      <p:grpSp>
        <p:nvGrpSpPr>
          <p:cNvPr id="3866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3857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58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859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860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861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862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863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864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865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867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3868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69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3870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3871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3880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3872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873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874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875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876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877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878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879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3881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882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3883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3884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3885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889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3886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887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888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893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3890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891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892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897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3894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895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896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3901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3898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899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900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3902" name="[]"/>
          <p:cNvSpPr txBox="1"/>
          <p:nvPr/>
        </p:nvSpPr>
        <p:spPr>
          <a:xfrm rot="16200000">
            <a:off x="6017816" y="5028456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3903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04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05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06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07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911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3908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909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910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912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3916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3913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914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915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3917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918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919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3920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3921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2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3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4" name="X"/>
          <p:cNvSpPr txBox="1"/>
          <p:nvPr/>
        </p:nvSpPr>
        <p:spPr>
          <a:xfrm>
            <a:off x="583778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5" name="X"/>
          <p:cNvSpPr txBox="1"/>
          <p:nvPr/>
        </p:nvSpPr>
        <p:spPr>
          <a:xfrm>
            <a:off x="658787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6" name="X"/>
          <p:cNvSpPr txBox="1"/>
          <p:nvPr/>
        </p:nvSpPr>
        <p:spPr>
          <a:xfrm>
            <a:off x="735806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27" name="4.9"/>
          <p:cNvSpPr txBox="1"/>
          <p:nvPr/>
        </p:nvSpPr>
        <p:spPr>
          <a:xfrm>
            <a:off x="1236762" y="332184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4.9</a:t>
            </a:r>
          </a:p>
        </p:txBody>
      </p:sp>
      <p:grpSp>
        <p:nvGrpSpPr>
          <p:cNvPr id="3931" name="Group"/>
          <p:cNvGrpSpPr/>
          <p:nvPr/>
        </p:nvGrpSpPr>
        <p:grpSpPr>
          <a:xfrm>
            <a:off x="1518047" y="3295054"/>
            <a:ext cx="373781" cy="343356"/>
            <a:chOff x="0" y="0"/>
            <a:chExt cx="996748" cy="915613"/>
          </a:xfrm>
        </p:grpSpPr>
        <p:sp>
          <p:nvSpPr>
            <p:cNvPr id="3928" name="+"/>
            <p:cNvSpPr txBox="1"/>
            <p:nvPr/>
          </p:nvSpPr>
          <p:spPr>
            <a:xfrm>
              <a:off x="0" y="0"/>
              <a:ext cx="577722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929" name="-"/>
            <p:cNvSpPr txBox="1"/>
            <p:nvPr/>
          </p:nvSpPr>
          <p:spPr>
            <a:xfrm>
              <a:off x="35717" y="125016"/>
              <a:ext cx="487954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930" name=".1"/>
            <p:cNvSpPr txBox="1"/>
            <p:nvPr/>
          </p:nvSpPr>
          <p:spPr>
            <a:xfrm>
              <a:off x="303610" y="71437"/>
              <a:ext cx="693138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932" name="3."/>
          <p:cNvSpPr txBox="1"/>
          <p:nvPr/>
        </p:nvSpPr>
        <p:spPr>
          <a:xfrm>
            <a:off x="1109514" y="335533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3933" name="4.7"/>
          <p:cNvSpPr txBox="1"/>
          <p:nvPr/>
        </p:nvSpPr>
        <p:spPr>
          <a:xfrm>
            <a:off x="1256854" y="480863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3937" name="Group"/>
          <p:cNvGrpSpPr/>
          <p:nvPr/>
        </p:nvGrpSpPr>
        <p:grpSpPr>
          <a:xfrm>
            <a:off x="1524744" y="4781847"/>
            <a:ext cx="373780" cy="343356"/>
            <a:chOff x="0" y="0"/>
            <a:chExt cx="996747" cy="915613"/>
          </a:xfrm>
        </p:grpSpPr>
        <p:sp>
          <p:nvSpPr>
            <p:cNvPr id="3934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3935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3936" name=".1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3938" name="3."/>
          <p:cNvSpPr txBox="1"/>
          <p:nvPr/>
        </p:nvSpPr>
        <p:spPr>
          <a:xfrm>
            <a:off x="1143000" y="488900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3939" name="X"/>
          <p:cNvSpPr txBox="1"/>
          <p:nvPr/>
        </p:nvSpPr>
        <p:spPr>
          <a:xfrm>
            <a:off x="6413748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3940" name="Line"/>
          <p:cNvSpPr/>
          <p:nvPr/>
        </p:nvSpPr>
        <p:spPr>
          <a:xfrm>
            <a:off x="1377405" y="4138910"/>
            <a:ext cx="1343557" cy="845629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41" name="Line"/>
          <p:cNvSpPr/>
          <p:nvPr/>
        </p:nvSpPr>
        <p:spPr>
          <a:xfrm flipH="1">
            <a:off x="1330524" y="4165699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pic>
        <p:nvPicPr>
          <p:cNvPr id="3942" name="droppedImage.png" descr="dropped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3943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3944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3945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46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47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48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949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grpSp>
        <p:nvGrpSpPr>
          <p:cNvPr id="4011" name="Group"/>
          <p:cNvGrpSpPr/>
          <p:nvPr/>
        </p:nvGrpSpPr>
        <p:grpSpPr>
          <a:xfrm>
            <a:off x="5141267" y="1272481"/>
            <a:ext cx="2706440" cy="2451944"/>
            <a:chOff x="0" y="0"/>
            <a:chExt cx="7217172" cy="6538516"/>
          </a:xfrm>
        </p:grpSpPr>
        <p:grpSp>
          <p:nvGrpSpPr>
            <p:cNvPr id="3959" name="Group"/>
            <p:cNvGrpSpPr/>
            <p:nvPr/>
          </p:nvGrpSpPr>
          <p:grpSpPr>
            <a:xfrm>
              <a:off x="1696640" y="3036093"/>
              <a:ext cx="4627817" cy="1964533"/>
              <a:chOff x="0" y="0"/>
              <a:chExt cx="4627815" cy="1964532"/>
            </a:xfrm>
          </p:grpSpPr>
          <p:sp>
            <p:nvSpPr>
              <p:cNvPr id="3950" name="Rectangle"/>
              <p:cNvSpPr/>
              <p:nvPr/>
            </p:nvSpPr>
            <p:spPr>
              <a:xfrm>
                <a:off x="0" y="71437"/>
                <a:ext cx="4607719" cy="189309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round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marL="30480" marR="30480" defTabSz="683121" hangingPunct="0">
                  <a:defRPr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51" name="1"/>
              <p:cNvSpPr txBox="1"/>
              <p:nvPr/>
            </p:nvSpPr>
            <p:spPr>
              <a:xfrm>
                <a:off x="14287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952" name="2"/>
              <p:cNvSpPr txBox="1"/>
              <p:nvPr/>
            </p:nvSpPr>
            <p:spPr>
              <a:xfrm>
                <a:off x="642938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953" name="3"/>
              <p:cNvSpPr txBox="1"/>
              <p:nvPr/>
            </p:nvSpPr>
            <p:spPr>
              <a:xfrm>
                <a:off x="114299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954" name="4"/>
              <p:cNvSpPr txBox="1"/>
              <p:nvPr/>
            </p:nvSpPr>
            <p:spPr>
              <a:xfrm>
                <a:off x="162520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955" name="5"/>
              <p:cNvSpPr txBox="1"/>
              <p:nvPr/>
            </p:nvSpPr>
            <p:spPr>
              <a:xfrm>
                <a:off x="2089545" y="17859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3956" name="6"/>
              <p:cNvSpPr txBox="1"/>
              <p:nvPr/>
            </p:nvSpPr>
            <p:spPr>
              <a:xfrm>
                <a:off x="2589609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3957" name="7"/>
              <p:cNvSpPr txBox="1"/>
              <p:nvPr/>
            </p:nvSpPr>
            <p:spPr>
              <a:xfrm>
                <a:off x="3089672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3958" name="n"/>
              <p:cNvSpPr txBox="1"/>
              <p:nvPr/>
            </p:nvSpPr>
            <p:spPr>
              <a:xfrm>
                <a:off x="4161234" y="0"/>
                <a:ext cx="466581" cy="482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3960" name="Uniform Judge Allocation"/>
            <p:cNvSpPr txBox="1"/>
            <p:nvPr/>
          </p:nvSpPr>
          <p:spPr>
            <a:xfrm>
              <a:off x="1143000" y="321469"/>
              <a:ext cx="548282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Uniform Judge Allocation</a:t>
              </a:r>
            </a:p>
          </p:txBody>
        </p:sp>
        <p:sp>
          <p:nvSpPr>
            <p:cNvPr id="3961" name="Line"/>
            <p:cNvSpPr/>
            <p:nvPr/>
          </p:nvSpPr>
          <p:spPr>
            <a:xfrm>
              <a:off x="1754683" y="1210585"/>
              <a:ext cx="13396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62" name="Line"/>
            <p:cNvSpPr/>
            <p:nvPr/>
          </p:nvSpPr>
          <p:spPr>
            <a:xfrm flipH="1" flipV="1">
              <a:off x="1750066" y="3020333"/>
              <a:ext cx="4831440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63" name="judges…"/>
            <p:cNvSpPr txBox="1"/>
            <p:nvPr/>
          </p:nvSpPr>
          <p:spPr>
            <a:xfrm>
              <a:off x="71437" y="1357312"/>
              <a:ext cx="1462578" cy="1529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judges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per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project</a:t>
              </a:r>
            </a:p>
          </p:txBody>
        </p:sp>
        <p:sp>
          <p:nvSpPr>
            <p:cNvPr id="3964" name="Line"/>
            <p:cNvSpPr/>
            <p:nvPr/>
          </p:nvSpPr>
          <p:spPr>
            <a:xfrm>
              <a:off x="2096889" y="1978932"/>
              <a:ext cx="10" cy="10571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65" name="Circle"/>
            <p:cNvSpPr/>
            <p:nvPr/>
          </p:nvSpPr>
          <p:spPr>
            <a:xfrm>
              <a:off x="2000250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6" name="Line"/>
            <p:cNvSpPr/>
            <p:nvPr/>
          </p:nvSpPr>
          <p:spPr>
            <a:xfrm>
              <a:off x="2602370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67" name="Circle"/>
            <p:cNvSpPr/>
            <p:nvPr/>
          </p:nvSpPr>
          <p:spPr>
            <a:xfrm>
              <a:off x="2500312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8" name="Line"/>
            <p:cNvSpPr/>
            <p:nvPr/>
          </p:nvSpPr>
          <p:spPr>
            <a:xfrm>
              <a:off x="3102432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69" name="Circle"/>
            <p:cNvSpPr/>
            <p:nvPr/>
          </p:nvSpPr>
          <p:spPr>
            <a:xfrm>
              <a:off x="3000375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0" name="Line"/>
            <p:cNvSpPr/>
            <p:nvPr/>
          </p:nvSpPr>
          <p:spPr>
            <a:xfrm>
              <a:off x="358463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71" name="Circle"/>
            <p:cNvSpPr/>
            <p:nvPr/>
          </p:nvSpPr>
          <p:spPr>
            <a:xfrm>
              <a:off x="348257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2" name="Line"/>
            <p:cNvSpPr/>
            <p:nvPr/>
          </p:nvSpPr>
          <p:spPr>
            <a:xfrm>
              <a:off x="4013260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73" name="Circle"/>
            <p:cNvSpPr/>
            <p:nvPr/>
          </p:nvSpPr>
          <p:spPr>
            <a:xfrm>
              <a:off x="3911203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4" name="Line"/>
            <p:cNvSpPr/>
            <p:nvPr/>
          </p:nvSpPr>
          <p:spPr>
            <a:xfrm>
              <a:off x="4513323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75" name="Circle"/>
            <p:cNvSpPr/>
            <p:nvPr/>
          </p:nvSpPr>
          <p:spPr>
            <a:xfrm>
              <a:off x="4411265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6" name="Line"/>
            <p:cNvSpPr/>
            <p:nvPr/>
          </p:nvSpPr>
          <p:spPr>
            <a:xfrm>
              <a:off x="5013385" y="1982390"/>
              <a:ext cx="10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77" name="Circle"/>
            <p:cNvSpPr/>
            <p:nvPr/>
          </p:nvSpPr>
          <p:spPr>
            <a:xfrm>
              <a:off x="4911328" y="1910953"/>
              <a:ext cx="178594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8" name="Line"/>
            <p:cNvSpPr/>
            <p:nvPr/>
          </p:nvSpPr>
          <p:spPr>
            <a:xfrm>
              <a:off x="6084948" y="1982390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79" name="Circle"/>
            <p:cNvSpPr/>
            <p:nvPr/>
          </p:nvSpPr>
          <p:spPr>
            <a:xfrm>
              <a:off x="5982890" y="1910953"/>
              <a:ext cx="178595" cy="178594"/>
            </a:xfrm>
            <a:prstGeom prst="ellipse">
              <a:avLst/>
            </a:prstGeom>
            <a:solidFill>
              <a:srgbClr val="ED719E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0" name=". . ."/>
            <p:cNvSpPr txBox="1"/>
            <p:nvPr/>
          </p:nvSpPr>
          <p:spPr>
            <a:xfrm>
              <a:off x="5089922" y="2000250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981" name="[    ]"/>
            <p:cNvSpPr txBox="1"/>
            <p:nvPr/>
          </p:nvSpPr>
          <p:spPr>
            <a:xfrm rot="16200000">
              <a:off x="1603173" y="434404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982" name="[    ]"/>
            <p:cNvSpPr txBox="1"/>
            <p:nvPr/>
          </p:nvSpPr>
          <p:spPr>
            <a:xfrm rot="16200000">
              <a:off x="2092296" y="387278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983" name="[    ]"/>
            <p:cNvSpPr txBox="1"/>
            <p:nvPr/>
          </p:nvSpPr>
          <p:spPr>
            <a:xfrm rot="16200000">
              <a:off x="3110279" y="3837061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984" name="[    ]"/>
            <p:cNvSpPr txBox="1"/>
            <p:nvPr/>
          </p:nvSpPr>
          <p:spPr>
            <a:xfrm rot="16200000">
              <a:off x="3521045" y="4337124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[    ]</a:t>
              </a:r>
            </a:p>
          </p:txBody>
        </p:sp>
        <p:sp>
          <p:nvSpPr>
            <p:cNvPr id="3985" name="Line"/>
            <p:cNvSpPr/>
            <p:nvPr/>
          </p:nvSpPr>
          <p:spPr>
            <a:xfrm>
              <a:off x="2138026" y="4625577"/>
              <a:ext cx="9" cy="6072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86" name="Circle"/>
            <p:cNvSpPr/>
            <p:nvPr/>
          </p:nvSpPr>
          <p:spPr>
            <a:xfrm>
              <a:off x="2035968" y="4554140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7" name="Line"/>
            <p:cNvSpPr/>
            <p:nvPr/>
          </p:nvSpPr>
          <p:spPr>
            <a:xfrm>
              <a:off x="2620228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88" name="Circle"/>
            <p:cNvSpPr/>
            <p:nvPr/>
          </p:nvSpPr>
          <p:spPr>
            <a:xfrm>
              <a:off x="2518171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9" name="Line"/>
            <p:cNvSpPr/>
            <p:nvPr/>
          </p:nvSpPr>
          <p:spPr>
            <a:xfrm>
              <a:off x="3620353" y="4161234"/>
              <a:ext cx="9" cy="1057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90" name="Circle"/>
            <p:cNvSpPr/>
            <p:nvPr/>
          </p:nvSpPr>
          <p:spPr>
            <a:xfrm>
              <a:off x="3518296" y="4071937"/>
              <a:ext cx="178595" cy="178595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1" name="Line"/>
            <p:cNvSpPr/>
            <p:nvPr/>
          </p:nvSpPr>
          <p:spPr>
            <a:xfrm>
              <a:off x="4066839" y="4697015"/>
              <a:ext cx="10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992" name="Circle"/>
            <p:cNvSpPr/>
            <p:nvPr/>
          </p:nvSpPr>
          <p:spPr>
            <a:xfrm>
              <a:off x="3964781" y="4625578"/>
              <a:ext cx="178594" cy="178594"/>
            </a:xfrm>
            <a:prstGeom prst="ellipse">
              <a:avLst/>
            </a:prstGeom>
            <a:solidFill>
              <a:srgbClr val="FF26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3" name=". . ."/>
            <p:cNvSpPr txBox="1"/>
            <p:nvPr/>
          </p:nvSpPr>
          <p:spPr>
            <a:xfrm>
              <a:off x="5197079" y="4214812"/>
              <a:ext cx="949618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>
                  <a:solidFill>
                    <a:srgbClr val="000000"/>
                  </a:solidFill>
                </a:rPr>
                <a:t>. . . </a:t>
              </a:r>
            </a:p>
          </p:txBody>
        </p:sp>
        <p:sp>
          <p:nvSpPr>
            <p:cNvPr id="3994" name="Line"/>
            <p:cNvSpPr/>
            <p:nvPr/>
          </p:nvSpPr>
          <p:spPr>
            <a:xfrm flipH="1" flipV="1">
              <a:off x="1785937" y="5233315"/>
              <a:ext cx="4831440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grpSp>
          <p:nvGrpSpPr>
            <p:cNvPr id="4003" name="Group"/>
            <p:cNvGrpSpPr/>
            <p:nvPr/>
          </p:nvGrpSpPr>
          <p:grpSpPr>
            <a:xfrm>
              <a:off x="1928812" y="5250656"/>
              <a:ext cx="5288360" cy="1287860"/>
              <a:chOff x="0" y="0"/>
              <a:chExt cx="5288359" cy="1287859"/>
            </a:xfrm>
          </p:grpSpPr>
          <p:sp>
            <p:nvSpPr>
              <p:cNvPr id="3995" name="1"/>
              <p:cNvSpPr/>
              <p:nvPr/>
            </p:nvSpPr>
            <p:spPr>
              <a:xfrm>
                <a:off x="0" y="1785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996" name="2"/>
              <p:cNvSpPr/>
              <p:nvPr/>
            </p:nvSpPr>
            <p:spPr>
              <a:xfrm>
                <a:off x="50006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3997" name="3"/>
              <p:cNvSpPr/>
              <p:nvPr/>
            </p:nvSpPr>
            <p:spPr>
              <a:xfrm>
                <a:off x="1000125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3998" name="4"/>
              <p:cNvSpPr/>
              <p:nvPr/>
            </p:nvSpPr>
            <p:spPr>
              <a:xfrm>
                <a:off x="1482328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3999" name="5"/>
              <p:cNvSpPr/>
              <p:nvPr/>
            </p:nvSpPr>
            <p:spPr>
              <a:xfrm>
                <a:off x="1946671" y="178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4000" name="6"/>
              <p:cNvSpPr/>
              <p:nvPr/>
            </p:nvSpPr>
            <p:spPr>
              <a:xfrm>
                <a:off x="244673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4001" name="7"/>
              <p:cNvSpPr/>
              <p:nvPr/>
            </p:nvSpPr>
            <p:spPr>
              <a:xfrm>
                <a:off x="2946796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4002" name="n"/>
              <p:cNvSpPr/>
              <p:nvPr/>
            </p:nvSpPr>
            <p:spPr>
              <a:xfrm>
                <a:off x="4018359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6789" tIns="26789" rIns="26789" bIns="26789" numCol="1" anchor="t">
                <a:spAutoFit/>
              </a:bodyPr>
              <a:lstStyle>
                <a:lvl1pPr marL="81280" marR="81280" algn="l" defTabSz="1821656">
                  <a:defRPr sz="22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0480" marR="30480" defTabSz="683121" hangingPunct="0"/>
                <a:r>
                  <a:rPr sz="825" kern="0">
                    <a:solidFill>
                      <a:srgbClr val="000000"/>
                    </a:solidFill>
                  </a:rPr>
                  <a:t>n</a:t>
                </a:r>
              </a:p>
            </p:txBody>
          </p:sp>
        </p:grpSp>
        <p:sp>
          <p:nvSpPr>
            <p:cNvPr id="4004" name="Line"/>
            <p:cNvSpPr/>
            <p:nvPr/>
          </p:nvSpPr>
          <p:spPr>
            <a:xfrm>
              <a:off x="1785937" y="3411140"/>
              <a:ext cx="13395" cy="18076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241101" hangingPunct="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endParaRPr sz="600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4005" name="average…"/>
            <p:cNvSpPr txBox="1"/>
            <p:nvPr/>
          </p:nvSpPr>
          <p:spPr>
            <a:xfrm>
              <a:off x="0" y="4000501"/>
              <a:ext cx="1804554" cy="1067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average </a:t>
              </a:r>
            </a:p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1125" ker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  <a:sym typeface="Arial"/>
                </a:rPr>
                <a:t>score</a:t>
              </a:r>
            </a:p>
          </p:txBody>
        </p:sp>
        <p:sp>
          <p:nvSpPr>
            <p:cNvPr id="4006" name="X"/>
            <p:cNvSpPr txBox="1"/>
            <p:nvPr/>
          </p:nvSpPr>
          <p:spPr>
            <a:xfrm>
              <a:off x="2875359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4007" name="X"/>
            <p:cNvSpPr txBox="1"/>
            <p:nvPr/>
          </p:nvSpPr>
          <p:spPr>
            <a:xfrm>
              <a:off x="4268391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4008" name="X"/>
            <p:cNvSpPr txBox="1"/>
            <p:nvPr/>
          </p:nvSpPr>
          <p:spPr>
            <a:xfrm>
              <a:off x="4804170" y="5143500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4009" name="X"/>
            <p:cNvSpPr txBox="1"/>
            <p:nvPr/>
          </p:nvSpPr>
          <p:spPr>
            <a:xfrm>
              <a:off x="5893594" y="5161359"/>
              <a:ext cx="564899" cy="605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b="1">
                  <a:solidFill>
                    <a:srgbClr val="0433FF"/>
                  </a:solidFill>
                  <a:uFill>
                    <a:solidFill>
                      <a:srgbClr val="0433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125" kern="0"/>
                <a:t>X</a:t>
              </a:r>
            </a:p>
          </p:txBody>
        </p:sp>
        <p:sp>
          <p:nvSpPr>
            <p:cNvPr id="4010" name="Rectangle"/>
            <p:cNvSpPr/>
            <p:nvPr/>
          </p:nvSpPr>
          <p:spPr>
            <a:xfrm>
              <a:off x="71437" y="0"/>
              <a:ext cx="6768704" cy="5875735"/>
            </a:xfrm>
            <a:prstGeom prst="rect">
              <a:avLst/>
            </a:prstGeom>
            <a:solidFill>
              <a:srgbClr val="FFFFFF">
                <a:alpha val="68000"/>
              </a:srgbClr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Project n-1"/>
          <p:cNvSpPr txBox="1"/>
          <p:nvPr/>
        </p:nvSpPr>
        <p:spPr>
          <a:xfrm>
            <a:off x="1169789" y="4219277"/>
            <a:ext cx="81296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n-1</a:t>
            </a:r>
          </a:p>
        </p:txBody>
      </p:sp>
      <p:sp>
        <p:nvSpPr>
          <p:cNvPr id="4016" name="Project n"/>
          <p:cNvSpPr txBox="1"/>
          <p:nvPr/>
        </p:nvSpPr>
        <p:spPr>
          <a:xfrm>
            <a:off x="1169789" y="530423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n</a:t>
            </a:r>
          </a:p>
        </p:txBody>
      </p:sp>
      <p:sp>
        <p:nvSpPr>
          <p:cNvPr id="4017" name="Choosing the winner of a Science Fair"/>
          <p:cNvSpPr txBox="1"/>
          <p:nvPr/>
        </p:nvSpPr>
        <p:spPr>
          <a:xfrm>
            <a:off x="1310432" y="957709"/>
            <a:ext cx="6523137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buClr>
                <a:srgbClr val="D81E00"/>
              </a:buClr>
              <a:buFont typeface="Arial"/>
              <a:defRPr sz="5000">
                <a:solidFill>
                  <a:srgbClr val="831100"/>
                </a:solidFill>
                <a:uFill>
                  <a:solidFill>
                    <a:srgbClr val="8311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875" kern="0"/>
              <a:t>Choosing the winner of a Science Fair </a:t>
            </a:r>
          </a:p>
        </p:txBody>
      </p:sp>
      <p:pic>
        <p:nvPicPr>
          <p:cNvPr id="4018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64" y="1587252"/>
            <a:ext cx="953637" cy="750094"/>
          </a:xfrm>
          <a:prstGeom prst="rect">
            <a:avLst/>
          </a:prstGeom>
        </p:spPr>
      </p:pic>
      <p:pic>
        <p:nvPicPr>
          <p:cNvPr id="4019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764" y="4085332"/>
            <a:ext cx="953637" cy="750094"/>
          </a:xfrm>
          <a:prstGeom prst="rect">
            <a:avLst/>
          </a:prstGeom>
        </p:spPr>
      </p:pic>
      <p:pic>
        <p:nvPicPr>
          <p:cNvPr id="4020" name="droppedImage.png" descr="dropped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222" y="5136803"/>
            <a:ext cx="756792" cy="680154"/>
          </a:xfrm>
          <a:prstGeom prst="rect">
            <a:avLst/>
          </a:prstGeom>
        </p:spPr>
      </p:pic>
      <p:sp>
        <p:nvSpPr>
          <p:cNvPr id="4021" name="Project 1"/>
          <p:cNvSpPr txBox="1"/>
          <p:nvPr/>
        </p:nvSpPr>
        <p:spPr>
          <a:xfrm>
            <a:off x="1169789" y="1681014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1</a:t>
            </a:r>
          </a:p>
        </p:txBody>
      </p:sp>
      <p:sp>
        <p:nvSpPr>
          <p:cNvPr id="4022" name=". . ."/>
          <p:cNvSpPr txBox="1"/>
          <p:nvPr/>
        </p:nvSpPr>
        <p:spPr>
          <a:xfrm rot="16200000">
            <a:off x="2061579" y="3632369"/>
            <a:ext cx="39618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4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575" kern="0">
                <a:solidFill>
                  <a:srgbClr val="000000"/>
                </a:solidFill>
              </a:rPr>
              <a:t>. . .</a:t>
            </a:r>
          </a:p>
        </p:txBody>
      </p:sp>
      <p:pic>
        <p:nvPicPr>
          <p:cNvPr id="4023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342" y="2491383"/>
            <a:ext cx="877990" cy="850553"/>
          </a:xfrm>
          <a:prstGeom prst="rect">
            <a:avLst/>
          </a:prstGeom>
        </p:spPr>
      </p:pic>
      <p:sp>
        <p:nvSpPr>
          <p:cNvPr id="4024" name="Project 2"/>
          <p:cNvSpPr txBox="1"/>
          <p:nvPr/>
        </p:nvSpPr>
        <p:spPr>
          <a:xfrm>
            <a:off x="1169789" y="2638722"/>
            <a:ext cx="684723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Project 2</a:t>
            </a:r>
          </a:p>
        </p:txBody>
      </p:sp>
      <p:sp>
        <p:nvSpPr>
          <p:cNvPr id="4025" name="Line"/>
          <p:cNvSpPr/>
          <p:nvPr/>
        </p:nvSpPr>
        <p:spPr>
          <a:xfrm flipH="1">
            <a:off x="5089278" y="1491500"/>
            <a:ext cx="7" cy="446009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26" name="Adaptive Judge Allocation"/>
          <p:cNvSpPr txBox="1"/>
          <p:nvPr/>
        </p:nvSpPr>
        <p:spPr>
          <a:xfrm>
            <a:off x="5569892" y="3549550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Adaptive Judge Allocation</a:t>
            </a:r>
          </a:p>
        </p:txBody>
      </p:sp>
      <p:sp>
        <p:nvSpPr>
          <p:cNvPr id="4027" name="Line"/>
          <p:cNvSpPr/>
          <p:nvPr/>
        </p:nvSpPr>
        <p:spPr>
          <a:xfrm>
            <a:off x="5799274" y="4117374"/>
            <a:ext cx="5023" cy="677868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28" name="Line"/>
          <p:cNvSpPr/>
          <p:nvPr/>
        </p:nvSpPr>
        <p:spPr>
          <a:xfrm flipH="1" flipV="1">
            <a:off x="5797542" y="4796029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29" name="judges…"/>
          <p:cNvSpPr txBox="1"/>
          <p:nvPr/>
        </p:nvSpPr>
        <p:spPr>
          <a:xfrm>
            <a:off x="5168057" y="4172396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4030" name="Line"/>
          <p:cNvSpPr/>
          <p:nvPr/>
        </p:nvSpPr>
        <p:spPr>
          <a:xfrm>
            <a:off x="5927601" y="4572936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31" name="Circle"/>
          <p:cNvSpPr/>
          <p:nvPr/>
        </p:nvSpPr>
        <p:spPr>
          <a:xfrm>
            <a:off x="5891361" y="454744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32" name="Line"/>
          <p:cNvSpPr/>
          <p:nvPr/>
        </p:nvSpPr>
        <p:spPr>
          <a:xfrm>
            <a:off x="6117156" y="4125516"/>
            <a:ext cx="4" cy="66972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33" name="Circle"/>
          <p:cNvSpPr/>
          <p:nvPr/>
        </p:nvSpPr>
        <p:spPr>
          <a:xfrm>
            <a:off x="6078885" y="4098727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34" name="Line"/>
          <p:cNvSpPr/>
          <p:nvPr/>
        </p:nvSpPr>
        <p:spPr>
          <a:xfrm>
            <a:off x="6304680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35" name="Circle"/>
          <p:cNvSpPr/>
          <p:nvPr/>
        </p:nvSpPr>
        <p:spPr>
          <a:xfrm>
            <a:off x="6266408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36" name="Line"/>
          <p:cNvSpPr/>
          <p:nvPr/>
        </p:nvSpPr>
        <p:spPr>
          <a:xfrm>
            <a:off x="6485506" y="4112121"/>
            <a:ext cx="4" cy="68312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37" name="Circle"/>
          <p:cNvSpPr/>
          <p:nvPr/>
        </p:nvSpPr>
        <p:spPr>
          <a:xfrm>
            <a:off x="6447234" y="4085332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38" name="Line"/>
          <p:cNvSpPr/>
          <p:nvPr/>
        </p:nvSpPr>
        <p:spPr>
          <a:xfrm>
            <a:off x="6646241" y="4567535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39" name="Circle"/>
          <p:cNvSpPr/>
          <p:nvPr/>
        </p:nvSpPr>
        <p:spPr>
          <a:xfrm>
            <a:off x="6607969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40" name="Line"/>
          <p:cNvSpPr/>
          <p:nvPr/>
        </p:nvSpPr>
        <p:spPr>
          <a:xfrm>
            <a:off x="6833763" y="4721572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41" name="Circle"/>
          <p:cNvSpPr/>
          <p:nvPr/>
        </p:nvSpPr>
        <p:spPr>
          <a:xfrm>
            <a:off x="6795492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42" name="Line"/>
          <p:cNvSpPr/>
          <p:nvPr/>
        </p:nvSpPr>
        <p:spPr>
          <a:xfrm>
            <a:off x="7021287" y="4721572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43" name="Circle"/>
          <p:cNvSpPr/>
          <p:nvPr/>
        </p:nvSpPr>
        <p:spPr>
          <a:xfrm>
            <a:off x="6983016" y="4694783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44" name="Line"/>
          <p:cNvSpPr/>
          <p:nvPr/>
        </p:nvSpPr>
        <p:spPr>
          <a:xfrm>
            <a:off x="7423123" y="4567535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45" name="Circle"/>
          <p:cNvSpPr/>
          <p:nvPr/>
        </p:nvSpPr>
        <p:spPr>
          <a:xfrm>
            <a:off x="7384852" y="4540746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46" name=". . ."/>
          <p:cNvSpPr txBox="1"/>
          <p:nvPr/>
        </p:nvSpPr>
        <p:spPr>
          <a:xfrm>
            <a:off x="7049988" y="441349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4047" name="Proceed in rounds: Round 3"/>
          <p:cNvSpPr txBox="1"/>
          <p:nvPr/>
        </p:nvSpPr>
        <p:spPr>
          <a:xfrm>
            <a:off x="5194845" y="3810744"/>
            <a:ext cx="191102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Proceed in rounds: Round 3</a:t>
            </a:r>
          </a:p>
        </p:txBody>
      </p:sp>
      <p:grpSp>
        <p:nvGrpSpPr>
          <p:cNvPr id="4057" name="Group"/>
          <p:cNvGrpSpPr/>
          <p:nvPr/>
        </p:nvGrpSpPr>
        <p:grpSpPr>
          <a:xfrm>
            <a:off x="5777508" y="4801939"/>
            <a:ext cx="1735431" cy="736700"/>
            <a:chOff x="0" y="0"/>
            <a:chExt cx="4627815" cy="1964532"/>
          </a:xfrm>
        </p:grpSpPr>
        <p:sp>
          <p:nvSpPr>
            <p:cNvPr id="4048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9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050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051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52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053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054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055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056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4058" name="average…"/>
          <p:cNvSpPr txBox="1"/>
          <p:nvPr/>
        </p:nvSpPr>
        <p:spPr>
          <a:xfrm>
            <a:off x="5141267" y="5163592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4059" name="Line"/>
          <p:cNvSpPr/>
          <p:nvPr/>
        </p:nvSpPr>
        <p:spPr>
          <a:xfrm>
            <a:off x="6123854" y="5136803"/>
            <a:ext cx="3" cy="4889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60" name="Circle"/>
          <p:cNvSpPr/>
          <p:nvPr/>
        </p:nvSpPr>
        <p:spPr>
          <a:xfrm>
            <a:off x="6085582" y="5103316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061" name=". . ."/>
          <p:cNvSpPr txBox="1"/>
          <p:nvPr/>
        </p:nvSpPr>
        <p:spPr>
          <a:xfrm>
            <a:off x="7090172" y="5243959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4062" name="Line"/>
          <p:cNvSpPr/>
          <p:nvPr/>
        </p:nvSpPr>
        <p:spPr>
          <a:xfrm flipH="1" flipV="1">
            <a:off x="5810994" y="5625897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4071" name="Group"/>
          <p:cNvGrpSpPr/>
          <p:nvPr/>
        </p:nvGrpSpPr>
        <p:grpSpPr>
          <a:xfrm>
            <a:off x="5864572" y="5632400"/>
            <a:ext cx="1983135" cy="482948"/>
            <a:chOff x="0" y="0"/>
            <a:chExt cx="5288359" cy="1287859"/>
          </a:xfrm>
        </p:grpSpPr>
        <p:sp>
          <p:nvSpPr>
            <p:cNvPr id="4063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064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065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66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067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068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069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070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4072" name="Line"/>
          <p:cNvSpPr/>
          <p:nvPr/>
        </p:nvSpPr>
        <p:spPr>
          <a:xfrm>
            <a:off x="5810994" y="4942582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73" name="2.2"/>
          <p:cNvSpPr txBox="1"/>
          <p:nvPr/>
        </p:nvSpPr>
        <p:spPr>
          <a:xfrm>
            <a:off x="1317129" y="551854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2.2</a:t>
            </a:r>
          </a:p>
        </p:txBody>
      </p:sp>
      <p:sp>
        <p:nvSpPr>
          <p:cNvPr id="4074" name="3.1"/>
          <p:cNvSpPr txBox="1"/>
          <p:nvPr/>
        </p:nvSpPr>
        <p:spPr>
          <a:xfrm>
            <a:off x="1223367" y="189532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3.1</a:t>
            </a:r>
          </a:p>
        </p:txBody>
      </p:sp>
      <p:sp>
        <p:nvSpPr>
          <p:cNvPr id="4075" name="4.8"/>
          <p:cNvSpPr txBox="1"/>
          <p:nvPr/>
        </p:nvSpPr>
        <p:spPr>
          <a:xfrm>
            <a:off x="1236762" y="2886521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sp>
        <p:nvSpPr>
          <p:cNvPr id="4076" name="4.7"/>
          <p:cNvSpPr txBox="1"/>
          <p:nvPr/>
        </p:nvSpPr>
        <p:spPr>
          <a:xfrm>
            <a:off x="1263477" y="444028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4080" name="Group"/>
          <p:cNvGrpSpPr/>
          <p:nvPr/>
        </p:nvGrpSpPr>
        <p:grpSpPr>
          <a:xfrm>
            <a:off x="1497955" y="1868537"/>
            <a:ext cx="373780" cy="343356"/>
            <a:chOff x="0" y="0"/>
            <a:chExt cx="996747" cy="915613"/>
          </a:xfrm>
        </p:grpSpPr>
        <p:sp>
          <p:nvSpPr>
            <p:cNvPr id="4077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078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079" name=".5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4084" name="Group"/>
          <p:cNvGrpSpPr/>
          <p:nvPr/>
        </p:nvGrpSpPr>
        <p:grpSpPr>
          <a:xfrm>
            <a:off x="1516475" y="2859733"/>
            <a:ext cx="373780" cy="343356"/>
            <a:chOff x="0" y="0"/>
            <a:chExt cx="996747" cy="915615"/>
          </a:xfrm>
        </p:grpSpPr>
        <p:sp>
          <p:nvSpPr>
            <p:cNvPr id="4081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082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083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4088" name="Group"/>
          <p:cNvGrpSpPr/>
          <p:nvPr/>
        </p:nvGrpSpPr>
        <p:grpSpPr>
          <a:xfrm>
            <a:off x="1529870" y="4413498"/>
            <a:ext cx="373780" cy="343356"/>
            <a:chOff x="0" y="0"/>
            <a:chExt cx="996747" cy="915615"/>
          </a:xfrm>
        </p:grpSpPr>
        <p:sp>
          <p:nvSpPr>
            <p:cNvPr id="4085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086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087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grpSp>
        <p:nvGrpSpPr>
          <p:cNvPr id="4092" name="Group"/>
          <p:cNvGrpSpPr/>
          <p:nvPr/>
        </p:nvGrpSpPr>
        <p:grpSpPr>
          <a:xfrm>
            <a:off x="1570053" y="5485061"/>
            <a:ext cx="373780" cy="343356"/>
            <a:chOff x="0" y="0"/>
            <a:chExt cx="996747" cy="915615"/>
          </a:xfrm>
        </p:grpSpPr>
        <p:sp>
          <p:nvSpPr>
            <p:cNvPr id="4089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090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091" name=".5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.5</a:t>
              </a:r>
            </a:p>
          </p:txBody>
        </p:sp>
      </p:grpSp>
      <p:sp>
        <p:nvSpPr>
          <p:cNvPr id="4093" name="[]"/>
          <p:cNvSpPr txBox="1"/>
          <p:nvPr/>
        </p:nvSpPr>
        <p:spPr>
          <a:xfrm rot="16200000">
            <a:off x="6017816" y="5028456"/>
            <a:ext cx="1958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[]</a:t>
            </a:r>
          </a:p>
        </p:txBody>
      </p:sp>
      <p:sp>
        <p:nvSpPr>
          <p:cNvPr id="4094" name="Line"/>
          <p:cNvSpPr/>
          <p:nvPr/>
        </p:nvSpPr>
        <p:spPr>
          <a:xfrm>
            <a:off x="1457772" y="1453307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95" name="Line"/>
          <p:cNvSpPr/>
          <p:nvPr/>
        </p:nvSpPr>
        <p:spPr>
          <a:xfrm flipH="1">
            <a:off x="1410891" y="1480096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96" name="Line"/>
          <p:cNvSpPr/>
          <p:nvPr/>
        </p:nvSpPr>
        <p:spPr>
          <a:xfrm>
            <a:off x="1471166" y="5043041"/>
            <a:ext cx="1343557" cy="845628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97" name="Line"/>
          <p:cNvSpPr/>
          <p:nvPr/>
        </p:nvSpPr>
        <p:spPr>
          <a:xfrm flipH="1">
            <a:off x="1426912" y="5066974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098" name="4.7"/>
          <p:cNvSpPr txBox="1"/>
          <p:nvPr/>
        </p:nvSpPr>
        <p:spPr>
          <a:xfrm>
            <a:off x="1230064" y="310083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4102" name="Group"/>
          <p:cNvGrpSpPr/>
          <p:nvPr/>
        </p:nvGrpSpPr>
        <p:grpSpPr>
          <a:xfrm>
            <a:off x="1511350" y="3074045"/>
            <a:ext cx="373780" cy="343356"/>
            <a:chOff x="0" y="0"/>
            <a:chExt cx="996747" cy="915615"/>
          </a:xfrm>
        </p:grpSpPr>
        <p:sp>
          <p:nvSpPr>
            <p:cNvPr id="4099" name="+"/>
            <p:cNvSpPr txBox="1"/>
            <p:nvPr/>
          </p:nvSpPr>
          <p:spPr>
            <a:xfrm>
              <a:off x="0" y="0"/>
              <a:ext cx="577723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100" name="-"/>
            <p:cNvSpPr txBox="1"/>
            <p:nvPr/>
          </p:nvSpPr>
          <p:spPr>
            <a:xfrm>
              <a:off x="35717" y="125016"/>
              <a:ext cx="487955" cy="790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101" name=".3"/>
            <p:cNvSpPr txBox="1"/>
            <p:nvPr/>
          </p:nvSpPr>
          <p:spPr>
            <a:xfrm>
              <a:off x="303608" y="71437"/>
              <a:ext cx="693139" cy="698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4103" name="4.8"/>
          <p:cNvSpPr txBox="1"/>
          <p:nvPr/>
        </p:nvSpPr>
        <p:spPr>
          <a:xfrm>
            <a:off x="1256854" y="4614416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4.8</a:t>
            </a:r>
          </a:p>
        </p:txBody>
      </p:sp>
      <p:grpSp>
        <p:nvGrpSpPr>
          <p:cNvPr id="4107" name="Group"/>
          <p:cNvGrpSpPr/>
          <p:nvPr/>
        </p:nvGrpSpPr>
        <p:grpSpPr>
          <a:xfrm>
            <a:off x="1524744" y="4587627"/>
            <a:ext cx="373780" cy="343356"/>
            <a:chOff x="0" y="0"/>
            <a:chExt cx="996747" cy="915613"/>
          </a:xfrm>
        </p:grpSpPr>
        <p:sp>
          <p:nvSpPr>
            <p:cNvPr id="4104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105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106" name=".3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.3</a:t>
              </a:r>
            </a:p>
          </p:txBody>
        </p:sp>
      </p:grpSp>
      <p:sp>
        <p:nvSpPr>
          <p:cNvPr id="4108" name="1."/>
          <p:cNvSpPr txBox="1"/>
          <p:nvPr/>
        </p:nvSpPr>
        <p:spPr>
          <a:xfrm>
            <a:off x="1089422" y="2913311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4109" name="2."/>
          <p:cNvSpPr txBox="1"/>
          <p:nvPr/>
        </p:nvSpPr>
        <p:spPr>
          <a:xfrm>
            <a:off x="1102816" y="313432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4110" name="1."/>
          <p:cNvSpPr txBox="1"/>
          <p:nvPr/>
        </p:nvSpPr>
        <p:spPr>
          <a:xfrm>
            <a:off x="1129606" y="447377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1.</a:t>
            </a:r>
          </a:p>
        </p:txBody>
      </p:sp>
      <p:sp>
        <p:nvSpPr>
          <p:cNvPr id="4111" name="2."/>
          <p:cNvSpPr txBox="1"/>
          <p:nvPr/>
        </p:nvSpPr>
        <p:spPr>
          <a:xfrm>
            <a:off x="1143000" y="4694783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2.</a:t>
            </a:r>
          </a:p>
        </p:txBody>
      </p:sp>
      <p:sp>
        <p:nvSpPr>
          <p:cNvPr id="4112" name="X"/>
          <p:cNvSpPr txBox="1"/>
          <p:nvPr/>
        </p:nvSpPr>
        <p:spPr>
          <a:xfrm>
            <a:off x="6226225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3" name="X"/>
          <p:cNvSpPr txBox="1"/>
          <p:nvPr/>
        </p:nvSpPr>
        <p:spPr>
          <a:xfrm>
            <a:off x="6755309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4" name="X"/>
          <p:cNvSpPr txBox="1"/>
          <p:nvPr/>
        </p:nvSpPr>
        <p:spPr>
          <a:xfrm>
            <a:off x="695622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5" name="X"/>
          <p:cNvSpPr txBox="1"/>
          <p:nvPr/>
        </p:nvSpPr>
        <p:spPr>
          <a:xfrm>
            <a:off x="583778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6" name="X"/>
          <p:cNvSpPr txBox="1"/>
          <p:nvPr/>
        </p:nvSpPr>
        <p:spPr>
          <a:xfrm>
            <a:off x="6587877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7" name="X"/>
          <p:cNvSpPr txBox="1"/>
          <p:nvPr/>
        </p:nvSpPr>
        <p:spPr>
          <a:xfrm>
            <a:off x="7358063" y="5612308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18" name="4.9"/>
          <p:cNvSpPr txBox="1"/>
          <p:nvPr/>
        </p:nvSpPr>
        <p:spPr>
          <a:xfrm>
            <a:off x="1236762" y="3321844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4.9</a:t>
            </a:r>
          </a:p>
        </p:txBody>
      </p:sp>
      <p:grpSp>
        <p:nvGrpSpPr>
          <p:cNvPr id="4122" name="Group"/>
          <p:cNvGrpSpPr/>
          <p:nvPr/>
        </p:nvGrpSpPr>
        <p:grpSpPr>
          <a:xfrm>
            <a:off x="1518047" y="3295054"/>
            <a:ext cx="373781" cy="343356"/>
            <a:chOff x="0" y="0"/>
            <a:chExt cx="996748" cy="915613"/>
          </a:xfrm>
        </p:grpSpPr>
        <p:sp>
          <p:nvSpPr>
            <p:cNvPr id="4119" name="+"/>
            <p:cNvSpPr txBox="1"/>
            <p:nvPr/>
          </p:nvSpPr>
          <p:spPr>
            <a:xfrm>
              <a:off x="0" y="0"/>
              <a:ext cx="577722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120" name="-"/>
            <p:cNvSpPr txBox="1"/>
            <p:nvPr/>
          </p:nvSpPr>
          <p:spPr>
            <a:xfrm>
              <a:off x="35717" y="125016"/>
              <a:ext cx="487954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121" name=".1"/>
            <p:cNvSpPr txBox="1"/>
            <p:nvPr/>
          </p:nvSpPr>
          <p:spPr>
            <a:xfrm>
              <a:off x="303610" y="71437"/>
              <a:ext cx="693138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4123" name="3."/>
          <p:cNvSpPr txBox="1"/>
          <p:nvPr/>
        </p:nvSpPr>
        <p:spPr>
          <a:xfrm>
            <a:off x="1109514" y="3355330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4124" name="4.7"/>
          <p:cNvSpPr txBox="1"/>
          <p:nvPr/>
        </p:nvSpPr>
        <p:spPr>
          <a:xfrm>
            <a:off x="1256854" y="4808637"/>
            <a:ext cx="356107" cy="26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3600" b="1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350" kern="0"/>
              <a:t>4.7</a:t>
            </a:r>
          </a:p>
        </p:txBody>
      </p:sp>
      <p:grpSp>
        <p:nvGrpSpPr>
          <p:cNvPr id="4128" name="Group"/>
          <p:cNvGrpSpPr/>
          <p:nvPr/>
        </p:nvGrpSpPr>
        <p:grpSpPr>
          <a:xfrm>
            <a:off x="1524744" y="4781847"/>
            <a:ext cx="373780" cy="343356"/>
            <a:chOff x="0" y="0"/>
            <a:chExt cx="996747" cy="915613"/>
          </a:xfrm>
        </p:grpSpPr>
        <p:sp>
          <p:nvSpPr>
            <p:cNvPr id="4125" name="+"/>
            <p:cNvSpPr txBox="1"/>
            <p:nvPr/>
          </p:nvSpPr>
          <p:spPr>
            <a:xfrm>
              <a:off x="0" y="0"/>
              <a:ext cx="577723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+</a:t>
              </a:r>
            </a:p>
          </p:txBody>
        </p:sp>
        <p:sp>
          <p:nvSpPr>
            <p:cNvPr id="4126" name="-"/>
            <p:cNvSpPr txBox="1"/>
            <p:nvPr/>
          </p:nvSpPr>
          <p:spPr>
            <a:xfrm>
              <a:off x="35717" y="125016"/>
              <a:ext cx="487955" cy="7905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42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575" kern="0"/>
                <a:t>-</a:t>
              </a:r>
            </a:p>
          </p:txBody>
        </p:sp>
        <p:sp>
          <p:nvSpPr>
            <p:cNvPr id="4127" name=".1"/>
            <p:cNvSpPr txBox="1"/>
            <p:nvPr/>
          </p:nvSpPr>
          <p:spPr>
            <a:xfrm>
              <a:off x="303608" y="71437"/>
              <a:ext cx="693139" cy="698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3600" b="1" i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1350" kern="0"/>
                <a:t>.1</a:t>
              </a:r>
            </a:p>
          </p:txBody>
        </p:sp>
      </p:grpSp>
      <p:sp>
        <p:nvSpPr>
          <p:cNvPr id="4129" name="3."/>
          <p:cNvSpPr txBox="1"/>
          <p:nvPr/>
        </p:nvSpPr>
        <p:spPr>
          <a:xfrm>
            <a:off x="1143000" y="4889004"/>
            <a:ext cx="203822" cy="18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sz="22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825" kern="0"/>
              <a:t>3.</a:t>
            </a:r>
          </a:p>
        </p:txBody>
      </p:sp>
      <p:sp>
        <p:nvSpPr>
          <p:cNvPr id="4130" name="X"/>
          <p:cNvSpPr txBox="1"/>
          <p:nvPr/>
        </p:nvSpPr>
        <p:spPr>
          <a:xfrm>
            <a:off x="6413748" y="5605611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131" name="Line"/>
          <p:cNvSpPr/>
          <p:nvPr/>
        </p:nvSpPr>
        <p:spPr>
          <a:xfrm>
            <a:off x="1377405" y="4138910"/>
            <a:ext cx="1343557" cy="845629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32" name="Line"/>
          <p:cNvSpPr/>
          <p:nvPr/>
        </p:nvSpPr>
        <p:spPr>
          <a:xfrm flipH="1">
            <a:off x="1330524" y="4165699"/>
            <a:ext cx="1381311" cy="775044"/>
          </a:xfrm>
          <a:prstGeom prst="line">
            <a:avLst/>
          </a:prstGeom>
          <a:ln w="368300">
            <a:solidFill>
              <a:srgbClr val="0433FF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33" name="Line"/>
          <p:cNvSpPr/>
          <p:nvPr/>
        </p:nvSpPr>
        <p:spPr>
          <a:xfrm>
            <a:off x="7586361" y="2173164"/>
            <a:ext cx="121559" cy="24822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1388" h="21600" extrusionOk="0">
                <a:moveTo>
                  <a:pt x="0" y="0"/>
                </a:moveTo>
                <a:cubicBezTo>
                  <a:pt x="21600" y="10936"/>
                  <a:pt x="5837" y="21600"/>
                  <a:pt x="5837" y="21600"/>
                </a:cubicBezTo>
              </a:path>
            </a:pathLst>
          </a:custGeom>
          <a:ln w="63500">
            <a:solidFill>
              <a:srgbClr val="FF2600"/>
            </a:solidFill>
            <a:headEnd type="triangle"/>
            <a:tailEnd type="triangle"/>
          </a:ln>
        </p:spPr>
        <p:txBody>
          <a:bodyPr lIns="26789" tIns="26789" rIns="26789" bIns="26789" anchor="ctr"/>
          <a:lstStyle/>
          <a:p>
            <a:pPr algn="ctr" defTabSz="435322" hangingPunct="0">
              <a:defRPr sz="7800">
                <a:latin typeface="Gill Sans"/>
                <a:ea typeface="Gill Sans"/>
                <a:cs typeface="Gill Sans"/>
                <a:sym typeface="Gill Sans"/>
              </a:defRPr>
            </a:pPr>
            <a:endParaRPr sz="2925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4134" name="Same number of total judgments"/>
          <p:cNvSpPr txBox="1"/>
          <p:nvPr/>
        </p:nvSpPr>
        <p:spPr>
          <a:xfrm rot="5400000">
            <a:off x="6746291" y="3305341"/>
            <a:ext cx="2199560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60D1A"/>
                </a:solidFill>
                <a:uFill>
                  <a:solidFill>
                    <a:srgbClr val="F60D1A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Same number of total judgments</a:t>
            </a:r>
          </a:p>
        </p:txBody>
      </p:sp>
      <p:pic>
        <p:nvPicPr>
          <p:cNvPr id="4135" name="Oval Oval" descr="Oval Oval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4902994"/>
            <a:ext cx="1974503" cy="722114"/>
          </a:xfrm>
          <a:prstGeom prst="rect">
            <a:avLst/>
          </a:prstGeom>
        </p:spPr>
      </p:pic>
      <p:pic>
        <p:nvPicPr>
          <p:cNvPr id="4137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877" y="3583037"/>
            <a:ext cx="571145" cy="571145"/>
          </a:xfrm>
          <a:prstGeom prst="rect">
            <a:avLst/>
          </a:prstGeom>
        </p:spPr>
      </p:pic>
      <p:pic>
        <p:nvPicPr>
          <p:cNvPr id="4138" name="droppedImage.png" descr="dropped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0760" y="3583037"/>
            <a:ext cx="457371" cy="571145"/>
          </a:xfrm>
          <a:prstGeom prst="rect">
            <a:avLst/>
          </a:prstGeom>
        </p:spPr>
      </p:pic>
      <p:sp>
        <p:nvSpPr>
          <p:cNvPr id="4139" name="Judges"/>
          <p:cNvSpPr txBox="1"/>
          <p:nvPr/>
        </p:nvSpPr>
        <p:spPr>
          <a:xfrm>
            <a:off x="4190256" y="3201293"/>
            <a:ext cx="58052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Judges</a:t>
            </a:r>
          </a:p>
        </p:txBody>
      </p:sp>
      <p:sp>
        <p:nvSpPr>
          <p:cNvPr id="4140" name="Line"/>
          <p:cNvSpPr/>
          <p:nvPr/>
        </p:nvSpPr>
        <p:spPr>
          <a:xfrm>
            <a:off x="3046927" y="1943356"/>
            <a:ext cx="1010237" cy="149375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41" name="Line"/>
          <p:cNvSpPr/>
          <p:nvPr/>
        </p:nvSpPr>
        <p:spPr>
          <a:xfrm>
            <a:off x="2964451" y="2897561"/>
            <a:ext cx="1054356" cy="73252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42" name="Line"/>
          <p:cNvSpPr/>
          <p:nvPr/>
        </p:nvSpPr>
        <p:spPr>
          <a:xfrm flipV="1">
            <a:off x="3007281" y="3897978"/>
            <a:ext cx="1011526" cy="67603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43" name="Line"/>
          <p:cNvSpPr/>
          <p:nvPr/>
        </p:nvSpPr>
        <p:spPr>
          <a:xfrm flipV="1">
            <a:off x="2940308" y="4232841"/>
            <a:ext cx="1145472" cy="123849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44" name="slide credit: Kevin Jamieson"/>
          <p:cNvSpPr txBox="1"/>
          <p:nvPr/>
        </p:nvSpPr>
        <p:spPr>
          <a:xfrm>
            <a:off x="6237165" y="856565"/>
            <a:ext cx="1748476" cy="21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642937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algn="ctr" defTabSz="241101" hangingPunct="0"/>
            <a:r>
              <a:rPr sz="1050" kern="0">
                <a:solidFill>
                  <a:srgbClr val="000000"/>
                </a:solidFill>
              </a:rPr>
              <a:t>slide credit: Kevin Jamieson</a:t>
            </a:r>
          </a:p>
        </p:txBody>
      </p:sp>
      <p:grpSp>
        <p:nvGrpSpPr>
          <p:cNvPr id="4154" name="Group"/>
          <p:cNvGrpSpPr/>
          <p:nvPr/>
        </p:nvGrpSpPr>
        <p:grpSpPr>
          <a:xfrm>
            <a:off x="5777508" y="2411016"/>
            <a:ext cx="1735431" cy="736700"/>
            <a:chOff x="0" y="0"/>
            <a:chExt cx="4627815" cy="1964532"/>
          </a:xfrm>
        </p:grpSpPr>
        <p:sp>
          <p:nvSpPr>
            <p:cNvPr id="4145" name="Rectangle"/>
            <p:cNvSpPr/>
            <p:nvPr/>
          </p:nvSpPr>
          <p:spPr>
            <a:xfrm>
              <a:off x="0" y="71437"/>
              <a:ext cx="4607719" cy="189309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marL="30480" marR="30480" defTabSz="683121" hangingPunct="0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6" name="1"/>
            <p:cNvSpPr txBox="1"/>
            <p:nvPr/>
          </p:nvSpPr>
          <p:spPr>
            <a:xfrm>
              <a:off x="142875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147" name="2"/>
            <p:cNvSpPr txBox="1"/>
            <p:nvPr/>
          </p:nvSpPr>
          <p:spPr>
            <a:xfrm>
              <a:off x="642936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148" name="3"/>
            <p:cNvSpPr txBox="1"/>
            <p:nvPr/>
          </p:nvSpPr>
          <p:spPr>
            <a:xfrm>
              <a:off x="114300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149" name="4"/>
            <p:cNvSpPr txBox="1"/>
            <p:nvPr/>
          </p:nvSpPr>
          <p:spPr>
            <a:xfrm>
              <a:off x="1625202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150" name="5"/>
            <p:cNvSpPr txBox="1"/>
            <p:nvPr/>
          </p:nvSpPr>
          <p:spPr>
            <a:xfrm>
              <a:off x="2089546" y="17859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151" name="6"/>
            <p:cNvSpPr txBox="1"/>
            <p:nvPr/>
          </p:nvSpPr>
          <p:spPr>
            <a:xfrm>
              <a:off x="2589610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152" name="7"/>
            <p:cNvSpPr txBox="1"/>
            <p:nvPr/>
          </p:nvSpPr>
          <p:spPr>
            <a:xfrm>
              <a:off x="3089671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153" name="n"/>
            <p:cNvSpPr txBox="1"/>
            <p:nvPr/>
          </p:nvSpPr>
          <p:spPr>
            <a:xfrm>
              <a:off x="4161234" y="0"/>
              <a:ext cx="466581" cy="482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4155" name="Uniform Judge Allocation"/>
          <p:cNvSpPr txBox="1"/>
          <p:nvPr/>
        </p:nvSpPr>
        <p:spPr>
          <a:xfrm>
            <a:off x="5569892" y="1393031"/>
            <a:ext cx="2056061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>
            <a:spAutoFit/>
          </a:bodyPr>
          <a:lstStyle>
            <a:lvl1pPr marL="81280" marR="81280" algn="l" defTabSz="1821656">
              <a:defRPr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Uniform Judge Allocation</a:t>
            </a:r>
          </a:p>
        </p:txBody>
      </p:sp>
      <p:sp>
        <p:nvSpPr>
          <p:cNvPr id="4156" name="Line"/>
          <p:cNvSpPr/>
          <p:nvPr/>
        </p:nvSpPr>
        <p:spPr>
          <a:xfrm>
            <a:off x="5799274" y="1726450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57" name="Line"/>
          <p:cNvSpPr/>
          <p:nvPr/>
        </p:nvSpPr>
        <p:spPr>
          <a:xfrm flipH="1" flipV="1">
            <a:off x="5797542" y="2405106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58" name="judges…"/>
          <p:cNvSpPr txBox="1"/>
          <p:nvPr/>
        </p:nvSpPr>
        <p:spPr>
          <a:xfrm>
            <a:off x="5168057" y="1781472"/>
            <a:ext cx="548467" cy="57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judges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per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4159" name="Line"/>
          <p:cNvSpPr/>
          <p:nvPr/>
        </p:nvSpPr>
        <p:spPr>
          <a:xfrm>
            <a:off x="5927601" y="2014580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60" name="Circle"/>
          <p:cNvSpPr/>
          <p:nvPr/>
        </p:nvSpPr>
        <p:spPr>
          <a:xfrm>
            <a:off x="5891361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61" name="Line"/>
          <p:cNvSpPr/>
          <p:nvPr/>
        </p:nvSpPr>
        <p:spPr>
          <a:xfrm>
            <a:off x="6117156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62" name="Circle"/>
          <p:cNvSpPr/>
          <p:nvPr/>
        </p:nvSpPr>
        <p:spPr>
          <a:xfrm>
            <a:off x="6078885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63" name="Line"/>
          <p:cNvSpPr/>
          <p:nvPr/>
        </p:nvSpPr>
        <p:spPr>
          <a:xfrm>
            <a:off x="6304680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64" name="Circle"/>
          <p:cNvSpPr/>
          <p:nvPr/>
        </p:nvSpPr>
        <p:spPr>
          <a:xfrm>
            <a:off x="6266408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65" name="Line"/>
          <p:cNvSpPr/>
          <p:nvPr/>
        </p:nvSpPr>
        <p:spPr>
          <a:xfrm>
            <a:off x="6485506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66" name="Circle"/>
          <p:cNvSpPr/>
          <p:nvPr/>
        </p:nvSpPr>
        <p:spPr>
          <a:xfrm>
            <a:off x="6447234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67" name="Line"/>
          <p:cNvSpPr/>
          <p:nvPr/>
        </p:nvSpPr>
        <p:spPr>
          <a:xfrm>
            <a:off x="6646241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68" name="Circle"/>
          <p:cNvSpPr/>
          <p:nvPr/>
        </p:nvSpPr>
        <p:spPr>
          <a:xfrm>
            <a:off x="6607969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69" name="Line"/>
          <p:cNvSpPr/>
          <p:nvPr/>
        </p:nvSpPr>
        <p:spPr>
          <a:xfrm>
            <a:off x="683376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70" name="Circle"/>
          <p:cNvSpPr/>
          <p:nvPr/>
        </p:nvSpPr>
        <p:spPr>
          <a:xfrm>
            <a:off x="679549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71" name="Line"/>
          <p:cNvSpPr/>
          <p:nvPr/>
        </p:nvSpPr>
        <p:spPr>
          <a:xfrm>
            <a:off x="7021287" y="2015877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72" name="Circle"/>
          <p:cNvSpPr/>
          <p:nvPr/>
        </p:nvSpPr>
        <p:spPr>
          <a:xfrm>
            <a:off x="6983016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73" name="Line"/>
          <p:cNvSpPr/>
          <p:nvPr/>
        </p:nvSpPr>
        <p:spPr>
          <a:xfrm>
            <a:off x="7423123" y="2015877"/>
            <a:ext cx="4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74" name="Circle"/>
          <p:cNvSpPr/>
          <p:nvPr/>
        </p:nvSpPr>
        <p:spPr>
          <a:xfrm>
            <a:off x="7384852" y="1989088"/>
            <a:ext cx="66973" cy="66973"/>
          </a:xfrm>
          <a:prstGeom prst="ellipse">
            <a:avLst/>
          </a:prstGeom>
          <a:solidFill>
            <a:srgbClr val="ED719E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75" name=". . ."/>
          <p:cNvSpPr txBox="1"/>
          <p:nvPr/>
        </p:nvSpPr>
        <p:spPr>
          <a:xfrm>
            <a:off x="7049988" y="2022574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4176" name="[    ]"/>
          <p:cNvSpPr txBox="1"/>
          <p:nvPr/>
        </p:nvSpPr>
        <p:spPr>
          <a:xfrm rot="16200000">
            <a:off x="5742457" y="2901497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4177" name="[    ]"/>
          <p:cNvSpPr txBox="1"/>
          <p:nvPr/>
        </p:nvSpPr>
        <p:spPr>
          <a:xfrm rot="16200000">
            <a:off x="5925879" y="2724773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4178" name="[    ]"/>
          <p:cNvSpPr txBox="1"/>
          <p:nvPr/>
        </p:nvSpPr>
        <p:spPr>
          <a:xfrm rot="16200000">
            <a:off x="6307623" y="2711378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4179" name="[    ]"/>
          <p:cNvSpPr txBox="1"/>
          <p:nvPr/>
        </p:nvSpPr>
        <p:spPr>
          <a:xfrm rot="16200000">
            <a:off x="6461660" y="2898902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[    ]</a:t>
            </a:r>
          </a:p>
        </p:txBody>
      </p:sp>
      <p:sp>
        <p:nvSpPr>
          <p:cNvPr id="4180" name="Line"/>
          <p:cNvSpPr/>
          <p:nvPr/>
        </p:nvSpPr>
        <p:spPr>
          <a:xfrm>
            <a:off x="5943028" y="3007072"/>
            <a:ext cx="3" cy="2277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81" name="Circle"/>
          <p:cNvSpPr/>
          <p:nvPr/>
        </p:nvSpPr>
        <p:spPr>
          <a:xfrm>
            <a:off x="5904756" y="2980283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82" name="Line"/>
          <p:cNvSpPr/>
          <p:nvPr/>
        </p:nvSpPr>
        <p:spPr>
          <a:xfrm>
            <a:off x="6123854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83" name="Circle"/>
          <p:cNvSpPr/>
          <p:nvPr/>
        </p:nvSpPr>
        <p:spPr>
          <a:xfrm>
            <a:off x="6085582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84" name="Line"/>
          <p:cNvSpPr/>
          <p:nvPr/>
        </p:nvSpPr>
        <p:spPr>
          <a:xfrm>
            <a:off x="6498901" y="2832943"/>
            <a:ext cx="3" cy="3964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85" name="Circle"/>
          <p:cNvSpPr/>
          <p:nvPr/>
        </p:nvSpPr>
        <p:spPr>
          <a:xfrm>
            <a:off x="6460629" y="2799457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86" name="Line"/>
          <p:cNvSpPr/>
          <p:nvPr/>
        </p:nvSpPr>
        <p:spPr>
          <a:xfrm>
            <a:off x="6666332" y="3033862"/>
            <a:ext cx="4" cy="20091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187" name="Circle"/>
          <p:cNvSpPr/>
          <p:nvPr/>
        </p:nvSpPr>
        <p:spPr>
          <a:xfrm>
            <a:off x="6628060" y="3007072"/>
            <a:ext cx="66973" cy="66973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</a:ln>
        </p:spPr>
        <p:txBody>
          <a:bodyPr lIns="26789" tIns="26789" rIns="26789" bIns="26789" anchor="ctr"/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125" ker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/>
              <a:cs typeface="Arial"/>
              <a:sym typeface="Arial"/>
            </a:endParaRPr>
          </a:p>
        </p:txBody>
      </p:sp>
      <p:sp>
        <p:nvSpPr>
          <p:cNvPr id="4188" name=". . ."/>
          <p:cNvSpPr txBox="1"/>
          <p:nvPr/>
        </p:nvSpPr>
        <p:spPr>
          <a:xfrm>
            <a:off x="7090172" y="2853035"/>
            <a:ext cx="35610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>
                <a:solidFill>
                  <a:srgbClr val="000000"/>
                </a:solidFill>
              </a:rPr>
              <a:t>. . . </a:t>
            </a:r>
          </a:p>
        </p:txBody>
      </p:sp>
      <p:sp>
        <p:nvSpPr>
          <p:cNvPr id="4189" name="Line"/>
          <p:cNvSpPr/>
          <p:nvPr/>
        </p:nvSpPr>
        <p:spPr>
          <a:xfrm flipH="1" flipV="1">
            <a:off x="5810994" y="3234974"/>
            <a:ext cx="1811790" cy="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4198" name="Group"/>
          <p:cNvGrpSpPr/>
          <p:nvPr/>
        </p:nvGrpSpPr>
        <p:grpSpPr>
          <a:xfrm>
            <a:off x="5864572" y="3241476"/>
            <a:ext cx="1983135" cy="482948"/>
            <a:chOff x="0" y="0"/>
            <a:chExt cx="5288359" cy="1287859"/>
          </a:xfrm>
        </p:grpSpPr>
        <p:sp>
          <p:nvSpPr>
            <p:cNvPr id="4190" name="1"/>
            <p:cNvSpPr/>
            <p:nvPr/>
          </p:nvSpPr>
          <p:spPr>
            <a:xfrm>
              <a:off x="0" y="178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191" name="2"/>
            <p:cNvSpPr/>
            <p:nvPr/>
          </p:nvSpPr>
          <p:spPr>
            <a:xfrm>
              <a:off x="500062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192" name="3"/>
            <p:cNvSpPr/>
            <p:nvPr/>
          </p:nvSpPr>
          <p:spPr>
            <a:xfrm>
              <a:off x="1000125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193" name="4"/>
            <p:cNvSpPr/>
            <p:nvPr/>
          </p:nvSpPr>
          <p:spPr>
            <a:xfrm>
              <a:off x="148232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194" name="5"/>
            <p:cNvSpPr/>
            <p:nvPr/>
          </p:nvSpPr>
          <p:spPr>
            <a:xfrm>
              <a:off x="1946671" y="178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195" name="6"/>
            <p:cNvSpPr/>
            <p:nvPr/>
          </p:nvSpPr>
          <p:spPr>
            <a:xfrm>
              <a:off x="2446734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196" name="7"/>
            <p:cNvSpPr/>
            <p:nvPr/>
          </p:nvSpPr>
          <p:spPr>
            <a:xfrm>
              <a:off x="294679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197" name="n"/>
            <p:cNvSpPr/>
            <p:nvPr/>
          </p:nvSpPr>
          <p:spPr>
            <a:xfrm>
              <a:off x="4018359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t">
              <a:spAutoFit/>
            </a:bodyPr>
            <a:lstStyle>
              <a:lvl1pPr marL="81280" marR="81280" algn="l" defTabSz="1821656">
                <a:defRPr sz="22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30480" marR="30480" defTabSz="683121" hangingPunct="0"/>
              <a:r>
                <a:rPr sz="825" kern="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4199" name="Line"/>
          <p:cNvSpPr/>
          <p:nvPr/>
        </p:nvSpPr>
        <p:spPr>
          <a:xfrm>
            <a:off x="5810994" y="2551658"/>
            <a:ext cx="5023" cy="67786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0" tIns="0" rIns="0" bIns="0"/>
          <a:lstStyle/>
          <a:p>
            <a:pPr defTabSz="241101" hangingPunct="0">
              <a:defRPr sz="1600">
                <a:latin typeface="+mn-lt"/>
                <a:ea typeface="+mn-ea"/>
                <a:cs typeface="+mn-cs"/>
                <a:sym typeface="Helvetica"/>
              </a:defRPr>
            </a:pPr>
            <a:endParaRPr sz="600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4200" name="average…"/>
          <p:cNvSpPr txBox="1"/>
          <p:nvPr/>
        </p:nvSpPr>
        <p:spPr>
          <a:xfrm>
            <a:off x="5141267" y="2772668"/>
            <a:ext cx="676708" cy="400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/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average </a:t>
            </a:r>
          </a:p>
          <a:p>
            <a:pPr marL="30480" marR="30480" defTabSz="683121" hangingPunct="0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125" ker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4201" name="X"/>
          <p:cNvSpPr txBox="1"/>
          <p:nvPr/>
        </p:nvSpPr>
        <p:spPr>
          <a:xfrm>
            <a:off x="6219527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202" name="X"/>
          <p:cNvSpPr txBox="1"/>
          <p:nvPr/>
        </p:nvSpPr>
        <p:spPr>
          <a:xfrm>
            <a:off x="6741914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203" name="X"/>
          <p:cNvSpPr txBox="1"/>
          <p:nvPr/>
        </p:nvSpPr>
        <p:spPr>
          <a:xfrm>
            <a:off x="6942832" y="3201293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sp>
        <p:nvSpPr>
          <p:cNvPr id="4204" name="X"/>
          <p:cNvSpPr txBox="1"/>
          <p:nvPr/>
        </p:nvSpPr>
        <p:spPr>
          <a:xfrm>
            <a:off x="7351365" y="3207990"/>
            <a:ext cx="211837" cy="22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>
            <a:spAutoFit/>
          </a:bodyPr>
          <a:lstStyle>
            <a:lvl1pPr marL="81280" marR="81280" algn="l" defTabSz="1821656">
              <a:defRPr b="1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0480" marR="30480" defTabSz="683121" hangingPunct="0"/>
            <a:r>
              <a:rPr sz="1125" kern="0"/>
              <a:t>X</a:t>
            </a:r>
          </a:p>
        </p:txBody>
      </p:sp>
      <p:pic>
        <p:nvPicPr>
          <p:cNvPr id="4205" name="Oval Oval" descr="Oval Oval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356175" y="2565648"/>
            <a:ext cx="1974503" cy="72211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FD18-D588-7AD9-F38B-48F431CD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Halving?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F0570E-DCD5-47DF-3F5F-A659BAEA8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9133"/>
              </p:ext>
            </p:extLst>
          </p:nvPr>
        </p:nvGraphicFramePr>
        <p:xfrm>
          <a:off x="1881187" y="2411412"/>
          <a:ext cx="48768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8425401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219269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66537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450406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631843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110872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52439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3495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579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11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09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4995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2BC43D-8441-3778-0EBE-E8C4ECEA6431}"/>
              </a:ext>
            </a:extLst>
          </p:cNvPr>
          <p:cNvSpPr txBox="1"/>
          <p:nvPr/>
        </p:nvSpPr>
        <p:spPr>
          <a:xfrm>
            <a:off x="7091362" y="3525440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48B27-8B72-BB42-338F-11B46982A85E}"/>
              </a:ext>
            </a:extLst>
          </p:cNvPr>
          <p:cNvSpPr txBox="1"/>
          <p:nvPr/>
        </p:nvSpPr>
        <p:spPr>
          <a:xfrm>
            <a:off x="7091362" y="3153092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E97B6-DC0B-EA63-1C7B-C4C15F2C846C}"/>
              </a:ext>
            </a:extLst>
          </p:cNvPr>
          <p:cNvSpPr txBox="1"/>
          <p:nvPr/>
        </p:nvSpPr>
        <p:spPr>
          <a:xfrm>
            <a:off x="7081837" y="2780744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4BBEE-BB86-3EBD-ACF7-35EC9C662C55}"/>
              </a:ext>
            </a:extLst>
          </p:cNvPr>
          <p:cNvSpPr txBox="1"/>
          <p:nvPr/>
        </p:nvSpPr>
        <p:spPr>
          <a:xfrm>
            <a:off x="7072312" y="2405380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31194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4E70-4B12-EBE3-9449-A3BD2B06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Successive Halving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EF07E-648D-9427-FA43-76D135FAC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314"/>
            <a:ext cx="7772400" cy="2835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6552F-AD03-15C8-4461-24B5D5485C1F}"/>
              </a:ext>
            </a:extLst>
          </p:cNvPr>
          <p:cNvSpPr txBox="1"/>
          <p:nvPr/>
        </p:nvSpPr>
        <p:spPr>
          <a:xfrm>
            <a:off x="2318657" y="6145376"/>
            <a:ext cx="6825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https://jmlr.org/papers/volume18/16-558/16-558.pdf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AA85B-A17A-94DB-5E60-DFF506F3C335}"/>
              </a:ext>
            </a:extLst>
          </p:cNvPr>
          <p:cNvSpPr txBox="1"/>
          <p:nvPr/>
        </p:nvSpPr>
        <p:spPr>
          <a:xfrm>
            <a:off x="2530929" y="1197270"/>
            <a:ext cx="6155871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If the number of configurations </a:t>
            </a:r>
            <a:r>
              <a:rPr lang="en-US" sz="2000" i="1" dirty="0"/>
              <a:t>n </a:t>
            </a:r>
            <a:r>
              <a:rPr lang="en-US" sz="2000" dirty="0"/>
              <a:t>is large, we may get very noisy results early on and miss the best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A01B59-6845-C15F-5CB0-D72D49B6D94A}"/>
              </a:ext>
            </a:extLst>
          </p:cNvPr>
          <p:cNvCxnSpPr>
            <a:cxnSpLocks/>
          </p:cNvCxnSpPr>
          <p:nvPr/>
        </p:nvCxnSpPr>
        <p:spPr>
          <a:xfrm flipH="1">
            <a:off x="6172200" y="1921326"/>
            <a:ext cx="1779814" cy="1834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39038E-1A9A-1E2B-C54C-9D28C08766EE}"/>
              </a:ext>
            </a:extLst>
          </p:cNvPr>
          <p:cNvSpPr txBox="1"/>
          <p:nvPr/>
        </p:nvSpPr>
        <p:spPr>
          <a:xfrm>
            <a:off x="669471" y="5140715"/>
            <a:ext cx="728254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If </a:t>
            </a:r>
            <a:r>
              <a:rPr lang="en-US" sz="2000" i="1" dirty="0"/>
              <a:t>n </a:t>
            </a:r>
            <a:r>
              <a:rPr lang="en-US" sz="2000" dirty="0"/>
              <a:t>is too small then we will waste resources on bad arms.   </a:t>
            </a:r>
          </a:p>
        </p:txBody>
      </p:sp>
    </p:spTree>
    <p:extLst>
      <p:ext uri="{BB962C8B-B14F-4D97-AF65-F5344CB8AC3E}">
        <p14:creationId xmlns:p14="http://schemas.microsoft.com/office/powerpoint/2010/main" val="320295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2EF8-7A82-6EDD-B61F-609D9416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36B9-136A-CBC8-BEBE-690FD568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Hyperband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94BC0-E41A-CBF6-149A-BDFED561E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83350"/>
            <a:ext cx="7772400" cy="2835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24280A-BC6C-049C-A7B5-C46E920D88FC}"/>
              </a:ext>
            </a:extLst>
          </p:cNvPr>
          <p:cNvSpPr txBox="1"/>
          <p:nvPr/>
        </p:nvSpPr>
        <p:spPr>
          <a:xfrm>
            <a:off x="228600" y="1088682"/>
            <a:ext cx="86868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Hyperband runs several rounds of </a:t>
            </a:r>
            <a:r>
              <a:rPr lang="en-US" dirty="0" err="1"/>
              <a:t>SuccessiveHalving</a:t>
            </a:r>
            <a:r>
              <a:rPr lang="en-US" dirty="0"/>
              <a:t> with very different sizes </a:t>
            </a:r>
            <a:r>
              <a:rPr lang="en-US" i="1" dirty="0"/>
              <a:t>n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D92CCB-4F04-4B01-2CBF-3E5F264B93F8}"/>
              </a:ext>
            </a:extLst>
          </p:cNvPr>
          <p:cNvCxnSpPr>
            <a:cxnSpLocks/>
          </p:cNvCxnSpPr>
          <p:nvPr/>
        </p:nvCxnSpPr>
        <p:spPr>
          <a:xfrm flipH="1">
            <a:off x="6172200" y="1921326"/>
            <a:ext cx="1779814" cy="1834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22C8C2D-BD58-520D-F79A-E72734F9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4412"/>
            <a:ext cx="8229600" cy="233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920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CF15-8FF9-43CD-8B7D-DFC759E2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3D33-F514-BD94-82E5-DCC421CB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88C1-C47A-633B-A437-E1AAC7D49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Finish up Transformer details</a:t>
            </a:r>
          </a:p>
          <a:p>
            <a:pPr lvl="1"/>
            <a:r>
              <a:rPr lang="en-US" dirty="0"/>
              <a:t>Tokenization for Vision Transformers</a:t>
            </a:r>
          </a:p>
          <a:p>
            <a:pPr lvl="1"/>
            <a:r>
              <a:rPr lang="en-US" dirty="0"/>
              <a:t>Key-value caching for Decoders</a:t>
            </a:r>
          </a:p>
          <a:p>
            <a:pPr lvl="2"/>
            <a:r>
              <a:rPr lang="en-US" dirty="0"/>
              <a:t>More on this later!</a:t>
            </a:r>
          </a:p>
          <a:p>
            <a:r>
              <a:rPr lang="en-US" dirty="0"/>
              <a:t>Even more on hyperparameter tuning</a:t>
            </a:r>
          </a:p>
          <a:p>
            <a:pPr lvl="1"/>
            <a:r>
              <a:rPr lang="en-US" dirty="0"/>
              <a:t>bandits and early stopping (for upcoming HW)</a:t>
            </a:r>
          </a:p>
          <a:p>
            <a:r>
              <a:rPr lang="en-US" b="1" dirty="0">
                <a:solidFill>
                  <a:srgbClr val="0070C0"/>
                </a:solidFill>
              </a:rPr>
              <a:t>Methods for making big models smaller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pruning (for mini-project)</a:t>
            </a:r>
          </a:p>
          <a:p>
            <a:pPr lvl="1"/>
            <a:r>
              <a:rPr lang="en-US" dirty="0"/>
              <a:t>quantization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041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BIG Transformers SMALLER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374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C45C-5FC7-3CB4-AB81-C6581D7B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Large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60F7-A371-D304-44DE-8792259D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Very large models are powerful but</a:t>
            </a:r>
          </a:p>
          <a:p>
            <a:pPr lvl="1"/>
            <a:r>
              <a:rPr lang="en-US" dirty="0"/>
              <a:t>High $$$ cost</a:t>
            </a:r>
          </a:p>
          <a:p>
            <a:pPr lvl="1"/>
            <a:r>
              <a:rPr lang="en-US" dirty="0"/>
              <a:t>High electricity/carbon output</a:t>
            </a:r>
          </a:p>
          <a:p>
            <a:pPr lvl="1"/>
            <a:r>
              <a:rPr lang="en-US" dirty="0"/>
              <a:t>High latency</a:t>
            </a:r>
          </a:p>
          <a:p>
            <a:r>
              <a:rPr lang="en-US" dirty="0"/>
              <a:t>Important questions:</a:t>
            </a:r>
          </a:p>
          <a:p>
            <a:pPr lvl="1"/>
            <a:r>
              <a:rPr lang="en-US" dirty="0"/>
              <a:t>Can we make a large model smaller/cheaper</a:t>
            </a:r>
          </a:p>
          <a:p>
            <a:pPr lvl="2"/>
            <a:r>
              <a:rPr lang="en-US" dirty="0"/>
              <a:t>without reducing overall performance (too much)?</a:t>
            </a:r>
          </a:p>
          <a:p>
            <a:pPr lvl="2"/>
            <a:r>
              <a:rPr lang="en-US" dirty="0"/>
              <a:t>without reducing performance on a particular task of interest (too much)?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5960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01A8-93AC-58A7-2B8C-A5F50BF4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462367-9116-A2CE-5F9C-E2030133B688}"/>
              </a:ext>
            </a:extLst>
          </p:cNvPr>
          <p:cNvSpPr/>
          <p:nvPr/>
        </p:nvSpPr>
        <p:spPr>
          <a:xfrm>
            <a:off x="685800" y="1257300"/>
            <a:ext cx="2383971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37AB7-0DB8-595A-E4AE-C171D8B7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5B12-E045-3C28-A586-CF18E790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9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39D0-62CB-BB29-5BF7-6D242DAC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9159-ADCC-60B2-50C4-3617A891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8BF3B-5AE8-68B1-43F2-77480330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71" y="1612653"/>
            <a:ext cx="6645729" cy="46495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425C07-DF69-1B5C-4ACB-A3C6141E5B36}"/>
              </a:ext>
            </a:extLst>
          </p:cNvPr>
          <p:cNvSpPr txBox="1"/>
          <p:nvPr/>
        </p:nvSpPr>
        <p:spPr>
          <a:xfrm>
            <a:off x="4961164" y="358298"/>
            <a:ext cx="3170465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Typically we distill a model on lots and lots of data </a:t>
            </a:r>
            <a:r>
              <a:rPr lang="en-US" sz="2000" i="1" dirty="0"/>
              <a:t>only </a:t>
            </a:r>
            <a:r>
              <a:rPr lang="en-US" sz="2000" dirty="0"/>
              <a:t>labeled by the teacher (</a:t>
            </a:r>
            <a:r>
              <a:rPr lang="en-US" sz="2000" b="1" dirty="0"/>
              <a:t>transfer set</a:t>
            </a:r>
            <a:r>
              <a:rPr lang="en-US" sz="20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98A52-F3E4-3BE9-B9FB-052024D80F4A}"/>
              </a:ext>
            </a:extLst>
          </p:cNvPr>
          <p:cNvSpPr txBox="1"/>
          <p:nvPr/>
        </p:nvSpPr>
        <p:spPr>
          <a:xfrm>
            <a:off x="394606" y="1229155"/>
            <a:ext cx="3170465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simple case: teacher predictions are “hard” labels (e.g., training a generative LLM).</a:t>
            </a:r>
          </a:p>
        </p:txBody>
      </p:sp>
    </p:spTree>
    <p:extLst>
      <p:ext uri="{BB962C8B-B14F-4D97-AF65-F5344CB8AC3E}">
        <p14:creationId xmlns:p14="http://schemas.microsoft.com/office/powerpoint/2010/main" val="387928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E94B-6E1C-A822-73AB-8F68FEA7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FDA0-A6FD-161E-6737-2E6E37C7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8C66E-D742-0E4F-6FEB-0EA6B8B02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3" y="3105890"/>
            <a:ext cx="3606132" cy="2522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C89E92-A06D-C29A-AABB-D040A8A0641E}"/>
              </a:ext>
            </a:extLst>
          </p:cNvPr>
          <p:cNvSpPr txBox="1"/>
          <p:nvPr/>
        </p:nvSpPr>
        <p:spPr>
          <a:xfrm>
            <a:off x="4961164" y="358296"/>
            <a:ext cx="3903436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Less simple case: loss </a:t>
            </a:r>
            <a:r>
              <a:rPr lang="en-US" sz="2000" b="1" dirty="0"/>
              <a:t>is squared errors</a:t>
            </a:r>
            <a:r>
              <a:rPr lang="en-US" sz="2000" dirty="0"/>
              <a:t> of the </a:t>
            </a:r>
            <a:r>
              <a:rPr lang="en-US" sz="2000" b="1" dirty="0"/>
              <a:t>logits </a:t>
            </a:r>
            <a:r>
              <a:rPr lang="en-US" sz="2000" dirty="0"/>
              <a:t>of the student model vs the  </a:t>
            </a:r>
            <a:r>
              <a:rPr lang="en-US" sz="2000" b="1" dirty="0"/>
              <a:t>logits</a:t>
            </a:r>
            <a:r>
              <a:rPr lang="en-US" sz="2000" dirty="0"/>
              <a:t> of the teacher model (Caruana et al, 2006 – “model compression”).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D09F0-FED2-09B6-370F-C79735929394}"/>
              </a:ext>
            </a:extLst>
          </p:cNvPr>
          <p:cNvSpPr txBox="1"/>
          <p:nvPr/>
        </p:nvSpPr>
        <p:spPr>
          <a:xfrm>
            <a:off x="394606" y="1229155"/>
            <a:ext cx="3170465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simple case: teacher predictions are “hard” labels (e.g., training a generative LLM).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292A1-FD4C-F846-AEAB-3C85F07C74F6}"/>
              </a:ext>
            </a:extLst>
          </p:cNvPr>
          <p:cNvSpPr txBox="1"/>
          <p:nvPr/>
        </p:nvSpPr>
        <p:spPr>
          <a:xfrm>
            <a:off x="4845958" y="2290282"/>
            <a:ext cx="3903436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Alternative: add “temperature” T to the </a:t>
            </a:r>
            <a:r>
              <a:rPr lang="en-US" sz="2000" dirty="0" err="1"/>
              <a:t>softmax</a:t>
            </a:r>
            <a:r>
              <a:rPr lang="en-US" sz="2000" dirty="0"/>
              <a:t> layer: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15EDD-FA2D-79C0-9F11-9E2352360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64" y="3182832"/>
            <a:ext cx="3276600" cy="127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2CE3CC-BB96-8B7F-3C54-F4E2F9E4AAAA}"/>
              </a:ext>
            </a:extLst>
          </p:cNvPr>
          <p:cNvSpPr txBox="1"/>
          <p:nvPr/>
        </p:nvSpPr>
        <p:spPr>
          <a:xfrm>
            <a:off x="4845958" y="4514546"/>
            <a:ext cx="3903436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…and loss is cross-entropy with the “high temperature” version of the </a:t>
            </a:r>
            <a:r>
              <a:rPr lang="en-US" sz="2000" dirty="0" err="1"/>
              <a:t>softmax</a:t>
            </a:r>
            <a:r>
              <a:rPr lang="en-US" sz="2000" dirty="0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307EE-90F0-C8C0-6A18-79B4AC1B36A6}"/>
              </a:ext>
            </a:extLst>
          </p:cNvPr>
          <p:cNvSpPr txBox="1"/>
          <p:nvPr/>
        </p:nvSpPr>
        <p:spPr>
          <a:xfrm>
            <a:off x="3104242" y="5806462"/>
            <a:ext cx="5419271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If logits are zero-mean and temperature is high this </a:t>
            </a:r>
            <a:r>
              <a:rPr lang="en-US" sz="2000" b="1" dirty="0"/>
              <a:t>approximates</a:t>
            </a:r>
            <a:r>
              <a:rPr lang="en-US" sz="2000" dirty="0"/>
              <a:t> model compression. </a:t>
            </a:r>
          </a:p>
        </p:txBody>
      </p:sp>
    </p:spTree>
    <p:extLst>
      <p:ext uri="{BB962C8B-B14F-4D97-AF65-F5344CB8AC3E}">
        <p14:creationId xmlns:p14="http://schemas.microsoft.com/office/powerpoint/2010/main" val="384306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D6CF-4374-CD8E-66F9-737233F9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6C0D-4C9E-A6E8-D47F-648C2EC6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Distillation: advantages over compression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86626-0C43-A54E-E759-28F5C45D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3" y="3105890"/>
            <a:ext cx="3606132" cy="2522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1D592D-FB48-4BE9-C47D-AB914D81CE02}"/>
              </a:ext>
            </a:extLst>
          </p:cNvPr>
          <p:cNvSpPr txBox="1"/>
          <p:nvPr/>
        </p:nvSpPr>
        <p:spPr>
          <a:xfrm>
            <a:off x="4647746" y="1432011"/>
            <a:ext cx="3903436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Easy to add cross-entropy loss to a set of gold labels.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Moderate temperatures seem to require less transfer data for same accuracy.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18963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835B-D225-49DC-5A47-D83FA59F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92F2FE-591C-89CC-9324-37189587B31F}"/>
              </a:ext>
            </a:extLst>
          </p:cNvPr>
          <p:cNvSpPr/>
          <p:nvPr/>
        </p:nvSpPr>
        <p:spPr>
          <a:xfrm>
            <a:off x="702129" y="4653642"/>
            <a:ext cx="2383971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F1319-56F4-547A-A8DE-4C31632F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ABFC-8087-AD5D-413B-A1C8CEAC6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 – more later!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4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BA00-57E9-B8B2-929B-A06E2856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5DF5-0C17-1F49-0C25-C1F63A05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3E969-6979-028F-9F30-2D2275DD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93" y="2078191"/>
            <a:ext cx="4876800" cy="1308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453168-8FFC-1E4C-CF24-29E140965270}"/>
              </a:ext>
            </a:extLst>
          </p:cNvPr>
          <p:cNvSpPr txBox="1"/>
          <p:nvPr/>
        </p:nvSpPr>
        <p:spPr>
          <a:xfrm>
            <a:off x="604157" y="1483673"/>
            <a:ext cx="328204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Scientific notation: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AE2E9F-84F8-80BD-BBA3-1BD078CBD437}"/>
              </a:ext>
            </a:extLst>
          </p:cNvPr>
          <p:cNvSpPr txBox="1"/>
          <p:nvPr/>
        </p:nvSpPr>
        <p:spPr>
          <a:xfrm>
            <a:off x="881747" y="25635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±</a:t>
            </a:r>
          </a:p>
        </p:txBody>
      </p:sp>
    </p:spTree>
    <p:extLst>
      <p:ext uri="{BB962C8B-B14F-4D97-AF65-F5344CB8AC3E}">
        <p14:creationId xmlns:p14="http://schemas.microsoft.com/office/powerpoint/2010/main" val="336740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9355-3C89-6504-4EAC-987CEB33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0782-262D-D402-4B42-479719E7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3E7DC-67B1-CB24-A291-E60B8FF8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93" y="2078191"/>
            <a:ext cx="4876800" cy="1308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47E55C-ACED-C9C3-C7E9-EF1EC55E9830}"/>
              </a:ext>
            </a:extLst>
          </p:cNvPr>
          <p:cNvSpPr txBox="1"/>
          <p:nvPr/>
        </p:nvSpPr>
        <p:spPr>
          <a:xfrm>
            <a:off x="604157" y="1483673"/>
            <a:ext cx="328204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Scientific notation: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F8BD9-D671-3E85-7C11-E6DD91F95F7E}"/>
              </a:ext>
            </a:extLst>
          </p:cNvPr>
          <p:cNvSpPr txBox="1"/>
          <p:nvPr/>
        </p:nvSpPr>
        <p:spPr>
          <a:xfrm>
            <a:off x="881747" y="25635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60F8D-1B40-13A0-8E97-6287E42BCD47}"/>
              </a:ext>
            </a:extLst>
          </p:cNvPr>
          <p:cNvSpPr txBox="1"/>
          <p:nvPr/>
        </p:nvSpPr>
        <p:spPr>
          <a:xfrm>
            <a:off x="604156" y="3564482"/>
            <a:ext cx="46373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IEEE standards for hardware: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F90C73-E546-5A81-0B28-26CFE6CC6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" y="4207668"/>
            <a:ext cx="8648701" cy="1920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02423-2DAE-94D0-09F5-F5FE9A6D39EB}"/>
              </a:ext>
            </a:extLst>
          </p:cNvPr>
          <p:cNvSpPr txBox="1"/>
          <p:nvPr/>
        </p:nvSpPr>
        <p:spPr>
          <a:xfrm>
            <a:off x="6120493" y="2430927"/>
            <a:ext cx="2631621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Subtract bias from stored exponent to get true exponent, so float range of exponents is [-126, 127]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9B9663-0561-790A-9CA9-4E2F406001B5}"/>
              </a:ext>
            </a:extLst>
          </p:cNvPr>
          <p:cNvCxnSpPr>
            <a:stCxn id="3" idx="2"/>
          </p:cNvCxnSpPr>
          <p:nvPr/>
        </p:nvCxnSpPr>
        <p:spPr>
          <a:xfrm flipH="1">
            <a:off x="6270171" y="3908255"/>
            <a:ext cx="1166133" cy="467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5E083C-ED93-81B8-96F8-69097E2E91B9}"/>
              </a:ext>
            </a:extLst>
          </p:cNvPr>
          <p:cNvCxnSpPr/>
          <p:nvPr/>
        </p:nvCxnSpPr>
        <p:spPr>
          <a:xfrm flipH="1">
            <a:off x="3682093" y="3169591"/>
            <a:ext cx="2438400" cy="1402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92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7E4C-A6BB-8D72-91F2-065FA3DE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C317-804D-B975-C850-7EC8CF25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92EEA-81C4-6812-009E-17F539649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590"/>
            <a:ext cx="9040353" cy="518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719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5F2A-46EE-A0C7-B4B0-232BF429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C6E1-E58B-76D7-BF39-DE0DCF8B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B1437-6B08-A3AB-36C7-4F5E274B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5368"/>
            <a:ext cx="9119654" cy="3765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65FD62-9BAF-57C7-0F64-1CA5D905311F}"/>
              </a:ext>
            </a:extLst>
          </p:cNvPr>
          <p:cNvSpPr txBox="1"/>
          <p:nvPr/>
        </p:nvSpPr>
        <p:spPr>
          <a:xfrm>
            <a:off x="604157" y="1388017"/>
            <a:ext cx="698862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PyTorch</a:t>
            </a:r>
            <a:r>
              <a:rPr lang="en-US" sz="2400" dirty="0"/>
              <a:t>, TensorFlow, many accelerators, … support bfloat16 as well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3D674-B583-3075-88A1-4D96D9091455}"/>
              </a:ext>
            </a:extLst>
          </p:cNvPr>
          <p:cNvSpPr txBox="1"/>
          <p:nvPr/>
        </p:nvSpPr>
        <p:spPr>
          <a:xfrm>
            <a:off x="604157" y="5920991"/>
            <a:ext cx="770708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Traditionally: train with float32…then it’s easy to truncate to bfloat16 for inference.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C75CD-B9A1-6525-86EC-6DD19BFC0DF3}"/>
              </a:ext>
            </a:extLst>
          </p:cNvPr>
          <p:cNvSpPr txBox="1"/>
          <p:nvPr/>
        </p:nvSpPr>
        <p:spPr>
          <a:xfrm>
            <a:off x="5691414" y="5054484"/>
            <a:ext cx="333102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…but training with 16 bit floats often works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64BA8-538A-F622-C261-C248EABA86F7}"/>
              </a:ext>
            </a:extLst>
          </p:cNvPr>
          <p:cNvSpPr txBox="1"/>
          <p:nvPr/>
        </p:nvSpPr>
        <p:spPr>
          <a:xfrm>
            <a:off x="5323114" y="3786612"/>
            <a:ext cx="333102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Some chips support fp8 but training with it is tricky </a:t>
            </a:r>
            <a:r>
              <a:rPr lang="en-US" dirty="0"/>
              <a:t>(see </a:t>
            </a:r>
            <a:r>
              <a:rPr lang="en-US" dirty="0" err="1"/>
              <a:t>DeepSeek</a:t>
            </a:r>
            <a:r>
              <a:rPr lang="en-US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916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822C-3F6B-4CC6-4622-8772D6C3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F511-AA6B-B536-224C-CE18E578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B97F-8B45-4828-6D8B-08FBFC3C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113486" cy="24656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Working with even fp32 requires some care</a:t>
            </a:r>
          </a:p>
          <a:p>
            <a:pPr lvl="1"/>
            <a:r>
              <a:rPr lang="en-US" dirty="0"/>
              <a:t>E.g., accelerators support “fused multiply add” (FMA) </a:t>
            </a:r>
          </a:p>
          <a:p>
            <a:pPr lvl="2"/>
            <a:r>
              <a:rPr lang="en-US" dirty="0"/>
              <a:t>FMA(</a:t>
            </a:r>
            <a:r>
              <a:rPr lang="en-US" dirty="0" err="1"/>
              <a:t>x,y,z</a:t>
            </a:r>
            <a:r>
              <a:rPr lang="en-US" dirty="0"/>
              <a:t>)=round(x*y + z)  != round(round(x*y) + z)</a:t>
            </a:r>
          </a:p>
          <a:p>
            <a:pPr lvl="1"/>
            <a:r>
              <a:rPr lang="en-US" dirty="0"/>
              <a:t>Dot product computation is chain of FMAs</a:t>
            </a:r>
          </a:p>
          <a:p>
            <a:r>
              <a:rPr lang="en-US" dirty="0"/>
              <a:t>FP16 usually is part of mixed precision training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A16A8D-DFC2-974C-2FD0-3A2C15C5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69" y="3883252"/>
            <a:ext cx="6103620" cy="201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0B22A-9F5B-BAB1-4B20-1D7E554DA85C}"/>
              </a:ext>
            </a:extLst>
          </p:cNvPr>
          <p:cNvSpPr txBox="1">
            <a:spLocks/>
          </p:cNvSpPr>
          <p:nvPr/>
        </p:nvSpPr>
        <p:spPr>
          <a:xfrm>
            <a:off x="279400" y="6061983"/>
            <a:ext cx="7623629" cy="632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Matmul</a:t>
            </a:r>
            <a:r>
              <a:rPr lang="en-US" dirty="0"/>
              <a:t> precision can also be adjusted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650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0B61-35C2-7243-F193-A0F8F3CC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25C4-0ED2-4C2D-762F-E7B5C6F6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C4C37-6DD8-93B2-9CEA-3776FF92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Note: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everything</a:t>
            </a:r>
            <a:r>
              <a:rPr lang="en-US" dirty="0">
                <a:sym typeface="Wingdings" pitchFamily="2" charset="2"/>
              </a:rPr>
              <a:t> needs to be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h/w and library aware!</a:t>
            </a:r>
          </a:p>
          <a:p>
            <a:pPr lvl="1"/>
            <a:r>
              <a:rPr lang="en-US" dirty="0">
                <a:sym typeface="Wingdings" pitchFamily="2" charset="2"/>
              </a:rPr>
              <a:t>Quantize different parts of the model differently</a:t>
            </a:r>
          </a:p>
          <a:p>
            <a:pPr lvl="2"/>
            <a:r>
              <a:rPr lang="en-US" dirty="0">
                <a:sym typeface="Wingdings" pitchFamily="2" charset="2"/>
              </a:rPr>
              <a:t>quantize(x; S, Z) = round(x/S + Z)</a:t>
            </a:r>
          </a:p>
          <a:p>
            <a:pPr lvl="3"/>
            <a:r>
              <a:rPr lang="en-US" dirty="0">
                <a:sym typeface="Wingdings" pitchFamily="2" charset="2"/>
              </a:rPr>
              <a:t>S is “scale”</a:t>
            </a:r>
          </a:p>
          <a:p>
            <a:pPr lvl="3"/>
            <a:r>
              <a:rPr lang="en-US" dirty="0">
                <a:sym typeface="Wingdings" pitchFamily="2" charset="2"/>
              </a:rPr>
              <a:t>Z is “zero point”</a:t>
            </a:r>
          </a:p>
          <a:p>
            <a:pPr lvl="3"/>
            <a:r>
              <a:rPr lang="en-US" dirty="0">
                <a:sym typeface="Wingdings" pitchFamily="2" charset="2"/>
              </a:rPr>
              <a:t>S, Z are set for this model slice to get the needed range [⍺,β]</a:t>
            </a:r>
          </a:p>
          <a:p>
            <a:pPr lvl="2"/>
            <a:r>
              <a:rPr lang="en-US" dirty="0">
                <a:sym typeface="Wingdings" pitchFamily="2" charset="2"/>
              </a:rPr>
              <a:t>do as much as you can in quantized space instead of quantizing and de-quantizing frequently (the FMA trick)</a:t>
            </a:r>
          </a:p>
          <a:p>
            <a:pPr lvl="3"/>
            <a:r>
              <a:rPr lang="en-US" dirty="0">
                <a:sym typeface="Wingdings" pitchFamily="2" charset="2"/>
              </a:rPr>
              <a:t>complete </a:t>
            </a:r>
            <a:r>
              <a:rPr lang="en-US" dirty="0" err="1">
                <a:sym typeface="Wingdings" pitchFamily="2" charset="2"/>
              </a:rPr>
              <a:t>matmul</a:t>
            </a:r>
            <a:r>
              <a:rPr lang="en-US" dirty="0">
                <a:sym typeface="Wingdings" pitchFamily="2" charset="2"/>
              </a:rPr>
              <a:t>, conv2D-BatchNorm-ReLU</a:t>
            </a:r>
          </a:p>
          <a:p>
            <a:pPr lvl="1"/>
            <a:r>
              <a:rPr lang="en-US" dirty="0">
                <a:sym typeface="Wingdings" pitchFamily="2" charset="2"/>
              </a:rPr>
              <a:t>Sometimes: quantize dynamically</a:t>
            </a:r>
          </a:p>
          <a:p>
            <a:pPr lvl="2"/>
            <a:r>
              <a:rPr lang="en-US" dirty="0">
                <a:sym typeface="Wingdings" pitchFamily="2" charset="2"/>
              </a:rPr>
              <a:t>set S, Z after you see the activation values</a:t>
            </a:r>
          </a:p>
          <a:p>
            <a:pPr lvl="1"/>
            <a:r>
              <a:rPr lang="en-US" dirty="0">
                <a:sym typeface="Wingdings" pitchFamily="2" charset="2"/>
              </a:rPr>
              <a:t>Don’t quantize everything</a:t>
            </a:r>
          </a:p>
          <a:p>
            <a:pPr lvl="2"/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 bias layers aren’t usually quantized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374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63BB-4CEA-4965-DB4A-5699F3B7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F707-4D4B-776F-8679-388A857D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0561B-F9C2-E42A-14E6-A7F5A0BB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Quantize different parts of the model differently</a:t>
            </a:r>
          </a:p>
          <a:p>
            <a:pPr lvl="2"/>
            <a:r>
              <a:rPr lang="en-US" dirty="0">
                <a:sym typeface="Wingdings" pitchFamily="2" charset="2"/>
              </a:rPr>
              <a:t>quantize(x; S, Z) = round(x/S + Z)</a:t>
            </a:r>
          </a:p>
          <a:p>
            <a:pPr lvl="3"/>
            <a:r>
              <a:rPr lang="en-US" dirty="0">
                <a:sym typeface="Wingdings" pitchFamily="2" charset="2"/>
              </a:rPr>
              <a:t>S is “scale”</a:t>
            </a:r>
          </a:p>
          <a:p>
            <a:pPr lvl="3"/>
            <a:r>
              <a:rPr lang="en-US" dirty="0">
                <a:sym typeface="Wingdings" pitchFamily="2" charset="2"/>
              </a:rPr>
              <a:t>Z is “zero point”</a:t>
            </a:r>
          </a:p>
          <a:p>
            <a:pPr lvl="3"/>
            <a:r>
              <a:rPr lang="en-US" dirty="0">
                <a:sym typeface="Wingdings" pitchFamily="2" charset="2"/>
              </a:rPr>
              <a:t>S, Z are set for this model slice to get the needed range [⍺,β]</a:t>
            </a:r>
          </a:p>
          <a:p>
            <a:pPr lvl="2"/>
            <a:r>
              <a:rPr lang="en-US" dirty="0">
                <a:sym typeface="Wingdings" pitchFamily="2" charset="2"/>
              </a:rPr>
              <a:t>do as much as you can in quantized space instead of quantizing and de-quantizing frequently (the FMA trick)</a:t>
            </a:r>
          </a:p>
          <a:p>
            <a:pPr lvl="3"/>
            <a:r>
              <a:rPr lang="en-US" dirty="0">
                <a:sym typeface="Wingdings" pitchFamily="2" charset="2"/>
              </a:rPr>
              <a:t>complete </a:t>
            </a:r>
            <a:r>
              <a:rPr lang="en-US" dirty="0" err="1">
                <a:sym typeface="Wingdings" pitchFamily="2" charset="2"/>
              </a:rPr>
              <a:t>matmul</a:t>
            </a:r>
            <a:r>
              <a:rPr lang="en-US" dirty="0">
                <a:sym typeface="Wingdings" pitchFamily="2" charset="2"/>
              </a:rPr>
              <a:t>, conv2D-BatchNorm-ReLU</a:t>
            </a:r>
          </a:p>
          <a:p>
            <a:pPr lvl="1"/>
            <a:r>
              <a:rPr lang="en-US" dirty="0">
                <a:sym typeface="Wingdings" pitchFamily="2" charset="2"/>
              </a:rPr>
              <a:t>Sometimes: quantize dynamically</a:t>
            </a:r>
          </a:p>
          <a:p>
            <a:pPr lvl="2"/>
            <a:r>
              <a:rPr lang="en-US" dirty="0">
                <a:sym typeface="Wingdings" pitchFamily="2" charset="2"/>
              </a:rPr>
              <a:t>set S, Z after you see the activation values</a:t>
            </a:r>
          </a:p>
          <a:p>
            <a:pPr lvl="1"/>
            <a:r>
              <a:rPr lang="en-US" dirty="0">
                <a:sym typeface="Wingdings" pitchFamily="2" charset="2"/>
              </a:rPr>
              <a:t>Don’t quantize everything</a:t>
            </a:r>
          </a:p>
          <a:p>
            <a:pPr lvl="2"/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 bias layers aren’t usually quantized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047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B35E-0F9A-95E4-353C-44F3DB8C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B537-9EF3-21AD-A28C-651CF549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6961-B83C-3291-7BC4-CC88826F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56386" cy="12246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Mixed-precision quantization – keep large  “outlier” features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39EA4-D826-FC82-6425-FF32E52E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3703"/>
            <a:ext cx="7543800" cy="432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44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B32A-5109-9529-BF8F-6D2A2C53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331F-F482-B544-ECBE-97D2BDFA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Performance Tradeoffs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A8C37-9CE6-D900-B944-19CC44D9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0" y="1147824"/>
            <a:ext cx="4436759" cy="3170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53DD4-3505-643E-9480-D72874F06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32"/>
          <a:stretch/>
        </p:blipFill>
        <p:spPr>
          <a:xfrm>
            <a:off x="4572000" y="1280822"/>
            <a:ext cx="4429964" cy="3037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D8B33-EA84-CB53-69C1-830C26170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368800"/>
            <a:ext cx="4635500" cy="248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4A4F85-80B3-861C-504A-E5FAF76AED37}"/>
              </a:ext>
            </a:extLst>
          </p:cNvPr>
          <p:cNvSpPr txBox="1"/>
          <p:nvPr/>
        </p:nvSpPr>
        <p:spPr>
          <a:xfrm>
            <a:off x="7135586" y="4767943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0442929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0588-1F40-228F-C61C-AA4F70B1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AF4A-DCE7-C285-3D55-3EB1EB2E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At Training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F7A1-41BA-F9FE-6134-80787867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25757" cy="41637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can also adjust training</a:t>
            </a:r>
          </a:p>
          <a:p>
            <a:pPr lvl="1"/>
            <a:r>
              <a:rPr lang="en-US" dirty="0"/>
              <a:t>add “quantization layers” at training</a:t>
            </a:r>
          </a:p>
          <a:p>
            <a:pPr lvl="2"/>
            <a:r>
              <a:rPr lang="en-US" dirty="0"/>
              <a:t>approximate actual quantization operations at training time</a:t>
            </a:r>
          </a:p>
          <a:p>
            <a:pPr lvl="3"/>
            <a:r>
              <a:rPr lang="en-US" dirty="0"/>
              <a:t>because the real operations aren’t differentiable</a:t>
            </a:r>
          </a:p>
          <a:p>
            <a:pPr lvl="2"/>
            <a:r>
              <a:rPr lang="en-US" dirty="0"/>
              <a:t>or replace pure gradient descent with something different, like coordinate descent or EM or …</a:t>
            </a:r>
          </a:p>
          <a:p>
            <a:pPr lvl="1"/>
            <a:r>
              <a:rPr lang="en-US" dirty="0"/>
              <a:t>introduce the same sort of “noise” that quantization introduces</a:t>
            </a:r>
          </a:p>
          <a:p>
            <a:pPr lvl="1"/>
            <a:r>
              <a:rPr lang="en-US" dirty="0"/>
              <a:t>learned network will be more robust to quantization “noise”</a:t>
            </a:r>
          </a:p>
        </p:txBody>
      </p:sp>
    </p:spTree>
    <p:extLst>
      <p:ext uri="{BB962C8B-B14F-4D97-AF65-F5344CB8AC3E}">
        <p14:creationId xmlns:p14="http://schemas.microsoft.com/office/powerpoint/2010/main" val="13516537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0DAF8-08B1-5AB0-7266-73140319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FD53F-D309-E792-9E13-1BE490A6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79264"/>
            <a:ext cx="7077974" cy="2679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30647E-46C9-931F-49D5-7D36F37F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Performance Tradeoffs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83C0F-4728-D480-624E-7FE2C4343EC4}"/>
              </a:ext>
            </a:extLst>
          </p:cNvPr>
          <p:cNvSpPr txBox="1"/>
          <p:nvPr/>
        </p:nvSpPr>
        <p:spPr>
          <a:xfrm>
            <a:off x="7351486" y="4248405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40994-4534-B324-3FB3-59F513E85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43" y="1096962"/>
            <a:ext cx="8418104" cy="271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2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2797</TotalTime>
  <Words>4862</Words>
  <Application>Microsoft Macintosh PowerPoint</Application>
  <PresentationFormat>On-screen Show (4:3)</PresentationFormat>
  <Paragraphs>1818</Paragraphs>
  <Slides>86</Slides>
  <Notes>50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Calibri</vt:lpstr>
      <vt:lpstr>Cambria Math</vt:lpstr>
      <vt:lpstr>Gill Sans</vt:lpstr>
      <vt:lpstr>Gill Sans MT</vt:lpstr>
      <vt:lpstr>Helvetica</vt:lpstr>
      <vt:lpstr>Times</vt:lpstr>
      <vt:lpstr>Wingdings</vt:lpstr>
      <vt:lpstr>Office Theme</vt:lpstr>
      <vt:lpstr>10-605 / 10-405</vt:lpstr>
      <vt:lpstr>Outline</vt:lpstr>
      <vt:lpstr>Tokenization for Transformers</vt:lpstr>
      <vt:lpstr>PowerPoint Presentation</vt:lpstr>
      <vt:lpstr>Tokenization in BERT / GPT2</vt:lpstr>
      <vt:lpstr>Tokenization in Later Transformers</vt:lpstr>
      <vt:lpstr>Tokenization for Vision Transformers</vt:lpstr>
      <vt:lpstr>Tokenization for Vision Transformers</vt:lpstr>
      <vt:lpstr>Tokenization for Vision Transformers</vt:lpstr>
      <vt:lpstr>Tokenization for Vision Transformers</vt:lpstr>
      <vt:lpstr>Tokenization for Vision Transformers</vt:lpstr>
      <vt:lpstr>Vision Transformers – Pros and Cons</vt:lpstr>
      <vt:lpstr>Multi-Model Transformer: Example</vt:lpstr>
      <vt:lpstr>Multi-Model Transformer: Example</vt:lpstr>
      <vt:lpstr>Multi-Model Transformer: Example</vt:lpstr>
      <vt:lpstr>Multi-Model Transformer: Example</vt:lpstr>
      <vt:lpstr>Multi-Model Transformer: Example</vt:lpstr>
      <vt:lpstr>Multi-Model Transformer: Example</vt:lpstr>
      <vt:lpstr>Vision Transformers – Pros and Cons</vt:lpstr>
      <vt:lpstr>Outline</vt:lpstr>
      <vt:lpstr>Key-Value Caching for Transformers</vt:lpstr>
      <vt:lpstr>PowerPoint Presentation</vt:lpstr>
      <vt:lpstr>PowerPoint Presentation</vt:lpstr>
      <vt:lpstr>PowerPoint Presentation</vt:lpstr>
      <vt:lpstr>Observation</vt:lpstr>
      <vt:lpstr>Observation</vt:lpstr>
      <vt:lpstr>Observation</vt:lpstr>
      <vt:lpstr>Observation</vt:lpstr>
      <vt:lpstr>Key-Value Caching</vt:lpstr>
      <vt:lpstr>PowerPoint Presentation</vt:lpstr>
      <vt:lpstr>Outline</vt:lpstr>
      <vt:lpstr>HyperParameter Selection</vt:lpstr>
      <vt:lpstr>Hyperparameter Selection</vt:lpstr>
      <vt:lpstr>Hyperparameter Selection</vt:lpstr>
      <vt:lpstr>Hyperparameter Selection</vt:lpstr>
      <vt:lpstr>Theory: Bandit Problems in ML</vt:lpstr>
      <vt:lpstr>Theory: Bandit Problems in ML</vt:lpstr>
      <vt:lpstr>Hyperparameter Selection: Early Stopping</vt:lpstr>
      <vt:lpstr>Hyperparameter Selection: Early Stopping</vt:lpstr>
      <vt:lpstr>Recap: Chinchilla Scaling Laws</vt:lpstr>
      <vt:lpstr>Chinchilla Scaling Laws</vt:lpstr>
      <vt:lpstr>Hyperparameter Selection: Early Stopping</vt:lpstr>
      <vt:lpstr>Caveat About Scaling Laws</vt:lpstr>
      <vt:lpstr>Hyperparameter Selection: Early Stopping</vt:lpstr>
      <vt:lpstr>Early Stopping Heuristics Without Parametric Scaling Curves?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Halving?</vt:lpstr>
      <vt:lpstr>Successive Halving Method</vt:lpstr>
      <vt:lpstr>Hyperband</vt:lpstr>
      <vt:lpstr>Outline</vt:lpstr>
      <vt:lpstr>MAKING BIG Transformers SMALLER</vt:lpstr>
      <vt:lpstr>Compressing Large Models</vt:lpstr>
      <vt:lpstr>Main techniques for compressing models</vt:lpstr>
      <vt:lpstr>Distillation</vt:lpstr>
      <vt:lpstr>Distillation</vt:lpstr>
      <vt:lpstr>Distillation: advantages over compression</vt:lpstr>
      <vt:lpstr>Main techniques for compressing models</vt:lpstr>
      <vt:lpstr>Quantization: Background</vt:lpstr>
      <vt:lpstr>Quantization: Background</vt:lpstr>
      <vt:lpstr>Quantization: Background</vt:lpstr>
      <vt:lpstr>Quantization: Background</vt:lpstr>
      <vt:lpstr>Quantization: Background</vt:lpstr>
      <vt:lpstr>Quantization: Beyond 16 bits</vt:lpstr>
      <vt:lpstr>Quantization: Beyond 16 bits</vt:lpstr>
      <vt:lpstr>Quantization: Beyond 16 bits</vt:lpstr>
      <vt:lpstr>Quantization: Performance Tradeoffs</vt:lpstr>
      <vt:lpstr>Quantization: At Training time</vt:lpstr>
      <vt:lpstr>Quantization: Performance Tradeoffs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347</cp:revision>
  <dcterms:created xsi:type="dcterms:W3CDTF">2013-01-13T19:42:44Z</dcterms:created>
  <dcterms:modified xsi:type="dcterms:W3CDTF">2025-03-19T16:26:15Z</dcterms:modified>
</cp:coreProperties>
</file>