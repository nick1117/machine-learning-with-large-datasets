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421" r:id="rId2"/>
    <p:sldId id="445" r:id="rId3"/>
    <p:sldId id="446" r:id="rId4"/>
    <p:sldId id="422" r:id="rId5"/>
    <p:sldId id="358" r:id="rId6"/>
    <p:sldId id="361" r:id="rId7"/>
    <p:sldId id="288" r:id="rId8"/>
    <p:sldId id="359" r:id="rId9"/>
    <p:sldId id="364" r:id="rId10"/>
    <p:sldId id="360" r:id="rId11"/>
    <p:sldId id="362" r:id="rId12"/>
    <p:sldId id="365" r:id="rId13"/>
    <p:sldId id="367" r:id="rId14"/>
    <p:sldId id="366" r:id="rId15"/>
    <p:sldId id="369" r:id="rId16"/>
    <p:sldId id="368" r:id="rId17"/>
    <p:sldId id="256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259" r:id="rId27"/>
    <p:sldId id="397" r:id="rId28"/>
    <p:sldId id="398" r:id="rId29"/>
    <p:sldId id="399" r:id="rId30"/>
    <p:sldId id="400" r:id="rId31"/>
    <p:sldId id="401" r:id="rId32"/>
    <p:sldId id="402" r:id="rId33"/>
    <p:sldId id="403" r:id="rId34"/>
    <p:sldId id="420" r:id="rId35"/>
    <p:sldId id="448" r:id="rId36"/>
    <p:sldId id="449" r:id="rId37"/>
    <p:sldId id="450" r:id="rId38"/>
    <p:sldId id="451" r:id="rId39"/>
    <p:sldId id="270" r:id="rId40"/>
    <p:sldId id="273" r:id="rId41"/>
    <p:sldId id="452" r:id="rId42"/>
    <p:sldId id="453" r:id="rId43"/>
    <p:sldId id="454" r:id="rId44"/>
    <p:sldId id="455" r:id="rId45"/>
    <p:sldId id="456" r:id="rId46"/>
    <p:sldId id="404" r:id="rId47"/>
    <p:sldId id="407" r:id="rId48"/>
    <p:sldId id="408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47" r:id="rId57"/>
    <p:sldId id="416" r:id="rId58"/>
    <p:sldId id="417" r:id="rId59"/>
    <p:sldId id="418" r:id="rId60"/>
    <p:sldId id="419" r:id="rId61"/>
    <p:sldId id="375" r:id="rId62"/>
    <p:sldId id="423" r:id="rId63"/>
    <p:sldId id="424" r:id="rId64"/>
    <p:sldId id="425" r:id="rId65"/>
    <p:sldId id="426" r:id="rId66"/>
    <p:sldId id="427" r:id="rId67"/>
    <p:sldId id="428" r:id="rId68"/>
    <p:sldId id="429" r:id="rId69"/>
    <p:sldId id="257" r:id="rId70"/>
    <p:sldId id="258" r:id="rId71"/>
    <p:sldId id="430" r:id="rId72"/>
    <p:sldId id="431" r:id="rId73"/>
    <p:sldId id="260" r:id="rId74"/>
    <p:sldId id="261" r:id="rId75"/>
    <p:sldId id="432" r:id="rId76"/>
    <p:sldId id="433" r:id="rId77"/>
    <p:sldId id="434" r:id="rId78"/>
    <p:sldId id="457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872" autoAdjust="0"/>
    <p:restoredTop sz="88423" autoAdjust="0"/>
  </p:normalViewPr>
  <p:slideViewPr>
    <p:cSldViewPr snapToGrid="0" snapToObjects="1">
      <p:cViewPr varScale="1">
        <p:scale>
          <a:sx n="74" d="100"/>
          <a:sy n="74" d="100"/>
        </p:scale>
        <p:origin x="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F0505-553C-1844-8F1C-A35E447154FE}" type="datetimeFigureOut">
              <a:rPr lang="en-US" smtClean="0"/>
              <a:t>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98CC2-B458-894C-A0B1-87C03750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611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5T20:44:04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5T20:44:04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5T20:44:04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81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ingpipe-blog.com/2009/02/16/rennie-shih-teevan-and-karger-2003-tackling-poor-assumptions-naive-bayes-text-classifiers/" TargetMode="External"/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google.com/url?sa=t&amp;rct=j&amp;q=&amp;esrc=s&amp;source=web&amp;cd=5&amp;ved=0CFYQFjAE&amp;url=http://www.aaai.org/Library/ICML/2003/icml03-081.php&amp;ei=aGcpT5qsOuOJ0QGB2L3DAQ&amp;usg=AFQjCNFZv_c7ZDr35L4DD2JBXsKj2ziLGQ&amp;sig2=QuE5HOr0SdhuY4KqIfNPew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D282-B945-7C5C-9F08-154DE537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E1623A02-EF22-BB82-B43A-32CE43887F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519D29D-48C7-8F44-8F60-8C0FF2532DDF}" type="slidenum">
              <a:rPr lang="en-US"/>
              <a:pPr eaLnBrk="1" hangingPunct="1"/>
              <a:t>24</a:t>
            </a:fld>
            <a:endParaRPr 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A561957-1BCC-312E-01E2-70C75730C2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6E88E512-E768-87E5-0C01-D56D1FA35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0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906F-F789-CF6C-161A-CAA09F4B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6F0A6C2C-1EDC-9264-8E2E-87A4249675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519D29D-48C7-8F44-8F60-8C0FF2532DDF}" type="slidenum">
              <a:rPr lang="en-US"/>
              <a:pPr eaLnBrk="1" hangingPunct="1"/>
              <a:t>25</a:t>
            </a:fld>
            <a:endParaRPr 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1472A29-6003-3791-954F-CF0761CCA7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EC92FB49-974D-BD82-1BD3-5CB8D93A9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60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519D29D-48C7-8F44-8F60-8C0FF2532DDF}" type="slidenum">
              <a:rPr lang="en-US"/>
              <a:pPr eaLnBrk="1" hangingPunct="1"/>
              <a:t>26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53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BE10-135D-7316-536B-C93481E2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BCA65-A03D-9D95-66BB-494D998F5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2ECAA-245E-64EC-A88E-141F8C237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4270C-BD6B-3689-FF51-4254A44BE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95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23D9-18BA-F4FF-AD0F-4BBDBD63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95650-0D50-3B35-5D19-BC5364434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DDF99-7F65-4AFD-9837-9C1AE0A79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9C1E7-9157-8AE6-F366-0E0F62767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9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0ACB-4FAC-E089-20EA-F1037B80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5A9A0-7C51-1BD6-B449-00D5527B4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8A1F9-7DDC-1104-8E2A-874458696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B0E58-E3BF-8B20-9E6E-CC339E17A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3,2M</a:t>
            </a:r>
            <a:r>
              <a:rPr lang="en-US" baseline="0" dirty="0"/>
              <a:t> emails</a:t>
            </a:r>
          </a:p>
          <a:p>
            <a:r>
              <a:rPr lang="en-US" baseline="0" dirty="0"/>
              <a:t>400k users</a:t>
            </a:r>
          </a:p>
          <a:p>
            <a:r>
              <a:rPr lang="en-US" baseline="0" dirty="0"/>
              <a:t>40M 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F203-6B0D-54E6-CF5F-91C86E60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1342C-FFE2-15CD-797F-7FF3A0E4C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93C23-EC50-B521-31A2-9613B11FE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40F4E-7393-F821-1688-8A25E016B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76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24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F5F3D-19C9-E90E-7298-ACB31A02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E95CE-DC4F-4AC8-0CD7-F4101CF5A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A1930-9D93-4C25-DC8B-55A5D6FD7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746BA-C77B-970D-0066-3581033E1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3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hlinkClick r:id="rId3"/>
              </a:rPr>
              <a:t>Rennie, Shih, Teevan, and Karger (2003) </a:t>
            </a:r>
            <a:r>
              <a:rPr lang="en-US" b="1" i="1" dirty="0">
                <a:hlinkClick r:id="rId3"/>
              </a:rPr>
              <a:t>Tackling </a:t>
            </a:r>
            <a:r>
              <a:rPr lang="en-US" b="1" i="1">
                <a:hlinkClick r:id="rId3"/>
              </a:rPr>
              <a:t>the Poor</a:t>
            </a:r>
            <a:r>
              <a:rPr lang="en-US" b="1" i="1">
                <a:hlinkClick r:id="rId4"/>
              </a:rPr>
              <a:t> </a:t>
            </a:r>
            <a:r>
              <a:rPr lang="en-US" b="1" i="1" dirty="0">
                <a:hlinkClick r:id="rId4"/>
              </a:rPr>
              <a:t>Assumptions of Naive Bayes Text Classifiers</a:t>
            </a:r>
            <a:r>
              <a:rPr lang="en-US" b="1" dirty="0">
                <a:hlinkClick r:id="rId3"/>
              </a:rPr>
              <a:t>.</a:t>
            </a:r>
            <a:endParaRPr lang="en-US" b="1" dirty="0"/>
          </a:p>
          <a:p>
            <a:r>
              <a:rPr lang="en-US" i="1" dirty="0" err="1"/>
              <a:t>lingpipe-blog.com</a:t>
            </a:r>
            <a:r>
              <a:rPr lang="en-US" i="1" dirty="0"/>
              <a:t>/.../rennie-shih-teevan-and-karger-2003-</a:t>
            </a:r>
            <a:r>
              <a:rPr lang="en-US" b="1" i="1" dirty="0"/>
              <a:t>tackling</a:t>
            </a:r>
            <a:r>
              <a:rPr lang="en-US" i="1" dirty="0"/>
              <a:t>-</a:t>
            </a:r>
            <a:r>
              <a:rPr lang="en-US" b="1" i="1" dirty="0"/>
              <a:t>p</a:t>
            </a:r>
            <a:r>
              <a:rPr lang="en-US" i="1" dirty="0"/>
              <a:t>...</a:t>
            </a:r>
            <a:endParaRPr lang="en-US" dirty="0"/>
          </a:p>
          <a:p>
            <a:r>
              <a:rPr lang="en-US" dirty="0"/>
              <a:t>Feb 16, 2009 – </a:t>
            </a:r>
            <a:r>
              <a:rPr lang="en-US" dirty="0" err="1"/>
              <a:t>Rennie</a:t>
            </a:r>
            <a:r>
              <a:rPr lang="en-US" dirty="0"/>
              <a:t>, Shih, </a:t>
            </a:r>
            <a:r>
              <a:rPr lang="en-US" dirty="0" err="1"/>
              <a:t>Teevan</a:t>
            </a:r>
            <a:r>
              <a:rPr lang="en-US" dirty="0"/>
              <a:t>, </a:t>
            </a:r>
            <a:r>
              <a:rPr lang="en-US" dirty="0" err="1"/>
              <a:t>Karger</a:t>
            </a:r>
            <a:r>
              <a:rPr lang="en-US" dirty="0"/>
              <a:t> (2003) </a:t>
            </a:r>
            <a:r>
              <a:rPr lang="en-US" i="1" dirty="0"/>
              <a:t>Tackling the Poor Assumptions of Naive Bayes Text Classifiers</a:t>
            </a:r>
            <a:r>
              <a:rPr lang="en-US" dirty="0"/>
              <a:t>. In ICML. </a:t>
            </a:r>
            <a:r>
              <a:rPr lang="en-US" dirty="0" err="1"/>
              <a:t>Rennie</a:t>
            </a:r>
            <a:r>
              <a:rPr lang="en-US" dirty="0"/>
              <a:t> et al. introduce four </a:t>
            </a:r>
            <a:r>
              <a:rPr lang="en-US" b="1" dirty="0"/>
              <a:t>...</a:t>
            </a:r>
            <a:br>
              <a:rPr lang="en-US" dirty="0"/>
            </a:br>
            <a:endParaRPr lang="en-US" dirty="0"/>
          </a:p>
          <a:p>
            <a:r>
              <a:rPr lang="en-US" b="1" i="1" dirty="0">
                <a:hlinkClick r:id="rId4"/>
              </a:rPr>
              <a:t>Tackling the </a:t>
            </a:r>
            <a:r>
              <a:rPr lang="en-US" b="1" dirty="0">
                <a:hlinkClick r:id="rId4"/>
              </a:rPr>
              <a:t>- AAAI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23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FBA69-097D-544B-93AE-A55154BC5319}" type="datetime1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73801488-EA7D-3C44-9B9E-7061516FFEFC}" type="datetime1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FA7A-B573-EB4F-97EB-7E771ABBC408}" type="datetime1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9FEE-6F1D-3648-8D87-00183A89083D}" type="datetime1">
              <a:rPr lang="en-US" smtClean="0"/>
              <a:t>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2745-96C1-2643-93BD-28D46AEB4671}" type="datetime1">
              <a:rPr lang="en-US" smtClean="0"/>
              <a:t>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BC73-B16A-9642-8A87-C091FA74CB0D}" type="datetime1">
              <a:rPr lang="en-US" smtClean="0"/>
              <a:t>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5F027-174B-0D4B-A2A9-E2397B3EDE8D}" type="datetime1">
              <a:rPr lang="en-US" smtClean="0"/>
              <a:t>1/29/25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CCF1C-CB40-E04B-A45B-E0994DD796C3}" type="datetime1">
              <a:rPr lang="en-US" smtClean="0"/>
              <a:t>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536E-D9A7-404A-B920-147BE5A1A229}" type="datetime1">
              <a:rPr lang="en-US" smtClean="0"/>
              <a:t>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F203-681B-F746-9CD6-F1A57AB603C2}" type="datetime1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C8892-7880-7041-A5BD-669492E17F55}" type="datetime1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Пользовательский макет">
    <p:bg>
      <p:bgPr>
        <a:solidFill>
          <a:srgbClr val="FDF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Image"/>
          <p:cNvSpPr>
            <a:spLocks noGrp="1"/>
          </p:cNvSpPr>
          <p:nvPr>
            <p:ph type="pic" idx="21"/>
          </p:nvPr>
        </p:nvSpPr>
        <p:spPr>
          <a:xfrm>
            <a:off x="0" y="0"/>
            <a:ext cx="9144596" cy="6849777"/>
          </a:xfrm>
          <a:prstGeom prst="rect">
            <a:avLst/>
          </a:prstGeom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454207" y="6289041"/>
            <a:ext cx="98993" cy="134620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914446">
              <a:defRPr sz="45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92270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1484561" y="274638"/>
            <a:ext cx="6174879" cy="1143001"/>
          </a:xfrm>
          <a:prstGeom prst="rect">
            <a:avLst/>
          </a:prstGeom>
          <a:ln>
            <a:round/>
          </a:ln>
        </p:spPr>
        <p:txBody>
          <a:bodyPr lIns="53578" tIns="53578" rIns="53578" bIns="53578">
            <a:noAutofit/>
          </a:bodyPr>
          <a:lstStyle>
            <a:lvl1pPr defTabSz="242888">
              <a:defRPr sz="32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Title Text</a:t>
            </a:r>
          </a:p>
        </p:txBody>
      </p:sp>
      <p:sp>
        <p:nvSpPr>
          <p:cNvPr id="181" name="Body Level One…"/>
          <p:cNvSpPr txBox="1">
            <a:spLocks noGrp="1"/>
          </p:cNvSpPr>
          <p:nvPr>
            <p:ph type="body" idx="1"/>
          </p:nvPr>
        </p:nvSpPr>
        <p:spPr>
          <a:xfrm>
            <a:off x="1484561" y="1598414"/>
            <a:ext cx="6174879" cy="4525964"/>
          </a:xfrm>
          <a:prstGeom prst="rect">
            <a:avLst/>
          </a:prstGeom>
          <a:ln>
            <a:round/>
          </a:ln>
        </p:spPr>
        <p:txBody>
          <a:bodyPr lIns="53578" tIns="53578" rIns="53578" bIns="53578" anchor="t">
            <a:noAutofit/>
          </a:bodyPr>
          <a:lstStyle>
            <a:lvl1pPr marL="175346" indent="-175346" defTabSz="242888">
              <a:spcBef>
                <a:spcPts val="375"/>
              </a:spcBef>
              <a:buClr>
                <a:srgbClr val="000000"/>
              </a:buClr>
              <a:buSzPct val="100000"/>
              <a:buFont typeface="Arial"/>
              <a:defRPr sz="22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  <a:lvl2pPr marL="318085" indent="-146635" defTabSz="242888">
              <a:spcBef>
                <a:spcPts val="338"/>
              </a:spcBef>
              <a:buClr>
                <a:srgbClr val="000000"/>
              </a:buClr>
              <a:buSzPct val="100000"/>
              <a:buFont typeface="Arial"/>
              <a:buChar char="–"/>
              <a:defRPr sz="19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2pPr>
            <a:lvl3pPr marL="458881" indent="-115981" defTabSz="242888">
              <a:spcBef>
                <a:spcPts val="300"/>
              </a:spcBef>
              <a:buClr>
                <a:srgbClr val="000000"/>
              </a:buClr>
              <a:buSzPct val="100000"/>
              <a:buFont typeface="Arial"/>
              <a:defRPr sz="17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3pPr>
            <a:lvl4pPr marL="630691" indent="-116341" defTabSz="242888">
              <a:spcBef>
                <a:spcPts val="225"/>
              </a:spcBef>
              <a:buClr>
                <a:srgbClr val="000000"/>
              </a:buClr>
              <a:buSzPct val="100000"/>
              <a:buFont typeface="Arial"/>
              <a:buChar char="–"/>
              <a:defRPr sz="14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4pPr>
            <a:lvl5pPr marL="802141" indent="-116341" defTabSz="242888">
              <a:spcBef>
                <a:spcPts val="225"/>
              </a:spcBef>
              <a:buClr>
                <a:srgbClr val="000000"/>
              </a:buClr>
              <a:buSzPct val="100000"/>
              <a:buFont typeface="Arial"/>
              <a:buChar char="»"/>
              <a:defRPr sz="1425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506947" y="6505612"/>
            <a:ext cx="151154" cy="200547"/>
          </a:xfrm>
          <a:prstGeom prst="rect">
            <a:avLst/>
          </a:prstGeom>
          <a:ln>
            <a:round/>
          </a:ln>
        </p:spPr>
        <p:txBody>
          <a:bodyPr lIns="53578" tIns="53578" rIns="53578" bIns="53578" anchor="ctr"/>
          <a:lstStyle>
            <a:lvl1pPr algn="r" defTabSz="242888">
              <a:defRPr sz="825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00598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4EA5E-C51E-2E48-869C-DF8E7AB417DA}" type="datetime1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7.wmf"/><Relationship Id="rId9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8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arxiv.org/abs/2003.06307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12.19437" TargetMode="External"/><Relationship Id="rId2" Type="http://schemas.openxmlformats.org/officeDocument/2006/relationships/hyperlink" Target="https://arxiv.org/abs/2003.0630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2AED-A54D-B099-B1F8-FA421BF39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35BB-25F6-CF2B-3603-F4EC41F7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00481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Why bigdata is important in ML</a:t>
            </a:r>
          </a:p>
          <a:p>
            <a:r>
              <a:rPr lang="en-US" dirty="0"/>
              <a:t>History of bigdata in ML</a:t>
            </a:r>
          </a:p>
          <a:p>
            <a:r>
              <a:rPr lang="en-US" dirty="0"/>
              <a:t>Scalable computation on clusters</a:t>
            </a:r>
          </a:p>
          <a:p>
            <a:pPr lvl="1"/>
            <a:r>
              <a:rPr lang="en-US" dirty="0"/>
              <a:t>MapReduce</a:t>
            </a:r>
          </a:p>
          <a:p>
            <a:pPr lvl="1"/>
            <a:r>
              <a:rPr lang="en-US" dirty="0"/>
              <a:t>Spark and iteration</a:t>
            </a:r>
          </a:p>
          <a:p>
            <a:pPr lvl="1"/>
            <a:r>
              <a:rPr lang="en-US" dirty="0"/>
              <a:t>Sample Spark workflows</a:t>
            </a:r>
          </a:p>
          <a:p>
            <a:r>
              <a:rPr lang="en-US" dirty="0"/>
              <a:t>Learning as optimization</a:t>
            </a:r>
          </a:p>
          <a:p>
            <a:pPr lvl="1"/>
            <a:r>
              <a:rPr lang="en-US" dirty="0"/>
              <a:t>MLE for binomials, linear regression, logistic regression, k-means clustering</a:t>
            </a:r>
          </a:p>
          <a:p>
            <a:pPr lvl="1"/>
            <a:r>
              <a:rPr lang="en-US" dirty="0"/>
              <a:t>exact solutions, gradient descent (batch, parallel, stochastic), EM and EM-like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DDA85-B563-8727-8A37-8DAC5413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71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2126-AE34-2767-A5F1-5BCED1A72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F530-A48D-3778-DE5E-BEA34704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1BCB-3C27-83C0-169F-C82008CFE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Learning as optimization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MLE for binomials, linear regression, logistic regression, k-means clustering</a:t>
            </a:r>
          </a:p>
          <a:p>
            <a:pPr lvl="1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exact solutions, gradient descent (batch, parallel, stochastic), EM and EM-like methods</a:t>
            </a:r>
          </a:p>
          <a:p>
            <a:r>
              <a:rPr lang="en-US" dirty="0"/>
              <a:t>“Craft” of ML</a:t>
            </a:r>
          </a:p>
          <a:p>
            <a:pPr lvl="1"/>
            <a:r>
              <a:rPr lang="en-US" dirty="0"/>
              <a:t>feature extraction / augmentation</a:t>
            </a:r>
          </a:p>
          <a:p>
            <a:pPr lvl="2"/>
            <a:r>
              <a:rPr lang="en-US" dirty="0"/>
              <a:t>kernel methods – working a different feature space</a:t>
            </a:r>
          </a:p>
          <a:p>
            <a:pPr lvl="1"/>
            <a:r>
              <a:rPr lang="en-US" dirty="0"/>
              <a:t>regularization</a:t>
            </a:r>
          </a:p>
          <a:p>
            <a:pPr lvl="1"/>
            <a:r>
              <a:rPr lang="en-US" dirty="0"/>
              <a:t>hyperparameter tuning</a:t>
            </a:r>
          </a:p>
          <a:p>
            <a:pPr lvl="1"/>
            <a:r>
              <a:rPr lang="en-US" dirty="0"/>
              <a:t>the hash trick and efficiency</a:t>
            </a:r>
          </a:p>
          <a:p>
            <a:pPr lvl="2"/>
            <a:r>
              <a:rPr lang="en-US" dirty="0"/>
              <a:t>discussing a paper and some formal results</a:t>
            </a:r>
          </a:p>
          <a:p>
            <a:pPr lvl="1"/>
            <a:r>
              <a:rPr lang="en-US" dirty="0"/>
              <a:t>practical issues in parallelizing ML</a:t>
            </a:r>
          </a:p>
          <a:p>
            <a:pPr lvl="2"/>
            <a:r>
              <a:rPr lang="en-US" dirty="0"/>
              <a:t>data/model parallelism</a:t>
            </a:r>
          </a:p>
          <a:p>
            <a:pPr lvl="2"/>
            <a:r>
              <a:rPr lang="en-US" dirty="0"/>
              <a:t>design choices to be made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369F2-5C66-10AA-874B-DD579495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36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1E261-EEC8-2C8E-3A29-1939CE2B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FB7A40-CB05-45DB-8E4C-93398115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4" name="Picture 3" descr="A diagram of a learning pipeline&#10;&#10;AI-generated content may be incorrect.">
            <a:extLst>
              <a:ext uri="{FF2B5EF4-FFF2-40B4-BE49-F238E27FC236}">
                <a16:creationId xmlns:a16="http://schemas.microsoft.com/office/drawing/2014/main" id="{BA176A73-0459-7C3E-15B9-36F03E760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445647"/>
            <a:ext cx="8546260" cy="4454965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5A0A57-9B2E-5FDC-8E4A-9AAC76A1F293}"/>
              </a:ext>
            </a:extLst>
          </p:cNvPr>
          <p:cNvSpPr/>
          <p:nvPr/>
        </p:nvSpPr>
        <p:spPr>
          <a:xfrm>
            <a:off x="483079" y="4443816"/>
            <a:ext cx="1708030" cy="9135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 and curation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BE23E-3422-E8C0-094A-F9DD7BD9D53D}"/>
              </a:ext>
            </a:extLst>
          </p:cNvPr>
          <p:cNvSpPr/>
          <p:nvPr/>
        </p:nvSpPr>
        <p:spPr>
          <a:xfrm>
            <a:off x="825260" y="5357408"/>
            <a:ext cx="1089804" cy="50855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7571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Extensions to Linear Regression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0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05BE9-74FE-F4EC-F42B-6326573E1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902D-3D10-DA16-ABEA-DDC8ABED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</a:t>
            </a:r>
            <a:r>
              <a:rPr lang="en-US" u="sng" dirty="0"/>
              <a:t>linear</a:t>
            </a:r>
            <a:r>
              <a:rPr lang="en-US" dirty="0"/>
              <a:t> regression is not powerful enough?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3BB65-D30D-467F-CA25-AC148ED8C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2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7" name="Table 1"/>
          <p:cNvGraphicFramePr/>
          <p:nvPr>
            <p:extLst>
              <p:ext uri="{D42A27DB-BD31-4B8C-83A1-F6EECF244321}">
                <p14:modId xmlns:p14="http://schemas.microsoft.com/office/powerpoint/2010/main" val="3966229127"/>
              </p:ext>
            </p:extLst>
          </p:nvPr>
        </p:nvGraphicFramePr>
        <p:xfrm>
          <a:off x="791050" y="1971467"/>
          <a:ext cx="7631094" cy="1444966"/>
        </p:xfrm>
        <a:graphic>
          <a:graphicData uri="http://schemas.openxmlformats.org/drawingml/2006/table">
            <a:tbl>
              <a:tblPr firstRow="1" bandRow="1"/>
              <a:tblGrid>
                <a:gridCol w="110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1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x</a:t>
                      </a:r>
                    </a:p>
                  </a:txBody>
                  <a:tcPr marL="0" marR="0" marT="0" marB="0" horzOverflow="overflow">
                    <a:lnL w="0">
                      <a:miter lim="400000"/>
                    </a:lnL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y</a:t>
                      </a:r>
                    </a:p>
                  </a:txBody>
                  <a:tcPr marL="0" marR="0" marT="0" marB="0" horzOverflow="overflow"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f(x)</a:t>
                      </a:r>
                    </a:p>
                  </a:txBody>
                  <a:tcPr marL="0" marR="0" marT="0" marB="0" horzOverflow="overflow">
                    <a:lnR w="12700">
                      <a:solidFill>
                        <a:srgbClr val="FFFFFF"/>
                      </a:solidFill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Square Loss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Absolute Loss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R w="0">
                      <a:miter lim="400000"/>
                    </a:lnR>
                    <a:lnT w="76200">
                      <a:solidFill>
                        <a:srgbClr val="000000"/>
                      </a:solidFill>
                      <a:miter lim="400000"/>
                    </a:lnT>
                    <a:lnB w="76200">
                      <a:solidFill>
                        <a:srgbClr val="000000"/>
                      </a:solidFill>
                    </a:lnB>
                    <a:solidFill>
                      <a:srgbClr val="2489BF">
                        <a:alpha val="49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24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T w="76200">
                      <a:solidFill>
                        <a:srgbClr val="000000"/>
                      </a:solidFill>
                    </a:lnT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$300,500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250,000</a:t>
                      </a:r>
                    </a:p>
                  </a:txBody>
                  <a:tcPr marL="0" marR="0" marT="0" marB="0" horzOverflow="overflow"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500</a:t>
                      </a:r>
                    </a:p>
                  </a:txBody>
                  <a:tcPr marL="0" marR="0" marT="0" marB="0" horzOverflow="overflow"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indent="228600">
                        <a:defRPr sz="5000">
                          <a:latin typeface="+mn-lt"/>
                          <a:ea typeface="+mn-ea"/>
                          <a:cs typeface="+mn-cs"/>
                          <a:sym typeface="Helvetica"/>
                        </a:defRPr>
                      </a:pPr>
                      <a:endParaRPr sz="19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$300,000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$400,000</a:t>
                      </a:r>
                    </a:p>
                  </a:txBody>
                  <a:tcPr marL="0" marR="0" marT="0" marB="0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1E+10</a:t>
                      </a:r>
                    </a:p>
                  </a:txBody>
                  <a:tcPr marL="0" marR="0" marT="0" marB="0" horzOverflow="overflow">
                    <a:solidFill>
                      <a:srgbClr val="01B6B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228600">
                        <a:defRPr sz="1800"/>
                      </a:pPr>
                      <a:r>
                        <a:rPr sz="1900" dirty="0"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Helvetica"/>
                        </a:rPr>
                        <a:t>100,000</a:t>
                      </a:r>
                    </a:p>
                  </a:txBody>
                  <a:tcPr marL="0" marR="0" marT="0" marB="0" horzOverflow="overflow">
                    <a:solidFill>
                      <a:srgbClr val="2489B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08" name="house.pdf" descr="hous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46" y="2472536"/>
            <a:ext cx="754841" cy="7625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13" name="Group"/>
          <p:cNvGrpSpPr/>
          <p:nvPr/>
        </p:nvGrpSpPr>
        <p:grpSpPr>
          <a:xfrm>
            <a:off x="782495" y="865473"/>
            <a:ext cx="7641196" cy="935142"/>
            <a:chOff x="0" y="0"/>
            <a:chExt cx="20376521" cy="2493711"/>
          </a:xfrm>
        </p:grpSpPr>
        <p:sp>
          <p:nvSpPr>
            <p:cNvPr id="709" name="Rectangle"/>
            <p:cNvSpPr/>
            <p:nvPr/>
          </p:nvSpPr>
          <p:spPr>
            <a:xfrm>
              <a:off x="0" y="1049515"/>
              <a:ext cx="20376521" cy="1444196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710" name="Rectangle"/>
            <p:cNvSpPr/>
            <p:nvPr/>
          </p:nvSpPr>
          <p:spPr>
            <a:xfrm>
              <a:off x="0" y="0"/>
              <a:ext cx="20376521" cy="1033211"/>
            </a:xfrm>
            <a:prstGeom prst="rect">
              <a:avLst/>
            </a:prstGeom>
            <a:solidFill>
              <a:srgbClr val="01B6BA">
                <a:alpha val="50000"/>
              </a:srgb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675"/>
            </a:p>
          </p:txBody>
        </p:sp>
        <p:sp>
          <p:nvSpPr>
            <p:cNvPr id="711" name="Square Loss"/>
            <p:cNvSpPr txBox="1"/>
            <p:nvPr/>
          </p:nvSpPr>
          <p:spPr>
            <a:xfrm>
              <a:off x="67334" y="3625"/>
              <a:ext cx="19632376" cy="9959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9050" tIns="19050" rIns="19050" bIns="19050" numCol="1" anchor="ctr">
              <a:noAutofit/>
            </a:bodyPr>
            <a:lstStyle>
              <a:lvl1pPr>
                <a:defRPr sz="5000"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r>
                <a:rPr sz="1875" dirty="0"/>
                <a:t>Square Loss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2" name="Equation"/>
                <p:cNvSpPr txBox="1"/>
                <p:nvPr/>
              </p:nvSpPr>
              <p:spPr>
                <a:xfrm>
                  <a:off x="5877856" y="1136466"/>
                  <a:ext cx="10754055" cy="11851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defTabSz="3429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sz="2888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sz="2888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sz="2888" dirty="0"/>
                </a:p>
              </p:txBody>
            </p:sp>
          </mc:Choice>
          <mc:Fallback xmlns="">
            <p:sp>
              <p:nvSpPr>
                <p:cNvPr id="71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856" y="1136466"/>
                  <a:ext cx="10754055" cy="1185112"/>
                </a:xfrm>
                <a:prstGeom prst="rect">
                  <a:avLst/>
                </a:prstGeom>
                <a:blipFill>
                  <a:blip r:embed="rId4"/>
                  <a:stretch>
                    <a:fillRect l="-1254" b="-3611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4" name="Rectangle 9"/>
          <p:cNvSpPr txBox="1"/>
          <p:nvPr/>
        </p:nvSpPr>
        <p:spPr>
          <a:xfrm>
            <a:off x="687166" y="380483"/>
            <a:ext cx="34689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7145" rIns="17145">
            <a:spAutoFit/>
          </a:bodyPr>
          <a:lstStyle>
            <a:lvl1pPr algn="l">
              <a:defRPr sz="3600" b="1" cap="all" spc="6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endParaRPr sz="13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8EFC82-0A9A-A20B-3170-84DD3B04C3D0}"/>
              </a:ext>
            </a:extLst>
          </p:cNvPr>
          <p:cNvSpPr txBox="1"/>
          <p:nvPr/>
        </p:nvSpPr>
        <p:spPr>
          <a:xfrm>
            <a:off x="752949" y="3607183"/>
            <a:ext cx="7700289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Square loss</a:t>
            </a:r>
            <a:r>
              <a:rPr lang="en-US" sz="2400" dirty="0"/>
              <a:t> (least squares):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optimization problem is very nice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useful in practice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“least squares” linear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73085-ED4A-21F0-9CE3-719AF3A0BD99}"/>
              </a:ext>
            </a:extLst>
          </p:cNvPr>
          <p:cNvSpPr txBox="1"/>
          <p:nvPr/>
        </p:nvSpPr>
        <p:spPr>
          <a:xfrm>
            <a:off x="791050" y="5314042"/>
            <a:ext cx="7700289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Not always useful enough!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Number of houses at distance </a:t>
            </a:r>
            <a:r>
              <a:rPr lang="en-US" sz="2400" i="1" dirty="0"/>
              <a:t>d = O(d</a:t>
            </a:r>
            <a:r>
              <a:rPr lang="en-US" sz="2400" i="1" baseline="30000" dirty="0"/>
              <a:t>2</a:t>
            </a:r>
            <a:r>
              <a:rPr lang="en-US" sz="2400" i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Maybe a non-linear bonus for  “large and nearby”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73B0AC7-A035-6574-04BE-E68572B7F9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666" y="5645"/>
            <a:ext cx="5529333" cy="74093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0A0C4-63EF-0358-14CA-B5E4FB38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85872EE-20A7-ABBC-F7EC-3199FF95B222}"/>
              </a:ext>
            </a:extLst>
          </p:cNvPr>
          <p:cNvGrpSpPr/>
          <p:nvPr/>
        </p:nvGrpSpPr>
        <p:grpSpPr>
          <a:xfrm>
            <a:off x="752948" y="884692"/>
            <a:ext cx="4104330" cy="1444966"/>
            <a:chOff x="752948" y="1027570"/>
            <a:chExt cx="4104330" cy="1444966"/>
          </a:xfrm>
        </p:grpSpPr>
        <p:graphicFrame>
          <p:nvGraphicFramePr>
            <p:cNvPr id="707" name="Table 1">
              <a:extLst>
                <a:ext uri="{FF2B5EF4-FFF2-40B4-BE49-F238E27FC236}">
                  <a16:creationId xmlns:a16="http://schemas.microsoft.com/office/drawing/2014/main" id="{98A87FD3-24D0-9427-5E65-7A0E957CED5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3407919"/>
                </p:ext>
              </p:extLst>
            </p:nvPr>
          </p:nvGraphicFramePr>
          <p:xfrm>
            <a:off x="752948" y="1027570"/>
            <a:ext cx="4104330" cy="1444966"/>
          </p:xfrm>
          <a:graphic>
            <a:graphicData uri="http://schemas.openxmlformats.org/drawingml/2006/table">
              <a:tbl>
                <a:tblPr firstRow="1" bandRow="1"/>
                <a:tblGrid>
                  <a:gridCol w="110151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34148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66133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35266">
                  <a:tc>
                    <a:txBody>
                      <a:bodyPr/>
                      <a:lstStyle/>
                      <a:p>
                        <a:pPr indent="228600"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x</a:t>
                        </a:r>
                      </a:p>
                    </a:txBody>
                    <a:tcPr marL="0" marR="0" marT="0" marB="0" horzOverflow="overflow">
                      <a:lnL w="0">
                        <a:miter lim="400000"/>
                      </a:lnL>
                      <a:lnT w="76200">
                        <a:solidFill>
                          <a:srgbClr val="000000"/>
                        </a:solidFill>
                        <a:miter lim="400000"/>
                      </a:lnT>
                      <a:lnB w="76200">
                        <a:solidFill>
                          <a:srgbClr val="000000"/>
                        </a:solidFill>
                      </a:lnB>
                      <a:solidFill>
                        <a:srgbClr val="DDDDD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y</a:t>
                        </a:r>
                      </a:p>
                    </a:txBody>
                    <a:tcPr marL="0" marR="0" marT="0" marB="0" horzOverflow="overflow">
                      <a:lnT w="76200">
                        <a:solidFill>
                          <a:srgbClr val="000000"/>
                        </a:solidFill>
                        <a:miter lim="400000"/>
                      </a:lnT>
                      <a:lnB w="76200">
                        <a:solidFill>
                          <a:srgbClr val="000000"/>
                        </a:solidFill>
                      </a:lnB>
                      <a:solidFill>
                        <a:srgbClr val="DDDDD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f(x)</a:t>
                        </a:r>
                      </a:p>
                    </a:txBody>
                    <a:tcPr marL="0" marR="0" marT="0" marB="0" horzOverflow="overflow">
                      <a:lnR w="12700">
                        <a:solidFill>
                          <a:srgbClr val="FFFFFF"/>
                        </a:solidFill>
                        <a:miter lim="400000"/>
                      </a:lnR>
                      <a:lnT w="76200">
                        <a:solidFill>
                          <a:srgbClr val="000000"/>
                        </a:solidFill>
                        <a:miter lim="400000"/>
                      </a:lnT>
                      <a:lnB w="76200">
                        <a:solidFill>
                          <a:srgbClr val="000000"/>
                        </a:solidFill>
                      </a:lnB>
                      <a:solidFill>
                        <a:srgbClr val="DDDDD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1524">
                  <a:tc>
                    <a:txBody>
                      <a:bodyPr/>
                      <a:lstStyle/>
                      <a:p>
                        <a:pPr indent="228600">
                          <a:defRPr sz="5000"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 sz="1900"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0" marR="0" marT="0" marB="0" horzOverflow="overflow">
                      <a:lnT w="76200">
                        <a:solidFill>
                          <a:srgbClr val="000000"/>
                        </a:solidFill>
                      </a:lnT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anchor="b" horzOverflow="overflow">
                      <a:lnT w="76200">
                        <a:solidFill>
                          <a:srgbClr val="000000"/>
                        </a:solidFill>
                      </a:lnT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anchor="b" horzOverflow="overflow">
                      <a:lnT w="76200">
                        <a:solidFill>
                          <a:srgbClr val="000000"/>
                        </a:solidFill>
                      </a:lnT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19088">
                  <a:tc>
                    <a:txBody>
                      <a:bodyPr/>
                      <a:lstStyle/>
                      <a:p>
                        <a:pPr indent="228600">
                          <a:defRPr sz="5000"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 sz="1900"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$300,500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19088">
                  <a:tc>
                    <a:txBody>
                      <a:bodyPr/>
                      <a:lstStyle/>
                      <a:p>
                        <a:pPr indent="228600">
                          <a:defRPr sz="5000"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 sz="1900"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$400,000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pic>
          <p:nvPicPr>
            <p:cNvPr id="708" name="house.pdf" descr="house.pdf">
              <a:extLst>
                <a:ext uri="{FF2B5EF4-FFF2-40B4-BE49-F238E27FC236}">
                  <a16:creationId xmlns:a16="http://schemas.microsoft.com/office/drawing/2014/main" id="{2F677459-89B0-99F6-0522-7BE07336F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146" y="1583036"/>
              <a:ext cx="754841" cy="762537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714" name="Rectangle 9">
            <a:extLst>
              <a:ext uri="{FF2B5EF4-FFF2-40B4-BE49-F238E27FC236}">
                <a16:creationId xmlns:a16="http://schemas.microsoft.com/office/drawing/2014/main" id="{9A0F85CD-1BE4-7450-A8A9-9CDB8CBBE465}"/>
              </a:ext>
            </a:extLst>
          </p:cNvPr>
          <p:cNvSpPr txBox="1"/>
          <p:nvPr/>
        </p:nvSpPr>
        <p:spPr>
          <a:xfrm>
            <a:off x="687166" y="380483"/>
            <a:ext cx="34689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17145" rIns="17145">
            <a:spAutoFit/>
          </a:bodyPr>
          <a:lstStyle>
            <a:lvl1pPr algn="l">
              <a:defRPr sz="3600" b="1" cap="all" spc="6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endParaRPr sz="1350" dirty="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88CE7BE-4B9E-600F-B6A2-83DAC6852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666" y="5645"/>
            <a:ext cx="5529333" cy="7409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30BB8D-BA84-B53E-A8F3-5311ABD00866}"/>
              </a:ext>
            </a:extLst>
          </p:cNvPr>
          <p:cNvSpPr txBox="1"/>
          <p:nvPr/>
        </p:nvSpPr>
        <p:spPr>
          <a:xfrm>
            <a:off x="752948" y="2610652"/>
            <a:ext cx="7700289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Not always useful enough!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Number of houses at distance </a:t>
            </a:r>
            <a:r>
              <a:rPr lang="en-US" sz="2400" i="1" dirty="0"/>
              <a:t>d = O(d</a:t>
            </a:r>
            <a:r>
              <a:rPr lang="en-US" sz="2400" i="1" baseline="30000" dirty="0"/>
              <a:t>2</a:t>
            </a:r>
            <a:r>
              <a:rPr lang="en-US" sz="2400" i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  <a:p>
            <a:r>
              <a:rPr lang="en-US" sz="2400" dirty="0"/>
              <a:t>Simple fix: replace </a:t>
            </a:r>
            <a:r>
              <a:rPr lang="en-US" sz="2400" b="1" dirty="0"/>
              <a:t>x </a:t>
            </a:r>
            <a:r>
              <a:rPr lang="en-US" sz="2400" dirty="0"/>
              <a:t>with </a:t>
            </a:r>
            <a:r>
              <a:rPr lang="en-US" sz="2400" dirty="0" err="1"/>
              <a:t>ɸ</a:t>
            </a:r>
            <a:r>
              <a:rPr lang="en-US" sz="2400" dirty="0"/>
              <a:t>(</a:t>
            </a:r>
            <a:r>
              <a:rPr lang="en-US" sz="2400" b="1" dirty="0"/>
              <a:t>x</a:t>
            </a:r>
            <a:r>
              <a:rPr lang="en-US" sz="2400" dirty="0"/>
              <a:t>)!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4DA032-E194-15D8-CE9C-F9EBAC9BF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25" y="4822647"/>
            <a:ext cx="7772400" cy="7600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DC86E6-7141-FE2B-F651-645A7DDFB118}"/>
              </a:ext>
            </a:extLst>
          </p:cNvPr>
          <p:cNvSpPr txBox="1"/>
          <p:nvPr/>
        </p:nvSpPr>
        <p:spPr>
          <a:xfrm>
            <a:off x="729136" y="5582723"/>
            <a:ext cx="7700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</a:t>
            </a:r>
            <a:r>
              <a:rPr lang="en-US" sz="2400" b="1" dirty="0" err="1"/>
              <a:t>w</a:t>
            </a:r>
            <a:r>
              <a:rPr lang="en-US" sz="2400" baseline="30000" dirty="0" err="1"/>
              <a:t>T</a:t>
            </a:r>
            <a:r>
              <a:rPr lang="en-US" sz="2400" dirty="0"/>
              <a:t> </a:t>
            </a:r>
            <a:r>
              <a:rPr lang="en-US" sz="2400" dirty="0" err="1"/>
              <a:t>ɸ</a:t>
            </a:r>
            <a:r>
              <a:rPr lang="en-US" sz="2400" dirty="0"/>
              <a:t>(</a:t>
            </a:r>
            <a:r>
              <a:rPr lang="en-US" sz="2400" b="1" dirty="0"/>
              <a:t>x</a:t>
            </a:r>
            <a:r>
              <a:rPr lang="en-US" sz="2400" dirty="0"/>
              <a:t>) can fit any degree-2 polynomial…</a:t>
            </a:r>
            <a:r>
              <a:rPr lang="en-US" sz="2400" b="1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6AA72-CD08-CAF1-FB64-6BA8CCAA9E86}"/>
              </a:ext>
            </a:extLst>
          </p:cNvPr>
          <p:cNvSpPr txBox="1"/>
          <p:nvPr/>
        </p:nvSpPr>
        <p:spPr>
          <a:xfrm>
            <a:off x="711792" y="4238748"/>
            <a:ext cx="7700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82830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AC5D-E501-E1F5-2975-72B8519B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4BACCC-B555-5ED3-E1DA-E88F838C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 descr="A diagram of a learning pipeline&#10;&#10;AI-generated content may be incorrect.">
            <a:extLst>
              <a:ext uri="{FF2B5EF4-FFF2-40B4-BE49-F238E27FC236}">
                <a16:creationId xmlns:a16="http://schemas.microsoft.com/office/drawing/2014/main" id="{49480B5C-C42F-EE4E-DC4A-410F2CB12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445647"/>
            <a:ext cx="8546260" cy="4454965"/>
          </a:xfrm>
          <a:prstGeom prst="rect">
            <a:avLst/>
          </a:prstGeom>
        </p:spPr>
      </p:pic>
      <p:sp>
        <p:nvSpPr>
          <p:cNvPr id="3" name="Up Arrow 2">
            <a:extLst>
              <a:ext uri="{FF2B5EF4-FFF2-40B4-BE49-F238E27FC236}">
                <a16:creationId xmlns:a16="http://schemas.microsoft.com/office/drawing/2014/main" id="{0BD0891F-E6F4-5D86-0C14-62FCC011EF28}"/>
              </a:ext>
            </a:extLst>
          </p:cNvPr>
          <p:cNvSpPr/>
          <p:nvPr/>
        </p:nvSpPr>
        <p:spPr>
          <a:xfrm>
            <a:off x="2228851" y="4600575"/>
            <a:ext cx="528637" cy="871538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0E45D-C285-C254-B791-86FB7C95213A}"/>
              </a:ext>
            </a:extLst>
          </p:cNvPr>
          <p:cNvSpPr txBox="1"/>
          <p:nvPr/>
        </p:nvSpPr>
        <p:spPr>
          <a:xfrm>
            <a:off x="328613" y="5330645"/>
            <a:ext cx="8686801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“Modern DL systems do very well at text/images without feature engineering”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FE important when learning over structured data, </a:t>
            </a:r>
            <a:r>
              <a:rPr lang="en-US" sz="2000" dirty="0" err="1"/>
              <a:t>eg</a:t>
            </a:r>
            <a:r>
              <a:rPr lang="en-US" sz="2000" dirty="0"/>
              <a:t> from 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Or when using linear classifiers</a:t>
            </a:r>
          </a:p>
        </p:txBody>
      </p:sp>
    </p:spTree>
    <p:extLst>
      <p:ext uri="{BB962C8B-B14F-4D97-AF65-F5344CB8AC3E}">
        <p14:creationId xmlns:p14="http://schemas.microsoft.com/office/powerpoint/2010/main" val="251860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9DAA-5CD0-697D-91CC-7550B717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your </a:t>
            </a:r>
            <a:r>
              <a:rPr lang="en-US" u="sng" dirty="0"/>
              <a:t>basis functions </a:t>
            </a:r>
            <a:r>
              <a:rPr lang="en-US" dirty="0"/>
              <a:t>make linear regression </a:t>
            </a:r>
            <a:r>
              <a:rPr lang="en-US" u="sng" dirty="0"/>
              <a:t>too</a:t>
            </a:r>
            <a:r>
              <a:rPr lang="en-US" dirty="0"/>
              <a:t> powerful?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D9575-18CD-C062-23BD-79A41E44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B20708D-621C-C4B0-04CE-E7AA75257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6" y="1625599"/>
            <a:ext cx="4643439" cy="35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574507-4AC9-BD3A-D54E-90E43537E24A}"/>
              </a:ext>
            </a:extLst>
          </p:cNvPr>
          <p:cNvSpPr txBox="1"/>
          <p:nvPr/>
        </p:nvSpPr>
        <p:spPr>
          <a:xfrm>
            <a:off x="1362075" y="5232401"/>
            <a:ext cx="641985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Overfitting symptoms: very large </a:t>
            </a:r>
            <a:r>
              <a:rPr lang="en-US" sz="2400" b="1" dirty="0"/>
              <a:t>w</a:t>
            </a:r>
            <a:r>
              <a:rPr lang="en-US" sz="2400" dirty="0"/>
              <a:t> components and very unstable predictions: replacing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b="1" i="1" baseline="-25000" dirty="0"/>
              <a:t> </a:t>
            </a:r>
            <a:r>
              <a:rPr lang="en-US" sz="2400" dirty="0"/>
              <a:t>with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i="1" dirty="0"/>
              <a:t> + 𝜺 </a:t>
            </a:r>
            <a:r>
              <a:rPr lang="en-US" sz="2400" dirty="0"/>
              <a:t> gives very different predictions</a:t>
            </a:r>
          </a:p>
        </p:txBody>
      </p:sp>
    </p:spTree>
    <p:extLst>
      <p:ext uri="{BB962C8B-B14F-4D97-AF65-F5344CB8AC3E}">
        <p14:creationId xmlns:p14="http://schemas.microsoft.com/office/powerpoint/2010/main" val="407444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A889-414D-EFA7-340D-A1028DB8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(ridge regression)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8B6E9A-7D9C-0059-0966-A49A0831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9FBCD601-E233-FBEB-FE3A-21C81737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1181099"/>
            <a:ext cx="8554921" cy="491966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720C329-49D6-4FB4-75B7-99D9A7A04E15}"/>
              </a:ext>
            </a:extLst>
          </p:cNvPr>
          <p:cNvSpPr/>
          <p:nvPr/>
        </p:nvSpPr>
        <p:spPr>
          <a:xfrm>
            <a:off x="2277036" y="4338917"/>
            <a:ext cx="2761129" cy="102197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2C621-C1A8-EE75-884B-8515791D6348}"/>
              </a:ext>
            </a:extLst>
          </p:cNvPr>
          <p:cNvSpPr txBox="1"/>
          <p:nvPr/>
        </p:nvSpPr>
        <p:spPr>
          <a:xfrm>
            <a:off x="6850681" y="2731993"/>
            <a:ext cx="183447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Our usual squared loss!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94D4F4-6666-6B81-D176-1EECF9E42B83}"/>
                  </a:ext>
                </a:extLst>
              </p14:cNvPr>
              <p14:cNvContentPartPr/>
              <p14:nvPr/>
            </p14:nvContentPartPr>
            <p14:xfrm>
              <a:off x="-2294393" y="305154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94D4F4-6666-6B81-D176-1EECF9E42B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300513" y="3045424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F514BDB-8B09-2F98-C010-FA3D504A50AE}"/>
              </a:ext>
            </a:extLst>
          </p:cNvPr>
          <p:cNvCxnSpPr>
            <a:cxnSpLocks/>
            <a:stCxn id="7" idx="1"/>
            <a:endCxn id="6" idx="7"/>
          </p:cNvCxnSpPr>
          <p:nvPr/>
        </p:nvCxnSpPr>
        <p:spPr>
          <a:xfrm rot="10800000" flipV="1">
            <a:off x="4633807" y="3055158"/>
            <a:ext cx="2216874" cy="1433423"/>
          </a:xfrm>
          <a:prstGeom prst="curved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3A0B71-689F-E745-8DE5-40CD15AB57B7}"/>
              </a:ext>
            </a:extLst>
          </p:cNvPr>
          <p:cNvSpPr txBox="1"/>
          <p:nvPr/>
        </p:nvSpPr>
        <p:spPr>
          <a:xfrm>
            <a:off x="6299591" y="4740071"/>
            <a:ext cx="250468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Penalty for large weights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81ECB4-E3EE-DDA0-F601-A07808EF1D50}"/>
              </a:ext>
            </a:extLst>
          </p:cNvPr>
          <p:cNvSpPr/>
          <p:nvPr/>
        </p:nvSpPr>
        <p:spPr>
          <a:xfrm>
            <a:off x="4882551" y="4338917"/>
            <a:ext cx="1431985" cy="1021977"/>
          </a:xfrm>
          <a:prstGeom prst="ellipse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0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DE9C-DB30-6376-F04C-3397D83C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9BDC-0B69-EF2B-91D4-97D0A5EE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(ridge regression)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B9BE86-5CCA-F867-9EFC-AA8C2C3A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4D8DFA3A-A005-1C3D-E388-CDC732C90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92"/>
          <a:stretch/>
        </p:blipFill>
        <p:spPr>
          <a:xfrm>
            <a:off x="131879" y="1367117"/>
            <a:ext cx="8554921" cy="2671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BEEDA90-3482-5924-9CE9-2A8F99C706EC}"/>
                  </a:ext>
                </a:extLst>
              </p14:cNvPr>
              <p14:cNvContentPartPr/>
              <p14:nvPr/>
            </p14:nvContentPartPr>
            <p14:xfrm>
              <a:off x="-2294393" y="305154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BEEDA90-3482-5924-9CE9-2A8F99C706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300513" y="304542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292FCFD-B23D-6B46-2A05-F5F97B15AA08}"/>
              </a:ext>
            </a:extLst>
          </p:cNvPr>
          <p:cNvSpPr txBox="1"/>
          <p:nvPr/>
        </p:nvSpPr>
        <p:spPr>
          <a:xfrm>
            <a:off x="753035" y="4038879"/>
            <a:ext cx="76379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Other ways of finding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Batch gradient descent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Stochastic gradient descent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about setting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EF46A-05A8-5226-2543-EDE3CB12EBC4}"/>
              </a:ext>
            </a:extLst>
          </p:cNvPr>
          <p:cNvSpPr txBox="1"/>
          <p:nvPr/>
        </p:nvSpPr>
        <p:spPr>
          <a:xfrm>
            <a:off x="5414682" y="4303059"/>
            <a:ext cx="2976283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Hyperparameters</a:t>
            </a:r>
            <a:r>
              <a:rPr lang="en-US" sz="2400" dirty="0"/>
              <a:t> aren’t set by the learning method. How do you choose them?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70FFD-95B4-2C54-E246-DC69E1472BBA}"/>
              </a:ext>
            </a:extLst>
          </p:cNvPr>
          <p:cNvSpPr txBox="1"/>
          <p:nvPr/>
        </p:nvSpPr>
        <p:spPr>
          <a:xfrm>
            <a:off x="3514167" y="5872719"/>
            <a:ext cx="4312022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The model class </a:t>
            </a:r>
            <a:r>
              <a:rPr lang="en-US" sz="2400" dirty="0"/>
              <a:t>(e.g., linear regression, …) another choice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C93FB-46A3-0D05-BB68-08228DBA86FE}"/>
              </a:ext>
            </a:extLst>
          </p:cNvPr>
          <p:cNvSpPr txBox="1"/>
          <p:nvPr/>
        </p:nvSpPr>
        <p:spPr>
          <a:xfrm>
            <a:off x="4515564" y="2601309"/>
            <a:ext cx="4446495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e.g., regularization, drop out, number of epochs, learning rate, momentum term, network sizes, architectural variants, …</a:t>
            </a:r>
          </a:p>
        </p:txBody>
      </p:sp>
    </p:spTree>
    <p:extLst>
      <p:ext uri="{BB962C8B-B14F-4D97-AF65-F5344CB8AC3E}">
        <p14:creationId xmlns:p14="http://schemas.microsoft.com/office/powerpoint/2010/main" val="315583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A667-AB3D-72BC-01B6-607C0D72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F6BD82-632E-9C94-0AF4-D260458E1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 descr="A diagram of a learning pipeline&#10;&#10;AI-generated content may be incorrect.">
            <a:extLst>
              <a:ext uri="{FF2B5EF4-FFF2-40B4-BE49-F238E27FC236}">
                <a16:creationId xmlns:a16="http://schemas.microsoft.com/office/drawing/2014/main" id="{1079054E-0289-DB40-FDCF-F8E289C6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445647"/>
            <a:ext cx="8546260" cy="4454965"/>
          </a:xfrm>
          <a:prstGeom prst="rect">
            <a:avLst/>
          </a:prstGeom>
        </p:spPr>
      </p:pic>
      <p:sp>
        <p:nvSpPr>
          <p:cNvPr id="3" name="Up Arrow 2">
            <a:extLst>
              <a:ext uri="{FF2B5EF4-FFF2-40B4-BE49-F238E27FC236}">
                <a16:creationId xmlns:a16="http://schemas.microsoft.com/office/drawing/2014/main" id="{39B81FC6-8EC2-9CD6-A586-32AE32C6F29F}"/>
              </a:ext>
            </a:extLst>
          </p:cNvPr>
          <p:cNvSpPr/>
          <p:nvPr/>
        </p:nvSpPr>
        <p:spPr>
          <a:xfrm>
            <a:off x="3806639" y="4600575"/>
            <a:ext cx="528637" cy="871538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11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9BC0C-851F-CDB6-2163-1F044287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" name="Picture 3" descr="A diagram of a model&#10;&#10;AI-generated content may be incorrect.">
            <a:extLst>
              <a:ext uri="{FF2B5EF4-FFF2-40B4-BE49-F238E27FC236}">
                <a16:creationId xmlns:a16="http://schemas.microsoft.com/office/drawing/2014/main" id="{8AA455E5-385B-60D6-94C1-EDE7B0E08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39" y="1210132"/>
            <a:ext cx="9013261" cy="51462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FD989E-7842-5E50-446F-1D367750DB7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9064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Hyperparameter 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732FA-FBCC-A33D-EAFE-DAF204798291}"/>
              </a:ext>
            </a:extLst>
          </p:cNvPr>
          <p:cNvSpPr txBox="1"/>
          <p:nvPr/>
        </p:nvSpPr>
        <p:spPr>
          <a:xfrm>
            <a:off x="1431985" y="5796951"/>
            <a:ext cx="512121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Ideally only once when everything else  has been finalized</a:t>
            </a:r>
          </a:p>
        </p:txBody>
      </p:sp>
    </p:spTree>
    <p:extLst>
      <p:ext uri="{BB962C8B-B14F-4D97-AF65-F5344CB8AC3E}">
        <p14:creationId xmlns:p14="http://schemas.microsoft.com/office/powerpoint/2010/main" val="927054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7890-621A-B9AF-25E5-72BA3484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002ADF-C416-8188-9A3E-4299CCED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636B17-6DF6-9A98-19E8-26F795D2D31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9064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Grid search</a:t>
            </a:r>
          </a:p>
        </p:txBody>
      </p:sp>
      <p:pic>
        <p:nvPicPr>
          <p:cNvPr id="6" name="Picture 5" descr="A diagram of a algorithm&#10;&#10;AI-generated content may be incorrect.">
            <a:extLst>
              <a:ext uri="{FF2B5EF4-FFF2-40B4-BE49-F238E27FC236}">
                <a16:creationId xmlns:a16="http://schemas.microsoft.com/office/drawing/2014/main" id="{884649F3-A714-088A-6924-A260E4082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952" y="1059311"/>
            <a:ext cx="4446495" cy="23696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C7495F-8CE9-982B-FE8A-5EE6BCEC42A6}"/>
              </a:ext>
            </a:extLst>
          </p:cNvPr>
          <p:cNvSpPr txBox="1"/>
          <p:nvPr/>
        </p:nvSpPr>
        <p:spPr>
          <a:xfrm>
            <a:off x="251012" y="1577788"/>
            <a:ext cx="4446495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Try out multiple values of </a:t>
            </a:r>
            <a:r>
              <a:rPr lang="en-US" sz="2400" dirty="0" err="1"/>
              <a:t>λ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Pick the one that is best on the </a:t>
            </a:r>
            <a:r>
              <a:rPr lang="en-US" sz="2400" b="1" dirty="0"/>
              <a:t>validation </a:t>
            </a:r>
            <a:r>
              <a:rPr lang="en-US" sz="2400" dirty="0"/>
              <a:t>set</a:t>
            </a:r>
          </a:p>
          <a:p>
            <a:endParaRPr lang="en-US" sz="2400" dirty="0"/>
          </a:p>
          <a:p>
            <a:r>
              <a:rPr lang="en-US" sz="2400" dirty="0"/>
              <a:t>Validation set should be independent of the </a:t>
            </a:r>
            <a:r>
              <a:rPr lang="en-US" sz="2400" b="1" dirty="0"/>
              <a:t>test set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1F88F-1EBC-E863-948F-F7786653E849}"/>
              </a:ext>
            </a:extLst>
          </p:cNvPr>
          <p:cNvSpPr txBox="1"/>
          <p:nvPr/>
        </p:nvSpPr>
        <p:spPr>
          <a:xfrm>
            <a:off x="251012" y="4598360"/>
            <a:ext cx="444649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“Best” does </a:t>
            </a:r>
            <a:r>
              <a:rPr lang="en-US" sz="2400" i="1" dirty="0"/>
              <a:t>not</a:t>
            </a:r>
            <a:r>
              <a:rPr lang="en-US" sz="2400" dirty="0"/>
              <a:t> have to be according to the loss the learner is optimizing.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41734-3C5E-94E9-E00D-820507F4C990}"/>
              </a:ext>
            </a:extLst>
          </p:cNvPr>
          <p:cNvSpPr txBox="1"/>
          <p:nvPr/>
        </p:nvSpPr>
        <p:spPr>
          <a:xfrm>
            <a:off x="4889412" y="4588860"/>
            <a:ext cx="3887036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Loss ~ Variance</a:t>
            </a:r>
          </a:p>
          <a:p>
            <a:r>
              <a:rPr lang="en-US" sz="2400" dirty="0"/>
              <a:t>More natural measure is sqrt(L), i.e., “root mean squared error” (RMSE)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5778CA7B-ED9D-E26D-0151-0F9CB51B7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411" y="3411537"/>
            <a:ext cx="3695131" cy="10882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A90558-C695-AFDC-306B-7EADE66410AF}"/>
              </a:ext>
            </a:extLst>
          </p:cNvPr>
          <p:cNvSpPr txBox="1"/>
          <p:nvPr/>
        </p:nvSpPr>
        <p:spPr>
          <a:xfrm>
            <a:off x="457200" y="5849997"/>
            <a:ext cx="444649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Maybe guessing low is worse than guessing high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E4152-734E-6FE4-9E6D-7133606FE6B1}"/>
              </a:ext>
            </a:extLst>
          </p:cNvPr>
          <p:cNvSpPr txBox="1"/>
          <p:nvPr/>
        </p:nvSpPr>
        <p:spPr>
          <a:xfrm>
            <a:off x="5550168" y="1068532"/>
            <a:ext cx="322627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Scale often not linear</a:t>
            </a:r>
          </a:p>
        </p:txBody>
      </p:sp>
    </p:spTree>
    <p:extLst>
      <p:ext uri="{BB962C8B-B14F-4D97-AF65-F5344CB8AC3E}">
        <p14:creationId xmlns:p14="http://schemas.microsoft.com/office/powerpoint/2010/main" val="10591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3C42-A2E4-6923-A9A7-3C8E656F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0F62D-43CF-22AB-4208-67FFF30F0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78F7F8-98E9-7812-8D38-46A90BD6B16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90646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Grid search</a:t>
            </a:r>
          </a:p>
        </p:txBody>
      </p:sp>
      <p:pic>
        <p:nvPicPr>
          <p:cNvPr id="6" name="Picture 5" descr="A diagram of a algorithm&#10;&#10;AI-generated content may be incorrect.">
            <a:extLst>
              <a:ext uri="{FF2B5EF4-FFF2-40B4-BE49-F238E27FC236}">
                <a16:creationId xmlns:a16="http://schemas.microsoft.com/office/drawing/2014/main" id="{19DB5BC5-41CF-B376-CA04-8DFA16827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493" y="999911"/>
            <a:ext cx="4446495" cy="2369689"/>
          </a:xfrm>
          <a:prstGeom prst="rect">
            <a:avLst/>
          </a:prstGeom>
        </p:spPr>
      </p:pic>
      <p:pic>
        <p:nvPicPr>
          <p:cNvPr id="8" name="Picture 7" descr="A grid of red dots&#10;&#10;AI-generated content may be incorrect.">
            <a:extLst>
              <a:ext uri="{FF2B5EF4-FFF2-40B4-BE49-F238E27FC236}">
                <a16:creationId xmlns:a16="http://schemas.microsoft.com/office/drawing/2014/main" id="{D9353DBE-3E58-B91C-058A-D0001E7FF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180" y="3146974"/>
            <a:ext cx="3920876" cy="37110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6ED321-663E-5F49-FC76-2D69CB71D993}"/>
              </a:ext>
            </a:extLst>
          </p:cNvPr>
          <p:cNvSpPr txBox="1"/>
          <p:nvPr/>
        </p:nvSpPr>
        <p:spPr>
          <a:xfrm>
            <a:off x="190685" y="3544140"/>
            <a:ext cx="4446495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With multiple hyperparameters you need to test all </a:t>
            </a:r>
            <a:r>
              <a:rPr lang="en-US" sz="2400" b="1" dirty="0"/>
              <a:t>combinations</a:t>
            </a:r>
            <a:r>
              <a:rPr lang="en-US" sz="2400" dirty="0"/>
              <a:t> of the parameters.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800B8B-D927-AC36-E989-A37A329A056B}"/>
              </a:ext>
            </a:extLst>
          </p:cNvPr>
          <p:cNvSpPr txBox="1"/>
          <p:nvPr/>
        </p:nvSpPr>
        <p:spPr>
          <a:xfrm>
            <a:off x="457200" y="1906373"/>
            <a:ext cx="4027207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Grid search gets expensive fast…we’ll come back to this later in the course!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3222C-AA0C-C95C-32BD-CCAF84B03E4D}"/>
              </a:ext>
            </a:extLst>
          </p:cNvPr>
          <p:cNvSpPr txBox="1"/>
          <p:nvPr/>
        </p:nvSpPr>
        <p:spPr>
          <a:xfrm>
            <a:off x="358151" y="5073259"/>
            <a:ext cx="4446495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e.g., regularization, drop out, number of epochs, learning rate, momentum term, network sizes, architectural variants, …</a:t>
            </a:r>
          </a:p>
        </p:txBody>
      </p:sp>
    </p:spTree>
    <p:extLst>
      <p:ext uri="{BB962C8B-B14F-4D97-AF65-F5344CB8AC3E}">
        <p14:creationId xmlns:p14="http://schemas.microsoft.com/office/powerpoint/2010/main" val="208486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Kernels:</a:t>
            </a:r>
            <a:br>
              <a:rPr lang="en-US" dirty="0"/>
            </a:br>
            <a:r>
              <a:rPr lang="en-US" dirty="0"/>
              <a:t>On Beyond Feature Extraction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31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9995-D277-2489-8DFA-8C0BBE04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9627-8542-29C0-EC0E-76063007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Recall: gradient descent for linear regression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FA30424-BB96-1FCA-F742-3A56DEB3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45" y="1004956"/>
            <a:ext cx="3613918" cy="1064293"/>
          </a:xfrm>
          <a:prstGeom prst="rect">
            <a:avLst/>
          </a:prstGeom>
        </p:spPr>
      </p:pic>
      <p:pic>
        <p:nvPicPr>
          <p:cNvPr id="8" name="Picture 7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3DE2E04C-6A97-F18F-3583-86BC778E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145" t="82664" b="1"/>
          <a:stretch/>
        </p:blipFill>
        <p:spPr>
          <a:xfrm>
            <a:off x="4237530" y="2948356"/>
            <a:ext cx="4906470" cy="9612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BE729-AF48-B507-64F4-D955F257DC50}"/>
              </a:ext>
            </a:extLst>
          </p:cNvPr>
          <p:cNvSpPr txBox="1"/>
          <p:nvPr/>
        </p:nvSpPr>
        <p:spPr>
          <a:xfrm>
            <a:off x="100832" y="2300287"/>
            <a:ext cx="48140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t-1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EC8C1-25D8-A36B-9CB2-53CD06D07A23}"/>
              </a:ext>
            </a:extLst>
          </p:cNvPr>
          <p:cNvSpPr txBox="1"/>
          <p:nvPr/>
        </p:nvSpPr>
        <p:spPr>
          <a:xfrm>
            <a:off x="1115122" y="4594302"/>
            <a:ext cx="5977054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We know that this converges: it will eventually find the optimal </a:t>
            </a:r>
            <a:r>
              <a:rPr lang="en-US" sz="2800" b="1" dirty="0"/>
              <a:t>w* 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C7563-8C6A-7366-40A6-D136AC22BAF0}"/>
              </a:ext>
            </a:extLst>
          </p:cNvPr>
          <p:cNvSpPr txBox="1"/>
          <p:nvPr/>
        </p:nvSpPr>
        <p:spPr>
          <a:xfrm>
            <a:off x="1458022" y="5761037"/>
            <a:ext cx="6191715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does that tell us about </a:t>
            </a:r>
            <a:r>
              <a:rPr lang="en-US" sz="2800" b="1" dirty="0"/>
              <a:t>w* </a:t>
            </a:r>
            <a:r>
              <a:rPr lang="en-US" sz="28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599132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6EC3-206B-5560-79DA-600BE47F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48F8-4611-EFD6-754A-A08036A4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Recall: gradient descent for linear regression</a:t>
            </a:r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BA12C47C-ED25-5890-F5B4-569CADB5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545" y="1004956"/>
            <a:ext cx="3613918" cy="1064293"/>
          </a:xfrm>
          <a:prstGeom prst="rect">
            <a:avLst/>
          </a:prstGeom>
        </p:spPr>
      </p:pic>
      <p:pic>
        <p:nvPicPr>
          <p:cNvPr id="8" name="Picture 7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9F0D77FB-5A41-3B94-7332-46FB3847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145" t="82664" b="1"/>
          <a:stretch/>
        </p:blipFill>
        <p:spPr>
          <a:xfrm>
            <a:off x="4237530" y="2948356"/>
            <a:ext cx="4906470" cy="9612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9CF4FD-7F28-B4FC-01B7-C227DF981E3A}"/>
              </a:ext>
            </a:extLst>
          </p:cNvPr>
          <p:cNvSpPr txBox="1"/>
          <p:nvPr/>
        </p:nvSpPr>
        <p:spPr>
          <a:xfrm>
            <a:off x="100832" y="2300287"/>
            <a:ext cx="48140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8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8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t-1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25CA1-0DA2-8643-CE23-5BB87F08F79C}"/>
              </a:ext>
            </a:extLst>
          </p:cNvPr>
          <p:cNvSpPr txBox="1"/>
          <p:nvPr/>
        </p:nvSpPr>
        <p:spPr>
          <a:xfrm>
            <a:off x="713711" y="4458719"/>
            <a:ext cx="5977054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w* </a:t>
            </a:r>
            <a:r>
              <a:rPr lang="en-US" sz="2800" dirty="0"/>
              <a:t>must be equal a linear combination of gradient updates </a:t>
            </a:r>
            <a:r>
              <a:rPr lang="en-US" sz="2800" b="1" dirty="0"/>
              <a:t>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ABE16-B2D3-7935-1084-881B74A1ACFB}"/>
              </a:ext>
            </a:extLst>
          </p:cNvPr>
          <p:cNvSpPr txBox="1"/>
          <p:nvPr/>
        </p:nvSpPr>
        <p:spPr>
          <a:xfrm>
            <a:off x="1507892" y="5484848"/>
            <a:ext cx="6191715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Each </a:t>
            </a:r>
            <a:r>
              <a:rPr lang="en-US" sz="2800" b="1" dirty="0"/>
              <a:t>g </a:t>
            </a:r>
            <a:r>
              <a:rPr lang="en-US" sz="2800" dirty="0"/>
              <a:t>is a weighted combination of examples </a:t>
            </a:r>
            <a:r>
              <a:rPr lang="en-US" sz="2800" b="1" dirty="0"/>
              <a:t>x</a:t>
            </a:r>
            <a:r>
              <a:rPr lang="en-US" sz="2800" b="1" i="1" baseline="-25000" dirty="0"/>
              <a:t>i</a:t>
            </a:r>
            <a:r>
              <a:rPr lang="en-US" sz="2800" b="1" dirty="0"/>
              <a:t> </a:t>
            </a:r>
            <a:r>
              <a:rPr lang="en-US" sz="2800" dirty="0"/>
              <a:t>…. so …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810633-6809-EB4A-2D04-5573937062BD}"/>
              </a:ext>
            </a:extLst>
          </p:cNvPr>
          <p:cNvSpPr/>
          <p:nvPr/>
        </p:nvSpPr>
        <p:spPr>
          <a:xfrm>
            <a:off x="7401464" y="2948356"/>
            <a:ext cx="1293962" cy="961287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334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02F2-42D0-71ED-F74E-747B1D14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08B0-005E-CCC7-F605-61D89AB3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Recall: gradient descent for linear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D5E99-0F58-0648-7B54-631EF2DECDEE}"/>
              </a:ext>
            </a:extLst>
          </p:cNvPr>
          <p:cNvSpPr txBox="1"/>
          <p:nvPr/>
        </p:nvSpPr>
        <p:spPr>
          <a:xfrm>
            <a:off x="713711" y="4458719"/>
            <a:ext cx="5977054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w* </a:t>
            </a:r>
            <a:r>
              <a:rPr lang="en-US" sz="2800" dirty="0"/>
              <a:t>must be equal a linear combination of gradient updates </a:t>
            </a:r>
            <a:r>
              <a:rPr lang="en-US" sz="2800" b="1" dirty="0"/>
              <a:t>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48A33-BF4D-FDF0-8529-7E0A91F1AC04}"/>
              </a:ext>
            </a:extLst>
          </p:cNvPr>
          <p:cNvSpPr txBox="1"/>
          <p:nvPr/>
        </p:nvSpPr>
        <p:spPr>
          <a:xfrm>
            <a:off x="1507892" y="5484848"/>
            <a:ext cx="6191715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Each </a:t>
            </a:r>
            <a:r>
              <a:rPr lang="en-US" sz="2800" b="1" dirty="0"/>
              <a:t>g </a:t>
            </a:r>
            <a:r>
              <a:rPr lang="en-US" sz="2800" dirty="0"/>
              <a:t>is a weighted combination of examples </a:t>
            </a:r>
            <a:r>
              <a:rPr lang="en-US" sz="2800" b="1" dirty="0"/>
              <a:t>x</a:t>
            </a:r>
            <a:r>
              <a:rPr lang="en-US" sz="2800" i="1" baseline="-25000" dirty="0"/>
              <a:t>i</a:t>
            </a:r>
            <a:r>
              <a:rPr lang="en-US" sz="2800" b="1" dirty="0"/>
              <a:t> </a:t>
            </a:r>
            <a:r>
              <a:rPr lang="en-US" sz="2800" dirty="0"/>
              <a:t>…. so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36AD22-3A64-32A8-722B-5C84E2C79BA6}"/>
              </a:ext>
            </a:extLst>
          </p:cNvPr>
          <p:cNvSpPr txBox="1"/>
          <p:nvPr/>
        </p:nvSpPr>
        <p:spPr>
          <a:xfrm>
            <a:off x="618272" y="1168984"/>
            <a:ext cx="7192227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w* </a:t>
            </a:r>
            <a:r>
              <a:rPr lang="en-US" sz="2800" dirty="0"/>
              <a:t>must be expressible as a linear combination of examples</a:t>
            </a:r>
            <a:endParaRPr lang="en-US" sz="2800" b="1" dirty="0"/>
          </a:p>
        </p:txBody>
      </p:sp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6567C402-842E-4327-44D6-A95187585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195113"/>
            <a:ext cx="7772400" cy="201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757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63B1-1623-EBB2-5667-A6A8E9361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488F-C8ED-DBD4-4642-4F3F262C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Recall: gradient descent for linear regression</a:t>
            </a:r>
          </a:p>
        </p:txBody>
      </p:sp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37E61E95-A307-203E-F343-F94CB4617D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08"/>
          <a:stretch/>
        </p:blipFill>
        <p:spPr>
          <a:xfrm>
            <a:off x="469900" y="2128144"/>
            <a:ext cx="7772400" cy="14453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FEE348-A8AC-7FF4-630F-24C74C050958}"/>
              </a:ext>
            </a:extLst>
          </p:cNvPr>
          <p:cNvSpPr txBox="1"/>
          <p:nvPr/>
        </p:nvSpPr>
        <p:spPr>
          <a:xfrm>
            <a:off x="542778" y="1109662"/>
            <a:ext cx="5581977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does that tell us about </a:t>
            </a:r>
            <a:r>
              <a:rPr lang="en-US" sz="2800" b="1" dirty="0"/>
              <a:t>w* </a:t>
            </a:r>
            <a:r>
              <a:rPr lang="en-US" sz="2800" dirty="0"/>
              <a:t>? </a:t>
            </a:r>
          </a:p>
          <a:p>
            <a:r>
              <a:rPr lang="en-US" sz="2800" dirty="0"/>
              <a:t>Maybe we don’t even need it!</a:t>
            </a:r>
          </a:p>
        </p:txBody>
      </p:sp>
      <p:pic>
        <p:nvPicPr>
          <p:cNvPr id="7" name="Picture 6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29F3505D-E06D-6F3F-14F2-A937AEEB6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007"/>
          <a:stretch/>
        </p:blipFill>
        <p:spPr>
          <a:xfrm>
            <a:off x="698500" y="3573462"/>
            <a:ext cx="7747000" cy="2090738"/>
          </a:xfrm>
          <a:prstGeom prst="rect">
            <a:avLst/>
          </a:prstGeom>
        </p:spPr>
      </p:pic>
      <p:sp>
        <p:nvSpPr>
          <p:cNvPr id="8" name="Up Arrow 7">
            <a:extLst>
              <a:ext uri="{FF2B5EF4-FFF2-40B4-BE49-F238E27FC236}">
                <a16:creationId xmlns:a16="http://schemas.microsoft.com/office/drawing/2014/main" id="{7A4660DA-98CD-0059-49E3-F367C9E409AA}"/>
              </a:ext>
            </a:extLst>
          </p:cNvPr>
          <p:cNvSpPr/>
          <p:nvPr/>
        </p:nvSpPr>
        <p:spPr>
          <a:xfrm rot="1598382">
            <a:off x="6006807" y="5090191"/>
            <a:ext cx="304800" cy="766762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28A9CDA6-3C37-95C4-2B31-91A47ADD1DB9}"/>
              </a:ext>
            </a:extLst>
          </p:cNvPr>
          <p:cNvSpPr/>
          <p:nvPr/>
        </p:nvSpPr>
        <p:spPr>
          <a:xfrm>
            <a:off x="6889750" y="5283200"/>
            <a:ext cx="304800" cy="766762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BE5B8-BBC9-62B3-C1F1-A1800D246B36}"/>
              </a:ext>
            </a:extLst>
          </p:cNvPr>
          <p:cNvSpPr txBox="1"/>
          <p:nvPr/>
        </p:nvSpPr>
        <p:spPr>
          <a:xfrm>
            <a:off x="6692900" y="6062662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Similarity of  </a:t>
            </a:r>
            <a:r>
              <a:rPr lang="en-US" b="1" dirty="0"/>
              <a:t>x </a:t>
            </a:r>
            <a:r>
              <a:rPr lang="en-US" dirty="0"/>
              <a:t>to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43219-C843-9456-62AF-517384F4AAF8}"/>
              </a:ext>
            </a:extLst>
          </p:cNvPr>
          <p:cNvSpPr txBox="1"/>
          <p:nvPr/>
        </p:nvSpPr>
        <p:spPr>
          <a:xfrm>
            <a:off x="3009900" y="5884588"/>
            <a:ext cx="345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prediction for </a:t>
            </a:r>
            <a:r>
              <a:rPr lang="en-US" i="1" dirty="0"/>
              <a:t>y </a:t>
            </a:r>
            <a:r>
              <a:rPr lang="en-US" dirty="0"/>
              <a:t>based on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D739DC-6748-B592-FDB2-72DCA9D2A430}"/>
              </a:ext>
            </a:extLst>
          </p:cNvPr>
          <p:cNvSpPr txBox="1"/>
          <p:nvPr/>
        </p:nvSpPr>
        <p:spPr>
          <a:xfrm>
            <a:off x="6889750" y="3695700"/>
            <a:ext cx="203835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Nearest neighbor like predictor</a:t>
            </a:r>
          </a:p>
        </p:txBody>
      </p:sp>
    </p:spTree>
    <p:extLst>
      <p:ext uri="{BB962C8B-B14F-4D97-AF65-F5344CB8AC3E}">
        <p14:creationId xmlns:p14="http://schemas.microsoft.com/office/powerpoint/2010/main" val="17182024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/>
      <p:bldP spid="13" grpId="0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CA233-7BC1-3945-5754-95253FC4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DFFA-DEAB-9F44-C0DB-C8F305B2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Recall: gradient descent for linear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C9D52-E272-FCF1-5F3A-373764DB490F}"/>
              </a:ext>
            </a:extLst>
          </p:cNvPr>
          <p:cNvSpPr txBox="1"/>
          <p:nvPr/>
        </p:nvSpPr>
        <p:spPr>
          <a:xfrm>
            <a:off x="606380" y="1384427"/>
            <a:ext cx="678502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Now consider this with feature extraction </a:t>
            </a:r>
            <a:r>
              <a:rPr lang="en-US" sz="2800" i="1" dirty="0" err="1"/>
              <a:t>ɸ</a:t>
            </a:r>
            <a:endParaRPr lang="en-US" sz="2800" i="1" dirty="0"/>
          </a:p>
        </p:txBody>
      </p:sp>
      <p:pic>
        <p:nvPicPr>
          <p:cNvPr id="15" name="Picture 14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BB605062-7BB2-5E2A-C1F0-5DB15008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66"/>
          <a:stretch/>
        </p:blipFill>
        <p:spPr>
          <a:xfrm>
            <a:off x="279400" y="2454088"/>
            <a:ext cx="7772400" cy="30194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F13E49-E004-3928-B348-397618D748A3}"/>
              </a:ext>
            </a:extLst>
          </p:cNvPr>
          <p:cNvSpPr txBox="1"/>
          <p:nvPr/>
        </p:nvSpPr>
        <p:spPr>
          <a:xfrm>
            <a:off x="6826250" y="3733800"/>
            <a:ext cx="203835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Nearest neighbor like predictor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23FCF9-E1A4-B890-BA86-C020181FC981}"/>
              </a:ext>
            </a:extLst>
          </p:cNvPr>
          <p:cNvSpPr txBox="1"/>
          <p:nvPr/>
        </p:nvSpPr>
        <p:spPr>
          <a:xfrm>
            <a:off x="4619624" y="5522258"/>
            <a:ext cx="430847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At prediction time </a:t>
            </a:r>
            <a:r>
              <a:rPr lang="en-US" b="1" dirty="0"/>
              <a:t>all </a:t>
            </a:r>
            <a:r>
              <a:rPr lang="en-US" dirty="0"/>
              <a:t>you do is compute dot-product similarity </a:t>
            </a:r>
            <a:r>
              <a:rPr lang="en-US" b="1" dirty="0"/>
              <a:t>after</a:t>
            </a:r>
            <a:r>
              <a:rPr lang="en-US" dirty="0"/>
              <a:t> applying </a:t>
            </a:r>
            <a:r>
              <a:rPr lang="en-US" i="1" dirty="0" err="1"/>
              <a:t>ɸ</a:t>
            </a:r>
            <a:r>
              <a:rPr lang="en-US" dirty="0"/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49868-79BD-7B83-836D-78B8B95BB46F}"/>
              </a:ext>
            </a:extLst>
          </p:cNvPr>
          <p:cNvSpPr txBox="1"/>
          <p:nvPr/>
        </p:nvSpPr>
        <p:spPr>
          <a:xfrm>
            <a:off x="466724" y="5472572"/>
            <a:ext cx="33401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Definition: a </a:t>
            </a:r>
            <a:r>
              <a:rPr lang="en-US" b="1" dirty="0"/>
              <a:t>kernel </a:t>
            </a:r>
            <a:r>
              <a:rPr lang="en-US" dirty="0"/>
              <a:t>function is </a:t>
            </a:r>
          </a:p>
        </p:txBody>
      </p:sp>
      <p:pic>
        <p:nvPicPr>
          <p:cNvPr id="20" name="Picture 19" descr="A black symbols on a white background&#10;&#10;AI-generated content may be incorrect.">
            <a:extLst>
              <a:ext uri="{FF2B5EF4-FFF2-40B4-BE49-F238E27FC236}">
                <a16:creationId xmlns:a16="http://schemas.microsoft.com/office/drawing/2014/main" id="{48C10066-D121-8A3E-5D28-4C7A1C3C9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5905500"/>
            <a:ext cx="4051300" cy="66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7BD61B-6094-8391-477C-9D9A25259033}"/>
              </a:ext>
            </a:extLst>
          </p:cNvPr>
          <p:cNvSpPr txBox="1"/>
          <p:nvPr/>
        </p:nvSpPr>
        <p:spPr>
          <a:xfrm>
            <a:off x="4165600" y="1938944"/>
            <a:ext cx="421639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“Kernel functions are all you need!” ™</a:t>
            </a:r>
          </a:p>
        </p:txBody>
      </p:sp>
    </p:spTree>
    <p:extLst>
      <p:ext uri="{BB962C8B-B14F-4D97-AF65-F5344CB8AC3E}">
        <p14:creationId xmlns:p14="http://schemas.microsoft.com/office/powerpoint/2010/main" val="30428912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0A0C4-63EF-0358-14CA-B5E4FB38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85872EE-20A7-ABBC-F7EC-3199FF95B222}"/>
              </a:ext>
            </a:extLst>
          </p:cNvPr>
          <p:cNvGrpSpPr/>
          <p:nvPr/>
        </p:nvGrpSpPr>
        <p:grpSpPr>
          <a:xfrm>
            <a:off x="752948" y="884692"/>
            <a:ext cx="4104330" cy="1444966"/>
            <a:chOff x="752948" y="1027570"/>
            <a:chExt cx="4104330" cy="1444966"/>
          </a:xfrm>
        </p:grpSpPr>
        <p:graphicFrame>
          <p:nvGraphicFramePr>
            <p:cNvPr id="707" name="Table 1">
              <a:extLst>
                <a:ext uri="{FF2B5EF4-FFF2-40B4-BE49-F238E27FC236}">
                  <a16:creationId xmlns:a16="http://schemas.microsoft.com/office/drawing/2014/main" id="{98A87FD3-24D0-9427-5E65-7A0E957CED58}"/>
                </a:ext>
              </a:extLst>
            </p:cNvPr>
            <p:cNvGraphicFramePr/>
            <p:nvPr/>
          </p:nvGraphicFramePr>
          <p:xfrm>
            <a:off x="752948" y="1027570"/>
            <a:ext cx="4104330" cy="1444966"/>
          </p:xfrm>
          <a:graphic>
            <a:graphicData uri="http://schemas.openxmlformats.org/drawingml/2006/table">
              <a:tbl>
                <a:tblPr firstRow="1" bandRow="1"/>
                <a:tblGrid>
                  <a:gridCol w="1101513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34148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66133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35266">
                  <a:tc>
                    <a:txBody>
                      <a:bodyPr/>
                      <a:lstStyle/>
                      <a:p>
                        <a:pPr indent="228600"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x</a:t>
                        </a:r>
                      </a:p>
                    </a:txBody>
                    <a:tcPr marL="0" marR="0" marT="0" marB="0" horzOverflow="overflow">
                      <a:lnL w="0">
                        <a:miter lim="400000"/>
                      </a:lnL>
                      <a:lnT w="76200">
                        <a:solidFill>
                          <a:srgbClr val="000000"/>
                        </a:solidFill>
                        <a:miter lim="400000"/>
                      </a:lnT>
                      <a:lnB w="76200">
                        <a:solidFill>
                          <a:srgbClr val="000000"/>
                        </a:solidFill>
                      </a:lnB>
                      <a:solidFill>
                        <a:srgbClr val="DDDDD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y</a:t>
                        </a:r>
                      </a:p>
                    </a:txBody>
                    <a:tcPr marL="0" marR="0" marT="0" marB="0" horzOverflow="overflow">
                      <a:lnT w="76200">
                        <a:solidFill>
                          <a:srgbClr val="000000"/>
                        </a:solidFill>
                        <a:miter lim="400000"/>
                      </a:lnT>
                      <a:lnB w="76200">
                        <a:solidFill>
                          <a:srgbClr val="000000"/>
                        </a:solidFill>
                      </a:lnB>
                      <a:solidFill>
                        <a:srgbClr val="DDDDD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 b="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f(x)</a:t>
                        </a:r>
                      </a:p>
                    </a:txBody>
                    <a:tcPr marL="0" marR="0" marT="0" marB="0" horzOverflow="overflow">
                      <a:lnR w="12700">
                        <a:solidFill>
                          <a:srgbClr val="FFFFFF"/>
                        </a:solidFill>
                        <a:miter lim="400000"/>
                      </a:lnR>
                      <a:lnT w="76200">
                        <a:solidFill>
                          <a:srgbClr val="000000"/>
                        </a:solidFill>
                        <a:miter lim="400000"/>
                      </a:lnT>
                      <a:lnB w="76200">
                        <a:solidFill>
                          <a:srgbClr val="000000"/>
                        </a:solidFill>
                      </a:lnB>
                      <a:solidFill>
                        <a:srgbClr val="DDDDD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1524">
                  <a:tc>
                    <a:txBody>
                      <a:bodyPr/>
                      <a:lstStyle/>
                      <a:p>
                        <a:pPr indent="228600">
                          <a:defRPr sz="5000"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 sz="1900"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0" marR="0" marT="0" marB="0" horzOverflow="overflow">
                      <a:lnT w="76200">
                        <a:solidFill>
                          <a:srgbClr val="000000"/>
                        </a:solidFill>
                      </a:lnT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anchor="b" horzOverflow="overflow">
                      <a:lnT w="76200">
                        <a:solidFill>
                          <a:srgbClr val="000000"/>
                        </a:solidFill>
                      </a:lnT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anchor="b" horzOverflow="overflow">
                      <a:lnT w="76200">
                        <a:solidFill>
                          <a:srgbClr val="000000"/>
                        </a:solidFill>
                      </a:lnT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19088">
                  <a:tc>
                    <a:txBody>
                      <a:bodyPr/>
                      <a:lstStyle/>
                      <a:p>
                        <a:pPr indent="228600">
                          <a:defRPr sz="5000"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 sz="1900"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$300,500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19088">
                  <a:tc>
                    <a:txBody>
                      <a:bodyPr/>
                      <a:lstStyle/>
                      <a:p>
                        <a:pPr indent="228600">
                          <a:defRPr sz="5000">
                            <a:latin typeface="+mn-lt"/>
                            <a:ea typeface="+mn-ea"/>
                            <a:cs typeface="+mn-cs"/>
                            <a:sym typeface="Helvetica"/>
                          </a:defRPr>
                        </a:pPr>
                        <a:endParaRPr sz="1900">
                          <a:latin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$300,000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tc>
                    <a:txBody>
                      <a:bodyPr/>
                      <a:lstStyle/>
                      <a:p>
                        <a:pPr indent="228600">
                          <a:defRPr sz="1800"/>
                        </a:pPr>
                        <a:r>
                          <a:rPr sz="1900" dirty="0">
                            <a:latin typeface="Calibri" panose="020F0502020204030204" pitchFamily="34" charset="0"/>
                            <a:ea typeface="+mn-ea"/>
                            <a:cs typeface="Calibri" panose="020F0502020204030204" pitchFamily="34" charset="0"/>
                            <a:sym typeface="Helvetica"/>
                          </a:rPr>
                          <a:t>$400,000</a:t>
                        </a:r>
                      </a:p>
                    </a:txBody>
                    <a:tcPr marL="0" marR="0" marT="0" marB="0" horzOverflow="overflow"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pic>
          <p:nvPicPr>
            <p:cNvPr id="708" name="house.pdf" descr="house.pdf">
              <a:extLst>
                <a:ext uri="{FF2B5EF4-FFF2-40B4-BE49-F238E27FC236}">
                  <a16:creationId xmlns:a16="http://schemas.microsoft.com/office/drawing/2014/main" id="{2F677459-89B0-99F6-0522-7BE07336F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146" y="1583036"/>
              <a:ext cx="754841" cy="762537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714" name="Rectangle 9">
            <a:extLst>
              <a:ext uri="{FF2B5EF4-FFF2-40B4-BE49-F238E27FC236}">
                <a16:creationId xmlns:a16="http://schemas.microsoft.com/office/drawing/2014/main" id="{9A0F85CD-1BE4-7450-A8A9-9CDB8CBBE465}"/>
              </a:ext>
            </a:extLst>
          </p:cNvPr>
          <p:cNvSpPr txBox="1"/>
          <p:nvPr/>
        </p:nvSpPr>
        <p:spPr>
          <a:xfrm>
            <a:off x="687166" y="380483"/>
            <a:ext cx="34689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7145" rIns="17145">
            <a:spAutoFit/>
          </a:bodyPr>
          <a:lstStyle>
            <a:lvl1pPr algn="l">
              <a:defRPr sz="3600" b="1" cap="all" spc="600">
                <a:solidFill>
                  <a:schemeClr val="accent5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endParaRPr sz="1350" dirty="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88CE7BE-4B9E-600F-B6A2-83DAC6852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666" y="5645"/>
            <a:ext cx="5529333" cy="7409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30BB8D-BA84-B53E-A8F3-5311ABD00866}"/>
              </a:ext>
            </a:extLst>
          </p:cNvPr>
          <p:cNvSpPr txBox="1"/>
          <p:nvPr/>
        </p:nvSpPr>
        <p:spPr>
          <a:xfrm>
            <a:off x="752948" y="2610652"/>
            <a:ext cx="7700289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Not always useful enough!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Number of houses at distance </a:t>
            </a:r>
            <a:r>
              <a:rPr lang="en-US" sz="2400" i="1" dirty="0"/>
              <a:t>d = O(d</a:t>
            </a:r>
            <a:r>
              <a:rPr lang="en-US" sz="2400" i="1" baseline="30000" dirty="0"/>
              <a:t>2</a:t>
            </a:r>
            <a:r>
              <a:rPr lang="en-US" sz="2400" i="1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…</a:t>
            </a:r>
          </a:p>
          <a:p>
            <a:r>
              <a:rPr lang="en-US" sz="2400" dirty="0"/>
              <a:t>Simple fix: replace </a:t>
            </a:r>
            <a:r>
              <a:rPr lang="en-US" sz="2400" b="1" dirty="0"/>
              <a:t>x </a:t>
            </a:r>
            <a:r>
              <a:rPr lang="en-US" sz="2400" dirty="0"/>
              <a:t>with </a:t>
            </a:r>
            <a:r>
              <a:rPr lang="en-US" sz="2400" dirty="0" err="1"/>
              <a:t>ɸ</a:t>
            </a:r>
            <a:r>
              <a:rPr lang="en-US" sz="2400" dirty="0"/>
              <a:t>(</a:t>
            </a:r>
            <a:r>
              <a:rPr lang="en-US" sz="2400" b="1" dirty="0"/>
              <a:t>x</a:t>
            </a:r>
            <a:r>
              <a:rPr lang="en-US" sz="2400" dirty="0"/>
              <a:t>)!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4DA032-E194-15D8-CE9C-F9EBAC9BF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25" y="4822647"/>
            <a:ext cx="7772400" cy="76007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ADC86E6-7141-FE2B-F651-645A7DDFB118}"/>
              </a:ext>
            </a:extLst>
          </p:cNvPr>
          <p:cNvSpPr txBox="1"/>
          <p:nvPr/>
        </p:nvSpPr>
        <p:spPr>
          <a:xfrm>
            <a:off x="729136" y="5582723"/>
            <a:ext cx="7700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</a:t>
            </a:r>
            <a:r>
              <a:rPr lang="en-US" sz="2400" b="1" dirty="0" err="1"/>
              <a:t>w</a:t>
            </a:r>
            <a:r>
              <a:rPr lang="en-US" sz="2400" baseline="30000" dirty="0" err="1"/>
              <a:t>T</a:t>
            </a:r>
            <a:r>
              <a:rPr lang="en-US" sz="2400" dirty="0"/>
              <a:t> </a:t>
            </a:r>
            <a:r>
              <a:rPr lang="en-US" sz="2400" dirty="0" err="1"/>
              <a:t>ɸ</a:t>
            </a:r>
            <a:r>
              <a:rPr lang="en-US" sz="2400" dirty="0"/>
              <a:t>(</a:t>
            </a:r>
            <a:r>
              <a:rPr lang="en-US" sz="2400" b="1" dirty="0"/>
              <a:t>x</a:t>
            </a:r>
            <a:r>
              <a:rPr lang="en-US" sz="2400" dirty="0"/>
              <a:t>) can fit any degree-2 polynomial…</a:t>
            </a:r>
            <a:r>
              <a:rPr lang="en-US" sz="2400" b="1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C6AA72-CD08-CAF1-FB64-6BA8CCAA9E86}"/>
              </a:ext>
            </a:extLst>
          </p:cNvPr>
          <p:cNvSpPr txBox="1"/>
          <p:nvPr/>
        </p:nvSpPr>
        <p:spPr>
          <a:xfrm>
            <a:off x="711792" y="4238748"/>
            <a:ext cx="7700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Example:</a:t>
            </a:r>
            <a:endParaRPr 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632FD9-65E4-D66F-783E-6E81EE59C935}"/>
              </a:ext>
            </a:extLst>
          </p:cNvPr>
          <p:cNvSpPr txBox="1"/>
          <p:nvPr/>
        </p:nvSpPr>
        <p:spPr>
          <a:xfrm>
            <a:off x="286649" y="90624"/>
            <a:ext cx="278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0564546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58C1-7BBA-D27E-0D37-07826722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1861AB6D-FE46-C2F1-AA73-BEDFF87A0B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The kernel “trick”</a:t>
            </a:r>
          </a:p>
        </p:txBody>
      </p:sp>
      <p:sp>
        <p:nvSpPr>
          <p:cNvPr id="3078" name="Content Placeholder 29">
            <a:extLst>
              <a:ext uri="{FF2B5EF4-FFF2-40B4-BE49-F238E27FC236}">
                <a16:creationId xmlns:a16="http://schemas.microsoft.com/office/drawing/2014/main" id="{9291A0C9-7E2E-1652-EBC8-6F1628813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4315"/>
            <a:ext cx="3668233" cy="1948912"/>
          </a:xfrm>
        </p:spPr>
        <p:txBody>
          <a:bodyPr>
            <a:normAutofit fontScale="92500" lnSpcReduction="10000"/>
          </a:bodyPr>
          <a:lstStyle/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Polynomial kernel: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for d=2</a:t>
            </a:r>
          </a:p>
          <a:p>
            <a:pPr>
              <a:buFontTx/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  <p:graphicFrame>
        <p:nvGraphicFramePr>
          <p:cNvPr id="3075" name="Object 7">
            <a:extLst>
              <a:ext uri="{FF2B5EF4-FFF2-40B4-BE49-F238E27FC236}">
                <a16:creationId xmlns:a16="http://schemas.microsoft.com/office/drawing/2014/main" id="{B6DBB611-08B3-BF2F-7F10-5773BB339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3780" y="1692143"/>
          <a:ext cx="35194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228600" progId="Equation.3">
                  <p:embed/>
                </p:oleObj>
              </mc:Choice>
              <mc:Fallback>
                <p:oleObj name="Equation" r:id="rId3" imgW="1257120" imgH="228600" progId="Equation.3">
                  <p:embed/>
                  <p:pic>
                    <p:nvPicPr>
                      <p:cNvPr id="3075" name="Object 7">
                        <a:extLst>
                          <a:ext uri="{FF2B5EF4-FFF2-40B4-BE49-F238E27FC236}">
                            <a16:creationId xmlns:a16="http://schemas.microsoft.com/office/drawing/2014/main" id="{B6DBB611-08B3-BF2F-7F10-5773BB339B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780" y="1692143"/>
                        <a:ext cx="3519487" cy="638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6C6E85-EFA9-4A1E-E1DE-118F1BE1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244D8B-0C25-52C8-ABC0-BDA7534353ED}"/>
                  </a:ext>
                </a:extLst>
              </p:cNvPr>
              <p:cNvSpPr txBox="1"/>
              <p:nvPr/>
            </p:nvSpPr>
            <p:spPr>
              <a:xfrm>
                <a:off x="1260399" y="2513717"/>
                <a:ext cx="6066761" cy="571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mr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mr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1,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∙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b="0" i="1" smtClean="0">
                                          <a:latin typeface="Cambria Math" charset="0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1,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b="0" i="1" smtClean="0">
                                          <a:latin typeface="Cambria Math" charset="0"/>
                                        </a:rPr>
                                        <m:t>′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800" i="1">
                                  <a:latin typeface="Cambria Math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399" y="2513717"/>
                <a:ext cx="6066761" cy="57143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923DC4-BCB7-37CC-F6A2-4ACB154C7501}"/>
                  </a:ext>
                </a:extLst>
              </p:cNvPr>
              <p:cNvSpPr txBox="1"/>
              <p:nvPr/>
            </p:nvSpPr>
            <p:spPr>
              <a:xfrm>
                <a:off x="1092052" y="3342331"/>
                <a:ext cx="606676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charset="0"/>
                            </a:rPr>
                            <m:t>= </m:t>
                          </m:r>
                          <m:d>
                            <m:dPr>
                              <m:ctrlPr>
                                <a:rPr lang="mr-I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52" y="3342331"/>
                <a:ext cx="6066761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9E16B4-CD93-0BD9-81ED-9FA1D46E1270}"/>
                  </a:ext>
                </a:extLst>
              </p:cNvPr>
              <p:cNvSpPr txBox="1"/>
              <p:nvPr/>
            </p:nvSpPr>
            <p:spPr>
              <a:xfrm>
                <a:off x="893966" y="3982678"/>
                <a:ext cx="73560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800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+1</m:t>
                        </m:r>
                      </m:e>
                    </m:d>
                    <m:d>
                      <m:dPr>
                        <m:ctrlPr>
                          <a:rPr lang="mr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charset="0"/>
                          </a:rPr>
                          <m:t>+1</m:t>
                        </m:r>
                      </m:e>
                    </m:d>
                  </m:oMath>
                </a14:m>
                <a:endParaRPr lang="en-US" sz="2800" b="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66" y="3982678"/>
                <a:ext cx="7356067" cy="430887"/>
              </a:xfrm>
              <a:prstGeom prst="rect">
                <a:avLst/>
              </a:prstGeom>
              <a:blipFill rotWithShape="0">
                <a:blip r:embed="rId8"/>
                <a:stretch>
                  <a:fillRect l="-2985"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889503-A86C-158F-2256-2DC37D1689DB}"/>
                  </a:ext>
                </a:extLst>
              </p:cNvPr>
              <p:cNvSpPr txBox="1"/>
              <p:nvPr/>
            </p:nvSpPr>
            <p:spPr>
              <a:xfrm>
                <a:off x="0" y="4602669"/>
                <a:ext cx="96012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=</m:t>
                        </m:r>
                        <m:d>
                          <m:dPr>
                            <m:ctrlPr>
                              <a:rPr lang="mr-I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0" dirty="0"/>
                  <a:t>+2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US" sz="2800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 charset="0"/>
                      </a:rPr>
                      <m:t>+</m:t>
                    </m:r>
                    <m:r>
                      <a:rPr lang="en-US" sz="2800" b="0" i="1" smtClean="0">
                        <a:latin typeface="Cambria Math" charset="0"/>
                      </a:rPr>
                      <m:t>2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charset="0"/>
                          </a:rPr>
                          <m:t>(</m:t>
                        </m:r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  <m:r>
                          <a:rPr lang="en-US" sz="2800" i="1">
                            <a:latin typeface="Cambria Math" charset="0"/>
                          </a:rPr>
                          <m:t>′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800" b="0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</a:rPr>
                          <m:t> </m:t>
                        </m:r>
                        <m:d>
                          <m:dPr>
                            <m:ctrlPr>
                              <a:rPr lang="mr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latin typeface="Cambria Math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0" dirty="0"/>
                  <a:t>+2(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  <m:r>
                          <a:rPr lang="en-US" sz="2800" i="1">
                            <a:latin typeface="Cambria Math" charset="0"/>
                          </a:rPr>
                          <m:t>′</m:t>
                        </m:r>
                      </m:e>
                      <m:sub>
                        <m:r>
                          <a:rPr lang="en-US" sz="2800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800" b="0" dirty="0"/>
                  <a:t>+1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02669"/>
                <a:ext cx="9601200" cy="430887"/>
              </a:xfrm>
              <a:prstGeom prst="rect">
                <a:avLst/>
              </a:prstGeom>
              <a:blipFill rotWithShape="0">
                <a:blip r:embed="rId9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CF75D1-C714-1315-D494-A6762769A7C6}"/>
                  </a:ext>
                </a:extLst>
              </p:cNvPr>
              <p:cNvSpPr txBox="1"/>
              <p:nvPr/>
            </p:nvSpPr>
            <p:spPr>
              <a:xfrm>
                <a:off x="-180755" y="5222660"/>
                <a:ext cx="9505507" cy="5512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r-IN" sz="32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≅</m:t>
                      </m:r>
                      <m:d>
                        <m:dPr>
                          <m:begChr m:val="⟨"/>
                          <m:endChr m:val="⟩"/>
                          <m:ctrlPr>
                            <a:rPr lang="mr-I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1,</m:t>
                              </m:r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3200" b="0" i="1" smtClean="0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32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1,</m:t>
                              </m:r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1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3200" i="1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755" y="5222660"/>
                <a:ext cx="9505507" cy="551241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B1A669-AE69-B5E8-99ED-5C80B67FD8C0}"/>
                  </a:ext>
                </a:extLst>
              </p:cNvPr>
              <p:cNvSpPr txBox="1"/>
              <p:nvPr/>
            </p:nvSpPr>
            <p:spPr>
              <a:xfrm>
                <a:off x="-187843" y="5927727"/>
                <a:ext cx="9505507" cy="440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1,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∙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1,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1,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7843" y="5927727"/>
                <a:ext cx="9505507" cy="440826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11AAC6-620F-DFCC-4A8E-39E14701941C}"/>
              </a:ext>
            </a:extLst>
          </p:cNvPr>
          <p:cNvCxnSpPr/>
          <p:nvPr/>
        </p:nvCxnSpPr>
        <p:spPr>
          <a:xfrm flipH="1">
            <a:off x="0" y="5369442"/>
            <a:ext cx="9144000" cy="2658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86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3B36-8DCE-5450-C873-F5E660D63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>
            <a:extLst>
              <a:ext uri="{FF2B5EF4-FFF2-40B4-BE49-F238E27FC236}">
                <a16:creationId xmlns:a16="http://schemas.microsoft.com/office/drawing/2014/main" id="{3DCE8E1A-A98A-479F-373B-A77E2F70F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The kernel “trick”</a:t>
            </a:r>
          </a:p>
        </p:txBody>
      </p:sp>
      <p:sp>
        <p:nvSpPr>
          <p:cNvPr id="3078" name="Content Placeholder 29">
            <a:extLst>
              <a:ext uri="{FF2B5EF4-FFF2-40B4-BE49-F238E27FC236}">
                <a16:creationId xmlns:a16="http://schemas.microsoft.com/office/drawing/2014/main" id="{7EE74003-CCAC-9A76-23EF-8C8A7668F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413775"/>
            <a:ext cx="3668233" cy="1948912"/>
          </a:xfrm>
        </p:spPr>
        <p:txBody>
          <a:bodyPr>
            <a:normAutofit/>
          </a:bodyPr>
          <a:lstStyle/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Polynomial kernel:</a:t>
            </a:r>
          </a:p>
          <a:p>
            <a:endParaRPr lang="en-US" dirty="0">
              <a:latin typeface="Arial" charset="0"/>
            </a:endParaRPr>
          </a:p>
          <a:p>
            <a:pPr>
              <a:buFontTx/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</p:txBody>
      </p:sp>
      <p:graphicFrame>
        <p:nvGraphicFramePr>
          <p:cNvPr id="3075" name="Object 7">
            <a:extLst>
              <a:ext uri="{FF2B5EF4-FFF2-40B4-BE49-F238E27FC236}">
                <a16:creationId xmlns:a16="http://schemas.microsoft.com/office/drawing/2014/main" id="{401C2E45-9931-A58A-CD45-14100753D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3780" y="1692143"/>
          <a:ext cx="35194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228600" progId="Equation.3">
                  <p:embed/>
                </p:oleObj>
              </mc:Choice>
              <mc:Fallback>
                <p:oleObj name="Equation" r:id="rId3" imgW="1257120" imgH="228600" progId="Equation.3">
                  <p:embed/>
                  <p:pic>
                    <p:nvPicPr>
                      <p:cNvPr id="3075" name="Object 7">
                        <a:extLst>
                          <a:ext uri="{FF2B5EF4-FFF2-40B4-BE49-F238E27FC236}">
                            <a16:creationId xmlns:a16="http://schemas.microsoft.com/office/drawing/2014/main" id="{401C2E45-9931-A58A-CD45-14100753D1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780" y="1692143"/>
                        <a:ext cx="3519487" cy="638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92D5B6-D46A-AA86-00CB-51989662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D68A1-DB5E-A17F-C303-E761CC189E9C}"/>
              </a:ext>
            </a:extLst>
          </p:cNvPr>
          <p:cNvSpPr txBox="1"/>
          <p:nvPr/>
        </p:nvSpPr>
        <p:spPr>
          <a:xfrm>
            <a:off x="787400" y="3022600"/>
            <a:ext cx="7543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Using d=2 is just as expressive as augmenting </a:t>
            </a:r>
            <a:r>
              <a:rPr lang="en-US" sz="2400" b="1" dirty="0"/>
              <a:t>x </a:t>
            </a:r>
            <a:r>
              <a:rPr lang="en-US" sz="2400" dirty="0"/>
              <a:t>with all the squared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i="1" dirty="0"/>
              <a:t>’s </a:t>
            </a:r>
            <a:r>
              <a:rPr lang="en-US" sz="2400" dirty="0"/>
              <a:t>and pairwise interaction terms!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7FAEC-33E6-F767-2DA5-18A0A0E77AD4}"/>
              </a:ext>
            </a:extLst>
          </p:cNvPr>
          <p:cNvSpPr txBox="1"/>
          <p:nvPr/>
        </p:nvSpPr>
        <p:spPr>
          <a:xfrm>
            <a:off x="1041400" y="3947980"/>
            <a:ext cx="75438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Using d=3 is just as expressive as augmenting </a:t>
            </a:r>
            <a:r>
              <a:rPr lang="en-US" sz="2400" b="1" dirty="0"/>
              <a:t>x </a:t>
            </a:r>
            <a:r>
              <a:rPr lang="en-US" sz="2400" dirty="0"/>
              <a:t>with all the squared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en-US" sz="2400" i="1" dirty="0"/>
              <a:t>’s </a:t>
            </a:r>
            <a:r>
              <a:rPr lang="en-US" sz="2400" dirty="0"/>
              <a:t>and pairwise interaction terms </a:t>
            </a:r>
            <a:r>
              <a:rPr lang="en-US" sz="2400" b="1" dirty="0"/>
              <a:t>and </a:t>
            </a:r>
            <a:r>
              <a:rPr lang="en-US" sz="2400" dirty="0"/>
              <a:t>all the cubes and </a:t>
            </a:r>
            <a:r>
              <a:rPr lang="en-US" sz="2400" dirty="0" err="1"/>
              <a:t>threeway</a:t>
            </a:r>
            <a:r>
              <a:rPr lang="en-US" sz="2400" dirty="0"/>
              <a:t> interaction terms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6B724-A0AD-7E0F-08B3-A20A9B2CC7AA}"/>
              </a:ext>
            </a:extLst>
          </p:cNvPr>
          <p:cNvSpPr txBox="1"/>
          <p:nvPr/>
        </p:nvSpPr>
        <p:spPr>
          <a:xfrm>
            <a:off x="1257300" y="5290664"/>
            <a:ext cx="75438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621FDD-8861-F043-904D-10D319AF24CD}"/>
              </a:ext>
            </a:extLst>
          </p:cNvPr>
          <p:cNvSpPr txBox="1"/>
          <p:nvPr/>
        </p:nvSpPr>
        <p:spPr>
          <a:xfrm>
            <a:off x="1435100" y="5922274"/>
            <a:ext cx="72517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But polynomial kernels are not more expensive to compute!</a:t>
            </a:r>
          </a:p>
        </p:txBody>
      </p:sp>
    </p:spTree>
    <p:extLst>
      <p:ext uri="{BB962C8B-B14F-4D97-AF65-F5344CB8AC3E}">
        <p14:creationId xmlns:p14="http://schemas.microsoft.com/office/powerpoint/2010/main" val="298300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Some common kernels</a:t>
            </a:r>
          </a:p>
        </p:txBody>
      </p:sp>
      <p:sp>
        <p:nvSpPr>
          <p:cNvPr id="3078" name="Content Placeholder 29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83162"/>
          </a:xfrm>
        </p:spPr>
        <p:txBody>
          <a:bodyPr>
            <a:normAutofit/>
          </a:bodyPr>
          <a:lstStyle/>
          <a:p>
            <a:r>
              <a:rPr lang="en-US" dirty="0">
                <a:latin typeface="Arial" charset="0"/>
              </a:rPr>
              <a:t>Linear kernel:</a:t>
            </a: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Polynomial kernel:</a:t>
            </a:r>
          </a:p>
          <a:p>
            <a:pPr>
              <a:buFontTx/>
              <a:buNone/>
            </a:pPr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Gaussian kernel (squared exponential, RBF):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Many other specialized ones for strings, trees, …</a:t>
            </a:r>
          </a:p>
          <a:p>
            <a:endParaRPr lang="en-US" dirty="0">
              <a:latin typeface="Arial" charset="0"/>
            </a:endParaRPr>
          </a:p>
        </p:txBody>
      </p:sp>
      <p:graphicFrame>
        <p:nvGraphicFramePr>
          <p:cNvPr id="3074" name="Object 29"/>
          <p:cNvGraphicFramePr>
            <a:graphicFrameLocks noChangeAspect="1"/>
          </p:cNvGraphicFramePr>
          <p:nvPr/>
        </p:nvGraphicFramePr>
        <p:xfrm>
          <a:off x="5437188" y="1547813"/>
          <a:ext cx="26304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600" imgH="203040" progId="Equation.3">
                  <p:embed/>
                </p:oleObj>
              </mc:Choice>
              <mc:Fallback>
                <p:oleObj name="Equation" r:id="rId3" imgW="939600" imgH="203040" progId="Equation.3">
                  <p:embed/>
                  <p:pic>
                    <p:nvPicPr>
                      <p:cNvPr id="307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188" y="1547813"/>
                        <a:ext cx="2630487" cy="56673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7"/>
          <p:cNvGraphicFramePr>
            <a:graphicFrameLocks noChangeAspect="1"/>
          </p:cNvGraphicFramePr>
          <p:nvPr/>
        </p:nvGraphicFramePr>
        <p:xfrm>
          <a:off x="5002213" y="2560638"/>
          <a:ext cx="35194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228600" progId="Equation.3">
                  <p:embed/>
                </p:oleObj>
              </mc:Choice>
              <mc:Fallback>
                <p:oleObj name="Equation" r:id="rId5" imgW="1257120" imgH="228600" progId="Equation.3">
                  <p:embed/>
                  <p:pic>
                    <p:nvPicPr>
                      <p:cNvPr id="30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13" y="2560638"/>
                        <a:ext cx="3519487" cy="638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8"/>
          <p:cNvGraphicFramePr>
            <a:graphicFrameLocks noChangeAspect="1"/>
          </p:cNvGraphicFramePr>
          <p:nvPr/>
        </p:nvGraphicFramePr>
        <p:xfrm>
          <a:off x="4714875" y="3525838"/>
          <a:ext cx="371792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3760" imgH="253800" progId="Equation.3">
                  <p:embed/>
                </p:oleObj>
              </mc:Choice>
              <mc:Fallback>
                <p:oleObj name="Equation" r:id="rId7" imgW="1193760" imgH="253800" progId="Equation.3">
                  <p:embed/>
                  <p:pic>
                    <p:nvPicPr>
                      <p:cNvPr id="30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3525838"/>
                        <a:ext cx="3717925" cy="7889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22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3AE3D-A92C-901C-D151-B835006D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B2C8BE3-2BD1-E2B5-2C15-510A64BB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5270500" cy="1193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</a:rPr>
              <a:t>Talking about Kernels 101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BD035CA-44D9-D0A6-D77A-C001BB52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752600"/>
            <a:ext cx="8229600" cy="42592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</a:rPr>
              <a:t> </a:t>
            </a:r>
          </a:p>
          <a:p>
            <a:r>
              <a:rPr lang="en-US" dirty="0">
                <a:latin typeface="Arial" charset="0"/>
              </a:rPr>
              <a:t>Gram matrix:  </a:t>
            </a:r>
            <a:r>
              <a:rPr lang="en-US" sz="2400" b="1" dirty="0">
                <a:latin typeface="Arial" charset="0"/>
              </a:rPr>
              <a:t>K</a:t>
            </a:r>
            <a:r>
              <a:rPr lang="en-US" sz="2400" dirty="0">
                <a:latin typeface="Arial" charset="0"/>
              </a:rPr>
              <a:t>: </a:t>
            </a:r>
            <a:r>
              <a:rPr lang="en-US" sz="2400" dirty="0" err="1">
                <a:latin typeface="Arial" charset="0"/>
              </a:rPr>
              <a:t>k</a:t>
            </a:r>
            <a:r>
              <a:rPr lang="en-US" sz="2400" baseline="-25000" dirty="0" err="1">
                <a:latin typeface="Arial" charset="0"/>
              </a:rPr>
              <a:t>ij</a:t>
            </a:r>
            <a:r>
              <a:rPr lang="en-US" sz="2400" dirty="0">
                <a:latin typeface="Arial" charset="0"/>
              </a:rPr>
              <a:t> = K(</a:t>
            </a:r>
            <a:r>
              <a:rPr lang="en-US" sz="2400" b="1" dirty="0" err="1">
                <a:latin typeface="Arial" charset="0"/>
              </a:rPr>
              <a:t>x</a:t>
            </a:r>
            <a:r>
              <a:rPr lang="en-US" sz="2400" baseline="-25000" dirty="0" err="1">
                <a:latin typeface="Arial" charset="0"/>
              </a:rPr>
              <a:t>i</a:t>
            </a:r>
            <a:r>
              <a:rPr lang="en-US" sz="2400" dirty="0" err="1">
                <a:latin typeface="Arial" charset="0"/>
              </a:rPr>
              <a:t>,</a:t>
            </a:r>
            <a:r>
              <a:rPr lang="en-US" sz="2400" b="1" dirty="0" err="1">
                <a:latin typeface="Arial" charset="0"/>
              </a:rPr>
              <a:t>x</a:t>
            </a:r>
            <a:r>
              <a:rPr lang="en-US" sz="2400" baseline="-25000" dirty="0" err="1">
                <a:latin typeface="Arial" charset="0"/>
              </a:rPr>
              <a:t>j</a:t>
            </a:r>
            <a:r>
              <a:rPr lang="en-US" sz="2400" dirty="0">
                <a:latin typeface="Arial" charset="0"/>
              </a:rPr>
              <a:t>)</a:t>
            </a:r>
            <a:endParaRPr lang="en-US" dirty="0">
              <a:latin typeface="Arial" charset="0"/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C59AC857-10DE-E574-9309-BA245E273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94" t="50357" r="34364" b="18935"/>
          <a:stretch>
            <a:fillRect/>
          </a:stretch>
        </p:blipFill>
        <p:spPr bwMode="auto">
          <a:xfrm>
            <a:off x="119063" y="3076575"/>
            <a:ext cx="5913437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6ABE0E-413A-C33F-CDFE-F8CEFEA39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667" y="331738"/>
            <a:ext cx="311573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dirty="0"/>
              <a:t>K(</a:t>
            </a:r>
            <a:r>
              <a:rPr lang="en-US" dirty="0" err="1"/>
              <a:t>x,x</a:t>
            </a:r>
            <a:r>
              <a:rPr lang="ja-JP" altLang="en-US" dirty="0"/>
              <a:t>’</a:t>
            </a:r>
            <a:r>
              <a:rPr lang="en-US" dirty="0"/>
              <a:t>) = K(x</a:t>
            </a:r>
            <a:r>
              <a:rPr lang="ja-JP" altLang="en-US" dirty="0"/>
              <a:t>’</a:t>
            </a:r>
            <a:r>
              <a:rPr lang="en-US" dirty="0"/>
              <a:t>,x) </a:t>
            </a:r>
            <a:r>
              <a:rPr lang="en-US" dirty="0">
                <a:sym typeface="Wingdings" charset="0"/>
              </a:rPr>
              <a:t> Gram matrix is </a:t>
            </a:r>
            <a:r>
              <a:rPr lang="en-US" i="1" dirty="0">
                <a:sym typeface="Wingdings" charset="0"/>
              </a:rPr>
              <a:t>symmetric</a:t>
            </a:r>
          </a:p>
          <a:p>
            <a:pPr algn="l" eaLnBrk="1" hangingPunct="1"/>
            <a:endParaRPr lang="en-US" dirty="0">
              <a:sym typeface="Wingdings" charset="0"/>
            </a:endParaRPr>
          </a:p>
          <a:p>
            <a:pPr algn="l" eaLnBrk="1" hangingPunct="1"/>
            <a:r>
              <a:rPr lang="en-US" dirty="0">
                <a:sym typeface="Wingdings" charset="0"/>
              </a:rPr>
              <a:t>K(</a:t>
            </a:r>
            <a:r>
              <a:rPr lang="en-US" dirty="0" err="1">
                <a:sym typeface="Wingdings" charset="0"/>
              </a:rPr>
              <a:t>x,x</a:t>
            </a:r>
            <a:r>
              <a:rPr lang="en-US" dirty="0">
                <a:sym typeface="Wingdings" charset="0"/>
              </a:rPr>
              <a:t>) &gt; 0   diagonal of K is positive   K is </a:t>
            </a:r>
            <a:r>
              <a:rPr lang="en-US" i="1" dirty="0">
                <a:sym typeface="Wingdings" charset="0"/>
              </a:rPr>
              <a:t>positive semi-definite</a:t>
            </a:r>
            <a:r>
              <a:rPr lang="en-US" dirty="0">
                <a:sym typeface="Wingdings" charset="0"/>
              </a:rPr>
              <a:t> </a:t>
            </a:r>
            <a:r>
              <a:rPr lang="en-US" b="1" dirty="0">
                <a:sym typeface="Wingdings" charset="0"/>
              </a:rPr>
              <a:t> </a:t>
            </a:r>
            <a:r>
              <a:rPr lang="en-US" b="1" dirty="0" err="1">
                <a:sym typeface="Wingdings" charset="0"/>
              </a:rPr>
              <a:t>z</a:t>
            </a:r>
            <a:r>
              <a:rPr lang="en-US" b="1" baseline="30000" dirty="0" err="1">
                <a:sym typeface="Wingdings" charset="0"/>
              </a:rPr>
              <a:t>T</a:t>
            </a:r>
            <a:r>
              <a:rPr lang="en-US" b="1" dirty="0">
                <a:sym typeface="Wingdings" charset="0"/>
              </a:rPr>
              <a:t> K</a:t>
            </a:r>
            <a:r>
              <a:rPr lang="en-US" dirty="0">
                <a:sym typeface="Wingdings" charset="0"/>
              </a:rPr>
              <a:t> </a:t>
            </a:r>
            <a:r>
              <a:rPr lang="en-US" b="1" dirty="0">
                <a:sym typeface="Wingdings" charset="0"/>
              </a:rPr>
              <a:t>z</a:t>
            </a:r>
            <a:r>
              <a:rPr lang="en-US" dirty="0">
                <a:sym typeface="Wingdings" charset="0"/>
              </a:rPr>
              <a:t> &gt;= 0 for all </a:t>
            </a:r>
            <a:r>
              <a:rPr lang="en-US" b="1" dirty="0">
                <a:sym typeface="Wingdings" charset="0"/>
              </a:rPr>
              <a:t>z</a:t>
            </a:r>
            <a:endParaRPr lang="en-US" dirty="0">
              <a:sym typeface="Wingdings" charset="0"/>
            </a:endParaRPr>
          </a:p>
          <a:p>
            <a:pPr algn="l" eaLnBrk="1" hangingPunct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925C1D-4039-649A-573E-C39AEAAE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28FC3-F51C-E878-2A90-F0BF247D9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2500" y="2659747"/>
            <a:ext cx="29924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 dirty="0"/>
              <a:t>The space that</a:t>
            </a:r>
            <a:r>
              <a:rPr lang="en-US" i="1" dirty="0"/>
              <a:t> </a:t>
            </a:r>
            <a:r>
              <a:rPr lang="en-US" i="1" dirty="0" err="1"/>
              <a:t>ɸ</a:t>
            </a:r>
            <a:r>
              <a:rPr lang="en-US" i="1" dirty="0"/>
              <a:t> </a:t>
            </a:r>
            <a:r>
              <a:rPr lang="en-US" dirty="0"/>
              <a:t>maps to is a </a:t>
            </a:r>
            <a:r>
              <a:rPr lang="en-US" i="1" dirty="0"/>
              <a:t>reproducing kernel Hilbert space (RKHS).</a:t>
            </a:r>
            <a:endParaRPr lang="en-US" i="1" dirty="0">
              <a:sym typeface="Wingdings" charset="0"/>
            </a:endParaRPr>
          </a:p>
          <a:p>
            <a:pPr algn="l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0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687-1481-61D8-9A45-DFC3A017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1531-0E41-FBC9-4A37-017471ED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Autofit/>
          </a:bodyPr>
          <a:lstStyle/>
          <a:p>
            <a:r>
              <a:rPr lang="en-US" sz="3200" dirty="0"/>
              <a:t>How do we learn this?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49B81-BDD6-6BE6-9884-FB60D1EEB010}"/>
              </a:ext>
            </a:extLst>
          </p:cNvPr>
          <p:cNvSpPr txBox="1"/>
          <p:nvPr/>
        </p:nvSpPr>
        <p:spPr>
          <a:xfrm>
            <a:off x="606380" y="1384427"/>
            <a:ext cx="6785020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How do we find the ⍺’s ?</a:t>
            </a:r>
            <a:endParaRPr lang="en-US" sz="2800" i="1" dirty="0"/>
          </a:p>
        </p:txBody>
      </p:sp>
      <p:pic>
        <p:nvPicPr>
          <p:cNvPr id="15" name="Picture 14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6A1A449D-1413-CE1E-7367-2240D4FA2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66" b="49091"/>
          <a:stretch/>
        </p:blipFill>
        <p:spPr>
          <a:xfrm>
            <a:off x="279400" y="2454089"/>
            <a:ext cx="7772400" cy="1259756"/>
          </a:xfrm>
          <a:prstGeom prst="rect">
            <a:avLst/>
          </a:prstGeom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17ADCA05-0C15-23D2-1493-8CB5C0149577}"/>
              </a:ext>
            </a:extLst>
          </p:cNvPr>
          <p:cNvSpPr/>
          <p:nvPr/>
        </p:nvSpPr>
        <p:spPr>
          <a:xfrm rot="3129332">
            <a:off x="7162799" y="1700572"/>
            <a:ext cx="457200" cy="12573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6741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C570-74CA-8145-44C0-9BDDDC66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Exact Linear Kernel Regression</a:t>
            </a:r>
          </a:p>
        </p:txBody>
      </p:sp>
      <p:pic>
        <p:nvPicPr>
          <p:cNvPr id="4" name="Picture 3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16FE232-07C0-9D22-5DA3-B7453908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49" y="1041400"/>
            <a:ext cx="7900065" cy="3568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D98041-3076-DA71-F043-3059D7168CAF}"/>
              </a:ext>
            </a:extLst>
          </p:cNvPr>
          <p:cNvSpPr txBox="1"/>
          <p:nvPr/>
        </p:nvSpPr>
        <p:spPr>
          <a:xfrm>
            <a:off x="457200" y="1384300"/>
            <a:ext cx="717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L(</a:t>
            </a:r>
            <a:r>
              <a:rPr lang="en-US" b="1" dirty="0"/>
              <a:t>w)</a:t>
            </a:r>
            <a:endParaRPr lang="en-US" dirty="0"/>
          </a:p>
        </p:txBody>
      </p:sp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139194A6-EB18-9708-05E3-794BC555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9675"/>
          <a:stretch/>
        </p:blipFill>
        <p:spPr>
          <a:xfrm>
            <a:off x="-1861214" y="4424084"/>
            <a:ext cx="7182224" cy="778431"/>
          </a:xfrm>
          <a:prstGeom prst="rect">
            <a:avLst/>
          </a:prstGeom>
        </p:spPr>
      </p:pic>
      <p:pic>
        <p:nvPicPr>
          <p:cNvPr id="8" name="Picture 7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CCA4145-73C4-08CE-68F1-962BE1E548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358" b="41163"/>
          <a:stretch/>
        </p:blipFill>
        <p:spPr>
          <a:xfrm>
            <a:off x="107286" y="5250587"/>
            <a:ext cx="7182224" cy="337413"/>
          </a:xfrm>
          <a:prstGeom prst="rect">
            <a:avLst/>
          </a:prstGeo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13CD505-ED05-DA56-03B3-5C31713790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6" t="67551"/>
          <a:stretch/>
        </p:blipFill>
        <p:spPr>
          <a:xfrm>
            <a:off x="1320799" y="5816600"/>
            <a:ext cx="3426199" cy="626408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4C9601-6674-D571-94C2-C99B38C63F67}"/>
              </a:ext>
            </a:extLst>
          </p:cNvPr>
          <p:cNvSpPr txBox="1"/>
          <p:nvPr/>
        </p:nvSpPr>
        <p:spPr>
          <a:xfrm>
            <a:off x="5140669" y="5376862"/>
            <a:ext cx="37307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Gram matrix:  </a:t>
            </a:r>
            <a:r>
              <a:rPr lang="en-US" sz="2000" b="1" i="1" dirty="0">
                <a:latin typeface="Book Antiqua" panose="02040602050305030304" pitchFamily="18" charset="0"/>
              </a:rPr>
              <a:t>K</a:t>
            </a:r>
            <a:r>
              <a:rPr lang="en-US" sz="2000" i="1" dirty="0">
                <a:latin typeface="Book Antiqua" panose="02040602050305030304" pitchFamily="18" charset="0"/>
              </a:rPr>
              <a:t>: </a:t>
            </a:r>
            <a:r>
              <a:rPr lang="en-US" sz="2000" i="1" dirty="0" err="1">
                <a:latin typeface="Book Antiqua" panose="02040602050305030304" pitchFamily="18" charset="0"/>
              </a:rPr>
              <a:t>k</a:t>
            </a:r>
            <a:r>
              <a:rPr lang="en-US" sz="2000" i="1" baseline="-25000" dirty="0" err="1">
                <a:latin typeface="Book Antiqua" panose="02040602050305030304" pitchFamily="18" charset="0"/>
              </a:rPr>
              <a:t>ij</a:t>
            </a:r>
            <a:r>
              <a:rPr lang="en-US" sz="2000" i="1" dirty="0">
                <a:latin typeface="Book Antiqua" panose="02040602050305030304" pitchFamily="18" charset="0"/>
              </a:rPr>
              <a:t> = K(</a:t>
            </a:r>
            <a:r>
              <a:rPr lang="en-US" sz="2000" b="1" i="1" dirty="0" err="1">
                <a:latin typeface="Book Antiqua" panose="02040602050305030304" pitchFamily="18" charset="0"/>
              </a:rPr>
              <a:t>x</a:t>
            </a:r>
            <a:r>
              <a:rPr lang="en-US" sz="2000" i="1" baseline="-25000" dirty="0" err="1">
                <a:latin typeface="Book Antiqua" panose="02040602050305030304" pitchFamily="18" charset="0"/>
              </a:rPr>
              <a:t>i</a:t>
            </a:r>
            <a:r>
              <a:rPr lang="en-US" sz="2000" i="1" dirty="0" err="1">
                <a:latin typeface="Book Antiqua" panose="02040602050305030304" pitchFamily="18" charset="0"/>
              </a:rPr>
              <a:t>,</a:t>
            </a:r>
            <a:r>
              <a:rPr lang="en-US" sz="2000" b="1" i="1" dirty="0" err="1">
                <a:latin typeface="Book Antiqua" panose="02040602050305030304" pitchFamily="18" charset="0"/>
              </a:rPr>
              <a:t>x</a:t>
            </a:r>
            <a:r>
              <a:rPr lang="en-US" sz="2000" i="1" baseline="-25000" dirty="0" err="1">
                <a:latin typeface="Book Antiqua" panose="02040602050305030304" pitchFamily="18" charset="0"/>
              </a:rPr>
              <a:t>j</a:t>
            </a:r>
            <a:r>
              <a:rPr lang="en-US" sz="2000" i="1" dirty="0">
                <a:latin typeface="Book Antiqua" panose="02040602050305030304" pitchFamily="18" charset="0"/>
              </a:rPr>
              <a:t>)</a:t>
            </a:r>
          </a:p>
          <a:p>
            <a:endParaRPr lang="en-US" sz="2000" i="1" dirty="0">
              <a:latin typeface="Book Antiqua" panose="02040602050305030304" pitchFamily="18" charset="0"/>
            </a:endParaRPr>
          </a:p>
          <a:p>
            <a:r>
              <a:rPr lang="en-US" sz="2000" dirty="0">
                <a:latin typeface="Book Antiqua" panose="02040602050305030304" pitchFamily="18" charset="0"/>
              </a:rPr>
              <a:t>Note that </a:t>
            </a:r>
            <a:r>
              <a:rPr lang="en-US" sz="2000" b="1" i="1" dirty="0">
                <a:latin typeface="Book Antiqua" panose="02040602050305030304" pitchFamily="18" charset="0"/>
              </a:rPr>
              <a:t>K</a:t>
            </a:r>
            <a:r>
              <a:rPr lang="en-US" sz="2000" b="1" dirty="0">
                <a:latin typeface="Book Antiqua" panose="02040602050305030304" pitchFamily="18" charset="0"/>
              </a:rPr>
              <a:t> </a:t>
            </a:r>
            <a:r>
              <a:rPr lang="en-US" sz="2000" dirty="0">
                <a:latin typeface="Book Antiqua" panose="02040602050305030304" pitchFamily="18" charset="0"/>
              </a:rPr>
              <a:t>is N*N where N is the number of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336AB8-E968-0541-C104-D9D1981E98B2}"/>
              </a:ext>
            </a:extLst>
          </p:cNvPr>
          <p:cNvSpPr txBox="1"/>
          <p:nvPr/>
        </p:nvSpPr>
        <p:spPr>
          <a:xfrm>
            <a:off x="5503653" y="4670473"/>
            <a:ext cx="2787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Book Antiqua" panose="02040602050305030304" pitchFamily="18" charset="0"/>
                <a:cs typeface="Calibri" panose="020F0502020204030204" pitchFamily="34" charset="0"/>
              </a:rPr>
              <a:t>(K + </a:t>
            </a:r>
            <a:r>
              <a:rPr lang="en-US" sz="2400" b="1" i="1" dirty="0" err="1">
                <a:latin typeface="Book Antiqua" panose="02040602050305030304" pitchFamily="18" charset="0"/>
                <a:cs typeface="Calibri" panose="020F0502020204030204" pitchFamily="34" charset="0"/>
              </a:rPr>
              <a:t>λ</a:t>
            </a:r>
            <a:r>
              <a:rPr lang="en-US" sz="2400" b="1" i="1" dirty="0">
                <a:latin typeface="Book Antiqua" panose="02040602050305030304" pitchFamily="18" charset="0"/>
                <a:cs typeface="Calibri" panose="020F0502020204030204" pitchFamily="34" charset="0"/>
              </a:rPr>
              <a:t> I)⍺ = y </a:t>
            </a:r>
          </a:p>
        </p:txBody>
      </p:sp>
    </p:spTree>
    <p:extLst>
      <p:ext uri="{BB962C8B-B14F-4D97-AF65-F5344CB8AC3E}">
        <p14:creationId xmlns:p14="http://schemas.microsoft.com/office/powerpoint/2010/main" val="149436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DD082-E89F-E223-2226-57F216EE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0155-625D-46EC-3D4C-2E08B680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Exact Linear Kernel Regression</a:t>
            </a: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36950F8E-A56F-9563-ED90-6366B253C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642"/>
            <a:ext cx="9146589" cy="403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24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95E1C-7CB3-992E-561E-62620D3FD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Title 1">
            <a:extLst>
              <a:ext uri="{FF2B5EF4-FFF2-40B4-BE49-F238E27FC236}">
                <a16:creationId xmlns:a16="http://schemas.microsoft.com/office/drawing/2014/main" id="{386C4FA8-66E0-1EA6-ADA5-0AB7BC1F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charset="0"/>
              </a:rPr>
              <a:t>Kernels 101</a:t>
            </a:r>
          </a:p>
        </p:txBody>
      </p:sp>
      <p:sp>
        <p:nvSpPr>
          <p:cNvPr id="4107" name="Content Placeholder 2">
            <a:extLst>
              <a:ext uri="{FF2B5EF4-FFF2-40B4-BE49-F238E27FC236}">
                <a16:creationId xmlns:a16="http://schemas.microsoft.com/office/drawing/2014/main" id="{AAD27978-C929-0DC8-13DE-504DE9EB3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5" y="1543050"/>
            <a:ext cx="8229600" cy="4525963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Duality: two ways to look at this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Observation about </a:t>
            </a:r>
            <a:r>
              <a:rPr lang="en-US" b="1" dirty="0">
                <a:latin typeface="Arial" charset="0"/>
              </a:rPr>
              <a:t>w</a:t>
            </a:r>
            <a:r>
              <a:rPr lang="en-US" dirty="0">
                <a:latin typeface="Arial" charset="0"/>
              </a:rPr>
              <a:t>*</a:t>
            </a:r>
            <a:r>
              <a:rPr lang="en-US" b="1" dirty="0">
                <a:latin typeface="Arial" charset="0"/>
              </a:rPr>
              <a:t>: </a:t>
            </a:r>
            <a:r>
              <a:rPr lang="en-US" dirty="0">
                <a:latin typeface="Arial" charset="0"/>
              </a:rPr>
              <a:t> </a:t>
            </a:r>
          </a:p>
          <a:p>
            <a:pPr lvl="1">
              <a:buFontTx/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98AE2E-AF23-EB3B-C29D-BA9C791CD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254000"/>
            <a:ext cx="2555875" cy="1200329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/>
              <a:t>Explicitly</a:t>
            </a:r>
            <a:r>
              <a:rPr lang="en-US" dirty="0"/>
              <a:t> map from </a:t>
            </a:r>
            <a:r>
              <a:rPr lang="en-US" b="1" dirty="0"/>
              <a:t>x </a:t>
            </a:r>
            <a:r>
              <a:rPr lang="en-US" dirty="0"/>
              <a:t>to </a:t>
            </a:r>
            <a:r>
              <a:rPr lang="el-GR" dirty="0">
                <a:latin typeface="Calibri" charset="0"/>
              </a:rPr>
              <a:t>φ</a:t>
            </a:r>
            <a:r>
              <a:rPr lang="en-US" dirty="0">
                <a:latin typeface="Calibri" charset="0"/>
              </a:rPr>
              <a:t>(</a:t>
            </a:r>
            <a:r>
              <a:rPr lang="en-US" b="1" dirty="0">
                <a:latin typeface="Calibri" charset="0"/>
              </a:rPr>
              <a:t>x</a:t>
            </a:r>
            <a:r>
              <a:rPr lang="en-US" dirty="0">
                <a:latin typeface="Calibri" charset="0"/>
              </a:rPr>
              <a:t>) – i.e. to the point corresponding to </a:t>
            </a:r>
            <a:r>
              <a:rPr lang="en-US" b="1" dirty="0">
                <a:latin typeface="Calibri" charset="0"/>
              </a:rPr>
              <a:t>x </a:t>
            </a:r>
            <a:r>
              <a:rPr lang="en-US" dirty="0">
                <a:latin typeface="Calibri" charset="0"/>
              </a:rPr>
              <a:t>in the </a:t>
            </a:r>
            <a:r>
              <a:rPr lang="en-US" i="1" dirty="0">
                <a:latin typeface="Calibri" charset="0"/>
              </a:rPr>
              <a:t>Hilbert space (RKHS)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4F902-5307-7892-F20A-EBD4A79E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94500" y="6498431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18830B-3A59-5CBA-F176-6833E88B1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19" y="2269044"/>
            <a:ext cx="7772400" cy="760076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15AF1A-2C3F-A4B4-72E9-4CE574022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971" y="3166254"/>
            <a:ext cx="7875696" cy="461665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Optimize an expanded weight vector </a:t>
            </a:r>
            <a:r>
              <a:rPr lang="en-US" sz="2400" b="1" dirty="0"/>
              <a:t>w </a:t>
            </a:r>
            <a:r>
              <a:rPr lang="en-US" sz="2400" dirty="0"/>
              <a:t>in the usual way</a:t>
            </a:r>
          </a:p>
        </p:txBody>
      </p:sp>
      <p:pic>
        <p:nvPicPr>
          <p:cNvPr id="9" name="Picture 8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78C38EDA-1B71-DB04-3629-012ED7EF4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0" t="15766" b="51488"/>
          <a:stretch/>
        </p:blipFill>
        <p:spPr>
          <a:xfrm>
            <a:off x="1077119" y="4664207"/>
            <a:ext cx="7247759" cy="117383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B3B67E-F1F9-B676-BBE1-6017C7A84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5905" y="3701100"/>
            <a:ext cx="3216166" cy="461665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“In the primal space”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99702-CC82-432B-E269-19545133C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114" y="1081372"/>
            <a:ext cx="1752521" cy="369332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i="1" dirty="0"/>
              <a:t>Implement </a:t>
            </a:r>
            <a:r>
              <a:rPr lang="el-GR" dirty="0">
                <a:latin typeface="Calibri" charset="0"/>
              </a:rPr>
              <a:t>φ</a:t>
            </a:r>
            <a:r>
              <a:rPr lang="en-US" i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 animBg="1"/>
      <p:bldP spid="11" grpId="0" animBg="1"/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B1360-A452-C140-0F10-3969C5AF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BA23755-E134-073C-2700-0D2D81F2C331}"/>
              </a:ext>
            </a:extLst>
          </p:cNvPr>
          <p:cNvSpPr txBox="1">
            <a:spLocks/>
          </p:cNvSpPr>
          <p:nvPr/>
        </p:nvSpPr>
        <p:spPr>
          <a:xfrm>
            <a:off x="409575" y="154305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</a:rPr>
              <a:t>Duality: two ways to look at this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Observation about </a:t>
            </a:r>
            <a:r>
              <a:rPr lang="en-US" b="1" dirty="0">
                <a:latin typeface="Arial" charset="0"/>
              </a:rPr>
              <a:t>w</a:t>
            </a:r>
            <a:r>
              <a:rPr lang="en-US" dirty="0">
                <a:latin typeface="Arial" charset="0"/>
              </a:rPr>
              <a:t>*</a:t>
            </a:r>
            <a:r>
              <a:rPr lang="en-US" b="1" dirty="0">
                <a:latin typeface="Arial" charset="0"/>
              </a:rPr>
              <a:t>: </a:t>
            </a:r>
            <a:r>
              <a:rPr lang="en-US" dirty="0">
                <a:latin typeface="Arial" charset="0"/>
              </a:rPr>
              <a:t> </a:t>
            </a:r>
          </a:p>
          <a:p>
            <a:pPr lvl="1">
              <a:buFontTx/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4106" name="Title 1">
            <a:extLst>
              <a:ext uri="{FF2B5EF4-FFF2-40B4-BE49-F238E27FC236}">
                <a16:creationId xmlns:a16="http://schemas.microsoft.com/office/drawing/2014/main" id="{45F7776C-1309-1985-A6DD-613BB4E3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charset="0"/>
              </a:rPr>
              <a:t>Kernels 101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7BFA08-1627-B552-2499-454E270C9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190500"/>
            <a:ext cx="2366962" cy="923330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/>
              <a:t>Implicitly</a:t>
            </a:r>
            <a:r>
              <a:rPr lang="en-US" dirty="0"/>
              <a:t> map from </a:t>
            </a:r>
            <a:r>
              <a:rPr lang="en-US" b="1" dirty="0"/>
              <a:t>x </a:t>
            </a:r>
            <a:r>
              <a:rPr lang="en-US" dirty="0"/>
              <a:t>to </a:t>
            </a:r>
            <a:r>
              <a:rPr lang="el-GR" dirty="0">
                <a:latin typeface="Calibri" charset="0"/>
              </a:rPr>
              <a:t>φ</a:t>
            </a:r>
            <a:r>
              <a:rPr lang="en-US" dirty="0">
                <a:latin typeface="Calibri" charset="0"/>
              </a:rPr>
              <a:t>(</a:t>
            </a:r>
            <a:r>
              <a:rPr lang="en-US" b="1" dirty="0">
                <a:latin typeface="Calibri" charset="0"/>
              </a:rPr>
              <a:t>x</a:t>
            </a:r>
            <a:r>
              <a:rPr lang="en-US" dirty="0">
                <a:latin typeface="Calibri" charset="0"/>
              </a:rPr>
              <a:t>) by defining a kernel function K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0450BB-24A0-7D26-5400-1D743CC4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94500" y="6498431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D9D992F-D974-4C31-40EC-D5E3AB33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96" t="67551" r="4970" b="12983"/>
          <a:stretch/>
        </p:blipFill>
        <p:spPr>
          <a:xfrm>
            <a:off x="5097303" y="3307554"/>
            <a:ext cx="3069235" cy="375777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pic>
        <p:nvPicPr>
          <p:cNvPr id="6" name="Picture 5" descr="A black symbols on a white background&#10;&#10;AI-generated content may be incorrect.">
            <a:extLst>
              <a:ext uri="{FF2B5EF4-FFF2-40B4-BE49-F238E27FC236}">
                <a16:creationId xmlns:a16="http://schemas.microsoft.com/office/drawing/2014/main" id="{B24DE097-0FC3-3B19-2B35-52DD587C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30" y="2193793"/>
            <a:ext cx="4051300" cy="660400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pic>
        <p:nvPicPr>
          <p:cNvPr id="10" name="Picture 9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8A6F949B-F39C-FF66-C4AD-4523261AED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50" t="15766" b="51488"/>
          <a:stretch/>
        </p:blipFill>
        <p:spPr>
          <a:xfrm>
            <a:off x="1077119" y="4664207"/>
            <a:ext cx="7247759" cy="1173831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034A35-3DEA-91C9-F2FF-536B4AB06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431" y="2975218"/>
            <a:ext cx="3426199" cy="461665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Optimize ⍺’s directly</a:t>
            </a:r>
          </a:p>
        </p:txBody>
      </p:sp>
      <p:pic>
        <p:nvPicPr>
          <p:cNvPr id="12" name="Picture 11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032E36CA-BF32-A826-B17E-A93662BDA4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229" t="66602"/>
          <a:stretch/>
        </p:blipFill>
        <p:spPr>
          <a:xfrm>
            <a:off x="5299527" y="2074392"/>
            <a:ext cx="3198087" cy="1100278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1FEA6C-33D9-C850-2848-2348FCABC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447" y="3452498"/>
            <a:ext cx="3216166" cy="461665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“In the dual space”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476E3-3344-5244-03DC-33D93D0EC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114" y="1081372"/>
            <a:ext cx="1651413" cy="369332"/>
          </a:xfrm>
          <a:prstGeom prst="rect">
            <a:avLst/>
          </a:prstGeom>
          <a:ln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i="1" dirty="0"/>
              <a:t>Implement</a:t>
            </a:r>
            <a:r>
              <a:rPr lang="en-US" dirty="0"/>
              <a:t> </a:t>
            </a:r>
            <a:r>
              <a:rPr lang="en-US" i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62815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48B8-7485-18B8-9AEC-99D6A684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D0BF812-2391-ABF4-0DB2-1507C7FA85B5}"/>
              </a:ext>
            </a:extLst>
          </p:cNvPr>
          <p:cNvSpPr txBox="1">
            <a:spLocks/>
          </p:cNvSpPr>
          <p:nvPr/>
        </p:nvSpPr>
        <p:spPr>
          <a:xfrm>
            <a:off x="409575" y="154305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</a:rPr>
              <a:t>Duality: two ways to look at this</a:t>
            </a: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r>
              <a:rPr lang="en-US" dirty="0">
                <a:latin typeface="Arial" charset="0"/>
              </a:rPr>
              <a:t>Observation about </a:t>
            </a:r>
            <a:r>
              <a:rPr lang="en-US" b="1" dirty="0">
                <a:latin typeface="Arial" charset="0"/>
              </a:rPr>
              <a:t>w</a:t>
            </a:r>
            <a:r>
              <a:rPr lang="en-US" dirty="0">
                <a:latin typeface="Arial" charset="0"/>
              </a:rPr>
              <a:t>*</a:t>
            </a:r>
            <a:r>
              <a:rPr lang="en-US" b="1" dirty="0">
                <a:latin typeface="Arial" charset="0"/>
              </a:rPr>
              <a:t>: </a:t>
            </a:r>
            <a:r>
              <a:rPr lang="en-US" dirty="0">
                <a:latin typeface="Arial" charset="0"/>
              </a:rPr>
              <a:t> </a:t>
            </a:r>
          </a:p>
          <a:p>
            <a:pPr lvl="1">
              <a:buFontTx/>
              <a:buNone/>
            </a:pPr>
            <a:endParaRPr lang="en-US" dirty="0">
              <a:latin typeface="Arial" charset="0"/>
            </a:endParaRPr>
          </a:p>
        </p:txBody>
      </p:sp>
      <p:sp>
        <p:nvSpPr>
          <p:cNvPr id="4106" name="Title 1">
            <a:extLst>
              <a:ext uri="{FF2B5EF4-FFF2-40B4-BE49-F238E27FC236}">
                <a16:creationId xmlns:a16="http://schemas.microsoft.com/office/drawing/2014/main" id="{488E5E1D-3518-BB80-4A92-D828D6C6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charset="0"/>
              </a:rPr>
              <a:t>Kernels 101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E3E089-A3A0-BBDE-660D-9396A1BE5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3" y="190500"/>
            <a:ext cx="2366962" cy="923330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/>
              <a:t>Implicitly</a:t>
            </a:r>
            <a:r>
              <a:rPr lang="en-US" dirty="0"/>
              <a:t> map from </a:t>
            </a:r>
            <a:r>
              <a:rPr lang="en-US" b="1" dirty="0"/>
              <a:t>x </a:t>
            </a:r>
            <a:r>
              <a:rPr lang="en-US" dirty="0"/>
              <a:t>to </a:t>
            </a:r>
            <a:r>
              <a:rPr lang="el-GR" dirty="0">
                <a:latin typeface="Calibri" charset="0"/>
              </a:rPr>
              <a:t>φ</a:t>
            </a:r>
            <a:r>
              <a:rPr lang="en-US" dirty="0">
                <a:latin typeface="Calibri" charset="0"/>
              </a:rPr>
              <a:t>(</a:t>
            </a:r>
            <a:r>
              <a:rPr lang="en-US" b="1" dirty="0">
                <a:latin typeface="Calibri" charset="0"/>
              </a:rPr>
              <a:t>x</a:t>
            </a:r>
            <a:r>
              <a:rPr lang="en-US" dirty="0">
                <a:latin typeface="Calibri" charset="0"/>
              </a:rPr>
              <a:t>) by defining a kernel function K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2A1854-0BEC-950C-5D23-C7EFF305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94500" y="6498431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5" descr="A black symbols on a white background&#10;&#10;AI-generated content may be incorrect.">
            <a:extLst>
              <a:ext uri="{FF2B5EF4-FFF2-40B4-BE49-F238E27FC236}">
                <a16:creationId xmlns:a16="http://schemas.microsoft.com/office/drawing/2014/main" id="{2F1B4CAC-8B9A-2F11-94B8-A6900F2F7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148" y="1126776"/>
            <a:ext cx="3216166" cy="524265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pic>
        <p:nvPicPr>
          <p:cNvPr id="10" name="Picture 9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A4B7CCF8-50DF-D9A7-DCD1-A2D05BE5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50" t="15766" b="51488"/>
          <a:stretch/>
        </p:blipFill>
        <p:spPr>
          <a:xfrm>
            <a:off x="1077119" y="4664207"/>
            <a:ext cx="7247759" cy="1173831"/>
          </a:xfrm>
          <a:prstGeom prst="rect">
            <a:avLst/>
          </a:prstGeom>
          <a:ln w="12700">
            <a:solidFill>
              <a:srgbClr val="0070C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EB56C3-6FD9-9331-F9E8-648F39CB0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499" y="2601311"/>
            <a:ext cx="1844675" cy="1200329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Optimize ⍺’s directly using 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7AA55B-CD76-564C-652D-77CC0AD88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8872" y="3898586"/>
            <a:ext cx="3216166" cy="461665"/>
          </a:xfrm>
          <a:prstGeom prst="rect">
            <a:avLst/>
          </a:prstGeom>
          <a:noFill/>
          <a:ln w="127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“In the dual space”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EDDFDF-4085-73CB-FDC9-FF41F942C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725" y="254000"/>
            <a:ext cx="2555875" cy="1200329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/>
              <a:t>Explicitly</a:t>
            </a:r>
            <a:r>
              <a:rPr lang="en-US" dirty="0"/>
              <a:t> map from </a:t>
            </a:r>
            <a:r>
              <a:rPr lang="en-US" b="1" dirty="0"/>
              <a:t>x </a:t>
            </a:r>
            <a:r>
              <a:rPr lang="en-US" dirty="0"/>
              <a:t>to </a:t>
            </a:r>
            <a:r>
              <a:rPr lang="el-GR" dirty="0">
                <a:latin typeface="Calibri" charset="0"/>
              </a:rPr>
              <a:t>φ</a:t>
            </a:r>
            <a:r>
              <a:rPr lang="en-US" dirty="0">
                <a:latin typeface="Calibri" charset="0"/>
              </a:rPr>
              <a:t>(</a:t>
            </a:r>
            <a:r>
              <a:rPr lang="en-US" b="1" dirty="0">
                <a:latin typeface="Calibri" charset="0"/>
              </a:rPr>
              <a:t>x</a:t>
            </a:r>
            <a:r>
              <a:rPr lang="en-US" dirty="0">
                <a:latin typeface="Calibri" charset="0"/>
              </a:rPr>
              <a:t>) – i.e. to the point corresponding to </a:t>
            </a:r>
            <a:r>
              <a:rPr lang="en-US" b="1" dirty="0">
                <a:latin typeface="Calibri" charset="0"/>
              </a:rPr>
              <a:t>x </a:t>
            </a:r>
            <a:r>
              <a:rPr lang="en-US" dirty="0">
                <a:latin typeface="Calibri" charset="0"/>
              </a:rPr>
              <a:t>in the </a:t>
            </a:r>
            <a:r>
              <a:rPr lang="en-US" i="1" dirty="0">
                <a:latin typeface="Calibri" charset="0"/>
              </a:rPr>
              <a:t>Hilbert space (RKHS)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D4BF6-1788-899E-C6F7-D5FD529AC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52" y="2394679"/>
            <a:ext cx="3748662" cy="461665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Optimize </a:t>
            </a:r>
            <a:r>
              <a:rPr lang="en-US" sz="2400" b="1" dirty="0"/>
              <a:t>w </a:t>
            </a:r>
            <a:r>
              <a:rPr lang="en-US" sz="2400" dirty="0"/>
              <a:t>using </a:t>
            </a:r>
            <a:r>
              <a:rPr lang="en-US" sz="2400" dirty="0" err="1"/>
              <a:t>ɸ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349985-78C3-0DE1-80A4-0076C9144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405" y="3068664"/>
            <a:ext cx="2888155" cy="830997"/>
          </a:xfrm>
          <a:prstGeom prst="rect">
            <a:avLst/>
          </a:prstGeom>
          <a:noFill/>
          <a:ln w="127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dirty="0"/>
              <a:t>“In the primal space”</a:t>
            </a:r>
          </a:p>
        </p:txBody>
      </p:sp>
    </p:spTree>
    <p:extLst>
      <p:ext uri="{BB962C8B-B14F-4D97-AF65-F5344CB8AC3E}">
        <p14:creationId xmlns:p14="http://schemas.microsoft.com/office/powerpoint/2010/main" val="1075146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7941-73D3-D4CD-D386-793B3DBB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kernels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57DF7-A901-D581-0BB2-EA46A9262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Dual-space optimization is hard to scale to large numbers of examples</a:t>
            </a:r>
          </a:p>
          <a:p>
            <a:pPr lvl="1"/>
            <a:r>
              <a:rPr lang="en-US" dirty="0"/>
              <a:t>The Gram matrix is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Dual-space optimization is related to nearest neighbor problems and learned similarities</a:t>
            </a:r>
          </a:p>
          <a:p>
            <a:pPr lvl="1"/>
            <a:r>
              <a:rPr lang="en-US" dirty="0"/>
              <a:t>These are super important in big-N learning</a:t>
            </a:r>
          </a:p>
          <a:p>
            <a:r>
              <a:rPr lang="en-US" dirty="0"/>
              <a:t>Some kernel-based methods are very useful for specific tasks in large-N learning tasks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</a:t>
            </a:r>
            <a:r>
              <a:rPr lang="en-US" b="1" dirty="0"/>
              <a:t>Gaussian processes </a:t>
            </a:r>
            <a:r>
              <a:rPr lang="en-US" dirty="0"/>
              <a:t>for hyperparameter tuning</a:t>
            </a:r>
          </a:p>
          <a:p>
            <a:pPr lvl="1"/>
            <a:r>
              <a:rPr lang="en-US" dirty="0"/>
              <a:t>More on this later!</a:t>
            </a:r>
          </a:p>
          <a:p>
            <a:r>
              <a:rPr lang="en-US" dirty="0"/>
              <a:t>It can be helpful to analyze feature augmentation/extraction methods as kernels</a:t>
            </a:r>
          </a:p>
          <a:p>
            <a:pPr lvl="1"/>
            <a:r>
              <a:rPr lang="en-US" dirty="0"/>
              <a:t>Example below: </a:t>
            </a:r>
            <a:r>
              <a:rPr lang="en-US" b="1" dirty="0"/>
              <a:t>hash kernels</a:t>
            </a:r>
          </a:p>
          <a:p>
            <a:pPr lvl="2"/>
            <a:r>
              <a:rPr lang="en-US" b="1" dirty="0"/>
              <a:t>But first….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17520-B290-AF19-CFE1-70B479C8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18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Sparse Gradients for Sparse Data for Linear/Logistic Regression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12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27D99-A895-F422-55DC-F959EED5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7BF8BFA-0343-C144-AA12-F4F4D54C8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403" y="1461337"/>
            <a:ext cx="7592742" cy="4704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9C0430-99C0-5A82-1548-A144645FC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Summary: SGD for least squares and 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105F5-6B95-B841-D56A-B6DE5A7A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EE75B-CD0D-E343-4D8B-41C1D69D26AA}"/>
              </a:ext>
            </a:extLst>
          </p:cNvPr>
          <p:cNvSpPr txBox="1"/>
          <p:nvPr/>
        </p:nvSpPr>
        <p:spPr>
          <a:xfrm>
            <a:off x="1042397" y="5121811"/>
            <a:ext cx="3430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632638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92D8-42D2-F62C-FD38-478975D1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C98D785-3B99-EC2D-DD80-6A77D3F810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10"/>
          <a:stretch/>
        </p:blipFill>
        <p:spPr>
          <a:xfrm>
            <a:off x="3631475" y="1461337"/>
            <a:ext cx="5268551" cy="4704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0B402-FC4E-05BE-E851-E14A6E47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Summary: SGD for least squares and 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4D1BF-5E1D-41A2-20D8-CC8666E5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E1446-99B1-DEE1-C685-2E23EB3B83C2}"/>
              </a:ext>
            </a:extLst>
          </p:cNvPr>
          <p:cNvSpPr txBox="1"/>
          <p:nvPr/>
        </p:nvSpPr>
        <p:spPr>
          <a:xfrm>
            <a:off x="1042397" y="5121811"/>
            <a:ext cx="3430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2BF6A-F892-85ED-E915-C6D2F84AE4C7}"/>
              </a:ext>
            </a:extLst>
          </p:cNvPr>
          <p:cNvSpPr txBox="1"/>
          <p:nvPr/>
        </p:nvSpPr>
        <p:spPr>
          <a:xfrm>
            <a:off x="279400" y="1713014"/>
            <a:ext cx="3174275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For text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</a:t>
            </a:r>
            <a:r>
              <a:rPr lang="en-US" sz="2000" dirty="0"/>
              <a:t>is a sparse document vector (e.g., TFIDF)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 </a:t>
            </a:r>
            <a:r>
              <a:rPr lang="en-US" sz="2000" dirty="0"/>
              <a:t>is a dense vector of weights (one for each word in the vocabulary)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F28E8-89BF-440C-8C7A-DF5145A8B9E5}"/>
              </a:ext>
            </a:extLst>
          </p:cNvPr>
          <p:cNvSpPr txBox="1"/>
          <p:nvPr/>
        </p:nvSpPr>
        <p:spPr>
          <a:xfrm>
            <a:off x="368300" y="4354976"/>
            <a:ext cx="3174275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How do we represent </a:t>
            </a:r>
            <a:r>
              <a:rPr lang="en-US" sz="2000" b="1" dirty="0"/>
              <a:t>x </a:t>
            </a:r>
            <a:r>
              <a:rPr lang="en-US" sz="2000" dirty="0"/>
              <a:t>and </a:t>
            </a:r>
            <a:r>
              <a:rPr lang="en-US" sz="2000" b="1" dirty="0"/>
              <a:t>w </a:t>
            </a:r>
            <a:r>
              <a:rPr lang="en-US" sz="2000" dirty="0"/>
              <a:t>in our program?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72E4B-E49E-2C2F-B83B-3784281372B2}"/>
              </a:ext>
            </a:extLst>
          </p:cNvPr>
          <p:cNvSpPr txBox="1"/>
          <p:nvPr/>
        </p:nvSpPr>
        <p:spPr>
          <a:xfrm>
            <a:off x="3631475" y="1144426"/>
            <a:ext cx="4613003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Compact representation: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 </a:t>
            </a:r>
            <a:r>
              <a:rPr lang="en-US" sz="2400" dirty="0"/>
              <a:t>is a V-dimensional array of floats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</a:t>
            </a:r>
            <a:r>
              <a:rPr lang="en-US" sz="2400" dirty="0"/>
              <a:t>[t] is weight of term with integer id 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x </a:t>
            </a:r>
            <a:r>
              <a:rPr lang="en-US" sz="2400" dirty="0"/>
              <a:t>is a </a:t>
            </a:r>
            <a:r>
              <a:rPr lang="en-US" sz="2400" u="sng" dirty="0"/>
              <a:t>sparse</a:t>
            </a:r>
            <a:r>
              <a:rPr lang="en-US" sz="2400" dirty="0"/>
              <a:t> vector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internally a list of pairs:  [(t</a:t>
            </a:r>
            <a:r>
              <a:rPr lang="en-US" sz="2400" baseline="-25000" dirty="0"/>
              <a:t>1</a:t>
            </a:r>
            <a:r>
              <a:rPr lang="en-US" sz="2400" dirty="0"/>
              <a:t>, </a:t>
            </a:r>
            <a:r>
              <a:rPr lang="en-US" sz="2400" b="1" dirty="0"/>
              <a:t>x</a:t>
            </a:r>
            <a:r>
              <a:rPr lang="en-US" sz="2400" dirty="0"/>
              <a:t>[t</a:t>
            </a:r>
            <a:r>
              <a:rPr lang="en-US" sz="2400" baseline="-25000" dirty="0"/>
              <a:t>1</a:t>
            </a:r>
            <a:r>
              <a:rPr lang="en-US" sz="2400" dirty="0"/>
              <a:t>]), … (</a:t>
            </a:r>
            <a:r>
              <a:rPr lang="en-US" sz="2400" dirty="0" err="1"/>
              <a:t>t</a:t>
            </a:r>
            <a:r>
              <a:rPr lang="en-US" sz="2400" baseline="-25000" dirty="0" err="1"/>
              <a:t>D</a:t>
            </a:r>
            <a:r>
              <a:rPr lang="en-US" sz="2400" dirty="0"/>
              <a:t>, </a:t>
            </a:r>
            <a:r>
              <a:rPr lang="en-US" sz="2400" b="1" dirty="0"/>
              <a:t>x</a:t>
            </a:r>
            <a:r>
              <a:rPr lang="en-US" sz="2400" dirty="0"/>
              <a:t>[</a:t>
            </a:r>
            <a:r>
              <a:rPr lang="en-US" sz="2400" dirty="0" err="1"/>
              <a:t>t</a:t>
            </a:r>
            <a:r>
              <a:rPr lang="en-US" sz="2400" baseline="-25000" dirty="0" err="1"/>
              <a:t>D</a:t>
            </a:r>
            <a:r>
              <a:rPr lang="en-US" sz="2400" dirty="0"/>
              <a:t>])]</a:t>
            </a:r>
          </a:p>
          <a:p>
            <a:endParaRPr lang="en-US" sz="2400" dirty="0"/>
          </a:p>
          <a:p>
            <a:r>
              <a:rPr lang="en-US" sz="2400" dirty="0"/>
              <a:t>A </a:t>
            </a:r>
            <a:r>
              <a:rPr lang="en-US" sz="2400" i="1" dirty="0"/>
              <a:t>hash table </a:t>
            </a:r>
            <a:r>
              <a:rPr lang="en-US" sz="2400" dirty="0"/>
              <a:t>is used to convert strings (“aardvark”) to term id’s (e.g., 5317)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B8C93-1721-F5EB-B54F-DE04A80F0EFF}"/>
              </a:ext>
            </a:extLst>
          </p:cNvPr>
          <p:cNvSpPr txBox="1"/>
          <p:nvPr/>
        </p:nvSpPr>
        <p:spPr>
          <a:xfrm>
            <a:off x="725849" y="5488536"/>
            <a:ext cx="3174275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Remember we may be moving these around across the network…</a:t>
            </a:r>
          </a:p>
        </p:txBody>
      </p:sp>
    </p:spTree>
    <p:extLst>
      <p:ext uri="{BB962C8B-B14F-4D97-AF65-F5344CB8AC3E}">
        <p14:creationId xmlns:p14="http://schemas.microsoft.com/office/powerpoint/2010/main" val="418356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D62D-A146-95C4-DE49-1C0612A23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0612121-10C9-ADEF-AA96-3FE2EADB6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10"/>
          <a:stretch/>
        </p:blipFill>
        <p:spPr>
          <a:xfrm>
            <a:off x="3631475" y="1461337"/>
            <a:ext cx="5268551" cy="47043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93964-20A6-B017-2210-75F46481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Summary: SGD for least squares and Logistic Regression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34802-475A-B79F-DBD4-4EEF6DA7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2EAED-F28D-5259-0577-D8847F176088}"/>
              </a:ext>
            </a:extLst>
          </p:cNvPr>
          <p:cNvSpPr txBox="1"/>
          <p:nvPr/>
        </p:nvSpPr>
        <p:spPr>
          <a:xfrm>
            <a:off x="1042397" y="5121811"/>
            <a:ext cx="34304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i-1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18F12-6C60-42DA-99BB-55A8724D71F5}"/>
              </a:ext>
            </a:extLst>
          </p:cNvPr>
          <p:cNvSpPr txBox="1"/>
          <p:nvPr/>
        </p:nvSpPr>
        <p:spPr>
          <a:xfrm>
            <a:off x="279400" y="1713014"/>
            <a:ext cx="3174275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For text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x </a:t>
            </a:r>
            <a:r>
              <a:rPr lang="en-US" sz="2000" dirty="0"/>
              <a:t>is a sparse document vector (e.g., TFIDF)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 </a:t>
            </a:r>
            <a:r>
              <a:rPr lang="en-US" sz="2000" dirty="0"/>
              <a:t>is a dense vector of weights (one for each word in the vocabulary)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5C79D-961A-DD03-200B-42F13CBC73C3}"/>
              </a:ext>
            </a:extLst>
          </p:cNvPr>
          <p:cNvSpPr txBox="1"/>
          <p:nvPr/>
        </p:nvSpPr>
        <p:spPr>
          <a:xfrm>
            <a:off x="3631475" y="1144426"/>
            <a:ext cx="4613003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Why is </a:t>
            </a:r>
            <a:r>
              <a:rPr lang="en-US" sz="2400" b="1" dirty="0"/>
              <a:t>x </a:t>
            </a:r>
            <a:r>
              <a:rPr lang="en-US" sz="2400" dirty="0"/>
              <a:t>a </a:t>
            </a:r>
            <a:r>
              <a:rPr lang="en-US" sz="2400" u="sng" dirty="0"/>
              <a:t>sparse</a:t>
            </a:r>
            <a:r>
              <a:rPr lang="en-US" sz="2400" dirty="0"/>
              <a:t> vector?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17C56-571B-F8C0-FA31-6DBDDA8988B0}"/>
              </a:ext>
            </a:extLst>
          </p:cNvPr>
          <p:cNvSpPr txBox="1"/>
          <p:nvPr/>
        </p:nvSpPr>
        <p:spPr>
          <a:xfrm>
            <a:off x="940526" y="5930163"/>
            <a:ext cx="795950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 gradient is zero where </a:t>
            </a:r>
            <a:r>
              <a:rPr lang="en-US" sz="2400" b="1" dirty="0"/>
              <a:t>x </a:t>
            </a:r>
            <a:r>
              <a:rPr lang="en-US" sz="2400" dirty="0"/>
              <a:t>is zero </a:t>
            </a:r>
            <a:r>
              <a:rPr lang="en-US" sz="2400" dirty="0">
                <a:sym typeface="Wingdings" pitchFamily="2" charset="2"/>
              </a:rPr>
              <a:t> gradient is sparse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539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creen Shot 2012-02-13 at 1.16.5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1995"/>
            <a:ext cx="7938944" cy="41324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Sparse gradient updates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algorithm:</a:t>
            </a:r>
          </a:p>
        </p:txBody>
      </p:sp>
      <p:pic>
        <p:nvPicPr>
          <p:cNvPr id="7" name="Picture 6" descr="Screen Shot 2012-02-13 at 11.27.4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400" y="1139522"/>
            <a:ext cx="5054600" cy="965200"/>
          </a:xfrm>
          <a:prstGeom prst="rect">
            <a:avLst/>
          </a:prstGeom>
        </p:spPr>
      </p:pic>
      <p:pic>
        <p:nvPicPr>
          <p:cNvPr id="8" name="Picture 7" descr="Screen Shot 2012-02-13 at 11.29.37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728" y="2084055"/>
            <a:ext cx="4429250" cy="79706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511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Sparsity can cause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2635949"/>
            <a:ext cx="6847802" cy="890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averaging the gradient over all the examples </a:t>
            </a:r>
            <a:r>
              <a:rPr lang="en-US" i="1" dirty="0"/>
              <a:t>D={(x</a:t>
            </a:r>
            <a:r>
              <a:rPr lang="en-US" i="1" baseline="-25000" dirty="0"/>
              <a:t>1</a:t>
            </a:r>
            <a:r>
              <a:rPr lang="en-US" i="1" dirty="0"/>
              <a:t>,y</a:t>
            </a:r>
            <a:r>
              <a:rPr lang="en-US" i="1" baseline="-25000" dirty="0"/>
              <a:t>1</a:t>
            </a:r>
            <a:r>
              <a:rPr lang="en-US" i="1" dirty="0"/>
              <a:t>)…,(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baseline="-25000" dirty="0"/>
              <a:t> </a:t>
            </a:r>
            <a:r>
              <a:rPr lang="en-US" i="1" dirty="0"/>
              <a:t>, </a:t>
            </a:r>
            <a:r>
              <a:rPr lang="en-US" i="1" dirty="0" err="1"/>
              <a:t>y</a:t>
            </a:r>
            <a:r>
              <a:rPr lang="en-US" i="1" baseline="-25000" dirty="0" err="1"/>
              <a:t>n</a:t>
            </a:r>
            <a:r>
              <a:rPr lang="en-US" i="1" baseline="-25000" dirty="0"/>
              <a:t>)</a:t>
            </a:r>
            <a:r>
              <a:rPr lang="en-US" i="1" dirty="0"/>
              <a:t>} </a:t>
            </a:r>
            <a:endParaRPr lang="en-US" dirty="0"/>
          </a:p>
        </p:txBody>
      </p:sp>
      <p:pic>
        <p:nvPicPr>
          <p:cNvPr id="4" name="Picture 3" descr="Screen Shot 2012-02-13 at 11.24.0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62" y="1239565"/>
            <a:ext cx="8026354" cy="1223749"/>
          </a:xfrm>
          <a:prstGeom prst="rect">
            <a:avLst/>
          </a:prstGeom>
        </p:spPr>
      </p:pic>
      <p:pic>
        <p:nvPicPr>
          <p:cNvPr id="6" name="Picture 5" descr="Screen Shot 2012-02-13 at 11.45.24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1"/>
          <a:stretch/>
        </p:blipFill>
        <p:spPr>
          <a:xfrm>
            <a:off x="0" y="3664988"/>
            <a:ext cx="5088472" cy="1175023"/>
          </a:xfrm>
          <a:prstGeom prst="rect">
            <a:avLst/>
          </a:prstGeom>
        </p:spPr>
      </p:pic>
      <p:pic>
        <p:nvPicPr>
          <p:cNvPr id="7" name="Picture 6" descr="Screen Shot 2012-02-13 at 11.45.24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94"/>
          <a:stretch/>
        </p:blipFill>
        <p:spPr>
          <a:xfrm>
            <a:off x="4848361" y="3526136"/>
            <a:ext cx="4306848" cy="15581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88472" y="3632208"/>
            <a:ext cx="1718336" cy="145137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161993" y="3632208"/>
            <a:ext cx="1718336" cy="1451371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31800" y="5219878"/>
            <a:ext cx="8090763" cy="123077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will </a:t>
            </a:r>
            <a:r>
              <a:rPr lang="en-US" dirty="0" err="1"/>
              <a:t>overfit</a:t>
            </a:r>
            <a:r>
              <a:rPr lang="en-US" dirty="0"/>
              <a:t> badly with sparse features</a:t>
            </a:r>
          </a:p>
          <a:p>
            <a:pPr lvl="1"/>
            <a:r>
              <a:rPr lang="en-US" sz="3200" dirty="0"/>
              <a:t>e.g., if </a:t>
            </a:r>
            <a:r>
              <a:rPr lang="en-US" sz="3200" i="1" dirty="0" err="1"/>
              <a:t>w</a:t>
            </a:r>
            <a:r>
              <a:rPr lang="en-US" sz="3200" i="1" baseline="30000" dirty="0" err="1"/>
              <a:t>j</a:t>
            </a:r>
            <a:r>
              <a:rPr lang="en-US" sz="3200" i="1" dirty="0"/>
              <a:t> </a:t>
            </a:r>
            <a:r>
              <a:rPr lang="en-US" sz="3200" dirty="0"/>
              <a:t>is only in positive examples, its gradient is </a:t>
            </a:r>
            <a:r>
              <a:rPr lang="en-US" sz="3200" b="1" dirty="0"/>
              <a:t>always</a:t>
            </a:r>
            <a:r>
              <a:rPr lang="en-US" sz="3200" dirty="0"/>
              <a:t> positive 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5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9DAA-5CD0-697D-91CC-7550B717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overfitting with high-degree polynomial basis vectors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D9575-18CD-C062-23BD-79A41E44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B20708D-621C-C4B0-04CE-E7AA75257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6" y="1625599"/>
            <a:ext cx="4643439" cy="35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574507-4AC9-BD3A-D54E-90E43537E24A}"/>
              </a:ext>
            </a:extLst>
          </p:cNvPr>
          <p:cNvSpPr txBox="1"/>
          <p:nvPr/>
        </p:nvSpPr>
        <p:spPr>
          <a:xfrm>
            <a:off x="1362075" y="5232401"/>
            <a:ext cx="6419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Symptoms: very large </a:t>
            </a:r>
            <a:r>
              <a:rPr lang="en-US" sz="2400" b="1" dirty="0"/>
              <a:t>w</a:t>
            </a:r>
            <a:r>
              <a:rPr lang="en-US" sz="2400" dirty="0"/>
              <a:t> components and very unstable predictions: replacing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b="1" i="1" baseline="-25000" dirty="0"/>
              <a:t> </a:t>
            </a:r>
            <a:r>
              <a:rPr lang="en-US" sz="2400" dirty="0"/>
              <a:t>with 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i</a:t>
            </a:r>
            <a:r>
              <a:rPr lang="en-US" sz="2400" i="1" dirty="0"/>
              <a:t> + 𝜺 </a:t>
            </a:r>
            <a:r>
              <a:rPr lang="en-US" sz="2400" dirty="0"/>
              <a:t> gives very different predictions</a:t>
            </a:r>
          </a:p>
        </p:txBody>
      </p:sp>
    </p:spTree>
    <p:extLst>
      <p:ext uri="{BB962C8B-B14F-4D97-AF65-F5344CB8AC3E}">
        <p14:creationId xmlns:p14="http://schemas.microsoft.com/office/powerpoint/2010/main" val="39349518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CA889-414D-EFA7-340D-A1028DB8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Ridge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8B6E9A-7D9C-0059-0966-A49A0831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5" name="Picture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9FBCD601-E233-FBEB-FE3A-21C81737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1181099"/>
            <a:ext cx="8554921" cy="491966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720C329-49D6-4FB4-75B7-99D9A7A04E15}"/>
              </a:ext>
            </a:extLst>
          </p:cNvPr>
          <p:cNvSpPr/>
          <p:nvPr/>
        </p:nvSpPr>
        <p:spPr>
          <a:xfrm>
            <a:off x="2277036" y="4338917"/>
            <a:ext cx="2761129" cy="102197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2C621-C1A8-EE75-884B-8515791D6348}"/>
              </a:ext>
            </a:extLst>
          </p:cNvPr>
          <p:cNvSpPr txBox="1"/>
          <p:nvPr/>
        </p:nvSpPr>
        <p:spPr>
          <a:xfrm>
            <a:off x="6850681" y="2731993"/>
            <a:ext cx="183447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Our usual squared loss!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94D4F4-6666-6B81-D176-1EECF9E42B83}"/>
                  </a:ext>
                </a:extLst>
              </p14:cNvPr>
              <p14:cNvContentPartPr/>
              <p14:nvPr/>
            </p14:nvContentPartPr>
            <p14:xfrm>
              <a:off x="-2294393" y="305154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94D4F4-6666-6B81-D176-1EECF9E42B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300513" y="3045424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F514BDB-8B09-2F98-C010-FA3D504A50AE}"/>
              </a:ext>
            </a:extLst>
          </p:cNvPr>
          <p:cNvCxnSpPr>
            <a:cxnSpLocks/>
            <a:stCxn id="7" idx="1"/>
            <a:endCxn id="6" idx="7"/>
          </p:cNvCxnSpPr>
          <p:nvPr/>
        </p:nvCxnSpPr>
        <p:spPr>
          <a:xfrm rot="10800000" flipV="1">
            <a:off x="4633807" y="3055158"/>
            <a:ext cx="2216874" cy="1433423"/>
          </a:xfrm>
          <a:prstGeom prst="curved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A8D840E6-FE54-0654-1D4E-1CF991E133AA}"/>
              </a:ext>
            </a:extLst>
          </p:cNvPr>
          <p:cNvSpPr/>
          <p:nvPr/>
        </p:nvSpPr>
        <p:spPr>
          <a:xfrm>
            <a:off x="4633807" y="4233180"/>
            <a:ext cx="1919394" cy="1021977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4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1751-FA24-3ED1-E64F-C14257D2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C15BFD-A854-D0ED-210F-22113A87E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D60C12-B8C1-E49C-16DD-DC668D3F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60919E5-60B0-388E-55F8-C64C5AFA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03" y="1461337"/>
            <a:ext cx="7592742" cy="470433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8A82409-4F5A-9230-D22F-8A195FB8C689}"/>
              </a:ext>
            </a:extLst>
          </p:cNvPr>
          <p:cNvSpPr/>
          <p:nvPr/>
        </p:nvSpPr>
        <p:spPr>
          <a:xfrm>
            <a:off x="3448050" y="2286000"/>
            <a:ext cx="4991100" cy="762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7DC056-4321-A76A-70FB-666843335BBB}"/>
              </a:ext>
            </a:extLst>
          </p:cNvPr>
          <p:cNvSpPr/>
          <p:nvPr/>
        </p:nvSpPr>
        <p:spPr>
          <a:xfrm>
            <a:off x="2819400" y="3872663"/>
            <a:ext cx="5619750" cy="762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E23424-24B2-48F5-E35E-AD119019939E}"/>
              </a:ext>
            </a:extLst>
          </p:cNvPr>
          <p:cNvSpPr/>
          <p:nvPr/>
        </p:nvSpPr>
        <p:spPr>
          <a:xfrm>
            <a:off x="3067050" y="5142572"/>
            <a:ext cx="5619750" cy="76200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84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02B7-744F-E7B1-4F9F-D20878BA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5F44EF-C79E-A18B-49B9-2F49353D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Regularized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E0830D-FBF6-86C8-8D30-6444E6B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8ED1D68-1459-17D0-C9E4-A0106AABB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80" y="1403350"/>
            <a:ext cx="8780320" cy="4953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596A0C-AC51-6D75-6B2E-E65471709589}"/>
              </a:ext>
            </a:extLst>
          </p:cNvPr>
          <p:cNvSpPr txBox="1"/>
          <p:nvPr/>
        </p:nvSpPr>
        <p:spPr>
          <a:xfrm>
            <a:off x="4286250" y="6259810"/>
            <a:ext cx="420832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This update is </a:t>
            </a:r>
            <a:r>
              <a:rPr lang="en-US" sz="2400" b="1" dirty="0"/>
              <a:t>not </a:t>
            </a:r>
            <a:r>
              <a:rPr lang="en-US" sz="2400" dirty="0"/>
              <a:t>sparse</a:t>
            </a:r>
          </a:p>
        </p:txBody>
      </p:sp>
    </p:spTree>
    <p:extLst>
      <p:ext uri="{BB962C8B-B14F-4D97-AF65-F5344CB8AC3E}">
        <p14:creationId xmlns:p14="http://schemas.microsoft.com/office/powerpoint/2010/main" val="37646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BE6B-BA5D-9B97-3433-C8C91CF3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69805-7D4A-D424-873D-4AB9EDCA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Regularized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F14B13-C7B8-D61B-48FC-7F5DF6E04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156C9-2B7B-85DC-ECEB-5E0C33B06C36}"/>
              </a:ext>
            </a:extLst>
          </p:cNvPr>
          <p:cNvSpPr txBox="1"/>
          <p:nvPr/>
        </p:nvSpPr>
        <p:spPr>
          <a:xfrm>
            <a:off x="4286250" y="6259810"/>
            <a:ext cx="420832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This update is </a:t>
            </a:r>
            <a:r>
              <a:rPr lang="en-US" sz="2400" b="1" dirty="0"/>
              <a:t>not </a:t>
            </a:r>
            <a:r>
              <a:rPr lang="en-US" sz="2400" dirty="0"/>
              <a:t>sparse</a:t>
            </a:r>
          </a:p>
        </p:txBody>
      </p:sp>
      <p:pic>
        <p:nvPicPr>
          <p:cNvPr id="3" name="Picture 2" descr="Screen Shot 2012-02-13 at 1.16.52 PM.png">
            <a:extLst>
              <a:ext uri="{FF2B5EF4-FFF2-40B4-BE49-F238E27FC236}">
                <a16:creationId xmlns:a16="http://schemas.microsoft.com/office/drawing/2014/main" id="{EFE5FB56-1166-B712-C415-A3922D6F2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225"/>
            <a:ext cx="9029700" cy="4700264"/>
          </a:xfrm>
          <a:prstGeom prst="rect">
            <a:avLst/>
          </a:prstGeom>
        </p:spPr>
      </p:pic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623192F-9B31-96F1-C87D-07A51F5569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54" t="85513" r="20177" b="3668"/>
          <a:stretch/>
        </p:blipFill>
        <p:spPr>
          <a:xfrm>
            <a:off x="4048990" y="5710172"/>
            <a:ext cx="3333750" cy="5358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3CECDE-E18C-D3E0-F300-611D3723D2D4}"/>
              </a:ext>
            </a:extLst>
          </p:cNvPr>
          <p:cNvSpPr txBox="1"/>
          <p:nvPr/>
        </p:nvSpPr>
        <p:spPr>
          <a:xfrm>
            <a:off x="4821380" y="1181100"/>
            <a:ext cx="420832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Question: Can you design a version of regularized SGD that is as efficient as the sparse unregularized version? (within constant factors)</a:t>
            </a:r>
          </a:p>
        </p:txBody>
      </p:sp>
    </p:spTree>
    <p:extLst>
      <p:ext uri="{BB962C8B-B14F-4D97-AF65-F5344CB8AC3E}">
        <p14:creationId xmlns:p14="http://schemas.microsoft.com/office/powerpoint/2010/main" val="195778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Hash Kernel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117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2-02-13 at 1.16.52 PM.png">
            <a:extLst>
              <a:ext uri="{FF2B5EF4-FFF2-40B4-BE49-F238E27FC236}">
                <a16:creationId xmlns:a16="http://schemas.microsoft.com/office/drawing/2014/main" id="{3C6D7185-1A84-D7B1-7BBE-98167E15E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" y="2117150"/>
            <a:ext cx="9133550" cy="4754322"/>
          </a:xfrm>
          <a:prstGeom prst="rect">
            <a:avLst/>
          </a:prstGeom>
        </p:spPr>
      </p:pic>
      <p:pic>
        <p:nvPicPr>
          <p:cNvPr id="4" name="Picture 3" descr="Screen Shot 2012-02-13 at 11.29.37 AM.png">
            <a:extLst>
              <a:ext uri="{FF2B5EF4-FFF2-40B4-BE49-F238E27FC236}">
                <a16:creationId xmlns:a16="http://schemas.microsoft.com/office/drawing/2014/main" id="{7441EC54-C43C-C81E-C386-69C274816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100"/>
            <a:ext cx="5095736" cy="917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ABA6F4D-F838-F2F7-338F-D11E7BD5427E}"/>
              </a:ext>
            </a:extLst>
          </p:cNvPr>
          <p:cNvSpPr txBox="1">
            <a:spLocks/>
          </p:cNvSpPr>
          <p:nvPr/>
        </p:nvSpPr>
        <p:spPr>
          <a:xfrm>
            <a:off x="233825" y="274638"/>
            <a:ext cx="8676350" cy="906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Recap: SGD for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927812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7CA2-09E1-CD40-09DE-664DC3293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2-02-13 at 1.16.52 PM.png">
            <a:extLst>
              <a:ext uri="{FF2B5EF4-FFF2-40B4-BE49-F238E27FC236}">
                <a16:creationId xmlns:a16="http://schemas.microsoft.com/office/drawing/2014/main" id="{026C4CD4-CF7A-33DF-5033-3B427C753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" y="2117150"/>
            <a:ext cx="9133550" cy="4754322"/>
          </a:xfrm>
          <a:prstGeom prst="rect">
            <a:avLst/>
          </a:prstGeom>
        </p:spPr>
      </p:pic>
      <p:pic>
        <p:nvPicPr>
          <p:cNvPr id="4" name="Picture 3" descr="Screen Shot 2012-02-13 at 11.29.37 AM.png">
            <a:extLst>
              <a:ext uri="{FF2B5EF4-FFF2-40B4-BE49-F238E27FC236}">
                <a16:creationId xmlns:a16="http://schemas.microsoft.com/office/drawing/2014/main" id="{EEF84CAD-5133-C540-DE5F-43E145902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1100"/>
            <a:ext cx="5095736" cy="91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F77734-A162-C5B8-E6BC-55FFA276E815}"/>
              </a:ext>
            </a:extLst>
          </p:cNvPr>
          <p:cNvSpPr txBox="1"/>
          <p:nvPr/>
        </p:nvSpPr>
        <p:spPr>
          <a:xfrm>
            <a:off x="2362199" y="1333500"/>
            <a:ext cx="304800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an array V = &lt;0…0&gt;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CF75E-E28E-D1BE-6FDF-D2568B05C91B}"/>
              </a:ext>
            </a:extLst>
          </p:cNvPr>
          <p:cNvSpPr txBox="1"/>
          <p:nvPr/>
        </p:nvSpPr>
        <p:spPr>
          <a:xfrm>
            <a:off x="6381750" y="4972050"/>
            <a:ext cx="93345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hash 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265C0-D799-3248-632C-3B3C87BCE23A}"/>
              </a:ext>
            </a:extLst>
          </p:cNvPr>
          <p:cNvSpPr txBox="1"/>
          <p:nvPr/>
        </p:nvSpPr>
        <p:spPr>
          <a:xfrm>
            <a:off x="5905501" y="1185565"/>
            <a:ext cx="2743199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Assume a hash function </a:t>
            </a:r>
            <a:r>
              <a:rPr lang="en-US" sz="2400" i="1" dirty="0"/>
              <a:t>h</a:t>
            </a:r>
            <a:r>
              <a:rPr lang="en-US" sz="2400" dirty="0"/>
              <a:t> that maps string features to indices in 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33C4A-55FE-2048-1FEA-800038038778}"/>
              </a:ext>
            </a:extLst>
          </p:cNvPr>
          <p:cNvSpPr txBox="1"/>
          <p:nvPr/>
        </p:nvSpPr>
        <p:spPr>
          <a:xfrm>
            <a:off x="2895600" y="5829300"/>
            <a:ext cx="146685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V[j]  =  V[j]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4C7F7A-2B01-B87D-E762-F36E70F7D34D}"/>
              </a:ext>
            </a:extLst>
          </p:cNvPr>
          <p:cNvSpPr txBox="1"/>
          <p:nvPr/>
        </p:nvSpPr>
        <p:spPr>
          <a:xfrm>
            <a:off x="2362199" y="5341382"/>
            <a:ext cx="3848101" cy="369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F46B6-7FC5-3B61-4EBC-B07262350B42}"/>
              </a:ext>
            </a:extLst>
          </p:cNvPr>
          <p:cNvSpPr txBox="1"/>
          <p:nvPr/>
        </p:nvSpPr>
        <p:spPr>
          <a:xfrm>
            <a:off x="2162174" y="6376768"/>
            <a:ext cx="1914525" cy="369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array V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4A648D5-C719-2A96-D5CE-980D466A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“hash trick”</a:t>
            </a:r>
          </a:p>
        </p:txBody>
      </p:sp>
    </p:spTree>
    <p:extLst>
      <p:ext uri="{BB962C8B-B14F-4D97-AF65-F5344CB8AC3E}">
        <p14:creationId xmlns:p14="http://schemas.microsoft.com/office/powerpoint/2010/main" val="12084723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6BED7-34D7-C11B-6651-FD459378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06D8776-307F-7ABC-2A65-BC85EFC8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“hash trick”: intuition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12C72D-C4EE-0D67-5AA6-A5611A5E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We’ve replaced our old set of features with new ones</a:t>
            </a:r>
            <a:r>
              <a:rPr lang="en-US" i="1" dirty="0"/>
              <a:t>: x</a:t>
            </a:r>
            <a:r>
              <a:rPr lang="en-US" i="1" dirty="0">
                <a:sym typeface="Wingdings" pitchFamily="2" charset="2"/>
              </a:rPr>
              <a:t> </a:t>
            </a:r>
            <a:r>
              <a:rPr lang="en-US" i="1" dirty="0" err="1">
                <a:sym typeface="Wingdings" pitchFamily="2" charset="2"/>
              </a:rPr>
              <a:t>ɸ</a:t>
            </a:r>
            <a:r>
              <a:rPr lang="en-US" i="1" dirty="0">
                <a:sym typeface="Wingdings" pitchFamily="2" charset="2"/>
              </a:rPr>
              <a:t>(x), </a:t>
            </a:r>
            <a:r>
              <a:rPr lang="en-US" dirty="0">
                <a:sym typeface="Wingdings" pitchFamily="2" charset="2"/>
              </a:rPr>
              <a:t>where </a:t>
            </a:r>
            <a:r>
              <a:rPr lang="en-US" i="1" dirty="0" err="1">
                <a:sym typeface="Wingdings" pitchFamily="2" charset="2"/>
              </a:rPr>
              <a:t>ɸ</a:t>
            </a:r>
            <a:r>
              <a:rPr lang="en-US" i="1" dirty="0">
                <a:sym typeface="Wingdings" pitchFamily="2" charset="2"/>
              </a:rPr>
              <a:t>(x) </a:t>
            </a:r>
            <a:r>
              <a:rPr lang="en-US" dirty="0">
                <a:sym typeface="Wingdings" pitchFamily="2" charset="2"/>
              </a:rPr>
              <a:t>might be shorter and less sparse</a:t>
            </a:r>
            <a:endParaRPr lang="en-US" i="1" dirty="0"/>
          </a:p>
          <a:p>
            <a:r>
              <a:rPr lang="en-US" dirty="0"/>
              <a:t>New feature might be sum of many old features that collide: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If </a:t>
            </a:r>
            <a:r>
              <a:rPr lang="en-US" b="1" dirty="0"/>
              <a:t>most</a:t>
            </a:r>
            <a:r>
              <a:rPr lang="en-US" dirty="0"/>
              <a:t> of the original sparse features </a:t>
            </a:r>
            <a:r>
              <a:rPr lang="en-US" b="1" dirty="0"/>
              <a:t>aren’t too important</a:t>
            </a:r>
            <a:r>
              <a:rPr lang="en-US" dirty="0"/>
              <a:t> for the task, this won’t hurt us (much)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4F22FBA-8668-A593-24AC-186619D19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7" y="3689350"/>
          <a:ext cx="34512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368300" progId="Equation.3">
                  <p:embed/>
                </p:oleObj>
              </mc:Choice>
              <mc:Fallback>
                <p:oleObj name="Equation" r:id="rId2" imgW="1155700" imgH="36830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64F22FBA-8668-A593-24AC-186619D19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7" y="3689350"/>
                        <a:ext cx="3451225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39773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1E07-D14C-2FF7-F4EE-662DC440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6A9D2DD-A238-717B-D996-833CF86E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“hash trick”: pros/cons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7262DE-3207-D5E6-1F89-95DABBE98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Memory: Without the hash trick, vocabulary size usually grows with the dataset</a:t>
            </a:r>
          </a:p>
          <a:p>
            <a:pPr lvl="1"/>
            <a:r>
              <a:rPr lang="en-US" dirty="0"/>
              <a:t>For NLP tasks, usually V = O(sqrt(N))</a:t>
            </a:r>
          </a:p>
          <a:p>
            <a:pPr lvl="1"/>
            <a:r>
              <a:rPr lang="en-US" dirty="0"/>
              <a:t>Now it stays constant</a:t>
            </a:r>
          </a:p>
          <a:p>
            <a:pPr lvl="2"/>
            <a:r>
              <a:rPr lang="en-US" dirty="0"/>
              <a:t>Unless you change the hash table size</a:t>
            </a:r>
          </a:p>
          <a:p>
            <a:r>
              <a:rPr lang="en-US" dirty="0"/>
              <a:t>Compute:</a:t>
            </a:r>
          </a:p>
          <a:p>
            <a:pPr lvl="1"/>
            <a:r>
              <a:rPr lang="en-US" dirty="0"/>
              <a:t>Practically it’s much faster to ignore collisions</a:t>
            </a:r>
          </a:p>
          <a:p>
            <a:r>
              <a:rPr lang="en-US" dirty="0"/>
              <a:t>Debugging:</a:t>
            </a:r>
          </a:p>
          <a:p>
            <a:pPr lvl="1"/>
            <a:r>
              <a:rPr lang="en-US" dirty="0"/>
              <a:t>Now features are meaningless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700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AI-generated content may be incorrect.">
            <a:extLst>
              <a:ext uri="{FF2B5EF4-FFF2-40B4-BE49-F238E27FC236}">
                <a16:creationId xmlns:a16="http://schemas.microsoft.com/office/drawing/2014/main" id="{5CB5BDD8-FF37-D76A-01D4-975D1794A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50159" cy="3295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A9B897-BAA0-62D2-D08E-C568D11F05E2}"/>
              </a:ext>
            </a:extLst>
          </p:cNvPr>
          <p:cNvSpPr txBox="1"/>
          <p:nvPr/>
        </p:nvSpPr>
        <p:spPr>
          <a:xfrm>
            <a:off x="5295900" y="3562351"/>
            <a:ext cx="493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 of ML Research, 2009</a:t>
            </a:r>
          </a:p>
        </p:txBody>
      </p:sp>
      <p:pic>
        <p:nvPicPr>
          <p:cNvPr id="6" name="Picture 5" descr="A close-up of a label&#10;&#10;AI-generated content may be incorrect.">
            <a:extLst>
              <a:ext uri="{FF2B5EF4-FFF2-40B4-BE49-F238E27FC236}">
                <a16:creationId xmlns:a16="http://schemas.microsoft.com/office/drawing/2014/main" id="{79B3618E-A1BD-F489-F5AB-D8AAC60B0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53366"/>
            <a:ext cx="7772400" cy="2463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92E8FF-707C-127C-C632-4F44D837B07F}"/>
              </a:ext>
            </a:extLst>
          </p:cNvPr>
          <p:cNvSpPr txBox="1"/>
          <p:nvPr/>
        </p:nvSpPr>
        <p:spPr>
          <a:xfrm>
            <a:off x="6743700" y="6438900"/>
            <a:ext cx="18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20680743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98AB-B102-9FD2-168E-0DE71848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D8A7-FEE0-E6DC-BFB0-9EDCDC778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Authors are interested in fast large-scale linear classifiers</a:t>
            </a:r>
          </a:p>
          <a:p>
            <a:pPr lvl="1"/>
            <a:r>
              <a:rPr lang="en-US" dirty="0"/>
              <a:t>Sparse regularized logistic regression, and linear SVMs</a:t>
            </a:r>
          </a:p>
          <a:p>
            <a:pPr lvl="1"/>
            <a:r>
              <a:rPr lang="en-US" dirty="0"/>
              <a:t>Treat the “hash trick” as a kernel</a:t>
            </a:r>
          </a:p>
          <a:p>
            <a:pPr lvl="2"/>
            <a:r>
              <a:rPr lang="en-US" dirty="0"/>
              <a:t>But solved in the primal space, so it’s really feature </a:t>
            </a:r>
            <a:r>
              <a:rPr lang="en-US" strike="sngStrike" dirty="0"/>
              <a:t>extraction</a:t>
            </a:r>
            <a:r>
              <a:rPr lang="en-US" dirty="0"/>
              <a:t> compression? reduction?</a:t>
            </a:r>
          </a:p>
        </p:txBody>
      </p:sp>
      <p:pic>
        <p:nvPicPr>
          <p:cNvPr id="5" name="Picture 4" descr="A close-up of a symbol&#10;&#10;AI-generated content may be incorrect.">
            <a:extLst>
              <a:ext uri="{FF2B5EF4-FFF2-40B4-BE49-F238E27FC236}">
                <a16:creationId xmlns:a16="http://schemas.microsoft.com/office/drawing/2014/main" id="{FBFC9319-7128-EA0B-B1D7-1D25E636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8" y="5022850"/>
            <a:ext cx="8396883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3776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955A-96C7-7C39-7D50-DD224F81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A511-BF68-9997-8AC8-C2BC6B4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19B10-644F-E333-399C-961DB9608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 means we can introduce lots of features:</a:t>
            </a:r>
          </a:p>
          <a:p>
            <a:pPr lvl="1"/>
            <a:r>
              <a:rPr lang="en-US" dirty="0"/>
              <a:t>We can handle more than just words on a page:</a:t>
            </a:r>
          </a:p>
          <a:p>
            <a:pPr lvl="2"/>
            <a:r>
              <a:rPr lang="en-US" dirty="0"/>
              <a:t>If we care about misspelled terms like “</a:t>
            </a:r>
            <a:r>
              <a:rPr lang="en-US" dirty="0" err="1"/>
              <a:t>Schmithuber</a:t>
            </a:r>
            <a:r>
              <a:rPr lang="en-US" dirty="0"/>
              <a:t>” we can hash in </a:t>
            </a:r>
            <a:r>
              <a:rPr lang="en-US" b="1" u="sng" dirty="0"/>
              <a:t>all substrings</a:t>
            </a:r>
            <a:r>
              <a:rPr lang="en-US" u="sng" dirty="0"/>
              <a:t> </a:t>
            </a:r>
            <a:r>
              <a:rPr lang="en-US" dirty="0"/>
              <a:t>up to some length</a:t>
            </a:r>
          </a:p>
        </p:txBody>
      </p:sp>
    </p:spTree>
    <p:extLst>
      <p:ext uri="{BB962C8B-B14F-4D97-AF65-F5344CB8AC3E}">
        <p14:creationId xmlns:p14="http://schemas.microsoft.com/office/powerpoint/2010/main" val="3496159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ACAA-9C25-A281-3870-2D370167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1E52-C65C-E098-BADD-01EB441A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FEB62-D2AD-F2E4-3B15-52811D245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care about feature interactions</a:t>
            </a:r>
          </a:p>
          <a:p>
            <a:pPr lvl="1"/>
            <a:r>
              <a:rPr lang="en-US" dirty="0"/>
              <a:t>we just add the interactions we care about explicitly </a:t>
            </a:r>
            <a:r>
              <a:rPr lang="en-US" sz="2400" dirty="0"/>
              <a:t>(like for quadratic feature example with linear regression) </a:t>
            </a:r>
            <a:r>
              <a:rPr lang="en-US" dirty="0"/>
              <a:t>and then hash them away</a:t>
            </a:r>
          </a:p>
          <a:p>
            <a:r>
              <a:rPr lang="en-US" dirty="0"/>
              <a:t>Special case used for multiclass classification:</a:t>
            </a:r>
          </a:p>
          <a:p>
            <a:pPr lvl="1"/>
            <a:r>
              <a:rPr lang="en-US" dirty="0"/>
              <a:t>For documents in class “news” replace words like “tariff” with “</a:t>
            </a:r>
            <a:r>
              <a:rPr lang="en-US" dirty="0" err="1"/>
              <a:t>tariff#news</a:t>
            </a:r>
            <a:r>
              <a:rPr lang="en-US" dirty="0"/>
              <a:t>” and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Classify feature vectors like this as +1 (created from the true class) or 0 (created from an incorrect class)</a:t>
            </a:r>
          </a:p>
          <a:p>
            <a:pPr lvl="1"/>
            <a:r>
              <a:rPr lang="en-US" dirty="0"/>
              <a:t>Cycle through possible classes at test time and see which assigned class looks “most positive”</a:t>
            </a:r>
          </a:p>
        </p:txBody>
      </p:sp>
    </p:spTree>
    <p:extLst>
      <p:ext uri="{BB962C8B-B14F-4D97-AF65-F5344CB8AC3E}">
        <p14:creationId xmlns:p14="http://schemas.microsoft.com/office/powerpoint/2010/main" val="10656390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9320-E00F-625E-602E-4623D15D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7ED2E-B52D-52BC-1AC7-22EF56D96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Q: How different is the original kernel K(</a:t>
            </a:r>
            <a:r>
              <a:rPr lang="en-US" dirty="0" err="1"/>
              <a:t>x,x</a:t>
            </a:r>
            <a:r>
              <a:rPr lang="en-US" dirty="0"/>
              <a:t>’) from the hash kernel?</a:t>
            </a:r>
          </a:p>
          <a:p>
            <a:r>
              <a:rPr lang="en-US" dirty="0"/>
              <a:t>A: there is a bias due to adding collisions, but it’s minimal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4875EF-1BDA-C626-4E61-CBA60B22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Results</a:t>
            </a:r>
          </a:p>
        </p:txBody>
      </p:sp>
    </p:spTree>
    <p:extLst>
      <p:ext uri="{BB962C8B-B14F-4D97-AF65-F5344CB8AC3E}">
        <p14:creationId xmlns:p14="http://schemas.microsoft.com/office/powerpoint/2010/main" val="409545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5CDC-9CF9-C89A-51CC-BE1374EA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FAD82-BCA9-CFC6-0E37-551CE3E0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299"/>
            <a:ext cx="2628901" cy="2693599"/>
          </a:xfrm>
        </p:spPr>
        <p:txBody>
          <a:bodyPr>
            <a:normAutofit/>
          </a:bodyPr>
          <a:lstStyle/>
          <a:p>
            <a:r>
              <a:rPr lang="en-US" sz="2000" dirty="0"/>
              <a:t>Q: How different is the original kernel K(</a:t>
            </a:r>
            <a:r>
              <a:rPr lang="en-US" sz="2000" dirty="0" err="1"/>
              <a:t>x,x</a:t>
            </a:r>
            <a:r>
              <a:rPr lang="en-US" sz="2000" dirty="0"/>
              <a:t>’) from the hash kernel?</a:t>
            </a:r>
          </a:p>
          <a:p>
            <a:r>
              <a:rPr lang="en-US" sz="2000" dirty="0"/>
              <a:t>A: there is a bias due to adding collisions, but it’s minimal</a:t>
            </a:r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B1D38F-FD96-14C2-950E-B016ACFA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Results</a:t>
            </a:r>
          </a:p>
        </p:txBody>
      </p:sp>
      <p:pic>
        <p:nvPicPr>
          <p:cNvPr id="4" name="Picture 3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532B7FC4-6004-D318-2B3E-FD311CD7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990600"/>
            <a:ext cx="5892800" cy="55753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EB9AE0-CC35-2F11-859B-93AA80507F7D}"/>
              </a:ext>
            </a:extLst>
          </p:cNvPr>
          <p:cNvSpPr txBox="1">
            <a:spLocks/>
          </p:cNvSpPr>
          <p:nvPr/>
        </p:nvSpPr>
        <p:spPr>
          <a:xfrm>
            <a:off x="311149" y="4111235"/>
            <a:ext cx="2597151" cy="23606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mbria Math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Note this doesn’t prove the hash kernel “works” – it does give some intuition that the hash trick won’t change the problem “too much”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5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8F96-E660-96FF-2F21-123635A9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8A099-7427-A719-7FA0-84BB6358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Observation: in NLP (especially with substrings and </a:t>
            </a:r>
            <a:r>
              <a:rPr lang="en-US" dirty="0" err="1"/>
              <a:t>terms#class</a:t>
            </a:r>
            <a:r>
              <a:rPr lang="en-US" dirty="0"/>
              <a:t> as features) there are often highly-correlated features “duplicates”</a:t>
            </a:r>
          </a:p>
          <a:p>
            <a:pPr lvl="1"/>
            <a:r>
              <a:rPr lang="en-US" dirty="0"/>
              <a:t>Or you can create duplicates explicitly by hashing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“William#1”, “William#2”, “William#3”, </a:t>
            </a:r>
            <a:r>
              <a:rPr lang="en-US" dirty="0"/>
              <a:t>etc.</a:t>
            </a:r>
          </a:p>
          <a:p>
            <a:r>
              <a:rPr lang="en-US" dirty="0"/>
              <a:t>Q: How much loss of information is there if you assume duplicates exist?</a:t>
            </a:r>
          </a:p>
          <a:p>
            <a:r>
              <a:rPr lang="en-US" dirty="0"/>
              <a:t>A: very little!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10k features, 10M hash buckets, 3 duplicates of each feature, </a:t>
            </a:r>
            <a:r>
              <a:rPr lang="en-US" dirty="0" err="1"/>
              <a:t>Pr</a:t>
            </a:r>
            <a:r>
              <a:rPr lang="en-US" dirty="0"/>
              <a:t>(all duplicates of any feature collide) ~= 1%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D5B916-BDB3-F8F1-CAAF-1C346456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results</a:t>
            </a:r>
          </a:p>
        </p:txBody>
      </p:sp>
    </p:spTree>
    <p:extLst>
      <p:ext uri="{BB962C8B-B14F-4D97-AF65-F5344CB8AC3E}">
        <p14:creationId xmlns:p14="http://schemas.microsoft.com/office/powerpoint/2010/main" val="14918364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177BD-84EE-957C-0254-8C74408A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9A8E77-F3F2-0119-953D-4B688801D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578C3B8D-38FD-B13A-8CCA-5096E12F6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23" y="1443036"/>
            <a:ext cx="8652754" cy="25574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0DA5C8-975B-E68D-FEE5-4741A9FD5075}"/>
              </a:ext>
            </a:extLst>
          </p:cNvPr>
          <p:cNvSpPr/>
          <p:nvPr/>
        </p:nvSpPr>
        <p:spPr>
          <a:xfrm>
            <a:off x="438150" y="2914650"/>
            <a:ext cx="8305800" cy="51435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B050A480-FB94-D21E-351A-85B255F26DFB}"/>
              </a:ext>
            </a:extLst>
          </p:cNvPr>
          <p:cNvSpPr/>
          <p:nvPr/>
        </p:nvSpPr>
        <p:spPr>
          <a:xfrm rot="20151677">
            <a:off x="1085850" y="3870324"/>
            <a:ext cx="609600" cy="1257300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3474E-FB05-99F4-A364-722326D5CEEE}"/>
              </a:ext>
            </a:extLst>
          </p:cNvPr>
          <p:cNvSpPr txBox="1"/>
          <p:nvPr/>
        </p:nvSpPr>
        <p:spPr>
          <a:xfrm>
            <a:off x="1390650" y="4984173"/>
            <a:ext cx="6532317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/>
              <a:t>Hash kernel version of VW learner</a:t>
            </a:r>
          </a:p>
        </p:txBody>
      </p:sp>
    </p:spTree>
    <p:extLst>
      <p:ext uri="{BB962C8B-B14F-4D97-AF65-F5344CB8AC3E}">
        <p14:creationId xmlns:p14="http://schemas.microsoft.com/office/powerpoint/2010/main" val="4149465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E8C7-7CC3-57BD-2E12-74D1A1D6C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9279E7-26E6-AC46-2372-5934B23C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86CCD55F-5915-34D4-7806-5CA96192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454150"/>
            <a:ext cx="8520268" cy="3639522"/>
          </a:xfrm>
          <a:prstGeom prst="rect">
            <a:avLst/>
          </a:prstGeom>
        </p:spPr>
      </p:pic>
      <p:pic>
        <p:nvPicPr>
          <p:cNvPr id="6" name="Picture 5" descr="A black text with black numbers&#10;&#10;AI-generated content may be incorrect.">
            <a:extLst>
              <a:ext uri="{FF2B5EF4-FFF2-40B4-BE49-F238E27FC236}">
                <a16:creationId xmlns:a16="http://schemas.microsoft.com/office/drawing/2014/main" id="{51701144-12FB-284C-44EE-7FDC77FB6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99" y="5093672"/>
            <a:ext cx="8543277" cy="12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98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71C4-45AD-D066-7FC8-77EE9E76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filtering at Yahoo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D852-7ED2-1819-571B-97BF443D7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3.2M emails, 433k users</a:t>
            </a:r>
          </a:p>
          <a:p>
            <a:r>
              <a:rPr lang="en-US" dirty="0"/>
              <a:t>Emails have tokens and user-id. Features:</a:t>
            </a:r>
          </a:p>
          <a:p>
            <a:pPr lvl="1"/>
            <a:r>
              <a:rPr lang="en-US" dirty="0"/>
              <a:t>original tokens (hashed): “dear”, “sir”, “please”, ”accept”, …</a:t>
            </a:r>
          </a:p>
          <a:p>
            <a:pPr lvl="1"/>
            <a:r>
              <a:rPr lang="en-US" dirty="0"/>
              <a:t>original tokens paired with user id: “</a:t>
            </a:r>
            <a:r>
              <a:rPr lang="en-US" dirty="0" err="1"/>
              <a:t>dear#wcohen</a:t>
            </a:r>
            <a:r>
              <a:rPr lang="en-US" dirty="0"/>
              <a:t>”, “</a:t>
            </a:r>
            <a:r>
              <a:rPr lang="en-US" dirty="0" err="1"/>
              <a:t>sir#wcohen</a:t>
            </a:r>
            <a:r>
              <a:rPr lang="en-US" dirty="0"/>
              <a:t>”, …</a:t>
            </a:r>
          </a:p>
          <a:p>
            <a:r>
              <a:rPr lang="en-US" dirty="0"/>
              <a:t>Everything is put in one giant classifier</a:t>
            </a:r>
          </a:p>
          <a:p>
            <a:pPr lvl="1"/>
            <a:r>
              <a:rPr lang="en-US" dirty="0"/>
              <a:t>Intuition: the model will learn something from the general features and can refine the model with user-specific features if there is enough data from that user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07C47-D254-125F-C826-5E7C9EC3B1EE}"/>
              </a:ext>
            </a:extLst>
          </p:cNvPr>
          <p:cNvSpPr txBox="1"/>
          <p:nvPr/>
        </p:nvSpPr>
        <p:spPr>
          <a:xfrm>
            <a:off x="5229226" y="1096962"/>
            <a:ext cx="338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Weinberge</a:t>
            </a:r>
            <a:r>
              <a:rPr lang="en-US" dirty="0"/>
              <a:t> et al 2010 paper</a:t>
            </a:r>
          </a:p>
        </p:txBody>
      </p:sp>
    </p:spTree>
    <p:extLst>
      <p:ext uri="{BB962C8B-B14F-4D97-AF65-F5344CB8AC3E}">
        <p14:creationId xmlns:p14="http://schemas.microsoft.com/office/powerpoint/2010/main" val="283705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906462"/>
          </a:xfrm>
        </p:spPr>
        <p:txBody>
          <a:bodyPr/>
          <a:lstStyle/>
          <a:p>
            <a:r>
              <a:rPr lang="en-US" dirty="0"/>
              <a:t>An example</a:t>
            </a:r>
          </a:p>
        </p:txBody>
      </p:sp>
      <p:pic>
        <p:nvPicPr>
          <p:cNvPr id="3" name="Picture 2" descr="Screen Shot 2012-02-15 at 12.32.4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04" y="266084"/>
            <a:ext cx="7870944" cy="6591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3053" y="3689683"/>
            <a:ext cx="240759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2^26 entries = 1 Gb @ 8bytes/weight</a:t>
            </a:r>
          </a:p>
        </p:txBody>
      </p:sp>
    </p:spTree>
    <p:extLst>
      <p:ext uri="{BB962C8B-B14F-4D97-AF65-F5344CB8AC3E}">
        <p14:creationId xmlns:p14="http://schemas.microsoft.com/office/powerpoint/2010/main" val="33831560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Machine Learning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211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BD58-6B1A-33A5-B7AA-DB6E2272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0DC2-625C-4290-6362-9FEAF588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Recap: Parallel SGD?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589CA-1B10-B80D-FB0C-61C768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FF4A0E-2A8E-585E-82AA-9368F00CC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2630394"/>
            <a:ext cx="8648700" cy="38148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Option 1: Make minibatch B larger and parallelize computation of B</a:t>
            </a:r>
          </a:p>
          <a:p>
            <a:pPr lvl="1"/>
            <a:r>
              <a:rPr lang="en-US" dirty="0"/>
              <a:t>E.g., vectorize the gradient computation and use a GPU</a:t>
            </a:r>
          </a:p>
          <a:p>
            <a:r>
              <a:rPr lang="en-US" dirty="0"/>
              <a:t>Alternative to batch: Run multiple SGD processes in parallel, and synchronize them occasionally</a:t>
            </a:r>
          </a:p>
          <a:p>
            <a:pPr lvl="1"/>
            <a:r>
              <a:rPr lang="en-US" dirty="0"/>
              <a:t>More on this later</a:t>
            </a:r>
          </a:p>
          <a:p>
            <a:pPr lvl="1"/>
            <a:r>
              <a:rPr lang="en-US" dirty="0"/>
              <a:t>Better suited to cluster-level parallelism</a:t>
            </a:r>
          </a:p>
          <a:p>
            <a:pPr lvl="1"/>
            <a:r>
              <a:rPr lang="en-US" dirty="0"/>
              <a:t>Harder to analyze and few formal guarantees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108D8-2986-3D38-DA8C-196CC5F83367}"/>
              </a:ext>
            </a:extLst>
          </p:cNvPr>
          <p:cNvSpPr txBox="1"/>
          <p:nvPr/>
        </p:nvSpPr>
        <p:spPr>
          <a:xfrm>
            <a:off x="4329932" y="805306"/>
            <a:ext cx="48140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Initialize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t=1, … until converged: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example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 gradient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Update: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sz="2000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prev</a:t>
            </a:r>
            <a:r>
              <a:rPr lang="en-US" sz="20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 ⍺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E767A45-580A-EC2B-25FC-2412E8F7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9288"/>
            <a:ext cx="9050306" cy="30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021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D9541-E299-D550-33F5-597A02FE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FA4A2-E023-F89E-7A55-ECE0CF7A0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352901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replicate the model and partition the data</a:t>
            </a:r>
          </a:p>
          <a:p>
            <a:pPr lvl="1"/>
            <a:r>
              <a:rPr lang="en-US" dirty="0"/>
              <a:t>our focus so far</a:t>
            </a:r>
          </a:p>
          <a:p>
            <a:r>
              <a:rPr lang="en-US" b="1" dirty="0"/>
              <a:t>Model parallelism </a:t>
            </a:r>
            <a:r>
              <a:rPr lang="en-US" sz="2400" dirty="0"/>
              <a:t>(related to “pipeline parallelism”)</a:t>
            </a:r>
          </a:p>
          <a:p>
            <a:pPr lvl="1"/>
            <a:r>
              <a:rPr lang="en-US" dirty="0"/>
              <a:t>partition the model</a:t>
            </a:r>
          </a:p>
          <a:p>
            <a:pPr lvl="2"/>
            <a:r>
              <a:rPr lang="en-US" dirty="0"/>
              <a:t>e.g., each worker has different parts of a huge LLM</a:t>
            </a:r>
          </a:p>
          <a:p>
            <a:r>
              <a:rPr lang="en-US" b="1" dirty="0"/>
              <a:t>Tensor parallelism </a:t>
            </a:r>
            <a:r>
              <a:rPr lang="en-US" sz="2400" dirty="0"/>
              <a:t>(related to “Zero Redundancy Optimizer, </a:t>
            </a:r>
            <a:r>
              <a:rPr lang="en-US" sz="2400" dirty="0" err="1"/>
              <a:t>ZeRO</a:t>
            </a:r>
            <a:r>
              <a:rPr lang="en-US" sz="2400" dirty="0"/>
              <a:t>”)</a:t>
            </a:r>
            <a:endParaRPr lang="en-US" dirty="0"/>
          </a:p>
          <a:p>
            <a:pPr lvl="1"/>
            <a:r>
              <a:rPr lang="en-US" dirty="0"/>
              <a:t>partition individual tensors/matrices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41F0-5B80-75F4-2479-F298D7A5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D604B-B604-FC60-50F1-5FEBBA384BC4}"/>
              </a:ext>
            </a:extLst>
          </p:cNvPr>
          <p:cNvSpPr txBox="1"/>
          <p:nvPr/>
        </p:nvSpPr>
        <p:spPr>
          <a:xfrm>
            <a:off x="4329113" y="530225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https://arxiv.org/abs/2003.06307</a:t>
            </a:r>
            <a:r>
              <a:rPr lang="en-US" dirty="0"/>
              <a:t> 2023 survey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D47AC2-0AA4-8C6A-C8FC-1A96A87B2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63" y="4946651"/>
            <a:ext cx="8947537" cy="10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890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BB3DB-EB62-88D0-FAF0-52800BF3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B57D-6B60-DECE-14BA-1A278608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6AABC-C60A-1E32-0B81-C3691868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1"/>
            <a:ext cx="8947537" cy="2300288"/>
          </a:xfrm>
        </p:spPr>
        <p:txBody>
          <a:bodyPr>
            <a:normAutofit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r>
              <a:rPr lang="en-US" b="1" dirty="0"/>
              <a:t>Model parallelism </a:t>
            </a:r>
            <a:r>
              <a:rPr lang="en-US" sz="2400" dirty="0"/>
              <a:t>(related to “pipeline parallelism”)</a:t>
            </a:r>
          </a:p>
          <a:p>
            <a:r>
              <a:rPr lang="en-US" b="1" dirty="0"/>
              <a:t>Tensor parallelism </a:t>
            </a:r>
            <a:r>
              <a:rPr lang="en-US" sz="2400" dirty="0"/>
              <a:t>(related to “Zero Redundancy Optimizer, </a:t>
            </a:r>
            <a:r>
              <a:rPr lang="en-US" sz="2400" dirty="0" err="1"/>
              <a:t>ZeRO</a:t>
            </a:r>
            <a:r>
              <a:rPr lang="en-US" sz="2400" dirty="0"/>
              <a:t>”)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768D5-5E40-8F36-150C-B0386F46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2D212D-9FBC-36C6-3863-9DD5CED6B021}"/>
              </a:ext>
            </a:extLst>
          </p:cNvPr>
          <p:cNvSpPr txBox="1"/>
          <p:nvPr/>
        </p:nvSpPr>
        <p:spPr>
          <a:xfrm>
            <a:off x="4329113" y="530225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https://arxiv.org/abs/2003.06307</a:t>
            </a:r>
            <a:r>
              <a:rPr lang="en-US" dirty="0"/>
              <a:t> 2023 survey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A61D7-2FCB-241E-B361-B1FF6592C3E3}"/>
              </a:ext>
            </a:extLst>
          </p:cNvPr>
          <p:cNvSpPr txBox="1"/>
          <p:nvPr/>
        </p:nvSpPr>
        <p:spPr>
          <a:xfrm>
            <a:off x="528638" y="3714750"/>
            <a:ext cx="76009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Modern training systems often combine these:</a:t>
            </a:r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DeepSeek-V3</a:t>
            </a:r>
            <a:r>
              <a:rPr lang="en-US" sz="2400" dirty="0"/>
              <a:t> used pipeline parallelism, data parallelism, and </a:t>
            </a:r>
            <a:r>
              <a:rPr lang="en-US" sz="2400" dirty="0" err="1"/>
              <a:t>ZeRO</a:t>
            </a:r>
            <a:r>
              <a:rPr lang="en-US" sz="2400" dirty="0"/>
              <a:t> + “expert parallelism” (another kind of model parallelism).</a:t>
            </a:r>
          </a:p>
          <a:p>
            <a:endParaRPr lang="en-US" sz="2400" dirty="0"/>
          </a:p>
          <a:p>
            <a:r>
              <a:rPr lang="en-US" sz="2400" dirty="0"/>
              <a:t>Also, compressed synchronization by communicating limited-precision updates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E27603-49A0-61DF-AD14-0453B777D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84" y="1282698"/>
            <a:ext cx="8803631" cy="243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3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0E15-0A6A-3011-4702-EB4F69E8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18C5-4185-E38E-7512-F8D0C76F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2ED5-9B8C-7A54-3A9C-C78E3DAA4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when is it ok to optimize a “stale” set of weights?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information?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F399-7183-4559-4761-788C043F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69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40FB-6E37-87E6-44DD-CDF8AB46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2614-15E6-80CA-D690-C30A84B8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Parallel ML:  Maximal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270EE-3F3D-98A8-4617-A77F0C9E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677987"/>
            <a:ext cx="8648700" cy="4313237"/>
          </a:xfrm>
        </p:spPr>
        <p:txBody>
          <a:bodyPr/>
          <a:lstStyle/>
          <a:p>
            <a:r>
              <a:rPr lang="en-US" dirty="0"/>
              <a:t>Batch gradient descent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242DE-6C9B-CF55-D65E-58C56432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817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5975-FA85-CB7C-2E89-6A25CB8EF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827-42A0-41ED-37DD-75181F6B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Parallel ML:  Minimal 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C2C77-E90E-90EF-80EF-A5B60508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EBC1E-4771-2ED8-A8AF-142B4635D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1069"/>
            <a:ext cx="9144000" cy="468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011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086"/>
            <a:ext cx="9144000" cy="19210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8263"/>
            <a:ext cx="9144000" cy="35780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378"/>
          <a:stretch/>
        </p:blipFill>
        <p:spPr>
          <a:xfrm>
            <a:off x="3509319" y="1192431"/>
            <a:ext cx="5634681" cy="17634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3092" y="3916427"/>
            <a:ext cx="294090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data is </a:t>
            </a:r>
            <a:r>
              <a:rPr lang="en-US" i="1" dirty="0"/>
              <a:t>not </a:t>
            </a:r>
            <a:r>
              <a:rPr lang="en-US" dirty="0" err="1"/>
              <a:t>sharded</a:t>
            </a:r>
            <a:r>
              <a:rPr lang="en-US" dirty="0"/>
              <a:t> into disjoint sets: </a:t>
            </a:r>
            <a:r>
              <a:rPr lang="en-US" b="1" dirty="0"/>
              <a:t>all</a:t>
            </a:r>
            <a:r>
              <a:rPr lang="en-US" dirty="0"/>
              <a:t> machines get </a:t>
            </a:r>
            <a:r>
              <a:rPr lang="en-US" b="1" dirty="0"/>
              <a:t>all*</a:t>
            </a:r>
            <a:r>
              <a:rPr lang="en-US" dirty="0"/>
              <a:t>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2860" y="4969041"/>
            <a:ext cx="243428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* Not actually </a:t>
            </a:r>
            <a:r>
              <a:rPr lang="en-US" b="1" dirty="0"/>
              <a:t>all</a:t>
            </a:r>
            <a:r>
              <a:rPr lang="en-US" dirty="0"/>
              <a:t> but as much </a:t>
            </a:r>
            <a:r>
              <a:rPr lang="en-US"/>
              <a:t>as it will have time to look at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24896" y="5892371"/>
            <a:ext cx="357110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Think of this as an ensemble with limited training time</a:t>
            </a:r>
            <a:r>
              <a:rPr lang="mr-IN" dirty="0"/>
              <a:t>…</a:t>
            </a:r>
            <a:r>
              <a:rPr lang="en-US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552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57"/>
            <a:ext cx="4813520" cy="35711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573" y="-86499"/>
            <a:ext cx="4700254" cy="3571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2875" y="3855308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loss (L2)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30312" y="3829223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Test loss </a:t>
            </a:r>
            <a:r>
              <a:rPr lang="en-US" dirty="0"/>
              <a:t>(L2)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9816" y="4831492"/>
            <a:ext cx="705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also a formal bound on regret relative to the best classifier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25F10-F1E7-010A-3A03-B570A8BACF95}"/>
              </a:ext>
            </a:extLst>
          </p:cNvPr>
          <p:cNvSpPr txBox="1"/>
          <p:nvPr/>
        </p:nvSpPr>
        <p:spPr>
          <a:xfrm>
            <a:off x="2782049" y="5593921"/>
            <a:ext cx="4319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</a:t>
            </a:r>
            <a:r>
              <a:rPr lang="en-US" i="1" dirty="0"/>
              <a:t>convex</a:t>
            </a:r>
            <a:r>
              <a:rPr lang="en-US" dirty="0"/>
              <a:t> optimization problem!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A930B75-C3A7-C1B5-7701-D584C711EF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299"/>
          <a:stretch/>
        </p:blipFill>
        <p:spPr>
          <a:xfrm>
            <a:off x="312517" y="3061169"/>
            <a:ext cx="9050306" cy="15361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C6FF81-22C2-E720-1423-38654B1FA1CC}"/>
              </a:ext>
            </a:extLst>
          </p:cNvPr>
          <p:cNvSpPr txBox="1"/>
          <p:nvPr/>
        </p:nvSpPr>
        <p:spPr>
          <a:xfrm>
            <a:off x="4910399" y="3232382"/>
            <a:ext cx="21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fewerIters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=1</a:t>
            </a:r>
          </a:p>
        </p:txBody>
      </p:sp>
    </p:spTree>
    <p:extLst>
      <p:ext uri="{BB962C8B-B14F-4D97-AF65-F5344CB8AC3E}">
        <p14:creationId xmlns:p14="http://schemas.microsoft.com/office/powerpoint/2010/main" val="119336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7E3C-1356-1A07-D15C-EE1C3D28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5019-477E-10FA-D081-D2FF6516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Parallel ML:  Intermediate Synchronization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311E2-5C12-AAD3-A8F0-E0FB0B2E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71</a:t>
            </a:fld>
            <a:endParaRPr lang="en-US"/>
          </a:p>
        </p:txBody>
      </p:sp>
      <p:pic>
        <p:nvPicPr>
          <p:cNvPr id="3" name="Picture 2" descr="Screen shot 2012-02-06 at 10.28.38 AM.png">
            <a:extLst>
              <a:ext uri="{FF2B5EF4-FFF2-40B4-BE49-F238E27FC236}">
                <a16:creationId xmlns:a16="http://schemas.microsoft.com/office/drawing/2014/main" id="{CD9CD99B-BDD3-5160-2970-EF9C15A1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744358"/>
            <a:ext cx="8255000" cy="2169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8DB92D-1565-6C98-9B3A-A1F271271B03}"/>
              </a:ext>
            </a:extLst>
          </p:cNvPr>
          <p:cNvSpPr txBox="1"/>
          <p:nvPr/>
        </p:nvSpPr>
        <p:spPr>
          <a:xfrm>
            <a:off x="1809750" y="3913491"/>
            <a:ext cx="469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NAACL 2010</a:t>
            </a:r>
          </a:p>
        </p:txBody>
      </p:sp>
    </p:spTree>
    <p:extLst>
      <p:ext uri="{BB962C8B-B14F-4D97-AF65-F5344CB8AC3E}">
        <p14:creationId xmlns:p14="http://schemas.microsoft.com/office/powerpoint/2010/main" val="13203371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</a:t>
            </a:r>
            <a:r>
              <a:rPr lang="en-US" dirty="0" err="1"/>
              <a:t>Perceptrons</a:t>
            </a:r>
            <a:r>
              <a:rPr lang="en-US" dirty="0"/>
              <a:t>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257299"/>
            <a:ext cx="8494184" cy="2870201"/>
          </a:xfrm>
        </p:spPr>
        <p:txBody>
          <a:bodyPr>
            <a:noAutofit/>
          </a:bodyPr>
          <a:lstStyle/>
          <a:p>
            <a:r>
              <a:rPr lang="en-US" sz="2000" dirty="0"/>
              <a:t>Simplest idea:</a:t>
            </a:r>
          </a:p>
          <a:p>
            <a:pPr lvl="1"/>
            <a:r>
              <a:rPr lang="en-US" sz="2000" dirty="0"/>
              <a:t>Split data into S “shards”</a:t>
            </a:r>
          </a:p>
          <a:p>
            <a:pPr lvl="1"/>
            <a:r>
              <a:rPr lang="en-US" sz="2000" dirty="0"/>
              <a:t>Train a perceptron on each shard independently</a:t>
            </a:r>
          </a:p>
          <a:p>
            <a:pPr lvl="2"/>
            <a:r>
              <a:rPr lang="en-US" sz="2000" dirty="0"/>
              <a:t>weight vectors are </a:t>
            </a:r>
            <a:r>
              <a:rPr lang="en-US" sz="2000" b="1" dirty="0"/>
              <a:t>w</a:t>
            </a:r>
            <a:r>
              <a:rPr lang="en-US" sz="2000" baseline="30000" dirty="0"/>
              <a:t>(1)</a:t>
            </a:r>
            <a:r>
              <a:rPr lang="en-US" sz="2000" dirty="0"/>
              <a:t> ,</a:t>
            </a:r>
            <a:r>
              <a:rPr lang="en-US" sz="2000" b="1" dirty="0"/>
              <a:t> w</a:t>
            </a:r>
            <a:r>
              <a:rPr lang="en-US" sz="2000" baseline="30000" dirty="0"/>
              <a:t>(2)</a:t>
            </a:r>
            <a:r>
              <a:rPr lang="en-US" sz="2000" dirty="0"/>
              <a:t> , …</a:t>
            </a:r>
            <a:endParaRPr lang="en-US" sz="2000" baseline="30000" dirty="0"/>
          </a:p>
          <a:p>
            <a:pPr lvl="1"/>
            <a:r>
              <a:rPr lang="en-US" sz="2000" dirty="0"/>
              <a:t>Produce some weighted average of the </a:t>
            </a:r>
            <a:r>
              <a:rPr lang="en-US" sz="2000" b="1" dirty="0"/>
              <a:t>w</a:t>
            </a:r>
            <a:r>
              <a:rPr lang="en-US" sz="2000" baseline="30000" dirty="0"/>
              <a:t>(</a:t>
            </a:r>
            <a:r>
              <a:rPr lang="en-US" sz="2000" baseline="30000" dirty="0" err="1"/>
              <a:t>i</a:t>
            </a:r>
            <a:r>
              <a:rPr lang="en-US" sz="2000" baseline="30000" dirty="0"/>
              <a:t>)</a:t>
            </a:r>
            <a:r>
              <a:rPr lang="en-US" sz="2000" dirty="0"/>
              <a:t>‘s  as the final result</a:t>
            </a:r>
          </a:p>
          <a:p>
            <a:pPr lvl="1"/>
            <a:endParaRPr lang="en-US" sz="2000" dirty="0"/>
          </a:p>
          <a:p>
            <a:r>
              <a:rPr lang="en-US" sz="2000" dirty="0"/>
              <a:t>Theorem: this doesn’t always work.</a:t>
            </a:r>
          </a:p>
          <a:p>
            <a:r>
              <a:rPr lang="en-US" sz="2000" dirty="0"/>
              <a:t>Proof:  by constructing an example  where you can converge on every shard, and still have the averaged vector </a:t>
            </a:r>
            <a:r>
              <a:rPr lang="en-US" sz="2000" i="1" dirty="0"/>
              <a:t>not </a:t>
            </a:r>
            <a:r>
              <a:rPr lang="en-US" sz="2000" dirty="0"/>
              <a:t>separate the full training set – no matter </a:t>
            </a:r>
            <a:r>
              <a:rPr lang="en-US" sz="2000" i="1" dirty="0"/>
              <a:t>how</a:t>
            </a:r>
            <a:r>
              <a:rPr lang="en-US" sz="2000" dirty="0"/>
              <a:t> you average the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7AA7C-B6B4-8F1D-057A-3EF92575437C}"/>
              </a:ext>
            </a:extLst>
          </p:cNvPr>
          <p:cNvSpPr txBox="1"/>
          <p:nvPr/>
        </p:nvSpPr>
        <p:spPr>
          <a:xfrm>
            <a:off x="6059488" y="450631"/>
            <a:ext cx="2855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*similar to logistic regression with SGD</a:t>
            </a:r>
          </a:p>
        </p:txBody>
      </p:sp>
    </p:spTree>
    <p:extLst>
      <p:ext uri="{BB962C8B-B14F-4D97-AF65-F5344CB8AC3E}">
        <p14:creationId xmlns:p14="http://schemas.microsoft.com/office/powerpoint/2010/main" val="126747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Perceptrons – take 2</a:t>
            </a:r>
          </a:p>
        </p:txBody>
      </p:sp>
      <p:pic>
        <p:nvPicPr>
          <p:cNvPr id="7" name="Content Placeholder 6" descr="Screen shot 2012-02-06 at 10.37.11 AM.png"/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-3298" b="-3298"/>
          <a:stretch>
            <a:fillRect/>
          </a:stretch>
        </p:blipFill>
        <p:spPr>
          <a:xfrm>
            <a:off x="764117" y="1746250"/>
            <a:ext cx="4038600" cy="4525963"/>
          </a:xfrm>
        </p:spPr>
      </p:pic>
      <p:sp>
        <p:nvSpPr>
          <p:cNvPr id="8" name="TextBox 7"/>
          <p:cNvSpPr txBox="1"/>
          <p:nvPr/>
        </p:nvSpPr>
        <p:spPr>
          <a:xfrm>
            <a:off x="4802717" y="1746250"/>
            <a:ext cx="3884083" cy="535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Idea: do the simplest possible thing iteratively.</a:t>
            </a:r>
          </a:p>
          <a:p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 Split the data into shards</a:t>
            </a:r>
          </a:p>
          <a:p>
            <a:pPr>
              <a:buFont typeface="Arial"/>
              <a:buChar char="•"/>
            </a:pPr>
            <a:r>
              <a:rPr lang="en-US" dirty="0"/>
              <a:t> Let </a:t>
            </a:r>
            <a:r>
              <a:rPr lang="en-US" b="1" dirty="0" err="1"/>
              <a:t>w</a:t>
            </a:r>
            <a:r>
              <a:rPr lang="en-US" b="1" dirty="0"/>
              <a:t> = 0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 For </a:t>
            </a:r>
            <a:r>
              <a:rPr lang="en-US" dirty="0" err="1"/>
              <a:t>n</a:t>
            </a:r>
            <a:r>
              <a:rPr lang="en-US" dirty="0"/>
              <a:t>=1,…</a:t>
            </a:r>
          </a:p>
          <a:p>
            <a:pPr lvl="1">
              <a:buFont typeface="Arial"/>
              <a:buChar char="•"/>
            </a:pPr>
            <a:r>
              <a:rPr lang="en-US" dirty="0"/>
              <a:t> Train a </a:t>
            </a:r>
            <a:r>
              <a:rPr lang="en-US" dirty="0" err="1"/>
              <a:t>perceptron</a:t>
            </a:r>
            <a:r>
              <a:rPr lang="en-US" dirty="0"/>
              <a:t> on each shard with one pass</a:t>
            </a:r>
            <a:r>
              <a:rPr lang="en-US" b="1" dirty="0"/>
              <a:t> </a:t>
            </a:r>
            <a:r>
              <a:rPr lang="en-US" i="1" dirty="0"/>
              <a:t>starting with </a:t>
            </a:r>
            <a:r>
              <a:rPr lang="en-US" b="1" dirty="0" err="1"/>
              <a:t>w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dirty="0"/>
              <a:t>Average the weight vectors (somehow) and let </a:t>
            </a:r>
            <a:r>
              <a:rPr lang="en-US" b="1" dirty="0" err="1"/>
              <a:t>w</a:t>
            </a:r>
            <a:r>
              <a:rPr lang="en-US" b="1" dirty="0"/>
              <a:t> </a:t>
            </a:r>
            <a:r>
              <a:rPr lang="en-US" dirty="0"/>
              <a:t>be that average </a:t>
            </a:r>
          </a:p>
          <a:p>
            <a:pPr lvl="1">
              <a:buFont typeface="Arial"/>
              <a:buChar char="•"/>
            </a:pPr>
            <a:endParaRPr lang="en-US" dirty="0"/>
          </a:p>
          <a:p>
            <a:r>
              <a:rPr lang="en-US" dirty="0"/>
              <a:t>Extra communication cost: </a:t>
            </a:r>
          </a:p>
          <a:p>
            <a:pPr>
              <a:buFont typeface="Arial"/>
              <a:buChar char="•"/>
            </a:pPr>
            <a:r>
              <a:rPr lang="en-US" dirty="0"/>
              <a:t> redistributing the weight vectors</a:t>
            </a:r>
          </a:p>
          <a:p>
            <a:pPr>
              <a:buFont typeface="Arial"/>
              <a:buChar char="•"/>
            </a:pPr>
            <a:r>
              <a:rPr lang="en-US" dirty="0"/>
              <a:t> done less frequently than if fully synchronized, more frequently than if fully parallelized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28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Parallelizing perceptrons – take 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87401" y="2188085"/>
            <a:ext cx="7308849" cy="3560236"/>
            <a:chOff x="586318" y="1703869"/>
            <a:chExt cx="8324848" cy="4339588"/>
          </a:xfrm>
        </p:grpSpPr>
        <p:sp>
          <p:nvSpPr>
            <p:cNvPr id="5" name="Can 4"/>
            <p:cNvSpPr/>
            <p:nvPr/>
          </p:nvSpPr>
          <p:spPr>
            <a:xfrm>
              <a:off x="3334809" y="1703869"/>
              <a:ext cx="2741083" cy="893233"/>
            </a:xfrm>
            <a:prstGeom prst="can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</a:t>
              </a:r>
            </a:p>
          </p:txBody>
        </p:sp>
        <p:sp>
          <p:nvSpPr>
            <p:cNvPr id="8" name="Can 7"/>
            <p:cNvSpPr/>
            <p:nvPr/>
          </p:nvSpPr>
          <p:spPr>
            <a:xfrm>
              <a:off x="586318" y="2872269"/>
              <a:ext cx="2451100" cy="893233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 – 1</a:t>
              </a:r>
            </a:p>
          </p:txBody>
        </p:sp>
        <p:sp>
          <p:nvSpPr>
            <p:cNvPr id="10" name="Can 9"/>
            <p:cNvSpPr/>
            <p:nvPr/>
          </p:nvSpPr>
          <p:spPr>
            <a:xfrm>
              <a:off x="3479801" y="2872269"/>
              <a:ext cx="2451100" cy="893233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 – 2</a:t>
              </a:r>
            </a:p>
          </p:txBody>
        </p:sp>
        <p:sp>
          <p:nvSpPr>
            <p:cNvPr id="11" name="Can 10"/>
            <p:cNvSpPr/>
            <p:nvPr/>
          </p:nvSpPr>
          <p:spPr>
            <a:xfrm>
              <a:off x="6278033" y="2872269"/>
              <a:ext cx="2451100" cy="893233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Instances/labels – 3</a:t>
              </a:r>
            </a:p>
          </p:txBody>
        </p:sp>
        <p:cxnSp>
          <p:nvCxnSpPr>
            <p:cNvPr id="12" name="Straight Connector 11"/>
            <p:cNvCxnSpPr>
              <a:stCxn id="5" idx="3"/>
              <a:endCxn id="10" idx="1"/>
            </p:cNvCxnSpPr>
            <p:nvPr/>
          </p:nvCxnSpPr>
          <p:spPr>
            <a:xfrm>
              <a:off x="4705351" y="2597102"/>
              <a:ext cx="0" cy="2751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5" idx="3"/>
              <a:endCxn id="11" idx="1"/>
            </p:cNvCxnSpPr>
            <p:nvPr/>
          </p:nvCxnSpPr>
          <p:spPr>
            <a:xfrm>
              <a:off x="4705351" y="2597102"/>
              <a:ext cx="2798232" cy="2751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5" idx="3"/>
              <a:endCxn id="8" idx="1"/>
            </p:cNvCxnSpPr>
            <p:nvPr/>
          </p:nvCxnSpPr>
          <p:spPr>
            <a:xfrm flipH="1">
              <a:off x="1811868" y="2597102"/>
              <a:ext cx="2893483" cy="2751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n 21"/>
            <p:cNvSpPr/>
            <p:nvPr/>
          </p:nvSpPr>
          <p:spPr>
            <a:xfrm>
              <a:off x="586318" y="4398386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 -1 </a:t>
              </a:r>
            </a:p>
          </p:txBody>
        </p:sp>
        <p:sp>
          <p:nvSpPr>
            <p:cNvPr id="23" name="Can 22"/>
            <p:cNvSpPr/>
            <p:nvPr/>
          </p:nvSpPr>
          <p:spPr>
            <a:xfrm>
              <a:off x="3479801" y="4398386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w- 2</a:t>
              </a:r>
            </a:p>
          </p:txBody>
        </p:sp>
        <p:sp>
          <p:nvSpPr>
            <p:cNvPr id="24" name="Can 23"/>
            <p:cNvSpPr/>
            <p:nvPr/>
          </p:nvSpPr>
          <p:spPr>
            <a:xfrm>
              <a:off x="6278033" y="4398386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w-3</a:t>
              </a:r>
            </a:p>
          </p:txBody>
        </p:sp>
        <p:sp>
          <p:nvSpPr>
            <p:cNvPr id="26" name="Down Arrow 25"/>
            <p:cNvSpPr/>
            <p:nvPr/>
          </p:nvSpPr>
          <p:spPr>
            <a:xfrm>
              <a:off x="1647826" y="3845935"/>
              <a:ext cx="328083" cy="55245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4541309" y="3845935"/>
              <a:ext cx="328083" cy="55245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Down Arrow 27"/>
            <p:cNvSpPr/>
            <p:nvPr/>
          </p:nvSpPr>
          <p:spPr>
            <a:xfrm>
              <a:off x="7339541" y="3845935"/>
              <a:ext cx="328083" cy="552450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/>
            <p:cNvGrpSpPr/>
            <p:nvPr/>
          </p:nvGrpSpPr>
          <p:grpSpPr>
            <a:xfrm rot="10800000">
              <a:off x="1964268" y="4988937"/>
              <a:ext cx="5691715" cy="275167"/>
              <a:chOff x="1964268" y="4423835"/>
              <a:chExt cx="5691715" cy="275167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4857751" y="4423835"/>
                <a:ext cx="0" cy="2751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4857751" y="4423835"/>
                <a:ext cx="2798232" cy="2751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H="1">
                <a:off x="1964268" y="4423835"/>
                <a:ext cx="2893483" cy="27516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Can 20"/>
            <p:cNvSpPr/>
            <p:nvPr/>
          </p:nvSpPr>
          <p:spPr>
            <a:xfrm>
              <a:off x="3536949" y="5297975"/>
              <a:ext cx="2451100" cy="569384"/>
            </a:xfrm>
            <a:prstGeom prst="can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604061" y="1957352"/>
              <a:ext cx="23071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Split into example subsets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08811" y="5120127"/>
              <a:ext cx="22203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Combine by some sort of weighted averaging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762500" y="3883988"/>
              <a:ext cx="2456071" cy="4501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Compute local </a:t>
              </a:r>
              <a:r>
                <a:rPr lang="en-US" dirty="0" err="1"/>
                <a:t>vk’s</a:t>
              </a:r>
              <a:r>
                <a:rPr lang="en-US" dirty="0"/>
                <a:t> </a:t>
              </a:r>
            </a:p>
          </p:txBody>
        </p:sp>
      </p:grpSp>
      <p:sp>
        <p:nvSpPr>
          <p:cNvPr id="30" name="Bent Arrow 29"/>
          <p:cNvSpPr/>
          <p:nvPr/>
        </p:nvSpPr>
        <p:spPr>
          <a:xfrm rot="10800000">
            <a:off x="1058332" y="5858930"/>
            <a:ext cx="3495765" cy="829737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Bent Arrow 31"/>
          <p:cNvSpPr/>
          <p:nvPr/>
        </p:nvSpPr>
        <p:spPr>
          <a:xfrm rot="16200000">
            <a:off x="-1320315" y="4273001"/>
            <a:ext cx="3766698" cy="829736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Can 32"/>
          <p:cNvSpPr/>
          <p:nvPr/>
        </p:nvSpPr>
        <p:spPr>
          <a:xfrm>
            <a:off x="370417" y="2053167"/>
            <a:ext cx="1714500" cy="751353"/>
          </a:xfrm>
          <a:prstGeom prst="ca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 (previous)</a:t>
            </a:r>
          </a:p>
        </p:txBody>
      </p:sp>
      <p:cxnSp>
        <p:nvCxnSpPr>
          <p:cNvPr id="35" name="Straight Arrow Connector 34"/>
          <p:cNvCxnSpPr>
            <a:stCxn id="33" idx="3"/>
          </p:cNvCxnSpPr>
          <p:nvPr/>
        </p:nvCxnSpPr>
        <p:spPr>
          <a:xfrm>
            <a:off x="1227667" y="2804520"/>
            <a:ext cx="391583" cy="24348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1667588" y="2804561"/>
            <a:ext cx="1710337" cy="34209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084917" y="2777044"/>
            <a:ext cx="3699558" cy="45087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27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E9167-0F78-F656-AC8D-EA7CA83F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2D78C-77CE-ECEA-8B43-D95027061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Perceptrons</a:t>
            </a:r>
            <a:r>
              <a:rPr lang="en-US" dirty="0"/>
              <a:t> are guaranteed to converge</a:t>
            </a:r>
          </a:p>
          <a:p>
            <a:pPr lvl="1"/>
            <a:r>
              <a:rPr lang="en-US" dirty="0"/>
              <a:t>Given the data has a compact “radius” and there is a classifier with “large margin”</a:t>
            </a:r>
          </a:p>
          <a:p>
            <a:r>
              <a:rPr lang="en-US" dirty="0"/>
              <a:t>The parallel “iterative parameter mixing” method is also guaranteed to converge in the same conditions</a:t>
            </a:r>
          </a:p>
          <a:p>
            <a:pPr lvl="1"/>
            <a:r>
              <a:rPr lang="en-US" dirty="0"/>
              <a:t>But not to converge faster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F7E72-9178-4C09-97FD-4064CD2D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116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E35FE-2755-D5B3-0993-8E6E7B60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C2CA-04CF-A4BB-42E5-D55D9174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6DA6C-5B26-3B12-3837-A78EA640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7" name="Picture 6" descr="Screen Shot 2012-02-06 at 2.22.28 PM.png">
            <a:extLst>
              <a:ext uri="{FF2B5EF4-FFF2-40B4-BE49-F238E27FC236}">
                <a16:creationId xmlns:a16="http://schemas.microsoft.com/office/drawing/2014/main" id="{4F2E1F9A-E363-8FE0-B7C3-CCEF84213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571"/>
            <a:ext cx="9144000" cy="4583070"/>
          </a:xfrm>
          <a:prstGeom prst="rect">
            <a:avLst/>
          </a:prstGeom>
        </p:spPr>
      </p:pic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E3EF628-0D61-C9EE-4466-503129F24E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299"/>
          <a:stretch/>
        </p:blipFill>
        <p:spPr>
          <a:xfrm>
            <a:off x="279400" y="47625"/>
            <a:ext cx="9050306" cy="153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6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D2F417-F1C2-5537-7F63-F286D019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14A5-4600-8519-B134-BB2C9345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306C8-49F7-5C17-BD50-F382B32C1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when is it ok to optimize a “stale” set of weights?</a:t>
            </a:r>
          </a:p>
          <a:p>
            <a:pPr lvl="1"/>
            <a:r>
              <a:rPr lang="en-US" b="1" dirty="0"/>
              <a:t>how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send</a:t>
            </a:r>
            <a:r>
              <a:rPr lang="en-US" dirty="0"/>
              <a:t> information?</a:t>
            </a:r>
          </a:p>
          <a:p>
            <a:pPr lvl="2"/>
            <a:r>
              <a:rPr lang="en-US" dirty="0"/>
              <a:t>how do you </a:t>
            </a:r>
            <a:r>
              <a:rPr lang="en-US" b="1" dirty="0"/>
              <a:t>compress</a:t>
            </a:r>
            <a:r>
              <a:rPr lang="en-US" dirty="0"/>
              <a:t> or </a:t>
            </a:r>
            <a:r>
              <a:rPr lang="en-US" b="1" dirty="0" err="1"/>
              <a:t>sparsify</a:t>
            </a:r>
            <a:r>
              <a:rPr lang="en-US" b="1" dirty="0"/>
              <a:t> </a:t>
            </a:r>
            <a:r>
              <a:rPr lang="en-US" dirty="0"/>
              <a:t>information?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44A28-6F28-FB49-A02C-02F570C94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565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6ACE-9DC2-0A3C-60DF-A52BEABA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6134-A63E-9924-D40E-A7B02A9C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92DAD-C1BC-40DD-3C4F-2FEA92409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63" y="1257300"/>
            <a:ext cx="8947537" cy="518794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b="1" dirty="0"/>
              <a:t>parallelism</a:t>
            </a:r>
          </a:p>
          <a:p>
            <a:pPr lvl="1"/>
            <a:r>
              <a:rPr lang="en-US" dirty="0"/>
              <a:t>workers get </a:t>
            </a:r>
            <a:r>
              <a:rPr lang="en-US" b="1" dirty="0"/>
              <a:t>parts</a:t>
            </a:r>
            <a:r>
              <a:rPr lang="en-US" dirty="0"/>
              <a:t> (usually disjoint partitions) of the </a:t>
            </a:r>
            <a:r>
              <a:rPr lang="en-US" b="1" dirty="0"/>
              <a:t>data</a:t>
            </a:r>
            <a:r>
              <a:rPr lang="en-US" dirty="0"/>
              <a:t> and </a:t>
            </a:r>
            <a:r>
              <a:rPr lang="en-US" b="1" dirty="0"/>
              <a:t>copies</a:t>
            </a:r>
            <a:r>
              <a:rPr lang="en-US" dirty="0"/>
              <a:t> of the current </a:t>
            </a:r>
            <a:r>
              <a:rPr lang="en-US" b="1" dirty="0"/>
              <a:t>model</a:t>
            </a:r>
          </a:p>
          <a:p>
            <a:pPr lvl="1"/>
            <a:r>
              <a:rPr lang="en-US" dirty="0"/>
              <a:t>workers optimize </a:t>
            </a:r>
            <a:r>
              <a:rPr lang="en-US" b="1" dirty="0"/>
              <a:t>independently</a:t>
            </a:r>
            <a:r>
              <a:rPr lang="en-US" dirty="0"/>
              <a:t> for a while</a:t>
            </a:r>
          </a:p>
          <a:p>
            <a:pPr lvl="2"/>
            <a:r>
              <a:rPr lang="en-US" dirty="0"/>
              <a:t>without communication</a:t>
            </a:r>
          </a:p>
          <a:p>
            <a:pPr lvl="1"/>
            <a:r>
              <a:rPr lang="en-US" dirty="0"/>
              <a:t>workers </a:t>
            </a:r>
            <a:r>
              <a:rPr lang="en-US" b="1" dirty="0"/>
              <a:t>communicate</a:t>
            </a:r>
            <a:r>
              <a:rPr lang="en-US" dirty="0"/>
              <a:t> and </a:t>
            </a:r>
            <a:r>
              <a:rPr lang="en-US" b="1" dirty="0"/>
              <a:t>synchronize</a:t>
            </a:r>
            <a:r>
              <a:rPr lang="en-US" dirty="0"/>
              <a:t> models</a:t>
            </a:r>
          </a:p>
          <a:p>
            <a:r>
              <a:rPr lang="en-US" dirty="0"/>
              <a:t>Decisions to consider:</a:t>
            </a:r>
          </a:p>
          <a:p>
            <a:pPr lvl="1"/>
            <a:r>
              <a:rPr lang="en-US" b="1" dirty="0"/>
              <a:t>when</a:t>
            </a:r>
            <a:r>
              <a:rPr lang="en-US" dirty="0"/>
              <a:t> do you synchronize?</a:t>
            </a:r>
          </a:p>
          <a:p>
            <a:pPr lvl="2"/>
            <a:r>
              <a:rPr lang="en-US" dirty="0"/>
              <a:t>when is it ok to optimize a “stale” set of weights?</a:t>
            </a:r>
          </a:p>
          <a:p>
            <a:pPr lvl="2"/>
            <a:r>
              <a:rPr lang="en-US" dirty="0"/>
              <a:t>synchronization strategies are best viewed as more </a:t>
            </a:r>
            <a:r>
              <a:rPr lang="en-US" b="1" dirty="0"/>
              <a:t>hyperparameters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F597E-CF2D-E695-EC6F-7712C153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17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3518</Words>
  <Application>Microsoft Macintosh PowerPoint</Application>
  <PresentationFormat>On-screen Show (4:3)</PresentationFormat>
  <Paragraphs>550</Paragraphs>
  <Slides>78</Slides>
  <Notes>11</Notes>
  <HiddenSlides>1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Arial</vt:lpstr>
      <vt:lpstr>Book Antiqua</vt:lpstr>
      <vt:lpstr>Calibri</vt:lpstr>
      <vt:lpstr>Cambria Math</vt:lpstr>
      <vt:lpstr>Courier New</vt:lpstr>
      <vt:lpstr>Gill Sans MT</vt:lpstr>
      <vt:lpstr>Wingdings</vt:lpstr>
      <vt:lpstr>Office Theme</vt:lpstr>
      <vt:lpstr>Equation</vt:lpstr>
      <vt:lpstr>10-605 / 10-405</vt:lpstr>
      <vt:lpstr>Recap: the course so far</vt:lpstr>
      <vt:lpstr>Today</vt:lpstr>
      <vt:lpstr>PowerPoint Presentation</vt:lpstr>
      <vt:lpstr>COMMON Extensions to Linear Regression</vt:lpstr>
      <vt:lpstr>What if linear regression is not powerful enough?</vt:lpstr>
      <vt:lpstr>PowerPoint Presentation</vt:lpstr>
      <vt:lpstr>PowerPoint Presentation</vt:lpstr>
      <vt:lpstr>PowerPoint Presentation</vt:lpstr>
      <vt:lpstr>What if your basis functions make linear regression too powerful?</vt:lpstr>
      <vt:lpstr>Regularization (ridge regression)</vt:lpstr>
      <vt:lpstr>Regularization (ridge regression)</vt:lpstr>
      <vt:lpstr>PowerPoint Presentation</vt:lpstr>
      <vt:lpstr>PowerPoint Presentation</vt:lpstr>
      <vt:lpstr>PowerPoint Presentation</vt:lpstr>
      <vt:lpstr>PowerPoint Presentation</vt:lpstr>
      <vt:lpstr>Kernels: On Beyond Feature Extraction</vt:lpstr>
      <vt:lpstr>Recall: gradient descent for linear regression</vt:lpstr>
      <vt:lpstr>Recall: gradient descent for linear regression</vt:lpstr>
      <vt:lpstr>Recall: gradient descent for linear regression</vt:lpstr>
      <vt:lpstr>Recall: gradient descent for linear regression</vt:lpstr>
      <vt:lpstr>Recall: gradient descent for linear regression</vt:lpstr>
      <vt:lpstr>PowerPoint Presentation</vt:lpstr>
      <vt:lpstr>The kernel “trick”</vt:lpstr>
      <vt:lpstr>The kernel “trick”</vt:lpstr>
      <vt:lpstr>Some common kernels</vt:lpstr>
      <vt:lpstr>Talking about Kernels 101</vt:lpstr>
      <vt:lpstr>How do we learn this?  </vt:lpstr>
      <vt:lpstr>Exact Linear Kernel Regression</vt:lpstr>
      <vt:lpstr>Exact Linear Kernel Regression</vt:lpstr>
      <vt:lpstr>Kernels 101</vt:lpstr>
      <vt:lpstr>Kernels 101</vt:lpstr>
      <vt:lpstr>Kernels 101</vt:lpstr>
      <vt:lpstr>Comments on kernels</vt:lpstr>
      <vt:lpstr>Sparse Gradients for Sparse Data for Linear/Logistic Regression</vt:lpstr>
      <vt:lpstr>Summary: SGD for least squares and Logistic Regression</vt:lpstr>
      <vt:lpstr>Summary: SGD for least squares and Logistic Regression</vt:lpstr>
      <vt:lpstr>Summary: SGD for least squares and Logistic Regression</vt:lpstr>
      <vt:lpstr>Sparse gradient updates</vt:lpstr>
      <vt:lpstr>Sparsity can cause overfitting</vt:lpstr>
      <vt:lpstr>Recap: overfitting with high-degree polynomial basis vectors</vt:lpstr>
      <vt:lpstr>Recap: Ridge regression</vt:lpstr>
      <vt:lpstr>Recap: Logistic Regression</vt:lpstr>
      <vt:lpstr>Regularized Logistic Regression</vt:lpstr>
      <vt:lpstr>Regularized Logistic Regression</vt:lpstr>
      <vt:lpstr>The Hash Kernel</vt:lpstr>
      <vt:lpstr>PowerPoint Presentation</vt:lpstr>
      <vt:lpstr>The “hash trick”</vt:lpstr>
      <vt:lpstr>The “hash trick”: intuition</vt:lpstr>
      <vt:lpstr>The “hash trick”: pros/cons</vt:lpstr>
      <vt:lpstr>PowerPoint Presentation</vt:lpstr>
      <vt:lpstr>Motivation</vt:lpstr>
      <vt:lpstr>Motivation</vt:lpstr>
      <vt:lpstr>Motivation</vt:lpstr>
      <vt:lpstr>Formal Results</vt:lpstr>
      <vt:lpstr>Formal Results</vt:lpstr>
      <vt:lpstr>Formal results</vt:lpstr>
      <vt:lpstr>Experimental results</vt:lpstr>
      <vt:lpstr>Experimental results</vt:lpstr>
      <vt:lpstr>Spam filtering at Yahoo</vt:lpstr>
      <vt:lpstr>An example</vt:lpstr>
      <vt:lpstr>Distributed Machine Learning</vt:lpstr>
      <vt:lpstr>Recap: Parallel SGD?</vt:lpstr>
      <vt:lpstr>Distributed ML</vt:lpstr>
      <vt:lpstr>Distributed ML</vt:lpstr>
      <vt:lpstr>Distributed ML</vt:lpstr>
      <vt:lpstr>Data Parallel ML:  Maximal synchronization</vt:lpstr>
      <vt:lpstr>Data Parallel ML:  Minimal synchronization</vt:lpstr>
      <vt:lpstr>PowerPoint Presentation</vt:lpstr>
      <vt:lpstr>PowerPoint Presentation</vt:lpstr>
      <vt:lpstr>Data Parallel ML:  Intermediate Synchronization</vt:lpstr>
      <vt:lpstr>Parallel Perceptrons*</vt:lpstr>
      <vt:lpstr>Parallel Perceptrons – take 2</vt:lpstr>
      <vt:lpstr>Parallelizing perceptrons – take 2</vt:lpstr>
      <vt:lpstr>Results</vt:lpstr>
      <vt:lpstr>Results</vt:lpstr>
      <vt:lpstr>Distributed ML</vt:lpstr>
      <vt:lpstr>Distributed ML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338</cp:revision>
  <dcterms:created xsi:type="dcterms:W3CDTF">2012-01-03T16:05:59Z</dcterms:created>
  <dcterms:modified xsi:type="dcterms:W3CDTF">2025-01-29T16:59:20Z</dcterms:modified>
</cp:coreProperties>
</file>