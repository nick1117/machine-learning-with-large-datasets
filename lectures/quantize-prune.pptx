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8"/>
  </p:notesMasterIdLst>
  <p:sldIdLst>
    <p:sldId id="375" r:id="rId2"/>
    <p:sldId id="376" r:id="rId3"/>
    <p:sldId id="499" r:id="rId4"/>
    <p:sldId id="476" r:id="rId5"/>
    <p:sldId id="404" r:id="rId6"/>
    <p:sldId id="478" r:id="rId7"/>
    <p:sldId id="500" r:id="rId8"/>
    <p:sldId id="479" r:id="rId9"/>
    <p:sldId id="480" r:id="rId10"/>
    <p:sldId id="481" r:id="rId11"/>
    <p:sldId id="482" r:id="rId12"/>
    <p:sldId id="483" r:id="rId13"/>
    <p:sldId id="484" r:id="rId14"/>
    <p:sldId id="485" r:id="rId15"/>
    <p:sldId id="535" r:id="rId16"/>
    <p:sldId id="536" r:id="rId17"/>
    <p:sldId id="537" r:id="rId18"/>
    <p:sldId id="538" r:id="rId19"/>
    <p:sldId id="487" r:id="rId20"/>
    <p:sldId id="414" r:id="rId21"/>
    <p:sldId id="488" r:id="rId22"/>
    <p:sldId id="498" r:id="rId23"/>
    <p:sldId id="489" r:id="rId24"/>
    <p:sldId id="501" r:id="rId25"/>
    <p:sldId id="521" r:id="rId26"/>
    <p:sldId id="522" r:id="rId27"/>
    <p:sldId id="402" r:id="rId28"/>
    <p:sldId id="403" r:id="rId29"/>
    <p:sldId id="524" r:id="rId30"/>
    <p:sldId id="525" r:id="rId31"/>
    <p:sldId id="526" r:id="rId32"/>
    <p:sldId id="527" r:id="rId33"/>
    <p:sldId id="408" r:id="rId34"/>
    <p:sldId id="528" r:id="rId35"/>
    <p:sldId id="529" r:id="rId36"/>
    <p:sldId id="530" r:id="rId37"/>
    <p:sldId id="531" r:id="rId38"/>
    <p:sldId id="532" r:id="rId39"/>
    <p:sldId id="533" r:id="rId40"/>
    <p:sldId id="415" r:id="rId41"/>
    <p:sldId id="416" r:id="rId42"/>
    <p:sldId id="417" r:id="rId43"/>
    <p:sldId id="418" r:id="rId44"/>
    <p:sldId id="419" r:id="rId45"/>
    <p:sldId id="420" r:id="rId46"/>
    <p:sldId id="523" r:id="rId47"/>
    <p:sldId id="405" r:id="rId48"/>
    <p:sldId id="406" r:id="rId49"/>
    <p:sldId id="407" r:id="rId50"/>
    <p:sldId id="409" r:id="rId51"/>
    <p:sldId id="410" r:id="rId52"/>
    <p:sldId id="411" r:id="rId53"/>
    <p:sldId id="412" r:id="rId54"/>
    <p:sldId id="430" r:id="rId55"/>
    <p:sldId id="431" r:id="rId56"/>
    <p:sldId id="502" r:id="rId57"/>
    <p:sldId id="503" r:id="rId58"/>
    <p:sldId id="504" r:id="rId59"/>
    <p:sldId id="490" r:id="rId60"/>
    <p:sldId id="497" r:id="rId61"/>
    <p:sldId id="396" r:id="rId62"/>
    <p:sldId id="505" r:id="rId63"/>
    <p:sldId id="413" r:id="rId64"/>
    <p:sldId id="506" r:id="rId65"/>
    <p:sldId id="428" r:id="rId66"/>
    <p:sldId id="491" r:id="rId67"/>
    <p:sldId id="429" r:id="rId68"/>
    <p:sldId id="492" r:id="rId69"/>
    <p:sldId id="507" r:id="rId70"/>
    <p:sldId id="493" r:id="rId71"/>
    <p:sldId id="494" r:id="rId72"/>
    <p:sldId id="495" r:id="rId73"/>
    <p:sldId id="496" r:id="rId74"/>
    <p:sldId id="508" r:id="rId75"/>
    <p:sldId id="509" r:id="rId76"/>
    <p:sldId id="510" r:id="rId77"/>
    <p:sldId id="511" r:id="rId78"/>
    <p:sldId id="512" r:id="rId79"/>
    <p:sldId id="513" r:id="rId80"/>
    <p:sldId id="514" r:id="rId81"/>
    <p:sldId id="515" r:id="rId82"/>
    <p:sldId id="516" r:id="rId83"/>
    <p:sldId id="517" r:id="rId84"/>
    <p:sldId id="518" r:id="rId85"/>
    <p:sldId id="519" r:id="rId86"/>
    <p:sldId id="520" r:id="rId8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560"/>
    <p:restoredTop sz="88377" autoAdjust="0"/>
  </p:normalViewPr>
  <p:slideViewPr>
    <p:cSldViewPr snapToGrid="0" snapToObjects="1">
      <p:cViewPr varScale="1">
        <p:scale>
          <a:sx n="67" d="100"/>
          <a:sy n="67" d="100"/>
        </p:scale>
        <p:origin x="101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3C4F9-F37E-4225-8EDE-0041EBD1A368}" type="datetimeFigureOut">
              <a:rPr lang="en-US" smtClean="0"/>
              <a:pPr/>
              <a:t>3/24/25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F8AD2-6882-4531-8560-2C8EEF2B5B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2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/pdf/1503.02531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24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D024F-1D58-CE94-3819-0261A8F8E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CF816C-1966-B06A-9E9B-7F2E9D496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8D6CF4-6004-8E1A-E851-998614222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/pdf/1503.02531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D2BCB-D9C5-CB8A-C4E0-311325A32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61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STOPPED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0033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972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75AE3-9529-4CD4-D850-630806C38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7EC6E8-6232-052A-C8FC-DB737AF0B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5FA82F-A86D-1AF9-E0C8-13F4B7201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A7A56-1007-1F48-2C06-7FD9643C73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78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B69E4-6885-3337-0F20-3252D81CA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5C0B79-C65A-4CA8-A1DB-A76C7C9CA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1D3299-3246-6B35-7111-101B25768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7C8D1-66DE-A332-17EE-9A055CB822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1300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B4100-598A-9102-60DE-0D9274B85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E21A24-0B5C-5F3F-F123-394DBE5F1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DB839-5768-EC83-5197-93603C5DC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63977-E4FF-8E25-8B4B-9152953F1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5853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D7425-C5A5-4B1D-1DE1-E23E07108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159919-A486-DA52-06AE-E407025DF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BF4EB-62D1-11B7-27AA-DB7B1AA2D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sebastianraschka.com</a:t>
            </a:r>
            <a:r>
              <a:rPr lang="en-US" dirty="0"/>
              <a:t>/blog/2023/</a:t>
            </a:r>
            <a:r>
              <a:rPr lang="en-US" dirty="0" err="1"/>
              <a:t>llm</a:t>
            </a:r>
            <a:r>
              <a:rPr lang="en-US" dirty="0"/>
              <a:t>-mixed-precision-</a:t>
            </a:r>
            <a:r>
              <a:rPr lang="en-US" dirty="0" err="1"/>
              <a:t>copy.html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C1E35-D4DE-CBCF-9A5D-A9868453E5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134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5E170-50E1-104D-D696-81F1D1E91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492D41-904E-B1DC-EC4A-36DD5AC177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2A7361-E825-B5A3-F6F5-B4F986E72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https://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developer.nvidia.com</a:t>
            </a:r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/blog/mastering-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llm</a:t>
            </a:r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-techniques-inference-optimization/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2C531-400D-85E8-C0FE-DD836E54CB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75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CF8D9-882E-BC0C-1175-6111B4A0E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E71FCB-216D-EFDF-8DFC-85D7D354D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E4FCA4-7E14-8E61-C067-855E1AD09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https://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leimao.github.io</a:t>
            </a:r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/article/Neural-Networks-Quantization/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ym typeface="Wingdings" pitchFamily="2" charset="2"/>
              </a:rPr>
              <a:t>Note:  these tricks need to be </a:t>
            </a:r>
            <a:r>
              <a:rPr lang="en-US" dirty="0">
                <a:highlight>
                  <a:srgbClr val="FFFF00"/>
                </a:highlight>
                <a:sym typeface="Wingdings" pitchFamily="2" charset="2"/>
              </a:rPr>
              <a:t>h/w and library aware!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4F847-E89A-3EA6-940E-3A2B748036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1430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9EB6B-9E08-2245-606F-BC08D8F9F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5FFC4E-78F1-7AC0-7352-BD18EB30B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19B7D4-0826-4962-1761-6FF4144DE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proceedings.neurips.cc</a:t>
            </a:r>
            <a:r>
              <a:rPr lang="en-US" dirty="0"/>
              <a:t>/</a:t>
            </a:r>
            <a:r>
              <a:rPr lang="en-US" dirty="0" err="1"/>
              <a:t>paper_files</a:t>
            </a:r>
            <a:r>
              <a:rPr lang="en-US" dirty="0"/>
              <a:t>/paper/2022/file/c3ba4962c05c49636d4c6206a97e9c8a-Paper-Conference.pdf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CE1B9-4129-BFD2-1DED-59B0D70A1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448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E9508-8F61-5884-B82D-1BA6DF72C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90301-570C-0829-8B22-399FB2CE5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EACC14-7AEA-B61C-6F10-8EB4FC8E0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proceedings.neurips.cc</a:t>
            </a:r>
            <a:r>
              <a:rPr lang="en-US" dirty="0"/>
              <a:t>/</a:t>
            </a:r>
            <a:r>
              <a:rPr lang="en-US" dirty="0" err="1"/>
              <a:t>paper_files</a:t>
            </a:r>
            <a:r>
              <a:rPr lang="en-US" dirty="0"/>
              <a:t>/paper/2022/file/c3ba4962c05c49636d4c6206a97e9c8a-Paper-Conference.pdf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DBC5B-541B-C039-085D-CF280658C4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3244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97FA6-6F2A-C788-2983-6EB17C91C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B00D3-43E8-9A1C-BDB3-A992F183E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D1F5AF-6ABC-9FF7-D1A8-1F7C0EF47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proceedings.neurips.cc</a:t>
            </a:r>
            <a:r>
              <a:rPr lang="en-US" dirty="0"/>
              <a:t>/</a:t>
            </a:r>
            <a:r>
              <a:rPr lang="en-US" dirty="0" err="1"/>
              <a:t>paper_files</a:t>
            </a:r>
            <a:r>
              <a:rPr lang="en-US" dirty="0"/>
              <a:t>/paper/2022/file/c3ba4962c05c49636d4c6206a97e9c8a-Paper-Conference.pdf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87437-30F1-00B1-926E-60FDACECBC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1112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4FD38-3684-33B3-018F-13DEE0586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55A768-ABEB-18C8-5D24-FFC4DEFD44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689227-971B-D639-A5E3-D51DF0DBF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proceedings.neurips.cc</a:t>
            </a:r>
            <a:r>
              <a:rPr lang="en-US" dirty="0"/>
              <a:t>/</a:t>
            </a:r>
            <a:r>
              <a:rPr lang="en-US" dirty="0" err="1"/>
              <a:t>paper_files</a:t>
            </a:r>
            <a:r>
              <a:rPr lang="en-US" dirty="0"/>
              <a:t>/paper/2022/file/c3ba4962c05c49636d4c6206a97e9c8a-Paper-Conference.pdf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5872C-BD1D-E79B-FAB5-23C9484C7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002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D9FCD-CFC9-C06D-C865-C9F3F1A73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E7E09-84D5-D11F-E425-E4E545B1B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153CA-7D26-2568-97C8-70E599732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openreview.net</a:t>
            </a:r>
            <a:r>
              <a:rPr lang="en-US" dirty="0"/>
              <a:t>/</a:t>
            </a:r>
            <a:r>
              <a:rPr lang="en-US" dirty="0" err="1"/>
              <a:t>forum?id</a:t>
            </a:r>
            <a:r>
              <a:rPr lang="en-US" dirty="0"/>
              <a:t>=i8tGb1ab1j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4A73C-E71D-6809-6649-2BCFC544C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514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976A0-6D7F-A647-3FA0-1A7B1D32C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DDCF01-7EED-D851-8E8B-C21A72232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4CC3DE-286D-7372-7B1C-FAB44551D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openreview.net</a:t>
            </a:r>
            <a:r>
              <a:rPr lang="en-US" dirty="0"/>
              <a:t>/</a:t>
            </a:r>
            <a:r>
              <a:rPr lang="en-US" dirty="0" err="1"/>
              <a:t>forum?id</a:t>
            </a:r>
            <a:r>
              <a:rPr lang="en-US" dirty="0"/>
              <a:t>=i8tGb1ab1j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604E4-7ED9-40E3-FAE2-77E17F4B3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3861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F2DBE-64B2-500D-DAC0-431B093C6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D1F2CF-DCCB-C362-D0FF-0435B829E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4F12C-B0DF-38BD-E8BD-B7A82E739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openreview.net</a:t>
            </a:r>
            <a:r>
              <a:rPr lang="en-US" dirty="0"/>
              <a:t>/</a:t>
            </a:r>
            <a:r>
              <a:rPr lang="en-US" dirty="0" err="1"/>
              <a:t>forum?id</a:t>
            </a:r>
            <a:r>
              <a:rPr lang="en-US" dirty="0"/>
              <a:t>=i8tGb1ab1j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54EFE-0BFD-3E38-79D7-C4E3B3A6E2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119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D85DA-658C-EE08-F02E-11880F239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CBD4A8-8C7E-5A0F-65A5-A2D3313D1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25C377-25F5-1A81-3EBF-A1AF73211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openreview.net</a:t>
            </a:r>
            <a:r>
              <a:rPr lang="en-US" dirty="0"/>
              <a:t>/</a:t>
            </a:r>
            <a:r>
              <a:rPr lang="en-US" dirty="0" err="1"/>
              <a:t>forum?id</a:t>
            </a:r>
            <a:r>
              <a:rPr lang="en-US" dirty="0"/>
              <a:t>=i8tGb1ab1j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69F6C-4892-E113-2512-92C4FB36BC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382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4024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9357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2D5E5-B118-B2A7-30A7-2EFFAF185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EDD547-8734-C05D-7EAB-8AD715901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359936-9320-0474-7967-A0A304A13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static.googleusercontent.com</a:t>
            </a:r>
            <a:r>
              <a:rPr lang="en-US" dirty="0"/>
              <a:t>/media/</a:t>
            </a:r>
            <a:r>
              <a:rPr lang="en-US" dirty="0" err="1"/>
              <a:t>research.google.com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//archive/unsupervised_icml2012.pdf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B77D8-7833-C9A6-35E4-5C54179CA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5937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DBA1A-41C1-6713-80A4-89D34AB3E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3917C-092F-DFC8-11A3-CDFCAF1F3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594150-14DA-261D-8008-903661590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static.googleusercontent.com</a:t>
            </a:r>
            <a:r>
              <a:rPr lang="en-US" dirty="0"/>
              <a:t>/media/</a:t>
            </a:r>
            <a:r>
              <a:rPr lang="en-US" dirty="0" err="1"/>
              <a:t>research.google.com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//archive/unsupervised_icml2012.pdf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81E39-72D7-EDCB-93B3-B96536F74B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1505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7F457-9819-E175-F40D-FF7146ED6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986A52-F338-D1B7-48BE-0C00678F79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19BCA-B72E-19FC-C798-AA4ACAA73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static.googleusercontent.com</a:t>
            </a:r>
            <a:r>
              <a:rPr lang="en-US" dirty="0"/>
              <a:t>/media/</a:t>
            </a:r>
            <a:r>
              <a:rPr lang="en-US" dirty="0" err="1"/>
              <a:t>research.google.com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//archive/unsupervised_icml2012.pdf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A6E98-FAE3-AB32-2DC0-C111973651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249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FD600-F8BF-99C5-AE73-BBAAF3288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FB68E-E687-30AE-A764-D0F05A138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9B803B-B243-F76B-4CE9-10E995D8D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static.googleusercontent.com</a:t>
            </a:r>
            <a:r>
              <a:rPr lang="en-US" dirty="0"/>
              <a:t>/media/</a:t>
            </a:r>
            <a:r>
              <a:rPr lang="en-US" dirty="0" err="1"/>
              <a:t>research.google.com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//archive/unsupervised_icml2012.pdf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5FF06-109E-4959-7F65-95E5218E8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618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70BF5-A45A-72DE-E4FB-BC46D4B84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387106-F822-B39F-C7C8-9FCFC35BF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2D95DC-1AD6-0849-FF21-124EBD2CD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static.googleusercontent.com</a:t>
            </a:r>
            <a:r>
              <a:rPr lang="en-US" dirty="0"/>
              <a:t>/media/</a:t>
            </a:r>
            <a:r>
              <a:rPr lang="en-US" dirty="0" err="1"/>
              <a:t>research.google.com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//archive/unsupervised_icml2012.pdf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3DF1E-DE42-90A1-613C-509B8BF82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2902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CD4DD-C635-BCD0-D855-D39AD13C1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548002-F9BC-C35F-F591-49C15A343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3128E6-5D90-FAA6-4230-59FB824A1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static.googleusercontent.com</a:t>
            </a:r>
            <a:r>
              <a:rPr lang="en-US" dirty="0"/>
              <a:t>/media/</a:t>
            </a:r>
            <a:r>
              <a:rPr lang="en-US" dirty="0" err="1"/>
              <a:t>research.google.com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//archive/unsupervised_icml2012.pdf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EA8B9-0715-0EB8-49E4-8F6E5894C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665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D76E1-CE50-64BC-41D4-79837521B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5471E4-40FB-CEF9-4C4B-261E69F5A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3227D5-3EBB-2DA5-F370-CCC4407C53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static.googleusercontent.com</a:t>
            </a:r>
            <a:r>
              <a:rPr lang="en-US" dirty="0"/>
              <a:t>/media/</a:t>
            </a:r>
            <a:r>
              <a:rPr lang="en-US" dirty="0" err="1"/>
              <a:t>research.google.com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//archive/unsupervised_icml2012.pdf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54C2B-B223-F308-3A11-954F153E1F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7335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/pdf/1704.01444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749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4D9F4-9A41-0E56-3BF4-1D8FEB793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86034-E3FD-4B4A-D07C-CFA9608FE1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DEC68A-54EF-F31A-7735-39764C0D3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/pdf/1704.01444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C8D05-ABC7-14E4-FF3C-BFF62581E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5377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7E6F6-2350-7EC6-6160-1FEDCE1D3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65403F-EAEF-3580-6E3E-D19948E8E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58CFFD-4B30-1830-7099-582B132A2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/pdf/1704.01444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484E6-2A18-4E6C-DB2B-EC1AACF9A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296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D8E55-1D45-4AF5-4421-9ABC06445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C5FF39-EB0E-CC0A-C9C0-62100BE93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8AD0B-EDA8-A7A9-614A-11EEBCFEF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/pdf/1704.01444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EDD72-620D-6A0A-53C2-E0068AB41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1747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8CF1C-23FA-6AFD-8832-F18808D6D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EBD36E-33B6-A1FC-5DA8-376682146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8266CC-E159-F4B9-4D77-9C44A341C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/pdf/1704.01444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7054B-F970-C0A5-278C-1F65B7117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1111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DBBA9-DB10-4D89-E90D-18C89DFC1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2BA039-4DCA-8B86-C005-A2B2B4B84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9606E-73F4-F6C0-B968-876B54A09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/pdf/1704.01444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1DDA8-6CDC-DDD6-B0AE-56AFFE340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413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647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0FB8B-8914-2186-FA1F-F3A08E0CB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CDF089-2F63-7F9D-6EC1-63B557ED2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A8AC7A-1DEC-F8FC-C6DA-1ADE6E8A4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/pdf/1710.01878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F17B3-ABCE-9362-005C-8F06C7323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1945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21E4C-FBF1-6D15-F8B3-1110C3077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F811A2-FE04-FAB3-078A-EC38ADF81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3FA4B5-5014-1A78-DF42-2478EA4E9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3FEBD-7778-3878-A082-D57875F9D6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9450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9CD4B-6834-0C9B-ABE8-63F8EB1F7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66307E-A4B0-DEB9-C5DC-ED231C898C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D3CF89-5712-FBCE-3FF1-A020D7E01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E4AA83-66E0-1A58-2C0E-F506CE1A96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7359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8EBAE-071B-871B-DEAC-8C6920587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A9DAE-6B8F-ED4B-CCB6-594CE99D0B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05AE68-C1E2-7C94-E8D3-6E9F1602D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B7E9A-EA01-598F-BA7D-97B3C521A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0790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25A4A-0FA5-5264-FAAB-DECEA0424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4A6A2E-AB84-7ECD-CF35-069955170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188ABA-FA3F-AFA4-F1E7-D5EB5C9D3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569F5-508F-D849-6E93-06026F61E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0060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CDD3B-E6A2-35E9-0F54-997342799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0FB04F-F937-7639-B6F6-BC1B279DB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F6D14-7777-F7F2-330A-C9FA02885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/abs/2306.11695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528FB-FB7C-44E7-BBE8-F9165F4176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97440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99E52-3DBB-5FD7-065A-E25BC8326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507CA3-D88B-4BF2-4EF4-37BD4D929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3A46C7-8026-7409-229B-972D17632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5571E-DB92-444F-596F-7FD20EF5DD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13628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4FD38-3684-33B3-018F-13DEE0586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55A768-ABEB-18C8-5D24-FFC4DEFD44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689227-971B-D639-A5E3-D51DF0DBF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proceedings.neurips.cc</a:t>
            </a:r>
            <a:r>
              <a:rPr lang="en-US" dirty="0"/>
              <a:t>/</a:t>
            </a:r>
            <a:r>
              <a:rPr lang="en-US" dirty="0" err="1"/>
              <a:t>paper_files</a:t>
            </a:r>
            <a:r>
              <a:rPr lang="en-US" dirty="0"/>
              <a:t>/paper/2022/file/c3ba4962c05c49636d4c6206a97e9c8a-Paper-Conference.pdf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5872C-BD1D-E79B-FAB5-23C9484C7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0020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B1E46-7797-2CA6-36F3-9D314861D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7E191F-701F-7A47-DCD8-804F0C22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63C494-8A41-6009-1988-33CDD4EA6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909A7-E1A7-558E-81CC-DFD02B994D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1424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2E1A3-53EB-4997-D82D-1447FC7F0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65070B-03CC-1842-D015-BA80764A2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954AB8-ADA6-D925-FA5F-EB56645F3E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60833-F156-04E1-764B-421BEF0DCB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3082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7B101-24CE-27AF-B3C5-2262659E8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B1EE61-FC06-0C93-C175-67FFA7D5D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4CB54F-BAF9-9CA4-8BDF-3FA3B0822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EA3D2-E59A-01C8-B7FB-F2F8E32951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34441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EAB70-E970-E0B1-A3CC-14E6E8C28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E71881-CE79-8A65-13D9-81C21FA35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BDEBC8-2DBB-4A5C-90B6-AB4B5A6E0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loss bounces around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4DCD6-92EE-E594-60DB-8C8EB5ECAC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7535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D2F30-12EA-905E-99AB-081CAF3D2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26D15E-13BC-77DA-46C2-B384C1C5D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50DB40-D7EB-3D87-EDA2-B510DB450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EB209-4634-0181-09F6-E9C168D6B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23602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73F2E-CD0C-80D2-E90D-C0A7B442D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F31AD-15DC-F81E-D354-4F9A54A31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494A83-176A-9BC7-DF94-9A0D803EB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FFB9B-1236-AA88-A370-F8CF655E14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52938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DAC04-D548-057E-9361-51A454914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02ECBC-93C8-28F8-9699-79842D8D3B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A63879-880B-299D-A09E-18ADA163F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35A21-07D3-59ED-8C5F-A7F8BFE42C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90259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0EC2B-A339-D5B7-969C-C4F181F12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5EA591-9C67-DCB4-C8EF-1C7A2AC560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1D0075-6D33-EC6D-0CAC-E2F15472C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00402-B138-F424-40CA-A5DA1F928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5289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1B107-C414-9023-2F19-09C294630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39629-22F1-727F-D7EC-E828B7FFB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43EEB2-7CBD-5758-0C63-4751778E2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/abs/2104.08378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100C5-568A-62D8-42AF-08AE230C2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89626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0E2AC-66F5-5381-2434-E84F26F89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4B9316-0438-1950-18D2-3FFDE9958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3457E0-F1E5-42C9-A5A1-F63372D0E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/abs/2104.08378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F13F9-7D7B-60DE-2920-791B2789FB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33368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16F27-6916-ED2A-8977-05DB91A17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5B179-A4A9-0720-E755-AEB0F11D1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2A7ACC-ABA1-D669-4AE8-5CCFA7968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/abs/2104.08378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2348C-6F68-DB3A-8784-616EC95AF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0286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94ACF-85DE-16CC-DDDD-00B4755C4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907FA-336E-969C-16F0-9525710A9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5D00F-7D4F-075A-1962-14D75631B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/abs/2104.08378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51CF8-40DE-09C4-A140-68FE2F0823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24230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https://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openreview.net</a:t>
            </a:r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/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forum?id</a:t>
            </a:r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=18VGxuOdpu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03811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27FAB-11B0-A380-F6C4-BBE75C31B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422F7-A467-62E6-7DA5-8C0E24C8F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AF4C86-2A7C-FB39-FD37-6A1F8D6981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84ACC-7C8D-6FC1-66DF-7144959B0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9298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FB40C-FCEC-D5F1-ACB6-87700E224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FF10F3-BD41-EFA8-72DF-0554629CC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A6D996-AC8B-FCCF-D1E6-49C83F3E8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BE792-1665-3BED-1707-340DD6D21C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94089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proceedings.neurips.cc</a:t>
            </a:r>
            <a:r>
              <a:rPr lang="en-US" dirty="0"/>
              <a:t>/</a:t>
            </a:r>
            <a:r>
              <a:rPr lang="en-US" dirty="0" err="1"/>
              <a:t>paper_files</a:t>
            </a:r>
            <a:r>
              <a:rPr lang="en-US" dirty="0"/>
              <a:t>/paper/2023/file/44956951349095f74492a5471128a7e0-Paper-Conference.pdf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58528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4519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https://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"/>
              </a:rPr>
              <a:t>arxiv.org</a:t>
            </a:r>
            <a:r>
              <a:rPr lang="en-US" b="0" i="0" dirty="0">
                <a:solidFill>
                  <a:srgbClr val="000000"/>
                </a:solidFill>
                <a:effectLst/>
                <a:latin typeface="Times"/>
              </a:rPr>
              <a:t>/pdf/2310.06694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51998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969A98"/>
                </a:solidFill>
                <a:effectLst/>
                <a:latin typeface="Helvetica" pitchFamily="2" charset="0"/>
              </a:rPr>
              <a:t>Han et al, ICLR 2016</a:t>
            </a:r>
          </a:p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/pdf/1510.00149</a:t>
            </a:r>
          </a:p>
          <a:p>
            <a:r>
              <a:rPr lang="en-US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5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099050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6445250"/>
            <a:ext cx="2133600" cy="365125"/>
          </a:xfrm>
        </p:spPr>
        <p:txBody>
          <a:bodyPr/>
          <a:lstStyle/>
          <a:p>
            <a:fld id="{4FC35801-B62B-1347-8D7D-E1D9FD950611}" type="datetimeFigureOut">
              <a:rPr lang="en-US" smtClean="0"/>
              <a:pPr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452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445250"/>
            <a:ext cx="2133600" cy="365125"/>
          </a:xfrm>
        </p:spPr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516187"/>
            <a:ext cx="7772400" cy="1362075"/>
          </a:xfrm>
        </p:spPr>
        <p:txBody>
          <a:bodyPr anchor="t">
            <a:normAutofit/>
          </a:bodyPr>
          <a:lstStyle>
            <a:lvl1pPr algn="ctr">
              <a:defRPr sz="3200" b="1" cap="all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160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2177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33969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3731"/>
            <a:ext cx="4040188" cy="455122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033969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73730"/>
            <a:ext cx="4041775" cy="455122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ADB2C0-A13D-F346-9F00-45255C4343FE}" type="slidenum">
              <a:rPr lang="en-US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4000194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35801-B62B-1347-8D7D-E1D9FD950611}" type="datetimeFigureOut">
              <a:rPr lang="en-US" smtClean="0"/>
              <a:pPr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0070C0"/>
          </a:solidFill>
          <a:latin typeface="Cambria Math"/>
          <a:ea typeface="+mj-ea"/>
          <a:cs typeface="Cambria Math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Cambria Math"/>
          <a:ea typeface="+mn-ea"/>
          <a:cs typeface="Cambria Math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mbria Math"/>
          <a:ea typeface="+mn-ea"/>
          <a:cs typeface="Cambria Math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2006.05525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AF07-0EE8-87BE-0557-A2CF8E2D8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10-605 / 10-405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1B411-7A6C-21B1-431C-1AE6C9C76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Machine Learning from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6854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tray of cookies with a menu&#10;&#10;AI-generated content may be incorrect.">
            <a:extLst>
              <a:ext uri="{FF2B5EF4-FFF2-40B4-BE49-F238E27FC236}">
                <a16:creationId xmlns:a16="http://schemas.microsoft.com/office/drawing/2014/main" id="{F2C17A2E-42FE-54B5-6A3C-980CDE0992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31" t="30615" r="31677" b="33019"/>
          <a:stretch/>
        </p:blipFill>
        <p:spPr>
          <a:xfrm>
            <a:off x="-1" y="0"/>
            <a:ext cx="9015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784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C43C2-D01E-0A59-9B7C-2433D5840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42EB1-A469-C291-9998-C2B6C722B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Quick review of distillation</a:t>
            </a:r>
          </a:p>
          <a:p>
            <a:r>
              <a:rPr lang="en-US" dirty="0"/>
              <a:t>Model Quantization</a:t>
            </a:r>
          </a:p>
          <a:p>
            <a:r>
              <a:rPr lang="en-US" dirty="0"/>
              <a:t>Model Pruning</a:t>
            </a:r>
          </a:p>
          <a:p>
            <a:pPr lvl="1"/>
            <a:r>
              <a:rPr lang="en-US" dirty="0"/>
              <a:t>Some motivation</a:t>
            </a:r>
          </a:p>
          <a:p>
            <a:pPr lvl="1"/>
            <a:r>
              <a:rPr lang="en-US" dirty="0"/>
              <a:t>Some approaches</a:t>
            </a:r>
          </a:p>
        </p:txBody>
      </p:sp>
    </p:spTree>
    <p:extLst>
      <p:ext uri="{BB962C8B-B14F-4D97-AF65-F5344CB8AC3E}">
        <p14:creationId xmlns:p14="http://schemas.microsoft.com/office/powerpoint/2010/main" val="1979113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BIG Transformers SMALLER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937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201A8-93AC-58A7-2B8C-A5F50BF45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6462367-9116-A2CE-5F9C-E2030133B688}"/>
              </a:ext>
            </a:extLst>
          </p:cNvPr>
          <p:cNvSpPr/>
          <p:nvPr/>
        </p:nvSpPr>
        <p:spPr>
          <a:xfrm>
            <a:off x="685800" y="1257300"/>
            <a:ext cx="2383971" cy="506186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737AB7-0DB8-595A-E4AE-C171D8B74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Main techniques for compressing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D5B12-E045-3C28-A586-CF18E7906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Distillation</a:t>
            </a:r>
          </a:p>
          <a:p>
            <a:pPr lvl="1"/>
            <a:r>
              <a:rPr lang="en-US" dirty="0"/>
              <a:t>Train a smaller “student model” to give the same outputs as a larger “teacher model” </a:t>
            </a:r>
          </a:p>
          <a:p>
            <a:pPr lvl="2"/>
            <a:r>
              <a:rPr lang="en-US" dirty="0"/>
              <a:t>Usually on a particular task</a:t>
            </a:r>
          </a:p>
          <a:p>
            <a:r>
              <a:rPr lang="en-US" dirty="0"/>
              <a:t>Model pruning</a:t>
            </a:r>
          </a:p>
          <a:p>
            <a:pPr lvl="1"/>
            <a:r>
              <a:rPr lang="en-US" dirty="0"/>
              <a:t>Remove parts of a large model and re-train</a:t>
            </a:r>
          </a:p>
          <a:p>
            <a:r>
              <a:rPr lang="en-US" dirty="0"/>
              <a:t>Quantization</a:t>
            </a:r>
          </a:p>
          <a:p>
            <a:pPr lvl="1"/>
            <a:r>
              <a:rPr lang="en-US" dirty="0"/>
              <a:t>Replace floating-point operations in parts of the model with lower-precision versions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791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E39D0-62CB-BB29-5BF7-6D242DACB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B9159-ADCC-60B2-50C4-3617A891A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Distillation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78BF3B-5AE8-68B1-43F2-774803306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71" y="1612653"/>
            <a:ext cx="6645729" cy="46495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425C07-DF69-1B5C-4ACB-A3C6141E5B36}"/>
              </a:ext>
            </a:extLst>
          </p:cNvPr>
          <p:cNvSpPr txBox="1"/>
          <p:nvPr/>
        </p:nvSpPr>
        <p:spPr>
          <a:xfrm>
            <a:off x="4961164" y="358298"/>
            <a:ext cx="3170465" cy="132343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Typically we distill a model on lots and lots of data </a:t>
            </a:r>
            <a:r>
              <a:rPr lang="en-US" sz="2000" i="1" dirty="0"/>
              <a:t>only </a:t>
            </a:r>
            <a:r>
              <a:rPr lang="en-US" sz="2000" dirty="0"/>
              <a:t>labeled by the teacher (</a:t>
            </a:r>
            <a:r>
              <a:rPr lang="en-US" sz="2000" b="1" dirty="0"/>
              <a:t>transfer set</a:t>
            </a: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79287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82B53-08F3-835B-906B-21B5DF1B7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7BBD9-1530-3736-8378-D048AE309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Distillation</a:t>
            </a:r>
          </a:p>
        </p:txBody>
      </p:sp>
      <p:pic>
        <p:nvPicPr>
          <p:cNvPr id="1026" name="Picture 2" descr="Figure depicting a general framework for knowledge distillation using a distillation loss between the logits of the teacher and student.&#10;">
            <a:extLst>
              <a:ext uri="{FF2B5EF4-FFF2-40B4-BE49-F238E27FC236}">
                <a16:creationId xmlns:a16="http://schemas.microsoft.com/office/drawing/2014/main" id="{31070E69-037F-64B3-5962-BB007A3F5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35150"/>
            <a:ext cx="9144000" cy="215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379593-0C85-0865-F80F-F08BB4A6A614}"/>
              </a:ext>
            </a:extLst>
          </p:cNvPr>
          <p:cNvSpPr txBox="1"/>
          <p:nvPr/>
        </p:nvSpPr>
        <p:spPr>
          <a:xfrm>
            <a:off x="4257675" y="4457700"/>
            <a:ext cx="4014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Hinton’s model distillation approach: from </a:t>
            </a:r>
            <a:r>
              <a:rPr lang="en-US" dirty="0">
                <a:hlinkClick r:id="rId4"/>
              </a:rPr>
              <a:t>https://arxiv.org/pdf/2006.05525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12880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3835B-D225-49DC-5A47-D83FA59F6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292F2FE-591C-89CC-9324-37189587B31F}"/>
              </a:ext>
            </a:extLst>
          </p:cNvPr>
          <p:cNvSpPr/>
          <p:nvPr/>
        </p:nvSpPr>
        <p:spPr>
          <a:xfrm>
            <a:off x="702129" y="4653642"/>
            <a:ext cx="2383971" cy="506186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2F1319-56F4-547A-A8DE-4C31632FF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Main techniques for compressing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6ABFC-8087-AD5D-413B-A1C8CEAC6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Distillation</a:t>
            </a:r>
          </a:p>
          <a:p>
            <a:pPr lvl="1"/>
            <a:r>
              <a:rPr lang="en-US" dirty="0"/>
              <a:t>Train a smaller “student model” to give the same outputs as a larger “teacher model” </a:t>
            </a:r>
          </a:p>
          <a:p>
            <a:pPr lvl="2"/>
            <a:r>
              <a:rPr lang="en-US" dirty="0"/>
              <a:t>Usually on a particular task</a:t>
            </a:r>
          </a:p>
          <a:p>
            <a:r>
              <a:rPr lang="en-US" dirty="0"/>
              <a:t>Model pruning – more later!</a:t>
            </a:r>
          </a:p>
          <a:p>
            <a:pPr lvl="1"/>
            <a:r>
              <a:rPr lang="en-US" dirty="0"/>
              <a:t>Remove parts of a large model and re-train</a:t>
            </a:r>
          </a:p>
          <a:p>
            <a:r>
              <a:rPr lang="en-US" dirty="0"/>
              <a:t>Quantization</a:t>
            </a:r>
          </a:p>
          <a:p>
            <a:pPr lvl="1"/>
            <a:r>
              <a:rPr lang="en-US" dirty="0"/>
              <a:t>Replace floating-point operations in parts of the model with lower-precision versions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44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6BA00-57E9-B8B2-929B-A06E28566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45DF5-0C17-1F49-0C25-C1F63A055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Quantization: Background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03E969-6979-028F-9F30-2D2275DD4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693" y="2078191"/>
            <a:ext cx="4876800" cy="1308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453168-8FFC-1E4C-CF24-29E140965270}"/>
              </a:ext>
            </a:extLst>
          </p:cNvPr>
          <p:cNvSpPr txBox="1"/>
          <p:nvPr/>
        </p:nvSpPr>
        <p:spPr>
          <a:xfrm>
            <a:off x="604157" y="1483673"/>
            <a:ext cx="3282043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Scientific notation: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AE2E9F-84F8-80BD-BBA3-1BD078CBD437}"/>
              </a:ext>
            </a:extLst>
          </p:cNvPr>
          <p:cNvSpPr txBox="1"/>
          <p:nvPr/>
        </p:nvSpPr>
        <p:spPr>
          <a:xfrm>
            <a:off x="881747" y="25635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±</a:t>
            </a:r>
          </a:p>
        </p:txBody>
      </p:sp>
    </p:spTree>
    <p:extLst>
      <p:ext uri="{BB962C8B-B14F-4D97-AF65-F5344CB8AC3E}">
        <p14:creationId xmlns:p14="http://schemas.microsoft.com/office/powerpoint/2010/main" val="336740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39355-3C89-6504-4EAC-987CEB338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90782-262D-D402-4B42-479719E7C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Quantization: Background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33E7DC-67B1-CB24-A291-E60B8FF8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693" y="2078191"/>
            <a:ext cx="4876800" cy="1308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47E55C-ACED-C9C3-C7E9-EF1EC55E9830}"/>
              </a:ext>
            </a:extLst>
          </p:cNvPr>
          <p:cNvSpPr txBox="1"/>
          <p:nvPr/>
        </p:nvSpPr>
        <p:spPr>
          <a:xfrm>
            <a:off x="604157" y="1483673"/>
            <a:ext cx="3282043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Scientific notation: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EF8BD9-D671-3E85-7C11-E6DD91F95F7E}"/>
              </a:ext>
            </a:extLst>
          </p:cNvPr>
          <p:cNvSpPr txBox="1"/>
          <p:nvPr/>
        </p:nvSpPr>
        <p:spPr>
          <a:xfrm>
            <a:off x="881747" y="25635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C60F8D-1B40-13A0-8E97-6287E42BCD47}"/>
              </a:ext>
            </a:extLst>
          </p:cNvPr>
          <p:cNvSpPr txBox="1"/>
          <p:nvPr/>
        </p:nvSpPr>
        <p:spPr>
          <a:xfrm>
            <a:off x="604156" y="3564482"/>
            <a:ext cx="4637315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IEEE standards for hardware: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0F90C73-E546-5A81-0B28-26CFE6CC6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99" y="4207668"/>
            <a:ext cx="8648701" cy="19208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D02423-2DAE-94D0-09F5-F5FE9A6D39EB}"/>
              </a:ext>
            </a:extLst>
          </p:cNvPr>
          <p:cNvSpPr txBox="1"/>
          <p:nvPr/>
        </p:nvSpPr>
        <p:spPr>
          <a:xfrm>
            <a:off x="6120493" y="2430927"/>
            <a:ext cx="2631621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Subtract bias from stored exponent to get true exponent, so float range of exponents is [-126, 127]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D9B9663-0561-790A-9CA9-4E2F406001B5}"/>
              </a:ext>
            </a:extLst>
          </p:cNvPr>
          <p:cNvCxnSpPr>
            <a:stCxn id="3" idx="2"/>
          </p:cNvCxnSpPr>
          <p:nvPr/>
        </p:nvCxnSpPr>
        <p:spPr>
          <a:xfrm flipH="1">
            <a:off x="6270171" y="3908255"/>
            <a:ext cx="1166133" cy="4678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65E083C-ED93-81B8-96F8-69097E2E91B9}"/>
              </a:ext>
            </a:extLst>
          </p:cNvPr>
          <p:cNvCxnSpPr/>
          <p:nvPr/>
        </p:nvCxnSpPr>
        <p:spPr>
          <a:xfrm flipH="1">
            <a:off x="3682093" y="3169591"/>
            <a:ext cx="2438400" cy="14024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922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57E4C-A6BB-8D72-91F2-065FA3DE4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6C317-804D-B975-C850-7EC8CF25F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Quantization: Background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492EEA-81C4-6812-009E-17F539649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0590"/>
            <a:ext cx="9040353" cy="518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271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75F2A-46EE-A0C7-B4B0-232BF4298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7C6E1-E58B-76D7-BF39-DE0DCF8B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Quantization: Background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1B1437-6B08-A3AB-36C7-4F5E274B0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55368"/>
            <a:ext cx="9119654" cy="37656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65FD62-9BAF-57C7-0F64-1CA5D905311F}"/>
              </a:ext>
            </a:extLst>
          </p:cNvPr>
          <p:cNvSpPr txBox="1"/>
          <p:nvPr/>
        </p:nvSpPr>
        <p:spPr>
          <a:xfrm>
            <a:off x="604157" y="1388017"/>
            <a:ext cx="6988629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err="1"/>
              <a:t>PyTorch</a:t>
            </a:r>
            <a:r>
              <a:rPr lang="en-US" sz="2400" dirty="0"/>
              <a:t>, TensorFlow, many accelerators, … support bfloat16 as well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3D674-B583-3075-88A1-4D96D9091455}"/>
              </a:ext>
            </a:extLst>
          </p:cNvPr>
          <p:cNvSpPr txBox="1"/>
          <p:nvPr/>
        </p:nvSpPr>
        <p:spPr>
          <a:xfrm>
            <a:off x="604157" y="5920991"/>
            <a:ext cx="7707086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Traditionally: train with float32…then it’s easy to truncate to bfloat16 for inference.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DC75CD-B9A1-6525-86EC-6DD19BFC0DF3}"/>
              </a:ext>
            </a:extLst>
          </p:cNvPr>
          <p:cNvSpPr txBox="1"/>
          <p:nvPr/>
        </p:nvSpPr>
        <p:spPr>
          <a:xfrm>
            <a:off x="5691414" y="5054484"/>
            <a:ext cx="3331029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…but training with 16 bit floats often works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964BA8-538A-F622-C261-C248EABA86F7}"/>
              </a:ext>
            </a:extLst>
          </p:cNvPr>
          <p:cNvSpPr txBox="1"/>
          <p:nvPr/>
        </p:nvSpPr>
        <p:spPr>
          <a:xfrm>
            <a:off x="5323114" y="3786612"/>
            <a:ext cx="3331029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Some chips support fp8 but training with it is tricky </a:t>
            </a:r>
            <a:r>
              <a:rPr lang="en-US" dirty="0"/>
              <a:t>(see </a:t>
            </a:r>
            <a:r>
              <a:rPr lang="en-US" dirty="0" err="1"/>
              <a:t>DeepSeek</a:t>
            </a:r>
            <a:r>
              <a:rPr lang="en-US" dirty="0"/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39162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6822C-3F6B-4CC6-4622-8772D6C32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FF511-AA6B-B536-224C-CE18E5780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Quantization: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FB97F-8B45-4828-6D8B-08FBFC3CC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113486" cy="246561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Working with even fp32 requires some care</a:t>
            </a:r>
          </a:p>
          <a:p>
            <a:pPr lvl="1"/>
            <a:r>
              <a:rPr lang="en-US" dirty="0"/>
              <a:t>E.g., accelerators support “fused multiply add” (FMA) </a:t>
            </a:r>
          </a:p>
          <a:p>
            <a:pPr lvl="2"/>
            <a:r>
              <a:rPr lang="en-US" dirty="0"/>
              <a:t>FMA(</a:t>
            </a:r>
            <a:r>
              <a:rPr lang="en-US" dirty="0" err="1"/>
              <a:t>x,y,z</a:t>
            </a:r>
            <a:r>
              <a:rPr lang="en-US" dirty="0"/>
              <a:t>)=round(x*y + z)  != round(round(x*y) + z)</a:t>
            </a:r>
          </a:p>
          <a:p>
            <a:pPr lvl="1"/>
            <a:r>
              <a:rPr lang="en-US" dirty="0"/>
              <a:t>Dot product computation is chain of FMAs</a:t>
            </a:r>
          </a:p>
          <a:p>
            <a:r>
              <a:rPr lang="en-US" dirty="0"/>
              <a:t>FP16 usually is part of mixed precision training</a:t>
            </a:r>
          </a:p>
          <a:p>
            <a:pPr lvl="1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AA16A8D-DFC2-974C-2FD0-3A2C15C58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469" y="3883252"/>
            <a:ext cx="6103620" cy="2018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70B22A-9F5B-BAB1-4B20-1D7E554DA85C}"/>
              </a:ext>
            </a:extLst>
          </p:cNvPr>
          <p:cNvSpPr txBox="1">
            <a:spLocks/>
          </p:cNvSpPr>
          <p:nvPr/>
        </p:nvSpPr>
        <p:spPr>
          <a:xfrm>
            <a:off x="279400" y="6061983"/>
            <a:ext cx="7623629" cy="632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Matmul</a:t>
            </a:r>
            <a:r>
              <a:rPr lang="en-US" dirty="0"/>
              <a:t> precision can also be adjusted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D02156-6370-E709-4A15-6AEBD1FBD786}"/>
              </a:ext>
            </a:extLst>
          </p:cNvPr>
          <p:cNvSpPr txBox="1"/>
          <p:nvPr/>
        </p:nvSpPr>
        <p:spPr>
          <a:xfrm>
            <a:off x="279400" y="3421587"/>
            <a:ext cx="8864601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optimizer </a:t>
            </a:r>
            <a:r>
              <a:rPr lang="en-US" sz="2400" b="1" dirty="0"/>
              <a:t>accumulates </a:t>
            </a:r>
            <a:r>
              <a:rPr lang="en-US" sz="2400" dirty="0"/>
              <a:t>gradients and </a:t>
            </a:r>
            <a:r>
              <a:rPr lang="en-US" sz="2400" b="1" dirty="0"/>
              <a:t>scales </a:t>
            </a:r>
            <a:r>
              <a:rPr lang="en-US" sz="2400" dirty="0"/>
              <a:t>them (by learning rate)</a:t>
            </a:r>
          </a:p>
        </p:txBody>
      </p:sp>
    </p:spTree>
    <p:extLst>
      <p:ext uri="{BB962C8B-B14F-4D97-AF65-F5344CB8AC3E}">
        <p14:creationId xmlns:p14="http://schemas.microsoft.com/office/powerpoint/2010/main" val="729665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60B61-35C2-7243-F193-A0F8F3CC6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B25C4-0ED2-4C2D-762F-E7B5C6F69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Quantization: Beyond 16 bits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C7E8B6-9CAB-9A49-45FB-363610CB8B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04"/>
          <a:stretch/>
        </p:blipFill>
        <p:spPr>
          <a:xfrm>
            <a:off x="180446" y="1228724"/>
            <a:ext cx="8468254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737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EF48B-8C89-F882-2DB1-B911082FD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9E590-D0A7-1AD1-9F40-0B97B264F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Quantization: Beyond 16 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FE2D6-73D6-7B3A-C8AC-45E07AA24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Going from fp32 </a:t>
            </a:r>
            <a:r>
              <a:rPr lang="en-US" dirty="0">
                <a:sym typeface="Wingdings" pitchFamily="2" charset="2"/>
              </a:rPr>
              <a:t> int8 or int4 requires some tricks:</a:t>
            </a:r>
          </a:p>
          <a:p>
            <a:pPr lvl="1"/>
            <a:r>
              <a:rPr lang="en-US" dirty="0">
                <a:sym typeface="Wingdings" pitchFamily="2" charset="2"/>
              </a:rPr>
              <a:t>Quantize </a:t>
            </a:r>
            <a:r>
              <a:rPr lang="en-US" b="1" dirty="0">
                <a:sym typeface="Wingdings" pitchFamily="2" charset="2"/>
              </a:rPr>
              <a:t>different parts </a:t>
            </a:r>
            <a:r>
              <a:rPr lang="en-US" dirty="0">
                <a:sym typeface="Wingdings" pitchFamily="2" charset="2"/>
              </a:rPr>
              <a:t>of the model differently</a:t>
            </a:r>
          </a:p>
          <a:p>
            <a:pPr lvl="2"/>
            <a:r>
              <a:rPr lang="en-US" dirty="0">
                <a:sym typeface="Wingdings" pitchFamily="2" charset="2"/>
              </a:rPr>
              <a:t>quantize(x; S, Z) = round(x/S + Z)</a:t>
            </a:r>
          </a:p>
          <a:p>
            <a:pPr lvl="3"/>
            <a:r>
              <a:rPr lang="en-US" dirty="0">
                <a:sym typeface="Wingdings" pitchFamily="2" charset="2"/>
              </a:rPr>
              <a:t>S is “scale”</a:t>
            </a:r>
          </a:p>
          <a:p>
            <a:pPr lvl="3"/>
            <a:r>
              <a:rPr lang="en-US" dirty="0">
                <a:sym typeface="Wingdings" pitchFamily="2" charset="2"/>
              </a:rPr>
              <a:t>Z is “zero point”</a:t>
            </a:r>
          </a:p>
          <a:p>
            <a:pPr lvl="3"/>
            <a:r>
              <a:rPr lang="en-US" dirty="0">
                <a:sym typeface="Wingdings" pitchFamily="2" charset="2"/>
              </a:rPr>
              <a:t>S, Z are set for this model slice to get the needed range [⍺,β]</a:t>
            </a:r>
          </a:p>
          <a:p>
            <a:pPr lvl="2"/>
            <a:r>
              <a:rPr lang="en-US" dirty="0">
                <a:sym typeface="Wingdings" pitchFamily="2" charset="2"/>
              </a:rPr>
              <a:t>do as </a:t>
            </a:r>
            <a:r>
              <a:rPr lang="en-US" b="1" dirty="0">
                <a:sym typeface="Wingdings" pitchFamily="2" charset="2"/>
              </a:rPr>
              <a:t>much as you can in quantized </a:t>
            </a:r>
            <a:r>
              <a:rPr lang="en-US" dirty="0">
                <a:sym typeface="Wingdings" pitchFamily="2" charset="2"/>
              </a:rPr>
              <a:t>space instead of quantizing and de-quantizing frequently (the FMA trick)</a:t>
            </a:r>
          </a:p>
          <a:p>
            <a:pPr lvl="3"/>
            <a:r>
              <a:rPr lang="en-US" dirty="0">
                <a:sym typeface="Wingdings" pitchFamily="2" charset="2"/>
              </a:rPr>
              <a:t>complete </a:t>
            </a:r>
            <a:r>
              <a:rPr lang="en-US" dirty="0" err="1">
                <a:sym typeface="Wingdings" pitchFamily="2" charset="2"/>
              </a:rPr>
              <a:t>matmul</a:t>
            </a:r>
            <a:r>
              <a:rPr lang="en-US" dirty="0">
                <a:sym typeface="Wingdings" pitchFamily="2" charset="2"/>
              </a:rPr>
              <a:t>, conv2D-BatchNorm-ReLU</a:t>
            </a:r>
          </a:p>
          <a:p>
            <a:pPr lvl="1"/>
            <a:r>
              <a:rPr lang="en-US" dirty="0">
                <a:sym typeface="Wingdings" pitchFamily="2" charset="2"/>
              </a:rPr>
              <a:t>Quantize </a:t>
            </a:r>
            <a:r>
              <a:rPr lang="en-US" b="1" dirty="0">
                <a:sym typeface="Wingdings" pitchFamily="2" charset="2"/>
              </a:rPr>
              <a:t>dynamically</a:t>
            </a:r>
          </a:p>
          <a:p>
            <a:pPr lvl="2"/>
            <a:r>
              <a:rPr lang="en-US" dirty="0">
                <a:sym typeface="Wingdings" pitchFamily="2" charset="2"/>
              </a:rPr>
              <a:t>set S, Z after you see the activation values</a:t>
            </a:r>
          </a:p>
          <a:p>
            <a:pPr lvl="1"/>
            <a:r>
              <a:rPr lang="en-US" b="1" dirty="0">
                <a:sym typeface="Wingdings" pitchFamily="2" charset="2"/>
              </a:rPr>
              <a:t>Don’t quantize </a:t>
            </a:r>
            <a:r>
              <a:rPr lang="en-US" dirty="0">
                <a:sym typeface="Wingdings" pitchFamily="2" charset="2"/>
              </a:rPr>
              <a:t>everything</a:t>
            </a:r>
          </a:p>
          <a:p>
            <a:pPr lvl="2"/>
            <a:r>
              <a:rPr lang="en-US" dirty="0" err="1">
                <a:sym typeface="Wingdings" pitchFamily="2" charset="2"/>
              </a:rPr>
              <a:t>eg</a:t>
            </a:r>
            <a:r>
              <a:rPr lang="en-US" dirty="0">
                <a:sym typeface="Wingdings" pitchFamily="2" charset="2"/>
              </a:rPr>
              <a:t> bias layers aren’t usually quantized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710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7773D-C068-91FD-2908-F3B351DE8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CB8B0-B880-18E4-1E8A-D85056919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Quantization: Beyond 16 bits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0BF9D4-6F36-3889-D491-60FDD8368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75264"/>
            <a:ext cx="7772400" cy="27074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BE8240-3DDD-C510-A42D-9BE916306CD8}"/>
              </a:ext>
            </a:extLst>
          </p:cNvPr>
          <p:cNvSpPr txBox="1"/>
          <p:nvPr/>
        </p:nvSpPr>
        <p:spPr>
          <a:xfrm>
            <a:off x="6362700" y="1847850"/>
            <a:ext cx="2228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1708976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5D423-9D91-F78E-5F7B-A887331C9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982DA-BD20-669A-BF6C-FC76FA251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Quantization: Beyond 16 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6BA1F-1593-C118-1285-932D6C91D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4330700" cy="512445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Feature</a:t>
            </a:r>
            <a:r>
              <a:rPr lang="en-US" dirty="0"/>
              <a:t>: any single dimension of a token representation</a:t>
            </a:r>
          </a:p>
          <a:p>
            <a:r>
              <a:rPr lang="en-US" b="1" dirty="0"/>
              <a:t>Outlier feature: </a:t>
            </a:r>
            <a:r>
              <a:rPr lang="en-US" dirty="0"/>
              <a:t>magnitude &gt;= 6 in 25% of the layers and 6% of “sequence dimensions”</a:t>
            </a:r>
          </a:p>
          <a:p>
            <a:pPr lvl="1"/>
            <a:r>
              <a:rPr lang="en-US" b="1" dirty="0"/>
              <a:t>sequence dimension: </a:t>
            </a:r>
            <a:r>
              <a:rPr lang="en-US" dirty="0"/>
              <a:t>token positions</a:t>
            </a:r>
          </a:p>
          <a:p>
            <a:r>
              <a:rPr lang="en-US" b="1" dirty="0"/>
              <a:t>Observation</a:t>
            </a:r>
            <a:r>
              <a:rPr lang="en-US" dirty="0"/>
              <a:t>: outliers are</a:t>
            </a:r>
          </a:p>
          <a:p>
            <a:pPr lvl="1"/>
            <a:r>
              <a:rPr lang="en-US" dirty="0"/>
              <a:t>probabilistic in smaller models (in some layers and not others)</a:t>
            </a:r>
          </a:p>
          <a:p>
            <a:pPr lvl="1"/>
            <a:r>
              <a:rPr lang="en-US" dirty="0"/>
              <a:t>systematic</a:t>
            </a:r>
            <a:r>
              <a:rPr lang="en-US" b="1" dirty="0"/>
              <a:t> </a:t>
            </a:r>
            <a:r>
              <a:rPr lang="en-US" dirty="0"/>
              <a:t>in larger models (most layers)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96F206-B207-FD16-1876-45BE2BBAC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82700"/>
            <a:ext cx="43307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335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1740-9589-8E04-DA27-499CAFEE7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0A30B-2207-B42A-0CBD-75FB537E1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Quantization: Beyond 16 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81D16-A587-CB73-AC5C-E0761E1E1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4330700" cy="512445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Feature</a:t>
            </a:r>
            <a:r>
              <a:rPr lang="en-US" dirty="0"/>
              <a:t>: any single dimension of a token representation</a:t>
            </a:r>
          </a:p>
          <a:p>
            <a:r>
              <a:rPr lang="en-US" b="1" dirty="0"/>
              <a:t>Outlier feature: </a:t>
            </a:r>
            <a:r>
              <a:rPr lang="en-US" dirty="0"/>
              <a:t>magnitude &gt;= 6 in 25% of the layers and 6% of “sequence dimensions”</a:t>
            </a:r>
          </a:p>
          <a:p>
            <a:pPr lvl="1"/>
            <a:r>
              <a:rPr lang="en-US" b="1" dirty="0"/>
              <a:t>sequence dimension: </a:t>
            </a:r>
            <a:r>
              <a:rPr lang="en-US" dirty="0"/>
              <a:t>token positions</a:t>
            </a:r>
          </a:p>
          <a:p>
            <a:r>
              <a:rPr lang="en-US" b="1" dirty="0"/>
              <a:t>Observation</a:t>
            </a:r>
            <a:r>
              <a:rPr lang="en-US" dirty="0"/>
              <a:t>: outliers are</a:t>
            </a:r>
          </a:p>
          <a:p>
            <a:pPr lvl="1"/>
            <a:r>
              <a:rPr lang="en-US" dirty="0"/>
              <a:t>probabilistic in smaller models (in some layers and not others)</a:t>
            </a:r>
          </a:p>
          <a:p>
            <a:pPr lvl="1"/>
            <a:r>
              <a:rPr lang="en-US" dirty="0"/>
              <a:t>systematic</a:t>
            </a:r>
            <a:r>
              <a:rPr lang="en-US" b="1" dirty="0"/>
              <a:t> </a:t>
            </a:r>
            <a:r>
              <a:rPr lang="en-US" dirty="0"/>
              <a:t>in larger models (most layers)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EAD951-A4F3-126B-FAAA-2C9220BFC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57300"/>
            <a:ext cx="4533900" cy="3860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98470F-816D-0917-F139-6690A0A6E3DF}"/>
              </a:ext>
            </a:extLst>
          </p:cNvPr>
          <p:cNvSpPr txBox="1"/>
          <p:nvPr/>
        </p:nvSpPr>
        <p:spPr>
          <a:xfrm>
            <a:off x="4610100" y="5278438"/>
            <a:ext cx="4330701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Hypothesis: outlier features are why int8 stops working!</a:t>
            </a:r>
          </a:p>
        </p:txBody>
      </p:sp>
    </p:spTree>
    <p:extLst>
      <p:ext uri="{BB962C8B-B14F-4D97-AF65-F5344CB8AC3E}">
        <p14:creationId xmlns:p14="http://schemas.microsoft.com/office/powerpoint/2010/main" val="378013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1B35E-0F9A-95E4-353C-44F3DB8C8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B537-9EF3-21AD-A28C-651CF5490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Quantization: Beyond 16 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96961-B83C-3291-7BC4-CC88826F9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299"/>
            <a:ext cx="8456386" cy="122464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Going from fp32 </a:t>
            </a:r>
            <a:r>
              <a:rPr lang="en-US" dirty="0">
                <a:sym typeface="Wingdings" pitchFamily="2" charset="2"/>
              </a:rPr>
              <a:t> int8 or int4 requires some tricks:</a:t>
            </a:r>
          </a:p>
          <a:p>
            <a:pPr lvl="1"/>
            <a:r>
              <a:rPr lang="en-US" dirty="0">
                <a:sym typeface="Wingdings" pitchFamily="2" charset="2"/>
              </a:rPr>
              <a:t>Mixed-precision quantization – keep large  “outlier” features (which are </a:t>
            </a:r>
            <a:r>
              <a:rPr lang="en-US" b="1" dirty="0">
                <a:sym typeface="Wingdings" pitchFamily="2" charset="2"/>
              </a:rPr>
              <a:t>consistently </a:t>
            </a:r>
            <a:r>
              <a:rPr lang="en-US" dirty="0">
                <a:sym typeface="Wingdings" pitchFamily="2" charset="2"/>
              </a:rPr>
              <a:t>in fixed locations)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E39EA4-D826-FC82-6425-FF32E52ED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53703"/>
            <a:ext cx="7543800" cy="432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554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CB32A-5109-9529-BF8F-6D2A2C537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6331F-F482-B544-ECBE-97D2BDFAA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Quantization: Performance Tradeoffs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0A8C37-9CE6-D900-B944-19CC44D98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90" y="1147824"/>
            <a:ext cx="4436759" cy="31701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D53DD4-3505-643E-9480-D72874F065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732"/>
          <a:stretch/>
        </p:blipFill>
        <p:spPr>
          <a:xfrm>
            <a:off x="4572000" y="1280822"/>
            <a:ext cx="4429964" cy="30371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ED8B33-EA84-CB53-69C1-830C26170E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4368800"/>
            <a:ext cx="4635500" cy="2489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4A4F85-80B3-861C-504A-E5FAF76AED37}"/>
              </a:ext>
            </a:extLst>
          </p:cNvPr>
          <p:cNvSpPr txBox="1"/>
          <p:nvPr/>
        </p:nvSpPr>
        <p:spPr>
          <a:xfrm>
            <a:off x="7135586" y="4767943"/>
            <a:ext cx="1792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2023</a:t>
            </a:r>
          </a:p>
        </p:txBody>
      </p:sp>
    </p:spTree>
    <p:extLst>
      <p:ext uri="{BB962C8B-B14F-4D97-AF65-F5344CB8AC3E}">
        <p14:creationId xmlns:p14="http://schemas.microsoft.com/office/powerpoint/2010/main" val="30442929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B0588-1F40-228F-C61C-AA4F70B1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0AF4A-DCE7-C285-3D55-3EB1EB2EF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Quantization: Beyond 4 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1F7A1-41BA-F9FE-6134-80787867E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364538" cy="5308600"/>
          </a:xfrm>
        </p:spPr>
        <p:txBody>
          <a:bodyPr>
            <a:normAutofit/>
          </a:bodyPr>
          <a:lstStyle/>
          <a:p>
            <a:r>
              <a:rPr lang="en-US" dirty="0"/>
              <a:t>You can also adjust training</a:t>
            </a:r>
          </a:p>
          <a:p>
            <a:pPr lvl="1"/>
            <a:r>
              <a:rPr lang="en-US" dirty="0"/>
              <a:t>add “quantization layers” at training</a:t>
            </a:r>
          </a:p>
          <a:p>
            <a:pPr lvl="1"/>
            <a:r>
              <a:rPr lang="en-US" dirty="0"/>
              <a:t>introduce the same sort of “noise” that quantization introduces</a:t>
            </a:r>
          </a:p>
          <a:p>
            <a:pPr lvl="1"/>
            <a:r>
              <a:rPr lang="en-US" dirty="0"/>
              <a:t>learned network will be more robust to quantization “noise”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6537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E088E-D773-4CE9-CB5B-4CB822574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2E7D8-07A8-6D8A-2D26-935A5FC9F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Quantization: Beyond 4 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8FD08-B493-EB84-A3B5-105D1567D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364538" cy="5308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Quantization-aware training</a:t>
            </a:r>
          </a:p>
          <a:p>
            <a:pPr lvl="2"/>
            <a:r>
              <a:rPr lang="en-US" dirty="0"/>
              <a:t>(de)quantization operations are not differentiable</a:t>
            </a:r>
          </a:p>
          <a:p>
            <a:pPr lvl="2"/>
            <a:r>
              <a:rPr lang="en-US" dirty="0"/>
              <a:t>partial solutions</a:t>
            </a:r>
          </a:p>
          <a:p>
            <a:pPr lvl="3"/>
            <a:r>
              <a:rPr lang="en-US" dirty="0"/>
              <a:t>approximate the ops</a:t>
            </a:r>
          </a:p>
          <a:p>
            <a:pPr lvl="3"/>
            <a:r>
              <a:rPr lang="en-US" dirty="0"/>
              <a:t>use “straight through estimation” (STE) of gradients</a:t>
            </a:r>
          </a:p>
          <a:p>
            <a:pPr lvl="2"/>
            <a:r>
              <a:rPr lang="en-US" dirty="0"/>
              <a:t>extreme quantization requires methods quantize vectors by combining vectors from a “codebook”</a:t>
            </a:r>
          </a:p>
          <a:p>
            <a:pPr lvl="3"/>
            <a:r>
              <a:rPr lang="en-US" dirty="0"/>
              <a:t>similar to product quantization</a:t>
            </a:r>
          </a:p>
          <a:p>
            <a:pPr lvl="3"/>
            <a:r>
              <a:rPr lang="en-US" dirty="0"/>
              <a:t>e.g. ”additive quantization”</a:t>
            </a:r>
          </a:p>
          <a:p>
            <a:pPr lvl="2"/>
            <a:r>
              <a:rPr lang="en-US" dirty="0"/>
              <a:t>learning should ideally jointly optimize the continuous parts (codebook values) and discrete parts (assignment of values to code)</a:t>
            </a:r>
          </a:p>
          <a:p>
            <a:pPr lvl="3"/>
            <a:r>
              <a:rPr lang="en-US" dirty="0"/>
              <a:t>this can’t be done with gradient descent only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7842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0DAF8-08B1-5AB0-7266-731403196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CFD53F-D309-E792-9E13-1BE490A6B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79264"/>
            <a:ext cx="7077974" cy="26793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30647E-46C9-931F-49D5-7D36F37FE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Quantization: Performance Tradeoffs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983C0F-4728-D480-624E-7FE2C4343EC4}"/>
              </a:ext>
            </a:extLst>
          </p:cNvPr>
          <p:cNvSpPr txBox="1"/>
          <p:nvPr/>
        </p:nvSpPr>
        <p:spPr>
          <a:xfrm>
            <a:off x="7351486" y="4248405"/>
            <a:ext cx="1792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A40994-4534-B324-3FB3-59F513E85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43" y="1096962"/>
            <a:ext cx="8418104" cy="271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4204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201A8-93AC-58A7-2B8C-A5F50BF45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6462367-9116-A2CE-5F9C-E2030133B688}"/>
              </a:ext>
            </a:extLst>
          </p:cNvPr>
          <p:cNvSpPr/>
          <p:nvPr/>
        </p:nvSpPr>
        <p:spPr>
          <a:xfrm>
            <a:off x="620486" y="3429000"/>
            <a:ext cx="2579914" cy="506186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737AB7-0DB8-595A-E4AE-C171D8B74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Main techniques for compressing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D5B12-E045-3C28-A586-CF18E7906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Distillation</a:t>
            </a:r>
          </a:p>
          <a:p>
            <a:pPr lvl="1"/>
            <a:r>
              <a:rPr lang="en-US" dirty="0"/>
              <a:t>Train a smaller “student model” to give the same outputs as a larger “teacher model” </a:t>
            </a:r>
          </a:p>
          <a:p>
            <a:pPr lvl="2"/>
            <a:r>
              <a:rPr lang="en-US" dirty="0"/>
              <a:t>Usually on a particular task</a:t>
            </a:r>
          </a:p>
          <a:p>
            <a:r>
              <a:rPr lang="en-US" dirty="0"/>
              <a:t>Model pruning</a:t>
            </a:r>
          </a:p>
          <a:p>
            <a:pPr lvl="1"/>
            <a:r>
              <a:rPr lang="en-US" dirty="0"/>
              <a:t>Remove parts of a large model and re-train</a:t>
            </a:r>
          </a:p>
          <a:p>
            <a:r>
              <a:rPr lang="en-US" dirty="0"/>
              <a:t>Quantization</a:t>
            </a:r>
          </a:p>
          <a:p>
            <a:pPr lvl="1"/>
            <a:r>
              <a:rPr lang="en-US" dirty="0"/>
              <a:t>Replace floating-point operations in parts of the model with lower-precision versions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95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28F96-97AD-0907-BB0F-1256EB787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A28D-87B5-0DA5-E784-343C2CC22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6F79C-3904-E4DC-DBB4-520AB99A7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Quick review of distillation</a:t>
            </a:r>
          </a:p>
          <a:p>
            <a:r>
              <a:rPr lang="en-US" dirty="0"/>
              <a:t>Model Quantization</a:t>
            </a:r>
          </a:p>
          <a:p>
            <a:r>
              <a:rPr lang="en-US" dirty="0"/>
              <a:t>Model Pruning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Some motivation</a:t>
            </a:r>
          </a:p>
          <a:p>
            <a:pPr lvl="1"/>
            <a:r>
              <a:rPr lang="en-US" dirty="0"/>
              <a:t>Some approaches</a:t>
            </a:r>
          </a:p>
          <a:p>
            <a:pPr lvl="2"/>
            <a:r>
              <a:rPr lang="en-US" dirty="0"/>
              <a:t>Unstructured pruning</a:t>
            </a:r>
          </a:p>
          <a:p>
            <a:pPr lvl="2"/>
            <a:r>
              <a:rPr lang="en-US" dirty="0"/>
              <a:t>Semi-structured pruning</a:t>
            </a:r>
          </a:p>
          <a:p>
            <a:pPr lvl="3"/>
            <a:r>
              <a:rPr lang="en-US" dirty="0"/>
              <a:t>N:M pruning</a:t>
            </a:r>
          </a:p>
          <a:p>
            <a:pPr lvl="2"/>
            <a:r>
              <a:rPr lang="en-US" dirty="0"/>
              <a:t>Structured pruning</a:t>
            </a:r>
          </a:p>
        </p:txBody>
      </p:sp>
    </p:spTree>
    <p:extLst>
      <p:ext uri="{BB962C8B-B14F-4D97-AF65-F5344CB8AC3E}">
        <p14:creationId xmlns:p14="http://schemas.microsoft.com/office/powerpoint/2010/main" val="9181738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5014D-0062-9FA3-85A2-D43A29549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Intuitions about compression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E2D5F-C7C2-8AE3-CE40-D33B8A528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Quantization</a:t>
            </a:r>
          </a:p>
          <a:p>
            <a:pPr lvl="1"/>
            <a:r>
              <a:rPr lang="en-US" dirty="0"/>
              <a:t>You need more precision for </a:t>
            </a:r>
            <a:r>
              <a:rPr lang="en-US" b="1" dirty="0"/>
              <a:t>learning</a:t>
            </a:r>
            <a:r>
              <a:rPr lang="en-US" dirty="0"/>
              <a:t> than for </a:t>
            </a:r>
            <a:r>
              <a:rPr lang="en-US" b="1" dirty="0"/>
              <a:t>inference</a:t>
            </a:r>
          </a:p>
          <a:p>
            <a:r>
              <a:rPr lang="en-US" dirty="0"/>
              <a:t>Distillation</a:t>
            </a:r>
          </a:p>
          <a:p>
            <a:pPr lvl="1"/>
            <a:r>
              <a:rPr lang="en-US" dirty="0"/>
              <a:t>It may be easier to optimize a </a:t>
            </a:r>
            <a:r>
              <a:rPr lang="en-US" b="1" dirty="0"/>
              <a:t>big model</a:t>
            </a:r>
            <a:r>
              <a:rPr lang="en-US" dirty="0"/>
              <a:t> than a </a:t>
            </a:r>
            <a:r>
              <a:rPr lang="en-US" b="1" dirty="0"/>
              <a:t>smaller model</a:t>
            </a:r>
            <a:endParaRPr lang="en-US" dirty="0"/>
          </a:p>
          <a:p>
            <a:pPr lvl="2"/>
            <a:r>
              <a:rPr lang="en-US" dirty="0"/>
              <a:t>optimizer is searching a less constrained space</a:t>
            </a:r>
          </a:p>
          <a:p>
            <a:pPr lvl="1"/>
            <a:r>
              <a:rPr lang="en-US" dirty="0"/>
              <a:t>Learning a </a:t>
            </a:r>
            <a:r>
              <a:rPr lang="en-US" b="1" dirty="0"/>
              <a:t>big model</a:t>
            </a:r>
            <a:r>
              <a:rPr lang="en-US" dirty="0"/>
              <a:t> for a hard </a:t>
            </a:r>
            <a:r>
              <a:rPr lang="en-US" b="1" dirty="0"/>
              <a:t>pre-training task </a:t>
            </a:r>
            <a:r>
              <a:rPr lang="en-US" dirty="0"/>
              <a:t>may require that model to learn something about many useful </a:t>
            </a:r>
            <a:r>
              <a:rPr lang="en-US" b="1" dirty="0"/>
              <a:t>subtasks</a:t>
            </a:r>
          </a:p>
          <a:p>
            <a:pPr lvl="2"/>
            <a:r>
              <a:rPr lang="en-US" dirty="0"/>
              <a:t>A </a:t>
            </a:r>
            <a:r>
              <a:rPr lang="en-US" b="1" dirty="0"/>
              <a:t>small model </a:t>
            </a:r>
            <a:r>
              <a:rPr lang="en-US" dirty="0"/>
              <a:t>might be able to learn how to </a:t>
            </a:r>
            <a:r>
              <a:rPr lang="en-US" b="1" dirty="0"/>
              <a:t>replicate </a:t>
            </a:r>
            <a:r>
              <a:rPr lang="en-US" dirty="0"/>
              <a:t>the large </a:t>
            </a:r>
            <a:r>
              <a:rPr lang="en-US" dirty="0" err="1"/>
              <a:t>models’s</a:t>
            </a:r>
            <a:r>
              <a:rPr lang="en-US" dirty="0"/>
              <a:t> behavior on one </a:t>
            </a:r>
            <a:r>
              <a:rPr lang="en-US" b="1" dirty="0"/>
              <a:t>subtask</a:t>
            </a:r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7CE4C8-0D25-84C1-B695-3465EABB415A}"/>
              </a:ext>
            </a:extLst>
          </p:cNvPr>
          <p:cNvSpPr/>
          <p:nvPr/>
        </p:nvSpPr>
        <p:spPr>
          <a:xfrm>
            <a:off x="485775" y="4129088"/>
            <a:ext cx="8442325" cy="222726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DE4548-C81B-A788-DE63-6F6117A47A18}"/>
              </a:ext>
            </a:extLst>
          </p:cNvPr>
          <p:cNvSpPr txBox="1"/>
          <p:nvPr/>
        </p:nvSpPr>
        <p:spPr>
          <a:xfrm>
            <a:off x="4706937" y="6125517"/>
            <a:ext cx="3443288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Same for pruning?</a:t>
            </a:r>
          </a:p>
        </p:txBody>
      </p:sp>
    </p:spTree>
    <p:extLst>
      <p:ext uri="{BB962C8B-B14F-4D97-AF65-F5344CB8AC3E}">
        <p14:creationId xmlns:p14="http://schemas.microsoft.com/office/powerpoint/2010/main" val="3524265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AsiDE</a:t>
            </a:r>
            <a:r>
              <a:rPr lang="en-US" dirty="0"/>
              <a:t>: Semantically Meaningful Neurons?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798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170C0-D585-4155-E19F-7DFBA0D4A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Cat Neuron Paper</a:t>
            </a:r>
          </a:p>
        </p:txBody>
      </p:sp>
      <p:pic>
        <p:nvPicPr>
          <p:cNvPr id="1026" name="Picture 2" descr="Cat detection">
            <a:extLst>
              <a:ext uri="{FF2B5EF4-FFF2-40B4-BE49-F238E27FC236}">
                <a16:creationId xmlns:a16="http://schemas.microsoft.com/office/drawing/2014/main" id="{B4F15672-D204-67D3-9E42-52284FEA5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0585" y="1181100"/>
            <a:ext cx="5982829" cy="519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529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E112A-DFE6-6344-BCAF-67990B0EC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C60E2-0475-C47D-B1A8-8F6D7246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Cat Neuron Paper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E48A71-F5AA-7123-7BF9-CD6C800F5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85" y="1823084"/>
            <a:ext cx="8864964" cy="36633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3D9BE8-2796-4549-33E1-3759F94B5FEA}"/>
              </a:ext>
            </a:extLst>
          </p:cNvPr>
          <p:cNvSpPr txBox="1"/>
          <p:nvPr/>
        </p:nvSpPr>
        <p:spPr>
          <a:xfrm>
            <a:off x="6498771" y="1453753"/>
            <a:ext cx="148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2012 ICML</a:t>
            </a:r>
          </a:p>
        </p:txBody>
      </p:sp>
    </p:spTree>
    <p:extLst>
      <p:ext uri="{BB962C8B-B14F-4D97-AF65-F5344CB8AC3E}">
        <p14:creationId xmlns:p14="http://schemas.microsoft.com/office/powerpoint/2010/main" val="596434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5B503-45E2-8EA0-C35D-5FE31264C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F96C-3E5E-18B6-7D0F-C207893E6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Background: </a:t>
            </a:r>
            <a:r>
              <a:rPr lang="en-US" dirty="0" err="1"/>
              <a:t>AutoEncoders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ED0ABC-872B-A5DC-BF1D-D3FB3D2B2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999" y="2943847"/>
            <a:ext cx="6798002" cy="374003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576DD9-F487-B070-ADED-79047E2D492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417638"/>
            <a:ext cx="7935686" cy="161652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Autoencoder is DL version of matrix completion</a:t>
            </a:r>
          </a:p>
          <a:p>
            <a:pPr lvl="1"/>
            <a:r>
              <a:rPr lang="en-US" b="1" dirty="0"/>
              <a:t>input</a:t>
            </a:r>
            <a:r>
              <a:rPr lang="en-US" dirty="0"/>
              <a:t> and target </a:t>
            </a:r>
            <a:r>
              <a:rPr lang="en-US" b="1" dirty="0"/>
              <a:t>output</a:t>
            </a:r>
            <a:r>
              <a:rPr lang="en-US" dirty="0"/>
              <a:t> are the </a:t>
            </a:r>
            <a:r>
              <a:rPr lang="en-US" b="1" dirty="0"/>
              <a:t>same</a:t>
            </a:r>
          </a:p>
          <a:p>
            <a:pPr lvl="1"/>
            <a:r>
              <a:rPr lang="en-US" dirty="0"/>
              <a:t>in between is an ANN with a “</a:t>
            </a:r>
            <a:r>
              <a:rPr lang="en-US" b="1" dirty="0"/>
              <a:t>bottleneck</a:t>
            </a:r>
            <a:r>
              <a:rPr lang="en-US" dirty="0"/>
              <a:t>” layer</a:t>
            </a:r>
          </a:p>
          <a:p>
            <a:pPr lvl="1"/>
            <a:r>
              <a:rPr lang="en-US" dirty="0"/>
              <a:t>data has to be </a:t>
            </a:r>
            <a:r>
              <a:rPr lang="en-US" b="1" dirty="0"/>
              <a:t>compressed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 </a:t>
            </a:r>
            <a:r>
              <a:rPr lang="en-US" b="1" dirty="0">
                <a:sym typeface="Wingdings" pitchFamily="2" charset="2"/>
              </a:rPr>
              <a:t>generalized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452851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007FB-4D94-3F0F-2B96-6DD9111EC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AA6AD-CC3C-326F-8A8F-B91A307FC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Cat Neuron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D0E6E3-DC3A-0B71-B97D-59CB3256073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17500" y="1325562"/>
            <a:ext cx="4441371" cy="5257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Data:</a:t>
            </a:r>
          </a:p>
          <a:p>
            <a:pPr lvl="1"/>
            <a:r>
              <a:rPr lang="en-US" dirty="0"/>
              <a:t>10M YouTube videos</a:t>
            </a:r>
          </a:p>
          <a:p>
            <a:pPr lvl="1"/>
            <a:r>
              <a:rPr lang="en-US" dirty="0"/>
              <a:t>one 200x200 color image from each</a:t>
            </a:r>
          </a:p>
          <a:p>
            <a:r>
              <a:rPr lang="en-US" dirty="0"/>
              <a:t>Architecture:</a:t>
            </a:r>
          </a:p>
          <a:p>
            <a:pPr lvl="1"/>
            <a:r>
              <a:rPr lang="en-US" dirty="0"/>
              <a:t>autoencoder with</a:t>
            </a:r>
          </a:p>
          <a:p>
            <a:pPr lvl="2"/>
            <a:r>
              <a:rPr lang="en-US" dirty="0"/>
              <a:t>local receptive fields (like CNN but less sharing)</a:t>
            </a:r>
          </a:p>
          <a:p>
            <a:pPr lvl="2"/>
            <a:r>
              <a:rPr lang="en-US" dirty="0"/>
              <a:t>pooling and normalization</a:t>
            </a:r>
          </a:p>
          <a:p>
            <a:r>
              <a:rPr lang="en-US" dirty="0"/>
              <a:t>Scale:</a:t>
            </a:r>
          </a:p>
          <a:p>
            <a:pPr lvl="1"/>
            <a:r>
              <a:rPr lang="en-US" dirty="0"/>
              <a:t>1B params</a:t>
            </a:r>
          </a:p>
          <a:p>
            <a:pPr lvl="1"/>
            <a:r>
              <a:rPr lang="en-US" dirty="0"/>
              <a:t>trained on 1000 16-core machines, model- and data-parallel, async SGD</a:t>
            </a:r>
          </a:p>
          <a:p>
            <a:pPr lvl="2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3783E7-FD0B-EC97-4CBD-6B132F2F39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95" r="7532" b="1687"/>
          <a:stretch/>
        </p:blipFill>
        <p:spPr>
          <a:xfrm>
            <a:off x="5082362" y="1739899"/>
            <a:ext cx="3840190" cy="372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9355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6944F-E231-8D99-DF90-D3614E920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F4B83-2F8D-FCA1-159A-EEDF25C4A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Cat Neuron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6675E1-46C3-015E-3D0D-F51BFF23CAE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17500" y="1325562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/>
              <a:t>Experiment:</a:t>
            </a:r>
          </a:p>
          <a:p>
            <a:pPr lvl="1"/>
            <a:r>
              <a:rPr lang="en-US" dirty="0"/>
              <a:t>Test every neuron for performance at classifying </a:t>
            </a:r>
            <a:r>
              <a:rPr lang="en-US" b="1" dirty="0"/>
              <a:t>face</a:t>
            </a:r>
            <a:r>
              <a:rPr lang="en-US" dirty="0"/>
              <a:t> images</a:t>
            </a:r>
          </a:p>
          <a:p>
            <a:pPr lvl="2"/>
            <a:r>
              <a:rPr lang="en-US" dirty="0"/>
              <a:t>37k images, mostly ”aligned”</a:t>
            </a:r>
          </a:p>
          <a:p>
            <a:pPr lvl="2"/>
            <a:r>
              <a:rPr lang="en-US" dirty="0"/>
              <a:t>13k faces, rest distractor images from ImageNet</a:t>
            </a:r>
          </a:p>
          <a:p>
            <a:pPr lvl="2"/>
            <a:r>
              <a:rPr lang="en-US" dirty="0"/>
              <a:t>tried 20 different thresholds for each image</a:t>
            </a:r>
          </a:p>
          <a:p>
            <a:pPr lvl="1"/>
            <a:r>
              <a:rPr lang="en-US" dirty="0"/>
              <a:t>Baseline: “no face” is 64.8% accurate</a:t>
            </a:r>
          </a:p>
          <a:p>
            <a:pPr lvl="1"/>
            <a:r>
              <a:rPr lang="en-US" dirty="0"/>
              <a:t>Best </a:t>
            </a:r>
            <a:r>
              <a:rPr lang="en-US" b="1" dirty="0"/>
              <a:t>single</a:t>
            </a:r>
            <a:r>
              <a:rPr lang="en-US" dirty="0"/>
              <a:t> neuron is 81.7% accurate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6220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5602B-5987-BCBC-4DF7-D8CFD9F3F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31280-6D1B-0EF9-57F9-6134D9024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Cat Neuron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35349B-21ED-D437-873B-41DA653AF3A9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17500" y="1325562"/>
            <a:ext cx="8229600" cy="1651000"/>
          </a:xfrm>
        </p:spPr>
        <p:txBody>
          <a:bodyPr>
            <a:normAutofit/>
          </a:bodyPr>
          <a:lstStyle/>
          <a:p>
            <a:r>
              <a:rPr lang="en-US" dirty="0"/>
              <a:t>Histogram of scores on a balanced test set</a:t>
            </a:r>
          </a:p>
          <a:p>
            <a:pPr lvl="2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35E6F2-6A66-7BB9-7E50-70DA7C201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369" y="2062162"/>
            <a:ext cx="7402669" cy="45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0447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289AB-BF0F-FD7B-1D87-375372DD8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CB658-2073-3BFA-5193-BED131741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Cat Neuron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218928-8E44-E302-1FC1-6D216ED38E4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17500" y="1325562"/>
            <a:ext cx="8229600" cy="1651000"/>
          </a:xfrm>
        </p:spPr>
        <p:txBody>
          <a:bodyPr>
            <a:normAutofit/>
          </a:bodyPr>
          <a:lstStyle/>
          <a:p>
            <a:r>
              <a:rPr lang="en-US" dirty="0"/>
              <a:t>Test inputs with highest activation</a:t>
            </a:r>
          </a:p>
          <a:p>
            <a:pPr lvl="2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102D5A-2D64-A03F-C110-9553DDF27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550" y="1906586"/>
            <a:ext cx="5651500" cy="424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3907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F7EBF-9E97-CB5E-D401-BEC8F00BC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4E0C-2B5F-88EB-88EB-0B7C3AD8E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Cat Neuron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BC17BF-CF57-903F-D79E-B647870111C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17500" y="1325562"/>
            <a:ext cx="8229600" cy="1651000"/>
          </a:xfrm>
        </p:spPr>
        <p:txBody>
          <a:bodyPr>
            <a:normAutofit/>
          </a:bodyPr>
          <a:lstStyle/>
          <a:p>
            <a:r>
              <a:rPr lang="en-US" dirty="0"/>
              <a:t>“Ideal” input for the face neuron</a:t>
            </a:r>
          </a:p>
          <a:p>
            <a:r>
              <a:rPr lang="en-US" dirty="0"/>
              <a:t>Gradient descent to find best </a:t>
            </a:r>
            <a:r>
              <a:rPr lang="en-US" i="1" dirty="0"/>
              <a:t>input</a:t>
            </a:r>
            <a:r>
              <a:rPr lang="en-US" dirty="0"/>
              <a:t> given fixed parameters (H is pooling weights)</a:t>
            </a:r>
          </a:p>
          <a:p>
            <a:pPr lvl="2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91BDDB-0E89-B321-9D24-0291F1391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" y="2976562"/>
            <a:ext cx="7289800" cy="889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F856C2-552C-BB69-D259-4D4BD57900C7}"/>
              </a:ext>
            </a:extLst>
          </p:cNvPr>
          <p:cNvSpPr txBox="1"/>
          <p:nvPr/>
        </p:nvSpPr>
        <p:spPr>
          <a:xfrm>
            <a:off x="6209414" y="3865563"/>
            <a:ext cx="2700670" cy="19389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“Subject to…”: after each gradient step, re-normalize the constructed image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C9DDE9-F350-B156-2030-D6E00560B0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570"/>
          <a:stretch/>
        </p:blipFill>
        <p:spPr>
          <a:xfrm>
            <a:off x="1327825" y="4027486"/>
            <a:ext cx="4048705" cy="274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0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1E76A-AE12-B879-DD23-799A58AFE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8031-EFAE-8663-0C6C-A48BA8A6D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Cat Neuron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E4ADB8C-BC47-0AD2-60C1-25F36A4C680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199" y="1600201"/>
            <a:ext cx="8229601" cy="1371599"/>
          </a:xfrm>
        </p:spPr>
        <p:txBody>
          <a:bodyPr/>
          <a:lstStyle/>
          <a:p>
            <a:r>
              <a:rPr lang="en-US" dirty="0"/>
              <a:t>Experiment 2: Same but with cat images</a:t>
            </a:r>
          </a:p>
        </p:txBody>
      </p:sp>
      <p:pic>
        <p:nvPicPr>
          <p:cNvPr id="9" name="Picture 2" descr="Cat detection">
            <a:extLst>
              <a:ext uri="{FF2B5EF4-FFF2-40B4-BE49-F238E27FC236}">
                <a16:creationId xmlns:a16="http://schemas.microsoft.com/office/drawing/2014/main" id="{305D1F6C-E76D-8370-03EC-83439FD19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499" y="2463211"/>
            <a:ext cx="4526301" cy="3933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07688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B938E-9CB5-72C6-8612-FA72E7DEF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DA654-2600-BCBA-7B05-5BA827E2B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Sentiment Neuron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7D21E2-3264-0BC0-05E3-9F8D6E72C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9" y="2008415"/>
            <a:ext cx="9092571" cy="21063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1B026C-B65C-F252-ECB8-090E1F79D509}"/>
              </a:ext>
            </a:extLst>
          </p:cNvPr>
          <p:cNvSpPr txBox="1"/>
          <p:nvPr/>
        </p:nvSpPr>
        <p:spPr>
          <a:xfrm>
            <a:off x="6384472" y="1639083"/>
            <a:ext cx="230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2017</a:t>
            </a:r>
          </a:p>
        </p:txBody>
      </p:sp>
    </p:spTree>
    <p:extLst>
      <p:ext uri="{BB962C8B-B14F-4D97-AF65-F5344CB8AC3E}">
        <p14:creationId xmlns:p14="http://schemas.microsoft.com/office/powerpoint/2010/main" val="41864895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0C8F7-EFC1-1E3D-D1E4-07A6AB81C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EF768-B4BA-E3CD-2C5F-1D232CA33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Sentiment Neuron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F768F1-1E3B-3F68-94C0-B35A127DA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466997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Data</a:t>
            </a:r>
          </a:p>
          <a:p>
            <a:pPr lvl="1"/>
            <a:r>
              <a:rPr lang="en-US" dirty="0"/>
              <a:t>82M Amazon product reviews</a:t>
            </a:r>
          </a:p>
          <a:p>
            <a:r>
              <a:rPr lang="en-US" dirty="0"/>
              <a:t>Architecture</a:t>
            </a:r>
          </a:p>
          <a:p>
            <a:pPr lvl="1"/>
            <a:r>
              <a:rPr lang="en-US" dirty="0"/>
              <a:t>Single layer “multiplicative” LSTM, 4096 units</a:t>
            </a:r>
          </a:p>
          <a:p>
            <a:pPr lvl="2"/>
            <a:r>
              <a:rPr lang="en-US" dirty="0"/>
              <a:t>hybrid of LSTM and an alternative kind of RNN</a:t>
            </a:r>
          </a:p>
          <a:p>
            <a:pPr lvl="2"/>
            <a:r>
              <a:rPr lang="en-US" dirty="0"/>
              <a:t>not widely used AFAIK</a:t>
            </a:r>
          </a:p>
          <a:p>
            <a:r>
              <a:rPr lang="en-US" dirty="0"/>
              <a:t>Model is trained to </a:t>
            </a:r>
            <a:r>
              <a:rPr lang="en-US" b="1" dirty="0"/>
              <a:t>generate</a:t>
            </a:r>
            <a:r>
              <a:rPr lang="en-US" dirty="0"/>
              <a:t> the review data</a:t>
            </a:r>
          </a:p>
          <a:p>
            <a:r>
              <a:rPr lang="en-US" dirty="0"/>
              <a:t>A logistic regression classifier is trained using the LSTM’s representation as </a:t>
            </a:r>
            <a:r>
              <a:rPr lang="en-US" b="1" dirty="0"/>
              <a:t>input</a:t>
            </a:r>
            <a:r>
              <a:rPr lang="en-US" dirty="0"/>
              <a:t> for tasks like paraphrase detection, semantic relatedness, ….</a:t>
            </a:r>
          </a:p>
          <a:p>
            <a:r>
              <a:rPr lang="en-US" dirty="0"/>
              <a:t>The classifier uses L1 regularization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9604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B02B7-744F-E7B1-4F9F-D20878BA9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5F44EF-C79E-A18B-49B9-2F49353D7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Recap: Regularized Logistic Regression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E0830D-FBF6-86C8-8D30-6444E6BE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11" name="Picture 10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98ED1D68-1459-17D0-C9E4-A0106AABBA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179"/>
          <a:stretch/>
        </p:blipFill>
        <p:spPr>
          <a:xfrm>
            <a:off x="363680" y="1403350"/>
            <a:ext cx="8780320" cy="3854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24171A-9A58-C66C-7FA6-44BA6B4EAC9E}"/>
              </a:ext>
            </a:extLst>
          </p:cNvPr>
          <p:cNvSpPr txBox="1"/>
          <p:nvPr/>
        </p:nvSpPr>
        <p:spPr>
          <a:xfrm>
            <a:off x="6727371" y="2265363"/>
            <a:ext cx="2416629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L2 </a:t>
            </a:r>
            <a:r>
              <a:rPr lang="en-US" sz="2400" dirty="0" err="1"/>
              <a:t>regularizer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E4A0F9-A0ED-90D8-32D4-F82120291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129" y="5734504"/>
            <a:ext cx="68072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95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5258C-44FB-6C66-9519-AB0749B5F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66B82F-722E-F721-0324-21E969B7C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L1-Regularized Logistic Regression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21BF93-C14F-5B19-B0B7-01A93E685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11" name="Picture 10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3C1E3CF4-8D8A-FD0F-4AD2-AF7494D41B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179"/>
          <a:stretch/>
        </p:blipFill>
        <p:spPr>
          <a:xfrm>
            <a:off x="363680" y="1403350"/>
            <a:ext cx="8780320" cy="3854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97C8E0-C8DB-AE5E-BC0F-5DBA73DAA7FC}"/>
              </a:ext>
            </a:extLst>
          </p:cNvPr>
          <p:cNvSpPr txBox="1"/>
          <p:nvPr/>
        </p:nvSpPr>
        <p:spPr>
          <a:xfrm>
            <a:off x="6727371" y="2265363"/>
            <a:ext cx="2416629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L1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regularizer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30ED73-F5B8-DE77-0459-9E2A64524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120" y="2984500"/>
            <a:ext cx="6807200" cy="889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C96F1F-503F-C051-E395-A79D5F9AA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3700" y="4972050"/>
            <a:ext cx="4686300" cy="12065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F71B1C-682F-32EF-4BD9-B97C7548EBE8}"/>
              </a:ext>
            </a:extLst>
          </p:cNvPr>
          <p:cNvCxnSpPr/>
          <p:nvPr/>
        </p:nvCxnSpPr>
        <p:spPr>
          <a:xfrm flipH="1">
            <a:off x="3184071" y="4523014"/>
            <a:ext cx="4435929" cy="449036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2D2E5E0-F94C-6BF8-6C7D-94F28BF1C4AB}"/>
              </a:ext>
            </a:extLst>
          </p:cNvPr>
          <p:cNvSpPr/>
          <p:nvPr/>
        </p:nvSpPr>
        <p:spPr>
          <a:xfrm>
            <a:off x="7298871" y="2984500"/>
            <a:ext cx="1240972" cy="8890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244B13-505F-7BF5-A81D-4BED0BD0CCE3}"/>
              </a:ext>
            </a:extLst>
          </p:cNvPr>
          <p:cNvSpPr/>
          <p:nvPr/>
        </p:nvSpPr>
        <p:spPr>
          <a:xfrm>
            <a:off x="2898817" y="5070772"/>
            <a:ext cx="4563340" cy="151259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05D34F-3AE4-655D-FD94-C836D54BCA21}"/>
              </a:ext>
            </a:extLst>
          </p:cNvPr>
          <p:cNvSpPr txBox="1"/>
          <p:nvPr/>
        </p:nvSpPr>
        <p:spPr>
          <a:xfrm>
            <a:off x="221053" y="4608890"/>
            <a:ext cx="2377294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L1 </a:t>
            </a:r>
            <a:r>
              <a:rPr lang="en-US" sz="2400" dirty="0" err="1"/>
              <a:t>regularizer</a:t>
            </a:r>
            <a:r>
              <a:rPr lang="en-US" sz="2400" dirty="0"/>
              <a:t> encourages </a:t>
            </a:r>
            <a:r>
              <a:rPr lang="en-US" sz="2400" b="1" dirty="0"/>
              <a:t>sparse </a:t>
            </a:r>
            <a:r>
              <a:rPr lang="en-US" sz="2400" dirty="0"/>
              <a:t>weights (many are zero)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972047-8C60-A28D-8A0B-B2F79EB63267}"/>
              </a:ext>
            </a:extLst>
          </p:cNvPr>
          <p:cNvSpPr txBox="1"/>
          <p:nvPr/>
        </p:nvSpPr>
        <p:spPr>
          <a:xfrm>
            <a:off x="6869998" y="1689476"/>
            <a:ext cx="1669845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“lasso”</a:t>
            </a:r>
          </a:p>
        </p:txBody>
      </p:sp>
    </p:spTree>
    <p:extLst>
      <p:ext uri="{BB962C8B-B14F-4D97-AF65-F5344CB8AC3E}">
        <p14:creationId xmlns:p14="http://schemas.microsoft.com/office/powerpoint/2010/main" val="957297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2" grpId="0" animBg="1"/>
      <p:bldP spid="1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511C0-9949-A935-E8F0-EB45F48CE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E6E6D6-8EAA-4285-D2E4-CCA6D322C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L1-Regularized Logistic Regression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C028DB-8817-EDA1-590B-CD9940E68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5D75338-5B30-9B8A-D61B-DA9C2BE6C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404" y="1344591"/>
            <a:ext cx="7494814" cy="26137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925B85-DEB8-A212-A139-A7916D099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47" y="4206551"/>
            <a:ext cx="3505653" cy="23323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799FF2E-C913-5A79-A37E-DA0FF6E1C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2339" y="3988463"/>
            <a:ext cx="3654023" cy="248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8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7FC48-574D-C603-1AAB-8DFEC2777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72C7D-09B6-0D38-E94B-EBB4A8E7D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Sentiment Neuron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52FC5F-0431-E556-7CF4-C3F774D55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466997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Data</a:t>
            </a:r>
          </a:p>
          <a:p>
            <a:pPr lvl="1"/>
            <a:r>
              <a:rPr lang="en-US" dirty="0"/>
              <a:t>82M Amazon product reviews</a:t>
            </a:r>
          </a:p>
          <a:p>
            <a:r>
              <a:rPr lang="en-US" dirty="0"/>
              <a:t>Architecture</a:t>
            </a:r>
          </a:p>
          <a:p>
            <a:pPr lvl="1"/>
            <a:r>
              <a:rPr lang="en-US" dirty="0"/>
              <a:t>Single layer “multiplicative” LSTM, 4096 units</a:t>
            </a:r>
          </a:p>
          <a:p>
            <a:pPr lvl="2"/>
            <a:r>
              <a:rPr lang="en-US" dirty="0"/>
              <a:t>hybrid of LSTM and an alternative kind of RNN</a:t>
            </a:r>
          </a:p>
          <a:p>
            <a:pPr lvl="2"/>
            <a:r>
              <a:rPr lang="en-US" dirty="0"/>
              <a:t>not widely used AFAIK</a:t>
            </a:r>
          </a:p>
          <a:p>
            <a:r>
              <a:rPr lang="en-US" dirty="0"/>
              <a:t>Model is trained to </a:t>
            </a:r>
            <a:r>
              <a:rPr lang="en-US" b="1" dirty="0"/>
              <a:t>generate</a:t>
            </a:r>
            <a:r>
              <a:rPr lang="en-US" dirty="0"/>
              <a:t> the review data</a:t>
            </a:r>
          </a:p>
          <a:p>
            <a:r>
              <a:rPr lang="en-US" dirty="0"/>
              <a:t>A logistic regression classifier is trained using the LSTM’s representation as </a:t>
            </a:r>
            <a:r>
              <a:rPr lang="en-US" b="1" dirty="0"/>
              <a:t>input</a:t>
            </a:r>
            <a:r>
              <a:rPr lang="en-US" dirty="0"/>
              <a:t> for tasks like paraphrase detection, semantic relatedness, ….</a:t>
            </a:r>
          </a:p>
          <a:p>
            <a:r>
              <a:rPr lang="en-US" dirty="0"/>
              <a:t>The classifier uses L1 regularization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6630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84F9C-87ED-05C1-8386-19F51E8AC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4B3ED-C319-6F2D-DE4A-364EAA737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Sentiment Neuron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BBC4C0-7916-EF8A-E9B5-FC73E5C3B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680" y="1096963"/>
            <a:ext cx="4795618" cy="5761038"/>
          </a:xfrm>
          <a:prstGeom prst="rect">
            <a:avLst/>
          </a:prstGeom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094A956-900B-1C24-8AB8-3684B0EF9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2953657" cy="231865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Accuracy on the Stanford Sentiment </a:t>
            </a:r>
            <a:r>
              <a:rPr lang="en-US" dirty="0" err="1"/>
              <a:t>TreeBank</a:t>
            </a:r>
            <a:r>
              <a:rPr lang="en-US" dirty="0"/>
              <a:t> dataset (SST)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7813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430D5-7862-FA62-E383-F746DA7AA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0E63B-EDE3-4027-F975-889C479CD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Sentiment Neuron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694E38C4-2C61-37F2-63A6-1C820711F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2855686" cy="4931229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As before, there is a single feature that is highly correlated with sentiment</a:t>
            </a:r>
          </a:p>
          <a:p>
            <a:r>
              <a:rPr lang="en-US" dirty="0"/>
              <a:t>It’s easy to find looking at the L1 classifier weights:</a:t>
            </a:r>
          </a:p>
          <a:p>
            <a:r>
              <a:rPr lang="en-US" i="1" dirty="0"/>
              <a:t>“By inspecting the relative contributions of features on various datasets, we discovered a single unit within the </a:t>
            </a:r>
            <a:r>
              <a:rPr lang="en-US" i="1" dirty="0" err="1"/>
              <a:t>mLSTM</a:t>
            </a:r>
            <a:r>
              <a:rPr lang="en-US" i="1" dirty="0"/>
              <a:t> that directly corresponds to sentiment.”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18C7FB-1300-C879-E494-D9DB4A3D5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9963" y="1096962"/>
            <a:ext cx="5534637" cy="476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682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052C9-2838-B166-A350-0ADC0DBB9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204D2-181A-8473-299E-DE3A6F7EE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Sentiment Neuron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8E148C-044F-917D-BAAB-D79F8DA0B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3" y="1257299"/>
            <a:ext cx="9117813" cy="46373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2FB8B9-F106-DD57-283B-332F60D13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428" y="5613400"/>
            <a:ext cx="5816600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0164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E1D7B-9C52-E44D-97A0-0B55ED859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471B5-4804-FD9A-36C4-833999933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1472A-C938-5933-88E9-345D7EB52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Quick review of distillation</a:t>
            </a:r>
          </a:p>
          <a:p>
            <a:r>
              <a:rPr lang="en-US" dirty="0"/>
              <a:t>Model Quantization</a:t>
            </a:r>
          </a:p>
          <a:p>
            <a:r>
              <a:rPr lang="en-US" dirty="0"/>
              <a:t>Model Pruning</a:t>
            </a:r>
          </a:p>
          <a:p>
            <a:pPr lvl="1"/>
            <a:r>
              <a:rPr lang="en-US" dirty="0"/>
              <a:t>Some motivation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Some approaches</a:t>
            </a:r>
          </a:p>
        </p:txBody>
      </p:sp>
    </p:spTree>
    <p:extLst>
      <p:ext uri="{BB962C8B-B14F-4D97-AF65-F5344CB8AC3E}">
        <p14:creationId xmlns:p14="http://schemas.microsoft.com/office/powerpoint/2010/main" val="29188415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E1643-A05B-3A29-D3BB-4F830EAA4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4CBF03D-BC49-76FE-48F1-6B163F3EF5E2}"/>
              </a:ext>
            </a:extLst>
          </p:cNvPr>
          <p:cNvSpPr/>
          <p:nvPr/>
        </p:nvSpPr>
        <p:spPr>
          <a:xfrm>
            <a:off x="653144" y="1257300"/>
            <a:ext cx="3918856" cy="489857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06B796-702D-C8CE-A689-EA9A1F3F5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0C175-5A71-9CD3-7A67-E11AD96EB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Unstructured pruning</a:t>
            </a:r>
          </a:p>
          <a:p>
            <a:pPr lvl="1"/>
            <a:r>
              <a:rPr lang="en-US" dirty="0"/>
              <a:t>zero out individual weights anywhere in the model</a:t>
            </a:r>
          </a:p>
          <a:p>
            <a:r>
              <a:rPr lang="en-US" dirty="0"/>
              <a:t>Structured pruning</a:t>
            </a:r>
          </a:p>
          <a:p>
            <a:pPr lvl="1"/>
            <a:r>
              <a:rPr lang="en-US" dirty="0"/>
              <a:t>zero out entire architectural components, e.g.</a:t>
            </a:r>
          </a:p>
          <a:p>
            <a:pPr lvl="2"/>
            <a:r>
              <a:rPr lang="en-US" dirty="0"/>
              <a:t>a complete attention head</a:t>
            </a:r>
          </a:p>
          <a:p>
            <a:pPr lvl="2"/>
            <a:r>
              <a:rPr lang="en-US" dirty="0"/>
              <a:t>a complete Transformer layer</a:t>
            </a:r>
          </a:p>
          <a:p>
            <a:pPr lvl="2"/>
            <a:r>
              <a:rPr lang="en-US" dirty="0"/>
              <a:t>…</a:t>
            </a:r>
          </a:p>
          <a:p>
            <a:r>
              <a:rPr lang="en-US" dirty="0"/>
              <a:t>Semi-structured pruning</a:t>
            </a:r>
          </a:p>
          <a:p>
            <a:pPr lvl="1"/>
            <a:r>
              <a:rPr lang="en-US" dirty="0"/>
              <a:t>somewhere in between these extremes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774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1AAF3-2729-1BEB-7E78-85D8EC9BE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65B9F-13A0-4618-5C27-8E8C96A4C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Unstructured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9E00E-86AC-49CC-9C8A-A0D969B69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4292600" cy="493122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Unstructured pruning</a:t>
            </a:r>
          </a:p>
          <a:p>
            <a:pPr lvl="1"/>
            <a:r>
              <a:rPr lang="en-US" dirty="0"/>
              <a:t>zero out individual weights or neurons</a:t>
            </a:r>
          </a:p>
          <a:p>
            <a:pPr lvl="2"/>
            <a:r>
              <a:rPr lang="en-US" dirty="0"/>
              <a:t>anywhere in the model</a:t>
            </a:r>
          </a:p>
          <a:p>
            <a:pPr lvl="1"/>
            <a:r>
              <a:rPr lang="en-US" dirty="0"/>
              <a:t>re-train</a:t>
            </a:r>
          </a:p>
          <a:p>
            <a:pPr marL="457200" lvl="1" indent="0">
              <a:buNone/>
            </a:pPr>
            <a:r>
              <a:rPr lang="en-US" dirty="0"/>
              <a:t>- optionally repeat</a:t>
            </a:r>
          </a:p>
          <a:p>
            <a:r>
              <a:rPr lang="en-US" dirty="0"/>
              <a:t>Design decisions: </a:t>
            </a:r>
          </a:p>
          <a:p>
            <a:pPr lvl="1"/>
            <a:r>
              <a:rPr lang="en-US" dirty="0"/>
              <a:t>Which </a:t>
            </a:r>
            <a:r>
              <a:rPr lang="en-US" b="1" dirty="0"/>
              <a:t>subset</a:t>
            </a:r>
            <a:r>
              <a:rPr lang="en-US" dirty="0"/>
              <a:t> to prune?</a:t>
            </a:r>
          </a:p>
          <a:p>
            <a:pPr lvl="1"/>
            <a:r>
              <a:rPr lang="en-US" dirty="0"/>
              <a:t>How much to </a:t>
            </a:r>
            <a:r>
              <a:rPr lang="en-US" b="1" dirty="0"/>
              <a:t>re-train, </a:t>
            </a:r>
            <a:r>
              <a:rPr lang="en-US" dirty="0"/>
              <a:t>and on </a:t>
            </a:r>
            <a:r>
              <a:rPr lang="en-US" b="1" dirty="0"/>
              <a:t>what data?</a:t>
            </a:r>
            <a:endParaRPr lang="en-US" dirty="0"/>
          </a:p>
          <a:p>
            <a:pPr lvl="1"/>
            <a:r>
              <a:rPr lang="en-US" dirty="0"/>
              <a:t>Do you </a:t>
            </a:r>
            <a:r>
              <a:rPr lang="en-US" b="1" dirty="0"/>
              <a:t>iterate</a:t>
            </a:r>
            <a:r>
              <a:rPr lang="en-US" dirty="0"/>
              <a:t> or not?</a:t>
            </a:r>
          </a:p>
          <a:p>
            <a:pPr lvl="2"/>
            <a:r>
              <a:rPr lang="en-US" dirty="0"/>
              <a:t>When do you </a:t>
            </a:r>
            <a:r>
              <a:rPr lang="en-US" b="1" dirty="0"/>
              <a:t>stop</a:t>
            </a:r>
            <a:r>
              <a:rPr lang="en-US" dirty="0"/>
              <a:t>?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C205A8-32EF-8F7F-774A-5B6E26FB8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499" y="1096961"/>
            <a:ext cx="4343501" cy="26912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57676F-700A-6C07-5C48-7876323C5A90}"/>
              </a:ext>
            </a:extLst>
          </p:cNvPr>
          <p:cNvSpPr txBox="1"/>
          <p:nvPr/>
        </p:nvSpPr>
        <p:spPr>
          <a:xfrm>
            <a:off x="5453743" y="4245429"/>
            <a:ext cx="3474357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HW5 will let you explore some of these ideas on your own</a:t>
            </a:r>
          </a:p>
        </p:txBody>
      </p:sp>
    </p:spTree>
    <p:extLst>
      <p:ext uri="{BB962C8B-B14F-4D97-AF65-F5344CB8AC3E}">
        <p14:creationId xmlns:p14="http://schemas.microsoft.com/office/powerpoint/2010/main" val="410043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1294D-2D0A-93EB-BD55-891D326B1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E8C51-0C29-B2FB-654D-13AFE44CB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Unstructured pruning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6EA32D-FC0D-4D7F-C920-D5E42487D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209" y="0"/>
            <a:ext cx="3394791" cy="21034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0BC435-DE07-F01D-1ED1-BDCEFD785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523671"/>
            <a:ext cx="7772400" cy="3149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458702-8550-995F-F97A-A80D363B5C10}"/>
              </a:ext>
            </a:extLst>
          </p:cNvPr>
          <p:cNvSpPr txBox="1"/>
          <p:nvPr/>
        </p:nvSpPr>
        <p:spPr>
          <a:xfrm>
            <a:off x="7981043" y="3154591"/>
            <a:ext cx="947057" cy="375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029F9D-E4A9-E311-734E-81FF70E49C85}"/>
              </a:ext>
            </a:extLst>
          </p:cNvPr>
          <p:cNvSpPr txBox="1"/>
          <p:nvPr/>
        </p:nvSpPr>
        <p:spPr>
          <a:xfrm>
            <a:off x="1097643" y="1508008"/>
            <a:ext cx="3474357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A sample paper…</a:t>
            </a:r>
          </a:p>
        </p:txBody>
      </p:sp>
    </p:spTree>
    <p:extLst>
      <p:ext uri="{BB962C8B-B14F-4D97-AF65-F5344CB8AC3E}">
        <p14:creationId xmlns:p14="http://schemas.microsoft.com/office/powerpoint/2010/main" val="3397904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46814-52F6-1CEF-F14C-BA425243A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11422-0A50-1FA2-821E-7FE4FC2AA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Unstructured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3AE54-1DF5-DDA1-FF13-FF60C6ACE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4292600" cy="298812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Design decisions: </a:t>
            </a:r>
          </a:p>
          <a:p>
            <a:pPr lvl="1"/>
            <a:r>
              <a:rPr lang="en-US" dirty="0"/>
              <a:t>Which </a:t>
            </a:r>
            <a:r>
              <a:rPr lang="en-US" b="1" dirty="0"/>
              <a:t>subset</a:t>
            </a:r>
            <a:r>
              <a:rPr lang="en-US" dirty="0"/>
              <a:t> to prune?</a:t>
            </a:r>
          </a:p>
          <a:p>
            <a:pPr lvl="1"/>
            <a:r>
              <a:rPr lang="en-US" dirty="0"/>
              <a:t>How much to </a:t>
            </a:r>
            <a:r>
              <a:rPr lang="en-US" b="1" dirty="0"/>
              <a:t>re-train, </a:t>
            </a:r>
            <a:r>
              <a:rPr lang="en-US" dirty="0"/>
              <a:t>and on </a:t>
            </a:r>
            <a:r>
              <a:rPr lang="en-US" b="1" dirty="0"/>
              <a:t>what data?</a:t>
            </a:r>
            <a:endParaRPr lang="en-US" dirty="0"/>
          </a:p>
          <a:p>
            <a:pPr lvl="1"/>
            <a:r>
              <a:rPr lang="en-US" dirty="0"/>
              <a:t>Do you </a:t>
            </a:r>
            <a:r>
              <a:rPr lang="en-US" b="1" dirty="0"/>
              <a:t>iterate</a:t>
            </a:r>
            <a:r>
              <a:rPr lang="en-US" dirty="0"/>
              <a:t> or not?</a:t>
            </a:r>
          </a:p>
          <a:p>
            <a:pPr lvl="2"/>
            <a:r>
              <a:rPr lang="en-US" dirty="0"/>
              <a:t>When do you </a:t>
            </a:r>
            <a:r>
              <a:rPr lang="en-US" b="1" dirty="0"/>
              <a:t>stop</a:t>
            </a:r>
            <a:r>
              <a:rPr lang="en-US" dirty="0"/>
              <a:t>?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CA970C5-5B1B-A5C3-6335-F3A421DCB185}"/>
              </a:ext>
            </a:extLst>
          </p:cNvPr>
          <p:cNvSpPr txBox="1">
            <a:spLocks/>
          </p:cNvSpPr>
          <p:nvPr/>
        </p:nvSpPr>
        <p:spPr>
          <a:xfrm>
            <a:off x="506187" y="4245428"/>
            <a:ext cx="8098969" cy="24819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457200"/>
            <a:r>
              <a:rPr lang="en-US" dirty="0"/>
              <a:t>For each layer to prune:</a:t>
            </a:r>
          </a:p>
          <a:p>
            <a:pPr marL="914400" lvl="1" indent="-457200"/>
            <a:r>
              <a:rPr lang="en-US" dirty="0"/>
              <a:t>Repeat </a:t>
            </a:r>
            <a:r>
              <a:rPr lang="en-US" i="1" dirty="0" err="1"/>
              <a:t>i</a:t>
            </a:r>
            <a:r>
              <a:rPr lang="en-US" i="1" dirty="0"/>
              <a:t>=1,…,t:</a:t>
            </a:r>
            <a:endParaRPr lang="en-US" dirty="0"/>
          </a:p>
          <a:p>
            <a:pPr marL="1314450" lvl="2" indent="-457200"/>
            <a:r>
              <a:rPr lang="en-US" dirty="0"/>
              <a:t>Sort weights by |</a:t>
            </a:r>
            <a:r>
              <a:rPr lang="en-US" i="1" dirty="0" err="1"/>
              <a:t>w</a:t>
            </a:r>
            <a:r>
              <a:rPr lang="en-US" i="1" baseline="-25000" dirty="0" err="1"/>
              <a:t>j</a:t>
            </a:r>
            <a:r>
              <a:rPr lang="en-US" dirty="0"/>
              <a:t>|</a:t>
            </a:r>
          </a:p>
          <a:p>
            <a:pPr marL="914400" lvl="1" indent="-457200"/>
            <a:r>
              <a:rPr lang="en-US" dirty="0"/>
              <a:t>Zero* out weights to reach sparsity </a:t>
            </a:r>
            <a:r>
              <a:rPr lang="en-US" i="1" dirty="0" err="1"/>
              <a:t>s</a:t>
            </a:r>
            <a:r>
              <a:rPr lang="en-US" i="1" baseline="-25000" dirty="0" err="1"/>
              <a:t>i</a:t>
            </a:r>
            <a:endParaRPr lang="en-US" i="1" baseline="-25000" dirty="0"/>
          </a:p>
          <a:p>
            <a:pPr marL="1314450" lvl="2" indent="-457200"/>
            <a:r>
              <a:rPr lang="en-US" dirty="0"/>
              <a:t>*by adjusting a binary mask</a:t>
            </a:r>
          </a:p>
          <a:p>
            <a:pPr marL="914400" lvl="1" indent="-457200"/>
            <a:r>
              <a:rPr lang="en-US" dirty="0"/>
              <a:t>Re-train for </a:t>
            </a:r>
            <a:r>
              <a:rPr lang="en-US" i="1" dirty="0"/>
              <a:t>n </a:t>
            </a:r>
            <a:r>
              <a:rPr lang="en-US" dirty="0"/>
              <a:t>steps </a:t>
            </a:r>
            <a:r>
              <a:rPr lang="en-US" sz="2400" dirty="0"/>
              <a:t>(also adjusting learning rate)</a:t>
            </a:r>
          </a:p>
          <a:p>
            <a:pPr lvl="1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D80657-9ED1-32A1-A1D4-C7D789FEC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97768"/>
            <a:ext cx="4505062" cy="298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603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AC010-8BDE-7D58-8BB7-6DA1A06A1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5D8FE-E7ED-F1A8-C525-3E0815EFC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Unstructured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4BCEE-3FD7-6175-9C93-BCD888A06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1"/>
            <a:ext cx="4260851" cy="279904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Observations (on CNNs):</a:t>
            </a:r>
          </a:p>
          <a:p>
            <a:pPr lvl="1"/>
            <a:r>
              <a:rPr lang="en-US" dirty="0"/>
              <a:t>pruning only occasionally causes major degradation in performance</a:t>
            </a:r>
          </a:p>
          <a:p>
            <a:pPr lvl="1"/>
            <a:r>
              <a:rPr lang="en-US" dirty="0"/>
              <a:t>performance recovers quickly with re-training</a:t>
            </a:r>
          </a:p>
          <a:p>
            <a:pPr lvl="1"/>
            <a:r>
              <a:rPr lang="en-US" dirty="0"/>
              <a:t> performance only slightly degrades even with lots of sparsity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E2005F4-4CF7-743A-084F-B317D63329E3}"/>
              </a:ext>
            </a:extLst>
          </p:cNvPr>
          <p:cNvSpPr txBox="1">
            <a:spLocks/>
          </p:cNvSpPr>
          <p:nvPr/>
        </p:nvSpPr>
        <p:spPr>
          <a:xfrm>
            <a:off x="279400" y="4376058"/>
            <a:ext cx="8456385" cy="235131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457200"/>
            <a:r>
              <a:rPr lang="en-US" dirty="0"/>
              <a:t>For each layer to prune:</a:t>
            </a:r>
          </a:p>
          <a:p>
            <a:pPr marL="914400" lvl="1" indent="-457200"/>
            <a:r>
              <a:rPr lang="en-US" dirty="0"/>
              <a:t>Repeat </a:t>
            </a:r>
            <a:r>
              <a:rPr lang="en-US" i="1" dirty="0" err="1"/>
              <a:t>i</a:t>
            </a:r>
            <a:r>
              <a:rPr lang="en-US" i="1" dirty="0"/>
              <a:t>=1,…,t:</a:t>
            </a:r>
            <a:endParaRPr lang="en-US" dirty="0"/>
          </a:p>
          <a:p>
            <a:pPr marL="1314450" lvl="2" indent="-457200"/>
            <a:r>
              <a:rPr lang="en-US" dirty="0"/>
              <a:t>Sort weights by |</a:t>
            </a:r>
            <a:r>
              <a:rPr lang="en-US" i="1" dirty="0" err="1"/>
              <a:t>w</a:t>
            </a:r>
            <a:r>
              <a:rPr lang="en-US" i="1" baseline="-25000" dirty="0" err="1"/>
              <a:t>j</a:t>
            </a:r>
            <a:r>
              <a:rPr lang="en-US" dirty="0"/>
              <a:t>|</a:t>
            </a:r>
          </a:p>
          <a:p>
            <a:pPr marL="914400" lvl="1" indent="-457200"/>
            <a:r>
              <a:rPr lang="en-US" dirty="0"/>
              <a:t>Zero* out weights to reach sparsity </a:t>
            </a:r>
            <a:r>
              <a:rPr lang="en-US" i="1" dirty="0" err="1"/>
              <a:t>s</a:t>
            </a:r>
            <a:r>
              <a:rPr lang="en-US" i="1" baseline="-25000" dirty="0" err="1"/>
              <a:t>i</a:t>
            </a:r>
            <a:endParaRPr lang="en-US" i="1" baseline="-25000" dirty="0"/>
          </a:p>
          <a:p>
            <a:pPr marL="1314450" lvl="2" indent="-457200"/>
            <a:r>
              <a:rPr lang="en-US" dirty="0"/>
              <a:t>*by adjusting a binary mask</a:t>
            </a:r>
          </a:p>
          <a:p>
            <a:pPr marL="914400" lvl="1" indent="-457200"/>
            <a:r>
              <a:rPr lang="en-US" dirty="0"/>
              <a:t>Re-train for </a:t>
            </a:r>
            <a:r>
              <a:rPr lang="en-US" i="1" dirty="0"/>
              <a:t>n </a:t>
            </a:r>
            <a:r>
              <a:rPr lang="en-US" dirty="0"/>
              <a:t>steps </a:t>
            </a:r>
            <a:r>
              <a:rPr lang="en-US" sz="2400" dirty="0"/>
              <a:t>(also adjusting learning rate)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4F032F-1F7D-B4FA-8261-D9A610912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0" y="1096962"/>
            <a:ext cx="4399501" cy="279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7345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14B1B-DBD5-6799-10DA-634E9D25E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1FF73-201D-F9AC-FB4C-0FC5203B6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Unstructured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7FF48-296B-6906-C9A0-5CAFA6C9B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4399501" cy="293907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Observations (on CNNs):</a:t>
            </a:r>
          </a:p>
          <a:p>
            <a:pPr lvl="1"/>
            <a:r>
              <a:rPr lang="en-US" dirty="0"/>
              <a:t>performance only </a:t>
            </a:r>
            <a:r>
              <a:rPr lang="en-US" b="1" dirty="0"/>
              <a:t>slightly degrades </a:t>
            </a:r>
            <a:r>
              <a:rPr lang="en-US" dirty="0"/>
              <a:t>even with lots of </a:t>
            </a:r>
            <a:r>
              <a:rPr lang="en-US" b="1" dirty="0"/>
              <a:t>sparsity</a:t>
            </a:r>
          </a:p>
          <a:p>
            <a:pPr lvl="1"/>
            <a:r>
              <a:rPr lang="en-US" dirty="0"/>
              <a:t>e.g., setting 87.5%  of the weights to zeros increases error by </a:t>
            </a:r>
            <a:r>
              <a:rPr lang="en-US" b="1" dirty="0"/>
              <a:t>2%  decrease in accuracy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708F33-C148-61D9-EBE1-A67665A42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50" y="1096962"/>
            <a:ext cx="4399501" cy="27990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816DD0-9935-0819-A1F8-B0AF865AB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01" y="4196373"/>
            <a:ext cx="7772400" cy="266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5460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E05F5-CAEF-20BC-814D-81F67BBC5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36FBA-3557-2282-6D8A-9A7BDD3AB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Unstructured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F9CA1-45BD-FB1B-2F8A-02AB8C84C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4145643" cy="236764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Observations (on LSTMs):</a:t>
            </a:r>
          </a:p>
          <a:p>
            <a:pPr lvl="1"/>
            <a:r>
              <a:rPr lang="en-US" dirty="0"/>
              <a:t>large pruned models often outperform smaller dense models! </a:t>
            </a: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D94905-2812-F64E-AADD-1188BC880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442" y="3408784"/>
            <a:ext cx="8696615" cy="3309516"/>
          </a:xfrm>
          <a:prstGeom prst="rect">
            <a:avLst/>
          </a:prstGeom>
        </p:spPr>
      </p:pic>
      <p:sp>
        <p:nvSpPr>
          <p:cNvPr id="7" name="Left Arrow 6">
            <a:extLst>
              <a:ext uri="{FF2B5EF4-FFF2-40B4-BE49-F238E27FC236}">
                <a16:creationId xmlns:a16="http://schemas.microsoft.com/office/drawing/2014/main" id="{A7E8C81A-C8FC-06B4-95D1-971BEF5B1B6F}"/>
              </a:ext>
            </a:extLst>
          </p:cNvPr>
          <p:cNvSpPr/>
          <p:nvPr/>
        </p:nvSpPr>
        <p:spPr>
          <a:xfrm>
            <a:off x="8106601" y="5883728"/>
            <a:ext cx="781957" cy="32657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Arrow 7">
            <a:extLst>
              <a:ext uri="{FF2B5EF4-FFF2-40B4-BE49-F238E27FC236}">
                <a16:creationId xmlns:a16="http://schemas.microsoft.com/office/drawing/2014/main" id="{C11FA1C2-BE55-3FB7-2B69-9AC3DFB61315}"/>
              </a:ext>
            </a:extLst>
          </p:cNvPr>
          <p:cNvSpPr/>
          <p:nvPr/>
        </p:nvSpPr>
        <p:spPr>
          <a:xfrm>
            <a:off x="8106600" y="4297830"/>
            <a:ext cx="781957" cy="32657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40CB9D-6E00-B87D-958E-99083DE4CA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720" y="384765"/>
            <a:ext cx="4024280" cy="298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037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2C86E-74E9-F2C4-4706-CA5B26C06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ED118-2EA3-4F56-BFE3-8313CA0D3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Unstructured pruning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7ED83C-769E-4D80-1480-31C12A6E4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47503"/>
            <a:ext cx="9019660" cy="318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0343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55513-072E-DBF2-D147-E371B673E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8B177-B874-30BF-1AEA-AD44B386A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Unstructured pruning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D39AE9-4E40-7E10-517E-404A319B2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6" y="1378201"/>
            <a:ext cx="8858911" cy="37816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E4F0F6-982F-F4F3-0214-4640EC936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8671" y="945482"/>
            <a:ext cx="3165929" cy="62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521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1B35E-0F9A-95E4-353C-44F3DB8C8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B537-9EF3-21AD-A28C-651CF5490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Recap: Quantization: Beyond 16 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96961-B83C-3291-7BC4-CC88826F9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299"/>
            <a:ext cx="8456386" cy="122464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Going from fp32 </a:t>
            </a:r>
            <a:r>
              <a:rPr lang="en-US" dirty="0">
                <a:sym typeface="Wingdings" pitchFamily="2" charset="2"/>
              </a:rPr>
              <a:t> int8 or int4 requires some tricks:</a:t>
            </a:r>
          </a:p>
          <a:p>
            <a:pPr lvl="1"/>
            <a:r>
              <a:rPr lang="en-US" dirty="0">
                <a:sym typeface="Wingdings" pitchFamily="2" charset="2"/>
              </a:rPr>
              <a:t>Mixed-precision quantization – keep large  “outlier” features (which are </a:t>
            </a:r>
            <a:r>
              <a:rPr lang="en-US" b="1" dirty="0">
                <a:sym typeface="Wingdings" pitchFamily="2" charset="2"/>
              </a:rPr>
              <a:t>consistently </a:t>
            </a:r>
            <a:r>
              <a:rPr lang="en-US" dirty="0">
                <a:sym typeface="Wingdings" pitchFamily="2" charset="2"/>
              </a:rPr>
              <a:t>in fixed locations)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E39EA4-D826-FC82-6425-FF32E52ED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53703"/>
            <a:ext cx="7543800" cy="432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8722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0BB97-ABA4-BB02-33DD-04E943F14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671B4-6117-187A-E15D-B3ABB4398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Unstructured pruning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F4C8D5-299D-679E-5411-9066FDAC5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6" y="1378201"/>
            <a:ext cx="8858911" cy="37816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305599-69C3-9C95-01CF-D7BA1BD627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8671" y="945482"/>
            <a:ext cx="3165929" cy="6233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AE3BEB-9C23-A3C6-591A-80FD8D1715EE}"/>
              </a:ext>
            </a:extLst>
          </p:cNvPr>
          <p:cNvSpPr txBox="1"/>
          <p:nvPr/>
        </p:nvSpPr>
        <p:spPr>
          <a:xfrm>
            <a:off x="1747158" y="5159829"/>
            <a:ext cx="6041572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Small</a:t>
            </a:r>
            <a:r>
              <a:rPr lang="en-US" sz="2400" dirty="0"/>
              <a:t> weights can have a </a:t>
            </a:r>
            <a:r>
              <a:rPr lang="en-US" sz="2400" b="1" dirty="0"/>
              <a:t>large</a:t>
            </a:r>
            <a:r>
              <a:rPr lang="en-US" sz="2400" dirty="0"/>
              <a:t> effect on output values when they are multiplied by </a:t>
            </a:r>
            <a:r>
              <a:rPr lang="en-US" sz="2400" b="1" dirty="0"/>
              <a:t>large</a:t>
            </a:r>
            <a:r>
              <a:rPr lang="en-US" sz="2400" dirty="0"/>
              <a:t> “outlier” </a:t>
            </a:r>
            <a:r>
              <a:rPr lang="en-US" sz="2400" b="1" dirty="0"/>
              <a:t>activations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03171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DA5E7-6164-42E4-A2B1-180E85ECD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791E5-4E8B-584F-3706-CA4F69046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Unstructured pruning: Wanda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6BA74-5779-4435-B7BB-C595D2B95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4292600" cy="298812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Design decisions: </a:t>
            </a:r>
          </a:p>
          <a:p>
            <a:pPr lvl="1"/>
            <a:r>
              <a:rPr lang="en-US" dirty="0"/>
              <a:t>Which </a:t>
            </a:r>
            <a:r>
              <a:rPr lang="en-US" b="1" dirty="0"/>
              <a:t>subset</a:t>
            </a:r>
            <a:r>
              <a:rPr lang="en-US" dirty="0"/>
              <a:t> to prune?</a:t>
            </a:r>
          </a:p>
          <a:p>
            <a:pPr lvl="1"/>
            <a:r>
              <a:rPr lang="en-US" dirty="0"/>
              <a:t>How much to </a:t>
            </a:r>
            <a:r>
              <a:rPr lang="en-US" b="1" dirty="0"/>
              <a:t>re-train, </a:t>
            </a:r>
            <a:r>
              <a:rPr lang="en-US" dirty="0"/>
              <a:t>and on </a:t>
            </a:r>
            <a:r>
              <a:rPr lang="en-US" b="1" dirty="0"/>
              <a:t>what data?</a:t>
            </a:r>
            <a:endParaRPr lang="en-US" dirty="0"/>
          </a:p>
          <a:p>
            <a:pPr lvl="1"/>
            <a:r>
              <a:rPr lang="en-US" dirty="0"/>
              <a:t>Do you </a:t>
            </a:r>
            <a:r>
              <a:rPr lang="en-US" b="1" dirty="0"/>
              <a:t>iterate</a:t>
            </a:r>
            <a:r>
              <a:rPr lang="en-US" dirty="0"/>
              <a:t> or not?</a:t>
            </a:r>
          </a:p>
          <a:p>
            <a:pPr lvl="2"/>
            <a:r>
              <a:rPr lang="en-US" dirty="0"/>
              <a:t>When do you </a:t>
            </a:r>
            <a:r>
              <a:rPr lang="en-US" b="1" dirty="0"/>
              <a:t>stop</a:t>
            </a:r>
            <a:r>
              <a:rPr lang="en-US" dirty="0"/>
              <a:t>?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6EDF58-CE27-A9A4-F70A-80A76A29B960}"/>
              </a:ext>
            </a:extLst>
          </p:cNvPr>
          <p:cNvSpPr txBox="1">
            <a:spLocks/>
          </p:cNvSpPr>
          <p:nvPr/>
        </p:nvSpPr>
        <p:spPr>
          <a:xfrm>
            <a:off x="506187" y="4245428"/>
            <a:ext cx="8098969" cy="24819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457200"/>
            <a:r>
              <a:rPr lang="en-US" sz="2800" dirty="0"/>
              <a:t>Rank weights in “comparison group” by score </a:t>
            </a:r>
            <a:r>
              <a:rPr lang="en-US" sz="2800" dirty="0" err="1"/>
              <a:t>S</a:t>
            </a:r>
            <a:r>
              <a:rPr lang="en-US" sz="2800" baseline="-25000" dirty="0" err="1"/>
              <a:t>ij</a:t>
            </a:r>
            <a:r>
              <a:rPr lang="en-US" sz="2800" baseline="-25000" dirty="0"/>
              <a:t> </a:t>
            </a:r>
            <a:endParaRPr lang="en-US" sz="2800" dirty="0"/>
          </a:p>
          <a:p>
            <a:pPr marL="514350" indent="-457200"/>
            <a:r>
              <a:rPr lang="en-US" sz="2800" dirty="0"/>
              <a:t>Don’t re-train</a:t>
            </a:r>
          </a:p>
          <a:p>
            <a:pPr marL="514350" indent="-457200"/>
            <a:r>
              <a:rPr lang="en-US" sz="2800" dirty="0"/>
              <a:t>Don’t iterate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E7F2DC-4DD6-7A3F-2B2C-702FE96099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950" t="4143" b="36702"/>
          <a:stretch/>
        </p:blipFill>
        <p:spPr>
          <a:xfrm>
            <a:off x="4572000" y="1534885"/>
            <a:ext cx="4433867" cy="22370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2B3593-A91B-C49C-522D-1630FBA23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8671" y="945482"/>
            <a:ext cx="3165929" cy="62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33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AF543-CB2C-6344-6D6D-912CCB2F2EA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95300" y="292100"/>
            <a:ext cx="8648700" cy="804863"/>
          </a:xfrm>
        </p:spPr>
        <p:txBody>
          <a:bodyPr/>
          <a:lstStyle/>
          <a:p>
            <a:r>
              <a:rPr lang="en-US" dirty="0"/>
              <a:t>Unstructured Pruning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773CDF-1A25-E8FB-1E50-0942710C3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00" y="1096962"/>
            <a:ext cx="8935039" cy="20544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7DAFBF-584F-16B1-13D9-987D3C7097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956" b="54608"/>
          <a:stretch/>
        </p:blipFill>
        <p:spPr>
          <a:xfrm>
            <a:off x="0" y="3429000"/>
            <a:ext cx="9491186" cy="205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5056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0A784-F1A2-6D1A-D3B7-B9C3AD3C7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E6952-2A23-DE08-002B-4D1292435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Unstructured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529ED-ECB2-4CC9-CAFA-2F2C4A9EB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227786" cy="4963886"/>
          </a:xfrm>
        </p:spPr>
        <p:txBody>
          <a:bodyPr>
            <a:normAutofit/>
          </a:bodyPr>
          <a:lstStyle/>
          <a:p>
            <a:r>
              <a:rPr lang="en-US" dirty="0"/>
              <a:t>WANDA shows that the </a:t>
            </a:r>
            <a:r>
              <a:rPr lang="en-US" i="1" dirty="0"/>
              <a:t>metric </a:t>
            </a:r>
            <a:r>
              <a:rPr lang="en-US" dirty="0"/>
              <a:t>used for pruning can be important</a:t>
            </a:r>
          </a:p>
          <a:p>
            <a:r>
              <a:rPr lang="en-US" dirty="0"/>
              <a:t>What other metrics are plausible?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4294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C83C3-A4AB-847C-B213-22F5306F6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D040F-D4E3-D1E3-14B1-12A14ACCD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Recall: Stochastic 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CE0F2-21F7-7A10-BE90-7E2846C58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89441"/>
            <a:ext cx="5588000" cy="1529959"/>
          </a:xfrm>
        </p:spPr>
        <p:txBody>
          <a:bodyPr>
            <a:normAutofit lnSpcReduction="10000"/>
          </a:bodyPr>
          <a:lstStyle/>
          <a:p>
            <a:r>
              <a:rPr lang="en-US" sz="1600" dirty="0"/>
              <a:t>sample a “minibatch” of examples B&lt;&lt;N</a:t>
            </a:r>
          </a:p>
          <a:p>
            <a:r>
              <a:rPr lang="en-US" sz="1600" b="1" dirty="0"/>
              <a:t>approximate </a:t>
            </a:r>
            <a:r>
              <a:rPr lang="en-US" sz="1600" dirty="0"/>
              <a:t>the gradient using them</a:t>
            </a:r>
          </a:p>
          <a:p>
            <a:pPr lvl="1"/>
            <a:r>
              <a:rPr lang="en-US" sz="1800" dirty="0"/>
              <a:t>“on average” this is the right direction</a:t>
            </a:r>
          </a:p>
          <a:p>
            <a:r>
              <a:rPr lang="en-US" sz="1600" dirty="0"/>
              <a:t>take a step in that direction</a:t>
            </a:r>
          </a:p>
          <a:p>
            <a:r>
              <a:rPr lang="en-US" sz="1600" dirty="0"/>
              <a:t>repeat….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EA72EB-D5BA-E69A-9C2B-71383B0AF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65A6FE-C033-8A4A-D759-DF79025526E3}"/>
              </a:ext>
            </a:extLst>
          </p:cNvPr>
          <p:cNvSpPr txBox="1"/>
          <p:nvPr/>
        </p:nvSpPr>
        <p:spPr>
          <a:xfrm>
            <a:off x="4857750" y="1096962"/>
            <a:ext cx="4057650" cy="39703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For non-convex problems SGD/GD find a </a:t>
            </a:r>
            <a:r>
              <a:rPr lang="en-US" sz="2800" b="1" dirty="0"/>
              <a:t>local</a:t>
            </a:r>
            <a:r>
              <a:rPr lang="en-US" sz="2800" dirty="0"/>
              <a:t> minimum.  SGD tends to find “flat”, not “sharp” local minima.</a:t>
            </a:r>
          </a:p>
          <a:p>
            <a:endParaRPr lang="en-US" sz="2800" dirty="0"/>
          </a:p>
          <a:p>
            <a:r>
              <a:rPr lang="en-US" sz="2800" dirty="0"/>
              <a:t>Variants of SGD are almost </a:t>
            </a:r>
            <a:r>
              <a:rPr lang="en-US" sz="2800" b="1" dirty="0"/>
              <a:t>always</a:t>
            </a:r>
            <a:r>
              <a:rPr lang="en-US" sz="2800" dirty="0"/>
              <a:t> used in </a:t>
            </a:r>
            <a:r>
              <a:rPr lang="en-US" sz="2800" b="1" dirty="0"/>
              <a:t>deep learning</a:t>
            </a:r>
            <a:r>
              <a:rPr lang="en-US" sz="2800" dirty="0"/>
              <a:t>.</a:t>
            </a:r>
          </a:p>
        </p:txBody>
      </p:sp>
      <p:pic>
        <p:nvPicPr>
          <p:cNvPr id="7" name="Picture 6" descr="A graph on a paper&#10;&#10;AI-generated content may be incorrect.">
            <a:extLst>
              <a:ext uri="{FF2B5EF4-FFF2-40B4-BE49-F238E27FC236}">
                <a16:creationId xmlns:a16="http://schemas.microsoft.com/office/drawing/2014/main" id="{F966FFD5-B6AE-7691-BC95-A6122A1CD8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11" t="939" b="16094"/>
          <a:stretch/>
        </p:blipFill>
        <p:spPr>
          <a:xfrm>
            <a:off x="0" y="3238500"/>
            <a:ext cx="4807451" cy="33665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44BD6E-FDF6-75B4-2707-C66948FCCFC8}"/>
              </a:ext>
            </a:extLst>
          </p:cNvPr>
          <p:cNvSpPr txBox="1"/>
          <p:nvPr/>
        </p:nvSpPr>
        <p:spPr>
          <a:xfrm>
            <a:off x="5219700" y="5486380"/>
            <a:ext cx="3155950" cy="95410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SGD is very memory-efficient!</a:t>
            </a:r>
          </a:p>
        </p:txBody>
      </p:sp>
    </p:spTree>
    <p:extLst>
      <p:ext uri="{BB962C8B-B14F-4D97-AF65-F5344CB8AC3E}">
        <p14:creationId xmlns:p14="http://schemas.microsoft.com/office/powerpoint/2010/main" val="3930678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33EA8-674C-7E59-7CB9-FAC973446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26C7C-117B-8C02-3EA6-856A0D822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Unstructured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D4804-070A-772A-7099-90DD64659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227786" cy="496388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WANDA shows that the </a:t>
            </a:r>
            <a:r>
              <a:rPr lang="en-US" i="1" dirty="0"/>
              <a:t>metric </a:t>
            </a:r>
            <a:r>
              <a:rPr lang="en-US" dirty="0"/>
              <a:t>used for pruning can be important</a:t>
            </a:r>
          </a:p>
          <a:p>
            <a:r>
              <a:rPr lang="en-US" dirty="0"/>
              <a:t>What other metrics are plausible?</a:t>
            </a:r>
          </a:p>
          <a:p>
            <a:r>
              <a:rPr lang="en-US" dirty="0"/>
              <a:t>What other metrics are available?</a:t>
            </a:r>
          </a:p>
          <a:p>
            <a:pPr lvl="1"/>
            <a:r>
              <a:rPr lang="en-US" dirty="0"/>
              <a:t>Gradients</a:t>
            </a:r>
          </a:p>
          <a:p>
            <a:pPr lvl="2"/>
            <a:r>
              <a:rPr lang="en-US" dirty="0"/>
              <a:t>non-zero when you are iterating or calibrating on something not the training data</a:t>
            </a:r>
          </a:p>
          <a:p>
            <a:pPr lvl="2"/>
            <a:r>
              <a:rPr lang="en-US" dirty="0"/>
              <a:t>steep gradient means the weight has an impact</a:t>
            </a:r>
          </a:p>
          <a:p>
            <a:pPr lvl="1"/>
            <a:r>
              <a:rPr lang="en-US" dirty="0"/>
              <a:t>Hessians (curvature)</a:t>
            </a:r>
          </a:p>
          <a:p>
            <a:pPr lvl="2"/>
            <a:r>
              <a:rPr lang="en-US" dirty="0"/>
              <a:t>Small weight/gradient in a “sharp” minima may be unstable and become important when something else is pruned</a:t>
            </a:r>
          </a:p>
          <a:p>
            <a:pPr lvl="2"/>
            <a:r>
              <a:rPr lang="en-US" dirty="0"/>
              <a:t>Approximated in some optimizers (</a:t>
            </a:r>
            <a:r>
              <a:rPr lang="en-US" dirty="0" err="1"/>
              <a:t>AdaGrad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0734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A91D7-0CFE-C534-4B06-DCD75C743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7873B-07F2-A1C4-2E25-B7BEBD910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Unstructured pruning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A43AAF-AB7B-B6C8-6C4C-CF1B4D30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2971800"/>
          </a:xfrm>
        </p:spPr>
        <p:txBody>
          <a:bodyPr/>
          <a:lstStyle/>
          <a:p>
            <a:r>
              <a:rPr lang="en-US" dirty="0"/>
              <a:t>HW5 looks at  similar setting: prune a large model to</a:t>
            </a:r>
          </a:p>
          <a:p>
            <a:pPr lvl="1"/>
            <a:r>
              <a:rPr lang="en-US" dirty="0"/>
              <a:t>preserve performance on a task</a:t>
            </a:r>
          </a:p>
          <a:p>
            <a:pPr lvl="1"/>
            <a:r>
              <a:rPr lang="en-US" dirty="0"/>
              <a:t>decrease the number of non-zero (NNZ) parameters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5C27EEC-FF0A-4C81-8F0F-57324AF0183F}"/>
              </a:ext>
            </a:extLst>
          </p:cNvPr>
          <p:cNvSpPr txBox="1">
            <a:spLocks/>
          </p:cNvSpPr>
          <p:nvPr/>
        </p:nvSpPr>
        <p:spPr>
          <a:xfrm>
            <a:off x="279400" y="4229100"/>
            <a:ext cx="8098969" cy="97971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sz="2400" dirty="0"/>
              <a:t>Caveat: in real life more zeros does </a:t>
            </a:r>
            <a:r>
              <a:rPr lang="en-US" sz="2400" b="1" dirty="0"/>
              <a:t>not </a:t>
            </a:r>
            <a:r>
              <a:rPr lang="en-US" sz="2400" dirty="0"/>
              <a:t>mean that a model is </a:t>
            </a:r>
            <a:r>
              <a:rPr lang="en-US" sz="2400" b="1" dirty="0"/>
              <a:t>faster </a:t>
            </a:r>
            <a:r>
              <a:rPr lang="en-US" sz="2400" dirty="0"/>
              <a:t>to run, or takes up </a:t>
            </a:r>
            <a:r>
              <a:rPr lang="en-US" sz="2400" b="1" dirty="0"/>
              <a:t>less space</a:t>
            </a:r>
            <a:r>
              <a:rPr lang="en-US" sz="2400" dirty="0"/>
              <a:t> on a GPU</a:t>
            </a:r>
          </a:p>
          <a:p>
            <a:pPr lvl="1"/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FAC419D-4E5D-FBB0-EDB2-9058725672A7}"/>
              </a:ext>
            </a:extLst>
          </p:cNvPr>
          <p:cNvSpPr txBox="1">
            <a:spLocks/>
          </p:cNvSpPr>
          <p:nvPr/>
        </p:nvSpPr>
        <p:spPr>
          <a:xfrm>
            <a:off x="522515" y="5586186"/>
            <a:ext cx="8098969" cy="5370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sz="2400" dirty="0"/>
              <a:t>Why?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764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A897F-9794-6B39-18E5-AC31B2976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FFE1B-6649-098B-65BD-DB1900927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Aside: sparse </a:t>
            </a:r>
            <a:r>
              <a:rPr lang="en-US" i="1" dirty="0"/>
              <a:t>vs </a:t>
            </a:r>
            <a:r>
              <a:rPr lang="en-US" dirty="0"/>
              <a:t>dense matrix operations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31EF5-0D76-1E8C-A73B-37FB82BB4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Consider dot product – easy to parallelize!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Sparse dot product</a:t>
            </a:r>
          </a:p>
          <a:p>
            <a:pPr lvl="1"/>
            <a:r>
              <a:rPr lang="en-US" b="1" dirty="0"/>
              <a:t>a</a:t>
            </a:r>
            <a:r>
              <a:rPr lang="en-US" dirty="0"/>
              <a:t> = [(i1, a</a:t>
            </a:r>
            <a:r>
              <a:rPr lang="en-US" baseline="-25000" dirty="0"/>
              <a:t>i1</a:t>
            </a:r>
            <a:r>
              <a:rPr lang="en-US" dirty="0"/>
              <a:t>), …,. (</a:t>
            </a:r>
            <a:r>
              <a:rPr lang="en-US" dirty="0" err="1"/>
              <a:t>ik</a:t>
            </a:r>
            <a:r>
              <a:rPr lang="en-US" dirty="0"/>
              <a:t>, </a:t>
            </a:r>
            <a:r>
              <a:rPr lang="en-US" dirty="0" err="1"/>
              <a:t>a</a:t>
            </a:r>
            <a:r>
              <a:rPr lang="en-US" baseline="-25000" dirty="0" err="1"/>
              <a:t>ik</a:t>
            </a:r>
            <a:r>
              <a:rPr lang="en-US" dirty="0"/>
              <a:t>)]</a:t>
            </a:r>
          </a:p>
          <a:p>
            <a:pPr lvl="1"/>
            <a:r>
              <a:rPr lang="en-US" b="1" dirty="0"/>
              <a:t>b</a:t>
            </a:r>
            <a:r>
              <a:rPr lang="en-US" dirty="0"/>
              <a:t> = [(j1, b</a:t>
            </a:r>
            <a:r>
              <a:rPr lang="en-US" baseline="-25000" dirty="0"/>
              <a:t>j1</a:t>
            </a:r>
            <a:r>
              <a:rPr lang="en-US" dirty="0"/>
              <a:t>), …,. (</a:t>
            </a:r>
            <a:r>
              <a:rPr lang="en-US" dirty="0" err="1"/>
              <a:t>jl</a:t>
            </a:r>
            <a:r>
              <a:rPr lang="en-US" dirty="0"/>
              <a:t>, </a:t>
            </a:r>
            <a:r>
              <a:rPr lang="en-US" dirty="0" err="1"/>
              <a:t>b</a:t>
            </a:r>
            <a:r>
              <a:rPr lang="en-US" baseline="-25000" dirty="0" err="1"/>
              <a:t>jl</a:t>
            </a:r>
            <a:r>
              <a:rPr lang="en-US" dirty="0"/>
              <a:t>)] </a:t>
            </a:r>
          </a:p>
          <a:p>
            <a:pPr lvl="2"/>
            <a:r>
              <a:rPr lang="en-US" dirty="0"/>
              <a:t>lists of nonzero values</a:t>
            </a:r>
          </a:p>
          <a:p>
            <a:pPr lvl="2"/>
            <a:r>
              <a:rPr lang="en-US" dirty="0"/>
              <a:t>sorted by index</a:t>
            </a:r>
          </a:p>
          <a:p>
            <a:pPr lvl="1"/>
            <a:r>
              <a:rPr lang="en-US" dirty="0"/>
              <a:t>Algorithm: </a:t>
            </a:r>
            <a:r>
              <a:rPr lang="en-US" b="1" dirty="0"/>
              <a:t>merge</a:t>
            </a:r>
            <a:r>
              <a:rPr lang="en-US" dirty="0"/>
              <a:t> the two lists to find </a:t>
            </a:r>
            <a:r>
              <a:rPr lang="en-US" b="1" dirty="0"/>
              <a:t>common</a:t>
            </a:r>
            <a:r>
              <a:rPr lang="en-US" dirty="0"/>
              <a:t> NZ indices [(c1, a</a:t>
            </a:r>
            <a:r>
              <a:rPr lang="en-US" baseline="-25000" dirty="0"/>
              <a:t>c1</a:t>
            </a:r>
            <a:r>
              <a:rPr lang="en-US" dirty="0"/>
              <a:t>, b</a:t>
            </a:r>
            <a:r>
              <a:rPr lang="en-US" baseline="-25000" dirty="0"/>
              <a:t>c1</a:t>
            </a:r>
            <a:r>
              <a:rPr lang="en-US" dirty="0"/>
              <a:t>), ….]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9B2FF8-AF75-E520-AE8C-2D838E8C6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540" y="1858735"/>
            <a:ext cx="7156919" cy="126002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5E97A15-0D26-A7A9-C625-9F5284A9AF52}"/>
              </a:ext>
            </a:extLst>
          </p:cNvPr>
          <p:cNvSpPr txBox="1">
            <a:spLocks/>
          </p:cNvSpPr>
          <p:nvPr/>
        </p:nvSpPr>
        <p:spPr>
          <a:xfrm rot="10800000" flipV="1">
            <a:off x="5221516" y="3263902"/>
            <a:ext cx="3643084" cy="138974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sz="2400" dirty="0"/>
              <a:t>Sorting/sparse matrices are generally </a:t>
            </a:r>
            <a:r>
              <a:rPr lang="en-US" sz="2400" i="1" dirty="0"/>
              <a:t>not</a:t>
            </a:r>
            <a:r>
              <a:rPr lang="en-US" sz="2400" dirty="0"/>
              <a:t> supported on TPUs and GPUs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12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143CC6-C678-E07B-B58A-6AC511493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6135D2-711A-1F68-27A0-74D6ECF1E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64" y="0"/>
            <a:ext cx="5956300" cy="584200"/>
          </a:xfrm>
          <a:prstGeom prst="rect">
            <a:avLst/>
          </a:prstGeom>
        </p:spPr>
      </p:pic>
      <p:pic>
        <p:nvPicPr>
          <p:cNvPr id="8" name="Picture 7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4EEBF7F8-5158-2FEF-23F2-B259E87D9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64" y="584200"/>
            <a:ext cx="6385178" cy="463187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5D22EBB-C459-E487-2804-8DEB11CC896C}"/>
              </a:ext>
            </a:extLst>
          </p:cNvPr>
          <p:cNvSpPr/>
          <p:nvPr/>
        </p:nvSpPr>
        <p:spPr>
          <a:xfrm>
            <a:off x="751114" y="743858"/>
            <a:ext cx="4408714" cy="42454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black and red text&#10;&#10;Description automatically generated">
            <a:extLst>
              <a:ext uri="{FF2B5EF4-FFF2-40B4-BE49-F238E27FC236}">
                <a16:creationId xmlns:a16="http://schemas.microsoft.com/office/drawing/2014/main" id="{997B6C9D-8003-E245-273A-4BBE3EEFEE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143"/>
          <a:stretch/>
        </p:blipFill>
        <p:spPr>
          <a:xfrm>
            <a:off x="336549" y="5216071"/>
            <a:ext cx="5740400" cy="1603828"/>
          </a:xfrm>
          <a:prstGeom prst="rect">
            <a:avLst/>
          </a:prstGeom>
        </p:spPr>
      </p:pic>
      <p:pic>
        <p:nvPicPr>
          <p:cNvPr id="13" name="Picture 12" descr="A number with numbers in a row&#10;&#10;Description automatically generated with medium confidence">
            <a:extLst>
              <a:ext uri="{FF2B5EF4-FFF2-40B4-BE49-F238E27FC236}">
                <a16:creationId xmlns:a16="http://schemas.microsoft.com/office/drawing/2014/main" id="{F7B6ED96-0C19-9720-5C9A-1949A4F3D6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1727" y="259442"/>
            <a:ext cx="2311400" cy="52752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3524396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CBC28-6FC2-37BA-7AB1-481E878D0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1EEB5-F76D-1312-A3D2-6938099E5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Unstructured pruning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1DC90D-51E1-B12C-23F1-35374AB31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2971800"/>
          </a:xfrm>
        </p:spPr>
        <p:txBody>
          <a:bodyPr/>
          <a:lstStyle/>
          <a:p>
            <a:r>
              <a:rPr lang="en-US" dirty="0"/>
              <a:t>HW5 looks at  similar setting: prune a large model to</a:t>
            </a:r>
          </a:p>
          <a:p>
            <a:pPr lvl="1"/>
            <a:r>
              <a:rPr lang="en-US" dirty="0"/>
              <a:t>preserve performance on a task</a:t>
            </a:r>
          </a:p>
          <a:p>
            <a:pPr lvl="1"/>
            <a:r>
              <a:rPr lang="en-US" dirty="0"/>
              <a:t>decrease the number of non-zero (NNZ) parameters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832F313-B00B-0343-FA84-BF26AE33AA74}"/>
              </a:ext>
            </a:extLst>
          </p:cNvPr>
          <p:cNvSpPr txBox="1">
            <a:spLocks/>
          </p:cNvSpPr>
          <p:nvPr/>
        </p:nvSpPr>
        <p:spPr>
          <a:xfrm>
            <a:off x="279400" y="4229100"/>
            <a:ext cx="8098969" cy="97971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sz="2400" dirty="0"/>
              <a:t>Caveat: in real life more zeros does </a:t>
            </a:r>
            <a:r>
              <a:rPr lang="en-US" sz="2400" b="1" dirty="0"/>
              <a:t>not </a:t>
            </a:r>
            <a:r>
              <a:rPr lang="en-US" sz="2400" dirty="0"/>
              <a:t>mean that a model is </a:t>
            </a:r>
            <a:r>
              <a:rPr lang="en-US" sz="2400" b="1" dirty="0"/>
              <a:t>faster </a:t>
            </a:r>
            <a:r>
              <a:rPr lang="en-US" sz="2400" dirty="0"/>
              <a:t>to run, or takes up </a:t>
            </a:r>
            <a:r>
              <a:rPr lang="en-US" sz="2400" b="1" dirty="0"/>
              <a:t>less space</a:t>
            </a:r>
            <a:r>
              <a:rPr lang="en-US" sz="2400" dirty="0"/>
              <a:t> on a GPU</a:t>
            </a:r>
          </a:p>
          <a:p>
            <a:pPr lvl="1"/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E066CF7-E0DC-13F5-E289-DAEE62377FC7}"/>
              </a:ext>
            </a:extLst>
          </p:cNvPr>
          <p:cNvSpPr txBox="1">
            <a:spLocks/>
          </p:cNvSpPr>
          <p:nvPr/>
        </p:nvSpPr>
        <p:spPr>
          <a:xfrm>
            <a:off x="522515" y="5586186"/>
            <a:ext cx="8098969" cy="5370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sz="2400" dirty="0"/>
              <a:t>Why?  </a:t>
            </a:r>
            <a:r>
              <a:rPr lang="en-US" sz="2400" b="1" dirty="0"/>
              <a:t>Unstructured sparsity is not supported by GPUs/TPUs</a:t>
            </a:r>
            <a:endParaRPr lang="en-US" sz="24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9052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84C90-FF68-1F4A-DCFF-95D174C8D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EAEAB-02E9-443F-12A0-E473E20A1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sparse operations are supported?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88B691-45D8-D687-CC18-137B2FB9F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1338944"/>
            <a:ext cx="8648700" cy="143691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Nvidia supports 2:4 sparse matrices</a:t>
            </a:r>
          </a:p>
          <a:p>
            <a:pPr lvl="1"/>
            <a:r>
              <a:rPr lang="en-US" dirty="0"/>
              <a:t>General version is “N:M”</a:t>
            </a:r>
          </a:p>
          <a:p>
            <a:pPr lvl="1"/>
            <a:r>
              <a:rPr lang="en-US" dirty="0"/>
              <a:t>In each contiguous block of 4 weights at least 2 are zero.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D70AB33-FD24-C210-5DDA-F6C3B0C7F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908300"/>
            <a:ext cx="79248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9083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37624-25D5-208A-A116-C8D4F0E5A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A7C00-CB07-675C-A11C-A7ABEFF9B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From unstructured to N:M pruning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58C1C-AC32-5B99-60C3-E9C875F85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1338944"/>
            <a:ext cx="8648700" cy="143691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Rank all weights</a:t>
            </a:r>
          </a:p>
          <a:p>
            <a:r>
              <a:rPr lang="en-US" dirty="0"/>
              <a:t>Compare weight scores to a “comparison set”</a:t>
            </a:r>
          </a:p>
          <a:p>
            <a:pPr lvl="1"/>
            <a:r>
              <a:rPr lang="en-US" dirty="0"/>
              <a:t>The four weights in a block</a:t>
            </a:r>
          </a:p>
          <a:p>
            <a:r>
              <a:rPr lang="en-US" dirty="0"/>
              <a:t>Drop the worse 2 of those 4 weights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DCFB445-E927-1011-6543-8DA74106F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908300"/>
            <a:ext cx="79248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651005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5B625-355B-879B-7B59-DDE9F9BE5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26FFF-4976-4A46-2BA1-52F920AD9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sparse operations are supported?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96F74-EA12-4B91-FD10-A87C90131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1338944"/>
            <a:ext cx="8648700" cy="143691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Nvidia supports 2:4 sparse matrices</a:t>
            </a:r>
          </a:p>
          <a:p>
            <a:pPr lvl="1"/>
            <a:r>
              <a:rPr lang="en-US" dirty="0"/>
              <a:t>General version is “N:M”</a:t>
            </a:r>
          </a:p>
          <a:p>
            <a:pPr lvl="1"/>
            <a:r>
              <a:rPr lang="en-US" dirty="0"/>
              <a:t>In each contiguous block of 4 weights at least 2 are zero.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B20860-070D-224A-72D4-EB8AE2991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764" y="2560638"/>
            <a:ext cx="5963303" cy="295841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8051590-EDE8-3EA1-FF8F-67E7E6196BB4}"/>
              </a:ext>
            </a:extLst>
          </p:cNvPr>
          <p:cNvSpPr txBox="1">
            <a:spLocks/>
          </p:cNvSpPr>
          <p:nvPr/>
        </p:nvSpPr>
        <p:spPr>
          <a:xfrm>
            <a:off x="389164" y="2775856"/>
            <a:ext cx="2109107" cy="295841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sz="2400" dirty="0"/>
              <a:t>Speeds for WANDA using semi-structured N:M pruning</a:t>
            </a:r>
          </a:p>
          <a:p>
            <a:pPr lvl="1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4FDC6E-A73C-1176-B711-32405886B6B3}"/>
              </a:ext>
            </a:extLst>
          </p:cNvPr>
          <p:cNvSpPr/>
          <p:nvPr/>
        </p:nvSpPr>
        <p:spPr>
          <a:xfrm>
            <a:off x="2824843" y="3788229"/>
            <a:ext cx="5568043" cy="6531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4909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87F68-AD01-E9FE-6A1D-64EE52967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B5ABB-A802-1B7E-718F-E2B54FF37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sparse operations are supported?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42682-3D7A-7200-D976-FD11FF211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1338944"/>
            <a:ext cx="8648700" cy="143691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Nvidia supports 2:4 sparse matrices</a:t>
            </a:r>
          </a:p>
          <a:p>
            <a:pPr lvl="1"/>
            <a:r>
              <a:rPr lang="en-US" dirty="0"/>
              <a:t>General version is “N:M”</a:t>
            </a:r>
          </a:p>
          <a:p>
            <a:pPr lvl="1"/>
            <a:r>
              <a:rPr lang="en-US" dirty="0"/>
              <a:t>In each contiguous block of 4 weights at least 2 are zero.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5F7299-2968-0E8F-179D-5F54A9873340}"/>
              </a:ext>
            </a:extLst>
          </p:cNvPr>
          <p:cNvSpPr/>
          <p:nvPr/>
        </p:nvSpPr>
        <p:spPr>
          <a:xfrm>
            <a:off x="2824843" y="3788229"/>
            <a:ext cx="5568043" cy="6531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D03131-20C7-E207-CD31-900133206A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r="-1956" b="17089"/>
          <a:stretch/>
        </p:blipFill>
        <p:spPr>
          <a:xfrm>
            <a:off x="-173593" y="2403247"/>
            <a:ext cx="9491186" cy="37526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FCCFF9C-86E1-4AA6-5A0F-3BD01DA43352}"/>
              </a:ext>
            </a:extLst>
          </p:cNvPr>
          <p:cNvSpPr/>
          <p:nvPr/>
        </p:nvSpPr>
        <p:spPr>
          <a:xfrm>
            <a:off x="-383722" y="4555673"/>
            <a:ext cx="9701315" cy="6531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0466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9EA69-2F64-B2FE-F0F5-806C4F402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C93A257-9C11-C406-AFDE-0191C84C1177}"/>
              </a:ext>
            </a:extLst>
          </p:cNvPr>
          <p:cNvSpPr/>
          <p:nvPr/>
        </p:nvSpPr>
        <p:spPr>
          <a:xfrm>
            <a:off x="1065893" y="5456010"/>
            <a:ext cx="6804477" cy="506186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98D6E32-E768-B68E-CDF4-38A4B2C336A6}"/>
              </a:ext>
            </a:extLst>
          </p:cNvPr>
          <p:cNvSpPr/>
          <p:nvPr/>
        </p:nvSpPr>
        <p:spPr>
          <a:xfrm>
            <a:off x="701223" y="4555671"/>
            <a:ext cx="3870778" cy="506186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8766A-BB38-C065-C60B-9812EE7F6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5D7D5-FA8E-10DA-1760-99C3534C7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Unstructured pruning</a:t>
            </a:r>
          </a:p>
          <a:p>
            <a:pPr lvl="1"/>
            <a:r>
              <a:rPr lang="en-US" dirty="0"/>
              <a:t>zero out individual weights anywhere in the model</a:t>
            </a:r>
          </a:p>
          <a:p>
            <a:r>
              <a:rPr lang="en-US" dirty="0"/>
              <a:t>Structured pruning</a:t>
            </a:r>
          </a:p>
          <a:p>
            <a:pPr lvl="1"/>
            <a:r>
              <a:rPr lang="en-US" dirty="0"/>
              <a:t>zero out entire architectural components, e.g.</a:t>
            </a:r>
          </a:p>
          <a:p>
            <a:pPr lvl="2"/>
            <a:r>
              <a:rPr lang="en-US" dirty="0"/>
              <a:t>a complete attention head</a:t>
            </a:r>
          </a:p>
          <a:p>
            <a:pPr lvl="2"/>
            <a:r>
              <a:rPr lang="en-US" dirty="0"/>
              <a:t>a complete Transformer layer</a:t>
            </a:r>
          </a:p>
          <a:p>
            <a:pPr lvl="2"/>
            <a:r>
              <a:rPr lang="en-US" dirty="0"/>
              <a:t>…</a:t>
            </a:r>
          </a:p>
          <a:p>
            <a:r>
              <a:rPr lang="en-US" dirty="0"/>
              <a:t>Semi-structured pruning</a:t>
            </a:r>
          </a:p>
          <a:p>
            <a:pPr lvl="1"/>
            <a:r>
              <a:rPr lang="en-US" dirty="0"/>
              <a:t>somewhere in between these extremes</a:t>
            </a:r>
          </a:p>
          <a:p>
            <a:pPr lvl="1"/>
            <a:r>
              <a:rPr lang="en-US" dirty="0"/>
              <a:t>N:M pruning is the most common variant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983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F59D-9FD6-2827-4F8E-8E6AD1EFE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30CE8E5-0F65-084F-F1A8-F0761CDF7566}"/>
              </a:ext>
            </a:extLst>
          </p:cNvPr>
          <p:cNvSpPr/>
          <p:nvPr/>
        </p:nvSpPr>
        <p:spPr>
          <a:xfrm>
            <a:off x="635908" y="2694214"/>
            <a:ext cx="3348264" cy="538843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8FD07E-0100-1BC3-ABD4-F074B2AB8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DF716-17FE-1307-D3C3-5850D7527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Unstructured pruning</a:t>
            </a:r>
          </a:p>
          <a:p>
            <a:pPr lvl="1"/>
            <a:r>
              <a:rPr lang="en-US" dirty="0"/>
              <a:t>zero out individual weights anywhere in the model</a:t>
            </a:r>
          </a:p>
          <a:p>
            <a:r>
              <a:rPr lang="en-US" dirty="0"/>
              <a:t>Structured pruning</a:t>
            </a:r>
          </a:p>
          <a:p>
            <a:pPr lvl="1"/>
            <a:r>
              <a:rPr lang="en-US" dirty="0"/>
              <a:t>zero out entire architectural components, e.g.</a:t>
            </a:r>
          </a:p>
          <a:p>
            <a:pPr lvl="2"/>
            <a:r>
              <a:rPr lang="en-US" dirty="0"/>
              <a:t>a complete attention head</a:t>
            </a:r>
          </a:p>
          <a:p>
            <a:pPr lvl="2"/>
            <a:r>
              <a:rPr lang="en-US" dirty="0"/>
              <a:t>a complete Transformer layer</a:t>
            </a:r>
          </a:p>
          <a:p>
            <a:pPr lvl="2"/>
            <a:r>
              <a:rPr lang="en-US" dirty="0"/>
              <a:t>…</a:t>
            </a:r>
          </a:p>
          <a:p>
            <a:r>
              <a:rPr lang="en-US" dirty="0"/>
              <a:t>Semi-structured pruning</a:t>
            </a:r>
          </a:p>
          <a:p>
            <a:pPr lvl="1"/>
            <a:r>
              <a:rPr lang="en-US" dirty="0"/>
              <a:t>somewhere in between these extremes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400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F720-AD17-F746-6CD6-F6F31795A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Pruning: Shortened Llama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D5E5FB-059F-0873-E331-D5FA16E872C5}"/>
              </a:ext>
            </a:extLst>
          </p:cNvPr>
          <p:cNvSpPr txBox="1"/>
          <p:nvPr/>
        </p:nvSpPr>
        <p:spPr>
          <a:xfrm>
            <a:off x="6874329" y="1387929"/>
            <a:ext cx="158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D74C01-1724-CB0C-49EC-DC2C053C6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49" y="1926195"/>
            <a:ext cx="8784314" cy="33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65322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D8763-4A78-0CA2-D26F-F01BC8AD5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3DE6-CCD0-8E82-103B-A57517091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Pruning: Shortened Llama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FCF1A-1C76-C8B8-5D9C-384FA2CE6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1"/>
            <a:ext cx="4292600" cy="53085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Approach</a:t>
            </a:r>
          </a:p>
          <a:p>
            <a:pPr lvl="1"/>
            <a:r>
              <a:rPr lang="en-US" dirty="0"/>
              <a:t>For each layer, compute increase in PPL on a calibration set if removed</a:t>
            </a:r>
          </a:p>
          <a:p>
            <a:pPr lvl="1"/>
            <a:r>
              <a:rPr lang="en-US" dirty="0"/>
              <a:t>Also use a gradient*weight metric, Taylor+</a:t>
            </a:r>
          </a:p>
          <a:p>
            <a:pPr lvl="1"/>
            <a:r>
              <a:rPr lang="en-US" dirty="0"/>
              <a:t>Prune layers one-shot to get target size</a:t>
            </a:r>
          </a:p>
          <a:p>
            <a:pPr lvl="1"/>
            <a:r>
              <a:rPr lang="en-US" dirty="0"/>
              <a:t>Retrain with </a:t>
            </a:r>
            <a:r>
              <a:rPr lang="en-US" dirty="0" err="1"/>
              <a:t>LoRA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8022D8-2B33-8BF9-5D29-B86876A0A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654" y="1223212"/>
            <a:ext cx="4280750" cy="316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70412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251B7-A093-BF82-84D7-E4FBBFE1F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D18CA-DECD-213D-77BC-C0D5B66CB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Pruning: Shortened Llama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D4179B-F535-66A8-0495-419D912E0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65" y="1303020"/>
            <a:ext cx="8907235" cy="356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9161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90F4D-B2FF-8BDA-5ABE-5A2E66AB4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23F89-15A7-E1A3-0F0A-3BADFA114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42672A-7328-47AE-B1B9-DBEBB5046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23766"/>
            <a:ext cx="7772400" cy="28104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75301B-58BC-A5F2-1D23-7A95CE736FFA}"/>
              </a:ext>
            </a:extLst>
          </p:cNvPr>
          <p:cNvSpPr txBox="1"/>
          <p:nvPr/>
        </p:nvSpPr>
        <p:spPr>
          <a:xfrm>
            <a:off x="6874329" y="1387929"/>
            <a:ext cx="158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2023</a:t>
            </a:r>
          </a:p>
        </p:txBody>
      </p:sp>
    </p:spTree>
    <p:extLst>
      <p:ext uri="{BB962C8B-B14F-4D97-AF65-F5344CB8AC3E}">
        <p14:creationId xmlns:p14="http://schemas.microsoft.com/office/powerpoint/2010/main" val="346009324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92FEF-1CEC-706B-19EC-EE68BCAA6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E113-9A9A-DC84-F559-E96B03A2C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Pruning: LLM Pruner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35DAC-1F83-02CE-93FE-4DE2B26EA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399" y="1257300"/>
            <a:ext cx="4504871" cy="5436281"/>
          </a:xfrm>
        </p:spPr>
        <p:txBody>
          <a:bodyPr>
            <a:normAutofit/>
          </a:bodyPr>
          <a:lstStyle/>
          <a:p>
            <a:r>
              <a:rPr lang="en-US" dirty="0"/>
              <a:t>Some key ideas:</a:t>
            </a:r>
          </a:p>
          <a:p>
            <a:pPr lvl="1"/>
            <a:r>
              <a:rPr lang="en-US" b="1" dirty="0"/>
              <a:t>Coupled structures: </a:t>
            </a:r>
            <a:r>
              <a:rPr lang="en-US" dirty="0"/>
              <a:t>If neuron N</a:t>
            </a:r>
            <a:r>
              <a:rPr lang="en-US" baseline="-25000" dirty="0"/>
              <a:t>j</a:t>
            </a:r>
            <a:r>
              <a:rPr lang="en-US" dirty="0"/>
              <a:t>’s only input is the output of N</a:t>
            </a:r>
            <a:r>
              <a:rPr lang="en-US" baseline="-25000" dirty="0"/>
              <a:t>i</a:t>
            </a:r>
            <a:r>
              <a:rPr lang="en-US" dirty="0"/>
              <a:t> then they are </a:t>
            </a:r>
            <a:r>
              <a:rPr lang="en-US" b="1" dirty="0"/>
              <a:t>coupled, </a:t>
            </a:r>
            <a:r>
              <a:rPr lang="en-US" dirty="0"/>
              <a:t>and must be pruned together (or not at all)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A0168D-DC03-6551-0219-CA1C40A07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57300"/>
            <a:ext cx="4203700" cy="3403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A68645-647A-3741-5ADC-8E8BE5E1E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418" y="5600700"/>
            <a:ext cx="9075310" cy="87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26569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72248-9C3E-8976-6805-09717B585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A5F29-B0D3-0D0E-D8FC-16E10492B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Pruning: LLM Pruner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C9C4B-425A-44F4-431E-9A55ABAAA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4406900" cy="5436281"/>
          </a:xfrm>
        </p:spPr>
        <p:txBody>
          <a:bodyPr>
            <a:normAutofit/>
          </a:bodyPr>
          <a:lstStyle/>
          <a:p>
            <a:r>
              <a:rPr lang="en-US" dirty="0"/>
              <a:t>Some key ideas:</a:t>
            </a:r>
          </a:p>
          <a:p>
            <a:pPr lvl="1"/>
            <a:r>
              <a:rPr lang="en-US" b="1" dirty="0"/>
              <a:t>Group importance: e.g., </a:t>
            </a:r>
            <a:r>
              <a:rPr lang="en-US" dirty="0"/>
              <a:t>sum weight importance over all weights in a group.</a:t>
            </a:r>
          </a:p>
          <a:p>
            <a:pPr lvl="1"/>
            <a:r>
              <a:rPr lang="en-US" b="1" dirty="0"/>
              <a:t>Retrain using </a:t>
            </a:r>
            <a:r>
              <a:rPr lang="en-US" b="1" dirty="0" err="1"/>
              <a:t>LoRA</a:t>
            </a:r>
            <a:r>
              <a:rPr lang="en-US" b="1" dirty="0"/>
              <a:t> </a:t>
            </a:r>
            <a:r>
              <a:rPr lang="en-US" dirty="0"/>
              <a:t>using a small external dataset of zero-shot prompts</a:t>
            </a: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5D23EB-7667-7D1A-C0AD-A75AA572C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100" y="1359240"/>
            <a:ext cx="4406900" cy="261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06770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FECDC-7C87-DCAC-09CD-FD3A22935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AAE9E-229A-1A6C-BFAB-397223575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3CF257-AE8A-92DD-DB9C-6FBD23EB036C}"/>
              </a:ext>
            </a:extLst>
          </p:cNvPr>
          <p:cNvSpPr txBox="1"/>
          <p:nvPr/>
        </p:nvSpPr>
        <p:spPr>
          <a:xfrm>
            <a:off x="6874329" y="1387929"/>
            <a:ext cx="158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2B9341-18B6-44D2-9A4E-B3670B25F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56876"/>
            <a:ext cx="7772400" cy="294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89454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C8662-383E-0ED9-85B6-16FB0DFD9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82D6A-9DC8-6B37-1691-DB1CACC4F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Pruning: Sheared Llama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36B7D-F23A-2418-8671-E999BB463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456386" cy="5436281"/>
          </a:xfrm>
        </p:spPr>
        <p:txBody>
          <a:bodyPr>
            <a:normAutofit/>
          </a:bodyPr>
          <a:lstStyle/>
          <a:p>
            <a:r>
              <a:rPr lang="en-US" dirty="0"/>
              <a:t>Some key ideas:</a:t>
            </a:r>
          </a:p>
          <a:p>
            <a:pPr lvl="1"/>
            <a:r>
              <a:rPr lang="en-US" b="1" dirty="0"/>
              <a:t>Prune to a particular target architecture</a:t>
            </a:r>
          </a:p>
          <a:p>
            <a:pPr lvl="2"/>
            <a:r>
              <a:rPr lang="en-US" dirty="0"/>
              <a:t>E.g., use the INCITE-Base-3B architecture as the target structure when producing a 2.7B model</a:t>
            </a:r>
          </a:p>
          <a:p>
            <a:pPr lvl="2"/>
            <a:r>
              <a:rPr lang="en-US" dirty="0"/>
              <a:t>This means learning </a:t>
            </a:r>
            <a:r>
              <a:rPr lang="en-US" b="1" dirty="0"/>
              <a:t>masks</a:t>
            </a:r>
            <a:r>
              <a:rPr lang="en-US" dirty="0"/>
              <a:t> with target number of non-zeros for each attention head, </a:t>
            </a:r>
            <a:r>
              <a:rPr lang="en-US" dirty="0" err="1"/>
              <a:t>etc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792B49-97D9-E006-02B4-89FBBD81B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93" y="4606952"/>
            <a:ext cx="7772400" cy="166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2125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5D56E-AFE1-3542-6454-44CED2413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BC080-DFBF-6AE1-CB19-2600D3B01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Pruning: Sheared Llama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A9C24-10C3-16B6-D669-2A7F9A021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456386" cy="5436281"/>
          </a:xfrm>
        </p:spPr>
        <p:txBody>
          <a:bodyPr>
            <a:normAutofit/>
          </a:bodyPr>
          <a:lstStyle/>
          <a:p>
            <a:r>
              <a:rPr lang="en-US" dirty="0"/>
              <a:t>Some key ideas:</a:t>
            </a:r>
          </a:p>
          <a:p>
            <a:pPr lvl="1"/>
            <a:r>
              <a:rPr lang="en-US" b="1" dirty="0"/>
              <a:t>Prune to a particular target architecture</a:t>
            </a:r>
          </a:p>
          <a:p>
            <a:pPr lvl="2"/>
            <a:r>
              <a:rPr lang="en-US" dirty="0"/>
              <a:t>Optimize a loss that includes PPL on a validation set + loss indicating how masks are mismatched to target architecture</a:t>
            </a:r>
          </a:p>
          <a:p>
            <a:pPr lvl="2"/>
            <a:r>
              <a:rPr lang="en-US" dirty="0"/>
              <a:t>Use Lagrange multipliers and soft approximation of the mask in training (slow!)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2037D0-DCC0-C8FD-8581-D876F1B20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93" y="4904974"/>
            <a:ext cx="7772400" cy="166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13916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91D40-3311-3611-D675-096A15803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D6824-1C6E-1662-BA09-47958E67A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Pruning: Sheared Llama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32CBE-D48C-D53F-4550-847384F3F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456386" cy="5436281"/>
          </a:xfrm>
        </p:spPr>
        <p:txBody>
          <a:bodyPr>
            <a:normAutofit/>
          </a:bodyPr>
          <a:lstStyle/>
          <a:p>
            <a:r>
              <a:rPr lang="en-US" dirty="0"/>
              <a:t>Some key ideas:</a:t>
            </a:r>
          </a:p>
          <a:p>
            <a:pPr lvl="1"/>
            <a:r>
              <a:rPr lang="en-US" b="1" dirty="0"/>
              <a:t>Prune to a particular target architecture</a:t>
            </a:r>
          </a:p>
          <a:p>
            <a:pPr lvl="2"/>
            <a:r>
              <a:rPr lang="en-US" dirty="0"/>
              <a:t>E.g., use the INCITE-Base-3B architecture as the target structure when producing a 2.7B model</a:t>
            </a:r>
          </a:p>
          <a:p>
            <a:pPr lvl="2"/>
            <a:r>
              <a:rPr lang="en-US" dirty="0"/>
              <a:t>This means learning </a:t>
            </a:r>
            <a:r>
              <a:rPr lang="en-US" b="1" dirty="0"/>
              <a:t>masks</a:t>
            </a:r>
            <a:r>
              <a:rPr lang="en-US" dirty="0"/>
              <a:t> with target number of non-zeros for each attention head, </a:t>
            </a:r>
            <a:r>
              <a:rPr lang="en-US" dirty="0" err="1"/>
              <a:t>etc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189D45-772F-E83A-23C0-ACDADCBD9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93" y="4606952"/>
            <a:ext cx="7772400" cy="166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64758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F522-3E4C-EAC8-7FF5-DDB0ACDA0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4D5DD-2971-E396-35EB-E278F6D54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Pruning: Sheared Llama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24F71-6C23-72BC-BD3D-7E2AC4F81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456386" cy="5436281"/>
          </a:xfrm>
        </p:spPr>
        <p:txBody>
          <a:bodyPr>
            <a:normAutofit/>
          </a:bodyPr>
          <a:lstStyle/>
          <a:p>
            <a:r>
              <a:rPr lang="en-US" dirty="0"/>
              <a:t>Some key ideas:</a:t>
            </a:r>
          </a:p>
          <a:p>
            <a:pPr lvl="1"/>
            <a:r>
              <a:rPr lang="en-US" b="1" dirty="0"/>
              <a:t>Prune to a particular target architecture</a:t>
            </a:r>
          </a:p>
          <a:p>
            <a:pPr lvl="2"/>
            <a:r>
              <a:rPr lang="en-US" dirty="0"/>
              <a:t>Optimize a loss that includes PPL on a validation set + loss indicating how masks are mismatched to target architecture</a:t>
            </a:r>
          </a:p>
          <a:p>
            <a:pPr lvl="2"/>
            <a:r>
              <a:rPr lang="en-US" dirty="0"/>
              <a:t>Use Lagrange multipliers and soft approximation of the mask in training (slow!)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361248-5CE0-A4F0-B8A9-2AC4693AA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93" y="4904974"/>
            <a:ext cx="7772400" cy="166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44348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AC20E-0A18-6A94-43BB-2B38005D0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8D8CE-34AF-E823-BCCE-FFF1677FD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Pruning: Sheared Llama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A7427-F930-3626-EB5B-9D336E4B6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456386" cy="5436281"/>
          </a:xfrm>
        </p:spPr>
        <p:txBody>
          <a:bodyPr>
            <a:normAutofit/>
          </a:bodyPr>
          <a:lstStyle/>
          <a:p>
            <a:r>
              <a:rPr lang="en-US" dirty="0"/>
              <a:t>Some key ideas:</a:t>
            </a:r>
          </a:p>
          <a:p>
            <a:pPr lvl="1"/>
            <a:r>
              <a:rPr lang="en-US" b="1" dirty="0"/>
              <a:t>Prune to a particular target architecture</a:t>
            </a:r>
          </a:p>
          <a:p>
            <a:pPr lvl="2"/>
            <a:r>
              <a:rPr lang="en-US" dirty="0"/>
              <a:t>Pruning and retraining are done in the same optimization pass</a:t>
            </a:r>
          </a:p>
          <a:p>
            <a:pPr lvl="2"/>
            <a:r>
              <a:rPr lang="en-US" dirty="0"/>
              <a:t>Retrain to a ”reference loss” predicted by scaling laws.</a:t>
            </a:r>
          </a:p>
          <a:p>
            <a:pPr lvl="2"/>
            <a:r>
              <a:rPr lang="en-US" dirty="0"/>
              <a:t>In pruning/retraining, focus on high-loss slices of the data.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1654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32178-D30F-A0C0-F3B5-B47E4CC14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4619C-7D7E-E4BF-D3A1-A05629BB8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Pruning: Sheared Llama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E898E8-41BD-5B71-F738-DD28F83FD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786" y="1096962"/>
            <a:ext cx="4767708" cy="29718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6E22202-3324-0A95-044C-A0A60DBE0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3410857" cy="3298371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US" dirty="0"/>
              <a:t>Training/pruning is expensive but much cheaper than separately training a comparable-sized small model from scratch.</a:t>
            </a:r>
          </a:p>
        </p:txBody>
      </p:sp>
    </p:spTree>
    <p:extLst>
      <p:ext uri="{BB962C8B-B14F-4D97-AF65-F5344CB8AC3E}">
        <p14:creationId xmlns:p14="http://schemas.microsoft.com/office/powerpoint/2010/main" val="178849970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90E1F-64BE-02F2-B2A5-2827DECAE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C52B4-DEB6-7F16-0B18-5A88F4DEB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Main techniques for compressing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E4012-7A81-16FF-A243-1D22B5B67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Distillation</a:t>
            </a:r>
          </a:p>
          <a:p>
            <a:pPr lvl="1"/>
            <a:r>
              <a:rPr lang="en-US" dirty="0"/>
              <a:t>Train a smaller “student model” to give the same outputs as a larger “teacher model” </a:t>
            </a:r>
          </a:p>
          <a:p>
            <a:pPr lvl="2"/>
            <a:r>
              <a:rPr lang="en-US" dirty="0"/>
              <a:t>Usually on a particular task</a:t>
            </a:r>
          </a:p>
          <a:p>
            <a:r>
              <a:rPr lang="en-US" dirty="0"/>
              <a:t>Model pruning</a:t>
            </a:r>
          </a:p>
          <a:p>
            <a:pPr lvl="1"/>
            <a:r>
              <a:rPr lang="en-US" dirty="0"/>
              <a:t>Remove parts of a large model and re-train</a:t>
            </a:r>
          </a:p>
          <a:p>
            <a:r>
              <a:rPr lang="en-US" dirty="0"/>
              <a:t>Quantization</a:t>
            </a:r>
          </a:p>
          <a:p>
            <a:pPr lvl="1"/>
            <a:r>
              <a:rPr lang="en-US" dirty="0"/>
              <a:t>Replace floating-point operations in parts of the model with lower-precision versions</a:t>
            </a:r>
          </a:p>
          <a:p>
            <a:r>
              <a:rPr lang="en-US" dirty="0"/>
              <a:t>Combinations?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44C793-3443-1B71-909A-46F06CC22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1832541"/>
            <a:ext cx="8664361" cy="394856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74315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2755</TotalTime>
  <Words>3502</Words>
  <Application>Microsoft Macintosh PowerPoint</Application>
  <PresentationFormat>On-screen Show (4:3)</PresentationFormat>
  <Paragraphs>536</Paragraphs>
  <Slides>86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5" baseType="lpstr">
      <vt:lpstr>Arial</vt:lpstr>
      <vt:lpstr>Book Antiqua</vt:lpstr>
      <vt:lpstr>Calibri</vt:lpstr>
      <vt:lpstr>Cambria Math</vt:lpstr>
      <vt:lpstr>Gill Sans MT</vt:lpstr>
      <vt:lpstr>Helvetica</vt:lpstr>
      <vt:lpstr>Times</vt:lpstr>
      <vt:lpstr>Wingdings</vt:lpstr>
      <vt:lpstr>Office Theme</vt:lpstr>
      <vt:lpstr>10-605 / 10-405</vt:lpstr>
      <vt:lpstr>PowerPoint Presentation</vt:lpstr>
      <vt:lpstr>Outline</vt:lpstr>
      <vt:lpstr>MAKING BIG Transformers SMALLER</vt:lpstr>
      <vt:lpstr>Main techniques for compressing models</vt:lpstr>
      <vt:lpstr>Distillation</vt:lpstr>
      <vt:lpstr>Distillation</vt:lpstr>
      <vt:lpstr>Main techniques for compressing models</vt:lpstr>
      <vt:lpstr>Quantization: Background</vt:lpstr>
      <vt:lpstr>Quantization: Background</vt:lpstr>
      <vt:lpstr>Quantization: Background</vt:lpstr>
      <vt:lpstr>Quantization: Background</vt:lpstr>
      <vt:lpstr>Quantization: Background</vt:lpstr>
      <vt:lpstr>Quantization: Beyond 16 bits</vt:lpstr>
      <vt:lpstr>Quantization: Beyond 16 bits</vt:lpstr>
      <vt:lpstr>Quantization: Beyond 16 bits</vt:lpstr>
      <vt:lpstr>Quantization: Beyond 16 bits</vt:lpstr>
      <vt:lpstr>Quantization: Beyond 16 bits</vt:lpstr>
      <vt:lpstr>Quantization: Beyond 16 bits</vt:lpstr>
      <vt:lpstr>Quantization: Performance Tradeoffs</vt:lpstr>
      <vt:lpstr>Quantization: Beyond 4 bits</vt:lpstr>
      <vt:lpstr>Quantization: Beyond 4 bits</vt:lpstr>
      <vt:lpstr>Quantization: Performance Tradeoffs</vt:lpstr>
      <vt:lpstr>Main techniques for compressing models</vt:lpstr>
      <vt:lpstr>Outline</vt:lpstr>
      <vt:lpstr>Intuitions about compression methods</vt:lpstr>
      <vt:lpstr>AsiDE: Semantically Meaningful Neurons?</vt:lpstr>
      <vt:lpstr>The Cat Neuron Paper</vt:lpstr>
      <vt:lpstr>The Cat Neuron Paper</vt:lpstr>
      <vt:lpstr>Background: AutoEncoders</vt:lpstr>
      <vt:lpstr>The Cat Neuron</vt:lpstr>
      <vt:lpstr>The Cat Neuron</vt:lpstr>
      <vt:lpstr>The Cat Neuron</vt:lpstr>
      <vt:lpstr>The Cat Neuron</vt:lpstr>
      <vt:lpstr>The Cat Neuron</vt:lpstr>
      <vt:lpstr>The Cat Neuron</vt:lpstr>
      <vt:lpstr>The Sentiment Neuron</vt:lpstr>
      <vt:lpstr>The Sentiment Neuron</vt:lpstr>
      <vt:lpstr>Recap: Regularized Logistic Regression</vt:lpstr>
      <vt:lpstr>L1-Regularized Logistic Regression</vt:lpstr>
      <vt:lpstr>L1-Regularized Logistic Regression</vt:lpstr>
      <vt:lpstr>The Sentiment Neuron</vt:lpstr>
      <vt:lpstr>The Sentiment Neuron</vt:lpstr>
      <vt:lpstr>The Sentiment Neuron</vt:lpstr>
      <vt:lpstr>The Sentiment Neuron</vt:lpstr>
      <vt:lpstr>Outline</vt:lpstr>
      <vt:lpstr>Model pruning</vt:lpstr>
      <vt:lpstr>Unstructured pruning</vt:lpstr>
      <vt:lpstr>Unstructured pruning</vt:lpstr>
      <vt:lpstr>Unstructured pruning</vt:lpstr>
      <vt:lpstr>Unstructured pruning</vt:lpstr>
      <vt:lpstr>Unstructured pruning</vt:lpstr>
      <vt:lpstr>Unstructured pruning</vt:lpstr>
      <vt:lpstr>Unstructured pruning</vt:lpstr>
      <vt:lpstr>Unstructured pruning</vt:lpstr>
      <vt:lpstr>Recap: Quantization: Beyond 16 bits</vt:lpstr>
      <vt:lpstr>Unstructured pruning</vt:lpstr>
      <vt:lpstr>Unstructured pruning: Wanda</vt:lpstr>
      <vt:lpstr>Unstructured Pruning</vt:lpstr>
      <vt:lpstr>Unstructured pruning</vt:lpstr>
      <vt:lpstr>Recall: Stochastic gradient descent</vt:lpstr>
      <vt:lpstr>Unstructured pruning</vt:lpstr>
      <vt:lpstr>Unstructured pruning</vt:lpstr>
      <vt:lpstr>Aside: sparse vs dense matrix operations</vt:lpstr>
      <vt:lpstr>PowerPoint Presentation</vt:lpstr>
      <vt:lpstr>Unstructured pruning</vt:lpstr>
      <vt:lpstr>What sparse operations are supported?</vt:lpstr>
      <vt:lpstr>From unstructured to N:M pruning </vt:lpstr>
      <vt:lpstr>What sparse operations are supported?</vt:lpstr>
      <vt:lpstr>What sparse operations are supported?</vt:lpstr>
      <vt:lpstr>Model pruning</vt:lpstr>
      <vt:lpstr>Model pruning</vt:lpstr>
      <vt:lpstr>Structured Pruning: Shortened Llama</vt:lpstr>
      <vt:lpstr>Structured Pruning: Shortened Llama</vt:lpstr>
      <vt:lpstr>Structured Pruning: Shortened Llama</vt:lpstr>
      <vt:lpstr>Structured Pruning</vt:lpstr>
      <vt:lpstr>Structured Pruning: LLM Pruner</vt:lpstr>
      <vt:lpstr>Structured Pruning: LLM Pruner</vt:lpstr>
      <vt:lpstr>Structured Pruning</vt:lpstr>
      <vt:lpstr>Structured Pruning: Sheared Llama</vt:lpstr>
      <vt:lpstr>Structured Pruning: Sheared Llama</vt:lpstr>
      <vt:lpstr>Structured Pruning: Sheared Llama</vt:lpstr>
      <vt:lpstr>Structured Pruning: Sheared Llama</vt:lpstr>
      <vt:lpstr>Structured Pruning: Sheared Llama</vt:lpstr>
      <vt:lpstr>Structured Pruning: Sheared Llama</vt:lpstr>
      <vt:lpstr>Main techniques for compressing models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from Big Datasets</dc:title>
  <dc:creator>William Cohen</dc:creator>
  <cp:lastModifiedBy>William W Cohen</cp:lastModifiedBy>
  <cp:revision>354</cp:revision>
  <dcterms:created xsi:type="dcterms:W3CDTF">2013-01-13T19:42:44Z</dcterms:created>
  <dcterms:modified xsi:type="dcterms:W3CDTF">2025-03-24T16:04:27Z</dcterms:modified>
</cp:coreProperties>
</file>