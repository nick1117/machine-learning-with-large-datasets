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1"/>
  </p:notesMasterIdLst>
  <p:sldIdLst>
    <p:sldId id="375" r:id="rId2"/>
    <p:sldId id="445" r:id="rId3"/>
    <p:sldId id="376" r:id="rId4"/>
    <p:sldId id="447" r:id="rId5"/>
    <p:sldId id="349" r:id="rId6"/>
    <p:sldId id="355" r:id="rId7"/>
    <p:sldId id="269" r:id="rId8"/>
    <p:sldId id="270" r:id="rId9"/>
    <p:sldId id="273" r:id="rId10"/>
    <p:sldId id="448" r:id="rId11"/>
    <p:sldId id="352" r:id="rId12"/>
    <p:sldId id="353" r:id="rId13"/>
    <p:sldId id="256" r:id="rId14"/>
    <p:sldId id="265" r:id="rId15"/>
    <p:sldId id="378" r:id="rId16"/>
    <p:sldId id="454" r:id="rId17"/>
    <p:sldId id="455" r:id="rId18"/>
    <p:sldId id="260" r:id="rId19"/>
    <p:sldId id="262" r:id="rId20"/>
    <p:sldId id="263" r:id="rId21"/>
    <p:sldId id="264" r:id="rId22"/>
    <p:sldId id="379" r:id="rId23"/>
    <p:sldId id="422" r:id="rId24"/>
    <p:sldId id="449" r:id="rId25"/>
    <p:sldId id="323" r:id="rId26"/>
    <p:sldId id="407" r:id="rId27"/>
    <p:sldId id="354" r:id="rId28"/>
    <p:sldId id="408" r:id="rId29"/>
    <p:sldId id="330" r:id="rId30"/>
    <p:sldId id="411" r:id="rId31"/>
    <p:sldId id="326" r:id="rId32"/>
    <p:sldId id="331" r:id="rId33"/>
    <p:sldId id="327" r:id="rId34"/>
    <p:sldId id="329" r:id="rId35"/>
    <p:sldId id="332" r:id="rId36"/>
    <p:sldId id="333" r:id="rId37"/>
    <p:sldId id="336" r:id="rId38"/>
    <p:sldId id="337" r:id="rId39"/>
    <p:sldId id="351" r:id="rId40"/>
    <p:sldId id="340" r:id="rId41"/>
    <p:sldId id="413" r:id="rId42"/>
    <p:sldId id="414" r:id="rId43"/>
    <p:sldId id="430" r:id="rId44"/>
    <p:sldId id="450" r:id="rId45"/>
    <p:sldId id="383" r:id="rId46"/>
    <p:sldId id="412" r:id="rId47"/>
    <p:sldId id="384" r:id="rId48"/>
    <p:sldId id="356" r:id="rId49"/>
    <p:sldId id="386" r:id="rId50"/>
    <p:sldId id="387" r:id="rId51"/>
    <p:sldId id="362" r:id="rId52"/>
    <p:sldId id="388" r:id="rId53"/>
    <p:sldId id="365" r:id="rId54"/>
    <p:sldId id="366" r:id="rId55"/>
    <p:sldId id="367" r:id="rId56"/>
    <p:sldId id="368" r:id="rId57"/>
    <p:sldId id="389" r:id="rId58"/>
    <p:sldId id="409" r:id="rId59"/>
    <p:sldId id="419" r:id="rId60"/>
    <p:sldId id="420" r:id="rId61"/>
    <p:sldId id="421" r:id="rId62"/>
    <p:sldId id="416" r:id="rId63"/>
    <p:sldId id="423" r:id="rId64"/>
    <p:sldId id="415" r:id="rId65"/>
    <p:sldId id="451" r:id="rId66"/>
    <p:sldId id="439" r:id="rId67"/>
    <p:sldId id="440" r:id="rId68"/>
    <p:sldId id="441" r:id="rId69"/>
    <p:sldId id="443" r:id="rId70"/>
    <p:sldId id="442" r:id="rId71"/>
    <p:sldId id="452" r:id="rId72"/>
    <p:sldId id="390" r:id="rId73"/>
    <p:sldId id="380" r:id="rId74"/>
    <p:sldId id="391" r:id="rId75"/>
    <p:sldId id="381" r:id="rId76"/>
    <p:sldId id="392" r:id="rId77"/>
    <p:sldId id="385" r:id="rId78"/>
    <p:sldId id="398" r:id="rId79"/>
    <p:sldId id="400" r:id="rId80"/>
    <p:sldId id="424" r:id="rId81"/>
    <p:sldId id="395" r:id="rId82"/>
    <p:sldId id="404" r:id="rId83"/>
    <p:sldId id="402" r:id="rId84"/>
    <p:sldId id="403" r:id="rId85"/>
    <p:sldId id="456" r:id="rId86"/>
    <p:sldId id="405" r:id="rId87"/>
    <p:sldId id="406" r:id="rId88"/>
    <p:sldId id="453" r:id="rId89"/>
    <p:sldId id="425" r:id="rId90"/>
    <p:sldId id="426" r:id="rId91"/>
    <p:sldId id="431" r:id="rId92"/>
    <p:sldId id="432" r:id="rId93"/>
    <p:sldId id="427" r:id="rId94"/>
    <p:sldId id="437" r:id="rId95"/>
    <p:sldId id="428" r:id="rId96"/>
    <p:sldId id="434" r:id="rId97"/>
    <p:sldId id="433" r:id="rId98"/>
    <p:sldId id="435" r:id="rId99"/>
    <p:sldId id="436" r:id="rId10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27210"/>
    <p:restoredTop sz="88481" autoAdjust="0"/>
  </p:normalViewPr>
  <p:slideViewPr>
    <p:cSldViewPr snapToGrid="0" snapToObjects="1">
      <p:cViewPr varScale="1">
        <p:scale>
          <a:sx n="90" d="100"/>
          <a:sy n="90" d="100"/>
        </p:scale>
        <p:origin x="1560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presProps" Target="presProp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0T15:33:24.7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24575,'9'0'0,"4"4"0,1 5 0,0 1 0,-1 3 0,-3 8 0,-1-9 0,1 8 0,-1-7 0,0 1 0,0 4 0,4 8 0,-3-5 0,-1 5 0,-1-12 0,-7 7 0,11-6 0,-6 7 0,3-8 0,-1 3 0,-3-3 0,12 12 0,-10-10 0,9 13 0,-15-14 0,3 3 0,0-5 0,-3-4 0,3 0 0,-4 0 0,0 0 0,9 4 0,-3-3 0,3 4 0,-5-6 0,0 1 0,1 0 0,5 12 0,-1-9 0,1 12 0,-5-14 0,-1 3 0,0-4 0,-3 0 0,7 0 0,-7 0 0,3 0 0,-4 0 0,0-8 0,4-6 0,1-5 0,0-8 0,-1 8 0,0-11 0,-3 10 0,3-11 0,-4 8 0,0 0 0,0 1 0,0 0 0,0 2 0,0-6 0,0 7 0,0-15 0,0 12 0,4-8 0,-3 24 0,3-1 0,-4 11 0,0-4 0,0 11 0,-8 0 0,6 3 0,-10-2 0,11-11 0,-3 7 0,4-7 0,-5 3 0,4-4 0,-3 4 0,4-3 0,0 3 0,0-4 0,-4 0 0,-5-4 0,-21-13 0,0-1 0,-6-8 0,-5 1 0,23 6 0,-27-8 0,27 12 0,-24-7 0,24 12 0,1-3 0,18 4 0,12 0 0,-3 0 0,3 0 0,-4 0 0,4 0 0,-7 0 0,2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0T15:33:31.2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30 24575,'27'0'0,"-6"0"0,-4 0 0,-7 0 0,8 0 0,3-5 0,-5 0 0,4-1 0,-7-3 0,-3 8 0,3-3 0,-4 4 0,4 0 0,-3 0 0,7 0 0,-3 0 0,0 0 0,-1 0 0,0 4 0,5-3 0,-2 3 0,5-4 0,-11 0 0,3 0 0,-4 4 0,-4 1 0,-7 16 0,-3-9 0,-5 8 0,5-7 0,1-3 0,0 7 0,3-3 0,-8 0 0,0 3 0,-1-7 0,1 3 0,1-4 0,7 0 0,-7 0 0,2 12 0,-4-9 0,0 8 0,1-11 0,4 0 0,-3 0 0,-2 4 0,0-3 0,-3 7 0,4-7 0,-4 7 0,7-7 0,-7 3 0,8-4 0,-4 0 0,4 4 0,-3-3 0,3 3 0,-4-4 0,8 0 0,2-4 0,19-1 0,-8-4 0,8 0 0,-11 0 0,4 0 0,-3 0 0,3 0 0,0 0 0,-3 0 0,3 0 0,-4 0 0,0 0 0,4 0 0,-3 0 0,3 0 0,-4 0 0,4 0 0,-2 0 0,2 0 0,-4 0 0,4 0 0,-3 0 0,3 0 0,-4 0 0,4 0 0,-3 0 0,3 0 0,-4 0 0,4 0 0,-3 0 0,-1 0 0,-5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0T15:33:35.1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46 24575,'13'-4'0,"1"3"0,0-3 0,4 0 0,-4-1 0,27 0 0,-21 1 0,25-4 0,-34 6 0,21-6 0,-15 8 0,12 0 0,-15 0 0,4 4 0,-8 1 0,3 4 0,-4 0 0,-8 4 0,2-3 0,-12 3 0,8-4 0,-7 0 0,7 0 0,-11 4 0,6-3 0,-7 3 0,8-4 0,-3 0 0,-2 4 0,0-3 0,-3 3 0,4-4 0,0-4 0,8-1 0,6-4 0,9 4 0,0-3 0,3 3 0,-7 0 0,3 1 0,-4 4 0,0 0 0,0 0 0,0 0 0,-4 0 0,-1 0 0,-4 0 0,5 11 0,-4-8 0,4 8 0,-9-11 0,-1-4 0,-4 3 0,0-3 0,0 0 0,0-1 0,-5 0 0,0-3 0,0 3 0,-3 0 0,2-3 0,1 3 0,1-4 0,4 0 0,-4 0 0,3 0 0,-4 0 0,5 0 0,-4 0 0,7 0 0,-2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0T15:33:47.4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332 1609 24575,'0'-19'0,"0"5"0,0 1 0,0-12 0,-4 8 0,3-24 0,-3 13 0,4 0 0,-8 4 0,6 2 0,-6-18 0,8 9 0,0-7 0,0 23 0,0-2 0,0 7 0,0-15 0,0 12 0,0-24 0,0 24 0,-4-25 0,3 26 0,-3-18 0,4 19 0,0-10 0,0 7 0,-4-5 0,3-6 0,-7 0 0,7-8 0,-15-20 0,13 24 0,-8-25 0,7 37 0,-1-13 0,0 15 0,1-7 0,4 12 0,0-3 0,0 4 0,-5-12 0,3 9 0,-11-24 0,11 22 0,-10-19 0,11 22 0,-7-15 0,7 15 0,-7-18 0,6 16 0,-6-16 0,3 14 0,0-8 0,-3 9 0,7-3 0,-3 7 0,4-15 0,-4 13 0,3-12 0,-3 9 0,-8-15 0,9 13 0,-14-13 0,16 16 0,-3-9 0,0 8 0,3-10 0,-3 14 0,0-7 0,3 9 0,-3 0 0,4 0 0,-4 0 0,-1 0 0,0-1 0,1 1 0,0 0 0,3 8 0,-3 2 0,-1 8 0,-1 11 0,1-8 0,-4 9 0,4-12 0,0 0 0,0 0 0,5 0 0,-4 0 0,-1 0 0,0 0 0,1 0 0,8-9 0,1-1 0,4-12 0,-4 3 0,3-7 0,-3 2 0,0 1 0,3 1 0,-3 4 0,4 0 0,-4 0 0,-1-1 0,0 1 0,1 0 0,4 4 0,0 1 0,4 12 0,-3-2 0,3 7 0,-4-4 0,0 0 0,-4 0 0,3 4 0,-7 1 0,3 0 0,0-1 0,-3-4 0,7 0 0,-3 0 0,0 0 0,3 0 0,-7-4 0,3-1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0T15:33:50.9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469 1 24575,'-5'9'0,"0"11"0,1-8 0,3 20 0,-3-20 0,-1 19 0,4-15 0,-4 6 0,1-9 0,-6-8 0,-6-17 0,-3-4 0,3-6 0,7 4 0,0 9 0,8 12 0,-7 3 0,7 33 0,-17 5 0,9 51 0,-7-43 0,7 25 0,8-69 0,-3 3 0,0-20 0,-1 0 0,-4 8 0,0 6 0,4 5 0,-4 3 0,4-8 0,-15-12 0,8-3 0,-12-31 0,6 13 0,8-8 0,-6 19 0,15 20 0,-4 10 0,5 15 0,0 3 0,0-9 0,-4-5 0,-1-12 0,-8-5 0,3-9 0,1-1 0,5 5 0,4 6 0,0 8 0,-4 0 0,-5-4 0,-2-1 0,-14-21 0,17 17 0,-8-11 0,16 20 0,0 8 0,0-6 0,0 6 0,0-8 0,-5 0 0,0-4 0,0-1 0,1-4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0T15:33:57.6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6 24575,'14'-5'0,"34"9"0,-1 5 0,44 10 0,-10 7 0,-21-10 0,-5-3 0,-6-3 0,-22-4 0,27-3 0,4 3 0,-12 9 0,24-3 0,5 4 0,-29 6 0,0 1 0,30-3 0,-3-2 0,-14 10 0,10-5 0,-46-10 0,21 22 0,-18-16 0,17 41 0,-30-38 0,19 50 0,-21-52 0,8 25 0,-14-34 0,-1 6 0,-4-4 0,0 5 0,0 1 0,0 7 0,0-7 0,0 15 0,-5-13 0,0 18 0,0-23 0,-8 20 0,3-19 0,-6 8 0,7-11 0,1-5 0,3 0 0,-8 4 0,2-3 0,-6 11 0,3-10 0,-4 10 0,-1-11 0,1 3 0,4-8 0,-12 11 0,14-9 0,-33 19 0,19-8 0,-22 5 0,25-10 0,-11 7 0,22-17 0,-9 13 0,7-15 0,4 7 0,-3-7 0,4 3 0,0 0 0,0 1 0,-1 0 0,-3 7 0,-1-6 0,-4 7 0,3-4 0,2 0 0,-8 12 0,9-9 0,-14 9 0,16-12 0,-7 4 0,7-7 0,-4 6 0,5-7 0,0 4 0,0 0 0,0 0 0,0-4 0,0-1 0,-1-4 0,-3 0 0,3 4 0,-3 1 0,4 0 0,0 3 0,-1-7 0,1 3 0,-4 4 0,3-2 0,-3 3 0,4-1 0,-1-3 0,1 0 0,4-1 0,1-4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0T15:34:35.9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B3C4F9-F37E-4225-8EDE-0041EBD1A368}" type="datetimeFigureOut">
              <a:rPr lang="en-US" smtClean="0"/>
              <a:pPr/>
              <a:t>3/10/25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CF8AD2-6882-4531-8560-2C8EEF2B5B2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6219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always knew how but it didn’t 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7694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4392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 success for deep NNs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6803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formula has a nice gradient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3931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0868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Info is transferred down</a:t>
            </a:r>
            <a:r>
              <a:rPr lang="en-US" baseline="0" dirty="0"/>
              <a:t> the chain, not just propagated</a:t>
            </a:r>
          </a:p>
          <a:p>
            <a:r>
              <a:rPr lang="en-US" baseline="0" dirty="0"/>
              <a:t>Decide when to insert </a:t>
            </a:r>
            <a:r>
              <a:rPr lang="en-US" baseline="0" dirty="0" err="1"/>
              <a:t>imformation</a:t>
            </a:r>
            <a:r>
              <a:rPr lang="en-US" baseline="0" dirty="0"/>
              <a:t> from input into the “backbone”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252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Info is transferred down</a:t>
            </a:r>
            <a:r>
              <a:rPr lang="en-US" baseline="0" dirty="0"/>
              <a:t> the chain, not just propagated</a:t>
            </a:r>
          </a:p>
          <a:p>
            <a:r>
              <a:rPr lang="en-US" baseline="0" dirty="0"/>
              <a:t>Decide when to insert </a:t>
            </a:r>
            <a:r>
              <a:rPr lang="en-US" baseline="0" dirty="0" err="1"/>
              <a:t>imformation</a:t>
            </a:r>
            <a:r>
              <a:rPr lang="en-US" baseline="0" dirty="0"/>
              <a:t> from input into the “backbone”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8018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 b="1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5801-B62B-1347-8D7D-E1D9FD950611}" type="datetimeFigureOut">
              <a:rPr lang="en-US" smtClean="0"/>
              <a:pPr/>
              <a:t>3/10/25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9400" y="292100"/>
            <a:ext cx="8648700" cy="804862"/>
          </a:xfrm>
        </p:spPr>
        <p:txBody>
          <a:bodyPr>
            <a:normAutofit/>
          </a:bodyPr>
          <a:lstStyle>
            <a:lvl1pPr algn="l">
              <a:defRPr sz="4000" b="1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9400" y="1257300"/>
            <a:ext cx="8648700" cy="5099050"/>
          </a:xfrm>
        </p:spPr>
        <p:txBody>
          <a:bodyPr/>
          <a:lstStyle>
            <a:lvl1pPr>
              <a:defRPr sz="3200"/>
            </a:lvl1pPr>
            <a:lvl2pPr>
              <a:defRPr sz="3200"/>
            </a:lvl2pPr>
            <a:lvl3pPr>
              <a:defRPr sz="28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04800" y="6445250"/>
            <a:ext cx="2133600" cy="365125"/>
          </a:xfrm>
        </p:spPr>
        <p:txBody>
          <a:bodyPr/>
          <a:lstStyle/>
          <a:p>
            <a:fld id="{4FC35801-B62B-1347-8D7D-E1D9FD950611}" type="datetimeFigureOut">
              <a:rPr lang="en-US" smtClean="0"/>
              <a:pPr/>
              <a:t>3/10/25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445250"/>
            <a:ext cx="28956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81800" y="6445250"/>
            <a:ext cx="2133600" cy="365125"/>
          </a:xfrm>
        </p:spPr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516187"/>
            <a:ext cx="7772400" cy="1362075"/>
          </a:xfrm>
        </p:spPr>
        <p:txBody>
          <a:bodyPr anchor="t">
            <a:normAutofit/>
          </a:bodyPr>
          <a:lstStyle>
            <a:lvl1pPr algn="ctr">
              <a:defRPr sz="3200" b="1" cap="all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1016000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5801-B62B-1347-8D7D-E1D9FD950611}" type="datetimeFigureOut">
              <a:rPr lang="en-US" smtClean="0"/>
              <a:pPr/>
              <a:t>3/10/25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b="1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5801-B62B-1347-8D7D-E1D9FD950611}" type="datetimeFigureOut">
              <a:rPr lang="en-US" smtClean="0"/>
              <a:pPr/>
              <a:t>3/10/25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22177"/>
          </a:xfrm>
        </p:spPr>
        <p:txBody>
          <a:bodyPr>
            <a:normAutofit/>
          </a:bodyPr>
          <a:lstStyle>
            <a:lvl1pPr>
              <a:defRPr sz="3600" b="1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33969"/>
            <a:ext cx="4040188" cy="639762"/>
          </a:xfrm>
        </p:spPr>
        <p:txBody>
          <a:bodyPr anchor="b"/>
          <a:lstStyle>
            <a:lvl1pPr marL="0" indent="0" algn="ctr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73731"/>
            <a:ext cx="4040188" cy="4551222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033969"/>
            <a:ext cx="4041775" cy="639762"/>
          </a:xfrm>
        </p:spPr>
        <p:txBody>
          <a:bodyPr anchor="b"/>
          <a:lstStyle>
            <a:lvl1pPr marL="0" indent="0" algn="ctr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673730"/>
            <a:ext cx="4041775" cy="4551223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5801-B62B-1347-8D7D-E1D9FD950611}" type="datetimeFigureOut">
              <a:rPr lang="en-US" smtClean="0"/>
              <a:pPr/>
              <a:t>3/10/25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06462"/>
          </a:xfrm>
        </p:spPr>
        <p:txBody>
          <a:bodyPr>
            <a:normAutofit/>
          </a:bodyPr>
          <a:lstStyle>
            <a:lvl1pPr>
              <a:defRPr sz="4000" b="1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5801-B62B-1347-8D7D-E1D9FD950611}" type="datetimeFigureOut">
              <a:rPr lang="en-US" smtClean="0"/>
              <a:pPr/>
              <a:t>3/10/25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5801-B62B-1347-8D7D-E1D9FD950611}" type="datetimeFigureOut">
              <a:rPr lang="en-US" smtClean="0"/>
              <a:pPr/>
              <a:t>3/10/25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5801-B62B-1347-8D7D-E1D9FD950611}" type="datetimeFigureOut">
              <a:rPr lang="en-US" smtClean="0"/>
              <a:pPr/>
              <a:t>3/10/25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5801-B62B-1347-8D7D-E1D9FD950611}" type="datetimeFigureOut">
              <a:rPr lang="en-US" smtClean="0"/>
              <a:pPr/>
              <a:t>3/10/25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5801-B62B-1347-8D7D-E1D9FD950611}" type="datetimeFigureOut">
              <a:rPr lang="en-US" smtClean="0"/>
              <a:pPr/>
              <a:t>3/10/25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5801-B62B-1347-8D7D-E1D9FD950611}" type="datetimeFigureOut">
              <a:rPr lang="en-US" smtClean="0"/>
              <a:pPr/>
              <a:t>3/10/25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C35801-B62B-1347-8D7D-E1D9FD950611}" type="datetimeFigureOut">
              <a:rPr lang="en-US" smtClean="0"/>
              <a:pPr/>
              <a:t>3/10/25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b="1" kern="1200">
          <a:solidFill>
            <a:srgbClr val="0070C0"/>
          </a:solidFill>
          <a:latin typeface="Cambria Math"/>
          <a:ea typeface="+mj-ea"/>
          <a:cs typeface="Cambria Math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1"/>
          </a:solidFill>
          <a:latin typeface="Cambria Math"/>
          <a:ea typeface="+mn-ea"/>
          <a:cs typeface="Cambria Math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Cambria Math"/>
          <a:ea typeface="+mn-ea"/>
          <a:cs typeface="Cambria Math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1"/>
          </a:solidFill>
          <a:latin typeface="Cambria Math"/>
          <a:ea typeface="+mn-ea"/>
          <a:cs typeface="Cambria Math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tx1"/>
          </a:solidFill>
          <a:latin typeface="Cambria Math"/>
          <a:ea typeface="+mn-ea"/>
          <a:cs typeface="Cambria Math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Cambria Math"/>
          <a:ea typeface="+mn-ea"/>
          <a:cs typeface="Cambria Math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em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neuralnetworksanddeeplearning.com/chap1.html#toward_deep_learning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21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hyperlink" Target="https://deeplizard.com/resource/pavq7noze2" TargetMode="Externa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27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emf"/><Relationship Id="rId3" Type="http://schemas.openxmlformats.org/officeDocument/2006/relationships/oleObject" Target="../embeddings/oleObject2.bin"/><Relationship Id="rId7" Type="http://schemas.openxmlformats.org/officeDocument/2006/relationships/oleObject" Target="../embeddings/oleObject4.bin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e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21.emf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e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13" Type="http://schemas.openxmlformats.org/officeDocument/2006/relationships/image" Target="../media/image51.png"/><Relationship Id="rId3" Type="http://schemas.openxmlformats.org/officeDocument/2006/relationships/image" Target="../media/image14.png"/><Relationship Id="rId7" Type="http://schemas.openxmlformats.org/officeDocument/2006/relationships/image" Target="../media/image48.png"/><Relationship Id="rId12" Type="http://schemas.openxmlformats.org/officeDocument/2006/relationships/customXml" Target="../ink/ink5.xml"/><Relationship Id="rId17" Type="http://schemas.openxmlformats.org/officeDocument/2006/relationships/image" Target="../media/image53.png"/><Relationship Id="rId2" Type="http://schemas.openxmlformats.org/officeDocument/2006/relationships/image" Target="../media/image46.png"/><Relationship Id="rId16" Type="http://schemas.openxmlformats.org/officeDocument/2006/relationships/customXml" Target="../ink/ink7.xml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2.xml"/><Relationship Id="rId11" Type="http://schemas.openxmlformats.org/officeDocument/2006/relationships/image" Target="../media/image50.png"/><Relationship Id="rId5" Type="http://schemas.openxmlformats.org/officeDocument/2006/relationships/image" Target="../media/image47.png"/><Relationship Id="rId15" Type="http://schemas.openxmlformats.org/officeDocument/2006/relationships/image" Target="../media/image52.png"/><Relationship Id="rId10" Type="http://schemas.openxmlformats.org/officeDocument/2006/relationships/customXml" Target="../ink/ink4.xml"/><Relationship Id="rId4" Type="http://schemas.openxmlformats.org/officeDocument/2006/relationships/customXml" Target="../ink/ink1.xml"/><Relationship Id="rId9" Type="http://schemas.openxmlformats.org/officeDocument/2006/relationships/image" Target="../media/image49.png"/><Relationship Id="rId14" Type="http://schemas.openxmlformats.org/officeDocument/2006/relationships/customXml" Target="../ink/ink6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6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hyperlink" Target="https://projector.tensorflow.org/" TargetMode="External"/><Relationship Id="rId1" Type="http://schemas.openxmlformats.org/officeDocument/2006/relationships/slideLayout" Target="../slideLayouts/slideLayout6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6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6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6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4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7" Type="http://schemas.openxmlformats.org/officeDocument/2006/relationships/image" Target="../media/image6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6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6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6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6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6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6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6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6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6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tiff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6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6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6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BAF07-0EE8-87BE-0557-A2CF8E2D82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10-605 / 10-405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31B411-7A6C-21B1-431C-1AE6C9C76C7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Machine Learning from Large Datasets</a:t>
            </a:r>
          </a:p>
        </p:txBody>
      </p:sp>
    </p:spTree>
    <p:extLst>
      <p:ext uri="{BB962C8B-B14F-4D97-AF65-F5344CB8AC3E}">
        <p14:creationId xmlns:p14="http://schemas.microsoft.com/office/powerpoint/2010/main" val="6854441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ransformer Neural Networks: A Step-by-Step Breakdown | Built In">
            <a:extLst>
              <a:ext uri="{FF2B5EF4-FFF2-40B4-BE49-F238E27FC236}">
                <a16:creationId xmlns:a16="http://schemas.microsoft.com/office/drawing/2014/main" id="{7168F3E8-F9B1-35A7-BE99-11BE13D0BF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3827" y="1264020"/>
            <a:ext cx="2159997" cy="311975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woPt" dir="t"/>
          </a:scene3d>
          <a:sp3d prstMaterial="metal">
            <a:bevelB prst="angle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3EFAE2F-793D-4E48-0E99-82C1732E1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Evolution of Transformers</a:t>
            </a:r>
          </a:p>
        </p:txBody>
      </p:sp>
      <p:pic>
        <p:nvPicPr>
          <p:cNvPr id="3" name="Picture 4" descr="ascent of man monkey trump Men's T-Shirt">
            <a:extLst>
              <a:ext uri="{FF2B5EF4-FFF2-40B4-BE49-F238E27FC236}">
                <a16:creationId xmlns:a16="http://schemas.microsoft.com/office/drawing/2014/main" id="{4E86C087-00A0-80B7-80A4-57802333D9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945" y="1812502"/>
            <a:ext cx="4341813" cy="4341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Transformers Studio Series Deluxe Transformers: One 112 Optimus Prime 4.5”  Action Figure, 8+">
            <a:extLst>
              <a:ext uri="{FF2B5EF4-FFF2-40B4-BE49-F238E27FC236}">
                <a16:creationId xmlns:a16="http://schemas.microsoft.com/office/drawing/2014/main" id="{D806E724-CB46-65C0-56AF-ADF4E2744E6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79" r="16166"/>
          <a:stretch/>
        </p:blipFill>
        <p:spPr bwMode="auto">
          <a:xfrm>
            <a:off x="4593540" y="1364373"/>
            <a:ext cx="3150286" cy="4684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40057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A59A4-AD2A-58C6-9FCD-BC9393B8C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Goals of next lectures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61B7A0-AC48-E30B-7E0D-321801FC9F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Describe modern LLM architectures in detail</a:t>
            </a:r>
          </a:p>
          <a:p>
            <a:pPr lvl="1"/>
            <a:r>
              <a:rPr lang="en-US" dirty="0"/>
              <a:t>“What” is relatively easy</a:t>
            </a:r>
          </a:p>
          <a:p>
            <a:pPr lvl="1"/>
            <a:r>
              <a:rPr lang="en-US" dirty="0"/>
              <a:t>“Why” is a harder</a:t>
            </a:r>
          </a:p>
          <a:p>
            <a:r>
              <a:rPr lang="en-US" dirty="0"/>
              <a:t>There is both a science and an “art” to designing deep networks</a:t>
            </a:r>
          </a:p>
          <a:p>
            <a:pPr lvl="1"/>
            <a:r>
              <a:rPr lang="en-US" dirty="0"/>
              <a:t>A lot of borrowing/adapting ideas that work elsewhere</a:t>
            </a:r>
          </a:p>
          <a:p>
            <a:pPr lvl="1"/>
            <a:r>
              <a:rPr lang="en-US" dirty="0"/>
              <a:t>More evolution than design?</a:t>
            </a:r>
          </a:p>
        </p:txBody>
      </p:sp>
    </p:spTree>
    <p:extLst>
      <p:ext uri="{BB962C8B-B14F-4D97-AF65-F5344CB8AC3E}">
        <p14:creationId xmlns:p14="http://schemas.microsoft.com/office/powerpoint/2010/main" val="39150475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868D50-647C-0B7D-5668-BE227FCF02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6C222-E876-CA38-422E-BE5239617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Early History of Artificial Neural Networks (ANNs)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270FC4-B7E4-793A-E071-B04A942590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1940s-60’s:</a:t>
            </a:r>
          </a:p>
          <a:p>
            <a:pPr lvl="1"/>
            <a:r>
              <a:rPr lang="en-US" dirty="0"/>
              <a:t>McCulloch &amp; Pitts; Hebb: modeling real neurons</a:t>
            </a:r>
          </a:p>
          <a:p>
            <a:pPr lvl="1"/>
            <a:r>
              <a:rPr lang="en-US" dirty="0"/>
              <a:t>Rosenblatt, </a:t>
            </a:r>
            <a:r>
              <a:rPr lang="en-US" dirty="0" err="1"/>
              <a:t>Widrow</a:t>
            </a:r>
            <a:r>
              <a:rPr lang="en-US" dirty="0"/>
              <a:t>-Hoff: : </a:t>
            </a:r>
            <a:r>
              <a:rPr lang="en-US" dirty="0" err="1"/>
              <a:t>perceptrons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1969: </a:t>
            </a:r>
            <a:r>
              <a:rPr lang="en-US" dirty="0" err="1"/>
              <a:t>Minskey</a:t>
            </a:r>
            <a:r>
              <a:rPr lang="en-US" dirty="0"/>
              <a:t> &amp; </a:t>
            </a:r>
            <a:r>
              <a:rPr lang="en-US" dirty="0" err="1"/>
              <a:t>Papert</a:t>
            </a:r>
            <a:r>
              <a:rPr lang="en-US" dirty="0"/>
              <a:t>, </a:t>
            </a:r>
            <a:r>
              <a:rPr lang="en-US" i="1" dirty="0" err="1"/>
              <a:t>Perceptrons</a:t>
            </a:r>
            <a:r>
              <a:rPr lang="en-US" dirty="0"/>
              <a:t> book showed formal limitations of one-layer linear network</a:t>
            </a:r>
          </a:p>
          <a:p>
            <a:r>
              <a:rPr lang="en-US" dirty="0"/>
              <a:t>mid-1980’s – mid-1990’s:</a:t>
            </a:r>
          </a:p>
          <a:p>
            <a:pPr lvl="1"/>
            <a:r>
              <a:rPr lang="en-US" dirty="0"/>
              <a:t>backprop and multi-layer networks</a:t>
            </a:r>
          </a:p>
          <a:p>
            <a:pPr lvl="1"/>
            <a:r>
              <a:rPr lang="en-US" dirty="0" err="1"/>
              <a:t>Sejnowski’s</a:t>
            </a:r>
            <a:r>
              <a:rPr lang="en-US" dirty="0"/>
              <a:t> </a:t>
            </a:r>
            <a:r>
              <a:rPr lang="en-US" dirty="0" err="1"/>
              <a:t>NETTalk</a:t>
            </a:r>
            <a:r>
              <a:rPr lang="en-US" dirty="0"/>
              <a:t>, Backprop-based text-to-speech</a:t>
            </a:r>
          </a:p>
          <a:p>
            <a:pPr lvl="1"/>
            <a:r>
              <a:rPr lang="en-US" dirty="0" err="1"/>
              <a:t>Rumelhart</a:t>
            </a:r>
            <a:r>
              <a:rPr lang="en-US" dirty="0"/>
              <a:t> and McClelland </a:t>
            </a:r>
            <a:r>
              <a:rPr lang="en-US" i="1" dirty="0"/>
              <a:t>PDP</a:t>
            </a:r>
            <a:r>
              <a:rPr lang="en-US" dirty="0"/>
              <a:t> book set</a:t>
            </a:r>
          </a:p>
          <a:p>
            <a:pPr lvl="1"/>
            <a:r>
              <a:rPr lang="en-US" dirty="0"/>
              <a:t>Neural Info Processing Systems (NIPS) conference starts</a:t>
            </a:r>
          </a:p>
          <a:p>
            <a:r>
              <a:rPr lang="en-US" dirty="0"/>
              <a:t>Deep networks were always interesting in </a:t>
            </a:r>
            <a:r>
              <a:rPr lang="en-US" b="1" dirty="0"/>
              <a:t>theory</a:t>
            </a:r>
            <a:r>
              <a:rPr lang="en-US" dirty="0"/>
              <a:t>, not so much in </a:t>
            </a:r>
            <a:r>
              <a:rPr lang="en-US" b="1" dirty="0"/>
              <a:t>practice</a:t>
            </a:r>
          </a:p>
          <a:p>
            <a:pPr lvl="1"/>
            <a:r>
              <a:rPr lang="en-US" dirty="0"/>
              <a:t>Why?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98838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Picture 36" descr="Screen shot 2014-09-21 at 2.51.53 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7276" y="5616687"/>
            <a:ext cx="3080824" cy="112871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Multilayer ANNs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9400" y="1257301"/>
            <a:ext cx="8536069" cy="1790699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Simplest case: classifier defined by a multilayer </a:t>
            </a:r>
            <a:r>
              <a:rPr lang="en-US" i="1" dirty="0"/>
              <a:t>network </a:t>
            </a:r>
            <a:r>
              <a:rPr lang="en-US" dirty="0"/>
              <a:t>of </a:t>
            </a:r>
            <a:r>
              <a:rPr lang="en-US" i="1" dirty="0"/>
              <a:t>logistic </a:t>
            </a:r>
            <a:r>
              <a:rPr lang="en-US" dirty="0"/>
              <a:t>classifiers (</a:t>
            </a:r>
            <a:r>
              <a:rPr lang="en-US" i="1" dirty="0"/>
              <a:t>units)</a:t>
            </a:r>
          </a:p>
          <a:p>
            <a:r>
              <a:rPr lang="en-US" dirty="0"/>
              <a:t>Each </a:t>
            </a:r>
            <a:r>
              <a:rPr lang="en-US" i="1" dirty="0"/>
              <a:t>unit </a:t>
            </a:r>
            <a:r>
              <a:rPr lang="en-US" dirty="0"/>
              <a:t>takes some inputs and produces one output using a logistic classifier </a:t>
            </a:r>
          </a:p>
          <a:p>
            <a:r>
              <a:rPr lang="en-US" dirty="0"/>
              <a:t>Output of one unit can be the input of another</a:t>
            </a:r>
          </a:p>
        </p:txBody>
      </p:sp>
      <p:grpSp>
        <p:nvGrpSpPr>
          <p:cNvPr id="38" name="Group 37"/>
          <p:cNvGrpSpPr/>
          <p:nvPr/>
        </p:nvGrpSpPr>
        <p:grpSpPr>
          <a:xfrm>
            <a:off x="789635" y="3255842"/>
            <a:ext cx="7408375" cy="3300493"/>
            <a:chOff x="457200" y="3124200"/>
            <a:chExt cx="7924800" cy="3352800"/>
          </a:xfrm>
        </p:grpSpPr>
        <p:sp>
          <p:nvSpPr>
            <p:cNvPr id="39" name="Text Box 4"/>
            <p:cNvSpPr txBox="1">
              <a:spLocks noChangeArrowheads="1"/>
            </p:cNvSpPr>
            <p:nvPr/>
          </p:nvSpPr>
          <p:spPr bwMode="auto">
            <a:xfrm>
              <a:off x="457200" y="3124200"/>
              <a:ext cx="1752600" cy="844167"/>
            </a:xfrm>
            <a:prstGeom prst="rect">
              <a:avLst/>
            </a:prstGeom>
            <a:solidFill>
              <a:srgbClr val="CCFFFF"/>
            </a:solidFill>
            <a:ln w="9525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>
                  <a:solidFill>
                    <a:srgbClr val="FF3300"/>
                  </a:solidFill>
                  <a:latin typeface="Book Antiqua"/>
                </a:rPr>
                <a:t>Input layer</a:t>
              </a:r>
            </a:p>
          </p:txBody>
        </p:sp>
        <p:sp>
          <p:nvSpPr>
            <p:cNvPr id="40" name="Text Box 4"/>
            <p:cNvSpPr txBox="1">
              <a:spLocks noChangeArrowheads="1"/>
            </p:cNvSpPr>
            <p:nvPr/>
          </p:nvSpPr>
          <p:spPr bwMode="auto">
            <a:xfrm>
              <a:off x="6324600" y="3124200"/>
              <a:ext cx="1981200" cy="844167"/>
            </a:xfrm>
            <a:prstGeom prst="rect">
              <a:avLst/>
            </a:prstGeom>
            <a:solidFill>
              <a:srgbClr val="CCFFFF"/>
            </a:solidFill>
            <a:ln w="9525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>
                  <a:solidFill>
                    <a:srgbClr val="FF3300"/>
                  </a:solidFill>
                  <a:latin typeface="Book Antiqua"/>
                </a:rPr>
                <a:t>Output layer</a:t>
              </a:r>
            </a:p>
          </p:txBody>
        </p:sp>
        <p:sp>
          <p:nvSpPr>
            <p:cNvPr id="41" name="Text Box 4"/>
            <p:cNvSpPr txBox="1">
              <a:spLocks noChangeArrowheads="1"/>
            </p:cNvSpPr>
            <p:nvPr/>
          </p:nvSpPr>
          <p:spPr bwMode="auto">
            <a:xfrm>
              <a:off x="3276600" y="3124200"/>
              <a:ext cx="1905000" cy="844167"/>
            </a:xfrm>
            <a:prstGeom prst="rect">
              <a:avLst/>
            </a:prstGeom>
            <a:solidFill>
              <a:srgbClr val="CCFFFF"/>
            </a:solidFill>
            <a:ln w="9525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>
                  <a:solidFill>
                    <a:srgbClr val="FF3300"/>
                  </a:solidFill>
                  <a:latin typeface="Book Antiqua"/>
                </a:rPr>
                <a:t>Hidden layer</a:t>
              </a:r>
            </a:p>
          </p:txBody>
        </p:sp>
        <p:sp>
          <p:nvSpPr>
            <p:cNvPr id="42" name="Oval 4"/>
            <p:cNvSpPr>
              <a:spLocks noChangeArrowheads="1"/>
            </p:cNvSpPr>
            <p:nvPr/>
          </p:nvSpPr>
          <p:spPr bwMode="auto">
            <a:xfrm>
              <a:off x="3810000" y="4038600"/>
              <a:ext cx="1371600" cy="10668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  <a:latin typeface="Book Antiqua"/>
              </a:endParaRPr>
            </a:p>
          </p:txBody>
        </p:sp>
        <p:sp>
          <p:nvSpPr>
            <p:cNvPr id="43" name="Line 5"/>
            <p:cNvSpPr>
              <a:spLocks noChangeShapeType="1"/>
            </p:cNvSpPr>
            <p:nvPr/>
          </p:nvSpPr>
          <p:spPr bwMode="auto">
            <a:xfrm flipV="1">
              <a:off x="2209800" y="4953000"/>
              <a:ext cx="1676400" cy="990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  <a:latin typeface="Book Antiqua"/>
              </a:endParaRPr>
            </a:p>
          </p:txBody>
        </p:sp>
        <p:sp>
          <p:nvSpPr>
            <p:cNvPr id="44" name="Line 6"/>
            <p:cNvSpPr>
              <a:spLocks noChangeShapeType="1"/>
            </p:cNvSpPr>
            <p:nvPr/>
          </p:nvSpPr>
          <p:spPr bwMode="auto">
            <a:xfrm flipV="1">
              <a:off x="2133600" y="4724400"/>
              <a:ext cx="167640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  <a:latin typeface="Book Antiqua"/>
              </a:endParaRPr>
            </a:p>
          </p:txBody>
        </p:sp>
        <p:sp>
          <p:nvSpPr>
            <p:cNvPr id="45" name="Line 7"/>
            <p:cNvSpPr>
              <a:spLocks noChangeShapeType="1"/>
            </p:cNvSpPr>
            <p:nvPr/>
          </p:nvSpPr>
          <p:spPr bwMode="auto">
            <a:xfrm>
              <a:off x="2133600" y="4419600"/>
              <a:ext cx="1676400" cy="76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  <a:latin typeface="Book Antiqua"/>
              </a:endParaRPr>
            </a:p>
          </p:txBody>
        </p:sp>
        <p:sp>
          <p:nvSpPr>
            <p:cNvPr id="46" name="Text Box 8"/>
            <p:cNvSpPr txBox="1">
              <a:spLocks noChangeArrowheads="1"/>
            </p:cNvSpPr>
            <p:nvPr/>
          </p:nvSpPr>
          <p:spPr bwMode="auto">
            <a:xfrm>
              <a:off x="3886200" y="4419600"/>
              <a:ext cx="2438400" cy="3751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dirty="0">
                  <a:solidFill>
                    <a:prstClr val="black"/>
                  </a:solidFill>
                  <a:latin typeface="Book Antiqua"/>
                </a:rPr>
                <a:t>v</a:t>
              </a:r>
              <a:r>
                <a:rPr lang="en-US" baseline="30000" dirty="0">
                  <a:solidFill>
                    <a:prstClr val="black"/>
                  </a:solidFill>
                  <a:latin typeface="Book Antiqua"/>
                </a:rPr>
                <a:t>1</a:t>
              </a:r>
              <a:r>
                <a:rPr lang="en-US" dirty="0">
                  <a:solidFill>
                    <a:prstClr val="black"/>
                  </a:solidFill>
                  <a:latin typeface="Book Antiqua"/>
                </a:rPr>
                <a:t>=</a:t>
              </a:r>
              <a:r>
                <a:rPr lang="en-US" dirty="0" err="1">
                  <a:solidFill>
                    <a:prstClr val="black"/>
                  </a:solidFill>
                  <a:latin typeface="Book Antiqua"/>
                </a:rPr>
                <a:t>S(</a:t>
              </a:r>
              <a:r>
                <a:rPr lang="en-US" b="1" dirty="0" err="1">
                  <a:solidFill>
                    <a:prstClr val="black"/>
                  </a:solidFill>
                  <a:latin typeface="Book Antiqua"/>
                </a:rPr>
                <a:t>w</a:t>
              </a:r>
              <a:r>
                <a:rPr lang="en-US" baseline="30000" dirty="0" err="1">
                  <a:solidFill>
                    <a:prstClr val="black"/>
                  </a:solidFill>
                  <a:latin typeface="Book Antiqua"/>
                </a:rPr>
                <a:t>T</a:t>
              </a:r>
              <a:r>
                <a:rPr lang="en-US" b="1" dirty="0" err="1">
                  <a:solidFill>
                    <a:prstClr val="black"/>
                  </a:solidFill>
                  <a:latin typeface="Book Antiqua"/>
                </a:rPr>
                <a:t>X</a:t>
              </a:r>
              <a:r>
                <a:rPr lang="en-US" dirty="0">
                  <a:solidFill>
                    <a:prstClr val="black"/>
                  </a:solidFill>
                  <a:latin typeface="Book Antiqua"/>
                </a:rPr>
                <a:t>)</a:t>
              </a:r>
            </a:p>
          </p:txBody>
        </p:sp>
        <p:sp>
          <p:nvSpPr>
            <p:cNvPr id="47" name="Text Box 9"/>
            <p:cNvSpPr txBox="1">
              <a:spLocks noChangeArrowheads="1"/>
            </p:cNvSpPr>
            <p:nvPr/>
          </p:nvSpPr>
          <p:spPr bwMode="auto">
            <a:xfrm>
              <a:off x="3124200" y="4191000"/>
              <a:ext cx="609600" cy="3439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>
                  <a:solidFill>
                    <a:prstClr val="black"/>
                  </a:solidFill>
                  <a:latin typeface="Book Antiqua"/>
                </a:rPr>
                <a:t>w</a:t>
              </a:r>
              <a:r>
                <a:rPr lang="en-US" sz="1600" baseline="30000">
                  <a:solidFill>
                    <a:prstClr val="black"/>
                  </a:solidFill>
                  <a:latin typeface="Book Antiqua"/>
                </a:rPr>
                <a:t>0,1</a:t>
              </a:r>
            </a:p>
          </p:txBody>
        </p:sp>
        <p:sp>
          <p:nvSpPr>
            <p:cNvPr id="48" name="Text Box 10"/>
            <p:cNvSpPr txBox="1">
              <a:spLocks noChangeArrowheads="1"/>
            </p:cNvSpPr>
            <p:nvPr/>
          </p:nvSpPr>
          <p:spPr bwMode="auto">
            <a:xfrm>
              <a:off x="1752600" y="4953000"/>
              <a:ext cx="457200" cy="3439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>
                  <a:solidFill>
                    <a:prstClr val="black"/>
                  </a:solidFill>
                  <a:latin typeface="Book Antiqua"/>
                </a:rPr>
                <a:t>x</a:t>
              </a:r>
              <a:r>
                <a:rPr lang="en-US" sz="1600" baseline="30000">
                  <a:solidFill>
                    <a:prstClr val="black"/>
                  </a:solidFill>
                  <a:latin typeface="Book Antiqua"/>
                </a:rPr>
                <a:t>1</a:t>
              </a:r>
            </a:p>
          </p:txBody>
        </p:sp>
        <p:sp>
          <p:nvSpPr>
            <p:cNvPr id="49" name="Oval 11"/>
            <p:cNvSpPr>
              <a:spLocks noChangeArrowheads="1"/>
            </p:cNvSpPr>
            <p:nvPr/>
          </p:nvSpPr>
          <p:spPr bwMode="auto">
            <a:xfrm>
              <a:off x="1752600" y="4953000"/>
              <a:ext cx="381000" cy="3810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  <a:latin typeface="Book Antiqua"/>
              </a:endParaRPr>
            </a:p>
          </p:txBody>
        </p:sp>
        <p:sp>
          <p:nvSpPr>
            <p:cNvPr id="50" name="Text Box 12"/>
            <p:cNvSpPr txBox="1">
              <a:spLocks noChangeArrowheads="1"/>
            </p:cNvSpPr>
            <p:nvPr/>
          </p:nvSpPr>
          <p:spPr bwMode="auto">
            <a:xfrm>
              <a:off x="1828800" y="5791199"/>
              <a:ext cx="533400" cy="3439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>
                  <a:solidFill>
                    <a:prstClr val="black"/>
                  </a:solidFill>
                  <a:latin typeface="Book Antiqua"/>
                </a:rPr>
                <a:t>x</a:t>
              </a:r>
              <a:r>
                <a:rPr lang="en-US" sz="1600" baseline="30000">
                  <a:solidFill>
                    <a:prstClr val="black"/>
                  </a:solidFill>
                  <a:latin typeface="Book Antiqua"/>
                </a:rPr>
                <a:t>2</a:t>
              </a:r>
            </a:p>
          </p:txBody>
        </p:sp>
        <p:sp>
          <p:nvSpPr>
            <p:cNvPr id="51" name="Oval 13"/>
            <p:cNvSpPr>
              <a:spLocks noChangeArrowheads="1"/>
            </p:cNvSpPr>
            <p:nvPr/>
          </p:nvSpPr>
          <p:spPr bwMode="auto">
            <a:xfrm>
              <a:off x="1752600" y="5791200"/>
              <a:ext cx="457200" cy="3810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  <a:latin typeface="Book Antiqua"/>
              </a:endParaRPr>
            </a:p>
          </p:txBody>
        </p:sp>
        <p:sp>
          <p:nvSpPr>
            <p:cNvPr id="52" name="Text Box 14"/>
            <p:cNvSpPr txBox="1">
              <a:spLocks noChangeArrowheads="1"/>
            </p:cNvSpPr>
            <p:nvPr/>
          </p:nvSpPr>
          <p:spPr bwMode="auto">
            <a:xfrm>
              <a:off x="1752600" y="4191000"/>
              <a:ext cx="533400" cy="3439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>
                  <a:solidFill>
                    <a:prstClr val="black"/>
                  </a:solidFill>
                  <a:latin typeface="Book Antiqua"/>
                </a:rPr>
                <a:t>1</a:t>
              </a:r>
              <a:endParaRPr lang="en-US" sz="1600" baseline="-25000">
                <a:solidFill>
                  <a:prstClr val="black"/>
                </a:solidFill>
                <a:latin typeface="Book Antiqua"/>
              </a:endParaRPr>
            </a:p>
          </p:txBody>
        </p:sp>
        <p:sp>
          <p:nvSpPr>
            <p:cNvPr id="53" name="Oval 15"/>
            <p:cNvSpPr>
              <a:spLocks noChangeArrowheads="1"/>
            </p:cNvSpPr>
            <p:nvPr/>
          </p:nvSpPr>
          <p:spPr bwMode="auto">
            <a:xfrm>
              <a:off x="1752600" y="4191000"/>
              <a:ext cx="381000" cy="3810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  <a:latin typeface="Book Antiqua"/>
              </a:endParaRPr>
            </a:p>
          </p:txBody>
        </p:sp>
        <p:sp>
          <p:nvSpPr>
            <p:cNvPr id="54" name="Oval 16"/>
            <p:cNvSpPr>
              <a:spLocks noChangeArrowheads="1"/>
            </p:cNvSpPr>
            <p:nvPr/>
          </p:nvSpPr>
          <p:spPr bwMode="auto">
            <a:xfrm>
              <a:off x="3810000" y="5410200"/>
              <a:ext cx="1371600" cy="10668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  <a:latin typeface="Book Antiqua"/>
              </a:endParaRPr>
            </a:p>
          </p:txBody>
        </p:sp>
        <p:sp>
          <p:nvSpPr>
            <p:cNvPr id="55" name="Text Box 17"/>
            <p:cNvSpPr txBox="1">
              <a:spLocks noChangeArrowheads="1"/>
            </p:cNvSpPr>
            <p:nvPr/>
          </p:nvSpPr>
          <p:spPr bwMode="auto">
            <a:xfrm>
              <a:off x="3886200" y="5791199"/>
              <a:ext cx="1371600" cy="3751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dirty="0">
                  <a:solidFill>
                    <a:prstClr val="black"/>
                  </a:solidFill>
                  <a:latin typeface="Book Antiqua"/>
                </a:rPr>
                <a:t>v</a:t>
              </a:r>
              <a:r>
                <a:rPr lang="en-US" baseline="30000" dirty="0">
                  <a:solidFill>
                    <a:prstClr val="black"/>
                  </a:solidFill>
                  <a:latin typeface="Book Antiqua"/>
                </a:rPr>
                <a:t>2</a:t>
              </a:r>
              <a:r>
                <a:rPr lang="en-US" dirty="0">
                  <a:solidFill>
                    <a:prstClr val="black"/>
                  </a:solidFill>
                  <a:latin typeface="Book Antiqua"/>
                </a:rPr>
                <a:t>=</a:t>
              </a:r>
              <a:r>
                <a:rPr lang="en-US" dirty="0" err="1">
                  <a:solidFill>
                    <a:prstClr val="black"/>
                  </a:solidFill>
                  <a:latin typeface="Book Antiqua"/>
                </a:rPr>
                <a:t>S(</a:t>
              </a:r>
              <a:r>
                <a:rPr lang="en-US" b="1" dirty="0" err="1">
                  <a:solidFill>
                    <a:prstClr val="black"/>
                  </a:solidFill>
                  <a:latin typeface="Book Antiqua"/>
                </a:rPr>
                <a:t>w</a:t>
              </a:r>
              <a:r>
                <a:rPr lang="en-US" baseline="30000" dirty="0" err="1">
                  <a:solidFill>
                    <a:prstClr val="black"/>
                  </a:solidFill>
                  <a:latin typeface="Book Antiqua"/>
                </a:rPr>
                <a:t>T</a:t>
              </a:r>
              <a:r>
                <a:rPr lang="en-US" b="1" dirty="0" err="1">
                  <a:solidFill>
                    <a:prstClr val="black"/>
                  </a:solidFill>
                  <a:latin typeface="Book Antiqua"/>
                </a:rPr>
                <a:t>X</a:t>
              </a:r>
              <a:r>
                <a:rPr lang="en-US" dirty="0">
                  <a:solidFill>
                    <a:prstClr val="black"/>
                  </a:solidFill>
                  <a:latin typeface="Book Antiqua"/>
                </a:rPr>
                <a:t>)</a:t>
              </a:r>
            </a:p>
          </p:txBody>
        </p:sp>
        <p:sp>
          <p:nvSpPr>
            <p:cNvPr id="56" name="Oval 18"/>
            <p:cNvSpPr>
              <a:spLocks noChangeArrowheads="1"/>
            </p:cNvSpPr>
            <p:nvPr/>
          </p:nvSpPr>
          <p:spPr bwMode="auto">
            <a:xfrm>
              <a:off x="6934200" y="4648200"/>
              <a:ext cx="1371600" cy="10668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  <a:latin typeface="Book Antiqua"/>
              </a:endParaRPr>
            </a:p>
          </p:txBody>
        </p:sp>
        <p:sp>
          <p:nvSpPr>
            <p:cNvPr id="57" name="Text Box 19"/>
            <p:cNvSpPr txBox="1">
              <a:spLocks noChangeArrowheads="1"/>
            </p:cNvSpPr>
            <p:nvPr/>
          </p:nvSpPr>
          <p:spPr bwMode="auto">
            <a:xfrm>
              <a:off x="7010400" y="5029200"/>
              <a:ext cx="1371600" cy="3751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dirty="0">
                  <a:solidFill>
                    <a:prstClr val="black"/>
                  </a:solidFill>
                  <a:latin typeface="Book Antiqua"/>
                </a:rPr>
                <a:t>z</a:t>
              </a:r>
              <a:r>
                <a:rPr lang="en-US" baseline="30000" dirty="0">
                  <a:solidFill>
                    <a:prstClr val="black"/>
                  </a:solidFill>
                  <a:latin typeface="Book Antiqua"/>
                </a:rPr>
                <a:t>1</a:t>
              </a:r>
              <a:r>
                <a:rPr lang="en-US" dirty="0">
                  <a:solidFill>
                    <a:prstClr val="black"/>
                  </a:solidFill>
                  <a:latin typeface="Book Antiqua"/>
                </a:rPr>
                <a:t>=</a:t>
              </a:r>
              <a:r>
                <a:rPr lang="en-US" dirty="0" err="1">
                  <a:solidFill>
                    <a:prstClr val="black"/>
                  </a:solidFill>
                  <a:latin typeface="Book Antiqua"/>
                </a:rPr>
                <a:t>S(</a:t>
              </a:r>
              <a:r>
                <a:rPr lang="en-US" b="1" dirty="0" err="1">
                  <a:solidFill>
                    <a:prstClr val="black"/>
                  </a:solidFill>
                  <a:latin typeface="Book Antiqua"/>
                </a:rPr>
                <a:t>w</a:t>
              </a:r>
              <a:r>
                <a:rPr lang="en-US" baseline="30000" dirty="0" err="1">
                  <a:solidFill>
                    <a:prstClr val="black"/>
                  </a:solidFill>
                  <a:latin typeface="Book Antiqua"/>
                </a:rPr>
                <a:t>T</a:t>
              </a:r>
              <a:r>
                <a:rPr lang="en-US" b="1" dirty="0" err="1">
                  <a:solidFill>
                    <a:prstClr val="black"/>
                  </a:solidFill>
                  <a:latin typeface="Book Antiqua"/>
                </a:rPr>
                <a:t>V</a:t>
              </a:r>
              <a:r>
                <a:rPr lang="en-US" dirty="0">
                  <a:solidFill>
                    <a:prstClr val="black"/>
                  </a:solidFill>
                  <a:latin typeface="Book Antiqua"/>
                </a:rPr>
                <a:t>)</a:t>
              </a:r>
            </a:p>
          </p:txBody>
        </p:sp>
        <p:sp>
          <p:nvSpPr>
            <p:cNvPr id="58" name="Line 20"/>
            <p:cNvSpPr>
              <a:spLocks noChangeShapeType="1"/>
            </p:cNvSpPr>
            <p:nvPr/>
          </p:nvSpPr>
          <p:spPr bwMode="auto">
            <a:xfrm>
              <a:off x="2133600" y="4495800"/>
              <a:ext cx="1828800" cy="1143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  <a:latin typeface="Book Antiqua"/>
              </a:endParaRPr>
            </a:p>
          </p:txBody>
        </p:sp>
        <p:sp>
          <p:nvSpPr>
            <p:cNvPr id="59" name="Line 21"/>
            <p:cNvSpPr>
              <a:spLocks noChangeShapeType="1"/>
            </p:cNvSpPr>
            <p:nvPr/>
          </p:nvSpPr>
          <p:spPr bwMode="auto">
            <a:xfrm>
              <a:off x="2133600" y="5181600"/>
              <a:ext cx="1752600" cy="609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  <a:latin typeface="Book Antiqua"/>
              </a:endParaRPr>
            </a:p>
          </p:txBody>
        </p:sp>
        <p:sp>
          <p:nvSpPr>
            <p:cNvPr id="60" name="Line 22"/>
            <p:cNvSpPr>
              <a:spLocks noChangeShapeType="1"/>
            </p:cNvSpPr>
            <p:nvPr/>
          </p:nvSpPr>
          <p:spPr bwMode="auto">
            <a:xfrm>
              <a:off x="2209800" y="6019800"/>
              <a:ext cx="1600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  <a:latin typeface="Book Antiqua"/>
              </a:endParaRPr>
            </a:p>
          </p:txBody>
        </p:sp>
        <p:sp>
          <p:nvSpPr>
            <p:cNvPr id="61" name="Text Box 23"/>
            <p:cNvSpPr txBox="1">
              <a:spLocks noChangeArrowheads="1"/>
            </p:cNvSpPr>
            <p:nvPr/>
          </p:nvSpPr>
          <p:spPr bwMode="auto">
            <a:xfrm>
              <a:off x="3124200" y="4495800"/>
              <a:ext cx="609600" cy="3439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>
                  <a:solidFill>
                    <a:prstClr val="black"/>
                  </a:solidFill>
                  <a:latin typeface="Book Antiqua"/>
                </a:rPr>
                <a:t>w</a:t>
              </a:r>
              <a:r>
                <a:rPr lang="en-US" sz="1600" baseline="30000">
                  <a:solidFill>
                    <a:prstClr val="black"/>
                  </a:solidFill>
                  <a:latin typeface="Book Antiqua"/>
                </a:rPr>
                <a:t>1,1</a:t>
              </a:r>
            </a:p>
          </p:txBody>
        </p:sp>
        <p:sp>
          <p:nvSpPr>
            <p:cNvPr id="62" name="Text Box 24"/>
            <p:cNvSpPr txBox="1">
              <a:spLocks noChangeArrowheads="1"/>
            </p:cNvSpPr>
            <p:nvPr/>
          </p:nvSpPr>
          <p:spPr bwMode="auto">
            <a:xfrm>
              <a:off x="3276600" y="4800599"/>
              <a:ext cx="609600" cy="3439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>
                  <a:solidFill>
                    <a:prstClr val="black"/>
                  </a:solidFill>
                  <a:latin typeface="Book Antiqua"/>
                </a:rPr>
                <a:t>w</a:t>
              </a:r>
              <a:r>
                <a:rPr lang="en-US" sz="1600" baseline="30000">
                  <a:solidFill>
                    <a:prstClr val="black"/>
                  </a:solidFill>
                  <a:latin typeface="Book Antiqua"/>
                </a:rPr>
                <a:t>2,1</a:t>
              </a:r>
            </a:p>
          </p:txBody>
        </p:sp>
        <p:sp>
          <p:nvSpPr>
            <p:cNvPr id="63" name="Text Box 25"/>
            <p:cNvSpPr txBox="1">
              <a:spLocks noChangeArrowheads="1"/>
            </p:cNvSpPr>
            <p:nvPr/>
          </p:nvSpPr>
          <p:spPr bwMode="auto">
            <a:xfrm>
              <a:off x="2362200" y="4495800"/>
              <a:ext cx="609600" cy="3439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>
                  <a:solidFill>
                    <a:prstClr val="black"/>
                  </a:solidFill>
                  <a:latin typeface="Book Antiqua"/>
                </a:rPr>
                <a:t>w</a:t>
              </a:r>
              <a:r>
                <a:rPr lang="en-US" sz="1600" baseline="30000">
                  <a:solidFill>
                    <a:prstClr val="black"/>
                  </a:solidFill>
                  <a:latin typeface="Book Antiqua"/>
                </a:rPr>
                <a:t>0,2</a:t>
              </a:r>
            </a:p>
          </p:txBody>
        </p:sp>
        <p:sp>
          <p:nvSpPr>
            <p:cNvPr id="64" name="Text Box 26"/>
            <p:cNvSpPr txBox="1">
              <a:spLocks noChangeArrowheads="1"/>
            </p:cNvSpPr>
            <p:nvPr/>
          </p:nvSpPr>
          <p:spPr bwMode="auto">
            <a:xfrm>
              <a:off x="2514600" y="5105400"/>
              <a:ext cx="609600" cy="3439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>
                  <a:solidFill>
                    <a:prstClr val="black"/>
                  </a:solidFill>
                  <a:latin typeface="Book Antiqua"/>
                </a:rPr>
                <a:t>w</a:t>
              </a:r>
              <a:r>
                <a:rPr lang="en-US" sz="1600" baseline="30000">
                  <a:solidFill>
                    <a:prstClr val="black"/>
                  </a:solidFill>
                  <a:latin typeface="Book Antiqua"/>
                </a:rPr>
                <a:t>1,2</a:t>
              </a:r>
            </a:p>
          </p:txBody>
        </p:sp>
        <p:sp>
          <p:nvSpPr>
            <p:cNvPr id="65" name="Text Box 27"/>
            <p:cNvSpPr txBox="1">
              <a:spLocks noChangeArrowheads="1"/>
            </p:cNvSpPr>
            <p:nvPr/>
          </p:nvSpPr>
          <p:spPr bwMode="auto">
            <a:xfrm>
              <a:off x="2590801" y="5715000"/>
              <a:ext cx="609600" cy="3439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>
                  <a:solidFill>
                    <a:prstClr val="black"/>
                  </a:solidFill>
                  <a:latin typeface="Book Antiqua"/>
                </a:rPr>
                <a:t>w</a:t>
              </a:r>
              <a:r>
                <a:rPr lang="en-US" sz="1600" baseline="30000">
                  <a:solidFill>
                    <a:prstClr val="black"/>
                  </a:solidFill>
                  <a:latin typeface="Book Antiqua"/>
                </a:rPr>
                <a:t>2,2</a:t>
              </a:r>
            </a:p>
          </p:txBody>
        </p:sp>
        <p:sp>
          <p:nvSpPr>
            <p:cNvPr id="66" name="Line 28"/>
            <p:cNvSpPr>
              <a:spLocks noChangeShapeType="1"/>
            </p:cNvSpPr>
            <p:nvPr/>
          </p:nvSpPr>
          <p:spPr bwMode="auto">
            <a:xfrm>
              <a:off x="5181600" y="4648200"/>
              <a:ext cx="1752600" cy="38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  <a:latin typeface="Book Antiqua"/>
              </a:endParaRPr>
            </a:p>
          </p:txBody>
        </p:sp>
        <p:sp>
          <p:nvSpPr>
            <p:cNvPr id="67" name="Line 29"/>
            <p:cNvSpPr>
              <a:spLocks noChangeShapeType="1"/>
            </p:cNvSpPr>
            <p:nvPr/>
          </p:nvSpPr>
          <p:spPr bwMode="auto">
            <a:xfrm flipV="1">
              <a:off x="5181600" y="5105400"/>
              <a:ext cx="1752600" cy="838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  <a:latin typeface="Book Antiqua"/>
              </a:endParaRPr>
            </a:p>
          </p:txBody>
        </p:sp>
        <p:sp>
          <p:nvSpPr>
            <p:cNvPr id="68" name="Text Box 30"/>
            <p:cNvSpPr txBox="1">
              <a:spLocks noChangeArrowheads="1"/>
            </p:cNvSpPr>
            <p:nvPr/>
          </p:nvSpPr>
          <p:spPr bwMode="auto">
            <a:xfrm>
              <a:off x="5867400" y="4495800"/>
              <a:ext cx="609600" cy="3439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dirty="0">
                  <a:solidFill>
                    <a:prstClr val="black"/>
                  </a:solidFill>
                  <a:latin typeface="Book Antiqua"/>
                </a:rPr>
                <a:t>w</a:t>
              </a:r>
              <a:r>
                <a:rPr lang="en-US" sz="1600" baseline="30000" dirty="0">
                  <a:solidFill>
                    <a:prstClr val="black"/>
                  </a:solidFill>
                  <a:latin typeface="Book Antiqua"/>
                </a:rPr>
                <a:t>1</a:t>
              </a:r>
            </a:p>
          </p:txBody>
        </p:sp>
        <p:sp>
          <p:nvSpPr>
            <p:cNvPr id="69" name="Text Box 31"/>
            <p:cNvSpPr txBox="1">
              <a:spLocks noChangeArrowheads="1"/>
            </p:cNvSpPr>
            <p:nvPr/>
          </p:nvSpPr>
          <p:spPr bwMode="auto">
            <a:xfrm>
              <a:off x="5867400" y="5181600"/>
              <a:ext cx="609600" cy="3439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>
                  <a:solidFill>
                    <a:prstClr val="black"/>
                  </a:solidFill>
                  <a:latin typeface="Book Antiqua"/>
                </a:rPr>
                <a:t>w</a:t>
              </a:r>
              <a:r>
                <a:rPr lang="en-US" sz="1600" baseline="30000">
                  <a:solidFill>
                    <a:prstClr val="black"/>
                  </a:solidFill>
                  <a:latin typeface="Book Antiqua"/>
                </a:rPr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428656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Picture 38" descr="Screen shot 2014-09-21 at 2.51.53 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3561" y="5655432"/>
            <a:ext cx="3080824" cy="1128711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Learning a Deep (Multilayer) ANN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36880" y="1253890"/>
            <a:ext cx="8333739" cy="2832800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Define a loss (simplest case: squared error, like linear regression)</a:t>
            </a:r>
          </a:p>
          <a:p>
            <a:pPr lvl="1"/>
            <a:r>
              <a:rPr lang="en-US" dirty="0"/>
              <a:t>But over a network of “units” – including some sort of logistic-like function</a:t>
            </a:r>
          </a:p>
          <a:p>
            <a:r>
              <a:rPr lang="en-US" dirty="0"/>
              <a:t>Minimize loss with gradient descent</a:t>
            </a:r>
          </a:p>
          <a:p>
            <a:endParaRPr lang="en-US" dirty="0"/>
          </a:p>
          <a:p>
            <a:endParaRPr lang="en-US" dirty="0"/>
          </a:p>
          <a:p>
            <a:pPr lvl="1"/>
            <a:r>
              <a:rPr lang="en-US" dirty="0"/>
              <a:t>You can do this over complex networks if you can take the </a:t>
            </a:r>
            <a:r>
              <a:rPr lang="en-US" i="1" dirty="0"/>
              <a:t>gradient</a:t>
            </a:r>
            <a:r>
              <a:rPr lang="en-US" dirty="0"/>
              <a:t> of each unit: every computation is </a:t>
            </a:r>
            <a:r>
              <a:rPr lang="en-US" i="1" dirty="0"/>
              <a:t>differentiable</a:t>
            </a:r>
          </a:p>
        </p:txBody>
      </p:sp>
      <p:graphicFrame>
        <p:nvGraphicFramePr>
          <p:cNvPr id="754690" name="Object 1"/>
          <p:cNvGraphicFramePr>
            <a:graphicFrameLocks noChangeAspect="1"/>
          </p:cNvGraphicFramePr>
          <p:nvPr/>
        </p:nvGraphicFramePr>
        <p:xfrm>
          <a:off x="1865994" y="2635076"/>
          <a:ext cx="2833688" cy="1108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358900" imgH="596900" progId="Equation.3">
                  <p:embed/>
                </p:oleObj>
              </mc:Choice>
              <mc:Fallback>
                <p:oleObj name="Equation" r:id="rId3" imgW="1358900" imgH="596900" progId="Equation.3">
                  <p:embed/>
                  <p:pic>
                    <p:nvPicPr>
                      <p:cNvPr id="75469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5994" y="2635076"/>
                        <a:ext cx="2833688" cy="1108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Group 6"/>
          <p:cNvGrpSpPr/>
          <p:nvPr/>
        </p:nvGrpSpPr>
        <p:grpSpPr>
          <a:xfrm>
            <a:off x="2000619" y="4155977"/>
            <a:ext cx="6197391" cy="2400359"/>
            <a:chOff x="1752600" y="4038600"/>
            <a:chExt cx="6629400" cy="2438400"/>
          </a:xfrm>
        </p:grpSpPr>
        <p:sp>
          <p:nvSpPr>
            <p:cNvPr id="11" name="Oval 4"/>
            <p:cNvSpPr>
              <a:spLocks noChangeArrowheads="1"/>
            </p:cNvSpPr>
            <p:nvPr/>
          </p:nvSpPr>
          <p:spPr bwMode="auto">
            <a:xfrm>
              <a:off x="3810000" y="4038600"/>
              <a:ext cx="1371600" cy="10668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  <a:latin typeface="Book Antiqua"/>
              </a:endParaRPr>
            </a:p>
          </p:txBody>
        </p:sp>
        <p:sp>
          <p:nvSpPr>
            <p:cNvPr id="12" name="Line 5"/>
            <p:cNvSpPr>
              <a:spLocks noChangeShapeType="1"/>
            </p:cNvSpPr>
            <p:nvPr/>
          </p:nvSpPr>
          <p:spPr bwMode="auto">
            <a:xfrm flipV="1">
              <a:off x="2209800" y="4953000"/>
              <a:ext cx="1676400" cy="990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  <a:latin typeface="Book Antiqua"/>
              </a:endParaRPr>
            </a:p>
          </p:txBody>
        </p:sp>
        <p:sp>
          <p:nvSpPr>
            <p:cNvPr id="13" name="Line 6"/>
            <p:cNvSpPr>
              <a:spLocks noChangeShapeType="1"/>
            </p:cNvSpPr>
            <p:nvPr/>
          </p:nvSpPr>
          <p:spPr bwMode="auto">
            <a:xfrm flipV="1">
              <a:off x="2133600" y="4724400"/>
              <a:ext cx="167640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  <a:latin typeface="Book Antiqua"/>
              </a:endParaRPr>
            </a:p>
          </p:txBody>
        </p:sp>
        <p:sp>
          <p:nvSpPr>
            <p:cNvPr id="14" name="Line 7"/>
            <p:cNvSpPr>
              <a:spLocks noChangeShapeType="1"/>
            </p:cNvSpPr>
            <p:nvPr/>
          </p:nvSpPr>
          <p:spPr bwMode="auto">
            <a:xfrm>
              <a:off x="2133600" y="4419600"/>
              <a:ext cx="1676400" cy="76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  <a:latin typeface="Book Antiqua"/>
              </a:endParaRPr>
            </a:p>
          </p:txBody>
        </p:sp>
        <p:sp>
          <p:nvSpPr>
            <p:cNvPr id="15" name="Text Box 8"/>
            <p:cNvSpPr txBox="1">
              <a:spLocks noChangeArrowheads="1"/>
            </p:cNvSpPr>
            <p:nvPr/>
          </p:nvSpPr>
          <p:spPr bwMode="auto">
            <a:xfrm>
              <a:off x="3886200" y="4419600"/>
              <a:ext cx="2438400" cy="3751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dirty="0">
                  <a:solidFill>
                    <a:prstClr val="black"/>
                  </a:solidFill>
                  <a:latin typeface="Book Antiqua"/>
                </a:rPr>
                <a:t>v</a:t>
              </a:r>
              <a:r>
                <a:rPr lang="en-US" baseline="30000" dirty="0">
                  <a:solidFill>
                    <a:prstClr val="black"/>
                  </a:solidFill>
                  <a:latin typeface="Book Antiqua"/>
                </a:rPr>
                <a:t>1</a:t>
              </a:r>
              <a:r>
                <a:rPr lang="en-US" dirty="0">
                  <a:solidFill>
                    <a:prstClr val="black"/>
                  </a:solidFill>
                  <a:latin typeface="Book Antiqua"/>
                </a:rPr>
                <a:t>=</a:t>
              </a:r>
              <a:r>
                <a:rPr lang="en-US" dirty="0" err="1">
                  <a:solidFill>
                    <a:prstClr val="black"/>
                  </a:solidFill>
                  <a:latin typeface="Book Antiqua"/>
                </a:rPr>
                <a:t>S(</a:t>
              </a:r>
              <a:r>
                <a:rPr lang="en-US" b="1" dirty="0" err="1">
                  <a:solidFill>
                    <a:prstClr val="black"/>
                  </a:solidFill>
                  <a:latin typeface="Book Antiqua"/>
                </a:rPr>
                <a:t>w</a:t>
              </a:r>
              <a:r>
                <a:rPr lang="en-US" baseline="30000" dirty="0" err="1">
                  <a:solidFill>
                    <a:prstClr val="black"/>
                  </a:solidFill>
                  <a:latin typeface="Book Antiqua"/>
                </a:rPr>
                <a:t>T</a:t>
              </a:r>
              <a:r>
                <a:rPr lang="en-US" b="1" dirty="0" err="1">
                  <a:solidFill>
                    <a:prstClr val="black"/>
                  </a:solidFill>
                  <a:latin typeface="Book Antiqua"/>
                </a:rPr>
                <a:t>X</a:t>
              </a:r>
              <a:r>
                <a:rPr lang="en-US" dirty="0">
                  <a:solidFill>
                    <a:prstClr val="black"/>
                  </a:solidFill>
                  <a:latin typeface="Book Antiqua"/>
                </a:rPr>
                <a:t>)</a:t>
              </a:r>
            </a:p>
          </p:txBody>
        </p:sp>
        <p:sp>
          <p:nvSpPr>
            <p:cNvPr id="16" name="Text Box 9"/>
            <p:cNvSpPr txBox="1">
              <a:spLocks noChangeArrowheads="1"/>
            </p:cNvSpPr>
            <p:nvPr/>
          </p:nvSpPr>
          <p:spPr bwMode="auto">
            <a:xfrm>
              <a:off x="3124200" y="4191000"/>
              <a:ext cx="609600" cy="3439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>
                  <a:solidFill>
                    <a:prstClr val="black"/>
                  </a:solidFill>
                  <a:latin typeface="Book Antiqua"/>
                </a:rPr>
                <a:t>w</a:t>
              </a:r>
              <a:r>
                <a:rPr lang="en-US" sz="1600" baseline="30000">
                  <a:solidFill>
                    <a:prstClr val="black"/>
                  </a:solidFill>
                  <a:latin typeface="Book Antiqua"/>
                </a:rPr>
                <a:t>0,1</a:t>
              </a:r>
            </a:p>
          </p:txBody>
        </p:sp>
        <p:sp>
          <p:nvSpPr>
            <p:cNvPr id="17" name="Text Box 10"/>
            <p:cNvSpPr txBox="1">
              <a:spLocks noChangeArrowheads="1"/>
            </p:cNvSpPr>
            <p:nvPr/>
          </p:nvSpPr>
          <p:spPr bwMode="auto">
            <a:xfrm>
              <a:off x="1752600" y="4953000"/>
              <a:ext cx="457200" cy="3439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>
                  <a:solidFill>
                    <a:prstClr val="black"/>
                  </a:solidFill>
                  <a:latin typeface="Book Antiqua"/>
                </a:rPr>
                <a:t>x</a:t>
              </a:r>
              <a:r>
                <a:rPr lang="en-US" sz="1600" baseline="30000">
                  <a:solidFill>
                    <a:prstClr val="black"/>
                  </a:solidFill>
                  <a:latin typeface="Book Antiqua"/>
                </a:rPr>
                <a:t>1</a:t>
              </a:r>
            </a:p>
          </p:txBody>
        </p:sp>
        <p:sp>
          <p:nvSpPr>
            <p:cNvPr id="18" name="Oval 11"/>
            <p:cNvSpPr>
              <a:spLocks noChangeArrowheads="1"/>
            </p:cNvSpPr>
            <p:nvPr/>
          </p:nvSpPr>
          <p:spPr bwMode="auto">
            <a:xfrm>
              <a:off x="1752600" y="4953000"/>
              <a:ext cx="381000" cy="3810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  <a:latin typeface="Book Antiqua"/>
              </a:endParaRPr>
            </a:p>
          </p:txBody>
        </p:sp>
        <p:sp>
          <p:nvSpPr>
            <p:cNvPr id="19" name="Text Box 12"/>
            <p:cNvSpPr txBox="1">
              <a:spLocks noChangeArrowheads="1"/>
            </p:cNvSpPr>
            <p:nvPr/>
          </p:nvSpPr>
          <p:spPr bwMode="auto">
            <a:xfrm>
              <a:off x="1828800" y="5791199"/>
              <a:ext cx="533400" cy="3439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>
                  <a:solidFill>
                    <a:prstClr val="black"/>
                  </a:solidFill>
                  <a:latin typeface="Book Antiqua"/>
                </a:rPr>
                <a:t>x</a:t>
              </a:r>
              <a:r>
                <a:rPr lang="en-US" sz="1600" baseline="30000">
                  <a:solidFill>
                    <a:prstClr val="black"/>
                  </a:solidFill>
                  <a:latin typeface="Book Antiqua"/>
                </a:rPr>
                <a:t>2</a:t>
              </a:r>
            </a:p>
          </p:txBody>
        </p:sp>
        <p:sp>
          <p:nvSpPr>
            <p:cNvPr id="20" name="Oval 13"/>
            <p:cNvSpPr>
              <a:spLocks noChangeArrowheads="1"/>
            </p:cNvSpPr>
            <p:nvPr/>
          </p:nvSpPr>
          <p:spPr bwMode="auto">
            <a:xfrm>
              <a:off x="1752600" y="5791200"/>
              <a:ext cx="457200" cy="3810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  <a:latin typeface="Book Antiqua"/>
              </a:endParaRPr>
            </a:p>
          </p:txBody>
        </p:sp>
        <p:sp>
          <p:nvSpPr>
            <p:cNvPr id="21" name="Text Box 14"/>
            <p:cNvSpPr txBox="1">
              <a:spLocks noChangeArrowheads="1"/>
            </p:cNvSpPr>
            <p:nvPr/>
          </p:nvSpPr>
          <p:spPr bwMode="auto">
            <a:xfrm>
              <a:off x="1752600" y="4191000"/>
              <a:ext cx="533400" cy="3439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>
                  <a:solidFill>
                    <a:prstClr val="black"/>
                  </a:solidFill>
                  <a:latin typeface="Book Antiqua"/>
                </a:rPr>
                <a:t>1</a:t>
              </a:r>
              <a:endParaRPr lang="en-US" sz="1600" baseline="-25000">
                <a:solidFill>
                  <a:prstClr val="black"/>
                </a:solidFill>
                <a:latin typeface="Book Antiqua"/>
              </a:endParaRPr>
            </a:p>
          </p:txBody>
        </p:sp>
        <p:sp>
          <p:nvSpPr>
            <p:cNvPr id="22" name="Oval 15"/>
            <p:cNvSpPr>
              <a:spLocks noChangeArrowheads="1"/>
            </p:cNvSpPr>
            <p:nvPr/>
          </p:nvSpPr>
          <p:spPr bwMode="auto">
            <a:xfrm>
              <a:off x="1752600" y="4191000"/>
              <a:ext cx="381000" cy="3810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  <a:latin typeface="Book Antiqua"/>
              </a:endParaRPr>
            </a:p>
          </p:txBody>
        </p:sp>
        <p:sp>
          <p:nvSpPr>
            <p:cNvPr id="23" name="Oval 16"/>
            <p:cNvSpPr>
              <a:spLocks noChangeArrowheads="1"/>
            </p:cNvSpPr>
            <p:nvPr/>
          </p:nvSpPr>
          <p:spPr bwMode="auto">
            <a:xfrm>
              <a:off x="3810000" y="5410200"/>
              <a:ext cx="1371600" cy="10668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  <a:latin typeface="Book Antiqua"/>
              </a:endParaRPr>
            </a:p>
          </p:txBody>
        </p:sp>
        <p:sp>
          <p:nvSpPr>
            <p:cNvPr id="24" name="Text Box 17"/>
            <p:cNvSpPr txBox="1">
              <a:spLocks noChangeArrowheads="1"/>
            </p:cNvSpPr>
            <p:nvPr/>
          </p:nvSpPr>
          <p:spPr bwMode="auto">
            <a:xfrm>
              <a:off x="3886200" y="5791199"/>
              <a:ext cx="1371600" cy="3751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dirty="0">
                  <a:solidFill>
                    <a:prstClr val="black"/>
                  </a:solidFill>
                  <a:latin typeface="Book Antiqua"/>
                </a:rPr>
                <a:t>v</a:t>
              </a:r>
              <a:r>
                <a:rPr lang="en-US" baseline="30000" dirty="0">
                  <a:solidFill>
                    <a:prstClr val="black"/>
                  </a:solidFill>
                  <a:latin typeface="Book Antiqua"/>
                </a:rPr>
                <a:t>2</a:t>
              </a:r>
              <a:r>
                <a:rPr lang="en-US" dirty="0">
                  <a:solidFill>
                    <a:prstClr val="black"/>
                  </a:solidFill>
                  <a:latin typeface="Book Antiqua"/>
                </a:rPr>
                <a:t>=</a:t>
              </a:r>
              <a:r>
                <a:rPr lang="en-US" dirty="0" err="1">
                  <a:solidFill>
                    <a:prstClr val="black"/>
                  </a:solidFill>
                  <a:latin typeface="Book Antiqua"/>
                </a:rPr>
                <a:t>S(</a:t>
              </a:r>
              <a:r>
                <a:rPr lang="en-US" b="1" dirty="0" err="1">
                  <a:solidFill>
                    <a:prstClr val="black"/>
                  </a:solidFill>
                  <a:latin typeface="Book Antiqua"/>
                </a:rPr>
                <a:t>w</a:t>
              </a:r>
              <a:r>
                <a:rPr lang="en-US" baseline="30000" dirty="0" err="1">
                  <a:solidFill>
                    <a:prstClr val="black"/>
                  </a:solidFill>
                  <a:latin typeface="Book Antiqua"/>
                </a:rPr>
                <a:t>T</a:t>
              </a:r>
              <a:r>
                <a:rPr lang="en-US" b="1" dirty="0" err="1">
                  <a:solidFill>
                    <a:prstClr val="black"/>
                  </a:solidFill>
                  <a:latin typeface="Book Antiqua"/>
                </a:rPr>
                <a:t>X</a:t>
              </a:r>
              <a:r>
                <a:rPr lang="en-US" dirty="0">
                  <a:solidFill>
                    <a:prstClr val="black"/>
                  </a:solidFill>
                  <a:latin typeface="Book Antiqua"/>
                </a:rPr>
                <a:t>)</a:t>
              </a:r>
            </a:p>
          </p:txBody>
        </p:sp>
        <p:sp>
          <p:nvSpPr>
            <p:cNvPr id="25" name="Oval 18"/>
            <p:cNvSpPr>
              <a:spLocks noChangeArrowheads="1"/>
            </p:cNvSpPr>
            <p:nvPr/>
          </p:nvSpPr>
          <p:spPr bwMode="auto">
            <a:xfrm>
              <a:off x="6934200" y="4648200"/>
              <a:ext cx="1371600" cy="10668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  <a:latin typeface="Book Antiqua"/>
              </a:endParaRPr>
            </a:p>
          </p:txBody>
        </p:sp>
        <p:sp>
          <p:nvSpPr>
            <p:cNvPr id="26" name="Text Box 19"/>
            <p:cNvSpPr txBox="1">
              <a:spLocks noChangeArrowheads="1"/>
            </p:cNvSpPr>
            <p:nvPr/>
          </p:nvSpPr>
          <p:spPr bwMode="auto">
            <a:xfrm>
              <a:off x="7010400" y="5029200"/>
              <a:ext cx="1371600" cy="3751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dirty="0">
                  <a:solidFill>
                    <a:prstClr val="black"/>
                  </a:solidFill>
                  <a:latin typeface="Book Antiqua"/>
                </a:rPr>
                <a:t>z</a:t>
              </a:r>
              <a:r>
                <a:rPr lang="en-US" baseline="30000" dirty="0">
                  <a:solidFill>
                    <a:prstClr val="black"/>
                  </a:solidFill>
                  <a:latin typeface="Book Antiqua"/>
                </a:rPr>
                <a:t>1</a:t>
              </a:r>
              <a:r>
                <a:rPr lang="en-US" dirty="0">
                  <a:solidFill>
                    <a:prstClr val="black"/>
                  </a:solidFill>
                  <a:latin typeface="Book Antiqua"/>
                </a:rPr>
                <a:t>=</a:t>
              </a:r>
              <a:r>
                <a:rPr lang="en-US" dirty="0" err="1">
                  <a:solidFill>
                    <a:prstClr val="black"/>
                  </a:solidFill>
                  <a:latin typeface="Book Antiqua"/>
                </a:rPr>
                <a:t>S(</a:t>
              </a:r>
              <a:r>
                <a:rPr lang="en-US" b="1" dirty="0" err="1">
                  <a:solidFill>
                    <a:prstClr val="black"/>
                  </a:solidFill>
                  <a:latin typeface="Book Antiqua"/>
                </a:rPr>
                <a:t>w</a:t>
              </a:r>
              <a:r>
                <a:rPr lang="en-US" baseline="30000" dirty="0" err="1">
                  <a:solidFill>
                    <a:prstClr val="black"/>
                  </a:solidFill>
                  <a:latin typeface="Book Antiqua"/>
                </a:rPr>
                <a:t>T</a:t>
              </a:r>
              <a:r>
                <a:rPr lang="en-US" b="1" dirty="0" err="1">
                  <a:solidFill>
                    <a:prstClr val="black"/>
                  </a:solidFill>
                  <a:latin typeface="Book Antiqua"/>
                </a:rPr>
                <a:t>V</a:t>
              </a:r>
              <a:r>
                <a:rPr lang="en-US" dirty="0">
                  <a:solidFill>
                    <a:prstClr val="black"/>
                  </a:solidFill>
                  <a:latin typeface="Book Antiqua"/>
                </a:rPr>
                <a:t>)</a:t>
              </a:r>
            </a:p>
          </p:txBody>
        </p:sp>
        <p:sp>
          <p:nvSpPr>
            <p:cNvPr id="27" name="Line 20"/>
            <p:cNvSpPr>
              <a:spLocks noChangeShapeType="1"/>
            </p:cNvSpPr>
            <p:nvPr/>
          </p:nvSpPr>
          <p:spPr bwMode="auto">
            <a:xfrm>
              <a:off x="2133600" y="4495800"/>
              <a:ext cx="1828800" cy="1143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  <a:latin typeface="Book Antiqua"/>
              </a:endParaRPr>
            </a:p>
          </p:txBody>
        </p:sp>
        <p:sp>
          <p:nvSpPr>
            <p:cNvPr id="28" name="Line 21"/>
            <p:cNvSpPr>
              <a:spLocks noChangeShapeType="1"/>
            </p:cNvSpPr>
            <p:nvPr/>
          </p:nvSpPr>
          <p:spPr bwMode="auto">
            <a:xfrm>
              <a:off x="2133600" y="5181600"/>
              <a:ext cx="1752600" cy="609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  <a:latin typeface="Book Antiqua"/>
              </a:endParaRPr>
            </a:p>
          </p:txBody>
        </p:sp>
        <p:sp>
          <p:nvSpPr>
            <p:cNvPr id="29" name="Line 22"/>
            <p:cNvSpPr>
              <a:spLocks noChangeShapeType="1"/>
            </p:cNvSpPr>
            <p:nvPr/>
          </p:nvSpPr>
          <p:spPr bwMode="auto">
            <a:xfrm>
              <a:off x="2209800" y="6019800"/>
              <a:ext cx="1600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  <a:latin typeface="Book Antiqua"/>
              </a:endParaRPr>
            </a:p>
          </p:txBody>
        </p:sp>
        <p:sp>
          <p:nvSpPr>
            <p:cNvPr id="30" name="Text Box 23"/>
            <p:cNvSpPr txBox="1">
              <a:spLocks noChangeArrowheads="1"/>
            </p:cNvSpPr>
            <p:nvPr/>
          </p:nvSpPr>
          <p:spPr bwMode="auto">
            <a:xfrm>
              <a:off x="3124200" y="4495800"/>
              <a:ext cx="609600" cy="3439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>
                  <a:solidFill>
                    <a:prstClr val="black"/>
                  </a:solidFill>
                  <a:latin typeface="Book Antiqua"/>
                </a:rPr>
                <a:t>w</a:t>
              </a:r>
              <a:r>
                <a:rPr lang="en-US" sz="1600" baseline="30000">
                  <a:solidFill>
                    <a:prstClr val="black"/>
                  </a:solidFill>
                  <a:latin typeface="Book Antiqua"/>
                </a:rPr>
                <a:t>1,1</a:t>
              </a:r>
            </a:p>
          </p:txBody>
        </p:sp>
        <p:sp>
          <p:nvSpPr>
            <p:cNvPr id="31" name="Text Box 24"/>
            <p:cNvSpPr txBox="1">
              <a:spLocks noChangeArrowheads="1"/>
            </p:cNvSpPr>
            <p:nvPr/>
          </p:nvSpPr>
          <p:spPr bwMode="auto">
            <a:xfrm>
              <a:off x="3276600" y="4800599"/>
              <a:ext cx="609600" cy="3439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>
                  <a:solidFill>
                    <a:prstClr val="black"/>
                  </a:solidFill>
                  <a:latin typeface="Book Antiqua"/>
                </a:rPr>
                <a:t>w</a:t>
              </a:r>
              <a:r>
                <a:rPr lang="en-US" sz="1600" baseline="30000">
                  <a:solidFill>
                    <a:prstClr val="black"/>
                  </a:solidFill>
                  <a:latin typeface="Book Antiqua"/>
                </a:rPr>
                <a:t>2,1</a:t>
              </a:r>
            </a:p>
          </p:txBody>
        </p:sp>
        <p:sp>
          <p:nvSpPr>
            <p:cNvPr id="32" name="Text Box 25"/>
            <p:cNvSpPr txBox="1">
              <a:spLocks noChangeArrowheads="1"/>
            </p:cNvSpPr>
            <p:nvPr/>
          </p:nvSpPr>
          <p:spPr bwMode="auto">
            <a:xfrm>
              <a:off x="2362200" y="4495800"/>
              <a:ext cx="609600" cy="3439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>
                  <a:solidFill>
                    <a:prstClr val="black"/>
                  </a:solidFill>
                  <a:latin typeface="Book Antiqua"/>
                </a:rPr>
                <a:t>w</a:t>
              </a:r>
              <a:r>
                <a:rPr lang="en-US" sz="1600" baseline="30000">
                  <a:solidFill>
                    <a:prstClr val="black"/>
                  </a:solidFill>
                  <a:latin typeface="Book Antiqua"/>
                </a:rPr>
                <a:t>0,2</a:t>
              </a:r>
            </a:p>
          </p:txBody>
        </p:sp>
        <p:sp>
          <p:nvSpPr>
            <p:cNvPr id="33" name="Text Box 26"/>
            <p:cNvSpPr txBox="1">
              <a:spLocks noChangeArrowheads="1"/>
            </p:cNvSpPr>
            <p:nvPr/>
          </p:nvSpPr>
          <p:spPr bwMode="auto">
            <a:xfrm>
              <a:off x="2514600" y="5105400"/>
              <a:ext cx="609600" cy="3439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>
                  <a:solidFill>
                    <a:prstClr val="black"/>
                  </a:solidFill>
                  <a:latin typeface="Book Antiqua"/>
                </a:rPr>
                <a:t>w</a:t>
              </a:r>
              <a:r>
                <a:rPr lang="en-US" sz="1600" baseline="30000">
                  <a:solidFill>
                    <a:prstClr val="black"/>
                  </a:solidFill>
                  <a:latin typeface="Book Antiqua"/>
                </a:rPr>
                <a:t>1,2</a:t>
              </a:r>
            </a:p>
          </p:txBody>
        </p:sp>
        <p:sp>
          <p:nvSpPr>
            <p:cNvPr id="34" name="Text Box 27"/>
            <p:cNvSpPr txBox="1">
              <a:spLocks noChangeArrowheads="1"/>
            </p:cNvSpPr>
            <p:nvPr/>
          </p:nvSpPr>
          <p:spPr bwMode="auto">
            <a:xfrm>
              <a:off x="2590801" y="5715000"/>
              <a:ext cx="609600" cy="3439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>
                  <a:solidFill>
                    <a:prstClr val="black"/>
                  </a:solidFill>
                  <a:latin typeface="Book Antiqua"/>
                </a:rPr>
                <a:t>w</a:t>
              </a:r>
              <a:r>
                <a:rPr lang="en-US" sz="1600" baseline="30000">
                  <a:solidFill>
                    <a:prstClr val="black"/>
                  </a:solidFill>
                  <a:latin typeface="Book Antiqua"/>
                </a:rPr>
                <a:t>2,2</a:t>
              </a:r>
            </a:p>
          </p:txBody>
        </p:sp>
        <p:sp>
          <p:nvSpPr>
            <p:cNvPr id="35" name="Line 28"/>
            <p:cNvSpPr>
              <a:spLocks noChangeShapeType="1"/>
            </p:cNvSpPr>
            <p:nvPr/>
          </p:nvSpPr>
          <p:spPr bwMode="auto">
            <a:xfrm>
              <a:off x="5181600" y="4648200"/>
              <a:ext cx="1752600" cy="38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  <a:latin typeface="Book Antiqua"/>
              </a:endParaRPr>
            </a:p>
          </p:txBody>
        </p:sp>
        <p:sp>
          <p:nvSpPr>
            <p:cNvPr id="36" name="Line 29"/>
            <p:cNvSpPr>
              <a:spLocks noChangeShapeType="1"/>
            </p:cNvSpPr>
            <p:nvPr/>
          </p:nvSpPr>
          <p:spPr bwMode="auto">
            <a:xfrm flipV="1">
              <a:off x="5181600" y="5105400"/>
              <a:ext cx="1752600" cy="838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  <a:latin typeface="Book Antiqua"/>
              </a:endParaRPr>
            </a:p>
          </p:txBody>
        </p:sp>
        <p:sp>
          <p:nvSpPr>
            <p:cNvPr id="37" name="Text Box 30"/>
            <p:cNvSpPr txBox="1">
              <a:spLocks noChangeArrowheads="1"/>
            </p:cNvSpPr>
            <p:nvPr/>
          </p:nvSpPr>
          <p:spPr bwMode="auto">
            <a:xfrm>
              <a:off x="5867400" y="4495800"/>
              <a:ext cx="609600" cy="3439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dirty="0">
                  <a:solidFill>
                    <a:prstClr val="black"/>
                  </a:solidFill>
                  <a:latin typeface="Book Antiqua"/>
                </a:rPr>
                <a:t>w</a:t>
              </a:r>
              <a:r>
                <a:rPr lang="en-US" sz="1600" baseline="30000" dirty="0">
                  <a:solidFill>
                    <a:prstClr val="black"/>
                  </a:solidFill>
                  <a:latin typeface="Book Antiqua"/>
                </a:rPr>
                <a:t>1</a:t>
              </a:r>
            </a:p>
          </p:txBody>
        </p:sp>
        <p:sp>
          <p:nvSpPr>
            <p:cNvPr id="38" name="Text Box 31"/>
            <p:cNvSpPr txBox="1">
              <a:spLocks noChangeArrowheads="1"/>
            </p:cNvSpPr>
            <p:nvPr/>
          </p:nvSpPr>
          <p:spPr bwMode="auto">
            <a:xfrm>
              <a:off x="5867400" y="5181600"/>
              <a:ext cx="609600" cy="3439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>
                  <a:solidFill>
                    <a:prstClr val="black"/>
                  </a:solidFill>
                  <a:latin typeface="Book Antiqua"/>
                </a:rPr>
                <a:t>w</a:t>
              </a:r>
              <a:r>
                <a:rPr lang="en-US" sz="1600" baseline="30000">
                  <a:solidFill>
                    <a:prstClr val="black"/>
                  </a:solidFill>
                  <a:latin typeface="Book Antiqua"/>
                </a:rPr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078210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Pro: Deep ANNs are expressive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79399" y="1257299"/>
            <a:ext cx="8368021" cy="2583387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One logistic unit can implement and AND or an OR of a subset of inputs</a:t>
            </a:r>
          </a:p>
          <a:p>
            <a:pPr lvl="1"/>
            <a:r>
              <a:rPr lang="en-US" dirty="0"/>
              <a:t>e.g., (x</a:t>
            </a:r>
            <a:r>
              <a:rPr lang="en-US" baseline="-25000" dirty="0"/>
              <a:t>3</a:t>
            </a:r>
            <a:r>
              <a:rPr lang="en-US" dirty="0"/>
              <a:t> AND x</a:t>
            </a:r>
            <a:r>
              <a:rPr lang="en-US" baseline="-25000" dirty="0"/>
              <a:t>5</a:t>
            </a:r>
            <a:r>
              <a:rPr lang="en-US" dirty="0"/>
              <a:t> AND … AND x</a:t>
            </a:r>
            <a:r>
              <a:rPr lang="en-US" baseline="-25000" dirty="0"/>
              <a:t>19</a:t>
            </a:r>
            <a:r>
              <a:rPr lang="en-US" dirty="0"/>
              <a:t>)</a:t>
            </a:r>
          </a:p>
          <a:p>
            <a:r>
              <a:rPr lang="en-US" dirty="0"/>
              <a:t>Every </a:t>
            </a:r>
            <a:r>
              <a:rPr lang="en-US" dirty="0" err="1"/>
              <a:t>boolean</a:t>
            </a:r>
            <a:r>
              <a:rPr lang="en-US" dirty="0"/>
              <a:t> function can be expressed as an OR of ANDs</a:t>
            </a:r>
          </a:p>
          <a:p>
            <a:pPr lvl="1"/>
            <a:r>
              <a:rPr lang="en-US" dirty="0"/>
              <a:t>e.g., (x</a:t>
            </a:r>
            <a:r>
              <a:rPr lang="en-US" baseline="-25000" dirty="0"/>
              <a:t>3</a:t>
            </a:r>
            <a:r>
              <a:rPr lang="en-US" dirty="0"/>
              <a:t> AND x</a:t>
            </a:r>
            <a:r>
              <a:rPr lang="en-US" baseline="-25000" dirty="0"/>
              <a:t>5</a:t>
            </a:r>
            <a:r>
              <a:rPr lang="en-US" dirty="0"/>
              <a:t> ) OR (x</a:t>
            </a:r>
            <a:r>
              <a:rPr lang="en-US" baseline="-25000" dirty="0"/>
              <a:t>7</a:t>
            </a:r>
            <a:r>
              <a:rPr lang="en-US" dirty="0"/>
              <a:t> AND x</a:t>
            </a:r>
            <a:r>
              <a:rPr lang="en-US" baseline="-25000" dirty="0"/>
              <a:t>19</a:t>
            </a:r>
            <a:r>
              <a:rPr lang="en-US" dirty="0"/>
              <a:t>) OR …</a:t>
            </a:r>
          </a:p>
          <a:p>
            <a:r>
              <a:rPr lang="en-US" dirty="0"/>
              <a:t>So </a:t>
            </a:r>
            <a:r>
              <a:rPr lang="en-US" b="1" dirty="0"/>
              <a:t>one</a:t>
            </a:r>
            <a:r>
              <a:rPr lang="en-US" dirty="0"/>
              <a:t> hidden layer can express </a:t>
            </a:r>
            <a:r>
              <a:rPr lang="en-US" b="1" dirty="0"/>
              <a:t>any</a:t>
            </a:r>
            <a:r>
              <a:rPr lang="en-US" dirty="0"/>
              <a:t> Boolean function </a:t>
            </a:r>
          </a:p>
          <a:p>
            <a:pPr lvl="1"/>
            <a:endParaRPr lang="en-US" dirty="0"/>
          </a:p>
        </p:txBody>
      </p:sp>
      <p:pic>
        <p:nvPicPr>
          <p:cNvPr id="6" name="Picture 5" descr="Screen shot 2014-09-21 at 2.51.53 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6483" y="4833328"/>
            <a:ext cx="5180937" cy="189812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98892" y="4075089"/>
            <a:ext cx="2824811" cy="193899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prstClr val="black"/>
                </a:solidFill>
                <a:latin typeface="Book Antiqua"/>
              </a:rPr>
              <a:t>But it might need lots and lots of hidden units – e.g. parity functions are O(2</a:t>
            </a:r>
            <a:r>
              <a:rPr lang="en-US" sz="2400" baseline="30000" dirty="0">
                <a:solidFill>
                  <a:prstClr val="black"/>
                </a:solidFill>
                <a:latin typeface="Book Antiqua"/>
              </a:rPr>
              <a:t>N</a:t>
            </a:r>
            <a:r>
              <a:rPr lang="en-US" sz="2400" dirty="0">
                <a:solidFill>
                  <a:prstClr val="black"/>
                </a:solidFill>
                <a:latin typeface="Book Antiqua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735890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Pro: Deeper ANNs are more expressive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79399" y="1257300"/>
            <a:ext cx="7551919" cy="2149762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A two-layer network needs O(2</a:t>
            </a:r>
            <a:r>
              <a:rPr lang="en-US" baseline="30000" dirty="0"/>
              <a:t>N</a:t>
            </a:r>
            <a:r>
              <a:rPr lang="en-US" dirty="0"/>
              <a:t>) units to express some functions (like parity)</a:t>
            </a:r>
          </a:p>
          <a:p>
            <a:r>
              <a:rPr lang="en-US" dirty="0"/>
              <a:t>A 2*</a:t>
            </a:r>
            <a:r>
              <a:rPr lang="en-US" dirty="0" err="1"/>
              <a:t>logN</a:t>
            </a:r>
            <a:r>
              <a:rPr lang="en-US" dirty="0"/>
              <a:t> layer network can express the parity of N inputs (even/odd number of 1’s)</a:t>
            </a:r>
          </a:p>
          <a:p>
            <a:pPr lvl="1"/>
            <a:r>
              <a:rPr lang="en-US" dirty="0"/>
              <a:t>With O(</a:t>
            </a:r>
            <a:r>
              <a:rPr lang="en-US" dirty="0" err="1"/>
              <a:t>logN</a:t>
            </a:r>
            <a:r>
              <a:rPr lang="en-US" dirty="0"/>
              <a:t>) units in a binary tree</a:t>
            </a:r>
          </a:p>
          <a:p>
            <a:r>
              <a:rPr lang="en-US" dirty="0">
                <a:solidFill>
                  <a:srgbClr val="0000FF"/>
                </a:solidFill>
              </a:rPr>
              <a:t>Deep network + parameter tying ~= subroutines</a:t>
            </a:r>
          </a:p>
          <a:p>
            <a:pPr lvl="1"/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850" y="3716792"/>
            <a:ext cx="3777290" cy="230234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/>
          <a:srcRect t="16093"/>
          <a:stretch/>
        </p:blipFill>
        <p:spPr>
          <a:xfrm rot="5400000">
            <a:off x="5233296" y="3749224"/>
            <a:ext cx="3207118" cy="2522799"/>
          </a:xfrm>
          <a:prstGeom prst="rect">
            <a:avLst/>
          </a:prstGeom>
        </p:spPr>
      </p:pic>
      <p:sp>
        <p:nvSpPr>
          <p:cNvPr id="8" name="Line Callout 1 7"/>
          <p:cNvSpPr/>
          <p:nvPr/>
        </p:nvSpPr>
        <p:spPr>
          <a:xfrm>
            <a:off x="550850" y="3592901"/>
            <a:ext cx="4129965" cy="2292022"/>
          </a:xfrm>
          <a:prstGeom prst="borderCallout1">
            <a:avLst>
              <a:gd name="adj1" fmla="val 31814"/>
              <a:gd name="adj2" fmla="val 100167"/>
              <a:gd name="adj3" fmla="val 1689"/>
              <a:gd name="adj4" fmla="val 132917"/>
            </a:avLst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310126" y="3469011"/>
          <a:ext cx="530657" cy="30457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06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0713">
                <a:tc>
                  <a:txBody>
                    <a:bodyPr/>
                    <a:lstStyle/>
                    <a:p>
                      <a:r>
                        <a:rPr lang="en-US" dirty="0"/>
                        <a:t>x1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713">
                <a:tc>
                  <a:txBody>
                    <a:bodyPr/>
                    <a:lstStyle/>
                    <a:p>
                      <a:r>
                        <a:rPr lang="en-US" dirty="0"/>
                        <a:t>x2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0713">
                <a:tc>
                  <a:txBody>
                    <a:bodyPr/>
                    <a:lstStyle/>
                    <a:p>
                      <a:r>
                        <a:rPr lang="en-US" dirty="0"/>
                        <a:t>x3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0713">
                <a:tc>
                  <a:txBody>
                    <a:bodyPr/>
                    <a:lstStyle/>
                    <a:p>
                      <a:r>
                        <a:rPr lang="en-US" dirty="0"/>
                        <a:t>x4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0713">
                <a:tc>
                  <a:txBody>
                    <a:bodyPr/>
                    <a:lstStyle/>
                    <a:p>
                      <a:r>
                        <a:rPr lang="en-US" dirty="0"/>
                        <a:t>x5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0713">
                <a:tc>
                  <a:txBody>
                    <a:bodyPr/>
                    <a:lstStyle/>
                    <a:p>
                      <a:r>
                        <a:rPr lang="en-US" dirty="0"/>
                        <a:t>x6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0713">
                <a:tc>
                  <a:txBody>
                    <a:bodyPr/>
                    <a:lstStyle/>
                    <a:p>
                      <a:r>
                        <a:rPr lang="en-US" dirty="0"/>
                        <a:t>x7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0713">
                <a:tc>
                  <a:txBody>
                    <a:bodyPr/>
                    <a:lstStyle/>
                    <a:p>
                      <a:r>
                        <a:rPr lang="en-US" dirty="0"/>
                        <a:t>x8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cxnSp>
        <p:nvCxnSpPr>
          <p:cNvPr id="13" name="Straight Arrow Connector 12"/>
          <p:cNvCxnSpPr/>
          <p:nvPr/>
        </p:nvCxnSpPr>
        <p:spPr>
          <a:xfrm flipV="1">
            <a:off x="7939857" y="4976373"/>
            <a:ext cx="268448" cy="1032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2751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Hypothetical code for face recognition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5614"/>
            <a:ext cx="7759700" cy="51943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060283" y="0"/>
            <a:ext cx="60837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3"/>
              </a:rPr>
              <a:t>http://neuralnetworksanddeeplearning.com/chap1.html</a:t>
            </a:r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5523828" y="1039922"/>
            <a:ext cx="3252347" cy="2436564"/>
            <a:chOff x="5523828" y="960172"/>
            <a:chExt cx="3252347" cy="2436564"/>
          </a:xfrm>
        </p:grpSpPr>
        <p:pic>
          <p:nvPicPr>
            <p:cNvPr id="2" name="Picture 1"/>
            <p:cNvPicPr>
              <a:picLocks noChangeAspect="1"/>
            </p:cNvPicPr>
            <p:nvPr/>
          </p:nvPicPr>
          <p:blipFill rotWithShape="1">
            <a:blip r:embed="rId4"/>
            <a:srcRect l="42620"/>
            <a:stretch/>
          </p:blipFill>
          <p:spPr>
            <a:xfrm>
              <a:off x="5523828" y="1039922"/>
              <a:ext cx="3252347" cy="2269117"/>
            </a:xfrm>
            <a:prstGeom prst="rect">
              <a:avLst/>
            </a:prstGeom>
            <a:solidFill>
              <a:srgbClr val="FFFFFF"/>
            </a:solidFill>
          </p:spPr>
        </p:pic>
        <p:sp>
          <p:nvSpPr>
            <p:cNvPr id="3" name="Line Callout 1 2"/>
            <p:cNvSpPr/>
            <p:nvPr/>
          </p:nvSpPr>
          <p:spPr>
            <a:xfrm>
              <a:off x="5606427" y="960172"/>
              <a:ext cx="3169748" cy="2436564"/>
            </a:xfrm>
            <a:prstGeom prst="borderCallout1">
              <a:avLst>
                <a:gd name="adj1" fmla="val 27648"/>
                <a:gd name="adj2" fmla="val -189"/>
                <a:gd name="adj3" fmla="val 28178"/>
                <a:gd name="adj4" fmla="val -15532"/>
              </a:avLst>
            </a:prstGeom>
            <a:no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Line Callout 1 7"/>
          <p:cNvSpPr/>
          <p:nvPr/>
        </p:nvSpPr>
        <p:spPr>
          <a:xfrm>
            <a:off x="7041590" y="3912958"/>
            <a:ext cx="1559062" cy="671088"/>
          </a:xfrm>
          <a:prstGeom prst="borderCallout1">
            <a:avLst>
              <a:gd name="adj1" fmla="val -2937"/>
              <a:gd name="adj2" fmla="val 20806"/>
              <a:gd name="adj3" fmla="val -114451"/>
              <a:gd name="adj4" fmla="val -26412"/>
            </a:avLst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….</a:t>
            </a:r>
          </a:p>
        </p:txBody>
      </p:sp>
      <p:sp>
        <p:nvSpPr>
          <p:cNvPr id="9" name="Line Callout 1 8"/>
          <p:cNvSpPr/>
          <p:nvPr/>
        </p:nvSpPr>
        <p:spPr>
          <a:xfrm>
            <a:off x="6570192" y="5108125"/>
            <a:ext cx="1559062" cy="671088"/>
          </a:xfrm>
          <a:prstGeom prst="borderCallout1">
            <a:avLst>
              <a:gd name="adj1" fmla="val -2937"/>
              <a:gd name="adj2" fmla="val 20806"/>
              <a:gd name="adj3" fmla="val -100933"/>
              <a:gd name="adj4" fmla="val 51937"/>
            </a:avLst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….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75499" y="4009572"/>
            <a:ext cx="408215" cy="19957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7175499" y="4261757"/>
            <a:ext cx="408215" cy="19957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630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2" grpId="0" animBg="1"/>
      <p:bldP spid="1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8C357C-1D50-3487-7099-5F8A0A43F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CD9E72-4E1F-6B7E-03C2-FDEA1E44A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Early History of Artificial Neural Networks (ANNs)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C20C8A-7256-77E3-05E0-2F3AE0E71F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1940s-60’s:</a:t>
            </a:r>
          </a:p>
          <a:p>
            <a:pPr lvl="1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McCulloch &amp; Pitts; Hebb: modeling real neurons</a:t>
            </a:r>
          </a:p>
          <a:p>
            <a:pPr lvl="1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Rosenblatt,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Widrow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-Hoff: :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perceptrons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</a:p>
          <a:p>
            <a:pPr lvl="1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1969: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Minskey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&amp;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Papert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en-US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Perceptrons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book showed formal limitations of one-layer linear network</a:t>
            </a:r>
          </a:p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mid-1980’s – mid-1990’s:</a:t>
            </a:r>
          </a:p>
          <a:p>
            <a:pPr lvl="1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backprop and multi-layer networks</a:t>
            </a:r>
          </a:p>
          <a:p>
            <a:pPr lvl="1"/>
            <a:r>
              <a:rPr lang="en-US" dirty="0" err="1"/>
              <a:t>Sejnowski’s</a:t>
            </a:r>
            <a:r>
              <a:rPr lang="en-US" dirty="0"/>
              <a:t> </a:t>
            </a:r>
            <a:r>
              <a:rPr lang="en-US" dirty="0" err="1"/>
              <a:t>NETTalk</a:t>
            </a:r>
            <a:r>
              <a:rPr lang="en-US" dirty="0"/>
              <a:t> text-to-speech (1 hidden layer)</a:t>
            </a:r>
          </a:p>
          <a:p>
            <a:pPr lvl="2"/>
            <a:r>
              <a:rPr lang="en-US" dirty="0"/>
              <a:t>2-3 layer nets worked well but were slow to train</a:t>
            </a:r>
          </a:p>
          <a:p>
            <a:pPr lvl="1"/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Rumelhart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and McClelland </a:t>
            </a:r>
            <a:r>
              <a:rPr lang="en-US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PDP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book set</a:t>
            </a:r>
          </a:p>
          <a:p>
            <a:pPr lvl="1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Neural Info Processing Systems (NIPS) conference starts</a:t>
            </a:r>
          </a:p>
          <a:p>
            <a:r>
              <a:rPr lang="en-US" dirty="0"/>
              <a:t>Deep networks were always interesting in </a:t>
            </a:r>
            <a:r>
              <a:rPr lang="en-US" b="1" dirty="0"/>
              <a:t>theory</a:t>
            </a:r>
            <a:r>
              <a:rPr lang="en-US" dirty="0"/>
              <a:t>, not so much in </a:t>
            </a:r>
            <a:r>
              <a:rPr lang="en-US" b="1" dirty="0"/>
              <a:t>practice</a:t>
            </a:r>
          </a:p>
          <a:p>
            <a:pPr lvl="1"/>
            <a:r>
              <a:rPr lang="en-US" dirty="0"/>
              <a:t>deeper nets worked .. sometimes … but only with expert design and training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57948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Neural Networks in the 90’s</a:t>
            </a:r>
          </a:p>
        </p:txBody>
      </p:sp>
      <p:pic>
        <p:nvPicPr>
          <p:cNvPr id="4" name="Picture 3" descr="Screen Shot 2016-04-03 at 10.55.46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02" y="3407466"/>
            <a:ext cx="9034298" cy="3357613"/>
          </a:xfrm>
          <a:prstGeom prst="rect">
            <a:avLst/>
          </a:prstGeom>
        </p:spPr>
      </p:pic>
      <p:sp>
        <p:nvSpPr>
          <p:cNvPr id="5" name="Line Callout 1 4"/>
          <p:cNvSpPr/>
          <p:nvPr/>
        </p:nvSpPr>
        <p:spPr>
          <a:xfrm>
            <a:off x="4026716" y="2994489"/>
            <a:ext cx="3066499" cy="515816"/>
          </a:xfrm>
          <a:prstGeom prst="borderCallout1">
            <a:avLst>
              <a:gd name="adj1" fmla="val 51250"/>
              <a:gd name="adj2" fmla="val -1262"/>
              <a:gd name="adj3" fmla="val 98489"/>
              <a:gd name="adj4" fmla="val -3867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Nov 1998 – </a:t>
            </a:r>
            <a:r>
              <a:rPr lang="en-US" dirty="0" err="1"/>
              <a:t>Yann</a:t>
            </a:r>
            <a:r>
              <a:rPr lang="en-US" dirty="0"/>
              <a:t> </a:t>
            </a:r>
            <a:r>
              <a:rPr lang="en-US" dirty="0" err="1"/>
              <a:t>LeCunn</a:t>
            </a:r>
            <a:r>
              <a:rPr lang="en-US" dirty="0"/>
              <a:t>, </a:t>
            </a:r>
            <a:r>
              <a:rPr lang="en-US" dirty="0" err="1"/>
              <a:t>Bottou</a:t>
            </a:r>
            <a:r>
              <a:rPr lang="en-US" dirty="0"/>
              <a:t>, </a:t>
            </a:r>
            <a:r>
              <a:rPr lang="en-US" dirty="0" err="1"/>
              <a:t>Bengio</a:t>
            </a:r>
            <a:r>
              <a:rPr lang="en-US" dirty="0"/>
              <a:t>, </a:t>
            </a:r>
            <a:r>
              <a:rPr lang="en-US" dirty="0" err="1"/>
              <a:t>Haffner</a:t>
            </a:r>
            <a:r>
              <a:rPr lang="en-US" dirty="0"/>
              <a:t> 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01A7961-4FD7-1DC4-81A1-C0E7CBFE4AE9}"/>
              </a:ext>
            </a:extLst>
          </p:cNvPr>
          <p:cNvSpPr txBox="1">
            <a:spLocks/>
          </p:cNvSpPr>
          <p:nvPr/>
        </p:nvSpPr>
        <p:spPr>
          <a:xfrm>
            <a:off x="457200" y="1500735"/>
            <a:ext cx="8229600" cy="1648215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Cambria Math"/>
                <a:ea typeface="+mn-ea"/>
                <a:cs typeface="Cambria Math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3200" kern="1200">
                <a:solidFill>
                  <a:schemeClr val="tx1"/>
                </a:solidFill>
                <a:latin typeface="Cambria Math"/>
                <a:ea typeface="+mn-ea"/>
                <a:cs typeface="Cambria Math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Cambria Math"/>
                <a:ea typeface="+mn-ea"/>
                <a:cs typeface="Cambria Math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400" kern="1200">
                <a:solidFill>
                  <a:schemeClr val="tx1"/>
                </a:solidFill>
                <a:latin typeface="Cambria Math"/>
                <a:ea typeface="+mn-ea"/>
                <a:cs typeface="Cambria Math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400" kern="1200">
                <a:solidFill>
                  <a:schemeClr val="tx1"/>
                </a:solidFill>
                <a:latin typeface="Cambria Math"/>
                <a:ea typeface="+mn-ea"/>
                <a:cs typeface="Cambria Math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ANNs were mostly 2-layer networks or else very carefully constructed “deep” networks (</a:t>
            </a:r>
            <a:r>
              <a:rPr lang="en-US" dirty="0" err="1"/>
              <a:t>eg</a:t>
            </a:r>
            <a:r>
              <a:rPr lang="en-US" dirty="0"/>
              <a:t> CNNs)</a:t>
            </a:r>
          </a:p>
          <a:p>
            <a:r>
              <a:rPr lang="en-US" dirty="0"/>
              <a:t>Some good results but training was slow and finicky</a:t>
            </a:r>
          </a:p>
        </p:txBody>
      </p:sp>
    </p:spTree>
    <p:extLst>
      <p:ext uri="{BB962C8B-B14F-4D97-AF65-F5344CB8AC3E}">
        <p14:creationId xmlns:p14="http://schemas.microsoft.com/office/powerpoint/2010/main" val="3300140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Neural Networks in the 90’s</a:t>
            </a:r>
          </a:p>
        </p:txBody>
      </p:sp>
      <p:pic>
        <p:nvPicPr>
          <p:cNvPr id="4" name="Picture 3" descr="Screen Shot 2016-04-03 at 10.55.46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03" y="3509015"/>
            <a:ext cx="3396082" cy="1262160"/>
          </a:xfrm>
          <a:prstGeom prst="rect">
            <a:avLst/>
          </a:prstGeom>
        </p:spPr>
      </p:pic>
      <p:grpSp>
        <p:nvGrpSpPr>
          <p:cNvPr id="8" name="Group 7"/>
          <p:cNvGrpSpPr/>
          <p:nvPr/>
        </p:nvGrpSpPr>
        <p:grpSpPr>
          <a:xfrm>
            <a:off x="3208215" y="3148950"/>
            <a:ext cx="5935785" cy="3709050"/>
            <a:chOff x="4178300" y="3755120"/>
            <a:chExt cx="4965700" cy="3102880"/>
          </a:xfrm>
        </p:grpSpPr>
        <p:pic>
          <p:nvPicPr>
            <p:cNvPr id="5" name="Picture 4" descr="Screen Shot 2016-04-03 at 10.58.58 AM.png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78300" y="4851400"/>
              <a:ext cx="4965700" cy="2006600"/>
            </a:xfrm>
            <a:prstGeom prst="rect">
              <a:avLst/>
            </a:prstGeom>
          </p:spPr>
        </p:pic>
        <p:pic>
          <p:nvPicPr>
            <p:cNvPr id="7" name="Picture 6" descr="Screen Shot 2016-04-03 at 10.58.41 AM.png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47971" y="3755120"/>
              <a:ext cx="3962400" cy="749300"/>
            </a:xfrm>
            <a:prstGeom prst="rect">
              <a:avLst/>
            </a:prstGeom>
          </p:spPr>
        </p:pic>
      </p:grpSp>
      <p:sp>
        <p:nvSpPr>
          <p:cNvPr id="9" name="Line Callout 1 8"/>
          <p:cNvSpPr/>
          <p:nvPr/>
        </p:nvSpPr>
        <p:spPr>
          <a:xfrm>
            <a:off x="344533" y="4884263"/>
            <a:ext cx="3066499" cy="412977"/>
          </a:xfrm>
          <a:prstGeom prst="borderCallout1">
            <a:avLst>
              <a:gd name="adj1" fmla="val 36250"/>
              <a:gd name="adj2" fmla="val 100758"/>
              <a:gd name="adj3" fmla="val -310000"/>
              <a:gd name="adj4" fmla="val 15123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SVM: 98.9-99.2% accurate</a:t>
            </a:r>
          </a:p>
        </p:txBody>
      </p:sp>
      <p:sp>
        <p:nvSpPr>
          <p:cNvPr id="10" name="Line Callout 1 9"/>
          <p:cNvSpPr/>
          <p:nvPr/>
        </p:nvSpPr>
        <p:spPr>
          <a:xfrm>
            <a:off x="238810" y="5656129"/>
            <a:ext cx="3066499" cy="412977"/>
          </a:xfrm>
          <a:prstGeom prst="borderCallout1">
            <a:avLst>
              <a:gd name="adj1" fmla="val 36250"/>
              <a:gd name="adj2" fmla="val 100758"/>
              <a:gd name="adj3" fmla="val 17500"/>
              <a:gd name="adj4" fmla="val 121264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CNNs: 98.3-99.3% accurate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6F0E10CA-962F-04B2-277A-8C4654848CD1}"/>
              </a:ext>
            </a:extLst>
          </p:cNvPr>
          <p:cNvSpPr txBox="1">
            <a:spLocks/>
          </p:cNvSpPr>
          <p:nvPr/>
        </p:nvSpPr>
        <p:spPr>
          <a:xfrm>
            <a:off x="457200" y="1500735"/>
            <a:ext cx="8229600" cy="1648215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Cambria Math"/>
                <a:ea typeface="+mn-ea"/>
                <a:cs typeface="Cambria Math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3200" kern="1200">
                <a:solidFill>
                  <a:schemeClr val="tx1"/>
                </a:solidFill>
                <a:latin typeface="Cambria Math"/>
                <a:ea typeface="+mn-ea"/>
                <a:cs typeface="Cambria Math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Cambria Math"/>
                <a:ea typeface="+mn-ea"/>
                <a:cs typeface="Cambria Math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400" kern="1200">
                <a:solidFill>
                  <a:schemeClr val="tx1"/>
                </a:solidFill>
                <a:latin typeface="Cambria Math"/>
                <a:ea typeface="+mn-ea"/>
                <a:cs typeface="Cambria Math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400" kern="1200">
                <a:solidFill>
                  <a:schemeClr val="tx1"/>
                </a:solidFill>
                <a:latin typeface="Cambria Math"/>
                <a:ea typeface="+mn-ea"/>
                <a:cs typeface="Cambria Math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ANNs were mostly 2-layer networks or else very carefully constructed “deep” networks (</a:t>
            </a:r>
            <a:r>
              <a:rPr lang="en-US" dirty="0" err="1"/>
              <a:t>eg</a:t>
            </a:r>
            <a:r>
              <a:rPr lang="en-US" dirty="0"/>
              <a:t> CNNs)</a:t>
            </a:r>
          </a:p>
          <a:p>
            <a:r>
              <a:rPr lang="en-US" dirty="0"/>
              <a:t>Some good results but training was slow and finicky</a:t>
            </a:r>
          </a:p>
        </p:txBody>
      </p:sp>
    </p:spTree>
    <p:extLst>
      <p:ext uri="{BB962C8B-B14F-4D97-AF65-F5344CB8AC3E}">
        <p14:creationId xmlns:p14="http://schemas.microsoft.com/office/powerpoint/2010/main" val="1793155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are DEEP Networks Hard to Train?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67566-1C70-F64B-AF85-AA83547E170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8815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How to Train Deep Networks?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060" y="3503428"/>
            <a:ext cx="4269304" cy="258532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Cambria Math"/>
                <a:cs typeface="Cambria Math"/>
              </a:rPr>
              <a:t>Inputs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: X,W1,B1,W2,B2</a:t>
            </a:r>
          </a:p>
          <a:p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Z1a = </a:t>
            </a:r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mul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(X,W1)        </a:t>
            </a:r>
            <a:r>
              <a:rPr lang="en-US" dirty="0">
                <a:solidFill>
                  <a:prstClr val="black"/>
                </a:solidFill>
                <a:latin typeface="Cambria Math"/>
                <a:cs typeface="Cambria Math"/>
              </a:rPr>
              <a:t>// matrix </a:t>
            </a:r>
            <a:r>
              <a:rPr lang="en-US" dirty="0" err="1">
                <a:solidFill>
                  <a:prstClr val="black"/>
                </a:solidFill>
                <a:latin typeface="Cambria Math"/>
                <a:cs typeface="Cambria Math"/>
              </a:rPr>
              <a:t>mult</a:t>
            </a:r>
            <a:endParaRPr lang="en-US" dirty="0">
              <a:solidFill>
                <a:prstClr val="black"/>
              </a:solidFill>
              <a:latin typeface="Cambria Math"/>
              <a:cs typeface="Cambria Math"/>
            </a:endParaRPr>
          </a:p>
          <a:p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Z1b = add*(Z1a,B1)      </a:t>
            </a:r>
            <a:r>
              <a:rPr lang="en-US" dirty="0">
                <a:solidFill>
                  <a:prstClr val="black"/>
                </a:solidFill>
                <a:latin typeface="Cambria Math"/>
                <a:cs typeface="Cambria Math"/>
              </a:rPr>
              <a:t>// add bias </a:t>
            </a:r>
            <a:r>
              <a:rPr lang="en-US" dirty="0" err="1">
                <a:solidFill>
                  <a:prstClr val="black"/>
                </a:solidFill>
                <a:latin typeface="Cambria Math"/>
                <a:cs typeface="Cambria Math"/>
              </a:rPr>
              <a:t>vec</a:t>
            </a:r>
            <a:endParaRPr lang="en-US" dirty="0">
              <a:solidFill>
                <a:prstClr val="black"/>
              </a:solidFill>
              <a:latin typeface="American Typewriter"/>
              <a:cs typeface="American Typewriter"/>
            </a:endParaRPr>
          </a:p>
          <a:p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A1 = </a:t>
            </a:r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tanh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(Z1b)            </a:t>
            </a:r>
            <a:r>
              <a:rPr lang="en-US" dirty="0">
                <a:solidFill>
                  <a:prstClr val="black"/>
                </a:solidFill>
                <a:latin typeface="Cambria Math"/>
                <a:cs typeface="Cambria Math"/>
              </a:rPr>
              <a:t>//element-wise</a:t>
            </a:r>
            <a:endParaRPr lang="en-US" dirty="0">
              <a:solidFill>
                <a:prstClr val="black"/>
              </a:solidFill>
              <a:latin typeface="American Typewriter"/>
              <a:cs typeface="American Typewriter"/>
            </a:endParaRPr>
          </a:p>
          <a:p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Z2a = </a:t>
            </a:r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mul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(A1,W2) </a:t>
            </a:r>
          </a:p>
          <a:p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Z2b = add*(Z2a,B2) </a:t>
            </a:r>
          </a:p>
          <a:p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A2 = </a:t>
            </a:r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tanh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(Z2b)           </a:t>
            </a:r>
            <a:r>
              <a:rPr lang="en-US" dirty="0">
                <a:solidFill>
                  <a:prstClr val="black"/>
                </a:solidFill>
                <a:latin typeface="Cambria Math"/>
                <a:cs typeface="Cambria Math"/>
              </a:rPr>
              <a:t>// element-wise</a:t>
            </a:r>
            <a:endParaRPr lang="en-US" dirty="0">
              <a:solidFill>
                <a:prstClr val="black"/>
              </a:solidFill>
              <a:latin typeface="American Typewriter"/>
              <a:cs typeface="American Typewriter"/>
            </a:endParaRPr>
          </a:p>
          <a:p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P = </a:t>
            </a:r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softMax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(A2)         </a:t>
            </a:r>
            <a:r>
              <a:rPr lang="en-US" dirty="0">
                <a:solidFill>
                  <a:prstClr val="black"/>
                </a:solidFill>
                <a:latin typeface="Cambria Math"/>
                <a:cs typeface="Cambria Math"/>
              </a:rPr>
              <a:t>// </a:t>
            </a:r>
            <a:r>
              <a:rPr lang="en-US" dirty="0" err="1">
                <a:solidFill>
                  <a:prstClr val="black"/>
                </a:solidFill>
                <a:latin typeface="Cambria Math"/>
                <a:cs typeface="Cambria Math"/>
              </a:rPr>
              <a:t>vec</a:t>
            </a:r>
            <a:r>
              <a:rPr lang="en-US" dirty="0">
                <a:solidFill>
                  <a:prstClr val="black"/>
                </a:solidFill>
                <a:latin typeface="Cambria Math"/>
                <a:cs typeface="Cambria Math"/>
              </a:rPr>
              <a:t> to </a:t>
            </a:r>
            <a:r>
              <a:rPr lang="en-US" dirty="0" err="1">
                <a:solidFill>
                  <a:prstClr val="black"/>
                </a:solidFill>
                <a:latin typeface="Cambria Math"/>
                <a:cs typeface="Cambria Math"/>
              </a:rPr>
              <a:t>vec</a:t>
            </a:r>
            <a:endParaRPr lang="en-US" dirty="0">
              <a:solidFill>
                <a:prstClr val="black"/>
              </a:solidFill>
              <a:latin typeface="Cambria Math"/>
              <a:cs typeface="Cambria Math"/>
            </a:endParaRPr>
          </a:p>
          <a:p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C = </a:t>
            </a:r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crossEnt</a:t>
            </a:r>
            <a:r>
              <a:rPr lang="en-US" baseline="-25000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Y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(P)        </a:t>
            </a:r>
            <a:r>
              <a:rPr lang="en-US" dirty="0">
                <a:solidFill>
                  <a:prstClr val="black"/>
                </a:solidFill>
                <a:latin typeface="Cambria Math"/>
                <a:cs typeface="Cambria Math"/>
              </a:rPr>
              <a:t>// cost function</a:t>
            </a:r>
            <a:endParaRPr lang="en-US" dirty="0">
              <a:solidFill>
                <a:prstClr val="black"/>
              </a:solidFill>
              <a:latin typeface="American Typewriter"/>
              <a:cs typeface="American Typewriter"/>
            </a:endParaRPr>
          </a:p>
        </p:txBody>
      </p:sp>
      <p:cxnSp>
        <p:nvCxnSpPr>
          <p:cNvPr id="20" name="Straight Connector 19"/>
          <p:cNvCxnSpPr/>
          <p:nvPr/>
        </p:nvCxnSpPr>
        <p:spPr>
          <a:xfrm>
            <a:off x="346517" y="5792003"/>
            <a:ext cx="4244783" cy="0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V="1">
            <a:off x="1125415" y="6088751"/>
            <a:ext cx="567871" cy="35369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58669" y="6362194"/>
            <a:ext cx="50972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Book Antiqua"/>
              </a:rPr>
              <a:t>Target Y; </a:t>
            </a:r>
            <a:r>
              <a:rPr lang="en-US" i="1" dirty="0">
                <a:solidFill>
                  <a:prstClr val="black"/>
                </a:solidFill>
                <a:latin typeface="Book Antiqua"/>
              </a:rPr>
              <a:t>N </a:t>
            </a:r>
            <a:r>
              <a:rPr lang="en-US" dirty="0">
                <a:solidFill>
                  <a:prstClr val="black"/>
                </a:solidFill>
                <a:latin typeface="Book Antiqua"/>
              </a:rPr>
              <a:t>examples; </a:t>
            </a:r>
            <a:r>
              <a:rPr lang="en-US" i="1" dirty="0">
                <a:solidFill>
                  <a:prstClr val="black"/>
                </a:solidFill>
                <a:latin typeface="Book Antiqua"/>
              </a:rPr>
              <a:t>K </a:t>
            </a:r>
            <a:r>
              <a:rPr lang="en-US" dirty="0">
                <a:solidFill>
                  <a:prstClr val="black"/>
                </a:solidFill>
                <a:latin typeface="Book Antiqua"/>
              </a:rPr>
              <a:t>outs; </a:t>
            </a:r>
            <a:r>
              <a:rPr lang="en-US" i="1" dirty="0">
                <a:solidFill>
                  <a:prstClr val="black"/>
                </a:solidFill>
                <a:latin typeface="Book Antiqua"/>
              </a:rPr>
              <a:t>D </a:t>
            </a:r>
            <a:r>
              <a:rPr lang="en-US" dirty="0">
                <a:solidFill>
                  <a:prstClr val="black"/>
                </a:solidFill>
                <a:latin typeface="Book Antiqua"/>
              </a:rPr>
              <a:t>feats, </a:t>
            </a:r>
            <a:r>
              <a:rPr lang="en-US" i="1" dirty="0">
                <a:solidFill>
                  <a:prstClr val="black"/>
                </a:solidFill>
                <a:latin typeface="Book Antiqua"/>
              </a:rPr>
              <a:t>H </a:t>
            </a:r>
            <a:r>
              <a:rPr lang="en-US" dirty="0">
                <a:solidFill>
                  <a:prstClr val="black"/>
                </a:solidFill>
                <a:latin typeface="Book Antiqua"/>
              </a:rPr>
              <a:t>hidden</a:t>
            </a:r>
            <a:r>
              <a:rPr lang="en-US" i="1" dirty="0">
                <a:solidFill>
                  <a:prstClr val="black"/>
                </a:solidFill>
                <a:latin typeface="Book Antiqua"/>
              </a:rPr>
              <a:t> </a:t>
            </a:r>
            <a:endParaRPr lang="en-US" dirty="0">
              <a:solidFill>
                <a:prstClr val="black"/>
              </a:solidFill>
              <a:latin typeface="Book Antiqua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>
                <a:solidFill>
                  <a:prstClr val="black">
                    <a:tint val="75000"/>
                  </a:prstClr>
                </a:solidFill>
                <a:latin typeface="Book Antiqua"/>
              </a:rPr>
              <a:pPr/>
              <a:t>14</a:t>
            </a:fld>
            <a:endParaRPr lang="en-US">
              <a:solidFill>
                <a:prstClr val="black">
                  <a:tint val="75000"/>
                </a:prstClr>
              </a:solidFill>
              <a:latin typeface="Book Antiqua"/>
            </a:endParaRPr>
          </a:p>
        </p:txBody>
      </p:sp>
      <p:sp>
        <p:nvSpPr>
          <p:cNvPr id="5" name="Double Bracket 4"/>
          <p:cNvSpPr/>
          <p:nvPr/>
        </p:nvSpPr>
        <p:spPr>
          <a:xfrm>
            <a:off x="42084" y="1437699"/>
            <a:ext cx="559699" cy="633046"/>
          </a:xfrm>
          <a:prstGeom prst="bracket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/>
              <a:t>X</a:t>
            </a:r>
          </a:p>
        </p:txBody>
      </p:sp>
      <p:sp>
        <p:nvSpPr>
          <p:cNvPr id="34" name="Double Bracket 33"/>
          <p:cNvSpPr/>
          <p:nvPr/>
        </p:nvSpPr>
        <p:spPr>
          <a:xfrm>
            <a:off x="682519" y="1433324"/>
            <a:ext cx="711200" cy="405680"/>
          </a:xfrm>
          <a:prstGeom prst="bracket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W1</a:t>
            </a:r>
          </a:p>
        </p:txBody>
      </p:sp>
      <p:sp>
        <p:nvSpPr>
          <p:cNvPr id="35" name="Double Bracket 34"/>
          <p:cNvSpPr/>
          <p:nvPr/>
        </p:nvSpPr>
        <p:spPr>
          <a:xfrm>
            <a:off x="1624854" y="1433324"/>
            <a:ext cx="711200" cy="654772"/>
          </a:xfrm>
          <a:prstGeom prst="bracket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Z1A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1784" y="2276668"/>
            <a:ext cx="497604" cy="30618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mul</a:t>
            </a:r>
            <a:endParaRPr lang="en-US" sz="1200" dirty="0"/>
          </a:p>
        </p:txBody>
      </p:sp>
      <p:cxnSp>
        <p:nvCxnSpPr>
          <p:cNvPr id="26" name="Straight Arrow Connector 25"/>
          <p:cNvCxnSpPr>
            <a:endCxn id="22" idx="1"/>
          </p:cNvCxnSpPr>
          <p:nvPr/>
        </p:nvCxnSpPr>
        <p:spPr>
          <a:xfrm>
            <a:off x="300892" y="2112136"/>
            <a:ext cx="300892" cy="3176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endCxn id="22" idx="0"/>
          </p:cNvCxnSpPr>
          <p:nvPr/>
        </p:nvCxnSpPr>
        <p:spPr>
          <a:xfrm flipH="1">
            <a:off x="850586" y="1915388"/>
            <a:ext cx="187533" cy="3612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22" idx="3"/>
          </p:cNvCxnSpPr>
          <p:nvPr/>
        </p:nvCxnSpPr>
        <p:spPr>
          <a:xfrm flipV="1">
            <a:off x="1099388" y="2040563"/>
            <a:ext cx="525466" cy="3891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Double Bracket 49"/>
          <p:cNvSpPr/>
          <p:nvPr/>
        </p:nvSpPr>
        <p:spPr>
          <a:xfrm>
            <a:off x="2429602" y="1433324"/>
            <a:ext cx="711200" cy="182802"/>
          </a:xfrm>
          <a:prstGeom prst="bracket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/>
              <a:t>B1</a:t>
            </a:r>
            <a:endParaRPr lang="en-US" dirty="0"/>
          </a:p>
        </p:txBody>
      </p:sp>
      <p:sp>
        <p:nvSpPr>
          <p:cNvPr id="51" name="Rounded Rectangle 50"/>
          <p:cNvSpPr/>
          <p:nvPr/>
        </p:nvSpPr>
        <p:spPr>
          <a:xfrm>
            <a:off x="2337889" y="2317150"/>
            <a:ext cx="592880" cy="30618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/>
              <a:t>add*</a:t>
            </a:r>
            <a:endParaRPr lang="en-US" sz="1400" dirty="0"/>
          </a:p>
        </p:txBody>
      </p:sp>
      <p:cxnSp>
        <p:nvCxnSpPr>
          <p:cNvPr id="33" name="Straight Arrow Connector 32"/>
          <p:cNvCxnSpPr/>
          <p:nvPr/>
        </p:nvCxnSpPr>
        <p:spPr>
          <a:xfrm>
            <a:off x="1977292" y="2112136"/>
            <a:ext cx="358762" cy="2243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endCxn id="51" idx="0"/>
          </p:cNvCxnSpPr>
          <p:nvPr/>
        </p:nvCxnSpPr>
        <p:spPr>
          <a:xfrm flipH="1">
            <a:off x="2634329" y="1695607"/>
            <a:ext cx="229026" cy="6215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Double Bracket 51"/>
          <p:cNvSpPr/>
          <p:nvPr/>
        </p:nvSpPr>
        <p:spPr>
          <a:xfrm>
            <a:off x="3234350" y="1453684"/>
            <a:ext cx="711200" cy="654772"/>
          </a:xfrm>
          <a:prstGeom prst="bracket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/>
              <a:t>Z1B</a:t>
            </a:r>
            <a:endParaRPr lang="en-US" dirty="0"/>
          </a:p>
        </p:txBody>
      </p:sp>
      <p:cxnSp>
        <p:nvCxnSpPr>
          <p:cNvPr id="39" name="Straight Arrow Connector 38"/>
          <p:cNvCxnSpPr>
            <a:stCxn id="51" idx="3"/>
          </p:cNvCxnSpPr>
          <p:nvPr/>
        </p:nvCxnSpPr>
        <p:spPr>
          <a:xfrm flipV="1">
            <a:off x="2930769" y="2157979"/>
            <a:ext cx="414760" cy="3122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Double Bracket 52"/>
          <p:cNvSpPr/>
          <p:nvPr/>
        </p:nvSpPr>
        <p:spPr>
          <a:xfrm>
            <a:off x="4132646" y="1450953"/>
            <a:ext cx="711200" cy="654772"/>
          </a:xfrm>
          <a:prstGeom prst="bracket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A1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822041" y="2342527"/>
            <a:ext cx="592880" cy="30618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/>
              <a:t>tanh</a:t>
            </a:r>
            <a:endParaRPr lang="en-US" sz="1400" dirty="0"/>
          </a:p>
        </p:txBody>
      </p:sp>
      <p:cxnSp>
        <p:nvCxnSpPr>
          <p:cNvPr id="55" name="Straight Arrow Connector 54"/>
          <p:cNvCxnSpPr/>
          <p:nvPr/>
        </p:nvCxnSpPr>
        <p:spPr>
          <a:xfrm>
            <a:off x="3589950" y="2129889"/>
            <a:ext cx="255219" cy="1817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/>
          <p:nvPr/>
        </p:nvCxnSpPr>
        <p:spPr>
          <a:xfrm flipV="1">
            <a:off x="4236801" y="2040563"/>
            <a:ext cx="292269" cy="3091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Double Bracket 73"/>
          <p:cNvSpPr/>
          <p:nvPr/>
        </p:nvSpPr>
        <p:spPr>
          <a:xfrm>
            <a:off x="5001437" y="1529260"/>
            <a:ext cx="711200" cy="405680"/>
          </a:xfrm>
          <a:prstGeom prst="bracket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W2</a:t>
            </a:r>
          </a:p>
        </p:txBody>
      </p:sp>
      <p:sp>
        <p:nvSpPr>
          <p:cNvPr id="75" name="Double Bracket 74"/>
          <p:cNvSpPr/>
          <p:nvPr/>
        </p:nvSpPr>
        <p:spPr>
          <a:xfrm>
            <a:off x="5943772" y="1529260"/>
            <a:ext cx="711200" cy="654772"/>
          </a:xfrm>
          <a:prstGeom prst="bracket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Z2A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4920702" y="2372604"/>
            <a:ext cx="497604" cy="30618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mul</a:t>
            </a:r>
            <a:endParaRPr lang="en-US" sz="1200" dirty="0"/>
          </a:p>
        </p:txBody>
      </p:sp>
      <p:cxnSp>
        <p:nvCxnSpPr>
          <p:cNvPr id="78" name="Straight Arrow Connector 77"/>
          <p:cNvCxnSpPr/>
          <p:nvPr/>
        </p:nvCxnSpPr>
        <p:spPr>
          <a:xfrm flipH="1">
            <a:off x="5169504" y="2011324"/>
            <a:ext cx="187533" cy="3612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/>
          <p:cNvCxnSpPr/>
          <p:nvPr/>
        </p:nvCxnSpPr>
        <p:spPr>
          <a:xfrm flipV="1">
            <a:off x="5418306" y="2136499"/>
            <a:ext cx="525466" cy="3891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Double Bracket 79"/>
          <p:cNvSpPr/>
          <p:nvPr/>
        </p:nvSpPr>
        <p:spPr>
          <a:xfrm>
            <a:off x="6748520" y="1529260"/>
            <a:ext cx="711200" cy="182802"/>
          </a:xfrm>
          <a:prstGeom prst="bracket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B2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6656807" y="2413086"/>
            <a:ext cx="592880" cy="30618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/>
              <a:t>add*</a:t>
            </a:r>
            <a:endParaRPr lang="en-US" sz="1400" dirty="0"/>
          </a:p>
        </p:txBody>
      </p:sp>
      <p:cxnSp>
        <p:nvCxnSpPr>
          <p:cNvPr id="82" name="Straight Arrow Connector 81"/>
          <p:cNvCxnSpPr/>
          <p:nvPr/>
        </p:nvCxnSpPr>
        <p:spPr>
          <a:xfrm>
            <a:off x="6296210" y="2208072"/>
            <a:ext cx="358762" cy="2243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/>
          <p:cNvCxnSpPr/>
          <p:nvPr/>
        </p:nvCxnSpPr>
        <p:spPr>
          <a:xfrm flipH="1">
            <a:off x="6953247" y="1791543"/>
            <a:ext cx="229026" cy="6215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Double Bracket 83"/>
          <p:cNvSpPr/>
          <p:nvPr/>
        </p:nvSpPr>
        <p:spPr>
          <a:xfrm>
            <a:off x="7553268" y="1549620"/>
            <a:ext cx="711200" cy="654772"/>
          </a:xfrm>
          <a:prstGeom prst="bracket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Z2B</a:t>
            </a:r>
          </a:p>
        </p:txBody>
      </p:sp>
      <p:cxnSp>
        <p:nvCxnSpPr>
          <p:cNvPr id="85" name="Straight Arrow Connector 84"/>
          <p:cNvCxnSpPr/>
          <p:nvPr/>
        </p:nvCxnSpPr>
        <p:spPr>
          <a:xfrm flipV="1">
            <a:off x="7249687" y="2253915"/>
            <a:ext cx="414760" cy="3122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/>
          <p:cNvCxnSpPr/>
          <p:nvPr/>
        </p:nvCxnSpPr>
        <p:spPr>
          <a:xfrm>
            <a:off x="7908868" y="2225825"/>
            <a:ext cx="255219" cy="1817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/>
          <p:cNvCxnSpPr/>
          <p:nvPr/>
        </p:nvCxnSpPr>
        <p:spPr>
          <a:xfrm>
            <a:off x="4715969" y="2136499"/>
            <a:ext cx="216823" cy="2710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Rounded Rectangle 88"/>
          <p:cNvSpPr/>
          <p:nvPr/>
        </p:nvSpPr>
        <p:spPr>
          <a:xfrm>
            <a:off x="8112068" y="2438237"/>
            <a:ext cx="592880" cy="30618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/>
              <a:t>tanh</a:t>
            </a:r>
            <a:endParaRPr lang="en-US" sz="1400" dirty="0"/>
          </a:p>
        </p:txBody>
      </p:sp>
      <p:cxnSp>
        <p:nvCxnSpPr>
          <p:cNvPr id="90" name="Straight Arrow Connector 89"/>
          <p:cNvCxnSpPr/>
          <p:nvPr/>
        </p:nvCxnSpPr>
        <p:spPr>
          <a:xfrm flipV="1">
            <a:off x="8526828" y="2136273"/>
            <a:ext cx="292269" cy="3091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Double Bracket 90"/>
          <p:cNvSpPr/>
          <p:nvPr/>
        </p:nvSpPr>
        <p:spPr>
          <a:xfrm>
            <a:off x="8451564" y="1549620"/>
            <a:ext cx="637728" cy="654772"/>
          </a:xfrm>
          <a:prstGeom prst="bracket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A2</a:t>
            </a:r>
          </a:p>
        </p:txBody>
      </p:sp>
    </p:spTree>
    <p:extLst>
      <p:ext uri="{BB962C8B-B14F-4D97-AF65-F5344CB8AC3E}">
        <p14:creationId xmlns:p14="http://schemas.microsoft.com/office/powerpoint/2010/main" val="1537584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Recap: weight updates for multilayer ANN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3399" y="1459744"/>
            <a:ext cx="7556880" cy="1200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prstClr val="black"/>
                </a:solidFill>
                <a:latin typeface="Book Antiqua"/>
              </a:rPr>
              <a:t>What happens as the layers get further and further from the output layer? E.g., what’s gradient for the bias term with several layers between it and output?</a:t>
            </a:r>
            <a:endParaRPr lang="en-US" sz="2400" i="1" dirty="0">
              <a:solidFill>
                <a:prstClr val="black"/>
              </a:solidFill>
              <a:latin typeface="Book Antiqua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399" y="2726634"/>
            <a:ext cx="8077201" cy="1404731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67566-1C70-F64B-AF85-AA83547E170B}" type="slidenum">
              <a:rPr lang="en-US" smtClean="0"/>
              <a:t>15</a:t>
            </a:fld>
            <a:endParaRPr lang="en-US"/>
          </a:p>
        </p:txBody>
      </p:sp>
      <p:pic>
        <p:nvPicPr>
          <p:cNvPr id="8" name="Picture 7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920715F4-40BF-A163-5348-E2A25F9C81B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01" t="8249" r="4220" b="6534"/>
          <a:stretch/>
        </p:blipFill>
        <p:spPr>
          <a:xfrm>
            <a:off x="590549" y="4417993"/>
            <a:ext cx="7758845" cy="1960525"/>
          </a:xfrm>
          <a:prstGeom prst="rect">
            <a:avLst/>
          </a:prstGeom>
          <a:ln>
            <a:solidFill>
              <a:schemeClr val="tx2"/>
            </a:solidFill>
          </a:ln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210C2EE1-EA1A-7622-FB87-68325D6B30D9}"/>
              </a:ext>
            </a:extLst>
          </p:cNvPr>
          <p:cNvSpPr/>
          <p:nvPr/>
        </p:nvSpPr>
        <p:spPr>
          <a:xfrm>
            <a:off x="4214813" y="5843588"/>
            <a:ext cx="4395787" cy="685800"/>
          </a:xfrm>
          <a:prstGeom prst="ellipse">
            <a:avLst/>
          </a:prstGeom>
          <a:noFill/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709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D81B40-7F33-21A7-ED59-3D80D3B15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BA214-92CB-B561-C27C-5B959F139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Recap: weight updates for multilayer ANN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4A8C045-B4D1-B5FC-F5A7-90CAAB931841}"/>
              </a:ext>
            </a:extLst>
          </p:cNvPr>
          <p:cNvSpPr txBox="1"/>
          <p:nvPr/>
        </p:nvSpPr>
        <p:spPr>
          <a:xfrm>
            <a:off x="533399" y="1459744"/>
            <a:ext cx="7556880" cy="1200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prstClr val="black"/>
                </a:solidFill>
                <a:latin typeface="Book Antiqua"/>
              </a:rPr>
              <a:t>What happens as the layers get further and further from the output layer? E.g., what’s gradient for the bias term with several layers between it and output?</a:t>
            </a:r>
            <a:endParaRPr lang="en-US" sz="2400" i="1" dirty="0">
              <a:solidFill>
                <a:prstClr val="black"/>
              </a:solidFill>
              <a:latin typeface="Book Antiqua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DD58E59-ABEC-9248-5288-B5A6794DED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399" y="2726634"/>
            <a:ext cx="8077201" cy="1404731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DDE68B5-5E66-EF63-383C-1CC8D11CD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67566-1C70-F64B-AF85-AA83547E170B}" type="slidenum">
              <a:rPr lang="en-US" smtClean="0"/>
              <a:t>16</a:t>
            </a:fld>
            <a:endParaRPr lang="en-US"/>
          </a:p>
        </p:txBody>
      </p:sp>
      <p:pic>
        <p:nvPicPr>
          <p:cNvPr id="5" name="Picture 4" descr="Screen Shot 2016-04-03 at 3.40.14 PM.png">
            <a:extLst>
              <a:ext uri="{FF2B5EF4-FFF2-40B4-BE49-F238E27FC236}">
                <a16:creationId xmlns:a16="http://schemas.microsoft.com/office/drawing/2014/main" id="{E7A27499-774A-DBF6-6F5A-7012C65208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9934" y="4131365"/>
            <a:ext cx="4073292" cy="250664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D62A69F-15DB-1293-7988-CF3884BC9CD2}"/>
              </a:ext>
            </a:extLst>
          </p:cNvPr>
          <p:cNvSpPr txBox="1"/>
          <p:nvPr/>
        </p:nvSpPr>
        <p:spPr>
          <a:xfrm>
            <a:off x="3343351" y="4297893"/>
            <a:ext cx="1801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Max at 1/4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6C1CD5-A685-CC7C-4440-6F43B06DB473}"/>
              </a:ext>
            </a:extLst>
          </p:cNvPr>
          <p:cNvSpPr txBox="1"/>
          <p:nvPr/>
        </p:nvSpPr>
        <p:spPr>
          <a:xfrm>
            <a:off x="457200" y="4871340"/>
            <a:ext cx="4272734" cy="156966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prstClr val="black"/>
                </a:solidFill>
                <a:latin typeface="Book Antiqua"/>
              </a:rPr>
              <a:t>If weights are usually &lt; 1 then we are multiplying by many numbers &lt; 1 so the gradients get very small.</a:t>
            </a:r>
            <a:endParaRPr lang="en-US" sz="2400" i="1" dirty="0">
              <a:solidFill>
                <a:prstClr val="black"/>
              </a:solidFill>
              <a:latin typeface="Book Antiqu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F3F9448-B097-07CB-2576-099739040939}"/>
              </a:ext>
            </a:extLst>
          </p:cNvPr>
          <p:cNvSpPr txBox="1"/>
          <p:nvPr/>
        </p:nvSpPr>
        <p:spPr>
          <a:xfrm>
            <a:off x="1922209" y="6132193"/>
            <a:ext cx="5299580" cy="46166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prstClr val="black"/>
                </a:solidFill>
                <a:latin typeface="Book Antiqua"/>
              </a:rPr>
              <a:t>The </a:t>
            </a:r>
            <a:r>
              <a:rPr lang="en-US" sz="2400" b="1" dirty="0">
                <a:solidFill>
                  <a:prstClr val="black"/>
                </a:solidFill>
                <a:latin typeface="Book Antiqua"/>
              </a:rPr>
              <a:t>vanishing gradient </a:t>
            </a:r>
            <a:r>
              <a:rPr lang="en-US" sz="2400" dirty="0">
                <a:solidFill>
                  <a:prstClr val="black"/>
                </a:solidFill>
                <a:latin typeface="Book Antiqua"/>
              </a:rPr>
              <a:t>problem</a:t>
            </a:r>
            <a:endParaRPr lang="en-US" sz="2400" i="1" dirty="0">
              <a:solidFill>
                <a:prstClr val="black"/>
              </a:solidFill>
              <a:latin typeface="Book Antiqua"/>
            </a:endParaRPr>
          </a:p>
        </p:txBody>
      </p:sp>
    </p:spTree>
    <p:extLst>
      <p:ext uri="{BB962C8B-B14F-4D97-AF65-F5344CB8AC3E}">
        <p14:creationId xmlns:p14="http://schemas.microsoft.com/office/powerpoint/2010/main" val="2851095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201958-BDC7-215C-E808-528B0648A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F532B-CF09-87B0-D595-1A6EAD6325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Recap: weight updates for multilayer ANN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E78FE3-D653-F1B5-D4FE-DD63A1F28AF7}"/>
              </a:ext>
            </a:extLst>
          </p:cNvPr>
          <p:cNvSpPr txBox="1"/>
          <p:nvPr/>
        </p:nvSpPr>
        <p:spPr>
          <a:xfrm>
            <a:off x="533399" y="1459744"/>
            <a:ext cx="7556880" cy="1200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prstClr val="black"/>
                </a:solidFill>
                <a:latin typeface="Book Antiqua"/>
              </a:rPr>
              <a:t>What happens as the layers get further and further from the output layer? E.g., what’s gradient for the bias term with several layers between it and output?</a:t>
            </a:r>
            <a:endParaRPr lang="en-US" sz="2400" i="1" dirty="0">
              <a:solidFill>
                <a:prstClr val="black"/>
              </a:solidFill>
              <a:latin typeface="Book Antiqua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18066B1-5F66-7F6E-BF7B-01BC9A185E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399" y="2726634"/>
            <a:ext cx="8077201" cy="1404731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99072B4-9422-0565-0A42-4B8CE6B5D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67566-1C70-F64B-AF85-AA83547E170B}" type="slidenum">
              <a:rPr lang="en-US" smtClean="0"/>
              <a:t>17</a:t>
            </a:fld>
            <a:endParaRPr lang="en-US"/>
          </a:p>
        </p:txBody>
      </p:sp>
      <p:pic>
        <p:nvPicPr>
          <p:cNvPr id="5" name="Picture 4" descr="Screen Shot 2016-04-03 at 3.40.14 PM.png">
            <a:extLst>
              <a:ext uri="{FF2B5EF4-FFF2-40B4-BE49-F238E27FC236}">
                <a16:creationId xmlns:a16="http://schemas.microsoft.com/office/drawing/2014/main" id="{F3E665BB-5207-CD28-1A48-D9C591656C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9934" y="4131365"/>
            <a:ext cx="4073292" cy="250664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47672E2-9FE0-A154-9E42-AE7F92AE6203}"/>
              </a:ext>
            </a:extLst>
          </p:cNvPr>
          <p:cNvSpPr txBox="1"/>
          <p:nvPr/>
        </p:nvSpPr>
        <p:spPr>
          <a:xfrm>
            <a:off x="3343351" y="4297893"/>
            <a:ext cx="1801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Max at 1/4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82569D-3DDB-F761-C787-1FAB0D84D0AE}"/>
              </a:ext>
            </a:extLst>
          </p:cNvPr>
          <p:cNvSpPr txBox="1"/>
          <p:nvPr/>
        </p:nvSpPr>
        <p:spPr>
          <a:xfrm>
            <a:off x="457200" y="4871340"/>
            <a:ext cx="4272734" cy="156966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prstClr val="black"/>
                </a:solidFill>
                <a:latin typeface="Book Antiqua"/>
              </a:rPr>
              <a:t>If weights are usually &gt; 1 then we are multiplying by many numbers &gt; 1 so the gradients get very</a:t>
            </a:r>
            <a:r>
              <a:rPr lang="en-US" sz="2400" b="1" dirty="0">
                <a:solidFill>
                  <a:prstClr val="black"/>
                </a:solidFill>
                <a:latin typeface="Book Antiqua"/>
              </a:rPr>
              <a:t> large</a:t>
            </a:r>
            <a:r>
              <a:rPr lang="en-US" sz="2400" dirty="0">
                <a:solidFill>
                  <a:prstClr val="black"/>
                </a:solidFill>
                <a:latin typeface="Book Antiqua"/>
              </a:rPr>
              <a:t>.</a:t>
            </a:r>
            <a:endParaRPr lang="en-US" sz="2400" i="1" dirty="0">
              <a:solidFill>
                <a:prstClr val="black"/>
              </a:solidFill>
              <a:latin typeface="Book Antiqu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DE08FE-E9A9-0B28-D94F-496DD5AB9CC0}"/>
              </a:ext>
            </a:extLst>
          </p:cNvPr>
          <p:cNvSpPr txBox="1"/>
          <p:nvPr/>
        </p:nvSpPr>
        <p:spPr>
          <a:xfrm>
            <a:off x="2991777" y="6218075"/>
            <a:ext cx="5299580" cy="46166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prstClr val="black"/>
                </a:solidFill>
                <a:latin typeface="Book Antiqua"/>
              </a:rPr>
              <a:t>The </a:t>
            </a:r>
            <a:r>
              <a:rPr lang="en-US" sz="2400" b="1" dirty="0">
                <a:solidFill>
                  <a:prstClr val="black"/>
                </a:solidFill>
                <a:latin typeface="Book Antiqua"/>
              </a:rPr>
              <a:t>exploding gradient </a:t>
            </a:r>
            <a:r>
              <a:rPr lang="en-US" sz="2400" dirty="0">
                <a:solidFill>
                  <a:prstClr val="black"/>
                </a:solidFill>
                <a:latin typeface="Book Antiqua"/>
              </a:rPr>
              <a:t>problem</a:t>
            </a:r>
            <a:endParaRPr lang="en-US" sz="2400" i="1" dirty="0">
              <a:solidFill>
                <a:prstClr val="black"/>
              </a:solidFill>
              <a:latin typeface="Book Antiqua"/>
            </a:endParaRPr>
          </a:p>
        </p:txBody>
      </p:sp>
    </p:spTree>
    <p:extLst>
      <p:ext uri="{BB962C8B-B14F-4D97-AF65-F5344CB8AC3E}">
        <p14:creationId xmlns:p14="http://schemas.microsoft.com/office/powerpoint/2010/main" val="951516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creen Shot 2016-04-03 at 3.46.49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96421"/>
            <a:ext cx="8754342" cy="3348435"/>
          </a:xfrm>
          <a:prstGeom prst="rect">
            <a:avLst/>
          </a:prstGeom>
        </p:spPr>
      </p:pic>
      <p:pic>
        <p:nvPicPr>
          <p:cNvPr id="5" name="Picture 4" descr="Screen Shot 2016-04-03 at 3.47.16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65321"/>
            <a:ext cx="9144000" cy="223110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049547" y="1554955"/>
            <a:ext cx="15040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AI Stats 2010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80965" y="6044857"/>
            <a:ext cx="54685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Histogram of gradients in a 5-layer network for an artificial image recognition task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7263224" y="4699713"/>
            <a:ext cx="7394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80798" y="2638583"/>
            <a:ext cx="878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67566-1C70-F64B-AF85-AA83547E170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8416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Another problem: It’s easy for sigmoid units to </a:t>
            </a:r>
            <a:r>
              <a:rPr lang="en-US" u="sng" dirty="0"/>
              <a:t>saturate</a:t>
            </a:r>
          </a:p>
        </p:txBody>
      </p:sp>
      <p:pic>
        <p:nvPicPr>
          <p:cNvPr id="3" name="Picture 2" descr="Screen shot 2014-09-21 at 2.51.53 PM.png"/>
          <p:cNvPicPr>
            <a:picLocks noChangeAspect="1"/>
          </p:cNvPicPr>
          <p:nvPr/>
        </p:nvPicPr>
        <p:blipFill rotWithShape="1">
          <a:blip r:embed="rId2"/>
          <a:srcRect b="12971"/>
          <a:stretch/>
        </p:blipFill>
        <p:spPr>
          <a:xfrm>
            <a:off x="753974" y="1503123"/>
            <a:ext cx="4876825" cy="1554955"/>
          </a:xfrm>
          <a:prstGeom prst="rect">
            <a:avLst/>
          </a:prstGeom>
        </p:spPr>
      </p:pic>
      <p:pic>
        <p:nvPicPr>
          <p:cNvPr id="4" name="Picture 3" descr="Screen Shot 2016-04-03 at 3.40.14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7503" y="3958237"/>
            <a:ext cx="4712116" cy="289976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2595" y="1181100"/>
            <a:ext cx="4164205" cy="2771798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5" name="Oval Callout 4"/>
          <p:cNvSpPr/>
          <p:nvPr/>
        </p:nvSpPr>
        <p:spPr>
          <a:xfrm>
            <a:off x="233258" y="4561202"/>
            <a:ext cx="2643580" cy="1801156"/>
          </a:xfrm>
          <a:prstGeom prst="wedgeEllipseCallout">
            <a:avLst>
              <a:gd name="adj1" fmla="val 133188"/>
              <a:gd name="adj2" fmla="val -103045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Learning rate approaches zero and unit is “stuck”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67566-1C70-F64B-AF85-AA83547E170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9451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It’s easy for sigmoid units to saturate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000" y="1651000"/>
            <a:ext cx="7112000" cy="3543300"/>
          </a:xfrm>
          <a:prstGeom prst="rect">
            <a:avLst/>
          </a:prstGeom>
        </p:spPr>
      </p:pic>
      <p:sp>
        <p:nvSpPr>
          <p:cNvPr id="9" name="Rectangular Callout 8"/>
          <p:cNvSpPr/>
          <p:nvPr/>
        </p:nvSpPr>
        <p:spPr>
          <a:xfrm>
            <a:off x="1373625" y="5403469"/>
            <a:ext cx="6855165" cy="1192132"/>
          </a:xfrm>
          <a:prstGeom prst="wedgeRectCallout">
            <a:avLst>
              <a:gd name="adj1" fmla="val -6466"/>
              <a:gd name="adj2" fmla="val -22771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For a big network there are lots of weighted inputs to each neuron.  If any of them are too large then the neuron will saturate.  So neurons get stuck with a few large inputs OR many small ones.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67566-1C70-F64B-AF85-AA83547E170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3670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It’s easy for sigmoid units to saturate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79401" y="1257300"/>
            <a:ext cx="7394146" cy="1089907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If there are 500 non-zero inputs initialized with a Gaussian ~N(0,1) then the SD is</a:t>
            </a:r>
          </a:p>
        </p:txBody>
      </p:sp>
      <p:pic>
        <p:nvPicPr>
          <p:cNvPr id="6" name="Picture 5" descr="Screen Shot 2016-04-03 at 4.05.49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870"/>
          <a:stretch/>
        </p:blipFill>
        <p:spPr>
          <a:xfrm>
            <a:off x="279399" y="3100387"/>
            <a:ext cx="8143771" cy="1439669"/>
          </a:xfrm>
          <a:prstGeom prst="rect">
            <a:avLst/>
          </a:prstGeom>
        </p:spPr>
      </p:pic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6331421" y="1596697"/>
          <a:ext cx="1888181" cy="5015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812800" imgH="215900" progId="Equation.3">
                  <p:embed/>
                </p:oleObj>
              </mc:Choice>
              <mc:Fallback>
                <p:oleObj name="Equation" r:id="rId3" imgW="812800" imgH="215900" progId="Equation.3">
                  <p:embed/>
                  <p:pic>
                    <p:nvPicPr>
                      <p:cNvPr id="9" name="Object 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331421" y="1596697"/>
                        <a:ext cx="1888181" cy="5015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67566-1C70-F64B-AF85-AA83547E170B}" type="slidenum">
              <a:rPr lang="en-US" smtClean="0"/>
              <a:t>21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291D3D3-DABC-F224-196E-3374E6BE46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22358" y="4763382"/>
            <a:ext cx="3146844" cy="2094618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7" name="Trapezoid 6">
            <a:extLst>
              <a:ext uri="{FF2B5EF4-FFF2-40B4-BE49-F238E27FC236}">
                <a16:creationId xmlns:a16="http://schemas.microsoft.com/office/drawing/2014/main" id="{BF0A7965-76A7-CF4F-6878-50DA8907F536}"/>
              </a:ext>
            </a:extLst>
          </p:cNvPr>
          <p:cNvSpPr/>
          <p:nvPr/>
        </p:nvSpPr>
        <p:spPr>
          <a:xfrm>
            <a:off x="2886075" y="4350632"/>
            <a:ext cx="2628900" cy="412750"/>
          </a:xfrm>
          <a:prstGeom prst="trapezoid">
            <a:avLst>
              <a:gd name="adj" fmla="val 180769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979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4"/>
          <p:cNvSpPr txBox="1">
            <a:spLocks/>
          </p:cNvSpPr>
          <p:nvPr/>
        </p:nvSpPr>
        <p:spPr>
          <a:xfrm>
            <a:off x="279400" y="4765812"/>
            <a:ext cx="5215099" cy="198528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32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4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4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Saturation visualization from </a:t>
            </a:r>
            <a:r>
              <a:rPr lang="en-US" dirty="0" err="1"/>
              <a:t>Glorot</a:t>
            </a:r>
            <a:r>
              <a:rPr lang="en-US" dirty="0"/>
              <a:t> &amp; Bengio 2010 -- using a smart(</a:t>
            </a:r>
            <a:r>
              <a:rPr lang="en-US" dirty="0" err="1"/>
              <a:t>ish</a:t>
            </a:r>
            <a:r>
              <a:rPr lang="en-US" dirty="0"/>
              <a:t>) initialization scheme 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It’s easy for sigmoid units to saturate</a:t>
            </a:r>
          </a:p>
        </p:txBody>
      </p:sp>
      <p:pic>
        <p:nvPicPr>
          <p:cNvPr id="12" name="Picture 11" descr="Screen Shot 2016-04-03 at 4.13.49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43372"/>
            <a:ext cx="9144000" cy="3048000"/>
          </a:xfrm>
          <a:prstGeom prst="rect">
            <a:avLst/>
          </a:prstGeom>
        </p:spPr>
      </p:pic>
      <p:sp>
        <p:nvSpPr>
          <p:cNvPr id="13" name="Oval Callout 12"/>
          <p:cNvSpPr/>
          <p:nvPr/>
        </p:nvSpPr>
        <p:spPr>
          <a:xfrm>
            <a:off x="6553200" y="4555194"/>
            <a:ext cx="2643580" cy="1801156"/>
          </a:xfrm>
          <a:prstGeom prst="wedgeEllipseCallout">
            <a:avLst>
              <a:gd name="adj1" fmla="val -106270"/>
              <a:gd name="adj2" fmla="val -9017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Furthest-from-output hidden layer still stuck after 100 epochs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67566-1C70-F64B-AF85-AA83547E170B}" type="slidenum">
              <a:rPr lang="en-US" smtClean="0"/>
              <a:t>22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1057" y="6016703"/>
            <a:ext cx="2556132" cy="784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2947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981662-DE44-2E64-B41A-05718B9C7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B0647-B890-C4F0-F9FE-44EEE60E1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Recall: Neural Networks in the 90’s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90C1AE-F7B7-9618-CD9A-2735E24546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00735"/>
            <a:ext cx="8229600" cy="1648215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ANNs were mostly 2-layer networks or else very </a:t>
            </a:r>
            <a:r>
              <a:rPr lang="en-US" dirty="0">
                <a:solidFill>
                  <a:srgbClr val="0070C0"/>
                </a:solidFill>
              </a:rPr>
              <a:t>carefully constructed deep networks (CNNs)</a:t>
            </a:r>
          </a:p>
          <a:p>
            <a:r>
              <a:rPr lang="en-US" dirty="0"/>
              <a:t>Some good results but training was slow and finicky</a:t>
            </a:r>
          </a:p>
        </p:txBody>
      </p:sp>
      <p:pic>
        <p:nvPicPr>
          <p:cNvPr id="4" name="Picture 3" descr="Screen Shot 2016-04-03 at 10.55.46 AM.png">
            <a:extLst>
              <a:ext uri="{FF2B5EF4-FFF2-40B4-BE49-F238E27FC236}">
                <a16:creationId xmlns:a16="http://schemas.microsoft.com/office/drawing/2014/main" id="{8E91A063-BA1C-10DF-DAB5-5A85CF6B1E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02" y="3407466"/>
            <a:ext cx="9034298" cy="3357613"/>
          </a:xfrm>
          <a:prstGeom prst="rect">
            <a:avLst/>
          </a:prstGeom>
        </p:spPr>
      </p:pic>
      <p:sp>
        <p:nvSpPr>
          <p:cNvPr id="5" name="Line Callout 1 4">
            <a:extLst>
              <a:ext uri="{FF2B5EF4-FFF2-40B4-BE49-F238E27FC236}">
                <a16:creationId xmlns:a16="http://schemas.microsoft.com/office/drawing/2014/main" id="{9B8284BE-BADE-CC5F-95BE-7D0DAA186AA8}"/>
              </a:ext>
            </a:extLst>
          </p:cNvPr>
          <p:cNvSpPr/>
          <p:nvPr/>
        </p:nvSpPr>
        <p:spPr>
          <a:xfrm>
            <a:off x="4026716" y="2994489"/>
            <a:ext cx="3066499" cy="515816"/>
          </a:xfrm>
          <a:prstGeom prst="borderCallout1">
            <a:avLst>
              <a:gd name="adj1" fmla="val 51250"/>
              <a:gd name="adj2" fmla="val -1262"/>
              <a:gd name="adj3" fmla="val 98489"/>
              <a:gd name="adj4" fmla="val -3867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Nov 1998 – </a:t>
            </a:r>
            <a:r>
              <a:rPr lang="en-US" dirty="0" err="1"/>
              <a:t>Yann</a:t>
            </a:r>
            <a:r>
              <a:rPr lang="en-US" dirty="0"/>
              <a:t> </a:t>
            </a:r>
            <a:r>
              <a:rPr lang="en-US" dirty="0" err="1"/>
              <a:t>LeCunn</a:t>
            </a:r>
            <a:r>
              <a:rPr lang="en-US" dirty="0"/>
              <a:t>, </a:t>
            </a:r>
            <a:r>
              <a:rPr lang="en-US" dirty="0" err="1"/>
              <a:t>Bottou</a:t>
            </a:r>
            <a:r>
              <a:rPr lang="en-US" dirty="0"/>
              <a:t>, </a:t>
            </a:r>
            <a:r>
              <a:rPr lang="en-US" dirty="0" err="1"/>
              <a:t>Bengio</a:t>
            </a:r>
            <a:r>
              <a:rPr lang="en-US" dirty="0"/>
              <a:t>, </a:t>
            </a:r>
            <a:r>
              <a:rPr lang="en-US" dirty="0" err="1"/>
              <a:t>Haffner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38627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C9913F-5B19-2D25-D14C-5AADC6C6A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91B82-A8A1-0083-573D-500A0A3DE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Early History of Artificial Neural Networks (ANNs)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70C9D7-2A07-F8AF-0B2A-64E02D13A8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1257300"/>
            <a:ext cx="8648700" cy="4843463"/>
          </a:xfrm>
        </p:spPr>
        <p:txBody>
          <a:bodyPr>
            <a:normAutofit fontScale="77500" lnSpcReduction="20000"/>
          </a:bodyPr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mid-1980’s – mid-1990’s:</a:t>
            </a:r>
          </a:p>
          <a:p>
            <a:pPr lvl="1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backprop and multi-layer networks</a:t>
            </a:r>
          </a:p>
          <a:p>
            <a:pPr lvl="1"/>
            <a:r>
              <a:rPr lang="en-US" dirty="0" err="1"/>
              <a:t>Sejnowski’s</a:t>
            </a:r>
            <a:r>
              <a:rPr lang="en-US" dirty="0"/>
              <a:t> </a:t>
            </a:r>
            <a:r>
              <a:rPr lang="en-US" dirty="0" err="1"/>
              <a:t>NETTalk</a:t>
            </a:r>
            <a:r>
              <a:rPr lang="en-US" dirty="0"/>
              <a:t> text-to-speech (1 hidden layer)</a:t>
            </a:r>
          </a:p>
          <a:p>
            <a:pPr lvl="2"/>
            <a:r>
              <a:rPr lang="en-US" dirty="0"/>
              <a:t>2-3 layer nets worked ok but were slow to train</a:t>
            </a:r>
          </a:p>
          <a:p>
            <a:pPr lvl="1"/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Rumelhart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and McClelland </a:t>
            </a:r>
            <a:r>
              <a:rPr lang="en-US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PDP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book set</a:t>
            </a:r>
          </a:p>
          <a:p>
            <a:pPr lvl="1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Neural Info Processing Systems (NIPS) conference starts</a:t>
            </a:r>
          </a:p>
          <a:p>
            <a:r>
              <a:rPr lang="en-US" dirty="0"/>
              <a:t>Deep networks were always interesting in </a:t>
            </a:r>
            <a:r>
              <a:rPr lang="en-US" b="1" dirty="0"/>
              <a:t>theory</a:t>
            </a:r>
            <a:r>
              <a:rPr lang="en-US" dirty="0"/>
              <a:t>, not so much in </a:t>
            </a:r>
            <a:r>
              <a:rPr lang="en-US" b="1" dirty="0"/>
              <a:t>practice</a:t>
            </a:r>
          </a:p>
          <a:p>
            <a:pPr lvl="1"/>
            <a:r>
              <a:rPr lang="en-US" dirty="0"/>
              <a:t>deeper nets worked .. sometimes … but only with expert design and training</a:t>
            </a:r>
          </a:p>
          <a:p>
            <a:r>
              <a:rPr lang="en-US" dirty="0"/>
              <a:t>The first practical application was convolutional ANNs for vision tasks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00590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Convolutional Neural Networks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805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of vision in animals</a:t>
            </a:r>
          </a:p>
        </p:txBody>
      </p:sp>
      <p:pic>
        <p:nvPicPr>
          <p:cNvPr id="4" name="Picture 3" descr="Screen Shot 2014-09-23 at 11.04.30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571" y="1586949"/>
            <a:ext cx="8218714" cy="5189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34239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Vision with CNNs</a:t>
            </a:r>
          </a:p>
        </p:txBody>
      </p:sp>
      <p:pic>
        <p:nvPicPr>
          <p:cNvPr id="4" name="Picture 3" descr="Screen Shot 2014-09-23 at 11.09.37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81100"/>
            <a:ext cx="9144000" cy="5515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2835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10C2D2-32A7-3722-8A81-7241ACA44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9F3ACC2-DEEA-741A-0230-D67E460A93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do we convolve an image with an ANN?</a:t>
            </a:r>
          </a:p>
        </p:txBody>
      </p:sp>
      <p:pic>
        <p:nvPicPr>
          <p:cNvPr id="5" name="Picture 4" descr="Screen Shot 2016-04-03 at 6.27.59 PM.png">
            <a:extLst>
              <a:ext uri="{FF2B5EF4-FFF2-40B4-BE49-F238E27FC236}">
                <a16:creationId xmlns:a16="http://schemas.microsoft.com/office/drawing/2014/main" id="{A0480FF4-5885-2E0D-721E-C38B3A7F36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803" y="3009900"/>
            <a:ext cx="8280400" cy="3810000"/>
          </a:xfrm>
          <a:prstGeom prst="rect">
            <a:avLst/>
          </a:prstGeom>
        </p:spPr>
      </p:pic>
      <p:pic>
        <p:nvPicPr>
          <p:cNvPr id="6" name="Picture 5" descr="Screen Shot 2016-04-03 at 6.28.04 PM.png">
            <a:extLst>
              <a:ext uri="{FF2B5EF4-FFF2-40B4-BE49-F238E27FC236}">
                <a16:creationId xmlns:a16="http://schemas.microsoft.com/office/drawing/2014/main" id="{190EAFD0-AF5D-C394-FDA8-2DA4031B92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473" y="3009900"/>
            <a:ext cx="8153400" cy="38481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48C52D3-681A-FED4-7F2F-E9DB4A592493}"/>
              </a:ext>
            </a:extLst>
          </p:cNvPr>
          <p:cNvSpPr txBox="1"/>
          <p:nvPr/>
        </p:nvSpPr>
        <p:spPr>
          <a:xfrm>
            <a:off x="907112" y="1595516"/>
            <a:ext cx="7269844" cy="83099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/>
              <a:t>Note that the parameters in the matrix defining the convolution are </a:t>
            </a:r>
            <a:r>
              <a:rPr lang="en-US" sz="2400" b="1" dirty="0"/>
              <a:t>tied</a:t>
            </a:r>
            <a:r>
              <a:rPr lang="en-US" sz="2400" dirty="0"/>
              <a:t> across all places that it is used </a:t>
            </a:r>
          </a:p>
        </p:txBody>
      </p:sp>
    </p:spTree>
    <p:extLst>
      <p:ext uri="{BB962C8B-B14F-4D97-AF65-F5344CB8AC3E}">
        <p14:creationId xmlns:p14="http://schemas.microsoft.com/office/powerpoint/2010/main" val="2750311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What’s a convolution?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Basic idea:</a:t>
            </a:r>
          </a:p>
          <a:p>
            <a:pPr lvl="1"/>
            <a:r>
              <a:rPr lang="en-US" dirty="0"/>
              <a:t>Pick a 3-3 matrix F of weights</a:t>
            </a:r>
          </a:p>
          <a:p>
            <a:pPr lvl="1"/>
            <a:r>
              <a:rPr lang="en-US" dirty="0"/>
              <a:t>Slide this over an image and compute the </a:t>
            </a:r>
            <a:r>
              <a:rPr lang="en-US" b="1" dirty="0"/>
              <a:t>inner product similarity</a:t>
            </a:r>
            <a:r>
              <a:rPr lang="en-US" dirty="0"/>
              <a:t> of F and the corresponding </a:t>
            </a:r>
            <a:r>
              <a:rPr lang="en-US" b="1" dirty="0"/>
              <a:t>field</a:t>
            </a:r>
            <a:r>
              <a:rPr lang="en-US" dirty="0"/>
              <a:t> of the image, and </a:t>
            </a:r>
            <a:r>
              <a:rPr lang="en-US" b="1" dirty="0"/>
              <a:t>replace</a:t>
            </a:r>
            <a:r>
              <a:rPr lang="en-US" dirty="0"/>
              <a:t> the pixel in the center of the field with the </a:t>
            </a:r>
            <a:r>
              <a:rPr lang="en-US" b="1" dirty="0"/>
              <a:t>output</a:t>
            </a:r>
            <a:r>
              <a:rPr lang="en-US" dirty="0"/>
              <a:t> of the inner product operation</a:t>
            </a:r>
          </a:p>
          <a:p>
            <a:r>
              <a:rPr lang="en-US" dirty="0"/>
              <a:t>Key point:</a:t>
            </a:r>
          </a:p>
          <a:p>
            <a:pPr lvl="1"/>
            <a:r>
              <a:rPr lang="en-US" dirty="0"/>
              <a:t>Different convolutions extract different types of low-level “features” from an image</a:t>
            </a:r>
          </a:p>
          <a:p>
            <a:pPr lvl="1"/>
            <a:r>
              <a:rPr lang="en-US" dirty="0"/>
              <a:t>All that we need to vary to generate these different features is the weights of F</a:t>
            </a:r>
          </a:p>
        </p:txBody>
      </p:sp>
    </p:spTree>
    <p:extLst>
      <p:ext uri="{BB962C8B-B14F-4D97-AF65-F5344CB8AC3E}">
        <p14:creationId xmlns:p14="http://schemas.microsoft.com/office/powerpoint/2010/main" val="93818094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10B08-E91F-66F3-EDBC-A9E72300E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Convolution DEMO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6E2591-6287-1561-554F-404C9A0898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69FAEA-0A80-7A71-DB87-CDC79FE4821B}"/>
              </a:ext>
            </a:extLst>
          </p:cNvPr>
          <p:cNvSpPr txBox="1"/>
          <p:nvPr/>
        </p:nvSpPr>
        <p:spPr>
          <a:xfrm>
            <a:off x="2143125" y="3714750"/>
            <a:ext cx="58721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2"/>
              </a:rPr>
              <a:t>https://deeplizard.com/resource/pavq7noze2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784485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What’s a convolution?</a:t>
            </a:r>
          </a:p>
        </p:txBody>
      </p:sp>
      <p:pic>
        <p:nvPicPr>
          <p:cNvPr id="6" name="Picture 5" descr="Screen Shot 2016-04-03 at 6.14.16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2268"/>
            <a:ext cx="9144000" cy="3981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16166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What’s a convolution?</a:t>
            </a:r>
          </a:p>
        </p:txBody>
      </p:sp>
      <p:pic>
        <p:nvPicPr>
          <p:cNvPr id="2" name="Picture 1" descr="Screen Shot 2016-04-03 at 6.16.07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95695"/>
            <a:ext cx="9144000" cy="3911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424930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What’s a convolution?</a:t>
            </a:r>
          </a:p>
        </p:txBody>
      </p:sp>
      <p:pic>
        <p:nvPicPr>
          <p:cNvPr id="2" name="Picture 1" descr="Screen Shot 2016-04-03 at 6.14.57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928" y="1807025"/>
            <a:ext cx="9144000" cy="385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513027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What’s a convolution?</a:t>
            </a:r>
          </a:p>
        </p:txBody>
      </p:sp>
      <p:pic>
        <p:nvPicPr>
          <p:cNvPr id="3" name="Picture 2" descr="Screen Shot 2016-04-03 at 6.15.27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90206"/>
            <a:ext cx="9144000" cy="4018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63540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What’s a convolution?</a:t>
            </a:r>
          </a:p>
        </p:txBody>
      </p:sp>
      <p:pic>
        <p:nvPicPr>
          <p:cNvPr id="2" name="Picture 1" descr="Screen Shot 2016-04-03 at 6.18.34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21903"/>
            <a:ext cx="9144000" cy="3895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27395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What’s a convolution?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728" y="1181100"/>
            <a:ext cx="80059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http://</a:t>
            </a:r>
            <a:r>
              <a:rPr lang="en-US" dirty="0" err="1"/>
              <a:t>matlabtricks.com</a:t>
            </a:r>
            <a:r>
              <a:rPr lang="en-US" dirty="0"/>
              <a:t>/post-5/3x3-convolution-kernels-with-online-demo</a:t>
            </a:r>
          </a:p>
        </p:txBody>
      </p:sp>
      <p:pic>
        <p:nvPicPr>
          <p:cNvPr id="3" name="Picture 2" descr="Screen Shot 2016-04-03 at 6.19.10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42" y="1686101"/>
            <a:ext cx="9144000" cy="3977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478115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do we convolve an image with an ANN?</a:t>
            </a:r>
          </a:p>
        </p:txBody>
      </p:sp>
      <p:pic>
        <p:nvPicPr>
          <p:cNvPr id="5" name="Picture 4" descr="Screen Shot 2016-04-03 at 6.27.59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803" y="3009900"/>
            <a:ext cx="8280400" cy="3810000"/>
          </a:xfrm>
          <a:prstGeom prst="rect">
            <a:avLst/>
          </a:prstGeom>
        </p:spPr>
      </p:pic>
      <p:pic>
        <p:nvPicPr>
          <p:cNvPr id="6" name="Picture 5" descr="Screen Shot 2016-04-03 at 6.28.04 PM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473" y="3009900"/>
            <a:ext cx="8153400" cy="38481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907112" y="1595516"/>
            <a:ext cx="7269844" cy="83099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/>
              <a:t>Note that the parameters in the matrix defining the convolution are </a:t>
            </a:r>
            <a:r>
              <a:rPr lang="en-US" sz="2400" b="1" dirty="0"/>
              <a:t>tied</a:t>
            </a:r>
            <a:r>
              <a:rPr lang="en-US" sz="2400" dirty="0"/>
              <a:t> across all places that it is used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535999-01DA-9D3E-258E-9CEB72F15769}"/>
              </a:ext>
            </a:extLst>
          </p:cNvPr>
          <p:cNvSpPr txBox="1"/>
          <p:nvPr/>
        </p:nvSpPr>
        <p:spPr>
          <a:xfrm>
            <a:off x="4029076" y="2925067"/>
            <a:ext cx="2000250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weight matrix W</a:t>
            </a:r>
          </a:p>
        </p:txBody>
      </p:sp>
      <p:pic>
        <p:nvPicPr>
          <p:cNvPr id="8" name="Picture 7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B0958193-821E-357A-DF8B-F7371D32A7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68662" y="661193"/>
            <a:ext cx="4749800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0824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do we do many convolutions of an image with an ANN?</a:t>
            </a:r>
          </a:p>
        </p:txBody>
      </p:sp>
      <p:pic>
        <p:nvPicPr>
          <p:cNvPr id="2" name="Picture 1" descr="Screen Shot 2016-04-03 at 6.28.14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616" y="1840366"/>
            <a:ext cx="8013700" cy="3860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A243916-081D-4453-4F95-F386C42883F8}"/>
              </a:ext>
            </a:extLst>
          </p:cNvPr>
          <p:cNvSpPr txBox="1"/>
          <p:nvPr/>
        </p:nvSpPr>
        <p:spPr>
          <a:xfrm>
            <a:off x="4171950" y="4346615"/>
            <a:ext cx="2000250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weight matrix W1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74D1942-4D74-FDB7-C38C-6731E9B64219}"/>
              </a:ext>
            </a:extLst>
          </p:cNvPr>
          <p:cNvCxnSpPr>
            <a:cxnSpLocks/>
          </p:cNvCxnSpPr>
          <p:nvPr/>
        </p:nvCxnSpPr>
        <p:spPr>
          <a:xfrm>
            <a:off x="3929063" y="4129088"/>
            <a:ext cx="857250" cy="11430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A6A1BB2-D035-5655-F4E6-D31FDBDA5F83}"/>
              </a:ext>
            </a:extLst>
          </p:cNvPr>
          <p:cNvCxnSpPr>
            <a:cxnSpLocks/>
          </p:cNvCxnSpPr>
          <p:nvPr/>
        </p:nvCxnSpPr>
        <p:spPr>
          <a:xfrm>
            <a:off x="3929063" y="3987057"/>
            <a:ext cx="1057275" cy="0"/>
          </a:xfrm>
          <a:prstGeom prst="straightConnector1">
            <a:avLst/>
          </a:prstGeom>
          <a:ln w="571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E4E570C-EDF9-9D1C-83AE-FEA7BA907913}"/>
              </a:ext>
            </a:extLst>
          </p:cNvPr>
          <p:cNvCxnSpPr>
            <a:cxnSpLocks/>
          </p:cNvCxnSpPr>
          <p:nvPr/>
        </p:nvCxnSpPr>
        <p:spPr>
          <a:xfrm flipV="1">
            <a:off x="3914775" y="3700236"/>
            <a:ext cx="1257300" cy="11667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44D75CA9-BEB0-43C5-3043-7779761DA72F}"/>
              </a:ext>
            </a:extLst>
          </p:cNvPr>
          <p:cNvSpPr txBox="1"/>
          <p:nvPr/>
        </p:nvSpPr>
        <p:spPr>
          <a:xfrm>
            <a:off x="3368522" y="3816906"/>
            <a:ext cx="546253" cy="369332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W2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0FF0A93-18E0-4016-253B-E965430CE2A3}"/>
              </a:ext>
            </a:extLst>
          </p:cNvPr>
          <p:cNvSpPr txBox="1"/>
          <p:nvPr/>
        </p:nvSpPr>
        <p:spPr>
          <a:xfrm>
            <a:off x="4513186" y="3259889"/>
            <a:ext cx="546253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W3</a:t>
            </a:r>
          </a:p>
        </p:txBody>
      </p:sp>
    </p:spTree>
    <p:extLst>
      <p:ext uri="{BB962C8B-B14F-4D97-AF65-F5344CB8AC3E}">
        <p14:creationId xmlns:p14="http://schemas.microsoft.com/office/powerpoint/2010/main" val="2753447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0" grpId="0" animBg="1"/>
      <p:bldP spid="15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Convolutions and more….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9400" y="1257300"/>
            <a:ext cx="8648700" cy="2383888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Usually alternate convolutions with </a:t>
            </a:r>
            <a:r>
              <a:rPr lang="en-US" b="1" dirty="0"/>
              <a:t>down-sampling</a:t>
            </a:r>
            <a:r>
              <a:rPr lang="en-US" dirty="0"/>
              <a:t> or </a:t>
            </a:r>
            <a:r>
              <a:rPr lang="en-US" b="1" dirty="0"/>
              <a:t>max-pooling</a:t>
            </a:r>
          </a:p>
          <a:p>
            <a:pPr lvl="1"/>
            <a:r>
              <a:rPr lang="en-US" dirty="0"/>
              <a:t>So properties of larger </a:t>
            </a:r>
            <a:r>
              <a:rPr lang="en-US" dirty="0" err="1"/>
              <a:t>subimages</a:t>
            </a:r>
            <a:r>
              <a:rPr lang="en-US" dirty="0"/>
              <a:t> can be detected</a:t>
            </a:r>
          </a:p>
          <a:p>
            <a:pPr lvl="1"/>
            <a:r>
              <a:rPr lang="en-US" dirty="0"/>
              <a:t>Also these are non-linear operations</a:t>
            </a:r>
          </a:p>
          <a:p>
            <a:r>
              <a:rPr lang="en-US" dirty="0"/>
              <a:t>At some point the feature maps become indicators of some semantic property, not a recognizable transformation of the image</a:t>
            </a:r>
          </a:p>
          <a:p>
            <a:pPr lvl="1"/>
            <a:r>
              <a:rPr lang="en-US" dirty="0"/>
              <a:t>Then you switch to fully-connected layers (e.g. logistic units)</a:t>
            </a:r>
          </a:p>
        </p:txBody>
      </p:sp>
      <p:pic>
        <p:nvPicPr>
          <p:cNvPr id="4" name="Picture 3" descr="Screen Shot 2016-04-03 at 10.55.46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257" y="3641188"/>
            <a:ext cx="8405426" cy="3123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166840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9400" y="292100"/>
            <a:ext cx="8648700" cy="461665"/>
          </a:xfrm>
        </p:spPr>
        <p:txBody>
          <a:bodyPr>
            <a:normAutofit fontScale="90000"/>
          </a:bodyPr>
          <a:lstStyle/>
          <a:p>
            <a:r>
              <a:rPr lang="en-US" dirty="0"/>
              <a:t>Convolutions and more….</a:t>
            </a:r>
          </a:p>
        </p:txBody>
      </p:sp>
      <p:pic>
        <p:nvPicPr>
          <p:cNvPr id="4" name="Picture 3" descr="Screen Shot 2016-04-03 at 6.52.17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628" y="1013737"/>
            <a:ext cx="6761957" cy="584426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252822" y="2086232"/>
            <a:ext cx="1677112" cy="46166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400" dirty="0"/>
              <a:t>5 layers 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50988" y="2847656"/>
            <a:ext cx="1893012" cy="267765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/>
              <a:t>The subfield in a large dataset that gives the strongest output for a neuron</a:t>
            </a:r>
          </a:p>
        </p:txBody>
      </p:sp>
    </p:spTree>
    <p:extLst>
      <p:ext uri="{BB962C8B-B14F-4D97-AF65-F5344CB8AC3E}">
        <p14:creationId xmlns:p14="http://schemas.microsoft.com/office/powerpoint/2010/main" val="140430812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3C03A3-4C25-990A-D32F-21CD20E43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B6A09-CD64-4808-BCC9-89EE52B898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400" y="292100"/>
            <a:ext cx="8648700" cy="461665"/>
          </a:xfrm>
        </p:spPr>
        <p:txBody>
          <a:bodyPr>
            <a:normAutofit fontScale="90000"/>
          </a:bodyPr>
          <a:lstStyle/>
          <a:p>
            <a:r>
              <a:rPr lang="en-US" dirty="0"/>
              <a:t>Why are CNNs easier to train?</a:t>
            </a:r>
          </a:p>
        </p:txBody>
      </p:sp>
      <p:pic>
        <p:nvPicPr>
          <p:cNvPr id="3" name="Picture 2" descr="Screen Shot 2016-04-03 at 6.28.04 PM.png">
            <a:extLst>
              <a:ext uri="{FF2B5EF4-FFF2-40B4-BE49-F238E27FC236}">
                <a16:creationId xmlns:a16="http://schemas.microsoft.com/office/drawing/2014/main" id="{B39BFBFD-3945-7E3B-8852-D25793F532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473" y="3009900"/>
            <a:ext cx="8153400" cy="38481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5D66EF0-73C6-E358-F775-15519E014826}"/>
              </a:ext>
            </a:extLst>
          </p:cNvPr>
          <p:cNvSpPr txBox="1"/>
          <p:nvPr/>
        </p:nvSpPr>
        <p:spPr>
          <a:xfrm>
            <a:off x="1048251" y="1838403"/>
            <a:ext cx="7269844" cy="83099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/>
              <a:t>Note that the parameters in the matrix defining the convolution are </a:t>
            </a:r>
            <a:r>
              <a:rPr lang="en-US" sz="2400" b="1" dirty="0"/>
              <a:t>tied</a:t>
            </a:r>
            <a:r>
              <a:rPr lang="en-US" sz="2400" dirty="0"/>
              <a:t> across all places that it is used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D7FA72-A43F-2AD6-CA18-A2462FD0C5E9}"/>
              </a:ext>
            </a:extLst>
          </p:cNvPr>
          <p:cNvSpPr txBox="1"/>
          <p:nvPr/>
        </p:nvSpPr>
        <p:spPr>
          <a:xfrm>
            <a:off x="4029076" y="2925067"/>
            <a:ext cx="2000250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weight matrix W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CD60C1-8015-51B3-CFDF-5D798E1FF720}"/>
              </a:ext>
            </a:extLst>
          </p:cNvPr>
          <p:cNvSpPr txBox="1"/>
          <p:nvPr/>
        </p:nvSpPr>
        <p:spPr>
          <a:xfrm>
            <a:off x="937077" y="1094265"/>
            <a:ext cx="7822795" cy="83099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/>
              <a:t>Sharing:  When we </a:t>
            </a:r>
            <a:r>
              <a:rPr lang="en-US" sz="2400" dirty="0" err="1"/>
              <a:t>autodiff</a:t>
            </a:r>
            <a:r>
              <a:rPr lang="en-US" sz="2400" dirty="0"/>
              <a:t> then delta[W] is incremented many many times … so vanishing gradient is less of a problem</a:t>
            </a:r>
          </a:p>
        </p:txBody>
      </p:sp>
      <p:pic>
        <p:nvPicPr>
          <p:cNvPr id="4" name="Picture 3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CB2AC64D-A6B5-1BA5-697B-6A2284AFFB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0073" y="5550534"/>
            <a:ext cx="4749800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7172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AC81ED-B685-8174-2858-907816C904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355BA-71BA-070D-5B46-B370D398E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400" y="292100"/>
            <a:ext cx="8648700" cy="461665"/>
          </a:xfrm>
        </p:spPr>
        <p:txBody>
          <a:bodyPr>
            <a:normAutofit fontScale="90000"/>
          </a:bodyPr>
          <a:lstStyle/>
          <a:p>
            <a:r>
              <a:rPr lang="en-US" dirty="0"/>
              <a:t>Why are CNNs easier to train?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0B5CCF-8946-B328-0B55-21D248063AC5}"/>
              </a:ext>
            </a:extLst>
          </p:cNvPr>
          <p:cNvSpPr txBox="1"/>
          <p:nvPr/>
        </p:nvSpPr>
        <p:spPr>
          <a:xfrm>
            <a:off x="937078" y="1094265"/>
            <a:ext cx="7269844" cy="83099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/>
              <a:t>Many layers are linear … so saturation is less of a problem</a:t>
            </a:r>
          </a:p>
        </p:txBody>
      </p:sp>
      <p:pic>
        <p:nvPicPr>
          <p:cNvPr id="4" name="Picture 3" descr="Screen Shot 2016-04-03 at 10.55.46 AM.png">
            <a:extLst>
              <a:ext uri="{FF2B5EF4-FFF2-40B4-BE49-F238E27FC236}">
                <a16:creationId xmlns:a16="http://schemas.microsoft.com/office/drawing/2014/main" id="{6002A5B0-1596-E5CF-0405-306E0C561D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037" y="3012538"/>
            <a:ext cx="8405426" cy="312389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86E0E4F-1446-F444-9EF6-093C7819C31E}"/>
              </a:ext>
            </a:extLst>
          </p:cNvPr>
          <p:cNvSpPr txBox="1"/>
          <p:nvPr/>
        </p:nvSpPr>
        <p:spPr>
          <a:xfrm>
            <a:off x="583666" y="2034929"/>
            <a:ext cx="8222797" cy="46166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/>
              <a:t>CNNs were great for vision but not widely used beyond vision</a:t>
            </a:r>
          </a:p>
        </p:txBody>
      </p:sp>
    </p:spTree>
    <p:extLst>
      <p:ext uri="{BB962C8B-B14F-4D97-AF65-F5344CB8AC3E}">
        <p14:creationId xmlns:p14="http://schemas.microsoft.com/office/powerpoint/2010/main" val="477419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5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EF60D-41DA-854B-7063-60E9E2CF2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CNNs history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D0ABD4-5E07-9BA3-016D-4927E88660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History</a:t>
            </a:r>
          </a:p>
          <a:p>
            <a:pPr lvl="1"/>
            <a:r>
              <a:rPr lang="en-US" dirty="0"/>
              <a:t>“</a:t>
            </a:r>
            <a:r>
              <a:rPr lang="en-US" dirty="0" err="1"/>
              <a:t>Neocognitron</a:t>
            </a:r>
            <a:r>
              <a:rPr lang="en-US" dirty="0"/>
              <a:t>” was a learned CNN from 1979 </a:t>
            </a:r>
          </a:p>
          <a:p>
            <a:pPr lvl="1"/>
            <a:r>
              <a:rPr lang="en-US" dirty="0"/>
              <a:t>John Denker , Larry Jackal,  Isabell Guyon(Bell Labs) trained a CNN in 1989 on USPS digit recognition (preprocessed data)</a:t>
            </a:r>
          </a:p>
          <a:p>
            <a:pPr lvl="1"/>
            <a:r>
              <a:rPr lang="en-US" dirty="0"/>
              <a:t>LeNet-1 was used in 1990 by Yann LeCun</a:t>
            </a:r>
          </a:p>
          <a:p>
            <a:pPr lvl="2"/>
            <a:r>
              <a:rPr lang="en-US" dirty="0"/>
              <a:t>About 10k parameters</a:t>
            </a:r>
          </a:p>
          <a:p>
            <a:pPr lvl="1"/>
            <a:r>
              <a:rPr lang="en-US" dirty="0"/>
              <a:t>LeNet-5 was state-of-the-art on NIST/MNIST (digit recognition, 60k examples) in mid- 1990’s</a:t>
            </a:r>
          </a:p>
          <a:p>
            <a:pPr lvl="2"/>
            <a:r>
              <a:rPr lang="en-US" dirty="0"/>
              <a:t>About 60k parameters</a:t>
            </a:r>
          </a:p>
          <a:p>
            <a:pPr lvl="2"/>
            <a:r>
              <a:rPr lang="en-US" dirty="0"/>
              <a:t>But other systems were competitive</a:t>
            </a:r>
          </a:p>
          <a:p>
            <a:pPr lvl="2"/>
            <a:r>
              <a:rPr lang="en-US" dirty="0"/>
              <a:t>More complex vision problems generally relied on feature engineering, kernels, …</a:t>
            </a:r>
          </a:p>
          <a:p>
            <a:pPr lvl="1"/>
            <a:r>
              <a:rPr lang="en-US" dirty="0"/>
              <a:t>Mid-2000’s GPUs began being used for ML </a:t>
            </a:r>
          </a:p>
          <a:p>
            <a:pPr lvl="2"/>
            <a:r>
              <a:rPr lang="en-US" dirty="0"/>
              <a:t>Early 2010’s GPU-based CNNs were trained in days not weeks</a:t>
            </a:r>
          </a:p>
          <a:p>
            <a:pPr lvl="1"/>
            <a:r>
              <a:rPr lang="en-US" dirty="0"/>
              <a:t>ImageNet (22k classes, 14M images) released 2009</a:t>
            </a:r>
          </a:p>
          <a:p>
            <a:pPr lvl="1"/>
            <a:r>
              <a:rPr lang="en-US" dirty="0" err="1"/>
              <a:t>AlexNet</a:t>
            </a:r>
            <a:r>
              <a:rPr lang="en-US" dirty="0"/>
              <a:t> (60M parameters) in 2012 achieved </a:t>
            </a:r>
            <a:r>
              <a:rPr lang="en-US" dirty="0" err="1"/>
              <a:t>SoTA</a:t>
            </a:r>
            <a:r>
              <a:rPr lang="en-US" dirty="0"/>
              <a:t> results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759047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20C028-AEA8-702B-0FC8-AC9F8B79A9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5BB02-2418-755D-CA13-D19EAAD72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Further History of ANNs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909A3D-EE93-65A8-32D4-CC7A155CEF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1257300"/>
            <a:ext cx="8648700" cy="4843463"/>
          </a:xfrm>
        </p:spPr>
        <p:txBody>
          <a:bodyPr>
            <a:normAutofit fontScale="85000" lnSpcReduction="20000"/>
          </a:bodyPr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mid-1980’s – mid-1990’s:</a:t>
            </a:r>
          </a:p>
          <a:p>
            <a:pPr lvl="1"/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Sejnowski’s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NETTalk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text-to-speech (1 hidden layer)</a:t>
            </a:r>
          </a:p>
          <a:p>
            <a:pPr lvl="1"/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Rumelhart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and McClelland </a:t>
            </a:r>
            <a:r>
              <a:rPr lang="en-US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PDP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book set</a:t>
            </a:r>
          </a:p>
          <a:p>
            <a:pPr lvl="1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Neural Info Processing Systems (NIPS) conference starts</a:t>
            </a:r>
          </a:p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Convolutional ANNs for vision tasks</a:t>
            </a:r>
          </a:p>
          <a:p>
            <a:r>
              <a:rPr lang="en-US" dirty="0"/>
              <a:t>2000-2015 saw a lot of progress</a:t>
            </a:r>
          </a:p>
          <a:p>
            <a:pPr lvl="1"/>
            <a:r>
              <a:rPr lang="en-US" dirty="0"/>
              <a:t>Mid-2000’s GPUs began being used for ML </a:t>
            </a:r>
          </a:p>
          <a:p>
            <a:pPr lvl="1"/>
            <a:r>
              <a:rPr lang="en-US" dirty="0"/>
              <a:t>Theano, 2007 – first widely-used </a:t>
            </a:r>
            <a:r>
              <a:rPr lang="en-US" dirty="0" err="1"/>
              <a:t>autodiff</a:t>
            </a:r>
            <a:r>
              <a:rPr lang="en-US" dirty="0"/>
              <a:t> + GPU ML platform</a:t>
            </a:r>
          </a:p>
          <a:p>
            <a:pPr lvl="1"/>
            <a:r>
              <a:rPr lang="en-US" dirty="0"/>
              <a:t>Larger datasets (e.g., ImageNet)</a:t>
            </a:r>
          </a:p>
          <a:p>
            <a:pPr lvl="1"/>
            <a:r>
              <a:rPr lang="en-US" dirty="0"/>
              <a:t>Many incremental improvements in architecture</a:t>
            </a:r>
          </a:p>
          <a:p>
            <a:pPr lvl="2"/>
            <a:endParaRPr lang="en-US" dirty="0"/>
          </a:p>
          <a:p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271364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8B2E00-BD5C-035B-0AE2-632F981376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66A52-9EDC-CAD1-D371-03BBCC47E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Art of ANNs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B287DA-2E39-DC5B-04ED-A300BDCFB2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BFCAB3E-DCA7-E2BB-8063-1531F8F6A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67566-1C70-F64B-AF85-AA83547E170B}" type="slidenum">
              <a:rPr lang="en-US" smtClean="0"/>
              <a:t>45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766404-5B73-34D6-83A5-18F1F5B97429}"/>
              </a:ext>
            </a:extLst>
          </p:cNvPr>
          <p:cNvSpPr txBox="1"/>
          <p:nvPr/>
        </p:nvSpPr>
        <p:spPr>
          <a:xfrm>
            <a:off x="1600200" y="3600450"/>
            <a:ext cx="64722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Incremental ANN improvements in early 2000’s</a:t>
            </a:r>
          </a:p>
        </p:txBody>
      </p:sp>
    </p:spTree>
    <p:extLst>
      <p:ext uri="{BB962C8B-B14F-4D97-AF65-F5344CB8AC3E}">
        <p14:creationId xmlns:p14="http://schemas.microsoft.com/office/powerpoint/2010/main" val="24470573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92319-BD36-8B15-A72E-BA1F455B2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Design a Deep NN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F76A12-E9D5-A8FF-B35B-8390E76106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Art not science</a:t>
            </a:r>
          </a:p>
          <a:p>
            <a:r>
              <a:rPr lang="en-US" dirty="0"/>
              <a:t>Useful new architectures are usually incremental changes to existing ones</a:t>
            </a:r>
          </a:p>
          <a:p>
            <a:r>
              <a:rPr lang="en-US" dirty="0"/>
              <a:t>Useful new optimizers are usually incremental changes to existing ones</a:t>
            </a:r>
          </a:p>
          <a:p>
            <a:r>
              <a:rPr lang="en-US" dirty="0"/>
              <a:t>The ML community has been jointly evolving</a:t>
            </a:r>
          </a:p>
          <a:p>
            <a:pPr lvl="1"/>
            <a:r>
              <a:rPr lang="en-US" dirty="0"/>
              <a:t>neural architectures (like Transformer)</a:t>
            </a:r>
          </a:p>
          <a:p>
            <a:pPr lvl="1"/>
            <a:r>
              <a:rPr lang="en-US" dirty="0"/>
              <a:t>loss functions (like cross-entropy)</a:t>
            </a:r>
          </a:p>
          <a:p>
            <a:pPr lvl="1"/>
            <a:r>
              <a:rPr lang="en-US" dirty="0"/>
              <a:t>optimizers (like SGD, Adam)</a:t>
            </a:r>
          </a:p>
          <a:p>
            <a:pPr lvl="1"/>
            <a:r>
              <a:rPr lang="en-US" dirty="0"/>
              <a:t>hardware (like GPUs/TPUs)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720531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Some key differences </a:t>
            </a:r>
            <a:r>
              <a:rPr lang="en-US" sz="2800" dirty="0"/>
              <a:t>in 2</a:t>
            </a:r>
            <a:r>
              <a:rPr lang="en-US" sz="2800" baseline="30000" dirty="0"/>
              <a:t>nd</a:t>
            </a:r>
            <a:r>
              <a:rPr lang="en-US" sz="2800" dirty="0"/>
              <a:t> wave of ANNs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Use of </a:t>
            </a:r>
            <a:r>
              <a:rPr lang="en-US" dirty="0" err="1">
                <a:solidFill>
                  <a:srgbClr val="0070C0"/>
                </a:solidFill>
              </a:rPr>
              <a:t>softmax</a:t>
            </a:r>
            <a:r>
              <a:rPr lang="en-US" dirty="0">
                <a:solidFill>
                  <a:srgbClr val="0070C0"/>
                </a:solidFill>
              </a:rPr>
              <a:t> and entropic loss instead of squared loss.</a:t>
            </a:r>
          </a:p>
          <a:p>
            <a:r>
              <a:rPr lang="en-US" dirty="0"/>
              <a:t>Use of alternate non-</a:t>
            </a:r>
            <a:r>
              <a:rPr lang="en-US" dirty="0" err="1"/>
              <a:t>linearities</a:t>
            </a:r>
            <a:endParaRPr lang="en-US" dirty="0"/>
          </a:p>
          <a:p>
            <a:pPr lvl="1"/>
            <a:r>
              <a:rPr lang="en-US" dirty="0" err="1"/>
              <a:t>reLU</a:t>
            </a:r>
            <a:r>
              <a:rPr lang="en-US" dirty="0"/>
              <a:t> and hyperbolic tangent</a:t>
            </a:r>
          </a:p>
          <a:p>
            <a:r>
              <a:rPr lang="en-US" dirty="0"/>
              <a:t>Better understanding of weight initialization</a:t>
            </a:r>
          </a:p>
          <a:p>
            <a:r>
              <a:rPr lang="en-US" dirty="0"/>
              <a:t>Residual connections (aka skip connections)</a:t>
            </a:r>
          </a:p>
          <a:p>
            <a:pPr lvl="1"/>
            <a:r>
              <a:rPr lang="en-US" dirty="0"/>
              <a:t>“Highway networks”</a:t>
            </a:r>
          </a:p>
          <a:p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67566-1C70-F64B-AF85-AA83547E170B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00229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5929086" cy="764668"/>
          </a:xfrm>
        </p:spPr>
        <p:txBody>
          <a:bodyPr/>
          <a:lstStyle/>
          <a:p>
            <a:r>
              <a:rPr lang="en-US" dirty="0" err="1"/>
              <a:t>Softmax</a:t>
            </a:r>
            <a:r>
              <a:rPr lang="en-US" dirty="0"/>
              <a:t> output layer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193" y="1466919"/>
            <a:ext cx="7531839" cy="3752470"/>
          </a:xfrm>
          <a:prstGeom prst="rect">
            <a:avLst/>
          </a:prstGeom>
        </p:spPr>
      </p:pic>
      <p:grpSp>
        <p:nvGrpSpPr>
          <p:cNvPr id="26" name="Group 25"/>
          <p:cNvGrpSpPr/>
          <p:nvPr/>
        </p:nvGrpSpPr>
        <p:grpSpPr>
          <a:xfrm>
            <a:off x="6246106" y="2355680"/>
            <a:ext cx="1742208" cy="1966514"/>
            <a:chOff x="6246106" y="2669340"/>
            <a:chExt cx="1742208" cy="1966514"/>
          </a:xfrm>
        </p:grpSpPr>
        <p:sp>
          <p:nvSpPr>
            <p:cNvPr id="5" name="Oval 4"/>
            <p:cNvSpPr/>
            <p:nvPr/>
          </p:nvSpPr>
          <p:spPr>
            <a:xfrm>
              <a:off x="7642057" y="3135826"/>
              <a:ext cx="323949" cy="323949"/>
            </a:xfrm>
            <a:prstGeom prst="ellipse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/>
            <p:cNvSpPr/>
            <p:nvPr/>
          </p:nvSpPr>
          <p:spPr>
            <a:xfrm>
              <a:off x="7642057" y="3511607"/>
              <a:ext cx="323949" cy="323949"/>
            </a:xfrm>
            <a:prstGeom prst="ellipse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/>
            <p:cNvSpPr/>
            <p:nvPr/>
          </p:nvSpPr>
          <p:spPr>
            <a:xfrm>
              <a:off x="7664365" y="3936124"/>
              <a:ext cx="323949" cy="323949"/>
            </a:xfrm>
            <a:prstGeom prst="ellipse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/>
            <p:cNvSpPr/>
            <p:nvPr/>
          </p:nvSpPr>
          <p:spPr>
            <a:xfrm>
              <a:off x="7664365" y="4311905"/>
              <a:ext cx="323949" cy="323949"/>
            </a:xfrm>
            <a:prstGeom prst="ellipse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" name="Straight Arrow Connector 9"/>
            <p:cNvCxnSpPr/>
            <p:nvPr/>
          </p:nvCxnSpPr>
          <p:spPr>
            <a:xfrm flipV="1">
              <a:off x="7049546" y="3343154"/>
              <a:ext cx="592511" cy="686771"/>
            </a:xfrm>
            <a:prstGeom prst="straightConnector1">
              <a:avLst/>
            </a:prstGeom>
            <a:ln>
              <a:solidFill>
                <a:schemeClr val="tx2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/>
            <p:cNvCxnSpPr/>
            <p:nvPr/>
          </p:nvCxnSpPr>
          <p:spPr>
            <a:xfrm>
              <a:off x="7049546" y="3343154"/>
              <a:ext cx="592511" cy="686771"/>
            </a:xfrm>
            <a:prstGeom prst="straightConnector1">
              <a:avLst/>
            </a:prstGeom>
            <a:ln>
              <a:solidFill>
                <a:schemeClr val="tx2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>
              <a:endCxn id="6" idx="3"/>
            </p:cNvCxnSpPr>
            <p:nvPr/>
          </p:nvCxnSpPr>
          <p:spPr>
            <a:xfrm flipV="1">
              <a:off x="7049546" y="3788115"/>
              <a:ext cx="639952" cy="523790"/>
            </a:xfrm>
            <a:prstGeom prst="straightConnector1">
              <a:avLst/>
            </a:prstGeom>
            <a:ln>
              <a:solidFill>
                <a:schemeClr val="tx2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>
              <a:endCxn id="8" idx="2"/>
            </p:cNvCxnSpPr>
            <p:nvPr/>
          </p:nvCxnSpPr>
          <p:spPr>
            <a:xfrm>
              <a:off x="7049546" y="4029925"/>
              <a:ext cx="614819" cy="443955"/>
            </a:xfrm>
            <a:prstGeom prst="straightConnector1">
              <a:avLst/>
            </a:prstGeom>
            <a:ln>
              <a:solidFill>
                <a:schemeClr val="tx2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/>
            <p:nvPr/>
          </p:nvCxnSpPr>
          <p:spPr>
            <a:xfrm flipV="1">
              <a:off x="7049546" y="3343154"/>
              <a:ext cx="592511" cy="285075"/>
            </a:xfrm>
            <a:prstGeom prst="straightConnector1">
              <a:avLst/>
            </a:prstGeom>
            <a:ln>
              <a:solidFill>
                <a:schemeClr val="tx2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/>
            <p:nvPr/>
          </p:nvCxnSpPr>
          <p:spPr>
            <a:xfrm>
              <a:off x="7049546" y="3628229"/>
              <a:ext cx="592511" cy="401696"/>
            </a:xfrm>
            <a:prstGeom prst="straightConnector1">
              <a:avLst/>
            </a:prstGeom>
            <a:ln>
              <a:solidFill>
                <a:schemeClr val="tx2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>
              <a:endCxn id="8" idx="1"/>
            </p:cNvCxnSpPr>
            <p:nvPr/>
          </p:nvCxnSpPr>
          <p:spPr>
            <a:xfrm>
              <a:off x="7049546" y="3788115"/>
              <a:ext cx="662260" cy="571231"/>
            </a:xfrm>
            <a:prstGeom prst="straightConnector1">
              <a:avLst/>
            </a:prstGeom>
            <a:ln>
              <a:solidFill>
                <a:schemeClr val="tx2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 flipH="1">
              <a:off x="6246106" y="2669340"/>
              <a:ext cx="1418259" cy="246201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7" name="Picture 26" descr="Screen Shot 2016-04-03 at 5.43.39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0129" y="228865"/>
            <a:ext cx="2933871" cy="1560286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925718" y="1876235"/>
            <a:ext cx="10223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Softmax</a:t>
            </a:r>
            <a:endParaRPr 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79156" y="5219389"/>
            <a:ext cx="6846562" cy="46166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/>
              <a:t>Network outputs a probability distribution!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5159" y="5688891"/>
            <a:ext cx="6846562" cy="83099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/>
              <a:t>Cross-entropy loss after a </a:t>
            </a:r>
            <a:r>
              <a:rPr lang="en-US" sz="2400" dirty="0" err="1"/>
              <a:t>softmax</a:t>
            </a:r>
            <a:r>
              <a:rPr lang="en-US" sz="2400" dirty="0"/>
              <a:t> layer gives a very simple, numerically stable gradient:  Y - P</a:t>
            </a:r>
          </a:p>
        </p:txBody>
      </p:sp>
      <p:sp>
        <p:nvSpPr>
          <p:cNvPr id="3" name="Rounded Rectangular Callout 2"/>
          <p:cNvSpPr/>
          <p:nvPr/>
        </p:nvSpPr>
        <p:spPr>
          <a:xfrm>
            <a:off x="6667500" y="4783960"/>
            <a:ext cx="2149929" cy="870857"/>
          </a:xfrm>
          <a:prstGeom prst="wedgeRoundRectCallout">
            <a:avLst>
              <a:gd name="adj1" fmla="val -17240"/>
              <a:gd name="adj2" fmla="val -122917"/>
              <a:gd name="adj3" fmla="val 1666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i="1" dirty="0" err="1"/>
              <a:t>Δw</a:t>
            </a:r>
            <a:r>
              <a:rPr lang="en-US" sz="2400" i="1" baseline="-25000" dirty="0" err="1"/>
              <a:t>ij</a:t>
            </a:r>
            <a:r>
              <a:rPr lang="en-US" sz="2400" i="1" baseline="-25000" dirty="0"/>
              <a:t> = </a:t>
            </a:r>
            <a:r>
              <a:rPr lang="en-US" sz="2400" i="1" dirty="0"/>
              <a:t>(</a:t>
            </a:r>
            <a:r>
              <a:rPr lang="en-US" sz="2400" i="1" dirty="0" err="1"/>
              <a:t>y</a:t>
            </a:r>
            <a:r>
              <a:rPr lang="en-US" sz="2400" i="1" baseline="-25000" dirty="0" err="1"/>
              <a:t>i</a:t>
            </a:r>
            <a:r>
              <a:rPr lang="en-US" sz="2400" i="1" dirty="0" err="1"/>
              <a:t>-z</a:t>
            </a:r>
            <a:r>
              <a:rPr lang="en-US" sz="2400" i="1" baseline="-25000" dirty="0" err="1"/>
              <a:t>i</a:t>
            </a:r>
            <a:r>
              <a:rPr lang="en-US" sz="2400" i="1" dirty="0"/>
              <a:t>)y </a:t>
            </a:r>
            <a:r>
              <a:rPr lang="en-US" baseline="-25000" dirty="0"/>
              <a:t>j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67566-1C70-F64B-AF85-AA83547E170B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45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 animBg="1"/>
      <p:bldP spid="30" grpId="0" animBg="1"/>
      <p:bldP spid="3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Cross-entropy loss</a:t>
            </a:r>
          </a:p>
        </p:txBody>
      </p:sp>
      <p:pic>
        <p:nvPicPr>
          <p:cNvPr id="5" name="Picture 4" descr="Screen Shot 2016-04-03 at 5.38.04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400" y="0"/>
            <a:ext cx="7616818" cy="6858000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67566-1C70-F64B-AF85-AA83547E170B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81836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285E3E-2283-DBB9-E663-2BDF3395CC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CC28868-78F3-2DAD-DCA7-F4C87C917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key differences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8BC96D1-7B7F-7EF5-9904-A5C3524E31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Use of </a:t>
            </a:r>
            <a:r>
              <a:rPr lang="en-US" dirty="0" err="1"/>
              <a:t>softmax</a:t>
            </a:r>
            <a:r>
              <a:rPr lang="en-US" dirty="0"/>
              <a:t> and entropic loss instead of squared loss.</a:t>
            </a:r>
          </a:p>
          <a:p>
            <a:r>
              <a:rPr lang="en-US" dirty="0">
                <a:solidFill>
                  <a:srgbClr val="0070C0"/>
                </a:solidFill>
              </a:rPr>
              <a:t>Use of alternate non-</a:t>
            </a:r>
            <a:r>
              <a:rPr lang="en-US" dirty="0" err="1">
                <a:solidFill>
                  <a:srgbClr val="0070C0"/>
                </a:solidFill>
              </a:rPr>
              <a:t>linearities</a:t>
            </a:r>
            <a:endParaRPr lang="en-US" dirty="0">
              <a:solidFill>
                <a:srgbClr val="0070C0"/>
              </a:solidFill>
            </a:endParaRPr>
          </a:p>
          <a:p>
            <a:pPr lvl="1"/>
            <a:r>
              <a:rPr lang="en-US" dirty="0" err="1">
                <a:solidFill>
                  <a:srgbClr val="0070C0"/>
                </a:solidFill>
              </a:rPr>
              <a:t>reLU</a:t>
            </a:r>
            <a:r>
              <a:rPr lang="en-US" dirty="0">
                <a:solidFill>
                  <a:srgbClr val="0070C0"/>
                </a:solidFill>
              </a:rPr>
              <a:t> and hyperbolic tangent</a:t>
            </a:r>
          </a:p>
          <a:p>
            <a:r>
              <a:rPr lang="en-US" dirty="0"/>
              <a:t>Better understanding of weight initialization</a:t>
            </a:r>
          </a:p>
          <a:p>
            <a:r>
              <a:rPr lang="en-US" dirty="0"/>
              <a:t>Residual connections (aka skip connections)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94096DF-3071-26C5-7442-0B9329729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67566-1C70-F64B-AF85-AA83547E170B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9743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Alternative non-</a:t>
            </a:r>
            <a:r>
              <a:rPr lang="en-US" dirty="0" err="1"/>
              <a:t>linearities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9400" y="1257301"/>
            <a:ext cx="8648700" cy="3731514"/>
          </a:xfrm>
        </p:spPr>
        <p:txBody>
          <a:bodyPr>
            <a:normAutofit/>
          </a:bodyPr>
          <a:lstStyle/>
          <a:p>
            <a:r>
              <a:rPr lang="en-US" dirty="0"/>
              <a:t>A new change: modifying the nonlinearity</a:t>
            </a:r>
          </a:p>
          <a:p>
            <a:pPr lvl="1"/>
            <a:r>
              <a:rPr lang="en-US" dirty="0" err="1"/>
              <a:t>reLU</a:t>
            </a:r>
            <a:r>
              <a:rPr lang="en-US" dirty="0"/>
              <a:t> often used in vision tasks</a:t>
            </a:r>
          </a:p>
        </p:txBody>
      </p:sp>
      <p:pic>
        <p:nvPicPr>
          <p:cNvPr id="4" name="Picture 3" descr="Screen shot 2014-09-21 at 2.51.53 PM.png"/>
          <p:cNvPicPr>
            <a:picLocks noChangeAspect="1"/>
          </p:cNvPicPr>
          <p:nvPr/>
        </p:nvPicPr>
        <p:blipFill rotWithShape="1">
          <a:blip r:embed="rId2"/>
          <a:srcRect b="9888"/>
          <a:stretch/>
        </p:blipFill>
        <p:spPr>
          <a:xfrm>
            <a:off x="3747163" y="5147559"/>
            <a:ext cx="5180937" cy="171044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297527" y="2832971"/>
            <a:ext cx="4455817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400" dirty="0"/>
              <a:t>Alternate 2: rectified linear unit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527" y="3542563"/>
            <a:ext cx="4630573" cy="15696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/>
              <a:t>Linear with a cutoff at zero</a:t>
            </a:r>
          </a:p>
          <a:p>
            <a:endParaRPr lang="en-US" sz="2400" dirty="0"/>
          </a:p>
          <a:p>
            <a:r>
              <a:rPr lang="en-US" sz="2400" dirty="0"/>
              <a:t>(Implement: clip the gradient when you pass zero)</a:t>
            </a:r>
          </a:p>
        </p:txBody>
      </p:sp>
      <p:pic>
        <p:nvPicPr>
          <p:cNvPr id="8" name="Picture 7" descr="Screen Shot 2016-04-03 at 5.53.27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4659" y="2578634"/>
            <a:ext cx="4322186" cy="2843966"/>
          </a:xfrm>
          <a:prstGeom prst="rect">
            <a:avLst/>
          </a:prstGeom>
        </p:spPr>
      </p:pic>
      <p:pic>
        <p:nvPicPr>
          <p:cNvPr id="9" name="Picture 8" descr="Screen Shot 2016-04-03 at 5.53.48 PM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700" y="5422600"/>
            <a:ext cx="2514600" cy="711200"/>
          </a:xfrm>
          <a:prstGeom prst="rect">
            <a:avLst/>
          </a:prstGeom>
        </p:spPr>
      </p:pic>
      <p:cxnSp>
        <p:nvCxnSpPr>
          <p:cNvPr id="10" name="Straight Connector 9"/>
          <p:cNvCxnSpPr/>
          <p:nvPr/>
        </p:nvCxnSpPr>
        <p:spPr>
          <a:xfrm>
            <a:off x="399143" y="4127500"/>
            <a:ext cx="144235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V="1">
            <a:off x="1841500" y="3048000"/>
            <a:ext cx="1351643" cy="10795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67566-1C70-F64B-AF85-AA83547E170B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27500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78F75B-1B01-0487-1166-641F8E852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C7B464F-F902-79E3-207B-5EAAF2FD4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key differences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40C916E-A072-FAAB-2CEF-D73C8F7D3F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Use of </a:t>
            </a:r>
            <a:r>
              <a:rPr lang="en-US" dirty="0" err="1"/>
              <a:t>softmax</a:t>
            </a:r>
            <a:r>
              <a:rPr lang="en-US" dirty="0"/>
              <a:t> and entropic loss instead of squared loss.</a:t>
            </a:r>
          </a:p>
          <a:p>
            <a:r>
              <a:rPr lang="en-US" dirty="0"/>
              <a:t>Use of alternate non-</a:t>
            </a:r>
            <a:r>
              <a:rPr lang="en-US" dirty="0" err="1"/>
              <a:t>linearities</a:t>
            </a:r>
            <a:endParaRPr lang="en-US" dirty="0"/>
          </a:p>
          <a:p>
            <a:pPr lvl="1"/>
            <a:r>
              <a:rPr lang="en-US" dirty="0" err="1"/>
              <a:t>reLU</a:t>
            </a:r>
            <a:r>
              <a:rPr lang="en-US" dirty="0"/>
              <a:t> and hyperbolic tangent</a:t>
            </a:r>
          </a:p>
          <a:p>
            <a:r>
              <a:rPr lang="en-US" dirty="0">
                <a:solidFill>
                  <a:srgbClr val="0070C0"/>
                </a:solidFill>
              </a:rPr>
              <a:t>Better understanding of weight initialization</a:t>
            </a:r>
          </a:p>
          <a:p>
            <a:r>
              <a:rPr lang="en-US" dirty="0"/>
              <a:t>Residual connections (aka skip connections)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3C57994-CB58-8F33-3EFE-D58E6146C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67566-1C70-F64B-AF85-AA83547E170B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41897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It’s easy for sigmoid units to saturate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000" y="1651000"/>
            <a:ext cx="7112000" cy="3543300"/>
          </a:xfrm>
          <a:prstGeom prst="rect">
            <a:avLst/>
          </a:prstGeom>
        </p:spPr>
      </p:pic>
      <p:sp>
        <p:nvSpPr>
          <p:cNvPr id="9" name="Rectangular Callout 8"/>
          <p:cNvSpPr/>
          <p:nvPr/>
        </p:nvSpPr>
        <p:spPr>
          <a:xfrm>
            <a:off x="1373625" y="5403469"/>
            <a:ext cx="6855165" cy="1192132"/>
          </a:xfrm>
          <a:prstGeom prst="wedgeRectCallout">
            <a:avLst>
              <a:gd name="adj1" fmla="val -6466"/>
              <a:gd name="adj2" fmla="val -22771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For a big network there are lots of weighted inputs to each neuron.  If any of them are too large then the neuron will saturate.  So neurons get stuck with a few large inputs OR many small ones.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67566-1C70-F64B-AF85-AA83547E170B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82462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It’s easy for sigmoid units to saturate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79400" y="1257300"/>
            <a:ext cx="8648700" cy="829611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If there are 500 non-zero inputs initialized with a Gaussian ~N(0,1) then the SD is</a:t>
            </a:r>
          </a:p>
        </p:txBody>
      </p:sp>
      <p:pic>
        <p:nvPicPr>
          <p:cNvPr id="6" name="Picture 5" descr="Screen Shot 2016-04-03 at 4.05.49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399" y="2597981"/>
            <a:ext cx="8143771" cy="1942076"/>
          </a:xfrm>
          <a:prstGeom prst="rect">
            <a:avLst/>
          </a:prstGeom>
        </p:spPr>
      </p:pic>
      <p:sp>
        <p:nvSpPr>
          <p:cNvPr id="7" name="Content Placeholder 4"/>
          <p:cNvSpPr txBox="1">
            <a:spLocks/>
          </p:cNvSpPr>
          <p:nvPr/>
        </p:nvSpPr>
        <p:spPr>
          <a:xfrm>
            <a:off x="279400" y="4765812"/>
            <a:ext cx="8648700" cy="19852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32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4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4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Common heuristics for initializing weights:</a:t>
            </a:r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5540588" y="1609176"/>
          <a:ext cx="1888181" cy="5015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812800" imgH="215900" progId="Equation.3">
                  <p:embed/>
                </p:oleObj>
              </mc:Choice>
              <mc:Fallback>
                <p:oleObj name="Equation" r:id="rId3" imgW="812800" imgH="215900" progId="Equation.3">
                  <p:embed/>
                  <p:pic>
                    <p:nvPicPr>
                      <p:cNvPr id="9" name="Object 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540588" y="1609176"/>
                        <a:ext cx="1888181" cy="5015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/>
        </p:nvGraphicFramePr>
        <p:xfrm>
          <a:off x="4179249" y="5455301"/>
          <a:ext cx="4243921" cy="14026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536700" imgH="508000" progId="Equation.3">
                  <p:embed/>
                </p:oleObj>
              </mc:Choice>
              <mc:Fallback>
                <p:oleObj name="Equation" r:id="rId5" imgW="1536700" imgH="508000" progId="Equation.3">
                  <p:embed/>
                  <p:pic>
                    <p:nvPicPr>
                      <p:cNvPr id="10" name="Object 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179249" y="5455301"/>
                        <a:ext cx="4243921" cy="140269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/>
          <p:cNvGraphicFramePr>
            <a:graphicFrameLocks noChangeAspect="1"/>
          </p:cNvGraphicFramePr>
          <p:nvPr/>
        </p:nvGraphicFramePr>
        <p:xfrm>
          <a:off x="950989" y="5455301"/>
          <a:ext cx="2624684" cy="12957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028700" imgH="508000" progId="Equation.3">
                  <p:embed/>
                </p:oleObj>
              </mc:Choice>
              <mc:Fallback>
                <p:oleObj name="Equation" r:id="rId7" imgW="1028700" imgH="508000" progId="Equation.3">
                  <p:embed/>
                  <p:pic>
                    <p:nvPicPr>
                      <p:cNvPr id="11" name="Object 10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950989" y="5455301"/>
                        <a:ext cx="2624684" cy="129579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67566-1C70-F64B-AF85-AA83547E170B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57795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4"/>
          <p:cNvSpPr txBox="1">
            <a:spLocks/>
          </p:cNvSpPr>
          <p:nvPr/>
        </p:nvSpPr>
        <p:spPr>
          <a:xfrm>
            <a:off x="279400" y="4765812"/>
            <a:ext cx="7638381" cy="19852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32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4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4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Saturation visualization from </a:t>
            </a:r>
            <a:r>
              <a:rPr lang="en-US" dirty="0" err="1"/>
              <a:t>Glorot</a:t>
            </a:r>
            <a:r>
              <a:rPr lang="en-US" dirty="0"/>
              <a:t> &amp; </a:t>
            </a:r>
            <a:r>
              <a:rPr lang="en-US" dirty="0" err="1"/>
              <a:t>Bengio</a:t>
            </a:r>
            <a:r>
              <a:rPr lang="en-US" dirty="0"/>
              <a:t> 2010 using </a:t>
            </a:r>
          </a:p>
        </p:txBody>
      </p:sp>
      <p:graphicFrame>
        <p:nvGraphicFramePr>
          <p:cNvPr id="10" name="Object 9"/>
          <p:cNvGraphicFramePr>
            <a:graphicFrameLocks noChangeAspect="1"/>
          </p:cNvGraphicFramePr>
          <p:nvPr/>
        </p:nvGraphicFramePr>
        <p:xfrm>
          <a:off x="3944222" y="5455301"/>
          <a:ext cx="3489227" cy="11532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36700" imgH="508000" progId="Equation.3">
                  <p:embed/>
                </p:oleObj>
              </mc:Choice>
              <mc:Fallback>
                <p:oleObj name="Equation" r:id="rId2" imgW="1536700" imgH="508000" progId="Equation.3">
                  <p:embed/>
                  <p:pic>
                    <p:nvPicPr>
                      <p:cNvPr id="10" name="Object 9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944222" y="5455301"/>
                        <a:ext cx="3489227" cy="115325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It’s easy for sigmoid units to saturate</a:t>
            </a:r>
          </a:p>
        </p:txBody>
      </p:sp>
      <p:pic>
        <p:nvPicPr>
          <p:cNvPr id="12" name="Picture 11" descr="Screen Shot 2016-04-03 at 4.13.49 PM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43372"/>
            <a:ext cx="9144000" cy="3048000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67566-1C70-F64B-AF85-AA83547E170B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33623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Initializing to avoid saturation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</a:t>
            </a:r>
            <a:r>
              <a:rPr lang="en-US" dirty="0" err="1"/>
              <a:t>Glorot</a:t>
            </a:r>
            <a:r>
              <a:rPr lang="en-US" dirty="0"/>
              <a:t> and </a:t>
            </a:r>
            <a:r>
              <a:rPr lang="en-US" dirty="0" err="1"/>
              <a:t>Bengio</a:t>
            </a:r>
            <a:r>
              <a:rPr lang="en-US" dirty="0"/>
              <a:t> they suggest weights if level </a:t>
            </a:r>
            <a:r>
              <a:rPr lang="en-US" i="1" dirty="0"/>
              <a:t>j </a:t>
            </a:r>
            <a:r>
              <a:rPr lang="en-US" dirty="0"/>
              <a:t>(with </a:t>
            </a:r>
            <a:r>
              <a:rPr lang="en-US" i="1" dirty="0" err="1"/>
              <a:t>n</a:t>
            </a:r>
            <a:r>
              <a:rPr lang="en-US" i="1" baseline="-25000" dirty="0" err="1"/>
              <a:t>j</a:t>
            </a:r>
            <a:r>
              <a:rPr lang="en-US" i="1" dirty="0"/>
              <a:t> </a:t>
            </a:r>
            <a:r>
              <a:rPr lang="en-US" dirty="0"/>
              <a:t>inputs) from</a:t>
            </a:r>
          </a:p>
        </p:txBody>
      </p:sp>
      <p:pic>
        <p:nvPicPr>
          <p:cNvPr id="4" name="Picture 3" descr="Screen Shot 2016-04-03 at 6.01.43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3533" y="2567937"/>
            <a:ext cx="5367848" cy="1675677"/>
          </a:xfrm>
          <a:prstGeom prst="rect">
            <a:avLst/>
          </a:prstGeom>
        </p:spPr>
      </p:pic>
      <p:pic>
        <p:nvPicPr>
          <p:cNvPr id="5" name="Picture 4" descr="Screen Shot 2016-04-03 at 6.03.36 PM.pn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5315"/>
          <a:stretch/>
        </p:blipFill>
        <p:spPr>
          <a:xfrm>
            <a:off x="758659" y="4068164"/>
            <a:ext cx="7581900" cy="1361221"/>
          </a:xfrm>
          <a:prstGeom prst="rect">
            <a:avLst/>
          </a:prstGeom>
        </p:spPr>
      </p:pic>
      <p:pic>
        <p:nvPicPr>
          <p:cNvPr id="6" name="Picture 5" descr="Screen Shot 2016-04-03 at 6.03.36 PM.pn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322"/>
          <a:stretch/>
        </p:blipFill>
        <p:spPr>
          <a:xfrm>
            <a:off x="758659" y="4457537"/>
            <a:ext cx="7581900" cy="118680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33028" y="5792208"/>
            <a:ext cx="6375693" cy="83099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This is not always the solution – but good initialization is very important for deep nets!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50508" y="1775240"/>
            <a:ext cx="5953353" cy="193899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First breakthrough deep learning results were based on clever pre-training initialization schemes, where deep networks were seeded with weights learned from unsupervised strategies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67566-1C70-F64B-AF85-AA83547E170B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330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628FC0-1FEE-DEA3-B105-CC9219315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67B8564-CCF7-60C6-86E0-AC9C4BBFB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key differences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217BE47-D16D-C435-8DBD-A864DF525B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Use of </a:t>
            </a:r>
            <a:r>
              <a:rPr lang="en-US" dirty="0" err="1"/>
              <a:t>softmax</a:t>
            </a:r>
            <a:r>
              <a:rPr lang="en-US" dirty="0"/>
              <a:t> and entropic loss instead of squared loss.</a:t>
            </a:r>
          </a:p>
          <a:p>
            <a:r>
              <a:rPr lang="en-US" dirty="0"/>
              <a:t>Use of alternate non-</a:t>
            </a:r>
            <a:r>
              <a:rPr lang="en-US" dirty="0" err="1"/>
              <a:t>linearities</a:t>
            </a:r>
            <a:endParaRPr lang="en-US" dirty="0"/>
          </a:p>
          <a:p>
            <a:pPr lvl="1"/>
            <a:r>
              <a:rPr lang="en-US" dirty="0" err="1"/>
              <a:t>reLU</a:t>
            </a:r>
            <a:r>
              <a:rPr lang="en-US" dirty="0"/>
              <a:t> and hyperbolic tangent</a:t>
            </a:r>
          </a:p>
          <a:p>
            <a:r>
              <a:rPr lang="en-US" dirty="0"/>
              <a:t>Better understanding of weight initialization</a:t>
            </a:r>
          </a:p>
          <a:p>
            <a:r>
              <a:rPr lang="en-US" dirty="0">
                <a:solidFill>
                  <a:srgbClr val="0070C0"/>
                </a:solidFill>
              </a:rPr>
              <a:t>Residual connections (aka skip connections)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5E8A8F-23F0-3695-5803-37FDF8C17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67566-1C70-F64B-AF85-AA83547E170B}" type="slidenum">
              <a:rPr lang="en-US" smtClean="0"/>
              <a:t>57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6334155-2C48-BAEE-AEF8-4B06752B9F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8449" y="4732717"/>
            <a:ext cx="3412464" cy="1845833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925641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94BED-4095-DA9A-2C77-59C936F31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CNNs with Residual Connections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D5DA68-7FA1-1AB1-E951-F56AB02F3178}"/>
              </a:ext>
            </a:extLst>
          </p:cNvPr>
          <p:cNvSpPr txBox="1"/>
          <p:nvPr/>
        </p:nvSpPr>
        <p:spPr>
          <a:xfrm>
            <a:off x="128588" y="3600896"/>
            <a:ext cx="4269304" cy="258532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Cambria Math"/>
                <a:cs typeface="Cambria Math"/>
              </a:rPr>
              <a:t>Inputs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: X,W1,B1,W2,B2</a:t>
            </a:r>
          </a:p>
          <a:p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Z1a = </a:t>
            </a:r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mul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(X,W1)        </a:t>
            </a:r>
            <a:r>
              <a:rPr lang="en-US" dirty="0">
                <a:solidFill>
                  <a:prstClr val="black"/>
                </a:solidFill>
                <a:latin typeface="Cambria Math"/>
                <a:cs typeface="Cambria Math"/>
              </a:rPr>
              <a:t>// matrix </a:t>
            </a:r>
            <a:r>
              <a:rPr lang="en-US" dirty="0" err="1">
                <a:solidFill>
                  <a:prstClr val="black"/>
                </a:solidFill>
                <a:latin typeface="Cambria Math"/>
                <a:cs typeface="Cambria Math"/>
              </a:rPr>
              <a:t>mult</a:t>
            </a:r>
            <a:endParaRPr lang="en-US" dirty="0">
              <a:solidFill>
                <a:prstClr val="black"/>
              </a:solidFill>
              <a:latin typeface="Cambria Math"/>
              <a:cs typeface="Cambria Math"/>
            </a:endParaRPr>
          </a:p>
          <a:p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Z1b = add(Z1a,B1)      </a:t>
            </a:r>
            <a:r>
              <a:rPr lang="en-US" dirty="0">
                <a:solidFill>
                  <a:prstClr val="black"/>
                </a:solidFill>
                <a:latin typeface="Cambria Math"/>
                <a:cs typeface="Cambria Math"/>
              </a:rPr>
              <a:t>// add bias </a:t>
            </a:r>
            <a:r>
              <a:rPr lang="en-US" dirty="0" err="1">
                <a:solidFill>
                  <a:prstClr val="black"/>
                </a:solidFill>
                <a:latin typeface="Cambria Math"/>
                <a:cs typeface="Cambria Math"/>
              </a:rPr>
              <a:t>vec</a:t>
            </a:r>
            <a:endParaRPr lang="en-US" dirty="0">
              <a:solidFill>
                <a:prstClr val="black"/>
              </a:solidFill>
              <a:latin typeface="American Typewriter"/>
              <a:cs typeface="American Typewriter"/>
            </a:endParaRPr>
          </a:p>
          <a:p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A1 = </a:t>
            </a:r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tanh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(Z1b)            </a:t>
            </a:r>
            <a:r>
              <a:rPr lang="en-US" dirty="0">
                <a:solidFill>
                  <a:prstClr val="black"/>
                </a:solidFill>
                <a:latin typeface="Cambria Math"/>
                <a:cs typeface="Cambria Math"/>
              </a:rPr>
              <a:t>//element-wise</a:t>
            </a:r>
            <a:endParaRPr lang="en-US" dirty="0">
              <a:solidFill>
                <a:prstClr val="black"/>
              </a:solidFill>
              <a:latin typeface="American Typewriter"/>
              <a:cs typeface="American Typewriter"/>
            </a:endParaRPr>
          </a:p>
          <a:p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Z2a = </a:t>
            </a:r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mul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(A1,W2) </a:t>
            </a:r>
          </a:p>
          <a:p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Z2b = add(Z2a,B2) </a:t>
            </a:r>
          </a:p>
          <a:p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A2 = </a:t>
            </a:r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tanh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(Z2b)           </a:t>
            </a:r>
            <a:r>
              <a:rPr lang="en-US" dirty="0">
                <a:solidFill>
                  <a:prstClr val="black"/>
                </a:solidFill>
                <a:latin typeface="Cambria Math"/>
                <a:cs typeface="Cambria Math"/>
              </a:rPr>
              <a:t>// element-wise</a:t>
            </a:r>
            <a:endParaRPr lang="en-US" dirty="0">
              <a:solidFill>
                <a:prstClr val="black"/>
              </a:solidFill>
              <a:latin typeface="American Typewriter"/>
              <a:cs typeface="American Typewriter"/>
            </a:endParaRPr>
          </a:p>
          <a:p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P = </a:t>
            </a:r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softMax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(A2)         </a:t>
            </a:r>
            <a:r>
              <a:rPr lang="en-US" dirty="0">
                <a:solidFill>
                  <a:prstClr val="black"/>
                </a:solidFill>
                <a:latin typeface="Cambria Math"/>
                <a:cs typeface="Cambria Math"/>
              </a:rPr>
              <a:t>// </a:t>
            </a:r>
            <a:r>
              <a:rPr lang="en-US" dirty="0" err="1">
                <a:solidFill>
                  <a:prstClr val="black"/>
                </a:solidFill>
                <a:latin typeface="Cambria Math"/>
                <a:cs typeface="Cambria Math"/>
              </a:rPr>
              <a:t>vec</a:t>
            </a:r>
            <a:r>
              <a:rPr lang="en-US" dirty="0">
                <a:solidFill>
                  <a:prstClr val="black"/>
                </a:solidFill>
                <a:latin typeface="Cambria Math"/>
                <a:cs typeface="Cambria Math"/>
              </a:rPr>
              <a:t> to </a:t>
            </a:r>
            <a:r>
              <a:rPr lang="en-US" dirty="0" err="1">
                <a:solidFill>
                  <a:prstClr val="black"/>
                </a:solidFill>
                <a:latin typeface="Cambria Math"/>
                <a:cs typeface="Cambria Math"/>
              </a:rPr>
              <a:t>vec</a:t>
            </a:r>
            <a:endParaRPr lang="en-US" dirty="0">
              <a:solidFill>
                <a:prstClr val="black"/>
              </a:solidFill>
              <a:latin typeface="Cambria Math"/>
              <a:cs typeface="Cambria Math"/>
            </a:endParaRPr>
          </a:p>
          <a:p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C = </a:t>
            </a:r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crossEnt</a:t>
            </a:r>
            <a:r>
              <a:rPr lang="en-US" baseline="-25000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Y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(P)        </a:t>
            </a:r>
            <a:r>
              <a:rPr lang="en-US" dirty="0">
                <a:solidFill>
                  <a:prstClr val="black"/>
                </a:solidFill>
                <a:latin typeface="Cambria Math"/>
                <a:cs typeface="Cambria Math"/>
              </a:rPr>
              <a:t>// cost function</a:t>
            </a:r>
            <a:endParaRPr lang="en-US" dirty="0">
              <a:solidFill>
                <a:prstClr val="black"/>
              </a:solidFill>
              <a:latin typeface="American Typewriter"/>
              <a:cs typeface="American Typewriter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679B09-9CD3-AAF6-2571-89F4FA953FF2}"/>
              </a:ext>
            </a:extLst>
          </p:cNvPr>
          <p:cNvSpPr txBox="1"/>
          <p:nvPr/>
        </p:nvSpPr>
        <p:spPr>
          <a:xfrm>
            <a:off x="4572000" y="3608174"/>
            <a:ext cx="4269304" cy="258532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Cambria Math"/>
                <a:cs typeface="Cambria Math"/>
              </a:rPr>
              <a:t>Inputs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: X,W1,B1,W2,B2</a:t>
            </a:r>
          </a:p>
          <a:p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Z1a = </a:t>
            </a:r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mul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(X,W1)        </a:t>
            </a:r>
            <a:r>
              <a:rPr lang="en-US" dirty="0">
                <a:solidFill>
                  <a:prstClr val="black"/>
                </a:solidFill>
                <a:latin typeface="Cambria Math"/>
                <a:cs typeface="Cambria Math"/>
              </a:rPr>
              <a:t>// matrix </a:t>
            </a:r>
            <a:r>
              <a:rPr lang="en-US" dirty="0" err="1">
                <a:solidFill>
                  <a:prstClr val="black"/>
                </a:solidFill>
                <a:latin typeface="Cambria Math"/>
                <a:cs typeface="Cambria Math"/>
              </a:rPr>
              <a:t>mult</a:t>
            </a:r>
            <a:endParaRPr lang="en-US" dirty="0">
              <a:solidFill>
                <a:prstClr val="black"/>
              </a:solidFill>
              <a:latin typeface="Cambria Math"/>
              <a:cs typeface="Cambria Math"/>
            </a:endParaRPr>
          </a:p>
          <a:p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Z1b = add(Z1a,B1)      </a:t>
            </a:r>
            <a:r>
              <a:rPr lang="en-US" dirty="0">
                <a:solidFill>
                  <a:prstClr val="black"/>
                </a:solidFill>
                <a:latin typeface="Cambria Math"/>
                <a:cs typeface="Cambria Math"/>
              </a:rPr>
              <a:t>// add bias </a:t>
            </a:r>
            <a:r>
              <a:rPr lang="en-US" dirty="0" err="1">
                <a:solidFill>
                  <a:prstClr val="black"/>
                </a:solidFill>
                <a:latin typeface="Cambria Math"/>
                <a:cs typeface="Cambria Math"/>
              </a:rPr>
              <a:t>vec</a:t>
            </a:r>
            <a:endParaRPr lang="en-US" dirty="0">
              <a:solidFill>
                <a:prstClr val="black"/>
              </a:solidFill>
              <a:latin typeface="American Typewriter"/>
              <a:cs typeface="American Typewriter"/>
            </a:endParaRPr>
          </a:p>
          <a:p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A1 = </a:t>
            </a:r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tanh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(Z1b)            </a:t>
            </a:r>
            <a:r>
              <a:rPr lang="en-US" dirty="0">
                <a:solidFill>
                  <a:prstClr val="black"/>
                </a:solidFill>
                <a:latin typeface="Cambria Math"/>
                <a:cs typeface="Cambria Math"/>
              </a:rPr>
              <a:t>//element-wise</a:t>
            </a:r>
            <a:endParaRPr lang="en-US" dirty="0">
              <a:solidFill>
                <a:prstClr val="black"/>
              </a:solidFill>
              <a:latin typeface="American Typewriter"/>
              <a:cs typeface="American Typewriter"/>
            </a:endParaRPr>
          </a:p>
          <a:p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Z2a = </a:t>
            </a:r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mul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(A1,W2) </a:t>
            </a:r>
          </a:p>
          <a:p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Z2b = add(Z2a,B2) </a:t>
            </a:r>
          </a:p>
          <a:p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A2 = tanh(Z2b)</a:t>
            </a:r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merican Typewriter"/>
                <a:cs typeface="American Typewriter"/>
              </a:rPr>
              <a:t> + A1  </a:t>
            </a:r>
            <a:r>
              <a:rPr lang="en-US" dirty="0">
                <a:solidFill>
                  <a:prstClr val="black"/>
                </a:solidFill>
                <a:latin typeface="Cambria Math"/>
                <a:cs typeface="Cambria Math"/>
              </a:rPr>
              <a:t>// element-wise</a:t>
            </a:r>
            <a:endParaRPr lang="en-US" dirty="0">
              <a:solidFill>
                <a:prstClr val="black"/>
              </a:solidFill>
              <a:latin typeface="American Typewriter"/>
              <a:cs typeface="American Typewriter"/>
            </a:endParaRPr>
          </a:p>
          <a:p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P = </a:t>
            </a:r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softMax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(A2)         </a:t>
            </a:r>
            <a:r>
              <a:rPr lang="en-US" dirty="0">
                <a:solidFill>
                  <a:prstClr val="black"/>
                </a:solidFill>
                <a:latin typeface="Cambria Math"/>
                <a:cs typeface="Cambria Math"/>
              </a:rPr>
              <a:t>// </a:t>
            </a:r>
            <a:r>
              <a:rPr lang="en-US" dirty="0" err="1">
                <a:solidFill>
                  <a:prstClr val="black"/>
                </a:solidFill>
                <a:latin typeface="Cambria Math"/>
                <a:cs typeface="Cambria Math"/>
              </a:rPr>
              <a:t>vec</a:t>
            </a:r>
            <a:r>
              <a:rPr lang="en-US" dirty="0">
                <a:solidFill>
                  <a:prstClr val="black"/>
                </a:solidFill>
                <a:latin typeface="Cambria Math"/>
                <a:cs typeface="Cambria Math"/>
              </a:rPr>
              <a:t> to </a:t>
            </a:r>
            <a:r>
              <a:rPr lang="en-US" dirty="0" err="1">
                <a:solidFill>
                  <a:prstClr val="black"/>
                </a:solidFill>
                <a:latin typeface="Cambria Math"/>
                <a:cs typeface="Cambria Math"/>
              </a:rPr>
              <a:t>vec</a:t>
            </a:r>
            <a:endParaRPr lang="en-US" dirty="0">
              <a:solidFill>
                <a:prstClr val="black"/>
              </a:solidFill>
              <a:latin typeface="Cambria Math"/>
              <a:cs typeface="Cambria Math"/>
            </a:endParaRPr>
          </a:p>
          <a:p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C = </a:t>
            </a:r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crossEnt</a:t>
            </a:r>
            <a:r>
              <a:rPr lang="en-US" baseline="-25000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Y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(P)        </a:t>
            </a:r>
            <a:r>
              <a:rPr lang="en-US" dirty="0">
                <a:solidFill>
                  <a:prstClr val="black"/>
                </a:solidFill>
                <a:latin typeface="Cambria Math"/>
                <a:cs typeface="Cambria Math"/>
              </a:rPr>
              <a:t>// cost function</a:t>
            </a:r>
            <a:endParaRPr lang="en-US" dirty="0">
              <a:solidFill>
                <a:prstClr val="black"/>
              </a:solidFill>
              <a:latin typeface="American Typewriter"/>
              <a:cs typeface="American Typewriter"/>
            </a:endParaRPr>
          </a:p>
        </p:txBody>
      </p:sp>
      <p:pic>
        <p:nvPicPr>
          <p:cNvPr id="52" name="Picture 51" descr="A blue lines with white text&#10;&#10;AI-generated content may be incorrect.">
            <a:extLst>
              <a:ext uri="{FF2B5EF4-FFF2-40B4-BE49-F238E27FC236}">
                <a16:creationId xmlns:a16="http://schemas.microsoft.com/office/drawing/2014/main" id="{C1B99283-ABD7-23DA-617E-F34DAF1C01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11" y="1379496"/>
            <a:ext cx="8930657" cy="1463717"/>
          </a:xfrm>
          <a:prstGeom prst="rect">
            <a:avLst/>
          </a:prstGeom>
        </p:spPr>
      </p:pic>
      <p:sp>
        <p:nvSpPr>
          <p:cNvPr id="62" name="Curved Up Arrow 61">
            <a:extLst>
              <a:ext uri="{FF2B5EF4-FFF2-40B4-BE49-F238E27FC236}">
                <a16:creationId xmlns:a16="http://schemas.microsoft.com/office/drawing/2014/main" id="{9D11C3DC-4C55-7392-4440-C10EEFF63330}"/>
              </a:ext>
            </a:extLst>
          </p:cNvPr>
          <p:cNvSpPr/>
          <p:nvPr/>
        </p:nvSpPr>
        <p:spPr>
          <a:xfrm flipV="1">
            <a:off x="3800476" y="1014413"/>
            <a:ext cx="3371850" cy="545528"/>
          </a:xfrm>
          <a:prstGeom prst="curved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3" name="Right Arrow 62">
            <a:extLst>
              <a:ext uri="{FF2B5EF4-FFF2-40B4-BE49-F238E27FC236}">
                <a16:creationId xmlns:a16="http://schemas.microsoft.com/office/drawing/2014/main" id="{6FA9B156-48B0-0A12-DFD1-91CBE1ECC9C1}"/>
              </a:ext>
            </a:extLst>
          </p:cNvPr>
          <p:cNvSpPr/>
          <p:nvPr/>
        </p:nvSpPr>
        <p:spPr>
          <a:xfrm>
            <a:off x="4176629" y="5307276"/>
            <a:ext cx="442526" cy="256953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39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62" grpId="0" animBg="1"/>
      <p:bldP spid="63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0C19E9-418A-3C5A-07DE-69A2238380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00B1C-DE29-3A08-395A-926B64172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CNNs with Residual Connections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C513B8-8B72-2B7C-4EBB-BEA9AD383F4F}"/>
              </a:ext>
            </a:extLst>
          </p:cNvPr>
          <p:cNvSpPr txBox="1"/>
          <p:nvPr/>
        </p:nvSpPr>
        <p:spPr>
          <a:xfrm>
            <a:off x="128588" y="3600896"/>
            <a:ext cx="4269304" cy="258532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Cambria Math"/>
                <a:cs typeface="Cambria Math"/>
              </a:rPr>
              <a:t>Inputs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: X,W1,B1,W2,B2</a:t>
            </a:r>
          </a:p>
          <a:p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Z1a = </a:t>
            </a:r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mul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(X,W1)        </a:t>
            </a:r>
            <a:r>
              <a:rPr lang="en-US" dirty="0">
                <a:solidFill>
                  <a:prstClr val="black"/>
                </a:solidFill>
                <a:latin typeface="Cambria Math"/>
                <a:cs typeface="Cambria Math"/>
              </a:rPr>
              <a:t>// matrix </a:t>
            </a:r>
            <a:r>
              <a:rPr lang="en-US" dirty="0" err="1">
                <a:solidFill>
                  <a:prstClr val="black"/>
                </a:solidFill>
                <a:latin typeface="Cambria Math"/>
                <a:cs typeface="Cambria Math"/>
              </a:rPr>
              <a:t>mult</a:t>
            </a:r>
            <a:endParaRPr lang="en-US" dirty="0">
              <a:solidFill>
                <a:prstClr val="black"/>
              </a:solidFill>
              <a:latin typeface="Cambria Math"/>
              <a:cs typeface="Cambria Math"/>
            </a:endParaRPr>
          </a:p>
          <a:p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Z1b = add(Z1a,B1)      </a:t>
            </a:r>
            <a:r>
              <a:rPr lang="en-US" dirty="0">
                <a:solidFill>
                  <a:prstClr val="black"/>
                </a:solidFill>
                <a:latin typeface="Cambria Math"/>
                <a:cs typeface="Cambria Math"/>
              </a:rPr>
              <a:t>// add bias </a:t>
            </a:r>
            <a:r>
              <a:rPr lang="en-US" dirty="0" err="1">
                <a:solidFill>
                  <a:prstClr val="black"/>
                </a:solidFill>
                <a:latin typeface="Cambria Math"/>
                <a:cs typeface="Cambria Math"/>
              </a:rPr>
              <a:t>vec</a:t>
            </a:r>
            <a:endParaRPr lang="en-US" dirty="0">
              <a:solidFill>
                <a:prstClr val="black"/>
              </a:solidFill>
              <a:latin typeface="American Typewriter"/>
              <a:cs typeface="American Typewriter"/>
            </a:endParaRPr>
          </a:p>
          <a:p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A1 = </a:t>
            </a:r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tanh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(Z1b)            </a:t>
            </a:r>
            <a:r>
              <a:rPr lang="en-US" dirty="0">
                <a:solidFill>
                  <a:prstClr val="black"/>
                </a:solidFill>
                <a:latin typeface="Cambria Math"/>
                <a:cs typeface="Cambria Math"/>
              </a:rPr>
              <a:t>//element-wise</a:t>
            </a:r>
            <a:endParaRPr lang="en-US" dirty="0">
              <a:solidFill>
                <a:prstClr val="black"/>
              </a:solidFill>
              <a:latin typeface="American Typewriter"/>
              <a:cs typeface="American Typewriter"/>
            </a:endParaRPr>
          </a:p>
          <a:p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Z2a = </a:t>
            </a:r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mul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(A1,W2) </a:t>
            </a:r>
          </a:p>
          <a:p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Z2b = add(Z2a,B2) </a:t>
            </a:r>
          </a:p>
          <a:p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A2 = </a:t>
            </a:r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tanh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(Z2b)           </a:t>
            </a:r>
            <a:r>
              <a:rPr lang="en-US" dirty="0">
                <a:solidFill>
                  <a:prstClr val="black"/>
                </a:solidFill>
                <a:latin typeface="Cambria Math"/>
                <a:cs typeface="Cambria Math"/>
              </a:rPr>
              <a:t>// element-wise</a:t>
            </a:r>
            <a:endParaRPr lang="en-US" dirty="0">
              <a:solidFill>
                <a:prstClr val="black"/>
              </a:solidFill>
              <a:latin typeface="American Typewriter"/>
              <a:cs typeface="American Typewriter"/>
            </a:endParaRPr>
          </a:p>
          <a:p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P = </a:t>
            </a:r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softMax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(A2)         </a:t>
            </a:r>
            <a:r>
              <a:rPr lang="en-US" dirty="0">
                <a:solidFill>
                  <a:prstClr val="black"/>
                </a:solidFill>
                <a:latin typeface="Cambria Math"/>
                <a:cs typeface="Cambria Math"/>
              </a:rPr>
              <a:t>// </a:t>
            </a:r>
            <a:r>
              <a:rPr lang="en-US" dirty="0" err="1">
                <a:solidFill>
                  <a:prstClr val="black"/>
                </a:solidFill>
                <a:latin typeface="Cambria Math"/>
                <a:cs typeface="Cambria Math"/>
              </a:rPr>
              <a:t>vec</a:t>
            </a:r>
            <a:r>
              <a:rPr lang="en-US" dirty="0">
                <a:solidFill>
                  <a:prstClr val="black"/>
                </a:solidFill>
                <a:latin typeface="Cambria Math"/>
                <a:cs typeface="Cambria Math"/>
              </a:rPr>
              <a:t> to </a:t>
            </a:r>
            <a:r>
              <a:rPr lang="en-US" dirty="0" err="1">
                <a:solidFill>
                  <a:prstClr val="black"/>
                </a:solidFill>
                <a:latin typeface="Cambria Math"/>
                <a:cs typeface="Cambria Math"/>
              </a:rPr>
              <a:t>vec</a:t>
            </a:r>
            <a:endParaRPr lang="en-US" dirty="0">
              <a:solidFill>
                <a:prstClr val="black"/>
              </a:solidFill>
              <a:latin typeface="Cambria Math"/>
              <a:cs typeface="Cambria Math"/>
            </a:endParaRPr>
          </a:p>
          <a:p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C = </a:t>
            </a:r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crossEnt</a:t>
            </a:r>
            <a:r>
              <a:rPr lang="en-US" baseline="-25000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Y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(P)        </a:t>
            </a:r>
            <a:r>
              <a:rPr lang="en-US" dirty="0">
                <a:solidFill>
                  <a:prstClr val="black"/>
                </a:solidFill>
                <a:latin typeface="Cambria Math"/>
                <a:cs typeface="Cambria Math"/>
              </a:rPr>
              <a:t>// cost function</a:t>
            </a:r>
            <a:endParaRPr lang="en-US" dirty="0">
              <a:solidFill>
                <a:prstClr val="black"/>
              </a:solidFill>
              <a:latin typeface="American Typewriter"/>
              <a:cs typeface="American Typewriter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388882-1CD1-9588-2D14-C28C59EBC41E}"/>
              </a:ext>
            </a:extLst>
          </p:cNvPr>
          <p:cNvSpPr txBox="1"/>
          <p:nvPr/>
        </p:nvSpPr>
        <p:spPr>
          <a:xfrm>
            <a:off x="4572000" y="3608174"/>
            <a:ext cx="4269304" cy="286232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Cambria Math"/>
                <a:cs typeface="Cambria Math"/>
              </a:rPr>
              <a:t>Inputs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: X,W1,B1,W2,B2</a:t>
            </a:r>
          </a:p>
          <a:p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Z1a = </a:t>
            </a:r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mul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(X,W1)        </a:t>
            </a:r>
            <a:r>
              <a:rPr lang="en-US" dirty="0">
                <a:solidFill>
                  <a:prstClr val="black"/>
                </a:solidFill>
                <a:latin typeface="Cambria Math"/>
                <a:cs typeface="Cambria Math"/>
              </a:rPr>
              <a:t>// matrix </a:t>
            </a:r>
            <a:r>
              <a:rPr lang="en-US" dirty="0" err="1">
                <a:solidFill>
                  <a:prstClr val="black"/>
                </a:solidFill>
                <a:latin typeface="Cambria Math"/>
                <a:cs typeface="Cambria Math"/>
              </a:rPr>
              <a:t>mult</a:t>
            </a:r>
            <a:endParaRPr lang="en-US" dirty="0">
              <a:solidFill>
                <a:prstClr val="black"/>
              </a:solidFill>
              <a:latin typeface="Cambria Math"/>
              <a:cs typeface="Cambria Math"/>
            </a:endParaRPr>
          </a:p>
          <a:p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Z1b = add(Z1a,B1)      </a:t>
            </a:r>
            <a:r>
              <a:rPr lang="en-US" dirty="0">
                <a:solidFill>
                  <a:prstClr val="black"/>
                </a:solidFill>
                <a:latin typeface="Cambria Math"/>
                <a:cs typeface="Cambria Math"/>
              </a:rPr>
              <a:t>// add bias </a:t>
            </a:r>
            <a:r>
              <a:rPr lang="en-US" dirty="0" err="1">
                <a:solidFill>
                  <a:prstClr val="black"/>
                </a:solidFill>
                <a:latin typeface="Cambria Math"/>
                <a:cs typeface="Cambria Math"/>
              </a:rPr>
              <a:t>vec</a:t>
            </a:r>
            <a:endParaRPr lang="en-US" dirty="0">
              <a:solidFill>
                <a:prstClr val="black"/>
              </a:solidFill>
              <a:latin typeface="American Typewriter"/>
              <a:cs typeface="American Typewriter"/>
            </a:endParaRPr>
          </a:p>
          <a:p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A1 = </a:t>
            </a:r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tanh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(Z1b)            </a:t>
            </a:r>
            <a:r>
              <a:rPr lang="en-US" dirty="0">
                <a:solidFill>
                  <a:prstClr val="black"/>
                </a:solidFill>
                <a:latin typeface="Cambria Math"/>
                <a:cs typeface="Cambria Math"/>
              </a:rPr>
              <a:t>//element-wise</a:t>
            </a:r>
            <a:endParaRPr lang="en-US" dirty="0">
              <a:solidFill>
                <a:prstClr val="black"/>
              </a:solidFill>
              <a:latin typeface="American Typewriter"/>
              <a:cs typeface="American Typewriter"/>
            </a:endParaRPr>
          </a:p>
          <a:p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Z2a = </a:t>
            </a:r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mul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(A1,W2) </a:t>
            </a:r>
          </a:p>
          <a:p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Z2b = add(Z2a,B2) </a:t>
            </a:r>
          </a:p>
          <a:p>
            <a:r>
              <a:rPr lang="en-US" dirty="0">
                <a:solidFill>
                  <a:srgbClr val="0070C0"/>
                </a:solidFill>
                <a:latin typeface="American Typewriter"/>
                <a:cs typeface="American Typewriter"/>
              </a:rPr>
              <a:t>Z3 = tanh(Z2b)</a:t>
            </a:r>
          </a:p>
          <a:p>
            <a:r>
              <a:rPr lang="en-US" dirty="0">
                <a:solidFill>
                  <a:srgbClr val="0070C0"/>
                </a:solidFill>
                <a:latin typeface="American Typewriter"/>
                <a:cs typeface="American Typewriter"/>
              </a:rPr>
              <a:t>A2 = add(Z3, A1)</a:t>
            </a:r>
          </a:p>
          <a:p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P = </a:t>
            </a:r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softMax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(A2)         </a:t>
            </a:r>
            <a:r>
              <a:rPr lang="en-US" dirty="0">
                <a:solidFill>
                  <a:prstClr val="black"/>
                </a:solidFill>
                <a:latin typeface="Cambria Math"/>
                <a:cs typeface="Cambria Math"/>
              </a:rPr>
              <a:t>// </a:t>
            </a:r>
            <a:r>
              <a:rPr lang="en-US" dirty="0" err="1">
                <a:solidFill>
                  <a:prstClr val="black"/>
                </a:solidFill>
                <a:latin typeface="Cambria Math"/>
                <a:cs typeface="Cambria Math"/>
              </a:rPr>
              <a:t>vec</a:t>
            </a:r>
            <a:r>
              <a:rPr lang="en-US" dirty="0">
                <a:solidFill>
                  <a:prstClr val="black"/>
                </a:solidFill>
                <a:latin typeface="Cambria Math"/>
                <a:cs typeface="Cambria Math"/>
              </a:rPr>
              <a:t> to </a:t>
            </a:r>
            <a:r>
              <a:rPr lang="en-US" dirty="0" err="1">
                <a:solidFill>
                  <a:prstClr val="black"/>
                </a:solidFill>
                <a:latin typeface="Cambria Math"/>
                <a:cs typeface="Cambria Math"/>
              </a:rPr>
              <a:t>vec</a:t>
            </a:r>
            <a:endParaRPr lang="en-US" dirty="0">
              <a:solidFill>
                <a:prstClr val="black"/>
              </a:solidFill>
              <a:latin typeface="Cambria Math"/>
              <a:cs typeface="Cambria Math"/>
            </a:endParaRPr>
          </a:p>
          <a:p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C = </a:t>
            </a:r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crossEnt</a:t>
            </a:r>
            <a:r>
              <a:rPr lang="en-US" baseline="-25000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Y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(P)        </a:t>
            </a:r>
            <a:r>
              <a:rPr lang="en-US" dirty="0">
                <a:solidFill>
                  <a:prstClr val="black"/>
                </a:solidFill>
                <a:latin typeface="Cambria Math"/>
                <a:cs typeface="Cambria Math"/>
              </a:rPr>
              <a:t>// cost function</a:t>
            </a:r>
            <a:endParaRPr lang="en-US" dirty="0">
              <a:solidFill>
                <a:prstClr val="black"/>
              </a:solidFill>
              <a:latin typeface="American Typewriter"/>
              <a:cs typeface="American Typewriter"/>
            </a:endParaRPr>
          </a:p>
        </p:txBody>
      </p:sp>
      <p:pic>
        <p:nvPicPr>
          <p:cNvPr id="52" name="Picture 51" descr="A blue lines with white text&#10;&#10;AI-generated content may be incorrect.">
            <a:extLst>
              <a:ext uri="{FF2B5EF4-FFF2-40B4-BE49-F238E27FC236}">
                <a16:creationId xmlns:a16="http://schemas.microsoft.com/office/drawing/2014/main" id="{702FF220-6133-AEFE-CA6A-04F59D8217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11" y="1379496"/>
            <a:ext cx="8930657" cy="1463717"/>
          </a:xfrm>
          <a:prstGeom prst="rect">
            <a:avLst/>
          </a:prstGeom>
        </p:spPr>
      </p:pic>
      <p:sp>
        <p:nvSpPr>
          <p:cNvPr id="62" name="Curved Up Arrow 61">
            <a:extLst>
              <a:ext uri="{FF2B5EF4-FFF2-40B4-BE49-F238E27FC236}">
                <a16:creationId xmlns:a16="http://schemas.microsoft.com/office/drawing/2014/main" id="{4A62BD72-0133-5ACF-5E46-C3A5576E2279}"/>
              </a:ext>
            </a:extLst>
          </p:cNvPr>
          <p:cNvSpPr/>
          <p:nvPr/>
        </p:nvSpPr>
        <p:spPr>
          <a:xfrm flipV="1">
            <a:off x="3800476" y="1014413"/>
            <a:ext cx="3371850" cy="545528"/>
          </a:xfrm>
          <a:prstGeom prst="curved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3" name="Right Arrow 62">
            <a:extLst>
              <a:ext uri="{FF2B5EF4-FFF2-40B4-BE49-F238E27FC236}">
                <a16:creationId xmlns:a16="http://schemas.microsoft.com/office/drawing/2014/main" id="{B084905D-33DD-D100-A840-5ED0A1300A08}"/>
              </a:ext>
            </a:extLst>
          </p:cNvPr>
          <p:cNvSpPr/>
          <p:nvPr/>
        </p:nvSpPr>
        <p:spPr>
          <a:xfrm>
            <a:off x="4176629" y="5478504"/>
            <a:ext cx="442526" cy="256953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57963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F4631-9CD6-D9F8-D85A-D6E578A61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BB475-7FEB-F467-A7FB-3B08F1EF6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CNNs with Residual Connections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9B89D1-470E-7994-53CD-9ECFABFCB3C2}"/>
              </a:ext>
            </a:extLst>
          </p:cNvPr>
          <p:cNvSpPr txBox="1"/>
          <p:nvPr/>
        </p:nvSpPr>
        <p:spPr>
          <a:xfrm>
            <a:off x="4572000" y="3608174"/>
            <a:ext cx="4269304" cy="286232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Cambria Math"/>
                <a:cs typeface="Cambria Math"/>
              </a:rPr>
              <a:t>Inputs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: X,W1,B1,W2,B2</a:t>
            </a:r>
          </a:p>
          <a:p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Z1a = </a:t>
            </a:r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mul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(X,W1)        </a:t>
            </a:r>
            <a:r>
              <a:rPr lang="en-US" dirty="0">
                <a:solidFill>
                  <a:prstClr val="black"/>
                </a:solidFill>
                <a:latin typeface="Cambria Math"/>
                <a:cs typeface="Cambria Math"/>
              </a:rPr>
              <a:t>// matrix </a:t>
            </a:r>
            <a:r>
              <a:rPr lang="en-US" dirty="0" err="1">
                <a:solidFill>
                  <a:prstClr val="black"/>
                </a:solidFill>
                <a:latin typeface="Cambria Math"/>
                <a:cs typeface="Cambria Math"/>
              </a:rPr>
              <a:t>mult</a:t>
            </a:r>
            <a:endParaRPr lang="en-US" dirty="0">
              <a:solidFill>
                <a:prstClr val="black"/>
              </a:solidFill>
              <a:latin typeface="Cambria Math"/>
              <a:cs typeface="Cambria Math"/>
            </a:endParaRPr>
          </a:p>
          <a:p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Z1b = add(Z1a,B1)      </a:t>
            </a:r>
            <a:r>
              <a:rPr lang="en-US" dirty="0">
                <a:solidFill>
                  <a:prstClr val="black"/>
                </a:solidFill>
                <a:latin typeface="Cambria Math"/>
                <a:cs typeface="Cambria Math"/>
              </a:rPr>
              <a:t>// add bias </a:t>
            </a:r>
            <a:r>
              <a:rPr lang="en-US" dirty="0" err="1">
                <a:solidFill>
                  <a:prstClr val="black"/>
                </a:solidFill>
                <a:latin typeface="Cambria Math"/>
                <a:cs typeface="Cambria Math"/>
              </a:rPr>
              <a:t>vec</a:t>
            </a:r>
            <a:endParaRPr lang="en-US" dirty="0">
              <a:solidFill>
                <a:prstClr val="black"/>
              </a:solidFill>
              <a:latin typeface="American Typewriter"/>
              <a:cs typeface="American Typewriter"/>
            </a:endParaRPr>
          </a:p>
          <a:p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A1 = </a:t>
            </a:r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tanh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(Z1b)            </a:t>
            </a:r>
            <a:r>
              <a:rPr lang="en-US" dirty="0">
                <a:solidFill>
                  <a:prstClr val="black"/>
                </a:solidFill>
                <a:latin typeface="Cambria Math"/>
                <a:cs typeface="Cambria Math"/>
              </a:rPr>
              <a:t>//element-wise</a:t>
            </a:r>
            <a:endParaRPr lang="en-US" dirty="0">
              <a:solidFill>
                <a:prstClr val="black"/>
              </a:solidFill>
              <a:latin typeface="American Typewriter"/>
              <a:cs typeface="American Typewriter"/>
            </a:endParaRPr>
          </a:p>
          <a:p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Z2a = </a:t>
            </a:r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mul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(A1,W2) </a:t>
            </a:r>
          </a:p>
          <a:p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Z2b = add(Z2a,B2) </a:t>
            </a:r>
          </a:p>
          <a:p>
            <a:r>
              <a:rPr lang="en-US" dirty="0">
                <a:solidFill>
                  <a:srgbClr val="0070C0"/>
                </a:solidFill>
                <a:latin typeface="American Typewriter"/>
                <a:cs typeface="American Typewriter"/>
              </a:rPr>
              <a:t>Z3 = tanh(Z2b)</a:t>
            </a:r>
          </a:p>
          <a:p>
            <a:r>
              <a:rPr lang="en-US" dirty="0">
                <a:solidFill>
                  <a:srgbClr val="0070C0"/>
                </a:solidFill>
                <a:latin typeface="American Typewriter"/>
                <a:cs typeface="American Typewriter"/>
              </a:rPr>
              <a:t>A2 = add(Z3, A1)</a:t>
            </a:r>
          </a:p>
          <a:p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P = </a:t>
            </a:r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softMax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(A2)         </a:t>
            </a:r>
            <a:r>
              <a:rPr lang="en-US" dirty="0">
                <a:solidFill>
                  <a:prstClr val="black"/>
                </a:solidFill>
                <a:latin typeface="Cambria Math"/>
                <a:cs typeface="Cambria Math"/>
              </a:rPr>
              <a:t>// </a:t>
            </a:r>
            <a:r>
              <a:rPr lang="en-US" dirty="0" err="1">
                <a:solidFill>
                  <a:prstClr val="black"/>
                </a:solidFill>
                <a:latin typeface="Cambria Math"/>
                <a:cs typeface="Cambria Math"/>
              </a:rPr>
              <a:t>vec</a:t>
            </a:r>
            <a:r>
              <a:rPr lang="en-US" dirty="0">
                <a:solidFill>
                  <a:prstClr val="black"/>
                </a:solidFill>
                <a:latin typeface="Cambria Math"/>
                <a:cs typeface="Cambria Math"/>
              </a:rPr>
              <a:t> to </a:t>
            </a:r>
            <a:r>
              <a:rPr lang="en-US" dirty="0" err="1">
                <a:solidFill>
                  <a:prstClr val="black"/>
                </a:solidFill>
                <a:latin typeface="Cambria Math"/>
                <a:cs typeface="Cambria Math"/>
              </a:rPr>
              <a:t>vec</a:t>
            </a:r>
            <a:endParaRPr lang="en-US" dirty="0">
              <a:solidFill>
                <a:prstClr val="black"/>
              </a:solidFill>
              <a:latin typeface="Cambria Math"/>
              <a:cs typeface="Cambria Math"/>
            </a:endParaRPr>
          </a:p>
          <a:p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C = </a:t>
            </a:r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crossEnt</a:t>
            </a:r>
            <a:r>
              <a:rPr lang="en-US" baseline="-25000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Y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(P)        </a:t>
            </a:r>
            <a:r>
              <a:rPr lang="en-US" dirty="0">
                <a:solidFill>
                  <a:prstClr val="black"/>
                </a:solidFill>
                <a:latin typeface="Cambria Math"/>
                <a:cs typeface="Cambria Math"/>
              </a:rPr>
              <a:t>// cost function</a:t>
            </a:r>
            <a:endParaRPr lang="en-US" dirty="0">
              <a:solidFill>
                <a:prstClr val="black"/>
              </a:solidFill>
              <a:latin typeface="American Typewriter"/>
              <a:cs typeface="American Typewriter"/>
            </a:endParaRPr>
          </a:p>
        </p:txBody>
      </p:sp>
      <p:pic>
        <p:nvPicPr>
          <p:cNvPr id="52" name="Picture 51" descr="A blue lines with white text&#10;&#10;AI-generated content may be incorrect.">
            <a:extLst>
              <a:ext uri="{FF2B5EF4-FFF2-40B4-BE49-F238E27FC236}">
                <a16:creationId xmlns:a16="http://schemas.microsoft.com/office/drawing/2014/main" id="{93AF2D23-4249-7E11-455D-84022B45C7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11" y="1379496"/>
            <a:ext cx="8930657" cy="1463717"/>
          </a:xfrm>
          <a:prstGeom prst="rect">
            <a:avLst/>
          </a:prstGeom>
        </p:spPr>
      </p:pic>
      <p:sp>
        <p:nvSpPr>
          <p:cNvPr id="62" name="Curved Up Arrow 61">
            <a:extLst>
              <a:ext uri="{FF2B5EF4-FFF2-40B4-BE49-F238E27FC236}">
                <a16:creationId xmlns:a16="http://schemas.microsoft.com/office/drawing/2014/main" id="{4BF243E5-226F-7CB4-6691-DB25BEB63365}"/>
              </a:ext>
            </a:extLst>
          </p:cNvPr>
          <p:cNvSpPr/>
          <p:nvPr/>
        </p:nvSpPr>
        <p:spPr>
          <a:xfrm flipV="1">
            <a:off x="3800476" y="1014413"/>
            <a:ext cx="3371850" cy="545528"/>
          </a:xfrm>
          <a:prstGeom prst="curved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36FB8A-B695-16EE-1741-599630364F21}"/>
              </a:ext>
            </a:extLst>
          </p:cNvPr>
          <p:cNvSpPr txBox="1"/>
          <p:nvPr/>
        </p:nvSpPr>
        <p:spPr>
          <a:xfrm>
            <a:off x="1185864" y="5549061"/>
            <a:ext cx="28074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delta[Z3] += delta[A2]*1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delta[A1] += delta[A2]*1</a:t>
            </a:r>
          </a:p>
        </p:txBody>
      </p:sp>
      <p:sp>
        <p:nvSpPr>
          <p:cNvPr id="5" name="Curved Left Arrow 4">
            <a:extLst>
              <a:ext uri="{FF2B5EF4-FFF2-40B4-BE49-F238E27FC236}">
                <a16:creationId xmlns:a16="http://schemas.microsoft.com/office/drawing/2014/main" id="{AFFE0C54-F6AB-3E85-CEDC-7D36CC3697A9}"/>
              </a:ext>
            </a:extLst>
          </p:cNvPr>
          <p:cNvSpPr/>
          <p:nvPr/>
        </p:nvSpPr>
        <p:spPr>
          <a:xfrm rot="10800000">
            <a:off x="3993356" y="4514849"/>
            <a:ext cx="578644" cy="1240961"/>
          </a:xfrm>
          <a:prstGeom prst="curvedLeftArrow">
            <a:avLst>
              <a:gd name="adj1" fmla="val 25000"/>
              <a:gd name="adj2" fmla="val 50000"/>
              <a:gd name="adj3" fmla="val 62038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8" name="Picture 7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DCBE8D22-2EB4-4D2C-6A03-1EE9E0AC9B2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01" t="8249" r="4220" b="6534"/>
          <a:stretch/>
        </p:blipFill>
        <p:spPr>
          <a:xfrm>
            <a:off x="21332" y="2534775"/>
            <a:ext cx="6747347" cy="1704937"/>
          </a:xfrm>
          <a:prstGeom prst="rect">
            <a:avLst/>
          </a:prstGeom>
          <a:ln>
            <a:solidFill>
              <a:schemeClr val="tx2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FA18A18-D547-D7B1-99D9-80A58C0C8687}"/>
              </a:ext>
            </a:extLst>
          </p:cNvPr>
          <p:cNvSpPr txBox="1"/>
          <p:nvPr/>
        </p:nvSpPr>
        <p:spPr>
          <a:xfrm>
            <a:off x="587513" y="5214546"/>
            <a:ext cx="28074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for z=A2,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73E5F83-6848-F4A4-BA7C-F67981246FCE}"/>
                  </a:ext>
                </a:extLst>
              </p14:cNvPr>
              <p14:cNvContentPartPr/>
              <p14:nvPr/>
            </p14:nvContentPartPr>
            <p14:xfrm>
              <a:off x="6854107" y="2529652"/>
              <a:ext cx="138240" cy="2433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73E5F83-6848-F4A4-BA7C-F67981246FC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847987" y="2523532"/>
                <a:ext cx="150480" cy="25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AC845522-A182-801C-6499-F7079A55D296}"/>
                  </a:ext>
                </a:extLst>
              </p14:cNvPr>
              <p14:cNvContentPartPr/>
              <p14:nvPr/>
            </p14:nvContentPartPr>
            <p14:xfrm>
              <a:off x="7066147" y="2802172"/>
              <a:ext cx="180720" cy="16488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AC845522-A182-801C-6499-F7079A55D29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060027" y="2796052"/>
                <a:ext cx="192960" cy="17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8CE71E70-3FB7-8925-3E51-9A901E35FEFC}"/>
                  </a:ext>
                </a:extLst>
              </p14:cNvPr>
              <p14:cNvContentPartPr/>
              <p14:nvPr/>
            </p14:nvContentPartPr>
            <p14:xfrm>
              <a:off x="7260547" y="2871652"/>
              <a:ext cx="126360" cy="13932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8CE71E70-3FB7-8925-3E51-9A901E35FEF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254427" y="2865532"/>
                <a:ext cx="138600" cy="15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EF84B0FA-0AB1-3CB9-7874-6898F86E9FC7}"/>
                  </a:ext>
                </a:extLst>
              </p14:cNvPr>
              <p14:cNvContentPartPr/>
              <p14:nvPr/>
            </p14:nvContentPartPr>
            <p14:xfrm>
              <a:off x="7080907" y="2140492"/>
              <a:ext cx="119880" cy="57960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EF84B0FA-0AB1-3CB9-7874-6898F86E9FC7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074787" y="2134372"/>
                <a:ext cx="132120" cy="59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6F21472C-91B9-8020-B7B8-BFFF6698D1D7}"/>
                  </a:ext>
                </a:extLst>
              </p14:cNvPr>
              <p14:cNvContentPartPr/>
              <p14:nvPr/>
            </p14:nvContentPartPr>
            <p14:xfrm>
              <a:off x="6882907" y="2041852"/>
              <a:ext cx="168840" cy="17352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6F21472C-91B9-8020-B7B8-BFFF6698D1D7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876787" y="2035732"/>
                <a:ext cx="181080" cy="18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EEB55398-52D6-0DA0-CA1C-5886076CB04B}"/>
                  </a:ext>
                </a:extLst>
              </p14:cNvPr>
              <p14:cNvContentPartPr/>
              <p14:nvPr/>
            </p14:nvContentPartPr>
            <p14:xfrm>
              <a:off x="6399787" y="5345932"/>
              <a:ext cx="491040" cy="52164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EEB55398-52D6-0DA0-CA1C-5886076CB04B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393667" y="5339812"/>
                <a:ext cx="503280" cy="53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3B5A5516-9231-E547-2A6B-930C7A31AF67}"/>
                  </a:ext>
                </a:extLst>
              </p14:cNvPr>
              <p14:cNvContentPartPr/>
              <p14:nvPr/>
            </p14:nvContentPartPr>
            <p14:xfrm>
              <a:off x="-849173" y="2434972"/>
              <a:ext cx="360" cy="36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3B5A5516-9231-E547-2A6B-930C7A31AF67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-855293" y="2428852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44333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DF015-5F34-0326-B4A2-5EEE05562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CF0FB-8FCA-C79A-AE96-0CA57B849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CNNs with Residual Connections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0F76B7-72CA-5469-1A9C-2235EFBB6142}"/>
              </a:ext>
            </a:extLst>
          </p:cNvPr>
          <p:cNvSpPr txBox="1"/>
          <p:nvPr/>
        </p:nvSpPr>
        <p:spPr>
          <a:xfrm>
            <a:off x="4572000" y="3608174"/>
            <a:ext cx="4269304" cy="286232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Cambria Math"/>
                <a:cs typeface="Cambria Math"/>
              </a:rPr>
              <a:t>Inputs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: X,W1,B1,W2,B2</a:t>
            </a:r>
          </a:p>
          <a:p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Z1a = </a:t>
            </a:r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mul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(X,W1)        </a:t>
            </a:r>
            <a:r>
              <a:rPr lang="en-US" dirty="0">
                <a:solidFill>
                  <a:prstClr val="black"/>
                </a:solidFill>
                <a:latin typeface="Cambria Math"/>
                <a:cs typeface="Cambria Math"/>
              </a:rPr>
              <a:t>// matrix </a:t>
            </a:r>
            <a:r>
              <a:rPr lang="en-US" dirty="0" err="1">
                <a:solidFill>
                  <a:prstClr val="black"/>
                </a:solidFill>
                <a:latin typeface="Cambria Math"/>
                <a:cs typeface="Cambria Math"/>
              </a:rPr>
              <a:t>mult</a:t>
            </a:r>
            <a:endParaRPr lang="en-US" dirty="0">
              <a:solidFill>
                <a:prstClr val="black"/>
              </a:solidFill>
              <a:latin typeface="Cambria Math"/>
              <a:cs typeface="Cambria Math"/>
            </a:endParaRPr>
          </a:p>
          <a:p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Z1b = add(Z1a,B1)      </a:t>
            </a:r>
            <a:r>
              <a:rPr lang="en-US" dirty="0">
                <a:solidFill>
                  <a:prstClr val="black"/>
                </a:solidFill>
                <a:latin typeface="Cambria Math"/>
                <a:cs typeface="Cambria Math"/>
              </a:rPr>
              <a:t>// add bias </a:t>
            </a:r>
            <a:r>
              <a:rPr lang="en-US" dirty="0" err="1">
                <a:solidFill>
                  <a:prstClr val="black"/>
                </a:solidFill>
                <a:latin typeface="Cambria Math"/>
                <a:cs typeface="Cambria Math"/>
              </a:rPr>
              <a:t>vec</a:t>
            </a:r>
            <a:endParaRPr lang="en-US" dirty="0">
              <a:solidFill>
                <a:prstClr val="black"/>
              </a:solidFill>
              <a:latin typeface="American Typewriter"/>
              <a:cs typeface="American Typewriter"/>
            </a:endParaRPr>
          </a:p>
          <a:p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A1 = </a:t>
            </a:r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tanh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(Z1b)            </a:t>
            </a:r>
            <a:r>
              <a:rPr lang="en-US" dirty="0">
                <a:solidFill>
                  <a:prstClr val="black"/>
                </a:solidFill>
                <a:latin typeface="Cambria Math"/>
                <a:cs typeface="Cambria Math"/>
              </a:rPr>
              <a:t>//element-wise</a:t>
            </a:r>
            <a:endParaRPr lang="en-US" dirty="0">
              <a:solidFill>
                <a:prstClr val="black"/>
              </a:solidFill>
              <a:latin typeface="American Typewriter"/>
              <a:cs typeface="American Typewriter"/>
            </a:endParaRPr>
          </a:p>
          <a:p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Z2a = </a:t>
            </a:r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mul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(A1,W2) </a:t>
            </a:r>
          </a:p>
          <a:p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Z2b = add(Z2a,B2) </a:t>
            </a:r>
          </a:p>
          <a:p>
            <a:r>
              <a:rPr lang="en-US" dirty="0">
                <a:solidFill>
                  <a:srgbClr val="0070C0"/>
                </a:solidFill>
                <a:latin typeface="American Typewriter"/>
                <a:cs typeface="American Typewriter"/>
              </a:rPr>
              <a:t>Z3 = tanh(Z2b)</a:t>
            </a:r>
          </a:p>
          <a:p>
            <a:r>
              <a:rPr lang="en-US" dirty="0">
                <a:solidFill>
                  <a:srgbClr val="0070C0"/>
                </a:solidFill>
                <a:latin typeface="American Typewriter"/>
                <a:cs typeface="American Typewriter"/>
              </a:rPr>
              <a:t>A2 = add(Z3, A1)</a:t>
            </a:r>
          </a:p>
          <a:p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P = </a:t>
            </a:r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softMax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(A2)         </a:t>
            </a:r>
            <a:r>
              <a:rPr lang="en-US" dirty="0">
                <a:solidFill>
                  <a:prstClr val="black"/>
                </a:solidFill>
                <a:latin typeface="Cambria Math"/>
                <a:cs typeface="Cambria Math"/>
              </a:rPr>
              <a:t>// </a:t>
            </a:r>
            <a:r>
              <a:rPr lang="en-US" dirty="0" err="1">
                <a:solidFill>
                  <a:prstClr val="black"/>
                </a:solidFill>
                <a:latin typeface="Cambria Math"/>
                <a:cs typeface="Cambria Math"/>
              </a:rPr>
              <a:t>vec</a:t>
            </a:r>
            <a:r>
              <a:rPr lang="en-US" dirty="0">
                <a:solidFill>
                  <a:prstClr val="black"/>
                </a:solidFill>
                <a:latin typeface="Cambria Math"/>
                <a:cs typeface="Cambria Math"/>
              </a:rPr>
              <a:t> to </a:t>
            </a:r>
            <a:r>
              <a:rPr lang="en-US" dirty="0" err="1">
                <a:solidFill>
                  <a:prstClr val="black"/>
                </a:solidFill>
                <a:latin typeface="Cambria Math"/>
                <a:cs typeface="Cambria Math"/>
              </a:rPr>
              <a:t>vec</a:t>
            </a:r>
            <a:endParaRPr lang="en-US" dirty="0">
              <a:solidFill>
                <a:prstClr val="black"/>
              </a:solidFill>
              <a:latin typeface="Cambria Math"/>
              <a:cs typeface="Cambria Math"/>
            </a:endParaRPr>
          </a:p>
          <a:p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C = </a:t>
            </a:r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crossEnt</a:t>
            </a:r>
            <a:r>
              <a:rPr lang="en-US" baseline="-25000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Y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(P)        </a:t>
            </a:r>
            <a:r>
              <a:rPr lang="en-US" dirty="0">
                <a:solidFill>
                  <a:prstClr val="black"/>
                </a:solidFill>
                <a:latin typeface="Cambria Math"/>
                <a:cs typeface="Cambria Math"/>
              </a:rPr>
              <a:t>// cost function</a:t>
            </a:r>
            <a:endParaRPr lang="en-US" dirty="0">
              <a:solidFill>
                <a:prstClr val="black"/>
              </a:solidFill>
              <a:latin typeface="American Typewriter"/>
              <a:cs typeface="American Typewriter"/>
            </a:endParaRPr>
          </a:p>
        </p:txBody>
      </p:sp>
      <p:pic>
        <p:nvPicPr>
          <p:cNvPr id="52" name="Picture 51" descr="A blue lines with white text&#10;&#10;AI-generated content may be incorrect.">
            <a:extLst>
              <a:ext uri="{FF2B5EF4-FFF2-40B4-BE49-F238E27FC236}">
                <a16:creationId xmlns:a16="http://schemas.microsoft.com/office/drawing/2014/main" id="{2551E3C4-FC15-5E68-6E6F-1B5BA02C71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11" y="1379496"/>
            <a:ext cx="8930657" cy="1463717"/>
          </a:xfrm>
          <a:prstGeom prst="rect">
            <a:avLst/>
          </a:prstGeom>
        </p:spPr>
      </p:pic>
      <p:sp>
        <p:nvSpPr>
          <p:cNvPr id="62" name="Curved Up Arrow 61">
            <a:extLst>
              <a:ext uri="{FF2B5EF4-FFF2-40B4-BE49-F238E27FC236}">
                <a16:creationId xmlns:a16="http://schemas.microsoft.com/office/drawing/2014/main" id="{60E46B18-E0DD-D0DF-F8BD-499BD46A2DFD}"/>
              </a:ext>
            </a:extLst>
          </p:cNvPr>
          <p:cNvSpPr/>
          <p:nvPr/>
        </p:nvSpPr>
        <p:spPr>
          <a:xfrm flipV="1">
            <a:off x="3800476" y="1014413"/>
            <a:ext cx="3371850" cy="545528"/>
          </a:xfrm>
          <a:prstGeom prst="curved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BAB160-49CE-07F7-7E5D-2C90870D0F4A}"/>
              </a:ext>
            </a:extLst>
          </p:cNvPr>
          <p:cNvSpPr txBox="1"/>
          <p:nvPr/>
        </p:nvSpPr>
        <p:spPr>
          <a:xfrm>
            <a:off x="1185864" y="5549061"/>
            <a:ext cx="28074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delta[Z3] += delta[A2]*1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delta[A1] += delta[A2]*1</a:t>
            </a:r>
          </a:p>
        </p:txBody>
      </p:sp>
      <p:sp>
        <p:nvSpPr>
          <p:cNvPr id="5" name="Curved Left Arrow 4">
            <a:extLst>
              <a:ext uri="{FF2B5EF4-FFF2-40B4-BE49-F238E27FC236}">
                <a16:creationId xmlns:a16="http://schemas.microsoft.com/office/drawing/2014/main" id="{CAC93420-E1AE-BC0D-E674-690A059EBF3D}"/>
              </a:ext>
            </a:extLst>
          </p:cNvPr>
          <p:cNvSpPr/>
          <p:nvPr/>
        </p:nvSpPr>
        <p:spPr>
          <a:xfrm rot="10800000">
            <a:off x="3993356" y="4514849"/>
            <a:ext cx="578644" cy="1240961"/>
          </a:xfrm>
          <a:prstGeom prst="curvedLeftArrow">
            <a:avLst>
              <a:gd name="adj1" fmla="val 25000"/>
              <a:gd name="adj2" fmla="val 50000"/>
              <a:gd name="adj3" fmla="val 62038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59A8E67-BD7D-EF80-C5B9-D42DA396CBAC}"/>
              </a:ext>
            </a:extLst>
          </p:cNvPr>
          <p:cNvSpPr txBox="1"/>
          <p:nvPr/>
        </p:nvSpPr>
        <p:spPr>
          <a:xfrm>
            <a:off x="587513" y="5214546"/>
            <a:ext cx="28074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for z=A2,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4AAB3B-4268-31C9-1E87-6AA00842D14E}"/>
              </a:ext>
            </a:extLst>
          </p:cNvPr>
          <p:cNvSpPr txBox="1"/>
          <p:nvPr/>
        </p:nvSpPr>
        <p:spPr>
          <a:xfrm>
            <a:off x="192011" y="2760310"/>
            <a:ext cx="3893347" cy="120032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If gradient through Z3, Z2a, Z2b vanishes then A1 still gets a signal…pushing the first layer to minimize loss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 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fit the data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directly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5B96FF-89E0-D257-FB51-83DD99C64E7B}"/>
              </a:ext>
            </a:extLst>
          </p:cNvPr>
          <p:cNvSpPr txBox="1"/>
          <p:nvPr/>
        </p:nvSpPr>
        <p:spPr>
          <a:xfrm>
            <a:off x="378185" y="3958670"/>
            <a:ext cx="3371849" cy="92333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If layer 1 can’t fit the data then layer 2 will be able to 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correct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layer 1’s approximate fit</a:t>
            </a:r>
          </a:p>
        </p:txBody>
      </p:sp>
    </p:spTree>
    <p:extLst>
      <p:ext uri="{BB962C8B-B14F-4D97-AF65-F5344CB8AC3E}">
        <p14:creationId xmlns:p14="http://schemas.microsoft.com/office/powerpoint/2010/main" val="1204449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44E6A1-E5CD-51E7-2B06-6E22BF774F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466DB-D890-1AEE-4AFF-6CC241333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CNNs with Residual Connections</a:t>
            </a:r>
          </a:p>
        </p:txBody>
      </p:sp>
      <p:pic>
        <p:nvPicPr>
          <p:cNvPr id="7" name="Picture 6" descr="A close-up of a white background&#10;&#10;AI-generated content may be incorrect.">
            <a:extLst>
              <a:ext uri="{FF2B5EF4-FFF2-40B4-BE49-F238E27FC236}">
                <a16:creationId xmlns:a16="http://schemas.microsoft.com/office/drawing/2014/main" id="{FF94924B-B1B2-29CF-3079-CEBDE30623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150" y="2063750"/>
            <a:ext cx="7772400" cy="249041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3CAF87E-A9AB-BB53-661D-1D70D6F814A1}"/>
              </a:ext>
            </a:extLst>
          </p:cNvPr>
          <p:cNvSpPr txBox="1"/>
          <p:nvPr/>
        </p:nvSpPr>
        <p:spPr>
          <a:xfrm>
            <a:off x="6929438" y="4554161"/>
            <a:ext cx="17573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2015</a:t>
            </a:r>
          </a:p>
        </p:txBody>
      </p:sp>
    </p:spTree>
    <p:extLst>
      <p:ext uri="{BB962C8B-B14F-4D97-AF65-F5344CB8AC3E}">
        <p14:creationId xmlns:p14="http://schemas.microsoft.com/office/powerpoint/2010/main" val="219179570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9EF693-B7B2-C3F7-0604-9DD906FFB1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20204-EA30-ADE6-F1D9-EE643D4EF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CNNs with Residual Connections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9E6F9D-160D-A2D3-2F66-A83EDA038A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65795"/>
            <a:ext cx="2422273" cy="501756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FB6C740-E4A9-9B54-FDBD-F53930E74F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9473" y="317066"/>
            <a:ext cx="6050215" cy="12532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825242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CC6E38-4F9F-8B7F-6376-9995CD188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56D19-7DBF-B3B3-C727-3EA3FFDB9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CNNs with Residual Connections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2D9BBF-DBC2-D823-5601-7D53430A11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392" y="1548838"/>
            <a:ext cx="8909833" cy="273741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34C72CD-A413-4B42-C6D2-B1A0C52ADA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708" y="4480486"/>
            <a:ext cx="8399760" cy="828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22299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6E9D19-3D39-AA09-44E9-8DFBC2D5A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C0F74-1C9F-3316-D5D9-1BABDC2D6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Further History of ANNs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98D40B-5923-21BD-B253-5C0F8EABF9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1257300"/>
            <a:ext cx="8648700" cy="5308600"/>
          </a:xfrm>
        </p:spPr>
        <p:txBody>
          <a:bodyPr>
            <a:normAutofit fontScale="85000" lnSpcReduction="20000"/>
          </a:bodyPr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mid-1980’s – mid-1990’s:</a:t>
            </a:r>
          </a:p>
          <a:p>
            <a:pPr lvl="1"/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Sejnowski’s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NETTalk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text-to-speech (1 hidden layer)</a:t>
            </a:r>
          </a:p>
          <a:p>
            <a:pPr lvl="1"/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Rumelhart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and McClelland </a:t>
            </a:r>
            <a:r>
              <a:rPr lang="en-US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PDP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book set</a:t>
            </a:r>
          </a:p>
          <a:p>
            <a:pPr lvl="1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Neural Info Processing Systems (NIPS) conference starts</a:t>
            </a:r>
          </a:p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Convolutional ANNs for vision tasks</a:t>
            </a:r>
          </a:p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2000-2015 saw a lot of progress</a:t>
            </a:r>
          </a:p>
          <a:p>
            <a:pPr lvl="1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Mid-2000’s GPUs began being used for ML </a:t>
            </a:r>
          </a:p>
          <a:p>
            <a:pPr lvl="1"/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autodiff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+ GPU ML platforms</a:t>
            </a:r>
          </a:p>
          <a:p>
            <a:pPr lvl="1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Larger datasets (e.g., ImageNet)</a:t>
            </a:r>
          </a:p>
          <a:p>
            <a:pPr lvl="1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Many incremental improvements in architecture</a:t>
            </a:r>
          </a:p>
          <a:p>
            <a:pPr lvl="1"/>
            <a:r>
              <a:rPr lang="en-US" dirty="0"/>
              <a:t>Pre-trained word-embeddings (word2vec, </a:t>
            </a:r>
            <a:r>
              <a:rPr lang="en-US" dirty="0" err="1"/>
              <a:t>GloVE</a:t>
            </a:r>
            <a:r>
              <a:rPr lang="en-US" dirty="0"/>
              <a:t>)</a:t>
            </a:r>
          </a:p>
          <a:p>
            <a:pPr lvl="2"/>
            <a:endParaRPr lang="en-US" dirty="0"/>
          </a:p>
          <a:p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224683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Word2Vec and Word </a:t>
            </a:r>
            <a:r>
              <a:rPr lang="en-US" dirty="0" err="1"/>
              <a:t>embeddings</a:t>
            </a:r>
            <a:endParaRPr lang="en-US" dirty="0"/>
          </a:p>
        </p:txBody>
      </p:sp>
      <p:pic>
        <p:nvPicPr>
          <p:cNvPr id="6" name="Picture 5" descr="Screen Shot 2016-04-10 at 8.20.30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5536" y="3228477"/>
            <a:ext cx="6794500" cy="34544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88755BF-565A-6F69-6382-570AEC72C2DE}"/>
              </a:ext>
            </a:extLst>
          </p:cNvPr>
          <p:cNvSpPr txBox="1"/>
          <p:nvPr/>
        </p:nvSpPr>
        <p:spPr>
          <a:xfrm>
            <a:off x="1085850" y="428625"/>
            <a:ext cx="7058025" cy="83099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/>
              <a:t>Some models that were very influential were large (trained on millions of words) but not deep….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320F56-8970-8BF6-1147-356ACE3B0759}"/>
              </a:ext>
            </a:extLst>
          </p:cNvPr>
          <p:cNvSpPr txBox="1"/>
          <p:nvPr/>
        </p:nvSpPr>
        <p:spPr>
          <a:xfrm>
            <a:off x="6786563" y="3757613"/>
            <a:ext cx="1708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2013</a:t>
            </a:r>
          </a:p>
        </p:txBody>
      </p:sp>
    </p:spTree>
    <p:extLst>
      <p:ext uri="{BB962C8B-B14F-4D97-AF65-F5344CB8AC3E}">
        <p14:creationId xmlns:p14="http://schemas.microsoft.com/office/powerpoint/2010/main" val="12227987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Basic idea behind skip-gram </a:t>
            </a:r>
            <a:r>
              <a:rPr lang="en-US" dirty="0" err="1"/>
              <a:t>embeddings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55061" t="3792"/>
          <a:stretch/>
        </p:blipFill>
        <p:spPr>
          <a:xfrm>
            <a:off x="2392662" y="1396566"/>
            <a:ext cx="4195667" cy="52297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689" y="3300004"/>
            <a:ext cx="1598889" cy="92333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from an input word w(t) in a document</a:t>
            </a:r>
          </a:p>
        </p:txBody>
      </p:sp>
      <p:sp>
        <p:nvSpPr>
          <p:cNvPr id="7" name="Rounded Rectangular Callout 6"/>
          <p:cNvSpPr/>
          <p:nvPr/>
        </p:nvSpPr>
        <p:spPr>
          <a:xfrm>
            <a:off x="457200" y="1689693"/>
            <a:ext cx="2286992" cy="1115246"/>
          </a:xfrm>
          <a:prstGeom prst="wedgeRoundRectCallout">
            <a:avLst>
              <a:gd name="adj1" fmla="val 104629"/>
              <a:gd name="adj2" fmla="val 112668"/>
              <a:gd name="adj3" fmla="val 1666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construct hidden layer that “encodes” that word</a:t>
            </a:r>
          </a:p>
        </p:txBody>
      </p:sp>
      <p:sp>
        <p:nvSpPr>
          <p:cNvPr id="8" name="Rounded Rectangular Callout 7"/>
          <p:cNvSpPr/>
          <p:nvPr/>
        </p:nvSpPr>
        <p:spPr>
          <a:xfrm>
            <a:off x="6588329" y="1603949"/>
            <a:ext cx="2286992" cy="2092964"/>
          </a:xfrm>
          <a:prstGeom prst="wedgeRoundRectCallout">
            <a:avLst>
              <a:gd name="adj1" fmla="val -86266"/>
              <a:gd name="adj2" fmla="val 80639"/>
              <a:gd name="adj3" fmla="val 1666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So that the hidden layer will predict likely nearby words w(t-K), …, w(</a:t>
            </a:r>
            <a:r>
              <a:rPr lang="en-US" dirty="0" err="1"/>
              <a:t>t+K</a:t>
            </a:r>
            <a:r>
              <a:rPr lang="en-US" dirty="0"/>
              <a:t>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25776" y="4008075"/>
            <a:ext cx="1598889" cy="175432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final step of this prediction is a </a:t>
            </a:r>
            <a:r>
              <a:rPr lang="en-US" dirty="0" err="1"/>
              <a:t>softmax</a:t>
            </a:r>
            <a:r>
              <a:rPr lang="en-US" dirty="0"/>
              <a:t> over lots of outputs</a:t>
            </a:r>
          </a:p>
        </p:txBody>
      </p:sp>
    </p:spTree>
    <p:extLst>
      <p:ext uri="{BB962C8B-B14F-4D97-AF65-F5344CB8AC3E}">
        <p14:creationId xmlns:p14="http://schemas.microsoft.com/office/powerpoint/2010/main" val="1424986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Basic idea behind skip-gram </a:t>
            </a:r>
            <a:r>
              <a:rPr lang="en-US" dirty="0" err="1"/>
              <a:t>embeddings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55061" t="3792"/>
          <a:stretch/>
        </p:blipFill>
        <p:spPr>
          <a:xfrm>
            <a:off x="2392662" y="1396566"/>
            <a:ext cx="4195667" cy="52297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086600"/>
            <a:ext cx="1769165" cy="175432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Training data:</a:t>
            </a:r>
          </a:p>
          <a:p>
            <a:r>
              <a:rPr lang="en-US" b="1" dirty="0">
                <a:solidFill>
                  <a:schemeClr val="accent3">
                    <a:lumMod val="50000"/>
                  </a:schemeClr>
                </a:solidFill>
              </a:rPr>
              <a:t>positive</a:t>
            </a:r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 </a:t>
            </a:r>
            <a:r>
              <a:rPr lang="en-US" dirty="0"/>
              <a:t>examples are pairs of words w(t), w(</a:t>
            </a:r>
            <a:r>
              <a:rPr lang="en-US" dirty="0" err="1"/>
              <a:t>t+j</a:t>
            </a:r>
            <a:r>
              <a:rPr lang="en-US" dirty="0"/>
              <a:t>) that co-occur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1002" y="4495704"/>
            <a:ext cx="2789550" cy="147732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Training data:</a:t>
            </a:r>
          </a:p>
          <a:p>
            <a:r>
              <a:rPr lang="en-US" dirty="0">
                <a:solidFill>
                  <a:srgbClr val="FF0000"/>
                </a:solidFill>
              </a:rPr>
              <a:t>negative</a:t>
            </a:r>
            <a:r>
              <a:rPr lang="en-US" dirty="0"/>
              <a:t> examples are </a:t>
            </a:r>
            <a:r>
              <a:rPr lang="en-US" b="1" dirty="0"/>
              <a:t>samples</a:t>
            </a:r>
            <a:r>
              <a:rPr lang="en-US" dirty="0"/>
              <a:t> of pairs of words w(t), w(</a:t>
            </a:r>
            <a:r>
              <a:rPr lang="en-US" dirty="0" err="1"/>
              <a:t>t+j</a:t>
            </a:r>
            <a:r>
              <a:rPr lang="en-US" dirty="0"/>
              <a:t>) that don’t co-occur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87050" y="2402739"/>
            <a:ext cx="2789550" cy="120032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You want to train over a very large corpus (100M words+) and hundreds+ dimensions</a:t>
            </a:r>
          </a:p>
        </p:txBody>
      </p:sp>
    </p:spTree>
    <p:extLst>
      <p:ext uri="{BB962C8B-B14F-4D97-AF65-F5344CB8AC3E}">
        <p14:creationId xmlns:p14="http://schemas.microsoft.com/office/powerpoint/2010/main" val="319470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0" grpId="0" animBg="1"/>
      <p:bldP spid="11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from word2vec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41427" y="5879067"/>
            <a:ext cx="324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2"/>
              </a:rPr>
              <a:t>https://projector.tensorflow.org/</a:t>
            </a:r>
            <a:r>
              <a:rPr lang="en-US" dirty="0"/>
              <a:t> </a:t>
            </a:r>
          </a:p>
        </p:txBody>
      </p:sp>
      <p:pic>
        <p:nvPicPr>
          <p:cNvPr id="3" name="Picture 2" descr="Screen Shot 2016-04-10 at 8.26.44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454" y="1775622"/>
            <a:ext cx="7993588" cy="3508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401773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from word2vec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16100"/>
            <a:ext cx="9144000" cy="320191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8B06529-6099-7E32-4138-C308B87F9D55}"/>
              </a:ext>
            </a:extLst>
          </p:cNvPr>
          <p:cNvSpPr txBox="1"/>
          <p:nvPr/>
        </p:nvSpPr>
        <p:spPr>
          <a:xfrm>
            <a:off x="1714500" y="5314950"/>
            <a:ext cx="6057900" cy="110799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/>
              <a:t>A number of properties of word2vec were surprising and mysterious! </a:t>
            </a:r>
            <a:r>
              <a:rPr lang="en-US" dirty="0"/>
              <a:t>until they were explained by Omer Levy and Yoav Goldberg a couple of years later</a:t>
            </a:r>
          </a:p>
        </p:txBody>
      </p:sp>
    </p:spTree>
    <p:extLst>
      <p:ext uri="{BB962C8B-B14F-4D97-AF65-F5344CB8AC3E}">
        <p14:creationId xmlns:p14="http://schemas.microsoft.com/office/powerpoint/2010/main" val="403787819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F45F2C-256F-555C-6D94-FBC07D077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940DE-55DC-181E-27B7-E142D7E74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Further History of ANNs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FD214-41BE-BAE2-A3AD-F60FE517F2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1257300"/>
            <a:ext cx="8648700" cy="5308600"/>
          </a:xfrm>
        </p:spPr>
        <p:txBody>
          <a:bodyPr>
            <a:normAutofit fontScale="85000" lnSpcReduction="20000"/>
          </a:bodyPr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mid-1980’s – mid-1990’s:</a:t>
            </a:r>
          </a:p>
          <a:p>
            <a:pPr lvl="1"/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Sejnowski’s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NETTalk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text-to-speech (1 hidden layer)</a:t>
            </a:r>
          </a:p>
          <a:p>
            <a:pPr lvl="1"/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Rumelhart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and McClelland </a:t>
            </a:r>
            <a:r>
              <a:rPr lang="en-US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PDP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book set</a:t>
            </a:r>
          </a:p>
          <a:p>
            <a:pPr lvl="1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Neural Info Processing Systems (NIPS) conference starts</a:t>
            </a:r>
          </a:p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Convolutional ANNs for vision tasks</a:t>
            </a:r>
          </a:p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2000-2015 saw a lot of progress</a:t>
            </a:r>
          </a:p>
          <a:p>
            <a:pPr lvl="1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Mid-2000’s GPUs began being used for ML </a:t>
            </a:r>
          </a:p>
          <a:p>
            <a:pPr lvl="1"/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autodiff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+ GPU ML platforms</a:t>
            </a:r>
          </a:p>
          <a:p>
            <a:pPr lvl="1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Larger datasets (e.g., ImageNet)</a:t>
            </a:r>
          </a:p>
          <a:p>
            <a:pPr lvl="1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Many incremental improvements in architecture</a:t>
            </a:r>
          </a:p>
          <a:p>
            <a:pPr lvl="1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Pre-trained word-embeddings (word2vec,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GloVE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</a:t>
            </a:r>
          </a:p>
          <a:p>
            <a:pPr lvl="1"/>
            <a:r>
              <a:rPr lang="en-US" dirty="0"/>
              <a:t>LSTMs and other encoder-decoder seq2seq learners</a:t>
            </a:r>
          </a:p>
          <a:p>
            <a:pPr lvl="2"/>
            <a:endParaRPr lang="en-US" dirty="0"/>
          </a:p>
          <a:p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421376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ART OF Recurrent Neural Networks – Part 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22102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694" y="1657419"/>
            <a:ext cx="7531839" cy="3752470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Motivation: what about sequence prediction?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96571" y="5766191"/>
            <a:ext cx="5588351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What can I do when input size and output size vary?</a:t>
            </a:r>
          </a:p>
        </p:txBody>
      </p:sp>
    </p:spTree>
    <p:extLst>
      <p:ext uri="{BB962C8B-B14F-4D97-AF65-F5344CB8AC3E}">
        <p14:creationId xmlns:p14="http://schemas.microsoft.com/office/powerpoint/2010/main" val="401389695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172305" y="2600847"/>
            <a:ext cx="4630128" cy="2306796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Motivation: what about sequence prediction?</a:t>
            </a:r>
          </a:p>
        </p:txBody>
      </p:sp>
      <p:sp>
        <p:nvSpPr>
          <p:cNvPr id="2" name="Oval 1"/>
          <p:cNvSpPr/>
          <p:nvPr/>
        </p:nvSpPr>
        <p:spPr>
          <a:xfrm>
            <a:off x="6059713" y="4626430"/>
            <a:ext cx="544286" cy="54428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3" name="Rectangle 2"/>
          <p:cNvSpPr/>
          <p:nvPr/>
        </p:nvSpPr>
        <p:spPr>
          <a:xfrm>
            <a:off x="5696855" y="3492501"/>
            <a:ext cx="1270001" cy="6350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7" name="Oval 6"/>
          <p:cNvSpPr/>
          <p:nvPr/>
        </p:nvSpPr>
        <p:spPr>
          <a:xfrm>
            <a:off x="6059713" y="2492830"/>
            <a:ext cx="544286" cy="544286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cxnSp>
        <p:nvCxnSpPr>
          <p:cNvPr id="9" name="Straight Arrow Connector 8"/>
          <p:cNvCxnSpPr>
            <a:stCxn id="2" idx="0"/>
            <a:endCxn id="3" idx="2"/>
          </p:cNvCxnSpPr>
          <p:nvPr/>
        </p:nvCxnSpPr>
        <p:spPr>
          <a:xfrm flipV="1">
            <a:off x="6331856" y="4127501"/>
            <a:ext cx="0" cy="49892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3" idx="0"/>
            <a:endCxn id="7" idx="4"/>
          </p:cNvCxnSpPr>
          <p:nvPr/>
        </p:nvCxnSpPr>
        <p:spPr>
          <a:xfrm flipV="1">
            <a:off x="6331856" y="3037116"/>
            <a:ext cx="0" cy="45538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8558386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Architecture for an RNN </a:t>
            </a:r>
            <a:br>
              <a:rPr lang="en-US" dirty="0"/>
            </a:br>
            <a:r>
              <a:rPr lang="en-US" dirty="0"/>
              <a:t>(recurrent neural network)</a:t>
            </a:r>
          </a:p>
        </p:txBody>
      </p:sp>
      <p:pic>
        <p:nvPicPr>
          <p:cNvPr id="3" name="Picture 2" descr="Screen Shot 2016-04-10 at 6.15.11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8628" y="2144486"/>
            <a:ext cx="5816600" cy="2514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99582" y="6403601"/>
            <a:ext cx="66205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http://</a:t>
            </a:r>
            <a:r>
              <a:rPr lang="en-US" dirty="0" err="1"/>
              <a:t>colah.github.io</a:t>
            </a:r>
            <a:r>
              <a:rPr lang="en-US" dirty="0"/>
              <a:t>/posts/2015-08-Understanding-LSTMs/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47143" y="1569357"/>
            <a:ext cx="2252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Sequence of outputs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99543" y="4978400"/>
            <a:ext cx="21137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Sequence of inputs</a:t>
            </a:r>
          </a:p>
        </p:txBody>
      </p:sp>
      <p:sp>
        <p:nvSpPr>
          <p:cNvPr id="7" name="Rectangular Callout 6"/>
          <p:cNvSpPr/>
          <p:nvPr/>
        </p:nvSpPr>
        <p:spPr>
          <a:xfrm>
            <a:off x="1142999" y="5152571"/>
            <a:ext cx="1505857" cy="1052286"/>
          </a:xfrm>
          <a:prstGeom prst="wedgeRectCallout">
            <a:avLst>
              <a:gd name="adj1" fmla="val 41215"/>
              <a:gd name="adj2" fmla="val -110776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Start of sequence marker</a:t>
            </a:r>
          </a:p>
        </p:txBody>
      </p:sp>
      <p:sp>
        <p:nvSpPr>
          <p:cNvPr id="8" name="Rectangular Callout 7"/>
          <p:cNvSpPr/>
          <p:nvPr/>
        </p:nvSpPr>
        <p:spPr>
          <a:xfrm>
            <a:off x="6611256" y="5152571"/>
            <a:ext cx="1505857" cy="1052286"/>
          </a:xfrm>
          <a:prstGeom prst="wedgeRectCallout">
            <a:avLst>
              <a:gd name="adj1" fmla="val -23845"/>
              <a:gd name="adj2" fmla="val -11250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End of sequence marker</a:t>
            </a:r>
          </a:p>
        </p:txBody>
      </p:sp>
      <p:sp>
        <p:nvSpPr>
          <p:cNvPr id="9" name="Rectangular Callout 8"/>
          <p:cNvSpPr/>
          <p:nvPr/>
        </p:nvSpPr>
        <p:spPr>
          <a:xfrm>
            <a:off x="457201" y="1569357"/>
            <a:ext cx="1451428" cy="1660072"/>
          </a:xfrm>
          <a:prstGeom prst="wedgeRectCallout">
            <a:avLst>
              <a:gd name="adj1" fmla="val 132473"/>
              <a:gd name="adj2" fmla="val 59688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Some information is passed from one subunit to the next</a:t>
            </a:r>
          </a:p>
        </p:txBody>
      </p:sp>
    </p:spTree>
    <p:extLst>
      <p:ext uri="{BB962C8B-B14F-4D97-AF65-F5344CB8AC3E}">
        <p14:creationId xmlns:p14="http://schemas.microsoft.com/office/powerpoint/2010/main" val="3746505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 for an 1980’s RNN</a:t>
            </a:r>
          </a:p>
        </p:txBody>
      </p:sp>
      <p:pic>
        <p:nvPicPr>
          <p:cNvPr id="3" name="Picture 2" descr="Screen Shot 2016-04-10 at 6.15.11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4283" y="4880660"/>
            <a:ext cx="3747636" cy="162015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2990" y="2896293"/>
            <a:ext cx="2232095" cy="1112062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1316050" y="2896293"/>
            <a:ext cx="2232095" cy="1112062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2737500" y="2896293"/>
            <a:ext cx="2232095" cy="1112062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6190998" y="2896293"/>
            <a:ext cx="2232095" cy="1112062"/>
          </a:xfrm>
          <a:prstGeom prst="rect">
            <a:avLst/>
          </a:prstGeom>
        </p:spPr>
      </p:pic>
      <p:cxnSp>
        <p:nvCxnSpPr>
          <p:cNvPr id="17" name="Straight Connector 16"/>
          <p:cNvCxnSpPr/>
          <p:nvPr/>
        </p:nvCxnSpPr>
        <p:spPr>
          <a:xfrm>
            <a:off x="1118736" y="3302000"/>
            <a:ext cx="681613" cy="0"/>
          </a:xfrm>
          <a:prstGeom prst="line">
            <a:avLst/>
          </a:prstGeom>
          <a:ln w="28575" cmpd="sng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1800349" y="3309257"/>
            <a:ext cx="0" cy="854529"/>
          </a:xfrm>
          <a:prstGeom prst="line">
            <a:avLst/>
          </a:prstGeom>
          <a:ln w="28575" cmpd="sng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1800349" y="4172858"/>
            <a:ext cx="423516" cy="0"/>
          </a:xfrm>
          <a:prstGeom prst="line">
            <a:avLst/>
          </a:prstGeom>
          <a:ln w="28575" cmpd="sng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flipV="1">
            <a:off x="2213378" y="4027715"/>
            <a:ext cx="122489" cy="145143"/>
          </a:xfrm>
          <a:prstGeom prst="straightConnector1">
            <a:avLst/>
          </a:prstGeom>
          <a:ln w="28575" cmpd="sng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2404145" y="3292928"/>
            <a:ext cx="681613" cy="0"/>
          </a:xfrm>
          <a:prstGeom prst="line">
            <a:avLst/>
          </a:prstGeom>
          <a:ln w="28575" cmpd="sng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3085758" y="3300185"/>
            <a:ext cx="0" cy="854529"/>
          </a:xfrm>
          <a:prstGeom prst="line">
            <a:avLst/>
          </a:prstGeom>
          <a:ln w="28575" cmpd="sng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3085758" y="4163786"/>
            <a:ext cx="423516" cy="0"/>
          </a:xfrm>
          <a:prstGeom prst="line">
            <a:avLst/>
          </a:prstGeom>
          <a:ln w="28575" cmpd="sng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flipV="1">
            <a:off x="3498787" y="4018643"/>
            <a:ext cx="122489" cy="145143"/>
          </a:xfrm>
          <a:prstGeom prst="straightConnector1">
            <a:avLst/>
          </a:prstGeom>
          <a:ln w="28575" cmpd="sng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3998902" y="3283856"/>
            <a:ext cx="681613" cy="0"/>
          </a:xfrm>
          <a:prstGeom prst="line">
            <a:avLst/>
          </a:prstGeom>
          <a:ln w="28575" cmpd="sng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4680515" y="3291113"/>
            <a:ext cx="0" cy="854529"/>
          </a:xfrm>
          <a:prstGeom prst="line">
            <a:avLst/>
          </a:prstGeom>
          <a:ln w="28575" cmpd="sng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4680515" y="4154714"/>
            <a:ext cx="423516" cy="0"/>
          </a:xfrm>
          <a:prstGeom prst="line">
            <a:avLst/>
          </a:prstGeom>
          <a:ln w="28575" cmpd="sng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 flipV="1">
            <a:off x="5093544" y="4009571"/>
            <a:ext cx="122489" cy="145143"/>
          </a:xfrm>
          <a:prstGeom prst="straightConnector1">
            <a:avLst/>
          </a:prstGeom>
          <a:ln w="28575" cmpd="sng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6000970" y="3274784"/>
            <a:ext cx="681613" cy="0"/>
          </a:xfrm>
          <a:prstGeom prst="line">
            <a:avLst/>
          </a:prstGeom>
          <a:ln w="28575" cmpd="sng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6682583" y="3282041"/>
            <a:ext cx="0" cy="854529"/>
          </a:xfrm>
          <a:prstGeom prst="line">
            <a:avLst/>
          </a:prstGeom>
          <a:ln w="28575" cmpd="sng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>
            <a:off x="6682583" y="4145642"/>
            <a:ext cx="423516" cy="0"/>
          </a:xfrm>
          <a:prstGeom prst="line">
            <a:avLst/>
          </a:prstGeom>
          <a:ln w="28575" cmpd="sng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flipV="1">
            <a:off x="7095612" y="4000499"/>
            <a:ext cx="122489" cy="145143"/>
          </a:xfrm>
          <a:prstGeom prst="straightConnector1">
            <a:avLst/>
          </a:prstGeom>
          <a:ln w="28575" cmpd="sng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542643" y="3628571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0423" y="5133324"/>
            <a:ext cx="4089156" cy="6463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Problem with this: it’s very hard to train using the usual multi-layer networks</a:t>
            </a:r>
          </a:p>
        </p:txBody>
      </p:sp>
    </p:spTree>
    <p:extLst>
      <p:ext uri="{BB962C8B-B14F-4D97-AF65-F5344CB8AC3E}">
        <p14:creationId xmlns:p14="http://schemas.microsoft.com/office/powerpoint/2010/main" val="548649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architecture for an LSTM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99582" y="6403601"/>
            <a:ext cx="66205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http://</a:t>
            </a:r>
            <a:r>
              <a:rPr lang="en-US" dirty="0" err="1"/>
              <a:t>colah.github.io</a:t>
            </a:r>
            <a:r>
              <a:rPr lang="en-US" dirty="0"/>
              <a:t>/posts/2015-08-Understanding-LSTMs/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31011" y="1105610"/>
            <a:ext cx="4089156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err="1"/>
              <a:t>Longterm-shortterm</a:t>
            </a:r>
            <a:r>
              <a:rPr lang="en-US" dirty="0"/>
              <a:t> memory model</a:t>
            </a:r>
          </a:p>
        </p:txBody>
      </p:sp>
      <p:pic>
        <p:nvPicPr>
          <p:cNvPr id="3" name="Picture 2" descr="Screen Shot 2016-04-10 at 6.28.28 PM.pn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4" r="9761"/>
          <a:stretch/>
        </p:blipFill>
        <p:spPr>
          <a:xfrm>
            <a:off x="0" y="1614775"/>
            <a:ext cx="9104188" cy="3565010"/>
          </a:xfrm>
          <a:prstGeom prst="rect">
            <a:avLst/>
          </a:prstGeom>
        </p:spPr>
      </p:pic>
      <p:pic>
        <p:nvPicPr>
          <p:cNvPr id="5" name="Picture 4" descr="Screen Shot 2016-04-10 at 6.29.26 PM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00" y="5179785"/>
            <a:ext cx="5597071" cy="10994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515429" y="5406572"/>
            <a:ext cx="24291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dirty="0"/>
              <a:t>σ</a:t>
            </a:r>
            <a:r>
              <a:rPr lang="en-US" dirty="0"/>
              <a:t>:  output in [0,1]</a:t>
            </a:r>
          </a:p>
          <a:p>
            <a:r>
              <a:rPr lang="en-US" dirty="0" err="1"/>
              <a:t>tanh</a:t>
            </a:r>
            <a:r>
              <a:rPr lang="en-US" dirty="0"/>
              <a:t>: output in [-1,+1]</a:t>
            </a:r>
          </a:p>
        </p:txBody>
      </p:sp>
      <p:sp>
        <p:nvSpPr>
          <p:cNvPr id="7" name="Down Arrow Callout 6"/>
          <p:cNvSpPr/>
          <p:nvPr/>
        </p:nvSpPr>
        <p:spPr>
          <a:xfrm>
            <a:off x="3017696" y="1237532"/>
            <a:ext cx="911822" cy="1682613"/>
          </a:xfrm>
          <a:prstGeom prst="downArrowCallou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Decide what to forget </a:t>
            </a:r>
          </a:p>
        </p:txBody>
      </p:sp>
      <p:sp>
        <p:nvSpPr>
          <p:cNvPr id="12" name="Down Arrow Callout 11"/>
          <p:cNvSpPr/>
          <p:nvPr/>
        </p:nvSpPr>
        <p:spPr>
          <a:xfrm>
            <a:off x="3821397" y="1237532"/>
            <a:ext cx="911822" cy="1682613"/>
          </a:xfrm>
          <a:prstGeom prst="downArrowCallou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Decide what to insert</a:t>
            </a:r>
          </a:p>
        </p:txBody>
      </p:sp>
      <p:sp>
        <p:nvSpPr>
          <p:cNvPr id="8" name="Up Arrow Callout 7"/>
          <p:cNvSpPr/>
          <p:nvPr/>
        </p:nvSpPr>
        <p:spPr>
          <a:xfrm>
            <a:off x="4255169" y="4016557"/>
            <a:ext cx="1801934" cy="1390015"/>
          </a:xfrm>
          <a:prstGeom prst="upArrowCallou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Combine with transformed </a:t>
            </a:r>
            <a:r>
              <a:rPr lang="en-US" dirty="0" err="1"/>
              <a:t>x</a:t>
            </a:r>
            <a:r>
              <a:rPr lang="en-US" baseline="-25000" dirty="0" err="1"/>
              <a:t>t</a:t>
            </a:r>
            <a:endParaRPr lang="en-US" baseline="-25000" dirty="0"/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72725" y="2985281"/>
            <a:ext cx="8793167" cy="0"/>
          </a:xfrm>
          <a:prstGeom prst="straightConnector1">
            <a:avLst/>
          </a:prstGeom>
          <a:ln w="76200" cmpd="sng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ular Callout 13"/>
          <p:cNvSpPr/>
          <p:nvPr/>
        </p:nvSpPr>
        <p:spPr>
          <a:xfrm>
            <a:off x="553606" y="1105610"/>
            <a:ext cx="1487138" cy="794113"/>
          </a:xfrm>
          <a:prstGeom prst="wedgeRoundRectCallout">
            <a:avLst>
              <a:gd name="adj1" fmla="val -44752"/>
              <a:gd name="adj2" fmla="val 177531"/>
              <a:gd name="adj3" fmla="val 1666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“Bits of memory”</a:t>
            </a:r>
          </a:p>
          <a:p>
            <a:pPr algn="ctr"/>
            <a:r>
              <a:rPr lang="en-US" dirty="0"/>
              <a:t>(vector)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E362B7D-3BAD-806B-6B0F-FDC2D75EE67D}"/>
              </a:ext>
            </a:extLst>
          </p:cNvPr>
          <p:cNvCxnSpPr>
            <a:cxnSpLocks/>
          </p:cNvCxnSpPr>
          <p:nvPr/>
        </p:nvCxnSpPr>
        <p:spPr>
          <a:xfrm>
            <a:off x="5100638" y="3671888"/>
            <a:ext cx="0" cy="214312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72427A8-C155-36AF-BF81-1C66B8BA79D8}"/>
              </a:ext>
            </a:extLst>
          </p:cNvPr>
          <p:cNvSpPr txBox="1"/>
          <p:nvPr/>
        </p:nvSpPr>
        <p:spPr>
          <a:xfrm>
            <a:off x="6538575" y="4609997"/>
            <a:ext cx="2327317" cy="6463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No </a:t>
            </a:r>
            <a:r>
              <a:rPr lang="en-US" dirty="0" err="1"/>
              <a:t>sigmoids</a:t>
            </a:r>
            <a:r>
              <a:rPr lang="en-US" dirty="0"/>
              <a:t>/</a:t>
            </a:r>
            <a:r>
              <a:rPr lang="en-US" dirty="0" err="1"/>
              <a:t>ReLU’s</a:t>
            </a:r>
            <a:r>
              <a:rPr lang="en-US" dirty="0"/>
              <a:t> on the main “highway”</a:t>
            </a:r>
          </a:p>
        </p:txBody>
      </p:sp>
    </p:spTree>
    <p:extLst>
      <p:ext uri="{BB962C8B-B14F-4D97-AF65-F5344CB8AC3E}">
        <p14:creationId xmlns:p14="http://schemas.microsoft.com/office/powerpoint/2010/main" val="2472286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2" grpId="0" animBg="1"/>
      <p:bldP spid="8" grpId="0" animBg="1"/>
      <p:bldP spid="14" grpId="0" animBg="1"/>
      <p:bldP spid="9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Implementing an LSTM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99582" y="6403601"/>
            <a:ext cx="66205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http://</a:t>
            </a:r>
            <a:r>
              <a:rPr lang="en-US" dirty="0" err="1"/>
              <a:t>colah.github.io</a:t>
            </a:r>
            <a:r>
              <a:rPr lang="en-US" dirty="0"/>
              <a:t>/posts/2015-08-Understanding-LSTMs/</a:t>
            </a:r>
          </a:p>
        </p:txBody>
      </p:sp>
      <p:pic>
        <p:nvPicPr>
          <p:cNvPr id="8" name="Picture 7" descr="Screen Shot 2016-04-10 at 6.33.04 PM.pn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316" t="34018" r="2448" b="24457"/>
          <a:stretch/>
        </p:blipFill>
        <p:spPr>
          <a:xfrm>
            <a:off x="1370533" y="2413882"/>
            <a:ext cx="4502173" cy="1226679"/>
          </a:xfrm>
          <a:prstGeom prst="rect">
            <a:avLst/>
          </a:prstGeom>
        </p:spPr>
      </p:pic>
      <p:pic>
        <p:nvPicPr>
          <p:cNvPr id="9" name="Picture 8" descr="Screen Shot 2016-04-10 at 6.33.11 PM.pn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166" t="43170" r="11475" b="32351"/>
          <a:stretch/>
        </p:blipFill>
        <p:spPr>
          <a:xfrm>
            <a:off x="1597518" y="3548637"/>
            <a:ext cx="3416146" cy="694755"/>
          </a:xfrm>
          <a:prstGeom prst="rect">
            <a:avLst/>
          </a:prstGeom>
        </p:spPr>
      </p:pic>
      <p:pic>
        <p:nvPicPr>
          <p:cNvPr id="11" name="Picture 10" descr="Screen Shot 2016-04-10 at 6.33.17 PM.png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284" t="33521" r="6930" b="25818"/>
          <a:stretch/>
        </p:blipFill>
        <p:spPr>
          <a:xfrm>
            <a:off x="1647689" y="4349153"/>
            <a:ext cx="3820968" cy="1128978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143548" y="2071067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(1)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548" y="3640561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(2)</a:t>
            </a:r>
          </a:p>
        </p:txBody>
      </p:sp>
      <p:pic>
        <p:nvPicPr>
          <p:cNvPr id="40" name="Picture 39" descr="Screen Shot 2016-04-10 at 7.30.57 PM.png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715" t="43057" r="8982" b="40694"/>
          <a:stretch/>
        </p:blipFill>
        <p:spPr>
          <a:xfrm>
            <a:off x="1647689" y="2049366"/>
            <a:ext cx="3712418" cy="45809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193719" y="4349153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3533" y="1515748"/>
            <a:ext cx="19800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ambria Math"/>
                <a:cs typeface="Cambria Math"/>
              </a:rPr>
              <a:t>For </a:t>
            </a:r>
            <a:r>
              <a:rPr lang="en-US" sz="2400" i="1" dirty="0">
                <a:latin typeface="Cambria Math"/>
                <a:cs typeface="Cambria Math"/>
              </a:rPr>
              <a:t>t = 1,…,T:</a:t>
            </a:r>
            <a:endParaRPr lang="en-US" sz="2400" dirty="0">
              <a:latin typeface="Cambria Math"/>
              <a:cs typeface="Cambria Math"/>
            </a:endParaRPr>
          </a:p>
        </p:txBody>
      </p:sp>
      <p:pic>
        <p:nvPicPr>
          <p:cNvPr id="26" name="Picture 25" descr="Screen Shot 2016-04-10 at 6.15.11 PM.pn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4320" y="4856723"/>
            <a:ext cx="3578132" cy="1546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369522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LSTMs can be used for other sequence tasks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252644" y="6424818"/>
            <a:ext cx="58913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http://</a:t>
            </a:r>
            <a:r>
              <a:rPr lang="en-US" b="1" dirty="0" err="1"/>
              <a:t>karpathy.github.io</a:t>
            </a:r>
            <a:r>
              <a:rPr lang="en-US" b="1" dirty="0"/>
              <a:t>/2015/05/21/</a:t>
            </a:r>
            <a:r>
              <a:rPr lang="en-US" b="1" dirty="0" err="1"/>
              <a:t>rnn</a:t>
            </a:r>
            <a:r>
              <a:rPr lang="en-US" b="1" dirty="0"/>
              <a:t>-effectiveness/</a:t>
            </a:r>
          </a:p>
        </p:txBody>
      </p:sp>
      <p:pic>
        <p:nvPicPr>
          <p:cNvPr id="7" name="Picture 6" descr="Screen Shot 2016-04-10 at 7.55.56 PM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34"/>
          <a:stretch/>
        </p:blipFill>
        <p:spPr>
          <a:xfrm>
            <a:off x="669038" y="2335577"/>
            <a:ext cx="7805923" cy="299483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436190" y="1689246"/>
            <a:ext cx="15440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sequence classification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5706" y="1873912"/>
            <a:ext cx="15440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translation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32542" y="1760063"/>
            <a:ext cx="15440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named entity recognition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2167" y="1707830"/>
            <a:ext cx="15440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image captioning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52060" y="5323618"/>
            <a:ext cx="976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seq2seq</a:t>
            </a:r>
          </a:p>
        </p:txBody>
      </p:sp>
    </p:spTree>
    <p:extLst>
      <p:ext uri="{BB962C8B-B14F-4D97-AF65-F5344CB8AC3E}">
        <p14:creationId xmlns:p14="http://schemas.microsoft.com/office/powerpoint/2010/main" val="229452321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6F0B0F-B36F-FBCA-C45B-26128FD32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6C272F4-C544-CF39-7888-D896C3064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LSTMs can be used for other sequence tasks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86FF27C-E11B-ED95-11E0-208EB07277FB}"/>
              </a:ext>
            </a:extLst>
          </p:cNvPr>
          <p:cNvSpPr txBox="1"/>
          <p:nvPr/>
        </p:nvSpPr>
        <p:spPr>
          <a:xfrm>
            <a:off x="3252644" y="6424818"/>
            <a:ext cx="58913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http://</a:t>
            </a:r>
            <a:r>
              <a:rPr lang="en-US" b="1" dirty="0" err="1"/>
              <a:t>karpathy.github.io</a:t>
            </a:r>
            <a:r>
              <a:rPr lang="en-US" b="1" dirty="0"/>
              <a:t>/2015/05/21/</a:t>
            </a:r>
            <a:r>
              <a:rPr lang="en-US" b="1" dirty="0" err="1"/>
              <a:t>rnn</a:t>
            </a:r>
            <a:r>
              <a:rPr lang="en-US" b="1" dirty="0"/>
              <a:t>-effectiveness/</a:t>
            </a:r>
          </a:p>
        </p:txBody>
      </p:sp>
      <p:pic>
        <p:nvPicPr>
          <p:cNvPr id="7" name="Picture 6" descr="Screen Shot 2016-04-10 at 7.55.56 PM.png">
            <a:extLst>
              <a:ext uri="{FF2B5EF4-FFF2-40B4-BE49-F238E27FC236}">
                <a16:creationId xmlns:a16="http://schemas.microsoft.com/office/drawing/2014/main" id="{2B0EBD53-A6A2-9189-680E-8F3964BE2DF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34"/>
          <a:stretch/>
        </p:blipFill>
        <p:spPr>
          <a:xfrm>
            <a:off x="669038" y="2335577"/>
            <a:ext cx="7805923" cy="299483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4E824AE-3F38-85E5-2958-FBE1E25E9324}"/>
              </a:ext>
            </a:extLst>
          </p:cNvPr>
          <p:cNvSpPr txBox="1"/>
          <p:nvPr/>
        </p:nvSpPr>
        <p:spPr>
          <a:xfrm>
            <a:off x="2436190" y="1689246"/>
            <a:ext cx="15440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sequence classification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8A9FCCF-FE27-C13F-4184-181F7C301F45}"/>
              </a:ext>
            </a:extLst>
          </p:cNvPr>
          <p:cNvSpPr txBox="1"/>
          <p:nvPr/>
        </p:nvSpPr>
        <p:spPr>
          <a:xfrm>
            <a:off x="4595706" y="1873912"/>
            <a:ext cx="15440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translation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B083FD1-BB66-6EE2-E416-8E877F514D4C}"/>
              </a:ext>
            </a:extLst>
          </p:cNvPr>
          <p:cNvSpPr txBox="1"/>
          <p:nvPr/>
        </p:nvSpPr>
        <p:spPr>
          <a:xfrm>
            <a:off x="6732542" y="1760063"/>
            <a:ext cx="15440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named entity recognition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643645-8F08-FAA0-B01B-6E946C5F8D5E}"/>
              </a:ext>
            </a:extLst>
          </p:cNvPr>
          <p:cNvSpPr txBox="1"/>
          <p:nvPr/>
        </p:nvSpPr>
        <p:spPr>
          <a:xfrm>
            <a:off x="892167" y="1707830"/>
            <a:ext cx="15440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image captioning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0CAC77-DAE4-81E2-C320-274162438E3C}"/>
              </a:ext>
            </a:extLst>
          </p:cNvPr>
          <p:cNvSpPr txBox="1"/>
          <p:nvPr/>
        </p:nvSpPr>
        <p:spPr>
          <a:xfrm>
            <a:off x="5052060" y="5323618"/>
            <a:ext cx="976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seq2seq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5EA4298-00A5-8D5C-CB95-DDE84A67BFEE}"/>
              </a:ext>
            </a:extLst>
          </p:cNvPr>
          <p:cNvSpPr/>
          <p:nvPr/>
        </p:nvSpPr>
        <p:spPr>
          <a:xfrm>
            <a:off x="4314825" y="3429000"/>
            <a:ext cx="1214438" cy="1700213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9952181-2222-C10A-A8D3-B78472741FE2}"/>
              </a:ext>
            </a:extLst>
          </p:cNvPr>
          <p:cNvSpPr/>
          <p:nvPr/>
        </p:nvSpPr>
        <p:spPr>
          <a:xfrm>
            <a:off x="5180455" y="2697132"/>
            <a:ext cx="1214438" cy="1700213"/>
          </a:xfrm>
          <a:prstGeom prst="rect">
            <a:avLst/>
          </a:prstGeom>
          <a:noFill/>
          <a:ln w="38100">
            <a:solidFill>
              <a:srgbClr val="00B050"/>
            </a:solidFill>
            <a:prstDash val="dash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111CCA-45DC-47A9-CFDD-9D643FE84973}"/>
              </a:ext>
            </a:extLst>
          </p:cNvPr>
          <p:cNvSpPr txBox="1"/>
          <p:nvPr/>
        </p:nvSpPr>
        <p:spPr>
          <a:xfrm>
            <a:off x="3800283" y="5155487"/>
            <a:ext cx="1380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rgbClr val="FF0000"/>
                </a:solidFill>
              </a:rPr>
              <a:t>Encoder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D3AC9A5-E1E0-384E-6B22-7A146C50B885}"/>
              </a:ext>
            </a:extLst>
          </p:cNvPr>
          <p:cNvSpPr txBox="1"/>
          <p:nvPr/>
        </p:nvSpPr>
        <p:spPr>
          <a:xfrm>
            <a:off x="5504233" y="2308642"/>
            <a:ext cx="1380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rgbClr val="00B050"/>
                </a:solidFill>
              </a:rPr>
              <a:t>Decoder</a:t>
            </a:r>
          </a:p>
        </p:txBody>
      </p:sp>
    </p:spTree>
    <p:extLst>
      <p:ext uri="{BB962C8B-B14F-4D97-AF65-F5344CB8AC3E}">
        <p14:creationId xmlns:p14="http://schemas.microsoft.com/office/powerpoint/2010/main" val="2104157117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Character-level language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52644" y="6424818"/>
            <a:ext cx="58913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http://</a:t>
            </a:r>
            <a:r>
              <a:rPr lang="en-US" b="1" dirty="0" err="1"/>
              <a:t>karpathy.github.io</a:t>
            </a:r>
            <a:r>
              <a:rPr lang="en-US" b="1" dirty="0"/>
              <a:t>/2015/05/21/</a:t>
            </a:r>
            <a:r>
              <a:rPr lang="en-US" b="1" dirty="0" err="1"/>
              <a:t>rnn</a:t>
            </a:r>
            <a:r>
              <a:rPr lang="en-US" b="1" dirty="0"/>
              <a:t>-effectiveness/</a:t>
            </a:r>
          </a:p>
        </p:txBody>
      </p:sp>
      <p:pic>
        <p:nvPicPr>
          <p:cNvPr id="4" name="Picture 3" descr="Screen Shot 2016-04-10 at 7.58.34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864" y="1181100"/>
            <a:ext cx="6392353" cy="496418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62217" y="2097941"/>
            <a:ext cx="212458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Test time: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pick a seed character sequence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generate the next character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then the next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then the next …</a:t>
            </a:r>
          </a:p>
        </p:txBody>
      </p:sp>
    </p:spTree>
    <p:extLst>
      <p:ext uri="{BB962C8B-B14F-4D97-AF65-F5344CB8AC3E}">
        <p14:creationId xmlns:p14="http://schemas.microsoft.com/office/powerpoint/2010/main" val="3519448387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Character-level language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52644" y="6424818"/>
            <a:ext cx="58913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http://</a:t>
            </a:r>
            <a:r>
              <a:rPr lang="en-US" b="1" dirty="0" err="1"/>
              <a:t>karpathy.github.io</a:t>
            </a:r>
            <a:r>
              <a:rPr lang="en-US" b="1" dirty="0"/>
              <a:t>/2015/05/21/</a:t>
            </a:r>
            <a:r>
              <a:rPr lang="en-US" b="1" dirty="0" err="1"/>
              <a:t>rnn</a:t>
            </a:r>
            <a:r>
              <a:rPr lang="en-US" b="1" dirty="0"/>
              <a:t>-effectiveness/</a:t>
            </a:r>
          </a:p>
        </p:txBody>
      </p:sp>
      <p:pic>
        <p:nvPicPr>
          <p:cNvPr id="4" name="Picture 3" descr="Screen Shot 2016-04-10 at 8.05.31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8918" y="1233830"/>
            <a:ext cx="5520212" cy="5145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0407628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Character-level language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52644" y="6424818"/>
            <a:ext cx="58913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http://</a:t>
            </a:r>
            <a:r>
              <a:rPr lang="en-US" b="1" dirty="0" err="1"/>
              <a:t>karpathy.github.io</a:t>
            </a:r>
            <a:r>
              <a:rPr lang="en-US" b="1" dirty="0"/>
              <a:t>/2015/05/21/</a:t>
            </a:r>
            <a:r>
              <a:rPr lang="en-US" b="1" dirty="0" err="1"/>
              <a:t>rnn</a:t>
            </a:r>
            <a:r>
              <a:rPr lang="en-US" b="1" dirty="0"/>
              <a:t>-effectiveness/</a:t>
            </a:r>
          </a:p>
        </p:txBody>
      </p:sp>
      <p:pic>
        <p:nvPicPr>
          <p:cNvPr id="7" name="Picture 6" descr="Screen Shot 2016-04-10 at 8.00.58 PM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597"/>
          <a:stretch/>
        </p:blipFill>
        <p:spPr>
          <a:xfrm>
            <a:off x="997888" y="1253676"/>
            <a:ext cx="6717836" cy="5171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234831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Character-level language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52644" y="6424818"/>
            <a:ext cx="58913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http://</a:t>
            </a:r>
            <a:r>
              <a:rPr lang="en-US" b="1" dirty="0" err="1"/>
              <a:t>karpathy.github.io</a:t>
            </a:r>
            <a:r>
              <a:rPr lang="en-US" b="1" dirty="0"/>
              <a:t>/2015/05/21/</a:t>
            </a:r>
            <a:r>
              <a:rPr lang="en-US" b="1" dirty="0" err="1"/>
              <a:t>rnn</a:t>
            </a:r>
            <a:r>
              <a:rPr lang="en-US" b="1" dirty="0"/>
              <a:t>-effectiveness/</a:t>
            </a:r>
          </a:p>
        </p:txBody>
      </p:sp>
      <p:pic>
        <p:nvPicPr>
          <p:cNvPr id="4" name="Picture 3" descr="Screen Shot 2016-04-10 at 8.03.04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739" y="1142404"/>
            <a:ext cx="7277100" cy="52451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31631" y="1621652"/>
            <a:ext cx="2041135" cy="120032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err="1"/>
              <a:t>Yoav</a:t>
            </a:r>
            <a:r>
              <a:rPr lang="en-US" dirty="0"/>
              <a:t> Goldberg: </a:t>
            </a:r>
          </a:p>
          <a:p>
            <a:r>
              <a:rPr lang="en-US" dirty="0"/>
              <a:t>order-10 unsmoothed character n-grams</a:t>
            </a:r>
          </a:p>
        </p:txBody>
      </p:sp>
    </p:spTree>
    <p:extLst>
      <p:ext uri="{BB962C8B-B14F-4D97-AF65-F5344CB8AC3E}">
        <p14:creationId xmlns:p14="http://schemas.microsoft.com/office/powerpoint/2010/main" val="1761243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BA7463-5B02-43FB-8F67-89A74549F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94630-EE8B-B795-155F-38622A545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Character-level language model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9EC776-446C-22D3-5A2A-9532D7F44080}"/>
              </a:ext>
            </a:extLst>
          </p:cNvPr>
          <p:cNvSpPr txBox="1"/>
          <p:nvPr/>
        </p:nvSpPr>
        <p:spPr>
          <a:xfrm>
            <a:off x="3252644" y="6424818"/>
            <a:ext cx="58913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http://</a:t>
            </a:r>
            <a:r>
              <a:rPr lang="en-US" b="1" dirty="0" err="1"/>
              <a:t>karpathy.github.io</a:t>
            </a:r>
            <a:r>
              <a:rPr lang="en-US" b="1" dirty="0"/>
              <a:t>/2015/05/21/</a:t>
            </a:r>
            <a:r>
              <a:rPr lang="en-US" b="1" dirty="0" err="1"/>
              <a:t>rnn</a:t>
            </a:r>
            <a:r>
              <a:rPr lang="en-US" b="1" dirty="0"/>
              <a:t>-effectiveness/</a:t>
            </a:r>
          </a:p>
        </p:txBody>
      </p:sp>
      <p:pic>
        <p:nvPicPr>
          <p:cNvPr id="4" name="Picture 3" descr="Screen Shot 2016-04-10 at 8.05.31 PM.png">
            <a:extLst>
              <a:ext uri="{FF2B5EF4-FFF2-40B4-BE49-F238E27FC236}">
                <a16:creationId xmlns:a16="http://schemas.microsoft.com/office/drawing/2014/main" id="{A527652F-3555-2561-EC49-BEC7A8DBD0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8918" y="1233830"/>
            <a:ext cx="5520212" cy="5145626"/>
          </a:xfrm>
          <a:prstGeom prst="rect">
            <a:avLst/>
          </a:prstGeom>
        </p:spPr>
      </p:pic>
      <p:pic>
        <p:nvPicPr>
          <p:cNvPr id="5" name="Picture 4" descr="Screen Shot 2016-04-10 at 8.06.10 PM.png">
            <a:extLst>
              <a:ext uri="{FF2B5EF4-FFF2-40B4-BE49-F238E27FC236}">
                <a16:creationId xmlns:a16="http://schemas.microsoft.com/office/drawing/2014/main" id="{2DAD7F60-4062-2800-1E01-0E22F525F9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8517" y="2143302"/>
            <a:ext cx="5065483" cy="3557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199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Character-level language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52644" y="6424818"/>
            <a:ext cx="58913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http://</a:t>
            </a:r>
            <a:r>
              <a:rPr lang="en-US" b="1" dirty="0" err="1"/>
              <a:t>karpathy.github.io</a:t>
            </a:r>
            <a:r>
              <a:rPr lang="en-US" b="1" dirty="0"/>
              <a:t>/2015/05/21/</a:t>
            </a:r>
            <a:r>
              <a:rPr lang="en-US" b="1" dirty="0" err="1"/>
              <a:t>rnn</a:t>
            </a:r>
            <a:r>
              <a:rPr lang="en-US" b="1" dirty="0"/>
              <a:t>-effectiveness/</a:t>
            </a:r>
          </a:p>
        </p:txBody>
      </p:sp>
      <p:pic>
        <p:nvPicPr>
          <p:cNvPr id="4" name="Picture 3" descr="Screen Shot 2016-04-10 at 8.07.05 PM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408"/>
          <a:stretch/>
        </p:blipFill>
        <p:spPr>
          <a:xfrm>
            <a:off x="151253" y="1067329"/>
            <a:ext cx="6202781" cy="535748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20291" y="1762630"/>
            <a:ext cx="2771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LaTeX</a:t>
            </a:r>
            <a:r>
              <a:rPr lang="en-US" dirty="0"/>
              <a:t> “almost compiles”</a:t>
            </a:r>
          </a:p>
        </p:txBody>
      </p:sp>
    </p:spTree>
    <p:extLst>
      <p:ext uri="{BB962C8B-B14F-4D97-AF65-F5344CB8AC3E}">
        <p14:creationId xmlns:p14="http://schemas.microsoft.com/office/powerpoint/2010/main" val="2218731531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Character-level language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52644" y="6424818"/>
            <a:ext cx="58913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http://</a:t>
            </a:r>
            <a:r>
              <a:rPr lang="en-US" b="1" dirty="0" err="1"/>
              <a:t>karpathy.github.io</a:t>
            </a:r>
            <a:r>
              <a:rPr lang="en-US" b="1" dirty="0"/>
              <a:t>/2015/05/21/</a:t>
            </a:r>
            <a:r>
              <a:rPr lang="en-US" b="1" dirty="0" err="1"/>
              <a:t>rnn</a:t>
            </a:r>
            <a:r>
              <a:rPr lang="en-US" b="1" dirty="0"/>
              <a:t>-effectiveness/</a:t>
            </a:r>
          </a:p>
        </p:txBody>
      </p:sp>
      <p:pic>
        <p:nvPicPr>
          <p:cNvPr id="6" name="Picture 5" descr="Screen Shot 2016-04-10 at 8.08.25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246" y="1177130"/>
            <a:ext cx="6083175" cy="5247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227767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B1EBFC-85A0-2B72-3E2A-FDB79950D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5B45F-103B-ED07-5A99-A7CAA2778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Further History of ANNs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4070C5-DBFB-6504-490A-A0EADC1078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1257300"/>
            <a:ext cx="8648700" cy="5308600"/>
          </a:xfrm>
        </p:spPr>
        <p:txBody>
          <a:bodyPr>
            <a:normAutofit fontScale="77500" lnSpcReduction="20000"/>
          </a:bodyPr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mid-1980’s – mid-1990’s:</a:t>
            </a:r>
          </a:p>
          <a:p>
            <a:pPr lvl="1"/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Sejnowski’s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NETTalk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text-to-speech (1 hidden layer)</a:t>
            </a:r>
          </a:p>
          <a:p>
            <a:pPr lvl="1"/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Rumelhart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and McClelland </a:t>
            </a:r>
            <a:r>
              <a:rPr lang="en-US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PDP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book set</a:t>
            </a:r>
          </a:p>
          <a:p>
            <a:pPr lvl="1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Neural Info Processing Systems (NIPS) conference starts</a:t>
            </a:r>
          </a:p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Convolutional ANNs for vision tasks</a:t>
            </a:r>
          </a:p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2000-2015 saw a lot of progress</a:t>
            </a:r>
          </a:p>
          <a:p>
            <a:pPr lvl="1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Mid-2000’s GPUs began being used for ML </a:t>
            </a:r>
          </a:p>
          <a:p>
            <a:pPr lvl="1"/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autodiff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+ GPU ML platforms</a:t>
            </a:r>
          </a:p>
          <a:p>
            <a:pPr lvl="1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Larger datasets (e.g., ImageNet)</a:t>
            </a:r>
          </a:p>
          <a:p>
            <a:pPr lvl="1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Many incremental improvements in architecture</a:t>
            </a:r>
          </a:p>
          <a:p>
            <a:pPr lvl="1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Pre-trained word-embeddings (word2vec,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GloVE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</a:t>
            </a:r>
          </a:p>
          <a:p>
            <a:pPr lvl="1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LSTMs and other encoder-decoder seq2seq learners</a:t>
            </a:r>
          </a:p>
          <a:p>
            <a:pPr lvl="1"/>
            <a:r>
              <a:rPr lang="en-US" dirty="0"/>
              <a:t>Attention as an architectural primitive</a:t>
            </a:r>
          </a:p>
          <a:p>
            <a:pPr lvl="2"/>
            <a:endParaRPr lang="en-US" dirty="0"/>
          </a:p>
          <a:p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1959506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715A7B-5DD2-AC28-C899-DED642E97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412D5EB-0B56-F26E-4065-15B013EAF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ART OF Recurrent Neural Networks – Part 2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5099AA-9E5D-1EAC-21EE-3A3EAFD415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941929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9400" y="292100"/>
            <a:ext cx="3903980" cy="2062480"/>
          </a:xfrm>
        </p:spPr>
        <p:txBody>
          <a:bodyPr/>
          <a:lstStyle/>
          <a:p>
            <a:r>
              <a:rPr lang="en-US" dirty="0"/>
              <a:t>ANN Tricks for NLP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t="39662"/>
          <a:stretch/>
        </p:blipFill>
        <p:spPr>
          <a:xfrm>
            <a:off x="4286526" y="292100"/>
            <a:ext cx="4857473" cy="2708275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9400" y="2810576"/>
            <a:ext cx="8648700" cy="2938396"/>
          </a:xfrm>
        </p:spPr>
        <p:txBody>
          <a:bodyPr>
            <a:noAutofit/>
          </a:bodyPr>
          <a:lstStyle/>
          <a:p>
            <a:r>
              <a:rPr lang="en-US" sz="2400" dirty="0"/>
              <a:t>Common tricks in using LSTMs</a:t>
            </a:r>
          </a:p>
          <a:p>
            <a:pPr lvl="1"/>
            <a:r>
              <a:rPr lang="en-US" sz="2400" dirty="0"/>
              <a:t>represent words with embeddings (one per token)</a:t>
            </a:r>
          </a:p>
          <a:p>
            <a:pPr lvl="1"/>
            <a:r>
              <a:rPr lang="en-US" sz="2400" dirty="0"/>
              <a:t>represent words in context with RNN hidden state </a:t>
            </a:r>
          </a:p>
          <a:p>
            <a:pPr lvl="1"/>
            <a:r>
              <a:rPr lang="en-US" sz="2400" dirty="0"/>
              <a:t>represent a sentence with the last hidden state</a:t>
            </a:r>
          </a:p>
          <a:p>
            <a:pPr lvl="2"/>
            <a:r>
              <a:rPr lang="en-US" sz="2400" dirty="0"/>
              <a:t>or pool all hidden states with MAX or SUM</a:t>
            </a:r>
          </a:p>
          <a:p>
            <a:pPr lvl="1"/>
            <a:r>
              <a:rPr lang="en-US" sz="2400" dirty="0" err="1"/>
              <a:t>biLSTM</a:t>
            </a:r>
            <a:r>
              <a:rPr lang="en-US" sz="2400" dirty="0"/>
              <a:t>: run an LSTM in both directions</a:t>
            </a:r>
          </a:p>
          <a:p>
            <a:pPr lvl="2"/>
            <a:r>
              <a:rPr lang="en-US" sz="2400" dirty="0"/>
              <a:t>represent with first + last hidden state</a:t>
            </a:r>
          </a:p>
          <a:p>
            <a:pPr lvl="1"/>
            <a:r>
              <a:rPr lang="en-US" sz="2400" dirty="0"/>
              <a:t>feed representations into a deeper network</a:t>
            </a:r>
            <a:r>
              <a:rPr lang="mr-IN" sz="2400" dirty="0"/>
              <a:t>…</a:t>
            </a:r>
            <a:r>
              <a:rPr lang="en-US" sz="2400" dirty="0"/>
              <a:t>.</a:t>
            </a:r>
          </a:p>
          <a:p>
            <a:pPr lvl="2"/>
            <a:r>
              <a:rPr lang="en-US" sz="2000" dirty="0"/>
              <a:t>Often using </a:t>
            </a:r>
            <a:r>
              <a:rPr lang="en-US" sz="2000" b="1" dirty="0">
                <a:solidFill>
                  <a:srgbClr val="00B050"/>
                </a:solidFill>
              </a:rPr>
              <a:t>attention</a:t>
            </a:r>
            <a:r>
              <a:rPr lang="en-US" sz="2000" b="1" dirty="0"/>
              <a:t> 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925863900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E62B8-5482-3FA6-BF92-C1FF145F2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Attention: History</a:t>
            </a:r>
          </a:p>
        </p:txBody>
      </p:sp>
      <p:pic>
        <p:nvPicPr>
          <p:cNvPr id="4" name="Picture 3" descr="A close-up of a card&#10;&#10;AI-generated content may be incorrect.">
            <a:extLst>
              <a:ext uri="{FF2B5EF4-FFF2-40B4-BE49-F238E27FC236}">
                <a16:creationId xmlns:a16="http://schemas.microsoft.com/office/drawing/2014/main" id="{28BE3066-88AB-A153-32EA-ACF37D6518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07422"/>
            <a:ext cx="9176900" cy="202157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C9F9559-35CF-16F4-C1E0-024453B195C6}"/>
              </a:ext>
            </a:extLst>
          </p:cNvPr>
          <p:cNvSpPr txBox="1"/>
          <p:nvPr/>
        </p:nvSpPr>
        <p:spPr>
          <a:xfrm>
            <a:off x="6472238" y="1181100"/>
            <a:ext cx="22145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2007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783693-AD2A-0995-B482-2312C7E049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250" y="3428999"/>
            <a:ext cx="7772400" cy="2820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122757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D996DF-4CA1-5B45-BF5D-E89BB5B6F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CB54F-E5BE-FE30-49BA-AC7FE3606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Attention: History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3AD1EC4-961F-A88F-CBD0-9C69BA22AD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77900"/>
            <a:ext cx="7772400" cy="308892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231BD02-6016-30E1-B708-74B77F21BF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3938" y="3624262"/>
            <a:ext cx="5245100" cy="29591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AF93565-84B3-7DE0-F9C4-D90B67405816}"/>
              </a:ext>
            </a:extLst>
          </p:cNvPr>
          <p:cNvSpPr txBox="1"/>
          <p:nvPr/>
        </p:nvSpPr>
        <p:spPr>
          <a:xfrm>
            <a:off x="7215188" y="2843213"/>
            <a:ext cx="1357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2010</a:t>
            </a:r>
          </a:p>
        </p:txBody>
      </p:sp>
    </p:spTree>
    <p:extLst>
      <p:ext uri="{BB962C8B-B14F-4D97-AF65-F5344CB8AC3E}">
        <p14:creationId xmlns:p14="http://schemas.microsoft.com/office/powerpoint/2010/main" val="2024302200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question answering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212" y="3558540"/>
            <a:ext cx="7940458" cy="329946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685" y="1096962"/>
            <a:ext cx="8152130" cy="2388048"/>
          </a:xfrm>
          <a:prstGeom prst="rect">
            <a:avLst/>
          </a:prstGeom>
        </p:spPr>
      </p:pic>
      <p:sp>
        <p:nvSpPr>
          <p:cNvPr id="7" name="Rectangular Callout 6"/>
          <p:cNvSpPr/>
          <p:nvPr/>
        </p:nvSpPr>
        <p:spPr>
          <a:xfrm>
            <a:off x="5852160" y="1771650"/>
            <a:ext cx="3075940" cy="1600200"/>
          </a:xfrm>
          <a:prstGeom prst="wedgeRectCallout">
            <a:avLst>
              <a:gd name="adj1" fmla="val -70460"/>
              <a:gd name="adj2" fmla="val 83379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Common trick: train network to make representations similar/dissimilar, not to classify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7CF6B7-49AB-58CC-9C45-171014E9F1D7}"/>
              </a:ext>
            </a:extLst>
          </p:cNvPr>
          <p:cNvSpPr txBox="1"/>
          <p:nvPr/>
        </p:nvSpPr>
        <p:spPr>
          <a:xfrm>
            <a:off x="215900" y="3299460"/>
            <a:ext cx="4356100" cy="6463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Goal: take a question/fact pair and test if the question is answered by the fact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B2C4CA-8760-25D2-E66C-BF617051483F}"/>
              </a:ext>
            </a:extLst>
          </p:cNvPr>
          <p:cNvSpPr txBox="1"/>
          <p:nvPr/>
        </p:nvSpPr>
        <p:spPr>
          <a:xfrm>
            <a:off x="7602855" y="802193"/>
            <a:ext cx="1388745" cy="3682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2016</a:t>
            </a:r>
          </a:p>
        </p:txBody>
      </p:sp>
    </p:spTree>
    <p:extLst>
      <p:ext uri="{BB962C8B-B14F-4D97-AF65-F5344CB8AC3E}">
        <p14:creationId xmlns:p14="http://schemas.microsoft.com/office/powerpoint/2010/main" val="813018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question answering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9400" y="1223010"/>
            <a:ext cx="848741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Adding </a:t>
            </a:r>
            <a:r>
              <a:rPr lang="en-US" sz="2000" b="1" dirty="0"/>
              <a:t>attention</a:t>
            </a:r>
            <a:r>
              <a:rPr lang="en-US" sz="2000" dirty="0"/>
              <a:t>:</a:t>
            </a:r>
          </a:p>
          <a:p>
            <a:pPr marL="457200" indent="-457200">
              <a:buFont typeface="Arial" charset="0"/>
              <a:buChar char="•"/>
            </a:pPr>
            <a:r>
              <a:rPr lang="en-US" sz="2000" b="1" dirty="0"/>
              <a:t>classify</a:t>
            </a:r>
            <a:r>
              <a:rPr lang="en-US" sz="2000" dirty="0"/>
              <a:t> the hidden states </a:t>
            </a:r>
            <a:r>
              <a:rPr lang="en-US" sz="2000" b="1" i="1" dirty="0"/>
              <a:t>h</a:t>
            </a:r>
            <a:r>
              <a:rPr lang="en-US" sz="2000" i="1" baseline="-25000" dirty="0"/>
              <a:t>1</a:t>
            </a:r>
            <a:r>
              <a:rPr lang="en-US" sz="2000" i="1" dirty="0"/>
              <a:t>, </a:t>
            </a:r>
            <a:r>
              <a:rPr lang="mr-IN" sz="2000" i="1" dirty="0"/>
              <a:t>…</a:t>
            </a:r>
            <a:r>
              <a:rPr lang="en-US" sz="2000" i="1" dirty="0"/>
              <a:t> </a:t>
            </a:r>
            <a:r>
              <a:rPr lang="en-US" sz="2000" b="1" i="1" dirty="0"/>
              <a:t>h</a:t>
            </a:r>
            <a:r>
              <a:rPr lang="en-US" sz="2000" i="1" baseline="-25000" dirty="0"/>
              <a:t>m </a:t>
            </a:r>
            <a:r>
              <a:rPr lang="en-US" sz="2000" dirty="0"/>
              <a:t>of the answer</a:t>
            </a:r>
            <a:r>
              <a:rPr lang="en-US" sz="2000" i="1" baseline="-25000" dirty="0"/>
              <a:t> </a:t>
            </a:r>
            <a:r>
              <a:rPr lang="en-US" sz="2000" dirty="0"/>
              <a:t>according to relevance to the question</a:t>
            </a:r>
          </a:p>
          <a:p>
            <a:pPr marL="457200" indent="-457200">
              <a:buFont typeface="Arial" charset="0"/>
              <a:buChar char="•"/>
            </a:pPr>
            <a:r>
              <a:rPr lang="en-US" sz="2000" dirty="0"/>
              <a:t>classifier is based on question representation </a:t>
            </a:r>
            <a:r>
              <a:rPr lang="en-US" sz="2000" i="1" dirty="0" err="1"/>
              <a:t>o</a:t>
            </a:r>
            <a:r>
              <a:rPr lang="en-US" sz="2000" i="1" baseline="-25000" dirty="0" err="1"/>
              <a:t>q</a:t>
            </a:r>
            <a:r>
              <a:rPr lang="en-US" sz="2000" i="1" dirty="0"/>
              <a:t> </a:t>
            </a:r>
            <a:r>
              <a:rPr lang="en-US" sz="2000" dirty="0"/>
              <a:t>and hidden state </a:t>
            </a:r>
            <a:r>
              <a:rPr lang="en-US" sz="2000" b="1" i="1" dirty="0"/>
              <a:t>h</a:t>
            </a:r>
            <a:r>
              <a:rPr lang="en-US" sz="2000" i="1" baseline="-25000" dirty="0"/>
              <a:t>i</a:t>
            </a:r>
            <a:endParaRPr lang="en-US" sz="2000" dirty="0"/>
          </a:p>
          <a:p>
            <a:pPr marL="914400" lvl="1" indent="-457200">
              <a:buFont typeface="Arial" charset="0"/>
              <a:buChar char="•"/>
            </a:pPr>
            <a:r>
              <a:rPr lang="en-US" sz="2000" dirty="0"/>
              <a:t>score of </a:t>
            </a:r>
            <a:r>
              <a:rPr lang="en-US" sz="2000" b="1" i="1" dirty="0"/>
              <a:t>h</a:t>
            </a:r>
            <a:r>
              <a:rPr lang="en-US" sz="2000" i="1" baseline="-25000" dirty="0"/>
              <a:t>i</a:t>
            </a:r>
            <a:r>
              <a:rPr lang="en-US" sz="2000" b="1" i="1" dirty="0"/>
              <a:t> </a:t>
            </a:r>
            <a:r>
              <a:rPr lang="en-US" sz="2000" dirty="0"/>
              <a:t>is </a:t>
            </a:r>
            <a:r>
              <a:rPr lang="en-US" sz="2000" dirty="0" err="1"/>
              <a:t>softmax</a:t>
            </a:r>
            <a:r>
              <a:rPr lang="en-US" sz="2000" dirty="0"/>
              <a:t> of similarities of question </a:t>
            </a:r>
            <a:r>
              <a:rPr lang="en-US" sz="2000" i="1" dirty="0" err="1"/>
              <a:t>o</a:t>
            </a:r>
            <a:r>
              <a:rPr lang="en-US" sz="2000" i="1" baseline="-25000" dirty="0" err="1"/>
              <a:t>q</a:t>
            </a:r>
            <a:r>
              <a:rPr lang="en-US" sz="2000" i="1" dirty="0"/>
              <a:t> </a:t>
            </a:r>
            <a:r>
              <a:rPr lang="en-US" sz="2000" dirty="0"/>
              <a:t>to answer-token encoding </a:t>
            </a:r>
            <a:r>
              <a:rPr lang="en-US" sz="2000" b="1" i="1" dirty="0"/>
              <a:t>h</a:t>
            </a:r>
            <a:r>
              <a:rPr lang="en-US" sz="2000" i="1" baseline="-25000" dirty="0"/>
              <a:t>i</a:t>
            </a:r>
            <a:endParaRPr lang="en-US" sz="2000" dirty="0"/>
          </a:p>
          <a:p>
            <a:pPr marL="914400" lvl="1" indent="-457200">
              <a:buFont typeface="Arial" charset="0"/>
              <a:buChar char="•"/>
            </a:pPr>
            <a:r>
              <a:rPr lang="en-US" sz="2000" dirty="0"/>
              <a:t>score ~= ”probability that answer token is useful”</a:t>
            </a:r>
          </a:p>
          <a:p>
            <a:pPr marL="457200" indent="-457200">
              <a:buFont typeface="Arial" charset="0"/>
              <a:buChar char="•"/>
            </a:pPr>
            <a:r>
              <a:rPr lang="en-US" sz="2000" dirty="0"/>
              <a:t>when you pool answer tokens reps, weight by the classifier’s score</a:t>
            </a:r>
          </a:p>
          <a:p>
            <a:endParaRPr lang="en-US" sz="16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875" t="2585" r="875" b="22296"/>
          <a:stretch/>
        </p:blipFill>
        <p:spPr>
          <a:xfrm>
            <a:off x="0" y="4023777"/>
            <a:ext cx="9144000" cy="2657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1799476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question answering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54630"/>
            <a:ext cx="9144000" cy="317526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79400" y="4099726"/>
            <a:ext cx="8750300" cy="78088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79400" y="5486400"/>
            <a:ext cx="8750300" cy="44349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370" y="1199626"/>
            <a:ext cx="7118350" cy="1738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9824280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Example: question answering (</a:t>
            </a:r>
            <a:r>
              <a:rPr lang="en-US" dirty="0" err="1"/>
              <a:t>biDAF</a:t>
            </a:r>
            <a:r>
              <a:rPr lang="en-US" dirty="0"/>
              <a:t>)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0010" y="1184910"/>
            <a:ext cx="9144000" cy="555858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12180" y="1025842"/>
            <a:ext cx="25603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Seo</a:t>
            </a:r>
            <a:r>
              <a:rPr lang="en-US" dirty="0"/>
              <a:t> et al, ICLR 2017</a:t>
            </a:r>
          </a:p>
        </p:txBody>
      </p:sp>
    </p:spTree>
    <p:extLst>
      <p:ext uri="{BB962C8B-B14F-4D97-AF65-F5344CB8AC3E}">
        <p14:creationId xmlns:p14="http://schemas.microsoft.com/office/powerpoint/2010/main" val="2014955422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EEF64B-A91A-649B-FC78-A2591634C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C009425-D0D5-57AA-2B5E-48A891A64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Recall: Encoder-Decoder Models for Sequences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3C6EDDA-49B4-921A-8C61-0D80C2B40F83}"/>
              </a:ext>
            </a:extLst>
          </p:cNvPr>
          <p:cNvSpPr txBox="1"/>
          <p:nvPr/>
        </p:nvSpPr>
        <p:spPr>
          <a:xfrm>
            <a:off x="3252644" y="6424818"/>
            <a:ext cx="58913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http://</a:t>
            </a:r>
            <a:r>
              <a:rPr lang="en-US" b="1" dirty="0" err="1"/>
              <a:t>karpathy.github.io</a:t>
            </a:r>
            <a:r>
              <a:rPr lang="en-US" b="1" dirty="0"/>
              <a:t>/2015/05/21/</a:t>
            </a:r>
            <a:r>
              <a:rPr lang="en-US" b="1" dirty="0" err="1"/>
              <a:t>rnn</a:t>
            </a:r>
            <a:r>
              <a:rPr lang="en-US" b="1" dirty="0"/>
              <a:t>-effectiveness/</a:t>
            </a:r>
          </a:p>
        </p:txBody>
      </p:sp>
      <p:pic>
        <p:nvPicPr>
          <p:cNvPr id="7" name="Picture 6" descr="Screen Shot 2016-04-10 at 7.55.56 PM.png">
            <a:extLst>
              <a:ext uri="{FF2B5EF4-FFF2-40B4-BE49-F238E27FC236}">
                <a16:creationId xmlns:a16="http://schemas.microsoft.com/office/drawing/2014/main" id="{2BF93D97-464E-71AC-2A11-E33FF4B54B2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34"/>
          <a:stretch/>
        </p:blipFill>
        <p:spPr>
          <a:xfrm>
            <a:off x="669038" y="2335577"/>
            <a:ext cx="7805923" cy="299483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C82D5B8-24CC-0E2A-1F79-70899F67E67F}"/>
              </a:ext>
            </a:extLst>
          </p:cNvPr>
          <p:cNvSpPr txBox="1"/>
          <p:nvPr/>
        </p:nvSpPr>
        <p:spPr>
          <a:xfrm>
            <a:off x="2436190" y="1689246"/>
            <a:ext cx="15440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sequence classification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108B9E3-2F1E-70DB-C369-C683816C63F4}"/>
              </a:ext>
            </a:extLst>
          </p:cNvPr>
          <p:cNvSpPr txBox="1"/>
          <p:nvPr/>
        </p:nvSpPr>
        <p:spPr>
          <a:xfrm>
            <a:off x="4595706" y="1873912"/>
            <a:ext cx="15440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translation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A4455A0-1269-FDA1-2736-EE92BFCAA35F}"/>
              </a:ext>
            </a:extLst>
          </p:cNvPr>
          <p:cNvSpPr txBox="1"/>
          <p:nvPr/>
        </p:nvSpPr>
        <p:spPr>
          <a:xfrm>
            <a:off x="6732542" y="1760063"/>
            <a:ext cx="15440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named entity recognition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FF2E237-CBAE-93C7-1B1E-90ADF30511EF}"/>
              </a:ext>
            </a:extLst>
          </p:cNvPr>
          <p:cNvSpPr txBox="1"/>
          <p:nvPr/>
        </p:nvSpPr>
        <p:spPr>
          <a:xfrm>
            <a:off x="892167" y="1707830"/>
            <a:ext cx="15440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image captioning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0AE611-FE4B-00B5-2063-04023BF7621A}"/>
              </a:ext>
            </a:extLst>
          </p:cNvPr>
          <p:cNvSpPr txBox="1"/>
          <p:nvPr/>
        </p:nvSpPr>
        <p:spPr>
          <a:xfrm>
            <a:off x="5052060" y="5323618"/>
            <a:ext cx="976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seq2seq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99F2B28-4DDD-056E-1280-49FD150208E1}"/>
              </a:ext>
            </a:extLst>
          </p:cNvPr>
          <p:cNvSpPr/>
          <p:nvPr/>
        </p:nvSpPr>
        <p:spPr>
          <a:xfrm>
            <a:off x="4314825" y="3429000"/>
            <a:ext cx="1214438" cy="1700213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7C81E7D-24B9-7037-3D1B-FC18E3399913}"/>
              </a:ext>
            </a:extLst>
          </p:cNvPr>
          <p:cNvSpPr/>
          <p:nvPr/>
        </p:nvSpPr>
        <p:spPr>
          <a:xfrm>
            <a:off x="5180455" y="2697132"/>
            <a:ext cx="1214438" cy="1700213"/>
          </a:xfrm>
          <a:prstGeom prst="rect">
            <a:avLst/>
          </a:prstGeom>
          <a:noFill/>
          <a:ln w="38100">
            <a:solidFill>
              <a:srgbClr val="00B050"/>
            </a:solidFill>
            <a:prstDash val="dash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07706C-6701-764C-E259-F0EEDCF0D45F}"/>
              </a:ext>
            </a:extLst>
          </p:cNvPr>
          <p:cNvSpPr txBox="1"/>
          <p:nvPr/>
        </p:nvSpPr>
        <p:spPr>
          <a:xfrm>
            <a:off x="3800283" y="5155487"/>
            <a:ext cx="1380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rgbClr val="FF0000"/>
                </a:solidFill>
              </a:rPr>
              <a:t>Encoder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0AD83CD-2A91-749A-0AF0-B1BDB82B6CE2}"/>
              </a:ext>
            </a:extLst>
          </p:cNvPr>
          <p:cNvSpPr txBox="1"/>
          <p:nvPr/>
        </p:nvSpPr>
        <p:spPr>
          <a:xfrm>
            <a:off x="5504233" y="2308642"/>
            <a:ext cx="1380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rgbClr val="00B050"/>
                </a:solidFill>
              </a:rPr>
              <a:t>Decoder</a:t>
            </a:r>
          </a:p>
        </p:txBody>
      </p:sp>
    </p:spTree>
    <p:extLst>
      <p:ext uri="{BB962C8B-B14F-4D97-AF65-F5344CB8AC3E}">
        <p14:creationId xmlns:p14="http://schemas.microsoft.com/office/powerpoint/2010/main" val="563652248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A0C3D-9CAF-FFF6-2904-A30A9BAA1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8BD79A4-B9F7-0102-8684-985B588C51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096962"/>
            <a:ext cx="7772400" cy="27336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4EDFEB4-940F-3B7E-B60B-33EA9855F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Example: Machine Translation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6F7B88-693B-6C09-A034-63770887C543}"/>
              </a:ext>
            </a:extLst>
          </p:cNvPr>
          <p:cNvSpPr txBox="1"/>
          <p:nvPr/>
        </p:nvSpPr>
        <p:spPr>
          <a:xfrm>
            <a:off x="6012180" y="1025842"/>
            <a:ext cx="25603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2016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6FF117-5659-F278-B079-8DF6DD6873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9898" y="2463762"/>
            <a:ext cx="4292601" cy="421969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DB852D7-16A0-9F3D-1E9C-20AE4E2FFABE}"/>
              </a:ext>
            </a:extLst>
          </p:cNvPr>
          <p:cNvSpPr txBox="1"/>
          <p:nvPr/>
        </p:nvSpPr>
        <p:spPr>
          <a:xfrm>
            <a:off x="857250" y="4143375"/>
            <a:ext cx="3157538" cy="203132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Statistical MT models would: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Guess “alignment” between words in the source and target text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 the guessed alignment to learn to translate words or phrases</a:t>
            </a:r>
          </a:p>
        </p:txBody>
      </p:sp>
    </p:spTree>
    <p:extLst>
      <p:ext uri="{BB962C8B-B14F-4D97-AF65-F5344CB8AC3E}">
        <p14:creationId xmlns:p14="http://schemas.microsoft.com/office/powerpoint/2010/main" val="2165762483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38400E-7D28-E596-9D76-FC546402E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2326C07-8EB5-DAD9-4E7F-70882C26D7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096962"/>
            <a:ext cx="7772400" cy="27336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C72B703-0B4C-A821-8989-37D2575A8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Example: Machine Translation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A2057C-BC93-E7EA-DC6C-089873BA55F7}"/>
              </a:ext>
            </a:extLst>
          </p:cNvPr>
          <p:cNvSpPr txBox="1"/>
          <p:nvPr/>
        </p:nvSpPr>
        <p:spPr>
          <a:xfrm>
            <a:off x="6012180" y="1025842"/>
            <a:ext cx="25603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2016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9A12F87-E45B-5C66-E121-3FF9544BDC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9898" y="2463762"/>
            <a:ext cx="4292601" cy="421969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924AF8C-8B69-7EDC-CDF1-4BDC66BB0FB9}"/>
              </a:ext>
            </a:extLst>
          </p:cNvPr>
          <p:cNvSpPr txBox="1"/>
          <p:nvPr/>
        </p:nvSpPr>
        <p:spPr>
          <a:xfrm>
            <a:off x="279399" y="3980577"/>
            <a:ext cx="4292601" cy="258532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This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encodes the source text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decodes to produce the target text while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using a </a:t>
            </a:r>
            <a:r>
              <a:rPr lang="en-US" b="1" dirty="0"/>
              <a:t>soft</a:t>
            </a:r>
            <a:r>
              <a:rPr lang="en-US" dirty="0"/>
              <a:t> </a:t>
            </a:r>
            <a:r>
              <a:rPr lang="en-US" b="1" dirty="0"/>
              <a:t>alignment</a:t>
            </a:r>
            <a:r>
              <a:rPr lang="en-US" dirty="0"/>
              <a:t> between the word to be generated and the encodings of the source words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alignment is based on </a:t>
            </a:r>
            <a:r>
              <a:rPr lang="en-US" b="1" dirty="0"/>
              <a:t>attention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12832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4299</TotalTime>
  <Words>4176</Words>
  <Application>Microsoft Macintosh PowerPoint</Application>
  <PresentationFormat>On-screen Show (4:3)</PresentationFormat>
  <Paragraphs>599</Paragraphs>
  <Slides>99</Slides>
  <Notes>7</Notes>
  <HiddenSlides>6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99</vt:i4>
      </vt:variant>
    </vt:vector>
  </HeadingPairs>
  <TitlesOfParts>
    <vt:vector size="107" baseType="lpstr">
      <vt:lpstr>American Typewriter</vt:lpstr>
      <vt:lpstr>Arial</vt:lpstr>
      <vt:lpstr>Book Antiqua</vt:lpstr>
      <vt:lpstr>Calibri</vt:lpstr>
      <vt:lpstr>Cambria Math</vt:lpstr>
      <vt:lpstr>Gill Sans MT</vt:lpstr>
      <vt:lpstr>Office Theme</vt:lpstr>
      <vt:lpstr>Equation</vt:lpstr>
      <vt:lpstr>10-605 / 10-405</vt:lpstr>
      <vt:lpstr>The Evolution of Transformers</vt:lpstr>
      <vt:lpstr>Goals of next lectures</vt:lpstr>
      <vt:lpstr>Early History of Artificial Neural Networks (ANNs)</vt:lpstr>
      <vt:lpstr>Multilayer ANNs</vt:lpstr>
      <vt:lpstr>Learning a Deep (Multilayer) ANN</vt:lpstr>
      <vt:lpstr>Pro: Deep ANNs are expressive</vt:lpstr>
      <vt:lpstr>Pro: Deeper ANNs are more expressive</vt:lpstr>
      <vt:lpstr>Hypothetical code for face recognition</vt:lpstr>
      <vt:lpstr>Early History of Artificial Neural Networks (ANNs)</vt:lpstr>
      <vt:lpstr>Neural Networks in the 90’s</vt:lpstr>
      <vt:lpstr>Neural Networks in the 90’s</vt:lpstr>
      <vt:lpstr>Why are DEEP Networks Hard to Train?</vt:lpstr>
      <vt:lpstr>How to Train Deep Networks?</vt:lpstr>
      <vt:lpstr>Recap: weight updates for multilayer ANN</vt:lpstr>
      <vt:lpstr>Recap: weight updates for multilayer ANN</vt:lpstr>
      <vt:lpstr>Recap: weight updates for multilayer ANN</vt:lpstr>
      <vt:lpstr>PowerPoint Presentation</vt:lpstr>
      <vt:lpstr>Another problem: It’s easy for sigmoid units to saturate</vt:lpstr>
      <vt:lpstr>It’s easy for sigmoid units to saturate</vt:lpstr>
      <vt:lpstr>It’s easy for sigmoid units to saturate</vt:lpstr>
      <vt:lpstr>It’s easy for sigmoid units to saturate</vt:lpstr>
      <vt:lpstr>Recall: Neural Networks in the 90’s</vt:lpstr>
      <vt:lpstr>Early History of Artificial Neural Networks (ANNs)</vt:lpstr>
      <vt:lpstr>Convolutional Neural Networks</vt:lpstr>
      <vt:lpstr>Model of vision in animals</vt:lpstr>
      <vt:lpstr>Vision with CNNs</vt:lpstr>
      <vt:lpstr>How do we convolve an image with an ANN?</vt:lpstr>
      <vt:lpstr>What’s a convolution?</vt:lpstr>
      <vt:lpstr>Convolution DEMO</vt:lpstr>
      <vt:lpstr>What’s a convolution?</vt:lpstr>
      <vt:lpstr>What’s a convolution?</vt:lpstr>
      <vt:lpstr>What’s a convolution?</vt:lpstr>
      <vt:lpstr>What’s a convolution?</vt:lpstr>
      <vt:lpstr>What’s a convolution?</vt:lpstr>
      <vt:lpstr>What’s a convolution?</vt:lpstr>
      <vt:lpstr>How do we convolve an image with an ANN?</vt:lpstr>
      <vt:lpstr>How do we do many convolutions of an image with an ANN?</vt:lpstr>
      <vt:lpstr>Convolutions and more….</vt:lpstr>
      <vt:lpstr>Convolutions and more….</vt:lpstr>
      <vt:lpstr>Why are CNNs easier to train?</vt:lpstr>
      <vt:lpstr>Why are CNNs easier to train?</vt:lpstr>
      <vt:lpstr>CNNs history</vt:lpstr>
      <vt:lpstr>Further History of ANNs</vt:lpstr>
      <vt:lpstr>The Art of ANNs</vt:lpstr>
      <vt:lpstr>How to Design a Deep NN</vt:lpstr>
      <vt:lpstr>Some key differences in 2nd wave of ANNs</vt:lpstr>
      <vt:lpstr>Softmax output layer</vt:lpstr>
      <vt:lpstr>Cross-entropy loss</vt:lpstr>
      <vt:lpstr>Some key differences</vt:lpstr>
      <vt:lpstr>Alternative non-linearities</vt:lpstr>
      <vt:lpstr>Some key differences</vt:lpstr>
      <vt:lpstr>It’s easy for sigmoid units to saturate</vt:lpstr>
      <vt:lpstr>It’s easy for sigmoid units to saturate</vt:lpstr>
      <vt:lpstr>It’s easy for sigmoid units to saturate</vt:lpstr>
      <vt:lpstr>Initializing to avoid saturation</vt:lpstr>
      <vt:lpstr>Some key differences</vt:lpstr>
      <vt:lpstr>CNNs with Residual Connections</vt:lpstr>
      <vt:lpstr>CNNs with Residual Connections</vt:lpstr>
      <vt:lpstr>CNNs with Residual Connections</vt:lpstr>
      <vt:lpstr>CNNs with Residual Connections</vt:lpstr>
      <vt:lpstr>CNNs with Residual Connections</vt:lpstr>
      <vt:lpstr>CNNs with Residual Connections</vt:lpstr>
      <vt:lpstr>CNNs with Residual Connections</vt:lpstr>
      <vt:lpstr>Further History of ANNs</vt:lpstr>
      <vt:lpstr>Word2Vec and Word embeddings</vt:lpstr>
      <vt:lpstr>Basic idea behind skip-gram embeddings</vt:lpstr>
      <vt:lpstr>Basic idea behind skip-gram embeddings</vt:lpstr>
      <vt:lpstr>Results from word2vec</vt:lpstr>
      <vt:lpstr>Results from word2vec</vt:lpstr>
      <vt:lpstr>Further History of ANNs</vt:lpstr>
      <vt:lpstr>The ART OF Recurrent Neural Networks – Part 1</vt:lpstr>
      <vt:lpstr>Motivation: what about sequence prediction?</vt:lpstr>
      <vt:lpstr>Motivation: what about sequence prediction?</vt:lpstr>
      <vt:lpstr>Architecture for an RNN  (recurrent neural network)</vt:lpstr>
      <vt:lpstr>Architecture for an 1980’s RNN</vt:lpstr>
      <vt:lpstr>The architecture for an LSTM</vt:lpstr>
      <vt:lpstr>Implementing an LSTM</vt:lpstr>
      <vt:lpstr>LSTMs can be used for other sequence tasks</vt:lpstr>
      <vt:lpstr>LSTMs can be used for other sequence tasks</vt:lpstr>
      <vt:lpstr>Character-level language model</vt:lpstr>
      <vt:lpstr>Character-level language model</vt:lpstr>
      <vt:lpstr>Character-level language model</vt:lpstr>
      <vt:lpstr>Character-level language model</vt:lpstr>
      <vt:lpstr>Character-level language model</vt:lpstr>
      <vt:lpstr>Character-level language model</vt:lpstr>
      <vt:lpstr>Character-level language model</vt:lpstr>
      <vt:lpstr>Further History of ANNs</vt:lpstr>
      <vt:lpstr>The ART OF Recurrent Neural Networks – Part 2</vt:lpstr>
      <vt:lpstr>ANN Tricks for NLP</vt:lpstr>
      <vt:lpstr>Attention: History</vt:lpstr>
      <vt:lpstr>Attention: History</vt:lpstr>
      <vt:lpstr>Example: question answering</vt:lpstr>
      <vt:lpstr>Example: question answering</vt:lpstr>
      <vt:lpstr>Example: question answering</vt:lpstr>
      <vt:lpstr>Example: question answering (biDAF)</vt:lpstr>
      <vt:lpstr>Recall: Encoder-Decoder Models for Sequences</vt:lpstr>
      <vt:lpstr>Example: Machine Translation</vt:lpstr>
      <vt:lpstr>Example: Machine Translation</vt:lpstr>
    </vt:vector>
  </TitlesOfParts>
  <Company>Carnegie Mellon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from Big Datasets</dc:title>
  <dc:creator>William Cohen</dc:creator>
  <cp:lastModifiedBy>William W Cohen</cp:lastModifiedBy>
  <cp:revision>402</cp:revision>
  <dcterms:created xsi:type="dcterms:W3CDTF">2013-01-13T19:42:44Z</dcterms:created>
  <dcterms:modified xsi:type="dcterms:W3CDTF">2025-03-10T16:01:37Z</dcterms:modified>
</cp:coreProperties>
</file>